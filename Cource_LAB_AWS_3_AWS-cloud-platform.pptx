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9" r:id="rId1"/>
  </p:sldMasterIdLst>
  <p:notesMasterIdLst>
    <p:notesMasterId r:id="rId17"/>
  </p:notesMasterIdLst>
  <p:sldIdLst>
    <p:sldId id="348" r:id="rId2"/>
    <p:sldId id="394" r:id="rId3"/>
    <p:sldId id="395" r:id="rId4"/>
    <p:sldId id="396" r:id="rId5"/>
    <p:sldId id="419" r:id="rId6"/>
    <p:sldId id="420" r:id="rId7"/>
    <p:sldId id="421" r:id="rId8"/>
    <p:sldId id="424" r:id="rId9"/>
    <p:sldId id="422" r:id="rId10"/>
    <p:sldId id="423" r:id="rId11"/>
    <p:sldId id="425" r:id="rId12"/>
    <p:sldId id="427" r:id="rId13"/>
    <p:sldId id="426" r:id="rId14"/>
    <p:sldId id="428" r:id="rId15"/>
    <p:sldId id="350" r:id="rId16"/>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eal Mueller" initials="" lastIdx="9" clrIdx="0"/>
  <p:cmAuthor id="1" name="Chuck Erickson" initials="" lastIdx="6" clrIdx="1"/>
  <p:cmAuthor id="2" name="Adam Glic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57"/>
    <p:restoredTop sz="58270" autoAdjust="0"/>
  </p:normalViewPr>
  <p:slideViewPr>
    <p:cSldViewPr snapToGrid="0" snapToObjects="1">
      <p:cViewPr varScale="1">
        <p:scale>
          <a:sx n="74" d="100"/>
          <a:sy n="74" d="100"/>
        </p:scale>
        <p:origin x="112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3037839" cy="46481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Shape 4"/>
          <p:cNvSpPr txBox="1">
            <a:spLocks noGrp="1"/>
          </p:cNvSpPr>
          <p:nvPr>
            <p:ph type="dt" idx="10"/>
          </p:nvPr>
        </p:nvSpPr>
        <p:spPr>
          <a:xfrm>
            <a:off x="3970937" y="0"/>
            <a:ext cx="3037839" cy="464818"/>
          </a:xfrm>
          <a:prstGeom prst="rect">
            <a:avLst/>
          </a:prstGeom>
          <a:noFill/>
          <a:ln>
            <a:noFill/>
          </a:ln>
        </p:spPr>
        <p:txBody>
          <a:bodyPr lIns="91425" tIns="91425" rIns="91425" bIns="91425" anchor="t" anchorCtr="0"/>
          <a:lstStyle>
            <a:lvl1pPr marL="0" marR="0" lvl="0" indent="0" algn="r"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407181" y="696912"/>
            <a:ext cx="6195899" cy="34862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1039" y="4415789"/>
            <a:ext cx="5608319" cy="4183379"/>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829967"/>
            <a:ext cx="3037839" cy="464818"/>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970937" y="8829967"/>
            <a:ext cx="3037839" cy="464818"/>
          </a:xfrm>
          <a:prstGeom prst="rect">
            <a:avLst/>
          </a:prstGeom>
          <a:noFill/>
          <a:ln>
            <a:noFill/>
          </a:ln>
        </p:spPr>
        <p:txBody>
          <a:bodyPr lIns="91425" tIns="91425" rIns="91425" bIns="91425" anchor="b" anchorCtr="0">
            <a:noAutofit/>
          </a:bodyPr>
          <a:lstStyle/>
          <a:p>
            <a:pPr marL="0" marR="0" lvl="0" indent="0" algn="r" rtl="0">
              <a:lnSpc>
                <a:spcPct val="100000"/>
              </a:lnSpc>
              <a:spcBef>
                <a:spcPts val="0"/>
              </a:spcBef>
              <a:spcAft>
                <a:spcPts val="0"/>
              </a:spcAft>
              <a:buClr>
                <a:srgbClr val="000000"/>
              </a:buClr>
              <a:buFont typeface="Arial"/>
              <a:buNone/>
            </a:pPr>
            <a:endParaRPr sz="12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4141182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k21academy.com/docker-kubernetes/docker-vs-virtual-machine/"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k21academy.com/amazon-web-services/aws-solutions-architect/aws-ec2-instance/"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k21academy.com/docker-kubernetes/docker-vs-virtual-machine/"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k21academy.com/amazon-web-services/aws-solutions-architect/aws-ec2-instance/"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k21academy.com/docker-kubernetes/docker-vs-virtual-machine/"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k21academy.com/amazon-web-services/aws-solutions-architect/aws-ec2-instanc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https://github.com/mikeroyal/Google-Cloud-Guide</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414371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 IaaS are virtual</a:t>
            </a:r>
            <a:r>
              <a:rPr lang="en-US" sz="1200" b="1" i="0" u="none" strike="noStrike" kern="1200" cap="none" dirty="0" smtClean="0">
                <a:solidFill>
                  <a:schemeClr val="dk1"/>
                </a:solidFill>
                <a:effectLst/>
                <a:latin typeface="Arial"/>
                <a:ea typeface="Arial"/>
                <a:cs typeface="Arial"/>
                <a:sym typeface="Arial"/>
                <a:hlinkClick r:id="rId3"/>
              </a:rPr>
              <a:t> Machines</a:t>
            </a:r>
            <a:r>
              <a:rPr lang="en-US" sz="1200" b="0" i="0" u="none" strike="noStrike" kern="1200" cap="none" dirty="0" smtClean="0">
                <a:solidFill>
                  <a:schemeClr val="dk1"/>
                </a:solidFill>
                <a:effectLst/>
                <a:latin typeface="Arial"/>
                <a:ea typeface="Arial"/>
                <a:cs typeface="Arial"/>
                <a:sym typeface="Arial"/>
              </a:rPr>
              <a:t> or </a:t>
            </a:r>
            <a:r>
              <a:rPr lang="en-US" sz="1200" b="1" i="0" u="none" strike="noStrike" kern="1200" cap="none" dirty="0" smtClean="0">
                <a:solidFill>
                  <a:schemeClr val="dk1"/>
                </a:solidFill>
                <a:effectLst/>
                <a:latin typeface="Arial"/>
                <a:ea typeface="Arial"/>
                <a:cs typeface="Arial"/>
                <a:sym typeface="Arial"/>
                <a:hlinkClick r:id="rId4"/>
              </a:rPr>
              <a:t>AWS EC2</a:t>
            </a:r>
            <a:r>
              <a:rPr lang="en-US" sz="1200" b="0" i="0" u="none" strike="noStrike" kern="1200" cap="none" dirty="0" smtClean="0">
                <a:solidFill>
                  <a:schemeClr val="dk1"/>
                </a:solidFill>
                <a:effectLst/>
                <a:latin typeface="Arial"/>
                <a:ea typeface="Arial"/>
                <a:cs typeface="Arial"/>
                <a:sym typeface="Arial"/>
              </a:rPr>
              <a:t>, Storage or Networking. </a:t>
            </a:r>
            <a:r>
              <a:rPr lang="en-US" sz="1200" b="0" i="0" u="none" strike="noStrike" kern="1200" cap="none" dirty="0" err="1" smtClean="0">
                <a:solidFill>
                  <a:schemeClr val="dk1"/>
                </a:solidFill>
                <a:effectLst/>
                <a:latin typeface="Arial"/>
                <a:ea typeface="Arial"/>
                <a:cs typeface="Arial"/>
                <a:sym typeface="Arial"/>
              </a:rPr>
              <a:t>DigitalOcean</a:t>
            </a:r>
            <a:r>
              <a:rPr lang="en-US" sz="1200" b="0" i="0" u="none" strike="noStrike" kern="1200" cap="none" dirty="0" smtClean="0">
                <a:solidFill>
                  <a:schemeClr val="dk1"/>
                </a:solidFill>
                <a:effectLst/>
                <a:latin typeface="Arial"/>
                <a:ea typeface="Arial"/>
                <a:cs typeface="Arial"/>
                <a:sym typeface="Arial"/>
              </a:rPr>
              <a:t>, Amazon Web Services (AWS), Microsoft Azure, Google Cloud Platform (GCP), Oracle Cloud Infrastructure (OCI), and Alibaba Cloud.</a:t>
            </a:r>
          </a:p>
          <a:p>
            <a:endParaRPr lang="en-US" sz="1200" b="0" i="0" u="none" strike="noStrike" kern="1200" cap="none" dirty="0" smtClean="0">
              <a:solidFill>
                <a:schemeClr val="dk1"/>
              </a:solidFill>
              <a:effectLst/>
              <a:latin typeface="Arial"/>
              <a:cs typeface="Arial"/>
              <a:sym typeface="Arial"/>
            </a:endParaRPr>
          </a:p>
          <a:p>
            <a:r>
              <a:rPr lang="en-US" sz="1200" b="1" i="0" u="none" strike="noStrike" kern="1200" cap="none" dirty="0" smtClean="0">
                <a:solidFill>
                  <a:schemeClr val="dk1"/>
                </a:solidFill>
                <a:effectLst/>
                <a:latin typeface="Arial"/>
                <a:ea typeface="Arial"/>
                <a:cs typeface="Arial"/>
                <a:sym typeface="Arial"/>
              </a:rPr>
              <a:t>PaaS</a:t>
            </a:r>
            <a:r>
              <a:rPr lang="en-US" sz="1200" b="0" i="0" u="none" strike="noStrike" kern="1200" cap="none" dirty="0" smtClean="0">
                <a:solidFill>
                  <a:schemeClr val="dk1"/>
                </a:solidFill>
                <a:effectLst/>
                <a:latin typeface="Arial"/>
                <a:ea typeface="Arial"/>
                <a:cs typeface="Arial"/>
                <a:sym typeface="Arial"/>
              </a:rPr>
              <a:t>: AWS Elastic Beanstalk, Azure App Service, Google App Engine, Google Cloud Run. (For </a:t>
            </a:r>
            <a:r>
              <a:rPr lang="en-US" sz="1200" b="0" i="0" u="none" strike="noStrike" kern="1200" cap="none" dirty="0" err="1" smtClean="0">
                <a:solidFill>
                  <a:schemeClr val="dk1"/>
                </a:solidFill>
                <a:effectLst/>
                <a:latin typeface="Arial"/>
                <a:ea typeface="Arial"/>
                <a:cs typeface="Arial"/>
                <a:sym typeface="Arial"/>
              </a:rPr>
              <a:t>serverless</a:t>
            </a:r>
            <a:r>
              <a:rPr lang="en-US" sz="1200" b="0" i="0" u="none" strike="noStrike" kern="1200" cap="none" dirty="0" smtClean="0">
                <a:solidFill>
                  <a:schemeClr val="dk1"/>
                </a:solidFill>
                <a:effectLst/>
                <a:latin typeface="Arial"/>
                <a:ea typeface="Arial"/>
                <a:cs typeface="Arial"/>
                <a:sym typeface="Arial"/>
              </a:rPr>
              <a:t> compute, Function-as-a-Service like AWS Lambda, Azure Functions, or Google Cloud Functions can be considered related models.</a:t>
            </a:r>
            <a:endParaRPr lang="en-US" sz="1200" b="0" i="0" u="none" strike="noStrike" kern="1200" cap="none" dirty="0" smtClean="0">
              <a:solidFill>
                <a:schemeClr val="dk1"/>
              </a:solidFill>
              <a:effectLst/>
              <a:latin typeface="Arial"/>
              <a:cs typeface="Arial"/>
              <a:sym typeface="Arial"/>
            </a:endParaRPr>
          </a:p>
          <a:p>
            <a:endParaRPr lang="en-US" sz="1200" b="0" i="0" u="none" strike="noStrike" kern="1200" cap="none" dirty="0" smtClean="0">
              <a:solidFill>
                <a:schemeClr val="dk1"/>
              </a:solidFill>
              <a:effectLst/>
              <a:latin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SaaS: Microsoft Office 365, Oracle ERP/HCM Cloud, Salesforce, Gmail, or Dropbox.</a:t>
            </a:r>
          </a:p>
          <a:p>
            <a:endParaRPr lang="en-US" sz="1200" b="0" i="0" u="none" strike="noStrike" kern="1200" cap="none" dirty="0" smtClean="0">
              <a:solidFill>
                <a:schemeClr val="dk1"/>
              </a:solidFill>
              <a:effectLst/>
              <a:latin typeface="Arial"/>
              <a:cs typeface="Arial"/>
              <a:sym typeface="Arial"/>
            </a:endParaRPr>
          </a:p>
          <a:p>
            <a:endParaRPr lang="en-US" sz="1200" b="0" i="0" u="none" strike="noStrike" kern="1200" cap="none" dirty="0" smtClean="0">
              <a:solidFill>
                <a:schemeClr val="dk1"/>
              </a:solidFill>
              <a:effectLst/>
              <a:latin typeface="Arial"/>
              <a:cs typeface="Arial"/>
              <a:sym typeface="Arial"/>
            </a:endParaRPr>
          </a:p>
          <a:p>
            <a:r>
              <a:rPr lang="en-US" dirty="0" smtClean="0"/>
              <a:t>https://k21academy.com/amazon-web-services/cloud-service-models/</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38972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 IaaS are virtual</a:t>
            </a:r>
            <a:r>
              <a:rPr lang="en-US" sz="1200" b="1" i="0" u="none" strike="noStrike" kern="1200" cap="none" dirty="0" smtClean="0">
                <a:solidFill>
                  <a:schemeClr val="dk1"/>
                </a:solidFill>
                <a:effectLst/>
                <a:latin typeface="Arial"/>
                <a:ea typeface="Arial"/>
                <a:cs typeface="Arial"/>
                <a:sym typeface="Arial"/>
                <a:hlinkClick r:id="rId3"/>
              </a:rPr>
              <a:t> Machines</a:t>
            </a:r>
            <a:r>
              <a:rPr lang="en-US" sz="1200" b="0" i="0" u="none" strike="noStrike" kern="1200" cap="none" dirty="0" smtClean="0">
                <a:solidFill>
                  <a:schemeClr val="dk1"/>
                </a:solidFill>
                <a:effectLst/>
                <a:latin typeface="Arial"/>
                <a:ea typeface="Arial"/>
                <a:cs typeface="Arial"/>
                <a:sym typeface="Arial"/>
              </a:rPr>
              <a:t> or </a:t>
            </a:r>
            <a:r>
              <a:rPr lang="en-US" sz="1200" b="1" i="0" u="none" strike="noStrike" kern="1200" cap="none" dirty="0" smtClean="0">
                <a:solidFill>
                  <a:schemeClr val="dk1"/>
                </a:solidFill>
                <a:effectLst/>
                <a:latin typeface="Arial"/>
                <a:ea typeface="Arial"/>
                <a:cs typeface="Arial"/>
                <a:sym typeface="Arial"/>
                <a:hlinkClick r:id="rId4"/>
              </a:rPr>
              <a:t>AWS EC2</a:t>
            </a:r>
            <a:r>
              <a:rPr lang="en-US" sz="1200" b="0" i="0" u="none" strike="noStrike" kern="1200" cap="none" dirty="0" smtClean="0">
                <a:solidFill>
                  <a:schemeClr val="dk1"/>
                </a:solidFill>
                <a:effectLst/>
                <a:latin typeface="Arial"/>
                <a:ea typeface="Arial"/>
                <a:cs typeface="Arial"/>
                <a:sym typeface="Arial"/>
              </a:rPr>
              <a:t>, Storage or Networking. </a:t>
            </a:r>
            <a:r>
              <a:rPr lang="en-US" sz="1200" b="0" i="0" u="none" strike="noStrike" kern="1200" cap="none" dirty="0" err="1" smtClean="0">
                <a:solidFill>
                  <a:schemeClr val="dk1"/>
                </a:solidFill>
                <a:effectLst/>
                <a:latin typeface="Arial"/>
                <a:ea typeface="Arial"/>
                <a:cs typeface="Arial"/>
                <a:sym typeface="Arial"/>
              </a:rPr>
              <a:t>DigitalOcean</a:t>
            </a:r>
            <a:r>
              <a:rPr lang="en-US" sz="1200" b="0" i="0" u="none" strike="noStrike" kern="1200" cap="none" dirty="0" smtClean="0">
                <a:solidFill>
                  <a:schemeClr val="dk1"/>
                </a:solidFill>
                <a:effectLst/>
                <a:latin typeface="Arial"/>
                <a:ea typeface="Arial"/>
                <a:cs typeface="Arial"/>
                <a:sym typeface="Arial"/>
              </a:rPr>
              <a:t>, Amazon Web Services (AWS), Microsoft Azure, Google Cloud Platform (GCP), Oracle Cloud Infrastructure (OCI), and Alibaba Cloud.</a:t>
            </a:r>
          </a:p>
          <a:p>
            <a:endParaRPr lang="en-US" sz="1200" b="0" i="0" u="none" strike="noStrike" kern="1200" cap="none" dirty="0" smtClean="0">
              <a:solidFill>
                <a:schemeClr val="dk1"/>
              </a:solidFill>
              <a:effectLst/>
              <a:latin typeface="Arial"/>
              <a:cs typeface="Arial"/>
              <a:sym typeface="Arial"/>
            </a:endParaRPr>
          </a:p>
          <a:p>
            <a:r>
              <a:rPr lang="en-US" dirty="0" smtClean="0"/>
              <a:t>https://k21academy.com/amazon-web-services/cloud-service-models/</a:t>
            </a:r>
          </a:p>
          <a:p>
            <a:endParaRPr lang="en-US" dirty="0" smtClean="0"/>
          </a:p>
          <a:p>
            <a:r>
              <a:rPr lang="en-US" dirty="0" smtClean="0"/>
              <a:t>https://k21academy.com/docker-kubernetes/docker-vs-virtual-machine/</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18845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 IaaS are virtual</a:t>
            </a:r>
            <a:r>
              <a:rPr lang="en-US" sz="1200" b="1" i="0" u="none" strike="noStrike" kern="1200" cap="none" dirty="0" smtClean="0">
                <a:solidFill>
                  <a:schemeClr val="dk1"/>
                </a:solidFill>
                <a:effectLst/>
                <a:latin typeface="Arial"/>
                <a:ea typeface="Arial"/>
                <a:cs typeface="Arial"/>
                <a:sym typeface="Arial"/>
                <a:hlinkClick r:id="rId3"/>
              </a:rPr>
              <a:t> Machines</a:t>
            </a:r>
            <a:r>
              <a:rPr lang="en-US" sz="1200" b="0" i="0" u="none" strike="noStrike" kern="1200" cap="none" dirty="0" smtClean="0">
                <a:solidFill>
                  <a:schemeClr val="dk1"/>
                </a:solidFill>
                <a:effectLst/>
                <a:latin typeface="Arial"/>
                <a:ea typeface="Arial"/>
                <a:cs typeface="Arial"/>
                <a:sym typeface="Arial"/>
              </a:rPr>
              <a:t> or </a:t>
            </a:r>
            <a:r>
              <a:rPr lang="en-US" sz="1200" b="1" i="0" u="none" strike="noStrike" kern="1200" cap="none" dirty="0" smtClean="0">
                <a:solidFill>
                  <a:schemeClr val="dk1"/>
                </a:solidFill>
                <a:effectLst/>
                <a:latin typeface="Arial"/>
                <a:ea typeface="Arial"/>
                <a:cs typeface="Arial"/>
                <a:sym typeface="Arial"/>
                <a:hlinkClick r:id="rId4"/>
              </a:rPr>
              <a:t>AWS EC2</a:t>
            </a:r>
            <a:r>
              <a:rPr lang="en-US" sz="1200" b="0" i="0" u="none" strike="noStrike" kern="1200" cap="none" dirty="0" smtClean="0">
                <a:solidFill>
                  <a:schemeClr val="dk1"/>
                </a:solidFill>
                <a:effectLst/>
                <a:latin typeface="Arial"/>
                <a:ea typeface="Arial"/>
                <a:cs typeface="Arial"/>
                <a:sym typeface="Arial"/>
              </a:rPr>
              <a:t>, Storage or Networking. </a:t>
            </a:r>
            <a:r>
              <a:rPr lang="en-US" sz="1200" b="0" i="0" u="none" strike="noStrike" kern="1200" cap="none" dirty="0" err="1" smtClean="0">
                <a:solidFill>
                  <a:schemeClr val="dk1"/>
                </a:solidFill>
                <a:effectLst/>
                <a:latin typeface="Arial"/>
                <a:ea typeface="Arial"/>
                <a:cs typeface="Arial"/>
                <a:sym typeface="Arial"/>
              </a:rPr>
              <a:t>DigitalOcean</a:t>
            </a:r>
            <a:r>
              <a:rPr lang="en-US" sz="1200" b="0" i="0" u="none" strike="noStrike" kern="1200" cap="none" dirty="0" smtClean="0">
                <a:solidFill>
                  <a:schemeClr val="dk1"/>
                </a:solidFill>
                <a:effectLst/>
                <a:latin typeface="Arial"/>
                <a:ea typeface="Arial"/>
                <a:cs typeface="Arial"/>
                <a:sym typeface="Arial"/>
              </a:rPr>
              <a:t>, Amazon Web Services (AWS), Microsoft Azure, Google Cloud Platform (GCP), Oracle Cloud Infrastructure (OCI), and Alibaba Cloud.</a:t>
            </a:r>
          </a:p>
          <a:p>
            <a:endParaRPr lang="en-US" sz="1200" b="0" i="0" u="none" strike="noStrike" kern="1200" cap="none" dirty="0" smtClean="0">
              <a:solidFill>
                <a:schemeClr val="dk1"/>
              </a:solidFill>
              <a:effectLst/>
              <a:latin typeface="Arial"/>
              <a:cs typeface="Arial"/>
              <a:sym typeface="Arial"/>
            </a:endParaRPr>
          </a:p>
          <a:p>
            <a:r>
              <a:rPr lang="en-US" dirty="0" smtClean="0"/>
              <a:t>https://k21academy.com/amazon-web-services/cloud-service-models/</a:t>
            </a:r>
          </a:p>
          <a:p>
            <a:endParaRPr lang="en-US" dirty="0" smtClean="0"/>
          </a:p>
          <a:p>
            <a:r>
              <a:rPr lang="en-US" dirty="0" smtClean="0"/>
              <a:t>https://k21academy.com/docker-kubernetes/docker-vs-virtual-machine/</a:t>
            </a:r>
          </a:p>
          <a:p>
            <a:r>
              <a:rPr lang="en-US" dirty="0" smtClean="0"/>
              <a:t>https://k21academy.com/amazon-web-services/aws-ec2-instance/</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09955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https://k21academy.com/amazon-web-services/aws-for-testers-and-qa/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5739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https://k21academy.com/amazon-web-services/aws-for-testers-and-qa/</a:t>
            </a:r>
          </a:p>
          <a:p>
            <a:r>
              <a:rPr lang="en-US" dirty="0" smtClean="0"/>
              <a:t>https://dev.to/iaadidev/-creating-virtual-machines-on-cloud-platforms-aws-azure-and-gcp-2553</a:t>
            </a:r>
          </a:p>
          <a:p>
            <a:endParaRPr lang="en-US" dirty="0" smtClean="0"/>
          </a:p>
          <a:p>
            <a:r>
              <a:rPr lang="en-US" dirty="0" smtClean="0"/>
              <a:t>https://www.emma.ms/tutorials/how-to-deploy-virtual-machines-with-emma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71978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https://k21academy.com/amazon-web-services/aws-for-testers-and-qa/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9523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https://k21academy.com/amazon-web-services/aws-for-testers-and-qa/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38731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https://k21academy.com/amazon-web-services/aws-for-testers-and-qa/</a:t>
            </a:r>
          </a:p>
          <a:p>
            <a:r>
              <a:rPr lang="en-US" dirty="0" smtClean="0"/>
              <a:t>https://dev.to/iaadidev/-creating-virtual-machines-on-cloud-platforms-aws-azure-and-gcp-2553</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57190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https://docs.ultralytics.com/yolov5/environments/aws_quickstart_tutorial/</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6381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https://docs.ultralytics.com/yolov5/environments/aws_quickstart_tutorial/</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534187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https://docs.ultralytics.com/yolov5/environments/aws_quickstart_tutorial/</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720348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https://docs.ultralytics.com/yolov5/environments/aws_quickstart_tutorial/</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47343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0705498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29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28955239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0062839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02337E-4703-49AB-8D81-EA2F8A6577FC}"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4302067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02337E-4703-49AB-8D81-EA2F8A6577FC}"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94664211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02337E-4703-49AB-8D81-EA2F8A6577FC}"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63187320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1266132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60610823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410284920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7443086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A02337E-4703-49AB-8D81-EA2F8A6577FC}" type="datetimeFigureOut">
              <a:rPr lang="en-US" smtClean="0"/>
              <a:t>9/18/2026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5B63887-955A-4111-8FF6-299906ED7E11}" type="slidenum">
              <a:rPr lang="en-US" smtClean="0"/>
              <a:t>‹#›</a:t>
            </a:fld>
            <a:endParaRPr lang="en-US"/>
          </a:p>
        </p:txBody>
      </p:sp>
    </p:spTree>
    <p:extLst>
      <p:ext uri="{BB962C8B-B14F-4D97-AF65-F5344CB8AC3E}">
        <p14:creationId xmlns:p14="http://schemas.microsoft.com/office/powerpoint/2010/main" val="201664688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aws.amazon.com/ai/machine-learning/amis/" TargetMode="External"/><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developer.nvidia.com/cuda-downloads" TargetMode="External"/><Relationship Id="rId5" Type="http://schemas.openxmlformats.org/officeDocument/2006/relationships/hyperlink" Target="https://pytorch.org/" TargetMode="External"/><Relationship Id="rId4" Type="http://schemas.openxmlformats.org/officeDocument/2006/relationships/hyperlink" Target="https://aws.amazon.com/ai/machine-learning/amis/#Frameworks_and_Interfac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89919" y="1"/>
            <a:ext cx="3979069" cy="2536031"/>
          </a:xfrm>
          <a:prstGeom prst="rect">
            <a:avLst/>
          </a:prstGeom>
        </p:spPr>
      </p:pic>
      <p:grpSp>
        <p:nvGrpSpPr>
          <p:cNvPr id="9" name="Group 8"/>
          <p:cNvGrpSpPr/>
          <p:nvPr/>
        </p:nvGrpSpPr>
        <p:grpSpPr>
          <a:xfrm>
            <a:off x="277816" y="1346868"/>
            <a:ext cx="3603272" cy="1447266"/>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dirty="0">
                  <a:solidFill>
                    <a:schemeClr val="accent1">
                      <a:lumMod val="75000"/>
                    </a:schemeClr>
                  </a:solidFill>
                </a:rPr>
                <a:t>Computer </a:t>
              </a:r>
              <a:r>
                <a:rPr lang="en-US" sz="3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68580" tIns="34290" rIns="68580" bIns="3429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rgbClr val="7030A0"/>
                  </a:solidFill>
                </a:rPr>
                <a:t>PDS</a:t>
              </a:r>
            </a:p>
          </p:txBody>
        </p:sp>
      </p:grpSp>
      <p:pic>
        <p:nvPicPr>
          <p:cNvPr id="4" name="Picture 3"/>
          <p:cNvPicPr>
            <a:picLocks noChangeAspect="1"/>
          </p:cNvPicPr>
          <p:nvPr/>
        </p:nvPicPr>
        <p:blipFill>
          <a:blip r:embed="rId5"/>
          <a:stretch>
            <a:fillRect/>
          </a:stretch>
        </p:blipFill>
        <p:spPr>
          <a:xfrm>
            <a:off x="1958807" y="1979698"/>
            <a:ext cx="334565" cy="476897"/>
          </a:xfrm>
          <a:prstGeom prst="rect">
            <a:avLst/>
          </a:prstGeom>
        </p:spPr>
      </p:pic>
      <p:pic>
        <p:nvPicPr>
          <p:cNvPr id="5" name="Picture 4"/>
          <p:cNvPicPr>
            <a:picLocks noChangeAspect="1"/>
          </p:cNvPicPr>
          <p:nvPr/>
        </p:nvPicPr>
        <p:blipFill>
          <a:blip r:embed="rId6"/>
          <a:stretch>
            <a:fillRect/>
          </a:stretch>
        </p:blipFill>
        <p:spPr>
          <a:xfrm>
            <a:off x="1435773" y="1991577"/>
            <a:ext cx="460043" cy="437041"/>
          </a:xfrm>
          <a:prstGeom prst="rect">
            <a:avLst/>
          </a:prstGeom>
        </p:spPr>
      </p:pic>
      <p:pic>
        <p:nvPicPr>
          <p:cNvPr id="6" name="Picture 5"/>
          <p:cNvPicPr>
            <a:picLocks noChangeAspect="1"/>
          </p:cNvPicPr>
          <p:nvPr/>
        </p:nvPicPr>
        <p:blipFill>
          <a:blip r:embed="rId7"/>
          <a:stretch>
            <a:fillRect/>
          </a:stretch>
        </p:blipFill>
        <p:spPr>
          <a:xfrm>
            <a:off x="789784" y="1979697"/>
            <a:ext cx="449747" cy="433166"/>
          </a:xfrm>
          <a:prstGeom prst="rect">
            <a:avLst/>
          </a:prstGeom>
        </p:spPr>
      </p:pic>
      <p:sp>
        <p:nvSpPr>
          <p:cNvPr id="26" name="Subtitle 2"/>
          <p:cNvSpPr txBox="1">
            <a:spLocks/>
          </p:cNvSpPr>
          <p:nvPr/>
        </p:nvSpPr>
        <p:spPr>
          <a:xfrm>
            <a:off x="1928066" y="2722292"/>
            <a:ext cx="6768461" cy="39080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smtClean="0"/>
              <a:t>AWS</a:t>
            </a:r>
          </a:p>
          <a:p>
            <a:pPr algn="l"/>
            <a:r>
              <a:rPr lang="en-US" sz="3200" dirty="0" smtClean="0"/>
              <a:t>AWS-cloud-platform</a:t>
            </a:r>
            <a:endParaRPr lang="en-US" sz="3200" dirty="0"/>
          </a:p>
        </p:txBody>
      </p:sp>
      <p:sp>
        <p:nvSpPr>
          <p:cNvPr id="27" name="Title 1"/>
          <p:cNvSpPr txBox="1">
            <a:spLocks/>
          </p:cNvSpPr>
          <p:nvPr/>
        </p:nvSpPr>
        <p:spPr>
          <a:xfrm>
            <a:off x="1928067" y="3546558"/>
            <a:ext cx="6425543" cy="503071"/>
          </a:xfrm>
          <a:prstGeom prst="rect">
            <a:avLst/>
          </a:prstGeom>
        </p:spPr>
        <p:txBody>
          <a:bodyPr vert="horz" lIns="68580" tIns="34290" rIns="68580" bIns="3429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300" dirty="0">
                <a:solidFill>
                  <a:srgbClr val="0070C0"/>
                </a:solidFill>
              </a:rPr>
              <a:t>.</a:t>
            </a:r>
            <a:endParaRPr lang="en-US" sz="3300" b="1" dirty="0"/>
          </a:p>
        </p:txBody>
      </p:sp>
      <p:sp>
        <p:nvSpPr>
          <p:cNvPr id="24" name="Rectangle 23"/>
          <p:cNvSpPr/>
          <p:nvPr/>
        </p:nvSpPr>
        <p:spPr>
          <a:xfrm>
            <a:off x="6395379" y="4488102"/>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33" name="Rectangle 32"/>
          <p:cNvSpPr/>
          <p:nvPr/>
        </p:nvSpPr>
        <p:spPr>
          <a:xfrm>
            <a:off x="7061962" y="3853188"/>
            <a:ext cx="1301349" cy="150490"/>
          </a:xfrm>
          <a:prstGeom prst="rect">
            <a:avLst/>
          </a:prstGeom>
        </p:spPr>
        <p:txBody>
          <a:bodyPr wrap="square">
            <a:spAutoFit/>
          </a:bodyPr>
          <a:lstStyle/>
          <a:p>
            <a:pPr algn="r"/>
            <a:r>
              <a:rPr lang="en-US" sz="378" dirty="0"/>
              <a:t>https://www.youtube.com/@AmelOline/videos</a:t>
            </a:r>
          </a:p>
        </p:txBody>
      </p:sp>
      <p:sp>
        <p:nvSpPr>
          <p:cNvPr id="34" name="Rectangle 33"/>
          <p:cNvSpPr/>
          <p:nvPr/>
        </p:nvSpPr>
        <p:spPr>
          <a:xfrm>
            <a:off x="7474533" y="3790888"/>
            <a:ext cx="879077" cy="150490"/>
          </a:xfrm>
          <a:prstGeom prst="rect">
            <a:avLst/>
          </a:prstGeom>
        </p:spPr>
        <p:txBody>
          <a:bodyPr wrap="square">
            <a:spAutoFit/>
          </a:bodyPr>
          <a:lstStyle/>
          <a:p>
            <a:pPr algn="r"/>
            <a:r>
              <a:rPr lang="en-US" sz="378" dirty="0"/>
              <a:t>https://github.com/siagianp</a:t>
            </a:r>
          </a:p>
        </p:txBody>
      </p:sp>
      <p:sp>
        <p:nvSpPr>
          <p:cNvPr id="35" name="Rectangle 34"/>
          <p:cNvSpPr/>
          <p:nvPr/>
        </p:nvSpPr>
        <p:spPr>
          <a:xfrm>
            <a:off x="6911230" y="3924787"/>
            <a:ext cx="1452642" cy="150490"/>
          </a:xfrm>
          <a:prstGeom prst="rect">
            <a:avLst/>
          </a:prstGeom>
        </p:spPr>
        <p:txBody>
          <a:bodyPr wrap="none">
            <a:spAutoFit/>
          </a:bodyPr>
          <a:lstStyle/>
          <a:p>
            <a:pPr algn="r"/>
            <a:r>
              <a:rPr lang="en-US" sz="378" dirty="0"/>
              <a:t>https://github.com/amelcharolinesgn2/Cloud-Infrastructures</a:t>
            </a:r>
          </a:p>
        </p:txBody>
      </p:sp>
      <p:sp>
        <p:nvSpPr>
          <p:cNvPr id="36" name="Rectangle 35"/>
          <p:cNvSpPr/>
          <p:nvPr/>
        </p:nvSpPr>
        <p:spPr>
          <a:xfrm>
            <a:off x="6645132" y="3988813"/>
            <a:ext cx="1718740" cy="150490"/>
          </a:xfrm>
          <a:prstGeom prst="rect">
            <a:avLst/>
          </a:prstGeom>
        </p:spPr>
        <p:txBody>
          <a:bodyPr wrap="none">
            <a:spAutoFit/>
          </a:bodyPr>
          <a:lstStyle/>
          <a:p>
            <a:pPr algn="r"/>
            <a:r>
              <a:rPr lang="en-US" sz="378" dirty="0"/>
              <a:t>https://github.com/amelcharolinesgn2/ClouD-Infrastructure-SISKA-2025</a:t>
            </a:r>
          </a:p>
        </p:txBody>
      </p:sp>
      <p:sp>
        <p:nvSpPr>
          <p:cNvPr id="37" name="Rectangle 36"/>
          <p:cNvSpPr/>
          <p:nvPr/>
        </p:nvSpPr>
        <p:spPr>
          <a:xfrm>
            <a:off x="7061962" y="4039756"/>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8" name="Rectangle 37"/>
          <p:cNvSpPr/>
          <p:nvPr/>
        </p:nvSpPr>
        <p:spPr>
          <a:xfrm>
            <a:off x="7061962" y="4101436"/>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9" name="Rectangle 38"/>
          <p:cNvSpPr/>
          <p:nvPr/>
        </p:nvSpPr>
        <p:spPr>
          <a:xfrm>
            <a:off x="7063084" y="4357324"/>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40" name="Rectangle 39"/>
          <p:cNvSpPr/>
          <p:nvPr/>
        </p:nvSpPr>
        <p:spPr>
          <a:xfrm>
            <a:off x="7063084" y="4415481"/>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41" name="Rectangle 40"/>
          <p:cNvSpPr/>
          <p:nvPr/>
        </p:nvSpPr>
        <p:spPr>
          <a:xfrm>
            <a:off x="7062523" y="4298795"/>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42" name="Rectangle 41"/>
          <p:cNvSpPr/>
          <p:nvPr/>
        </p:nvSpPr>
        <p:spPr>
          <a:xfrm>
            <a:off x="7061401" y="4161546"/>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43" name="Rectangle 42"/>
          <p:cNvSpPr/>
          <p:nvPr/>
        </p:nvSpPr>
        <p:spPr>
          <a:xfrm>
            <a:off x="7061401" y="4210480"/>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44" name="Rectangle 43"/>
          <p:cNvSpPr/>
          <p:nvPr/>
        </p:nvSpPr>
        <p:spPr>
          <a:xfrm>
            <a:off x="6944720" y="4258221"/>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2864224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a:t>
            </a:fld>
            <a:endParaRPr lang="en-US" dirty="0"/>
          </a:p>
        </p:txBody>
      </p:sp>
      <p:pic>
        <p:nvPicPr>
          <p:cNvPr id="5" name="Picture 4"/>
          <p:cNvPicPr>
            <a:picLocks noChangeAspect="1"/>
          </p:cNvPicPr>
          <p:nvPr/>
        </p:nvPicPr>
        <p:blipFill>
          <a:blip r:embed="rId3"/>
          <a:stretch>
            <a:fillRect/>
          </a:stretch>
        </p:blipFill>
        <p:spPr>
          <a:xfrm>
            <a:off x="3029097" y="173420"/>
            <a:ext cx="2847992" cy="1528105"/>
          </a:xfrm>
          <a:prstGeom prst="rect">
            <a:avLst/>
          </a:prstGeom>
        </p:spPr>
      </p:pic>
      <p:pic>
        <p:nvPicPr>
          <p:cNvPr id="6" name="Picture 5"/>
          <p:cNvPicPr>
            <a:picLocks noChangeAspect="1"/>
          </p:cNvPicPr>
          <p:nvPr/>
        </p:nvPicPr>
        <p:blipFill>
          <a:blip r:embed="rId4"/>
          <a:stretch>
            <a:fillRect/>
          </a:stretch>
        </p:blipFill>
        <p:spPr>
          <a:xfrm>
            <a:off x="204952" y="2373276"/>
            <a:ext cx="2824145" cy="2179674"/>
          </a:xfrm>
          <a:prstGeom prst="rect">
            <a:avLst/>
          </a:prstGeom>
        </p:spPr>
      </p:pic>
      <p:pic>
        <p:nvPicPr>
          <p:cNvPr id="7" name="Picture 6"/>
          <p:cNvPicPr>
            <a:picLocks noChangeAspect="1"/>
          </p:cNvPicPr>
          <p:nvPr/>
        </p:nvPicPr>
        <p:blipFill>
          <a:blip r:embed="rId5"/>
          <a:stretch>
            <a:fillRect/>
          </a:stretch>
        </p:blipFill>
        <p:spPr>
          <a:xfrm>
            <a:off x="3478760" y="2203236"/>
            <a:ext cx="2398329" cy="2349714"/>
          </a:xfrm>
          <a:prstGeom prst="rect">
            <a:avLst/>
          </a:prstGeom>
        </p:spPr>
      </p:pic>
      <p:pic>
        <p:nvPicPr>
          <p:cNvPr id="8" name="Picture 7"/>
          <p:cNvPicPr>
            <a:picLocks noChangeAspect="1"/>
          </p:cNvPicPr>
          <p:nvPr/>
        </p:nvPicPr>
        <p:blipFill>
          <a:blip r:embed="rId6"/>
          <a:stretch>
            <a:fillRect/>
          </a:stretch>
        </p:blipFill>
        <p:spPr>
          <a:xfrm>
            <a:off x="6583680" y="2552858"/>
            <a:ext cx="2070882" cy="1820509"/>
          </a:xfrm>
          <a:prstGeom prst="rect">
            <a:avLst/>
          </a:prstGeom>
        </p:spPr>
      </p:pic>
    </p:spTree>
    <p:extLst>
      <p:ext uri="{BB962C8B-B14F-4D97-AF65-F5344CB8AC3E}">
        <p14:creationId xmlns:p14="http://schemas.microsoft.com/office/powerpoint/2010/main" val="3167575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a:t>
            </a:fld>
            <a:endParaRPr lang="en-US" dirty="0"/>
          </a:p>
        </p:txBody>
      </p:sp>
      <p:pic>
        <p:nvPicPr>
          <p:cNvPr id="5" name="Picture 4"/>
          <p:cNvPicPr>
            <a:picLocks noChangeAspect="1"/>
          </p:cNvPicPr>
          <p:nvPr/>
        </p:nvPicPr>
        <p:blipFill>
          <a:blip r:embed="rId3"/>
          <a:stretch>
            <a:fillRect/>
          </a:stretch>
        </p:blipFill>
        <p:spPr>
          <a:xfrm>
            <a:off x="234573" y="115904"/>
            <a:ext cx="2822693" cy="2182557"/>
          </a:xfrm>
          <a:prstGeom prst="rect">
            <a:avLst/>
          </a:prstGeom>
        </p:spPr>
      </p:pic>
      <p:sp>
        <p:nvSpPr>
          <p:cNvPr id="6" name="Rectangle 5"/>
          <p:cNvSpPr/>
          <p:nvPr/>
        </p:nvSpPr>
        <p:spPr>
          <a:xfrm>
            <a:off x="234573" y="2298461"/>
            <a:ext cx="2822693" cy="923330"/>
          </a:xfrm>
          <a:prstGeom prst="rect">
            <a:avLst/>
          </a:prstGeom>
        </p:spPr>
        <p:txBody>
          <a:bodyPr wrap="square">
            <a:spAutoFit/>
          </a:bodyPr>
          <a:lstStyle/>
          <a:p>
            <a:pPr algn="just"/>
            <a:r>
              <a:rPr lang="en-US" dirty="0"/>
              <a:t>IaaS are virtual </a:t>
            </a:r>
            <a:r>
              <a:rPr lang="en-US" b="1" dirty="0">
                <a:solidFill>
                  <a:srgbClr val="0070C0"/>
                </a:solidFill>
              </a:rPr>
              <a:t>Machines</a:t>
            </a:r>
            <a:r>
              <a:rPr lang="en-US" dirty="0"/>
              <a:t> or </a:t>
            </a:r>
            <a:r>
              <a:rPr lang="en-US" b="1" dirty="0">
                <a:solidFill>
                  <a:srgbClr val="0070C0"/>
                </a:solidFill>
              </a:rPr>
              <a:t>AWS EC2</a:t>
            </a:r>
            <a:r>
              <a:rPr lang="en-US" dirty="0"/>
              <a:t>, Storage or Networking. </a:t>
            </a:r>
          </a:p>
        </p:txBody>
      </p:sp>
      <p:sp>
        <p:nvSpPr>
          <p:cNvPr id="7" name="Rectangle 6"/>
          <p:cNvSpPr/>
          <p:nvPr/>
        </p:nvSpPr>
        <p:spPr>
          <a:xfrm>
            <a:off x="3057266" y="0"/>
            <a:ext cx="2822693" cy="369332"/>
          </a:xfrm>
          <a:prstGeom prst="rect">
            <a:avLst/>
          </a:prstGeom>
        </p:spPr>
        <p:txBody>
          <a:bodyPr wrap="square">
            <a:spAutoFit/>
          </a:bodyPr>
          <a:lstStyle/>
          <a:p>
            <a:pPr algn="just"/>
            <a:r>
              <a:rPr lang="en-US" dirty="0" smtClean="0"/>
              <a:t>virtual </a:t>
            </a:r>
            <a:r>
              <a:rPr lang="en-US" b="1" dirty="0" smtClean="0">
                <a:solidFill>
                  <a:srgbClr val="0070C0"/>
                </a:solidFill>
              </a:rPr>
              <a:t>Machines</a:t>
            </a:r>
            <a:endParaRPr lang="en-US" dirty="0"/>
          </a:p>
        </p:txBody>
      </p:sp>
      <p:sp>
        <p:nvSpPr>
          <p:cNvPr id="8" name="Rectangle 7"/>
          <p:cNvSpPr/>
          <p:nvPr/>
        </p:nvSpPr>
        <p:spPr>
          <a:xfrm>
            <a:off x="3172265" y="369332"/>
            <a:ext cx="4572000" cy="646331"/>
          </a:xfrm>
          <a:prstGeom prst="rect">
            <a:avLst/>
          </a:prstGeom>
        </p:spPr>
        <p:txBody>
          <a:bodyPr>
            <a:spAutoFit/>
          </a:bodyPr>
          <a:lstStyle/>
          <a:p>
            <a:r>
              <a:rPr lang="en-US" dirty="0"/>
              <a:t>Containers (Docker) vs Virtual Machines (VM): Pros, Cons, and Use Cases</a:t>
            </a:r>
          </a:p>
        </p:txBody>
      </p:sp>
      <p:sp>
        <p:nvSpPr>
          <p:cNvPr id="9" name="Rectangle 8"/>
          <p:cNvSpPr/>
          <p:nvPr/>
        </p:nvSpPr>
        <p:spPr>
          <a:xfrm>
            <a:off x="3593959" y="981611"/>
            <a:ext cx="5395296" cy="3139321"/>
          </a:xfrm>
          <a:prstGeom prst="rect">
            <a:avLst/>
          </a:prstGeom>
        </p:spPr>
        <p:txBody>
          <a:bodyPr wrap="square">
            <a:spAutoFit/>
          </a:bodyPr>
          <a:lstStyle/>
          <a:p>
            <a:r>
              <a:rPr lang="en-US" dirty="0"/>
              <a:t>Table of </a:t>
            </a:r>
            <a:r>
              <a:rPr lang="en-US" dirty="0" smtClean="0"/>
              <a:t>Contents:</a:t>
            </a:r>
            <a:endParaRPr lang="en-US" dirty="0"/>
          </a:p>
          <a:p>
            <a:pPr marL="742950" lvl="1" indent="-285750">
              <a:buFont typeface="Arial" panose="020B0604020202020204" pitchFamily="34" charset="0"/>
              <a:buChar char="•"/>
            </a:pPr>
            <a:r>
              <a:rPr lang="en-US" dirty="0"/>
              <a:t>Exploring Virtual Machines </a:t>
            </a:r>
          </a:p>
          <a:p>
            <a:pPr marL="742950" lvl="1" indent="-285750">
              <a:buFont typeface="Arial" panose="020B0604020202020204" pitchFamily="34" charset="0"/>
              <a:buChar char="•"/>
            </a:pPr>
            <a:r>
              <a:rPr lang="en-US" dirty="0"/>
              <a:t>Virtual Machine: Architecture and Benefits</a:t>
            </a:r>
          </a:p>
          <a:p>
            <a:pPr marL="742950" lvl="1" indent="-285750">
              <a:buFont typeface="Arial" panose="020B0604020202020204" pitchFamily="34" charset="0"/>
              <a:buChar char="•"/>
            </a:pPr>
            <a:r>
              <a:rPr lang="en-US" dirty="0"/>
              <a:t>Pros &amp; Cons of VMs</a:t>
            </a:r>
          </a:p>
          <a:p>
            <a:pPr marL="742950" lvl="1" indent="-285750">
              <a:buFont typeface="Arial" panose="020B0604020202020204" pitchFamily="34" charset="0"/>
              <a:buChar char="•"/>
            </a:pPr>
            <a:r>
              <a:rPr lang="en-US" dirty="0"/>
              <a:t>What Are Containers?</a:t>
            </a:r>
          </a:p>
          <a:p>
            <a:pPr marL="742950" lvl="1" indent="-285750">
              <a:buFont typeface="Arial" panose="020B0604020202020204" pitchFamily="34" charset="0"/>
              <a:buChar char="•"/>
            </a:pPr>
            <a:r>
              <a:rPr lang="en-US" dirty="0"/>
              <a:t>How Do Containers Work?</a:t>
            </a:r>
          </a:p>
          <a:p>
            <a:pPr marL="742950" lvl="1" indent="-285750">
              <a:buFont typeface="Arial" panose="020B0604020202020204" pitchFamily="34" charset="0"/>
              <a:buChar char="•"/>
            </a:pPr>
            <a:r>
              <a:rPr lang="en-US" dirty="0"/>
              <a:t>Pros &amp; Cons of Containers</a:t>
            </a:r>
          </a:p>
          <a:p>
            <a:pPr marL="742950" lvl="1" indent="-285750">
              <a:buFont typeface="Arial" panose="020B0604020202020204" pitchFamily="34" charset="0"/>
              <a:buChar char="•"/>
            </a:pPr>
            <a:r>
              <a:rPr lang="en-US" dirty="0"/>
              <a:t>Difference Between Physical Server and VM</a:t>
            </a:r>
          </a:p>
          <a:p>
            <a:pPr marL="742950" lvl="1" indent="-285750">
              <a:buFont typeface="Arial" panose="020B0604020202020204" pitchFamily="34" charset="0"/>
              <a:buChar char="•"/>
            </a:pPr>
            <a:r>
              <a:rPr lang="en-US" dirty="0"/>
              <a:t>Container (Docker) vs Virtual Machine (VM)</a:t>
            </a:r>
          </a:p>
          <a:p>
            <a:pPr marL="742950" lvl="1" indent="-285750">
              <a:buFont typeface="Arial" panose="020B0604020202020204" pitchFamily="34" charset="0"/>
              <a:buChar char="•"/>
            </a:pPr>
            <a:r>
              <a:rPr lang="en-US" dirty="0"/>
              <a:t>Conclusion: What is Better?</a:t>
            </a:r>
          </a:p>
          <a:p>
            <a:pPr marL="742950" lvl="1" indent="-285750">
              <a:buFont typeface="Arial" panose="020B0604020202020204" pitchFamily="34" charset="0"/>
              <a:buChar char="•"/>
            </a:pPr>
            <a:r>
              <a:rPr lang="en-US" dirty="0"/>
              <a:t>Frequently Asked Questions</a:t>
            </a:r>
          </a:p>
        </p:txBody>
      </p:sp>
    </p:spTree>
    <p:extLst>
      <p:ext uri="{BB962C8B-B14F-4D97-AF65-F5344CB8AC3E}">
        <p14:creationId xmlns:p14="http://schemas.microsoft.com/office/powerpoint/2010/main" val="29294331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a:t>
            </a:fld>
            <a:endParaRPr lang="en-US" dirty="0"/>
          </a:p>
        </p:txBody>
      </p:sp>
      <p:pic>
        <p:nvPicPr>
          <p:cNvPr id="5" name="Picture 4"/>
          <p:cNvPicPr>
            <a:picLocks noChangeAspect="1"/>
          </p:cNvPicPr>
          <p:nvPr/>
        </p:nvPicPr>
        <p:blipFill>
          <a:blip r:embed="rId3"/>
          <a:stretch>
            <a:fillRect/>
          </a:stretch>
        </p:blipFill>
        <p:spPr>
          <a:xfrm>
            <a:off x="234573" y="115904"/>
            <a:ext cx="2822693" cy="2182557"/>
          </a:xfrm>
          <a:prstGeom prst="rect">
            <a:avLst/>
          </a:prstGeom>
        </p:spPr>
      </p:pic>
      <p:sp>
        <p:nvSpPr>
          <p:cNvPr id="6" name="Rectangle 5"/>
          <p:cNvSpPr/>
          <p:nvPr/>
        </p:nvSpPr>
        <p:spPr>
          <a:xfrm>
            <a:off x="234573" y="2298461"/>
            <a:ext cx="2822693" cy="923330"/>
          </a:xfrm>
          <a:prstGeom prst="rect">
            <a:avLst/>
          </a:prstGeom>
        </p:spPr>
        <p:txBody>
          <a:bodyPr wrap="square">
            <a:spAutoFit/>
          </a:bodyPr>
          <a:lstStyle/>
          <a:p>
            <a:pPr algn="just"/>
            <a:r>
              <a:rPr lang="en-US" dirty="0"/>
              <a:t>IaaS are virtual </a:t>
            </a:r>
            <a:r>
              <a:rPr lang="en-US" b="1" dirty="0">
                <a:solidFill>
                  <a:srgbClr val="0070C0"/>
                </a:solidFill>
              </a:rPr>
              <a:t>Machines</a:t>
            </a:r>
            <a:r>
              <a:rPr lang="en-US" dirty="0"/>
              <a:t> or </a:t>
            </a:r>
            <a:r>
              <a:rPr lang="en-US" b="1" dirty="0">
                <a:solidFill>
                  <a:srgbClr val="0070C0"/>
                </a:solidFill>
              </a:rPr>
              <a:t>AWS EC2</a:t>
            </a:r>
            <a:r>
              <a:rPr lang="en-US" dirty="0"/>
              <a:t>, Storage or Networking. </a:t>
            </a:r>
          </a:p>
        </p:txBody>
      </p:sp>
      <p:sp>
        <p:nvSpPr>
          <p:cNvPr id="7" name="Rectangle 6"/>
          <p:cNvSpPr/>
          <p:nvPr/>
        </p:nvSpPr>
        <p:spPr>
          <a:xfrm>
            <a:off x="3057266" y="0"/>
            <a:ext cx="2822693" cy="369332"/>
          </a:xfrm>
          <a:prstGeom prst="rect">
            <a:avLst/>
          </a:prstGeom>
        </p:spPr>
        <p:txBody>
          <a:bodyPr wrap="square">
            <a:spAutoFit/>
          </a:bodyPr>
          <a:lstStyle/>
          <a:p>
            <a:pPr algn="just"/>
            <a:r>
              <a:rPr lang="en-US" b="1" dirty="0" smtClean="0">
                <a:solidFill>
                  <a:srgbClr val="0070C0"/>
                </a:solidFill>
              </a:rPr>
              <a:t>AWS EC2</a:t>
            </a:r>
            <a:endParaRPr lang="en-US" dirty="0"/>
          </a:p>
        </p:txBody>
      </p:sp>
      <p:sp>
        <p:nvSpPr>
          <p:cNvPr id="8" name="Rectangle 7"/>
          <p:cNvSpPr/>
          <p:nvPr/>
        </p:nvSpPr>
        <p:spPr>
          <a:xfrm>
            <a:off x="3172265" y="369332"/>
            <a:ext cx="4572000" cy="646331"/>
          </a:xfrm>
          <a:prstGeom prst="rect">
            <a:avLst/>
          </a:prstGeom>
        </p:spPr>
        <p:txBody>
          <a:bodyPr>
            <a:spAutoFit/>
          </a:bodyPr>
          <a:lstStyle/>
          <a:p>
            <a:r>
              <a:rPr lang="en-US" dirty="0"/>
              <a:t>AWS EC2 Instance | Steps to Connect Windows EC2 Instance</a:t>
            </a:r>
          </a:p>
        </p:txBody>
      </p:sp>
      <p:sp>
        <p:nvSpPr>
          <p:cNvPr id="9" name="Rectangle 8"/>
          <p:cNvSpPr/>
          <p:nvPr/>
        </p:nvSpPr>
        <p:spPr>
          <a:xfrm>
            <a:off x="2940148" y="1015663"/>
            <a:ext cx="6049107" cy="4339650"/>
          </a:xfrm>
          <a:prstGeom prst="rect">
            <a:avLst/>
          </a:prstGeom>
        </p:spPr>
        <p:txBody>
          <a:bodyPr wrap="square">
            <a:spAutoFit/>
          </a:bodyPr>
          <a:lstStyle/>
          <a:p>
            <a:pPr algn="just"/>
            <a:r>
              <a:rPr lang="en-US" sz="1200" dirty="0" smtClean="0"/>
              <a:t>Optimize </a:t>
            </a:r>
            <a:r>
              <a:rPr lang="en-US" sz="1200" dirty="0"/>
              <a:t>your workload performance and cost-effectiveness.</a:t>
            </a:r>
          </a:p>
          <a:p>
            <a:pPr algn="just"/>
            <a:endParaRPr lang="en-US" sz="1200" dirty="0"/>
          </a:p>
          <a:p>
            <a:pPr marL="171450" indent="-171450" algn="just">
              <a:buFont typeface="Wingdings" panose="05000000000000000000" pitchFamily="2" charset="2"/>
              <a:buChar char="ü"/>
            </a:pPr>
            <a:r>
              <a:rPr lang="en-US" sz="1200" dirty="0"/>
              <a:t>General Purpose Instances: These instances are suitable for a wide range of workloads, such as small to medium-sized databases, web servers, and development environments. For example, a t2.micro instance can be used for running a small-scale WordPress website, while an m5.large instance can be used for running a small-scale e-commerce website. Examples of general-purpose instances include t2, m5, and m6g.</a:t>
            </a:r>
          </a:p>
          <a:p>
            <a:pPr marL="171450" indent="-171450" algn="just">
              <a:buFont typeface="Wingdings" panose="05000000000000000000" pitchFamily="2" charset="2"/>
              <a:buChar char="ü"/>
            </a:pPr>
            <a:r>
              <a:rPr lang="en-US" sz="1200" dirty="0"/>
              <a:t>Compute Optimized Instances: These instances are ideal for compute-intensive workloads, such as high-performance computing (HPC), scientific modeling, and data analytics. Examples of compute-optimized instances include c5, c6g, and c6gd.</a:t>
            </a:r>
          </a:p>
          <a:p>
            <a:pPr marL="171450" indent="-171450" algn="just">
              <a:buFont typeface="Wingdings" panose="05000000000000000000" pitchFamily="2" charset="2"/>
              <a:buChar char="ü"/>
            </a:pPr>
            <a:r>
              <a:rPr lang="en-US" sz="1200" dirty="0"/>
              <a:t>Memory Optimized Instances: These instances are designed for workloads that require large amounts of memory, such as in-memory databases, big data processing, and analytics. Examples of memory-optimized instances include r5, r6g, and x1e.</a:t>
            </a:r>
          </a:p>
          <a:p>
            <a:pPr marL="171450" indent="-171450" algn="just">
              <a:buFont typeface="Wingdings" panose="05000000000000000000" pitchFamily="2" charset="2"/>
              <a:buChar char="ü"/>
            </a:pPr>
            <a:r>
              <a:rPr lang="en-US" sz="1200" dirty="0"/>
              <a:t>Storage Optimized Instances: These instances are suitable for storage-intensive workloads that require high disk throughput and low latency, such as data warehousing and log processing. Examples of storage-optimized instances include i3, i3en, and d3.</a:t>
            </a:r>
          </a:p>
          <a:p>
            <a:pPr marL="171450" indent="-171450" algn="just">
              <a:buFont typeface="Wingdings" panose="05000000000000000000" pitchFamily="2" charset="2"/>
              <a:buChar char="ü"/>
            </a:pPr>
            <a:r>
              <a:rPr lang="en-US" sz="1200" dirty="0"/>
              <a:t>GPU Instances: These instances are designed for workloads that require high-performance GPU resources, such as machine learning, deep learning, and graphics rendering. Examples of GPU instances include p3, g4, and inf1.</a:t>
            </a:r>
          </a:p>
          <a:p>
            <a:pPr marL="171450" indent="-171450" algn="just">
              <a:buFont typeface="Wingdings" panose="05000000000000000000" pitchFamily="2" charset="2"/>
              <a:buChar char="ü"/>
            </a:pPr>
            <a:r>
              <a:rPr lang="en-US" sz="1200" dirty="0"/>
              <a:t>High-Performance Computing Instances: These instances are designed for high-performance computing (HPC) workloads that require high network performance and low latency, such as scientific modeling, financial simulations, and engineering simulations. Examples of HPC instances include hpc6id and hpc6a.</a:t>
            </a:r>
          </a:p>
        </p:txBody>
      </p:sp>
    </p:spTree>
    <p:extLst>
      <p:ext uri="{BB962C8B-B14F-4D97-AF65-F5344CB8AC3E}">
        <p14:creationId xmlns:p14="http://schemas.microsoft.com/office/powerpoint/2010/main" val="25175966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833" y="1596207"/>
            <a:ext cx="7886700" cy="994172"/>
          </a:xfrm>
        </p:spPr>
        <p:txBody>
          <a:bodyPr>
            <a:normAutofit/>
          </a:bodyPr>
          <a:lstStyle/>
          <a:p>
            <a:pPr algn="ctr"/>
            <a:r>
              <a:rPr lang="en-US" b="1" dirty="0"/>
              <a:t>**Amazon Web Services (AWS)**</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5</a:t>
            </a:fld>
            <a:endParaRPr lang="en-US" dirty="0"/>
          </a:p>
        </p:txBody>
      </p:sp>
      <p:sp>
        <p:nvSpPr>
          <p:cNvPr id="3" name="Content Placeholder 2"/>
          <p:cNvSpPr>
            <a:spLocks noGrp="1"/>
          </p:cNvSpPr>
          <p:nvPr>
            <p:ph idx="1"/>
          </p:nvPr>
        </p:nvSpPr>
        <p:spPr/>
        <p:txBody>
          <a:bodyPr/>
          <a:lstStyle/>
          <a:p>
            <a:endParaRPr lang="en-US" dirty="0"/>
          </a:p>
        </p:txBody>
      </p:sp>
      <p:pic>
        <p:nvPicPr>
          <p:cNvPr id="6" name="Picture 5"/>
          <p:cNvPicPr>
            <a:picLocks noChangeAspect="1"/>
          </p:cNvPicPr>
          <p:nvPr/>
        </p:nvPicPr>
        <p:blipFill>
          <a:blip r:embed="rId3"/>
          <a:stretch>
            <a:fillRect/>
          </a:stretch>
        </p:blipFill>
        <p:spPr>
          <a:xfrm>
            <a:off x="5531241" y="2638343"/>
            <a:ext cx="2984109" cy="1994380"/>
          </a:xfrm>
          <a:prstGeom prst="rect">
            <a:avLst/>
          </a:prstGeom>
        </p:spPr>
      </p:pic>
      <p:sp>
        <p:nvSpPr>
          <p:cNvPr id="7" name="Title 1"/>
          <p:cNvSpPr txBox="1">
            <a:spLocks/>
          </p:cNvSpPr>
          <p:nvPr/>
        </p:nvSpPr>
        <p:spPr>
          <a:xfrm>
            <a:off x="7666892" y="154745"/>
            <a:ext cx="1364566" cy="4079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smtClean="0">
                <a:solidFill>
                  <a:srgbClr val="0070C0"/>
                </a:solidFill>
              </a:rPr>
              <a:t>Cloud providers**</a:t>
            </a:r>
            <a:endParaRPr lang="en-US" sz="1200" dirty="0">
              <a:solidFill>
                <a:srgbClr val="0070C0"/>
              </a:solidFill>
            </a:endParaRPr>
          </a:p>
        </p:txBody>
      </p:sp>
    </p:spTree>
    <p:extLst>
      <p:ext uri="{BB962C8B-B14F-4D97-AF65-F5344CB8AC3E}">
        <p14:creationId xmlns:p14="http://schemas.microsoft.com/office/powerpoint/2010/main" val="26106391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AWS </a:t>
            </a:r>
            <a:r>
              <a:rPr lang="en-US" b="1" dirty="0" err="1"/>
              <a:t>CodeDeploy</a:t>
            </a:r>
            <a:r>
              <a:rPr lang="en-US" b="1" dirty="0"/>
              <a:t>?</a:t>
            </a:r>
            <a:br>
              <a:rPr lang="en-US" b="1" dirty="0"/>
            </a:b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6</a:t>
            </a:fld>
            <a:endParaRPr lang="en-US" dirty="0"/>
          </a:p>
        </p:txBody>
      </p:sp>
      <p:pic>
        <p:nvPicPr>
          <p:cNvPr id="59394" name="Picture 2" descr="aws-code-deploy-0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7175" y="1370013"/>
            <a:ext cx="6089649" cy="3262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31091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7</a:t>
            </a:fld>
            <a:endParaRPr lang="en-US" dirty="0"/>
          </a:p>
        </p:txBody>
      </p:sp>
      <p:sp>
        <p:nvSpPr>
          <p:cNvPr id="7" name="Title 1"/>
          <p:cNvSpPr txBox="1">
            <a:spLocks/>
          </p:cNvSpPr>
          <p:nvPr/>
        </p:nvSpPr>
        <p:spPr>
          <a:xfrm>
            <a:off x="7666892" y="154745"/>
            <a:ext cx="1364566" cy="4079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smtClean="0">
                <a:solidFill>
                  <a:srgbClr val="0070C0"/>
                </a:solidFill>
              </a:rPr>
              <a:t>Cloud providers**</a:t>
            </a:r>
            <a:endParaRPr lang="en-US" sz="1200" dirty="0">
              <a:solidFill>
                <a:srgbClr val="0070C0"/>
              </a:solidFill>
            </a:endParaRPr>
          </a:p>
        </p:txBody>
      </p:sp>
      <p:sp>
        <p:nvSpPr>
          <p:cNvPr id="5" name="Rectangle 4"/>
          <p:cNvSpPr/>
          <p:nvPr/>
        </p:nvSpPr>
        <p:spPr>
          <a:xfrm>
            <a:off x="249382" y="206138"/>
            <a:ext cx="4572000" cy="646331"/>
          </a:xfrm>
          <a:prstGeom prst="rect">
            <a:avLst/>
          </a:prstGeom>
        </p:spPr>
        <p:txBody>
          <a:bodyPr>
            <a:spAutoFit/>
          </a:bodyPr>
          <a:lstStyle/>
          <a:p>
            <a:r>
              <a:rPr lang="en-US" b="1" dirty="0"/>
              <a:t>Creating Virtual Machines on Cloud Platforms: AWS, Azure, and GCP</a:t>
            </a:r>
          </a:p>
        </p:txBody>
      </p:sp>
      <p:sp>
        <p:nvSpPr>
          <p:cNvPr id="9" name="Rectangle 8"/>
          <p:cNvSpPr/>
          <p:nvPr/>
        </p:nvSpPr>
        <p:spPr>
          <a:xfrm>
            <a:off x="249382" y="736635"/>
            <a:ext cx="8091054" cy="2862322"/>
          </a:xfrm>
          <a:prstGeom prst="rect">
            <a:avLst/>
          </a:prstGeom>
        </p:spPr>
        <p:txBody>
          <a:bodyPr wrap="square">
            <a:spAutoFit/>
          </a:bodyPr>
          <a:lstStyle/>
          <a:p>
            <a:r>
              <a:rPr lang="en-US" sz="1200" dirty="0"/>
              <a:t>AWS (Amazon Web Services)</a:t>
            </a:r>
          </a:p>
          <a:p>
            <a:r>
              <a:rPr lang="en-US" sz="1200" dirty="0"/>
              <a:t>AWS offers a robust and scalable cloud computing environment. The Elastic Compute Cloud (EC2) service is commonly used to create and manage virtual machines.</a:t>
            </a:r>
          </a:p>
          <a:p>
            <a:endParaRPr lang="en-US" sz="1200" dirty="0"/>
          </a:p>
          <a:p>
            <a:r>
              <a:rPr lang="en-US" sz="1200" dirty="0"/>
              <a:t>Step-by-Step Guide to Creating an EC2 Instance</a:t>
            </a:r>
          </a:p>
          <a:p>
            <a:pPr marL="228600" indent="-228600">
              <a:buFont typeface="+mj-lt"/>
              <a:buAutoNum type="arabicPeriod"/>
            </a:pPr>
            <a:r>
              <a:rPr lang="en-US" sz="1200" dirty="0"/>
              <a:t>Sign in to the AWS Management Console.</a:t>
            </a:r>
          </a:p>
          <a:p>
            <a:pPr marL="228600" indent="-228600">
              <a:buFont typeface="+mj-lt"/>
              <a:buAutoNum type="arabicPeriod"/>
            </a:pPr>
            <a:r>
              <a:rPr lang="en-US" sz="1200" dirty="0"/>
              <a:t>Navigate to the EC2 Dashboard.</a:t>
            </a:r>
          </a:p>
          <a:p>
            <a:pPr marL="228600" indent="-228600">
              <a:buFont typeface="+mj-lt"/>
              <a:buAutoNum type="arabicPeriod"/>
            </a:pPr>
            <a:r>
              <a:rPr lang="en-US" sz="1200" dirty="0"/>
              <a:t>Launch Instance</a:t>
            </a:r>
            <a:r>
              <a:rPr lang="en-US" sz="1200" dirty="0" smtClean="0"/>
              <a:t>:  Click </a:t>
            </a:r>
            <a:r>
              <a:rPr lang="en-US" sz="1200" dirty="0"/>
              <a:t>on the “Launch Instance” button.</a:t>
            </a:r>
          </a:p>
          <a:p>
            <a:pPr marL="228600" indent="-228600">
              <a:buFont typeface="+mj-lt"/>
              <a:buAutoNum type="arabicPeriod"/>
            </a:pPr>
            <a:r>
              <a:rPr lang="en-US" sz="1200" dirty="0"/>
              <a:t>Choose an Amazon Machine Image (AMI</a:t>
            </a:r>
            <a:r>
              <a:rPr lang="en-US" sz="1200" dirty="0" smtClean="0"/>
              <a:t>): Select </a:t>
            </a:r>
            <a:r>
              <a:rPr lang="en-US" sz="1200" dirty="0"/>
              <a:t>an AMI. For this example, we’ll use the Amazon Linux 2 AMI.</a:t>
            </a:r>
          </a:p>
          <a:p>
            <a:pPr marL="228600" indent="-228600">
              <a:buFont typeface="+mj-lt"/>
              <a:buAutoNum type="arabicPeriod"/>
            </a:pPr>
            <a:r>
              <a:rPr lang="en-US" sz="1200" dirty="0"/>
              <a:t>Choose an Instance Type</a:t>
            </a:r>
            <a:r>
              <a:rPr lang="en-US" sz="1200" dirty="0" smtClean="0"/>
              <a:t>: Select </a:t>
            </a:r>
            <a:r>
              <a:rPr lang="en-US" sz="1200" dirty="0"/>
              <a:t>an instance type. The t2.micro instance is a good choice for beginners.</a:t>
            </a:r>
          </a:p>
          <a:p>
            <a:pPr marL="228600" indent="-228600">
              <a:buFont typeface="+mj-lt"/>
              <a:buAutoNum type="arabicPeriod"/>
            </a:pPr>
            <a:r>
              <a:rPr lang="en-US" sz="1200" dirty="0"/>
              <a:t>Configure Instance Details</a:t>
            </a:r>
            <a:r>
              <a:rPr lang="en-US" sz="1200" dirty="0" smtClean="0"/>
              <a:t>: Configure </a:t>
            </a:r>
            <a:r>
              <a:rPr lang="en-US" sz="1200" dirty="0"/>
              <a:t>settings like the number of instances, network, and IAM role.</a:t>
            </a:r>
          </a:p>
          <a:p>
            <a:pPr marL="228600" indent="-228600">
              <a:buFont typeface="+mj-lt"/>
              <a:buAutoNum type="arabicPeriod"/>
            </a:pPr>
            <a:r>
              <a:rPr lang="en-US" sz="1200" dirty="0"/>
              <a:t>Add Storage</a:t>
            </a:r>
            <a:r>
              <a:rPr lang="en-US" sz="1200" dirty="0" smtClean="0"/>
              <a:t>: Specify </a:t>
            </a:r>
            <a:r>
              <a:rPr lang="en-US" sz="1200" dirty="0"/>
              <a:t>the storage size and type.</a:t>
            </a:r>
          </a:p>
          <a:p>
            <a:pPr marL="228600" indent="-228600">
              <a:buFont typeface="+mj-lt"/>
              <a:buAutoNum type="arabicPeriod"/>
            </a:pPr>
            <a:r>
              <a:rPr lang="en-US" sz="1200" dirty="0"/>
              <a:t>Add Tags</a:t>
            </a:r>
            <a:r>
              <a:rPr lang="en-US" sz="1200" dirty="0" smtClean="0"/>
              <a:t>: Add </a:t>
            </a:r>
            <a:r>
              <a:rPr lang="en-US" sz="1200" dirty="0"/>
              <a:t>tags to organize and manage your instances.</a:t>
            </a:r>
          </a:p>
          <a:p>
            <a:pPr marL="228600" indent="-228600">
              <a:buFont typeface="+mj-lt"/>
              <a:buAutoNum type="arabicPeriod"/>
            </a:pPr>
            <a:r>
              <a:rPr lang="en-US" sz="1200" dirty="0"/>
              <a:t>Configure Security Group</a:t>
            </a:r>
            <a:r>
              <a:rPr lang="en-US" sz="1200" dirty="0" smtClean="0"/>
              <a:t>: Configure </a:t>
            </a:r>
            <a:r>
              <a:rPr lang="en-US" sz="1200" dirty="0"/>
              <a:t>firewall settings to control traffic to your instance.</a:t>
            </a:r>
          </a:p>
          <a:p>
            <a:pPr marL="228600" indent="-228600">
              <a:buFont typeface="+mj-lt"/>
              <a:buAutoNum type="arabicPeriod"/>
            </a:pPr>
            <a:r>
              <a:rPr lang="en-US" sz="1200" dirty="0"/>
              <a:t>Review and Launch</a:t>
            </a:r>
            <a:r>
              <a:rPr lang="en-US" sz="1200" dirty="0" smtClean="0"/>
              <a:t>: Review </a:t>
            </a:r>
            <a:r>
              <a:rPr lang="en-US" sz="1200" dirty="0"/>
              <a:t>your settings and click “Launch”. Choose an existing key pair or create a new one for SSH access.</a:t>
            </a:r>
          </a:p>
        </p:txBody>
      </p:sp>
    </p:spTree>
    <p:extLst>
      <p:ext uri="{BB962C8B-B14F-4D97-AF65-F5344CB8AC3E}">
        <p14:creationId xmlns:p14="http://schemas.microsoft.com/office/powerpoint/2010/main" val="3806754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8</a:t>
            </a:fld>
            <a:endParaRPr lang="en-US" dirty="0"/>
          </a:p>
        </p:txBody>
      </p:sp>
      <p:sp>
        <p:nvSpPr>
          <p:cNvPr id="7" name="Title 1"/>
          <p:cNvSpPr txBox="1">
            <a:spLocks/>
          </p:cNvSpPr>
          <p:nvPr/>
        </p:nvSpPr>
        <p:spPr>
          <a:xfrm>
            <a:off x="7666892" y="154745"/>
            <a:ext cx="1364566" cy="4079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smtClean="0">
                <a:solidFill>
                  <a:srgbClr val="0070C0"/>
                </a:solidFill>
              </a:rPr>
              <a:t>Cloud providers**</a:t>
            </a:r>
            <a:endParaRPr lang="en-US" sz="1200" dirty="0">
              <a:solidFill>
                <a:srgbClr val="0070C0"/>
              </a:solidFill>
            </a:endParaRPr>
          </a:p>
        </p:txBody>
      </p:sp>
      <p:sp>
        <p:nvSpPr>
          <p:cNvPr id="5" name="Rectangle 4"/>
          <p:cNvSpPr/>
          <p:nvPr/>
        </p:nvSpPr>
        <p:spPr>
          <a:xfrm>
            <a:off x="249382" y="206138"/>
            <a:ext cx="4572000" cy="646331"/>
          </a:xfrm>
          <a:prstGeom prst="rect">
            <a:avLst/>
          </a:prstGeom>
        </p:spPr>
        <p:txBody>
          <a:bodyPr>
            <a:spAutoFit/>
          </a:bodyPr>
          <a:lstStyle/>
          <a:p>
            <a:r>
              <a:rPr lang="en-US" b="1" dirty="0"/>
              <a:t>Creating Virtual Machines on Cloud Platforms: AWS, Azure, and GCP</a:t>
            </a:r>
          </a:p>
        </p:txBody>
      </p:sp>
    </p:spTree>
    <p:extLst>
      <p:ext uri="{BB962C8B-B14F-4D97-AF65-F5344CB8AC3E}">
        <p14:creationId xmlns:p14="http://schemas.microsoft.com/office/powerpoint/2010/main" val="23371165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833" y="1596207"/>
            <a:ext cx="7886700" cy="994172"/>
          </a:xfrm>
        </p:spPr>
        <p:txBody>
          <a:bodyPr>
            <a:normAutofit/>
          </a:bodyPr>
          <a:lstStyle/>
          <a:p>
            <a:pPr algn="ctr"/>
            <a:r>
              <a:rPr lang="en-US" b="1" dirty="0"/>
              <a:t>**Amazon Web Services (AWS)**</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9</a:t>
            </a:fld>
            <a:endParaRPr lang="en-US" dirty="0"/>
          </a:p>
        </p:txBody>
      </p:sp>
      <p:sp>
        <p:nvSpPr>
          <p:cNvPr id="3" name="Content Placeholder 2"/>
          <p:cNvSpPr>
            <a:spLocks noGrp="1"/>
          </p:cNvSpPr>
          <p:nvPr>
            <p:ph idx="1"/>
          </p:nvPr>
        </p:nvSpPr>
        <p:spPr/>
        <p:txBody>
          <a:bodyPr/>
          <a:lstStyle/>
          <a:p>
            <a:endParaRPr lang="en-US" dirty="0"/>
          </a:p>
        </p:txBody>
      </p:sp>
      <p:pic>
        <p:nvPicPr>
          <p:cNvPr id="6" name="Picture 5"/>
          <p:cNvPicPr>
            <a:picLocks noChangeAspect="1"/>
          </p:cNvPicPr>
          <p:nvPr/>
        </p:nvPicPr>
        <p:blipFill>
          <a:blip r:embed="rId3"/>
          <a:stretch>
            <a:fillRect/>
          </a:stretch>
        </p:blipFill>
        <p:spPr>
          <a:xfrm>
            <a:off x="5531241" y="2638343"/>
            <a:ext cx="2984109" cy="1994380"/>
          </a:xfrm>
          <a:prstGeom prst="rect">
            <a:avLst/>
          </a:prstGeom>
        </p:spPr>
      </p:pic>
      <p:sp>
        <p:nvSpPr>
          <p:cNvPr id="7" name="Title 1"/>
          <p:cNvSpPr txBox="1">
            <a:spLocks/>
          </p:cNvSpPr>
          <p:nvPr/>
        </p:nvSpPr>
        <p:spPr>
          <a:xfrm>
            <a:off x="7666892" y="154745"/>
            <a:ext cx="1364566" cy="4079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smtClean="0">
                <a:solidFill>
                  <a:srgbClr val="0070C0"/>
                </a:solidFill>
              </a:rPr>
              <a:t>Cloud providers**</a:t>
            </a:r>
            <a:endParaRPr lang="en-US" sz="1200" dirty="0">
              <a:solidFill>
                <a:srgbClr val="0070C0"/>
              </a:solidFill>
            </a:endParaRPr>
          </a:p>
        </p:txBody>
      </p:sp>
    </p:spTree>
    <p:extLst>
      <p:ext uri="{BB962C8B-B14F-4D97-AF65-F5344CB8AC3E}">
        <p14:creationId xmlns:p14="http://schemas.microsoft.com/office/powerpoint/2010/main" val="31571190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833" y="1596207"/>
            <a:ext cx="7886700" cy="994172"/>
          </a:xfrm>
        </p:spPr>
        <p:txBody>
          <a:bodyPr>
            <a:normAutofit/>
          </a:bodyPr>
          <a:lstStyle/>
          <a:p>
            <a:pPr algn="ctr"/>
            <a:r>
              <a:rPr lang="en-US" b="1" dirty="0"/>
              <a:t>**Amazon Web Services (AWS)**</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10</a:t>
            </a:fld>
            <a:endParaRPr lang="en-US" dirty="0"/>
          </a:p>
        </p:txBody>
      </p:sp>
      <p:sp>
        <p:nvSpPr>
          <p:cNvPr id="3" name="Content Placeholder 2"/>
          <p:cNvSpPr>
            <a:spLocks noGrp="1"/>
          </p:cNvSpPr>
          <p:nvPr>
            <p:ph idx="1"/>
          </p:nvPr>
        </p:nvSpPr>
        <p:spPr/>
        <p:txBody>
          <a:bodyPr/>
          <a:lstStyle/>
          <a:p>
            <a:endParaRPr lang="en-US" dirty="0"/>
          </a:p>
        </p:txBody>
      </p:sp>
      <p:pic>
        <p:nvPicPr>
          <p:cNvPr id="6" name="Picture 5"/>
          <p:cNvPicPr>
            <a:picLocks noChangeAspect="1"/>
          </p:cNvPicPr>
          <p:nvPr/>
        </p:nvPicPr>
        <p:blipFill>
          <a:blip r:embed="rId3"/>
          <a:stretch>
            <a:fillRect/>
          </a:stretch>
        </p:blipFill>
        <p:spPr>
          <a:xfrm>
            <a:off x="5531241" y="2638343"/>
            <a:ext cx="2984109" cy="1994380"/>
          </a:xfrm>
          <a:prstGeom prst="rect">
            <a:avLst/>
          </a:prstGeom>
        </p:spPr>
      </p:pic>
      <p:sp>
        <p:nvSpPr>
          <p:cNvPr id="7" name="Title 1"/>
          <p:cNvSpPr txBox="1">
            <a:spLocks/>
          </p:cNvSpPr>
          <p:nvPr/>
        </p:nvSpPr>
        <p:spPr>
          <a:xfrm>
            <a:off x="7666892" y="154745"/>
            <a:ext cx="1364566" cy="4079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smtClean="0">
                <a:solidFill>
                  <a:srgbClr val="0070C0"/>
                </a:solidFill>
              </a:rPr>
              <a:t>Cloud providers**</a:t>
            </a:r>
            <a:endParaRPr lang="en-US" sz="1200" dirty="0">
              <a:solidFill>
                <a:srgbClr val="0070C0"/>
              </a:solidFill>
            </a:endParaRPr>
          </a:p>
        </p:txBody>
      </p:sp>
    </p:spTree>
    <p:extLst>
      <p:ext uri="{BB962C8B-B14F-4D97-AF65-F5344CB8AC3E}">
        <p14:creationId xmlns:p14="http://schemas.microsoft.com/office/powerpoint/2010/main" val="8940739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962" y="160956"/>
            <a:ext cx="7886700" cy="403489"/>
          </a:xfrm>
        </p:spPr>
        <p:txBody>
          <a:bodyPr>
            <a:normAutofit fontScale="90000"/>
          </a:bodyPr>
          <a:lstStyle/>
          <a:p>
            <a:r>
              <a:rPr lang="en-US" b="1" dirty="0" err="1" smtClean="0">
                <a:solidFill>
                  <a:srgbClr val="FF0000"/>
                </a:solidFill>
              </a:rPr>
              <a:t>Exampe</a:t>
            </a:r>
            <a:r>
              <a:rPr lang="en-US" b="1" dirty="0" smtClean="0">
                <a:solidFill>
                  <a:srgbClr val="FF0000"/>
                </a:solidFill>
              </a:rPr>
              <a:t> 1</a:t>
            </a:r>
            <a:endParaRPr lang="en-US" b="1" dirty="0">
              <a:solidFill>
                <a:srgbClr val="FF0000"/>
              </a:solidFill>
            </a:endParaRPr>
          </a:p>
        </p:txBody>
      </p:sp>
      <p:pic>
        <p:nvPicPr>
          <p:cNvPr id="6" name="Content Placeholder 5"/>
          <p:cNvPicPr>
            <a:picLocks noGrp="1" noChangeAspect="1"/>
          </p:cNvPicPr>
          <p:nvPr>
            <p:ph idx="1"/>
          </p:nvPr>
        </p:nvPicPr>
        <p:blipFill>
          <a:blip r:embed="rId3"/>
          <a:stretch>
            <a:fillRect/>
          </a:stretch>
        </p:blipFill>
        <p:spPr>
          <a:xfrm>
            <a:off x="210962" y="2194008"/>
            <a:ext cx="2741179" cy="2033042"/>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11</a:t>
            </a:fld>
            <a:endParaRPr lang="en-US" dirty="0"/>
          </a:p>
        </p:txBody>
      </p:sp>
      <p:sp>
        <p:nvSpPr>
          <p:cNvPr id="5" name="Title 1"/>
          <p:cNvSpPr txBox="1">
            <a:spLocks/>
          </p:cNvSpPr>
          <p:nvPr/>
        </p:nvSpPr>
        <p:spPr>
          <a:xfrm>
            <a:off x="425451" y="696716"/>
            <a:ext cx="7886700" cy="403489"/>
          </a:xfrm>
          <a:prstGeom prst="rect">
            <a:avLst/>
          </a:prstGeom>
        </p:spPr>
        <p:txBody>
          <a:bodyPr vert="horz" lIns="91440" tIns="45720" rIns="91440" bIns="45720" rtlCol="0" anchor="ctr">
            <a:normAutofit fontScale="8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solidFill>
                  <a:schemeClr val="accent1">
                    <a:lumMod val="50000"/>
                  </a:schemeClr>
                </a:solidFill>
              </a:rPr>
              <a:t>YOLOv5 🚀 on AWS Deep Learning Instance</a:t>
            </a:r>
          </a:p>
        </p:txBody>
      </p:sp>
      <p:sp>
        <p:nvSpPr>
          <p:cNvPr id="7" name="Rectangle 6"/>
          <p:cNvSpPr/>
          <p:nvPr/>
        </p:nvSpPr>
        <p:spPr>
          <a:xfrm>
            <a:off x="210962" y="1100205"/>
            <a:ext cx="4022371" cy="1292662"/>
          </a:xfrm>
          <a:prstGeom prst="rect">
            <a:avLst/>
          </a:prstGeom>
        </p:spPr>
        <p:txBody>
          <a:bodyPr wrap="square">
            <a:spAutoFit/>
          </a:bodyPr>
          <a:lstStyle/>
          <a:p>
            <a:pPr algn="just"/>
            <a:r>
              <a:rPr lang="en-US" sz="1200" dirty="0"/>
              <a:t>Step 1: AWS Console Sign-In</a:t>
            </a:r>
          </a:p>
          <a:p>
            <a:pPr algn="just"/>
            <a:r>
              <a:rPr lang="en-US" sz="1200" dirty="0"/>
              <a:t>Begin by creating an account or signing in to the AWS Management Console. Once logged in, navigate to the EC2 service dashboard, where you can manage your virtual servers (instances).</a:t>
            </a:r>
          </a:p>
          <a:p>
            <a:endParaRPr lang="en-US" dirty="0"/>
          </a:p>
        </p:txBody>
      </p:sp>
      <p:sp>
        <p:nvSpPr>
          <p:cNvPr id="8" name="Rectangle 7"/>
          <p:cNvSpPr/>
          <p:nvPr/>
        </p:nvSpPr>
        <p:spPr>
          <a:xfrm>
            <a:off x="4572000" y="1093202"/>
            <a:ext cx="4120444" cy="830997"/>
          </a:xfrm>
          <a:prstGeom prst="rect">
            <a:avLst/>
          </a:prstGeom>
        </p:spPr>
        <p:txBody>
          <a:bodyPr wrap="square">
            <a:spAutoFit/>
          </a:bodyPr>
          <a:lstStyle/>
          <a:p>
            <a:pPr algn="just"/>
            <a:r>
              <a:rPr lang="en-US" sz="1200" dirty="0"/>
              <a:t>Step 2: Launch Your Instance</a:t>
            </a:r>
          </a:p>
          <a:p>
            <a:pPr algn="just"/>
            <a:r>
              <a:rPr lang="en-US" sz="1200" dirty="0"/>
              <a:t>From the EC2 dashboard, click the Launch Instance button. This initiates the process of creating a new virtual server tailored to your needs.</a:t>
            </a:r>
          </a:p>
        </p:txBody>
      </p:sp>
      <p:pic>
        <p:nvPicPr>
          <p:cNvPr id="9" name="Picture 8"/>
          <p:cNvPicPr>
            <a:picLocks noChangeAspect="1"/>
          </p:cNvPicPr>
          <p:nvPr/>
        </p:nvPicPr>
        <p:blipFill>
          <a:blip r:embed="rId4"/>
          <a:stretch>
            <a:fillRect/>
          </a:stretch>
        </p:blipFill>
        <p:spPr>
          <a:xfrm>
            <a:off x="4572000" y="2027414"/>
            <a:ext cx="3190422" cy="2366230"/>
          </a:xfrm>
          <a:prstGeom prst="rect">
            <a:avLst/>
          </a:prstGeom>
        </p:spPr>
      </p:pic>
    </p:spTree>
    <p:extLst>
      <p:ext uri="{BB962C8B-B14F-4D97-AF65-F5344CB8AC3E}">
        <p14:creationId xmlns:p14="http://schemas.microsoft.com/office/powerpoint/2010/main" val="35448679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962" y="160956"/>
            <a:ext cx="7886700" cy="403489"/>
          </a:xfrm>
        </p:spPr>
        <p:txBody>
          <a:bodyPr>
            <a:normAutofit fontScale="90000"/>
          </a:bodyPr>
          <a:lstStyle/>
          <a:p>
            <a:r>
              <a:rPr lang="en-US" b="1" dirty="0" err="1" smtClean="0">
                <a:solidFill>
                  <a:srgbClr val="FF0000"/>
                </a:solidFill>
              </a:rPr>
              <a:t>Exampe</a:t>
            </a:r>
            <a:r>
              <a:rPr lang="en-US" b="1" dirty="0" smtClean="0">
                <a:solidFill>
                  <a:srgbClr val="FF0000"/>
                </a:solidFill>
              </a:rPr>
              <a:t> 1</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12</a:t>
            </a:fld>
            <a:endParaRPr lang="en-US" dirty="0"/>
          </a:p>
        </p:txBody>
      </p:sp>
      <p:sp>
        <p:nvSpPr>
          <p:cNvPr id="5" name="Title 1"/>
          <p:cNvSpPr txBox="1">
            <a:spLocks/>
          </p:cNvSpPr>
          <p:nvPr/>
        </p:nvSpPr>
        <p:spPr>
          <a:xfrm>
            <a:off x="425451" y="696716"/>
            <a:ext cx="7886700" cy="403489"/>
          </a:xfrm>
          <a:prstGeom prst="rect">
            <a:avLst/>
          </a:prstGeom>
        </p:spPr>
        <p:txBody>
          <a:bodyPr vert="horz" lIns="91440" tIns="45720" rIns="91440" bIns="45720" rtlCol="0" anchor="ctr">
            <a:normAutofit fontScale="8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solidFill>
                  <a:schemeClr val="accent1">
                    <a:lumMod val="50000"/>
                  </a:schemeClr>
                </a:solidFill>
              </a:rPr>
              <a:t>YOLOv5 🚀 on AWS Deep Learning </a:t>
            </a:r>
            <a:r>
              <a:rPr lang="en-US" dirty="0" smtClean="0">
                <a:solidFill>
                  <a:schemeClr val="accent1">
                    <a:lumMod val="50000"/>
                  </a:schemeClr>
                </a:solidFill>
              </a:rPr>
              <a:t>Instance (</a:t>
            </a:r>
            <a:r>
              <a:rPr lang="en-US" dirty="0" err="1" smtClean="0">
                <a:solidFill>
                  <a:schemeClr val="accent1">
                    <a:lumMod val="50000"/>
                  </a:schemeClr>
                </a:solidFill>
              </a:rPr>
              <a:t>Cons’t</a:t>
            </a:r>
            <a:r>
              <a:rPr lang="en-US" dirty="0" smtClean="0">
                <a:solidFill>
                  <a:schemeClr val="accent1">
                    <a:lumMod val="50000"/>
                  </a:schemeClr>
                </a:solidFill>
              </a:rPr>
              <a:t>)</a:t>
            </a:r>
            <a:endParaRPr lang="en-US" dirty="0">
              <a:solidFill>
                <a:schemeClr val="accent1">
                  <a:lumMod val="50000"/>
                </a:schemeClr>
              </a:solidFill>
            </a:endParaRPr>
          </a:p>
        </p:txBody>
      </p:sp>
      <p:sp>
        <p:nvSpPr>
          <p:cNvPr id="7" name="Rectangle 6"/>
          <p:cNvSpPr/>
          <p:nvPr/>
        </p:nvSpPr>
        <p:spPr>
          <a:xfrm>
            <a:off x="210962" y="1100205"/>
            <a:ext cx="4022371" cy="1754326"/>
          </a:xfrm>
          <a:prstGeom prst="rect">
            <a:avLst/>
          </a:prstGeom>
        </p:spPr>
        <p:txBody>
          <a:bodyPr wrap="square">
            <a:spAutoFit/>
          </a:bodyPr>
          <a:lstStyle/>
          <a:p>
            <a:pPr algn="just"/>
            <a:r>
              <a:rPr lang="en-US" sz="1200" b="1" dirty="0"/>
              <a:t>Selecting the Right Amazon Machine Image (AMI</a:t>
            </a:r>
            <a:r>
              <a:rPr lang="en-US" sz="1200" b="1" dirty="0" smtClean="0"/>
              <a:t>)</a:t>
            </a:r>
          </a:p>
          <a:p>
            <a:pPr algn="just"/>
            <a:endParaRPr lang="en-US" sz="1200" b="1" dirty="0"/>
          </a:p>
          <a:p>
            <a:pPr algn="just"/>
            <a:r>
              <a:rPr lang="en-US" sz="900" dirty="0"/>
              <a:t>Choosing the correct AMI is crucial. This determines the operating system and pre-installed software for your instance. In the search bar, type '</a:t>
            </a:r>
            <a:r>
              <a:rPr lang="en-US" sz="900" dirty="0">
                <a:hlinkClick r:id="rId3"/>
              </a:rPr>
              <a:t>Deep Learning</a:t>
            </a:r>
            <a:r>
              <a:rPr lang="en-US" sz="900" dirty="0"/>
              <a:t>' and select the latest Ubuntu-based Deep Learning AMI (unless you have specific requirements for a different OS). Amazon's Deep Learning AMIs come pre-configured with popular </a:t>
            </a:r>
            <a:r>
              <a:rPr lang="en-US" sz="900" dirty="0">
                <a:hlinkClick r:id="rId4"/>
              </a:rPr>
              <a:t>deep learning frameworks</a:t>
            </a:r>
            <a:r>
              <a:rPr lang="en-US" sz="900" dirty="0"/>
              <a:t> (like </a:t>
            </a:r>
            <a:r>
              <a:rPr lang="en-US" sz="900" dirty="0" err="1">
                <a:hlinkClick r:id="rId5"/>
              </a:rPr>
              <a:t>PyTorch</a:t>
            </a:r>
            <a:r>
              <a:rPr lang="en-US" sz="900" dirty="0"/>
              <a:t>, used by YOLOv5) and necessary </a:t>
            </a:r>
            <a:r>
              <a:rPr lang="en-US" sz="900" dirty="0">
                <a:hlinkClick r:id="rId6"/>
              </a:rPr>
              <a:t>GPU drivers</a:t>
            </a:r>
            <a:r>
              <a:rPr lang="en-US" sz="900" dirty="0"/>
              <a:t>, significantly streamlining the setup process.</a:t>
            </a:r>
          </a:p>
          <a:p>
            <a:r>
              <a:rPr lang="en-US" sz="1200" dirty="0"/>
              <a:t/>
            </a:r>
            <a:br>
              <a:rPr lang="en-US" sz="1200" dirty="0"/>
            </a:br>
            <a:endParaRPr lang="en-US" dirty="0"/>
          </a:p>
        </p:txBody>
      </p:sp>
      <p:pic>
        <p:nvPicPr>
          <p:cNvPr id="9" name="Picture 8"/>
          <p:cNvPicPr>
            <a:picLocks noChangeAspect="1"/>
          </p:cNvPicPr>
          <p:nvPr/>
        </p:nvPicPr>
        <p:blipFill>
          <a:blip r:embed="rId7"/>
          <a:stretch>
            <a:fillRect/>
          </a:stretch>
        </p:blipFill>
        <p:spPr>
          <a:xfrm>
            <a:off x="210962" y="2356745"/>
            <a:ext cx="3883378" cy="2880172"/>
          </a:xfrm>
          <a:prstGeom prst="rect">
            <a:avLst/>
          </a:prstGeom>
        </p:spPr>
      </p:pic>
      <p:sp>
        <p:nvSpPr>
          <p:cNvPr id="10" name="Rectangle 9"/>
          <p:cNvSpPr/>
          <p:nvPr/>
        </p:nvSpPr>
        <p:spPr>
          <a:xfrm>
            <a:off x="4647495" y="1100205"/>
            <a:ext cx="4022371" cy="2816156"/>
          </a:xfrm>
          <a:prstGeom prst="rect">
            <a:avLst/>
          </a:prstGeom>
        </p:spPr>
        <p:txBody>
          <a:bodyPr wrap="square">
            <a:spAutoFit/>
          </a:bodyPr>
          <a:lstStyle/>
          <a:p>
            <a:pPr algn="just"/>
            <a:r>
              <a:rPr lang="en-US" dirty="0"/>
              <a:t>Picking an Instance </a:t>
            </a:r>
            <a:r>
              <a:rPr lang="en-US" dirty="0" smtClean="0"/>
              <a:t>Type</a:t>
            </a:r>
            <a:endParaRPr lang="en-US" sz="1200" b="1" dirty="0" smtClean="0"/>
          </a:p>
          <a:p>
            <a:pPr algn="just"/>
            <a:endParaRPr lang="en-US" sz="1200" b="1" dirty="0"/>
          </a:p>
          <a:p>
            <a:pPr algn="just"/>
            <a:r>
              <a:rPr lang="en-US" sz="900" dirty="0"/>
              <a:t>For demanding tasks like training deep learning models, selecting a GPU-accelerated instance type is highly recommended. GPUs can dramatically reduce the time required for model training compared to CPUs. When choosing an instance size, ensure its memory capacity (RAM) is sufficient for your model and dataset.</a:t>
            </a:r>
          </a:p>
          <a:p>
            <a:pPr algn="just"/>
            <a:endParaRPr lang="en-US" sz="900" dirty="0"/>
          </a:p>
          <a:p>
            <a:pPr algn="just"/>
            <a:r>
              <a:rPr lang="en-US" sz="900" dirty="0"/>
              <a:t>Note: The size of your model and dataset are critical factors. If your ML task requires more memory than the selected instance provides, you'll need to choose a larger instance type to avoid performance issues or errors.</a:t>
            </a:r>
          </a:p>
          <a:p>
            <a:pPr algn="just"/>
            <a:endParaRPr lang="en-US" sz="900" dirty="0"/>
          </a:p>
          <a:p>
            <a:pPr algn="just"/>
            <a:r>
              <a:rPr lang="en-US" sz="900" dirty="0"/>
              <a:t>Explore the available GPU instance types on the EC2 Instance Types page, particularly under the Accelerated Computing category.</a:t>
            </a:r>
          </a:p>
          <a:p>
            <a:pPr algn="just"/>
            <a:endParaRPr lang="en-US" sz="900" dirty="0"/>
          </a:p>
          <a:p>
            <a:r>
              <a:rPr lang="en-US" sz="1200" dirty="0"/>
              <a:t/>
            </a:r>
            <a:br>
              <a:rPr lang="en-US" sz="1200" dirty="0"/>
            </a:br>
            <a:endParaRPr lang="en-US" dirty="0"/>
          </a:p>
        </p:txBody>
      </p:sp>
      <p:pic>
        <p:nvPicPr>
          <p:cNvPr id="11" name="Picture 10"/>
          <p:cNvPicPr>
            <a:picLocks noChangeAspect="1"/>
          </p:cNvPicPr>
          <p:nvPr/>
        </p:nvPicPr>
        <p:blipFill>
          <a:blip r:embed="rId8"/>
          <a:stretch>
            <a:fillRect/>
          </a:stretch>
        </p:blipFill>
        <p:spPr>
          <a:xfrm>
            <a:off x="4675718" y="3184452"/>
            <a:ext cx="2810932" cy="2084774"/>
          </a:xfrm>
          <a:prstGeom prst="rect">
            <a:avLst/>
          </a:prstGeom>
        </p:spPr>
      </p:pic>
    </p:spTree>
    <p:extLst>
      <p:ext uri="{BB962C8B-B14F-4D97-AF65-F5344CB8AC3E}">
        <p14:creationId xmlns:p14="http://schemas.microsoft.com/office/powerpoint/2010/main" val="30563777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962" y="160956"/>
            <a:ext cx="7886700" cy="403489"/>
          </a:xfrm>
        </p:spPr>
        <p:txBody>
          <a:bodyPr>
            <a:normAutofit fontScale="90000"/>
          </a:bodyPr>
          <a:lstStyle/>
          <a:p>
            <a:r>
              <a:rPr lang="en-US" b="1" dirty="0" err="1" smtClean="0">
                <a:solidFill>
                  <a:srgbClr val="FF0000"/>
                </a:solidFill>
              </a:rPr>
              <a:t>Exampe</a:t>
            </a:r>
            <a:r>
              <a:rPr lang="en-US" b="1" dirty="0" smtClean="0">
                <a:solidFill>
                  <a:srgbClr val="FF0000"/>
                </a:solidFill>
              </a:rPr>
              <a:t> 1</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13</a:t>
            </a:fld>
            <a:endParaRPr lang="en-US" dirty="0"/>
          </a:p>
        </p:txBody>
      </p:sp>
      <p:sp>
        <p:nvSpPr>
          <p:cNvPr id="5" name="Title 1"/>
          <p:cNvSpPr txBox="1">
            <a:spLocks/>
          </p:cNvSpPr>
          <p:nvPr/>
        </p:nvSpPr>
        <p:spPr>
          <a:xfrm>
            <a:off x="425451" y="696716"/>
            <a:ext cx="7886700" cy="403489"/>
          </a:xfrm>
          <a:prstGeom prst="rect">
            <a:avLst/>
          </a:prstGeom>
        </p:spPr>
        <p:txBody>
          <a:bodyPr vert="horz" lIns="91440" tIns="45720" rIns="91440" bIns="45720" rtlCol="0" anchor="ctr">
            <a:normAutofit fontScale="8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solidFill>
                  <a:schemeClr val="accent1">
                    <a:lumMod val="50000"/>
                  </a:schemeClr>
                </a:solidFill>
              </a:rPr>
              <a:t>YOLOv5 🚀 on AWS Deep Learning </a:t>
            </a:r>
            <a:r>
              <a:rPr lang="en-US" dirty="0" smtClean="0">
                <a:solidFill>
                  <a:schemeClr val="accent1">
                    <a:lumMod val="50000"/>
                  </a:schemeClr>
                </a:solidFill>
              </a:rPr>
              <a:t>Instance (</a:t>
            </a:r>
            <a:r>
              <a:rPr lang="en-US" dirty="0" err="1" smtClean="0">
                <a:solidFill>
                  <a:schemeClr val="accent1">
                    <a:lumMod val="50000"/>
                  </a:schemeClr>
                </a:solidFill>
              </a:rPr>
              <a:t>Cons’t</a:t>
            </a:r>
            <a:r>
              <a:rPr lang="en-US" dirty="0" smtClean="0">
                <a:solidFill>
                  <a:schemeClr val="accent1">
                    <a:lumMod val="50000"/>
                  </a:schemeClr>
                </a:solidFill>
              </a:rPr>
              <a:t>)</a:t>
            </a:r>
            <a:endParaRPr lang="en-US" dirty="0">
              <a:solidFill>
                <a:schemeClr val="accent1">
                  <a:lumMod val="50000"/>
                </a:schemeClr>
              </a:solidFill>
            </a:endParaRPr>
          </a:p>
        </p:txBody>
      </p:sp>
      <p:sp>
        <p:nvSpPr>
          <p:cNvPr id="7" name="Rectangle 6"/>
          <p:cNvSpPr/>
          <p:nvPr/>
        </p:nvSpPr>
        <p:spPr>
          <a:xfrm>
            <a:off x="210962" y="1100205"/>
            <a:ext cx="4022371" cy="646331"/>
          </a:xfrm>
          <a:prstGeom prst="rect">
            <a:avLst/>
          </a:prstGeom>
        </p:spPr>
        <p:txBody>
          <a:bodyPr wrap="square">
            <a:spAutoFit/>
          </a:bodyPr>
          <a:lstStyle/>
          <a:p>
            <a:r>
              <a:rPr lang="en-US" dirty="0"/>
              <a:t>Configuring Your Instance</a:t>
            </a:r>
          </a:p>
          <a:p>
            <a:endParaRPr lang="en-US" dirty="0"/>
          </a:p>
        </p:txBody>
      </p:sp>
      <p:sp>
        <p:nvSpPr>
          <p:cNvPr id="8" name="Rectangle 7"/>
          <p:cNvSpPr/>
          <p:nvPr/>
        </p:nvSpPr>
        <p:spPr>
          <a:xfrm>
            <a:off x="4572000" y="1093202"/>
            <a:ext cx="4120444" cy="1754326"/>
          </a:xfrm>
          <a:prstGeom prst="rect">
            <a:avLst/>
          </a:prstGeom>
        </p:spPr>
        <p:txBody>
          <a:bodyPr wrap="square">
            <a:spAutoFit/>
          </a:bodyPr>
          <a:lstStyle/>
          <a:p>
            <a:pPr algn="just"/>
            <a:r>
              <a:rPr lang="en-US" sz="1200" dirty="0"/>
              <a:t>Step 3: Connect to Your </a:t>
            </a:r>
            <a:r>
              <a:rPr lang="en-US" sz="1200" dirty="0" smtClean="0"/>
              <a:t>Instance</a:t>
            </a:r>
          </a:p>
          <a:p>
            <a:pPr algn="just"/>
            <a:endParaRPr lang="en-US" sz="1200" dirty="0"/>
          </a:p>
          <a:p>
            <a:pPr algn="just"/>
            <a:r>
              <a:rPr lang="en-US" sz="1200" dirty="0"/>
              <a:t>Once your instance state shows as 'running', select it from the EC2 dashboard. Click the Connect button to view connection options. Use the provided SSH command example in your local terminal (like Terminal on </a:t>
            </a:r>
            <a:r>
              <a:rPr lang="en-US" sz="1200" dirty="0" err="1"/>
              <a:t>macOS</a:t>
            </a:r>
            <a:r>
              <a:rPr lang="en-US" sz="1200" dirty="0"/>
              <a:t>/Linux or </a:t>
            </a:r>
            <a:r>
              <a:rPr lang="en-US" sz="1200" dirty="0" err="1"/>
              <a:t>PuTTY</a:t>
            </a:r>
            <a:r>
              <a:rPr lang="en-US" sz="1200" dirty="0"/>
              <a:t>/WSL on Windows) to establish a secure connection. You'll need the private key file (.</a:t>
            </a:r>
            <a:r>
              <a:rPr lang="en-US" sz="1200" dirty="0" err="1"/>
              <a:t>pem</a:t>
            </a:r>
            <a:r>
              <a:rPr lang="en-US" sz="1200" dirty="0"/>
              <a:t>) you created or selected during launch.</a:t>
            </a:r>
          </a:p>
          <a:p>
            <a:pPr algn="just"/>
            <a:endParaRPr lang="en-US" sz="1200" dirty="0"/>
          </a:p>
        </p:txBody>
      </p:sp>
      <p:pic>
        <p:nvPicPr>
          <p:cNvPr id="10" name="Picture 9"/>
          <p:cNvPicPr>
            <a:picLocks noChangeAspect="1"/>
          </p:cNvPicPr>
          <p:nvPr/>
        </p:nvPicPr>
        <p:blipFill>
          <a:blip r:embed="rId3"/>
          <a:stretch>
            <a:fillRect/>
          </a:stretch>
        </p:blipFill>
        <p:spPr>
          <a:xfrm>
            <a:off x="234245" y="1423370"/>
            <a:ext cx="2833091" cy="2101209"/>
          </a:xfrm>
          <a:prstGeom prst="rect">
            <a:avLst/>
          </a:prstGeom>
        </p:spPr>
      </p:pic>
      <p:pic>
        <p:nvPicPr>
          <p:cNvPr id="12" name="Picture 11"/>
          <p:cNvPicPr>
            <a:picLocks noChangeAspect="1"/>
          </p:cNvPicPr>
          <p:nvPr/>
        </p:nvPicPr>
        <p:blipFill>
          <a:blip r:embed="rId4"/>
          <a:stretch>
            <a:fillRect/>
          </a:stretch>
        </p:blipFill>
        <p:spPr>
          <a:xfrm>
            <a:off x="4594577" y="2648424"/>
            <a:ext cx="3446585" cy="2525701"/>
          </a:xfrm>
          <a:prstGeom prst="rect">
            <a:avLst/>
          </a:prstGeom>
        </p:spPr>
      </p:pic>
    </p:spTree>
    <p:extLst>
      <p:ext uri="{BB962C8B-B14F-4D97-AF65-F5344CB8AC3E}">
        <p14:creationId xmlns:p14="http://schemas.microsoft.com/office/powerpoint/2010/main" val="41626648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962" y="160956"/>
            <a:ext cx="7886700" cy="403489"/>
          </a:xfrm>
        </p:spPr>
        <p:txBody>
          <a:bodyPr>
            <a:normAutofit fontScale="90000"/>
          </a:bodyPr>
          <a:lstStyle/>
          <a:p>
            <a:r>
              <a:rPr lang="en-US" b="1" dirty="0" err="1" smtClean="0">
                <a:solidFill>
                  <a:srgbClr val="FF0000"/>
                </a:solidFill>
              </a:rPr>
              <a:t>Exampe</a:t>
            </a:r>
            <a:r>
              <a:rPr lang="en-US" b="1" dirty="0" smtClean="0">
                <a:solidFill>
                  <a:srgbClr val="FF0000"/>
                </a:solidFill>
              </a:rPr>
              <a:t> 1</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14</a:t>
            </a:fld>
            <a:endParaRPr lang="en-US" dirty="0"/>
          </a:p>
        </p:txBody>
      </p:sp>
      <p:sp>
        <p:nvSpPr>
          <p:cNvPr id="5" name="Title 1"/>
          <p:cNvSpPr txBox="1">
            <a:spLocks/>
          </p:cNvSpPr>
          <p:nvPr/>
        </p:nvSpPr>
        <p:spPr>
          <a:xfrm>
            <a:off x="425451" y="696716"/>
            <a:ext cx="7886700" cy="403489"/>
          </a:xfrm>
          <a:prstGeom prst="rect">
            <a:avLst/>
          </a:prstGeom>
        </p:spPr>
        <p:txBody>
          <a:bodyPr vert="horz" lIns="91440" tIns="45720" rIns="91440" bIns="45720" rtlCol="0" anchor="ctr">
            <a:normAutofit fontScale="8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smtClean="0">
                <a:solidFill>
                  <a:schemeClr val="accent1">
                    <a:lumMod val="50000"/>
                  </a:schemeClr>
                </a:solidFill>
              </a:rPr>
              <a:t>YOLOv5 </a:t>
            </a:r>
            <a:r>
              <a:rPr lang="en-US" dirty="0">
                <a:solidFill>
                  <a:schemeClr val="accent1">
                    <a:lumMod val="50000"/>
                  </a:schemeClr>
                </a:solidFill>
              </a:rPr>
              <a:t>🚀 on AWS Deep Learning </a:t>
            </a:r>
            <a:r>
              <a:rPr lang="en-US" dirty="0" smtClean="0">
                <a:solidFill>
                  <a:schemeClr val="accent1">
                    <a:lumMod val="50000"/>
                  </a:schemeClr>
                </a:solidFill>
              </a:rPr>
              <a:t>Instance (</a:t>
            </a:r>
            <a:r>
              <a:rPr lang="en-US" dirty="0" err="1" smtClean="0">
                <a:solidFill>
                  <a:schemeClr val="accent1">
                    <a:lumMod val="50000"/>
                  </a:schemeClr>
                </a:solidFill>
              </a:rPr>
              <a:t>Cons’t</a:t>
            </a:r>
            <a:r>
              <a:rPr lang="en-US" dirty="0" smtClean="0">
                <a:solidFill>
                  <a:schemeClr val="accent1">
                    <a:lumMod val="50000"/>
                  </a:schemeClr>
                </a:solidFill>
              </a:rPr>
              <a:t>)</a:t>
            </a:r>
            <a:endParaRPr lang="en-US" dirty="0">
              <a:solidFill>
                <a:schemeClr val="accent1">
                  <a:lumMod val="50000"/>
                </a:schemeClr>
              </a:solidFill>
            </a:endParaRPr>
          </a:p>
        </p:txBody>
      </p:sp>
      <p:sp>
        <p:nvSpPr>
          <p:cNvPr id="8" name="Rectangle 7"/>
          <p:cNvSpPr/>
          <p:nvPr/>
        </p:nvSpPr>
        <p:spPr>
          <a:xfrm>
            <a:off x="4572000" y="1093202"/>
            <a:ext cx="4120444" cy="461665"/>
          </a:xfrm>
          <a:prstGeom prst="rect">
            <a:avLst/>
          </a:prstGeom>
        </p:spPr>
        <p:txBody>
          <a:bodyPr wrap="square">
            <a:spAutoFit/>
          </a:bodyPr>
          <a:lstStyle/>
          <a:p>
            <a:r>
              <a:rPr lang="en-US" sz="1200" dirty="0"/>
              <a:t>Optional Extras: Increasing Swap Memory</a:t>
            </a:r>
          </a:p>
          <a:p>
            <a:pPr algn="just"/>
            <a:endParaRPr lang="en-US" sz="1200" dirty="0"/>
          </a:p>
        </p:txBody>
      </p:sp>
      <p:sp>
        <p:nvSpPr>
          <p:cNvPr id="9" name="Rectangle 8"/>
          <p:cNvSpPr/>
          <p:nvPr/>
        </p:nvSpPr>
        <p:spPr>
          <a:xfrm>
            <a:off x="210962" y="1100205"/>
            <a:ext cx="4120444" cy="1384995"/>
          </a:xfrm>
          <a:prstGeom prst="rect">
            <a:avLst/>
          </a:prstGeom>
        </p:spPr>
        <p:txBody>
          <a:bodyPr wrap="square">
            <a:spAutoFit/>
          </a:bodyPr>
          <a:lstStyle/>
          <a:p>
            <a:pPr algn="just"/>
            <a:r>
              <a:rPr lang="en-US" sz="1200" dirty="0"/>
              <a:t>Step 4: Running </a:t>
            </a:r>
            <a:r>
              <a:rPr lang="en-US" sz="1200" dirty="0" err="1"/>
              <a:t>Ultralytics</a:t>
            </a:r>
            <a:r>
              <a:rPr lang="en-US" sz="1200" dirty="0"/>
              <a:t> </a:t>
            </a:r>
            <a:r>
              <a:rPr lang="en-US" sz="1200" dirty="0" smtClean="0"/>
              <a:t>YOLOv5</a:t>
            </a:r>
          </a:p>
          <a:p>
            <a:pPr algn="just"/>
            <a:endParaRPr lang="en-US" sz="1200" dirty="0"/>
          </a:p>
          <a:p>
            <a:pPr algn="just"/>
            <a:r>
              <a:rPr lang="en-US" sz="1000" dirty="0"/>
              <a:t>Now that you're connected via SSH, you can set up and run YOLOv5. First, clone the official YOLOv5 repository from GitHub and navigate into the directory. Then, install the required dependencies using pip. It's recommended to use a Python 3.8 environment or later. The necessary models and datasets will be downloaded automatically from the latest YOLOv5 release when you run commands like training or detection.</a:t>
            </a:r>
          </a:p>
        </p:txBody>
      </p:sp>
      <p:sp>
        <p:nvSpPr>
          <p:cNvPr id="3" name="Rectangle 2"/>
          <p:cNvSpPr/>
          <p:nvPr/>
        </p:nvSpPr>
        <p:spPr>
          <a:xfrm>
            <a:off x="390525" y="2650852"/>
            <a:ext cx="3761317" cy="338554"/>
          </a:xfrm>
          <a:prstGeom prst="rect">
            <a:avLst/>
          </a:prstGeom>
          <a:solidFill>
            <a:schemeClr val="bg2"/>
          </a:solidFill>
        </p:spPr>
        <p:txBody>
          <a:bodyPr wrap="square">
            <a:spAutoFit/>
          </a:bodyPr>
          <a:lstStyle/>
          <a:p>
            <a:r>
              <a:rPr lang="en-US" sz="800" dirty="0">
                <a:latin typeface="Roboto Mono"/>
              </a:rPr>
              <a:t># Clone the YOLOv5 repository</a:t>
            </a:r>
            <a:r>
              <a:rPr lang="en-US" sz="800" dirty="0">
                <a:solidFill>
                  <a:srgbClr val="36464E"/>
                </a:solidFill>
                <a:latin typeface="Roboto Mono"/>
              </a:rPr>
              <a:t> </a:t>
            </a:r>
            <a:r>
              <a:rPr lang="en-US" sz="800" dirty="0" err="1">
                <a:solidFill>
                  <a:srgbClr val="36464E"/>
                </a:solidFill>
                <a:latin typeface="Roboto Mono"/>
              </a:rPr>
              <a:t>git</a:t>
            </a:r>
            <a:r>
              <a:rPr lang="en-US" sz="800" dirty="0">
                <a:solidFill>
                  <a:srgbClr val="36464E"/>
                </a:solidFill>
                <a:latin typeface="Roboto Mono"/>
              </a:rPr>
              <a:t> clone https://github.com/ultralytics/yolov5 </a:t>
            </a:r>
            <a:r>
              <a:rPr lang="en-US" sz="800" dirty="0">
                <a:solidFill>
                  <a:srgbClr val="6E59D9"/>
                </a:solidFill>
                <a:latin typeface="Roboto Mono"/>
              </a:rPr>
              <a:t>cd</a:t>
            </a:r>
            <a:r>
              <a:rPr lang="en-US" sz="800" dirty="0">
                <a:solidFill>
                  <a:srgbClr val="36464E"/>
                </a:solidFill>
                <a:latin typeface="Roboto Mono"/>
              </a:rPr>
              <a:t> yolov5 </a:t>
            </a:r>
            <a:r>
              <a:rPr lang="en-US" sz="800" dirty="0">
                <a:latin typeface="Roboto Mono"/>
              </a:rPr>
              <a:t># Install required packages</a:t>
            </a:r>
            <a:r>
              <a:rPr lang="en-US" sz="800" dirty="0">
                <a:solidFill>
                  <a:srgbClr val="36464E"/>
                </a:solidFill>
                <a:latin typeface="Roboto Mono"/>
              </a:rPr>
              <a:t> pip install -r requirements.txt</a:t>
            </a:r>
            <a:endParaRPr lang="en-US" sz="800" dirty="0"/>
          </a:p>
        </p:txBody>
      </p:sp>
      <p:sp>
        <p:nvSpPr>
          <p:cNvPr id="6" name="Rectangle 5"/>
          <p:cNvSpPr/>
          <p:nvPr/>
        </p:nvSpPr>
        <p:spPr>
          <a:xfrm>
            <a:off x="4735689" y="1561874"/>
            <a:ext cx="3697111" cy="584775"/>
          </a:xfrm>
          <a:prstGeom prst="rect">
            <a:avLst/>
          </a:prstGeom>
          <a:solidFill>
            <a:schemeClr val="bg2"/>
          </a:solidFill>
        </p:spPr>
        <p:txBody>
          <a:bodyPr wrap="square">
            <a:spAutoFit/>
          </a:bodyPr>
          <a:lstStyle/>
          <a:p>
            <a:r>
              <a:rPr lang="en-US" sz="800" dirty="0">
                <a:latin typeface="Roboto Mono"/>
              </a:rPr>
              <a:t># Allocate a 64GB swap file (adjust size as needed)</a:t>
            </a:r>
            <a:r>
              <a:rPr lang="en-US" sz="800" dirty="0">
                <a:solidFill>
                  <a:srgbClr val="36464E"/>
                </a:solidFill>
                <a:latin typeface="Roboto Mono"/>
              </a:rPr>
              <a:t> </a:t>
            </a:r>
            <a:r>
              <a:rPr lang="en-US" sz="800" dirty="0" err="1">
                <a:solidFill>
                  <a:srgbClr val="36464E"/>
                </a:solidFill>
                <a:latin typeface="Roboto Mono"/>
              </a:rPr>
              <a:t>sudo</a:t>
            </a:r>
            <a:r>
              <a:rPr lang="en-US" sz="800" dirty="0">
                <a:solidFill>
                  <a:srgbClr val="36464E"/>
                </a:solidFill>
                <a:latin typeface="Roboto Mono"/>
              </a:rPr>
              <a:t> </a:t>
            </a:r>
            <a:r>
              <a:rPr lang="en-US" sz="800" dirty="0" err="1">
                <a:solidFill>
                  <a:srgbClr val="36464E"/>
                </a:solidFill>
                <a:latin typeface="Roboto Mono"/>
              </a:rPr>
              <a:t>fallocate</a:t>
            </a:r>
            <a:r>
              <a:rPr lang="en-US" sz="800" dirty="0">
                <a:solidFill>
                  <a:srgbClr val="36464E"/>
                </a:solidFill>
                <a:latin typeface="Roboto Mono"/>
              </a:rPr>
              <a:t> -l 64G /</a:t>
            </a:r>
            <a:r>
              <a:rPr lang="en-US" sz="800" dirty="0" err="1">
                <a:solidFill>
                  <a:srgbClr val="36464E"/>
                </a:solidFill>
                <a:latin typeface="Roboto Mono"/>
              </a:rPr>
              <a:t>swapfile</a:t>
            </a:r>
            <a:r>
              <a:rPr lang="en-US" sz="800" dirty="0">
                <a:solidFill>
                  <a:srgbClr val="36464E"/>
                </a:solidFill>
                <a:latin typeface="Roboto Mono"/>
              </a:rPr>
              <a:t> </a:t>
            </a:r>
            <a:r>
              <a:rPr lang="en-US" sz="800" dirty="0">
                <a:latin typeface="Roboto Mono"/>
              </a:rPr>
              <a:t># Set correct permissions</a:t>
            </a:r>
            <a:r>
              <a:rPr lang="en-US" sz="800" dirty="0">
                <a:solidFill>
                  <a:srgbClr val="36464E"/>
                </a:solidFill>
                <a:latin typeface="Roboto Mono"/>
              </a:rPr>
              <a:t> </a:t>
            </a:r>
            <a:r>
              <a:rPr lang="en-US" sz="800" dirty="0" err="1">
                <a:solidFill>
                  <a:srgbClr val="36464E"/>
                </a:solidFill>
                <a:latin typeface="Roboto Mono"/>
              </a:rPr>
              <a:t>sudo</a:t>
            </a:r>
            <a:r>
              <a:rPr lang="en-US" sz="800" dirty="0">
                <a:solidFill>
                  <a:srgbClr val="36464E"/>
                </a:solidFill>
                <a:latin typeface="Roboto Mono"/>
              </a:rPr>
              <a:t> </a:t>
            </a:r>
            <a:r>
              <a:rPr lang="en-US" sz="800" dirty="0" err="1">
                <a:solidFill>
                  <a:srgbClr val="36464E"/>
                </a:solidFill>
                <a:latin typeface="Roboto Mono"/>
              </a:rPr>
              <a:t>chmod</a:t>
            </a:r>
            <a:r>
              <a:rPr lang="en-US" sz="800" dirty="0">
                <a:solidFill>
                  <a:srgbClr val="36464E"/>
                </a:solidFill>
                <a:latin typeface="Roboto Mono"/>
              </a:rPr>
              <a:t> </a:t>
            </a:r>
            <a:r>
              <a:rPr lang="en-US" sz="800" dirty="0">
                <a:solidFill>
                  <a:srgbClr val="D52A2A"/>
                </a:solidFill>
                <a:latin typeface="Roboto Mono"/>
              </a:rPr>
              <a:t>600</a:t>
            </a:r>
            <a:r>
              <a:rPr lang="en-US" sz="800" dirty="0">
                <a:solidFill>
                  <a:srgbClr val="36464E"/>
                </a:solidFill>
                <a:latin typeface="Roboto Mono"/>
              </a:rPr>
              <a:t> /</a:t>
            </a:r>
            <a:r>
              <a:rPr lang="en-US" sz="800" dirty="0" err="1">
                <a:solidFill>
                  <a:srgbClr val="36464E"/>
                </a:solidFill>
                <a:latin typeface="Roboto Mono"/>
              </a:rPr>
              <a:t>swapfile</a:t>
            </a:r>
            <a:r>
              <a:rPr lang="en-US" sz="800" dirty="0">
                <a:solidFill>
                  <a:srgbClr val="36464E"/>
                </a:solidFill>
                <a:latin typeface="Roboto Mono"/>
              </a:rPr>
              <a:t> </a:t>
            </a:r>
            <a:r>
              <a:rPr lang="en-US" sz="800" dirty="0">
                <a:latin typeface="Roboto Mono"/>
              </a:rPr>
              <a:t># Set up the file as a Linux swap area</a:t>
            </a:r>
            <a:r>
              <a:rPr lang="en-US" sz="800" dirty="0">
                <a:solidFill>
                  <a:srgbClr val="36464E"/>
                </a:solidFill>
                <a:latin typeface="Roboto Mono"/>
              </a:rPr>
              <a:t> </a:t>
            </a:r>
            <a:r>
              <a:rPr lang="en-US" sz="800" dirty="0" err="1">
                <a:solidFill>
                  <a:srgbClr val="36464E"/>
                </a:solidFill>
                <a:latin typeface="Roboto Mono"/>
              </a:rPr>
              <a:t>sudo</a:t>
            </a:r>
            <a:r>
              <a:rPr lang="en-US" sz="800" dirty="0">
                <a:solidFill>
                  <a:srgbClr val="36464E"/>
                </a:solidFill>
                <a:latin typeface="Roboto Mono"/>
              </a:rPr>
              <a:t> </a:t>
            </a:r>
            <a:r>
              <a:rPr lang="en-US" sz="800" dirty="0" err="1">
                <a:solidFill>
                  <a:srgbClr val="36464E"/>
                </a:solidFill>
                <a:latin typeface="Roboto Mono"/>
              </a:rPr>
              <a:t>mkswap</a:t>
            </a:r>
            <a:r>
              <a:rPr lang="en-US" sz="800" dirty="0">
                <a:solidFill>
                  <a:srgbClr val="36464E"/>
                </a:solidFill>
                <a:latin typeface="Roboto Mono"/>
              </a:rPr>
              <a:t> /</a:t>
            </a:r>
            <a:r>
              <a:rPr lang="en-US" sz="800" dirty="0" err="1">
                <a:solidFill>
                  <a:srgbClr val="36464E"/>
                </a:solidFill>
                <a:latin typeface="Roboto Mono"/>
              </a:rPr>
              <a:t>swapfile</a:t>
            </a:r>
            <a:r>
              <a:rPr lang="en-US" sz="800" dirty="0">
                <a:solidFill>
                  <a:srgbClr val="36464E"/>
                </a:solidFill>
                <a:latin typeface="Roboto Mono"/>
              </a:rPr>
              <a:t> </a:t>
            </a:r>
            <a:r>
              <a:rPr lang="en-US" sz="800" dirty="0">
                <a:latin typeface="Roboto Mono"/>
              </a:rPr>
              <a:t># Enable the swap file</a:t>
            </a:r>
            <a:r>
              <a:rPr lang="en-US" sz="800" dirty="0">
                <a:solidFill>
                  <a:srgbClr val="36464E"/>
                </a:solidFill>
                <a:latin typeface="Roboto Mono"/>
              </a:rPr>
              <a:t> </a:t>
            </a:r>
            <a:r>
              <a:rPr lang="en-US" sz="800" dirty="0" err="1">
                <a:solidFill>
                  <a:srgbClr val="36464E"/>
                </a:solidFill>
                <a:latin typeface="Roboto Mono"/>
              </a:rPr>
              <a:t>sudo</a:t>
            </a:r>
            <a:r>
              <a:rPr lang="en-US" sz="800" dirty="0">
                <a:solidFill>
                  <a:srgbClr val="36464E"/>
                </a:solidFill>
                <a:latin typeface="Roboto Mono"/>
              </a:rPr>
              <a:t> </a:t>
            </a:r>
            <a:r>
              <a:rPr lang="en-US" sz="800" dirty="0" err="1">
                <a:solidFill>
                  <a:srgbClr val="36464E"/>
                </a:solidFill>
                <a:latin typeface="Roboto Mono"/>
              </a:rPr>
              <a:t>swapon</a:t>
            </a:r>
            <a:r>
              <a:rPr lang="en-US" sz="800" dirty="0">
                <a:solidFill>
                  <a:srgbClr val="36464E"/>
                </a:solidFill>
                <a:latin typeface="Roboto Mono"/>
              </a:rPr>
              <a:t> /</a:t>
            </a:r>
            <a:r>
              <a:rPr lang="en-US" sz="800" dirty="0" err="1">
                <a:solidFill>
                  <a:srgbClr val="36464E"/>
                </a:solidFill>
                <a:latin typeface="Roboto Mono"/>
              </a:rPr>
              <a:t>swapfile</a:t>
            </a:r>
            <a:r>
              <a:rPr lang="en-US" sz="800" dirty="0">
                <a:solidFill>
                  <a:srgbClr val="36464E"/>
                </a:solidFill>
                <a:latin typeface="Roboto Mono"/>
              </a:rPr>
              <a:t> </a:t>
            </a:r>
            <a:r>
              <a:rPr lang="en-US" sz="800" dirty="0">
                <a:latin typeface="Roboto Mono"/>
              </a:rPr>
              <a:t># Verify the swap memory is active</a:t>
            </a:r>
            <a:r>
              <a:rPr lang="en-US" sz="800" dirty="0">
                <a:solidFill>
                  <a:srgbClr val="36464E"/>
                </a:solidFill>
                <a:latin typeface="Roboto Mono"/>
              </a:rPr>
              <a:t> free -h</a:t>
            </a:r>
            <a:endParaRPr lang="en-US" sz="800" dirty="0"/>
          </a:p>
        </p:txBody>
      </p:sp>
      <p:sp>
        <p:nvSpPr>
          <p:cNvPr id="11" name="Rectangle 10"/>
          <p:cNvSpPr/>
          <p:nvPr/>
        </p:nvSpPr>
        <p:spPr>
          <a:xfrm>
            <a:off x="210962" y="3023056"/>
            <a:ext cx="4572000" cy="461665"/>
          </a:xfrm>
          <a:prstGeom prst="rect">
            <a:avLst/>
          </a:prstGeom>
        </p:spPr>
        <p:txBody>
          <a:bodyPr>
            <a:spAutoFit/>
          </a:bodyPr>
          <a:lstStyle/>
          <a:p>
            <a:r>
              <a:rPr lang="en-US" sz="1200" dirty="0"/>
              <a:t>With the environment ready, you can start using YOLOv5 for various tasks:</a:t>
            </a:r>
          </a:p>
        </p:txBody>
      </p:sp>
      <p:sp>
        <p:nvSpPr>
          <p:cNvPr id="13" name="Rectangle 12"/>
          <p:cNvSpPr/>
          <p:nvPr/>
        </p:nvSpPr>
        <p:spPr>
          <a:xfrm>
            <a:off x="213078" y="3477718"/>
            <a:ext cx="4572000" cy="1384995"/>
          </a:xfrm>
          <a:prstGeom prst="rect">
            <a:avLst/>
          </a:prstGeom>
          <a:solidFill>
            <a:schemeClr val="bg2"/>
          </a:solidFill>
        </p:spPr>
        <p:txBody>
          <a:bodyPr>
            <a:spAutoFit/>
          </a:bodyPr>
          <a:lstStyle/>
          <a:p>
            <a:r>
              <a:rPr lang="en-US" sz="700" dirty="0"/>
              <a:t># Train a YOLOv5 model on a custom dataset (e.g., coco128.yaml)</a:t>
            </a:r>
          </a:p>
          <a:p>
            <a:r>
              <a:rPr lang="en-US" sz="700" dirty="0"/>
              <a:t>python train.py --data coco128.yaml --weights yolov5s.pt --</a:t>
            </a:r>
            <a:r>
              <a:rPr lang="en-US" sz="700" dirty="0" err="1"/>
              <a:t>img</a:t>
            </a:r>
            <a:r>
              <a:rPr lang="en-US" sz="700" dirty="0"/>
              <a:t> 640</a:t>
            </a:r>
          </a:p>
          <a:p>
            <a:endParaRPr lang="en-US" sz="700" dirty="0"/>
          </a:p>
          <a:p>
            <a:r>
              <a:rPr lang="en-US" sz="700" dirty="0"/>
              <a:t># Validate the performance (Precision, Recall, </a:t>
            </a:r>
            <a:r>
              <a:rPr lang="en-US" sz="700" dirty="0" err="1"/>
              <a:t>mAP</a:t>
            </a:r>
            <a:r>
              <a:rPr lang="en-US" sz="700" dirty="0"/>
              <a:t>) of a trained model (e.g., yolov5s.pt)</a:t>
            </a:r>
          </a:p>
          <a:p>
            <a:r>
              <a:rPr lang="en-US" sz="700" dirty="0"/>
              <a:t>python val.py --weights yolov5s.pt --data coco128.yaml --</a:t>
            </a:r>
            <a:r>
              <a:rPr lang="en-US" sz="700" dirty="0" err="1"/>
              <a:t>img</a:t>
            </a:r>
            <a:r>
              <a:rPr lang="en-US" sz="700" dirty="0"/>
              <a:t> 640</a:t>
            </a:r>
          </a:p>
          <a:p>
            <a:endParaRPr lang="en-US" sz="700" dirty="0"/>
          </a:p>
          <a:p>
            <a:r>
              <a:rPr lang="en-US" sz="700" dirty="0"/>
              <a:t># Run inference (object detection) on images or videos using a trained model</a:t>
            </a:r>
          </a:p>
          <a:p>
            <a:r>
              <a:rPr lang="en-US" sz="700" dirty="0"/>
              <a:t>python detect.py --weights yolov5s.pt --source path/to/your/</a:t>
            </a:r>
            <a:r>
              <a:rPr lang="en-US" sz="700" dirty="0" err="1"/>
              <a:t>images_or_videos</a:t>
            </a:r>
            <a:r>
              <a:rPr lang="en-US" sz="700" dirty="0"/>
              <a:t>/ --</a:t>
            </a:r>
            <a:r>
              <a:rPr lang="en-US" sz="700" dirty="0" err="1"/>
              <a:t>img</a:t>
            </a:r>
            <a:r>
              <a:rPr lang="en-US" sz="700" dirty="0"/>
              <a:t> 640</a:t>
            </a:r>
          </a:p>
          <a:p>
            <a:endParaRPr lang="en-US" sz="700" dirty="0"/>
          </a:p>
          <a:p>
            <a:r>
              <a:rPr lang="en-US" sz="700" dirty="0"/>
              <a:t># Export the trained model to various formats like ONNX, </a:t>
            </a:r>
            <a:r>
              <a:rPr lang="en-US" sz="700" dirty="0" err="1"/>
              <a:t>CoreML</a:t>
            </a:r>
            <a:r>
              <a:rPr lang="en-US" sz="700" dirty="0"/>
              <a:t>, </a:t>
            </a:r>
            <a:r>
              <a:rPr lang="en-US" sz="700" dirty="0" err="1"/>
              <a:t>TFLite</a:t>
            </a:r>
            <a:r>
              <a:rPr lang="en-US" sz="700" dirty="0"/>
              <a:t> for deployment</a:t>
            </a:r>
          </a:p>
          <a:p>
            <a:r>
              <a:rPr lang="en-US" sz="700" dirty="0"/>
              <a:t># See https://docs.ultralytics.com/modes/export/ for more details</a:t>
            </a:r>
          </a:p>
          <a:p>
            <a:r>
              <a:rPr lang="en-US" sz="700" dirty="0"/>
              <a:t>python export.py --weights yolov5s.pt --include </a:t>
            </a:r>
            <a:r>
              <a:rPr lang="en-US" sz="700" dirty="0" err="1"/>
              <a:t>onnx</a:t>
            </a:r>
            <a:r>
              <a:rPr lang="en-US" sz="700" dirty="0"/>
              <a:t> </a:t>
            </a:r>
            <a:r>
              <a:rPr lang="en-US" sz="700" dirty="0" err="1"/>
              <a:t>coreml</a:t>
            </a:r>
            <a:r>
              <a:rPr lang="en-US" sz="700" dirty="0"/>
              <a:t> </a:t>
            </a:r>
            <a:r>
              <a:rPr lang="en-US" sz="700" dirty="0" err="1"/>
              <a:t>tflite</a:t>
            </a:r>
            <a:r>
              <a:rPr lang="en-US" sz="700" dirty="0"/>
              <a:t> --</a:t>
            </a:r>
            <a:r>
              <a:rPr lang="en-US" sz="700" dirty="0" err="1"/>
              <a:t>img</a:t>
            </a:r>
            <a:r>
              <a:rPr lang="en-US" sz="700" dirty="0"/>
              <a:t> 640</a:t>
            </a:r>
          </a:p>
        </p:txBody>
      </p:sp>
      <p:sp>
        <p:nvSpPr>
          <p:cNvPr id="14" name="Rectangle 13"/>
          <p:cNvSpPr/>
          <p:nvPr/>
        </p:nvSpPr>
        <p:spPr>
          <a:xfrm>
            <a:off x="213078" y="4932037"/>
            <a:ext cx="4572000" cy="200055"/>
          </a:xfrm>
          <a:prstGeom prst="rect">
            <a:avLst/>
          </a:prstGeom>
        </p:spPr>
        <p:txBody>
          <a:bodyPr>
            <a:spAutoFit/>
          </a:bodyPr>
          <a:lstStyle/>
          <a:p>
            <a:r>
              <a:rPr lang="en-US" sz="700" dirty="0"/>
              <a:t>Refer to the </a:t>
            </a:r>
            <a:r>
              <a:rPr lang="en-US" sz="700" dirty="0" err="1"/>
              <a:t>Ultralytics</a:t>
            </a:r>
            <a:r>
              <a:rPr lang="en-US" sz="700" dirty="0"/>
              <a:t> documentation for detailed guides on Training, Validation, Prediction (Inference), and Exporting.</a:t>
            </a:r>
          </a:p>
        </p:txBody>
      </p:sp>
    </p:spTree>
    <p:extLst>
      <p:ext uri="{BB962C8B-B14F-4D97-AF65-F5344CB8AC3E}">
        <p14:creationId xmlns:p14="http://schemas.microsoft.com/office/powerpoint/2010/main" val="16211345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15</a:t>
            </a:fld>
            <a:endParaRPr lang="en-US" dirty="0"/>
          </a:p>
        </p:txBody>
      </p:sp>
      <p:sp>
        <p:nvSpPr>
          <p:cNvPr id="2" name="Rectangle 1"/>
          <p:cNvSpPr/>
          <p:nvPr/>
        </p:nvSpPr>
        <p:spPr>
          <a:xfrm>
            <a:off x="2286000" y="2248585"/>
            <a:ext cx="4572000" cy="830997"/>
          </a:xfrm>
          <a:prstGeom prst="rect">
            <a:avLst/>
          </a:prstGeom>
        </p:spPr>
        <p:txBody>
          <a:bodyPr>
            <a:spAutoFit/>
          </a:bodyPr>
          <a:lstStyle/>
          <a:p>
            <a:r>
              <a:rPr lang="en-US" sz="4800" dirty="0" err="1" smtClean="0">
                <a:solidFill>
                  <a:srgbClr val="0070C0"/>
                </a:solidFill>
              </a:rPr>
              <a:t>Mauliate</a:t>
            </a:r>
            <a:r>
              <a:rPr lang="en-US" sz="4800" dirty="0" smtClean="0">
                <a:solidFill>
                  <a:srgbClr val="0070C0"/>
                </a:solidFill>
              </a:rPr>
              <a:t> </a:t>
            </a:r>
            <a:r>
              <a:rPr lang="en-US" sz="4800" dirty="0" err="1" smtClean="0">
                <a:solidFill>
                  <a:srgbClr val="0070C0"/>
                </a:solidFill>
              </a:rPr>
              <a:t>Godang</a:t>
            </a:r>
            <a:endParaRPr lang="en-US" sz="4800" dirty="0">
              <a:solidFill>
                <a:srgbClr val="0070C0"/>
              </a:solidFill>
            </a:endParaRPr>
          </a:p>
        </p:txBody>
      </p:sp>
      <p:sp>
        <p:nvSpPr>
          <p:cNvPr id="5" name="Rectangle 4"/>
          <p:cNvSpPr/>
          <p:nvPr/>
        </p:nvSpPr>
        <p:spPr>
          <a:xfrm>
            <a:off x="5904883" y="3651941"/>
            <a:ext cx="2613761" cy="230832"/>
          </a:xfrm>
          <a:prstGeom prst="rect">
            <a:avLst/>
          </a:prstGeom>
        </p:spPr>
        <p:txBody>
          <a:bodyPr wrap="square">
            <a:spAutoFit/>
          </a:bodyPr>
          <a:lstStyle/>
          <a:p>
            <a:r>
              <a:rPr lang="en-US" sz="900" dirty="0"/>
              <a:t>https://www.youtube.com/@AmelOline/videos</a:t>
            </a:r>
          </a:p>
        </p:txBody>
      </p:sp>
      <p:sp>
        <p:nvSpPr>
          <p:cNvPr id="6" name="Rectangle 5"/>
          <p:cNvSpPr/>
          <p:nvPr/>
        </p:nvSpPr>
        <p:spPr>
          <a:xfrm>
            <a:off x="6741791" y="3513442"/>
            <a:ext cx="1623448" cy="230832"/>
          </a:xfrm>
          <a:prstGeom prst="rect">
            <a:avLst/>
          </a:prstGeom>
        </p:spPr>
        <p:txBody>
          <a:bodyPr wrap="square">
            <a:spAutoFit/>
          </a:bodyPr>
          <a:lstStyle/>
          <a:p>
            <a:r>
              <a:rPr lang="en-US" sz="900" dirty="0"/>
              <a:t>https://github.com/siagianp</a:t>
            </a:r>
          </a:p>
        </p:txBody>
      </p:sp>
      <p:sp>
        <p:nvSpPr>
          <p:cNvPr id="7" name="Rectangle 6"/>
          <p:cNvSpPr/>
          <p:nvPr/>
        </p:nvSpPr>
        <p:spPr>
          <a:xfrm>
            <a:off x="4928490" y="3790441"/>
            <a:ext cx="3667194" cy="230832"/>
          </a:xfrm>
          <a:prstGeom prst="rect">
            <a:avLst/>
          </a:prstGeom>
        </p:spPr>
        <p:txBody>
          <a:bodyPr wrap="square">
            <a:spAutoFit/>
          </a:bodyPr>
          <a:lstStyle/>
          <a:p>
            <a:r>
              <a:rPr lang="en-US" sz="900" dirty="0"/>
              <a:t>https://github.com/amelcharolinesgn2/IoT_simulator-mqtt-NodeRed</a:t>
            </a:r>
          </a:p>
        </p:txBody>
      </p:sp>
      <p:sp>
        <p:nvSpPr>
          <p:cNvPr id="8" name="Rectangle 7"/>
          <p:cNvSpPr/>
          <p:nvPr/>
        </p:nvSpPr>
        <p:spPr>
          <a:xfrm>
            <a:off x="5374180" y="3928940"/>
            <a:ext cx="3204723" cy="230832"/>
          </a:xfrm>
          <a:prstGeom prst="rect">
            <a:avLst/>
          </a:prstGeom>
        </p:spPr>
        <p:txBody>
          <a:bodyPr wrap="none">
            <a:spAutoFit/>
          </a:bodyPr>
          <a:lstStyle/>
          <a:p>
            <a:r>
              <a:rPr lang="en-US" sz="900" dirty="0"/>
              <a:t>https://github.com/amelcharolinesgn2/Cloud-Infrastructures</a:t>
            </a:r>
          </a:p>
        </p:txBody>
      </p:sp>
      <p:sp>
        <p:nvSpPr>
          <p:cNvPr id="9" name="Rectangle 8"/>
          <p:cNvSpPr/>
          <p:nvPr/>
        </p:nvSpPr>
        <p:spPr>
          <a:xfrm>
            <a:off x="4842330" y="4044356"/>
            <a:ext cx="3839513" cy="230832"/>
          </a:xfrm>
          <a:prstGeom prst="rect">
            <a:avLst/>
          </a:prstGeom>
        </p:spPr>
        <p:txBody>
          <a:bodyPr wrap="none">
            <a:spAutoFit/>
          </a:bodyPr>
          <a:lstStyle/>
          <a:p>
            <a:r>
              <a:rPr lang="en-US" sz="900" dirty="0"/>
              <a:t>https://github.com/amelcharolinesgn2/ClouD-Infrastructure-SISKA-2025</a:t>
            </a:r>
          </a:p>
        </p:txBody>
      </p:sp>
      <p:sp>
        <p:nvSpPr>
          <p:cNvPr id="10" name="Rectangle 9"/>
          <p:cNvSpPr/>
          <p:nvPr/>
        </p:nvSpPr>
        <p:spPr>
          <a:xfrm>
            <a:off x="4629273" y="4175207"/>
            <a:ext cx="3966411" cy="230832"/>
          </a:xfrm>
          <a:prstGeom prst="rect">
            <a:avLst/>
          </a:prstGeom>
        </p:spPr>
        <p:txBody>
          <a:bodyPr wrap="square">
            <a:spAutoFit/>
          </a:bodyPr>
          <a:lstStyle/>
          <a:p>
            <a:r>
              <a:rPr lang="en-US" sz="900" dirty="0"/>
              <a:t>https://github.com/amelcharolinesgn2/Gyroscope-Sensor-Data-Accelerometer</a:t>
            </a:r>
          </a:p>
        </p:txBody>
      </p:sp>
    </p:spTree>
    <p:extLst>
      <p:ext uri="{BB962C8B-B14F-4D97-AF65-F5344CB8AC3E}">
        <p14:creationId xmlns:p14="http://schemas.microsoft.com/office/powerpoint/2010/main" val="19619320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748</TotalTime>
  <Words>1484</Words>
  <Application>Microsoft Office PowerPoint</Application>
  <PresentationFormat>On-screen Show (16:9)</PresentationFormat>
  <Paragraphs>256</Paragraphs>
  <Slides>15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Malgun Gothic</vt:lpstr>
      <vt:lpstr>Arial</vt:lpstr>
      <vt:lpstr>Calibri</vt:lpstr>
      <vt:lpstr>Calibri Light</vt:lpstr>
      <vt:lpstr>Roboto Mono</vt:lpstr>
      <vt:lpstr>Wingdings</vt:lpstr>
      <vt:lpstr>Office Theme</vt:lpstr>
      <vt:lpstr>PowerPoint Presentation</vt:lpstr>
      <vt:lpstr>PowerPoint Presentation</vt:lpstr>
      <vt:lpstr>PowerPoint Presentation</vt:lpstr>
      <vt:lpstr>PowerPoint Presentation</vt:lpstr>
      <vt:lpstr>**Amazon Web Services (AWS)**</vt:lpstr>
      <vt:lpstr>AWS CodeDeploy? </vt:lpstr>
      <vt:lpstr>PowerPoint Presentation</vt:lpstr>
      <vt:lpstr>PowerPoint Presentation</vt:lpstr>
      <vt:lpstr>**Amazon Web Services (AWS)**</vt:lpstr>
      <vt:lpstr>**Amazon Web Services (AWS)**</vt:lpstr>
      <vt:lpstr>Exampe 1</vt:lpstr>
      <vt:lpstr>Exampe 1</vt:lpstr>
      <vt:lpstr>Exampe 1</vt:lpstr>
      <vt:lpstr>Exampe 1</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Cloud Platform Official Icons and Sample Diagrams</dc:title>
  <dc:subject/>
  <dc:creator>pds</dc:creator>
  <cp:keywords/>
  <dc:description/>
  <cp:lastModifiedBy>PDS</cp:lastModifiedBy>
  <cp:revision>77</cp:revision>
  <dcterms:modified xsi:type="dcterms:W3CDTF">2026-09-18T01:27:53Z</dcterms:modified>
  <cp:category/>
</cp:coreProperties>
</file>