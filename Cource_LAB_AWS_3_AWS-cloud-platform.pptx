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89" r:id="rId1"/>
  </p:sldMasterIdLst>
  <p:notesMasterIdLst>
    <p:notesMasterId r:id="rId13"/>
  </p:notesMasterIdLst>
  <p:sldIdLst>
    <p:sldId id="348" r:id="rId2"/>
    <p:sldId id="394" r:id="rId3"/>
    <p:sldId id="395" r:id="rId4"/>
    <p:sldId id="396" r:id="rId5"/>
    <p:sldId id="419" r:id="rId6"/>
    <p:sldId id="420" r:id="rId7"/>
    <p:sldId id="421" r:id="rId8"/>
    <p:sldId id="424" r:id="rId9"/>
    <p:sldId id="422" r:id="rId10"/>
    <p:sldId id="423" r:id="rId11"/>
    <p:sldId id="350" r:id="rId12"/>
  </p:sldIdLst>
  <p:sldSz cx="9144000" cy="5143500" type="screen16x9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Neal Mueller" initials="" lastIdx="9" clrIdx="0"/>
  <p:cmAuthor id="1" name="Chuck Erickson" initials="" lastIdx="6" clrIdx="1"/>
  <p:cmAuthor id="2" name="Adam Glick" initials="" lastIdx="1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5757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57"/>
    <p:restoredTop sz="58270" autoAdjust="0"/>
  </p:normalViewPr>
  <p:slideViewPr>
    <p:cSldViewPr snapToGrid="0" snapToObjects="1">
      <p:cViewPr varScale="1">
        <p:scale>
          <a:sx n="69" d="100"/>
          <a:sy n="69" d="100"/>
        </p:scale>
        <p:origin x="240" y="6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37839" cy="46481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Shape 4"/>
          <p:cNvSpPr txBox="1">
            <a:spLocks noGrp="1"/>
          </p:cNvSpPr>
          <p:nvPr>
            <p:ph type="dt" idx="10"/>
          </p:nvPr>
        </p:nvSpPr>
        <p:spPr>
          <a:xfrm>
            <a:off x="3970937" y="0"/>
            <a:ext cx="3037839" cy="46481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Shape 5"/>
          <p:cNvSpPr>
            <a:spLocks noGrp="1" noRot="1" noChangeAspect="1"/>
          </p:cNvSpPr>
          <p:nvPr>
            <p:ph type="sldImg" idx="3"/>
          </p:nvPr>
        </p:nvSpPr>
        <p:spPr>
          <a:xfrm>
            <a:off x="407181" y="696912"/>
            <a:ext cx="6195899" cy="3486299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701039" y="4415789"/>
            <a:ext cx="5608319" cy="418337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ftr" idx="11"/>
          </p:nvPr>
        </p:nvSpPr>
        <p:spPr>
          <a:xfrm>
            <a:off x="0" y="8829967"/>
            <a:ext cx="3037839" cy="46481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3970937" y="8829967"/>
            <a:ext cx="3037839" cy="46481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41411827"/>
      </p:ext>
    </p:extLst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k21academy.com/docker-kubernetes/docker-vs-virtual-machine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k21academy.com/amazon-web-services/aws-solutions-architect/aws-ec2-instance/" TargetMode="Externa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k21academy.com/docker-kubernetes/docker-vs-virtual-machine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k21academy.com/amazon-web-services/aws-solutions-architect/aws-ec2-instance/" TargetMode="Externa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k21academy.com/docker-kubernetes/docker-vs-virtual-machine/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k21academy.com/amazon-web-services/aws-solutions-architect/aws-ec2-instance/" TargetMode="Externa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https://github.com/mikeroyal/Google-Cloud-Guide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C773BF-E5C9-44BF-B19B-39EF1F90376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7135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IaaS are virtual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  <a:hlinkClick r:id="rId3"/>
              </a:rPr>
              <a:t> Machines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or 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  <a:hlinkClick r:id="rId4"/>
              </a:rPr>
              <a:t>AWS EC2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Storage or Networking.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DigitalOcean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 Amazon Web Services (AWS), Microsoft Azure, Google Cloud Platform (GCP), Oracle Cloud Infrastructure (OCI), and Alibaba Cloud.</a:t>
            </a:r>
          </a:p>
          <a:p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cs typeface="Arial"/>
              <a:sym typeface="Arial"/>
            </a:endParaRPr>
          </a:p>
          <a:p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PaaS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: AWS Elastic Beanstalk, Azure App Service, Google App Engine, Google Cloud Run. (For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serverless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 compute, Function-as-a-Service like AWS Lambda, Azure Functions, or Google Cloud Functions can be considered related models.</a:t>
            </a:r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cs typeface="Arial"/>
              <a:sym typeface="Arial"/>
            </a:endParaRPr>
          </a:p>
          <a:p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cs typeface="Arial"/>
              <a:sym typeface="Arial"/>
            </a:endParaRPr>
          </a:p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SaaS: Microsoft Office 365, Oracle ERP/HCM Cloud, Salesforce, Gmail, or Dropbox.</a:t>
            </a:r>
          </a:p>
          <a:p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cs typeface="Arial"/>
              <a:sym typeface="Arial"/>
            </a:endParaRPr>
          </a:p>
          <a:p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cs typeface="Arial"/>
              <a:sym typeface="Arial"/>
            </a:endParaRPr>
          </a:p>
          <a:p>
            <a:r>
              <a:rPr lang="en-US" dirty="0" smtClean="0"/>
              <a:t>https://k21academy.com/amazon-web-services/cloud-service-models/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38972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IaaS are virtual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  <a:hlinkClick r:id="rId3"/>
              </a:rPr>
              <a:t> Machines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or 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  <a:hlinkClick r:id="rId4"/>
              </a:rPr>
              <a:t>AWS EC2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Storage or Networking.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DigitalOcean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 Amazon Web Services (AWS), Microsoft Azure, Google Cloud Platform (GCP), Oracle Cloud Infrastructure (OCI), and Alibaba Cloud.</a:t>
            </a:r>
          </a:p>
          <a:p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cs typeface="Arial"/>
              <a:sym typeface="Arial"/>
            </a:endParaRPr>
          </a:p>
          <a:p>
            <a:r>
              <a:rPr lang="en-US" dirty="0" smtClean="0"/>
              <a:t>https://k21academy.com/amazon-web-services/cloud-service-models/</a:t>
            </a:r>
          </a:p>
          <a:p>
            <a:endParaRPr lang="en-US" dirty="0" smtClean="0"/>
          </a:p>
          <a:p>
            <a:r>
              <a:rPr lang="en-US" dirty="0" smtClean="0"/>
              <a:t>https://k21academy.com/docker-kubernetes/docker-vs-virtual-machine/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188456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IaaS are virtual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  <a:hlinkClick r:id="rId3"/>
              </a:rPr>
              <a:t> Machines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 or </a:t>
            </a:r>
            <a:r>
              <a:rPr lang="en-US" sz="1200" b="1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  <a:hlinkClick r:id="rId4"/>
              </a:rPr>
              <a:t>AWS EC2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 Storage or Networking. </a:t>
            </a:r>
            <a:r>
              <a:rPr lang="en-US" sz="1200" b="0" i="0" u="none" strike="noStrike" kern="1200" cap="none" dirty="0" err="1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DigitalOcean</a:t>
            </a:r>
            <a:r>
              <a:rPr lang="en-US" sz="1200" b="0" i="0" u="none" strike="noStrike" kern="1200" cap="none" dirty="0" smtClean="0">
                <a:solidFill>
                  <a:schemeClr val="dk1"/>
                </a:solidFill>
                <a:effectLst/>
                <a:latin typeface="Arial"/>
                <a:ea typeface="Arial"/>
                <a:cs typeface="Arial"/>
                <a:sym typeface="Arial"/>
              </a:rPr>
              <a:t>, Amazon Web Services (AWS), Microsoft Azure, Google Cloud Platform (GCP), Oracle Cloud Infrastructure (OCI), and Alibaba Cloud.</a:t>
            </a:r>
          </a:p>
          <a:p>
            <a:endParaRPr lang="en-US" sz="1200" b="0" i="0" u="none" strike="noStrike" kern="1200" cap="none" dirty="0" smtClean="0">
              <a:solidFill>
                <a:schemeClr val="dk1"/>
              </a:solidFill>
              <a:effectLst/>
              <a:latin typeface="Arial"/>
              <a:cs typeface="Arial"/>
              <a:sym typeface="Arial"/>
            </a:endParaRPr>
          </a:p>
          <a:p>
            <a:r>
              <a:rPr lang="en-US" dirty="0" smtClean="0"/>
              <a:t>https://k21academy.com/amazon-web-services/cloud-service-models/</a:t>
            </a:r>
          </a:p>
          <a:p>
            <a:endParaRPr lang="en-US" dirty="0" smtClean="0"/>
          </a:p>
          <a:p>
            <a:r>
              <a:rPr lang="en-US" dirty="0" smtClean="0"/>
              <a:t>https://k21academy.com/docker-kubernetes/docker-vs-virtual-machine/</a:t>
            </a:r>
          </a:p>
          <a:p>
            <a:r>
              <a:rPr lang="en-US" dirty="0" smtClean="0"/>
              <a:t>https://k21academy.com/amazon-web-services/aws-ec2-instance/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099550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https://k21academy.com/amazon-web-services/aws-for-testers-and-qa/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57398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https://k21academy.com/amazon-web-services/aws-for-testers-and-qa</a:t>
            </a:r>
            <a:r>
              <a:rPr lang="en-US" dirty="0" smtClean="0"/>
              <a:t>/</a:t>
            </a:r>
          </a:p>
          <a:p>
            <a:r>
              <a:rPr lang="en-US" dirty="0" smtClean="0"/>
              <a:t>https://dev.to/iaadidev/-creating-virtual-machines-on-cloud-platforms-aws-azure-and-gcp-2553</a:t>
            </a:r>
          </a:p>
          <a:p>
            <a:endParaRPr lang="en-US" dirty="0" smtClean="0"/>
          </a:p>
          <a:p>
            <a:r>
              <a:rPr lang="en-US" dirty="0" smtClean="0"/>
              <a:t>https://www.emma.ms/tutorials/how-to-deploy-virtual-machines-with-emma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719786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https://k21academy.com/amazon-web-services/aws-for-testers-and-qa/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95238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https://k21academy.com/amazon-web-services/aws-for-testers-and-qa/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387311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6400" y="696913"/>
            <a:ext cx="6196013" cy="34861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https://k21academy.com/amazon-web-services/aws-for-testers-and-qa</a:t>
            </a:r>
            <a:r>
              <a:rPr lang="en-US" dirty="0" smtClean="0"/>
              <a:t>/</a:t>
            </a:r>
          </a:p>
          <a:p>
            <a:r>
              <a:rPr lang="en-US" dirty="0" smtClean="0"/>
              <a:t>https://dev.to/iaadidev/-creating-virtual-machines-on-cloud-platforms-aws-azure-and-gcp-2553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2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 smtClean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lang="en-US"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571909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054981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29635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552398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283961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20674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642112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873207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61320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108239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84920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2337E-4703-49AB-8D81-EA2F8A6577FC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430865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02337E-4703-49AB-8D81-EA2F8A6577FC}" type="datetimeFigureOut">
              <a:rPr lang="en-US" smtClean="0"/>
              <a:t>9/11/2025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B63887-955A-4111-8FF6-299906ED7E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646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9919" y="1"/>
            <a:ext cx="3979069" cy="2536031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277816" y="1346868"/>
            <a:ext cx="3603272" cy="1447266"/>
            <a:chOff x="89638" y="359621"/>
            <a:chExt cx="4804363" cy="1929688"/>
          </a:xfrm>
        </p:grpSpPr>
        <p:pic>
          <p:nvPicPr>
            <p:cNvPr id="10" name="Picture 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5105" y="1881965"/>
              <a:ext cx="3104181" cy="263526"/>
            </a:xfrm>
            <a:prstGeom prst="rect">
              <a:avLst/>
            </a:prstGeom>
          </p:spPr>
        </p:pic>
        <p:sp>
          <p:nvSpPr>
            <p:cNvPr id="11" name="Title 4">
              <a:extLst>
                <a:ext uri="{FF2B5EF4-FFF2-40B4-BE49-F238E27FC236}">
                  <a16:creationId xmlns:a16="http://schemas.microsoft.com/office/drawing/2014/main" id="{27228BAE-048B-681E-DD8D-BD96B22560E0}"/>
                </a:ext>
              </a:extLst>
            </p:cNvPr>
            <p:cNvSpPr txBox="1">
              <a:spLocks/>
            </p:cNvSpPr>
            <p:nvPr/>
          </p:nvSpPr>
          <p:spPr>
            <a:xfrm>
              <a:off x="89638" y="1389204"/>
              <a:ext cx="4804363" cy="900105"/>
            </a:xfrm>
            <a:prstGeom prst="rect">
              <a:avLst/>
            </a:prstGeom>
          </p:spPr>
          <p:txBody>
            <a:bodyPr vert="horz" lIns="68580" tIns="34290" rIns="68580" bIns="34290" rtlCol="0" anchor="b">
              <a:normAutofit fontScale="97500"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just"/>
              <a:r>
                <a:rPr lang="en-US" sz="3000" dirty="0">
                  <a:solidFill>
                    <a:schemeClr val="accent1">
                      <a:lumMod val="75000"/>
                    </a:schemeClr>
                  </a:solidFill>
                </a:rPr>
                <a:t>Computer </a:t>
              </a:r>
              <a:r>
                <a:rPr lang="en-US" sz="3000" dirty="0">
                  <a:solidFill>
                    <a:srgbClr val="00B0F0"/>
                  </a:solidFill>
                </a:rPr>
                <a:t>Vision</a:t>
              </a: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2AABCB87-2ECC-4C03-B5BB-6EE11C8A4485}"/>
                </a:ext>
              </a:extLst>
            </p:cNvPr>
            <p:cNvGrpSpPr/>
            <p:nvPr/>
          </p:nvGrpSpPr>
          <p:grpSpPr>
            <a:xfrm>
              <a:off x="89638" y="359621"/>
              <a:ext cx="3064025" cy="1516520"/>
              <a:chOff x="4853562" y="1589418"/>
              <a:chExt cx="2609520" cy="1291565"/>
            </a:xfrm>
          </p:grpSpPr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03546B24-FABC-4B2A-A80F-B03654D56A7D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4853562" y="1589418"/>
                <a:ext cx="2232248" cy="1202698"/>
              </a:xfrm>
              <a:custGeom>
                <a:avLst/>
                <a:gdLst/>
                <a:ahLst/>
                <a:cxnLst/>
                <a:rect l="l" t="t" r="r" b="b"/>
                <a:pathLst>
                  <a:path w="1872168" h="1008693">
                    <a:moveTo>
                      <a:pt x="699542" y="162"/>
                    </a:moveTo>
                    <a:cubicBezTo>
                      <a:pt x="683169" y="534"/>
                      <a:pt x="666273" y="1556"/>
                      <a:pt x="648845" y="3291"/>
                    </a:cubicBezTo>
                    <a:cubicBezTo>
                      <a:pt x="357120" y="49686"/>
                      <a:pt x="273885" y="284789"/>
                      <a:pt x="274981" y="413694"/>
                    </a:cubicBezTo>
                    <a:cubicBezTo>
                      <a:pt x="4451" y="471904"/>
                      <a:pt x="-11347" y="662854"/>
                      <a:pt x="4101" y="753457"/>
                    </a:cubicBezTo>
                    <a:cubicBezTo>
                      <a:pt x="42383" y="946818"/>
                      <a:pt x="296257" y="1004273"/>
                      <a:pt x="384912" y="1005378"/>
                    </a:cubicBezTo>
                    <a:lnTo>
                      <a:pt x="1507196" y="1008693"/>
                    </a:lnTo>
                    <a:cubicBezTo>
                      <a:pt x="1646895" y="1000406"/>
                      <a:pt x="1746295" y="947371"/>
                      <a:pt x="1825546" y="854557"/>
                    </a:cubicBezTo>
                    <a:cubicBezTo>
                      <a:pt x="1897410" y="760086"/>
                      <a:pt x="1873973" y="626012"/>
                      <a:pt x="1836613" y="558208"/>
                    </a:cubicBezTo>
                    <a:cubicBezTo>
                      <a:pt x="1808089" y="509360"/>
                      <a:pt x="1675919" y="402617"/>
                      <a:pt x="1507617" y="430504"/>
                    </a:cubicBezTo>
                    <a:cubicBezTo>
                      <a:pt x="1525469" y="335682"/>
                      <a:pt x="1477961" y="244522"/>
                      <a:pt x="1398003" y="206286"/>
                    </a:cubicBezTo>
                    <a:cubicBezTo>
                      <a:pt x="1299806" y="153261"/>
                      <a:pt x="1182195" y="177294"/>
                      <a:pt x="1108176" y="215068"/>
                    </a:cubicBezTo>
                    <a:cubicBezTo>
                      <a:pt x="1072916" y="135306"/>
                      <a:pt x="945134" y="-5422"/>
                      <a:pt x="699542" y="162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sz="2701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02E1A011-CDEA-4BBC-B725-C88AF5464891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5230834" y="1678285"/>
                <a:ext cx="2232248" cy="1202698"/>
              </a:xfrm>
              <a:custGeom>
                <a:avLst/>
                <a:gdLst/>
                <a:ahLst/>
                <a:cxnLst/>
                <a:rect l="l" t="t" r="r" b="b"/>
                <a:pathLst>
                  <a:path w="1872168" h="1008693">
                    <a:moveTo>
                      <a:pt x="699542" y="162"/>
                    </a:moveTo>
                    <a:cubicBezTo>
                      <a:pt x="683169" y="534"/>
                      <a:pt x="666273" y="1556"/>
                      <a:pt x="648845" y="3291"/>
                    </a:cubicBezTo>
                    <a:cubicBezTo>
                      <a:pt x="357120" y="49686"/>
                      <a:pt x="273885" y="284789"/>
                      <a:pt x="274981" y="413694"/>
                    </a:cubicBezTo>
                    <a:cubicBezTo>
                      <a:pt x="4451" y="471904"/>
                      <a:pt x="-11347" y="662854"/>
                      <a:pt x="4101" y="753457"/>
                    </a:cubicBezTo>
                    <a:cubicBezTo>
                      <a:pt x="42383" y="946818"/>
                      <a:pt x="296257" y="1004273"/>
                      <a:pt x="384912" y="1005378"/>
                    </a:cubicBezTo>
                    <a:lnTo>
                      <a:pt x="1507196" y="1008693"/>
                    </a:lnTo>
                    <a:cubicBezTo>
                      <a:pt x="1646895" y="1000406"/>
                      <a:pt x="1746295" y="947371"/>
                      <a:pt x="1825546" y="854557"/>
                    </a:cubicBezTo>
                    <a:cubicBezTo>
                      <a:pt x="1897410" y="760086"/>
                      <a:pt x="1873973" y="626012"/>
                      <a:pt x="1836613" y="558208"/>
                    </a:cubicBezTo>
                    <a:cubicBezTo>
                      <a:pt x="1808089" y="509360"/>
                      <a:pt x="1675919" y="402617"/>
                      <a:pt x="1507617" y="430504"/>
                    </a:cubicBezTo>
                    <a:cubicBezTo>
                      <a:pt x="1525469" y="335682"/>
                      <a:pt x="1477961" y="244522"/>
                      <a:pt x="1398003" y="206286"/>
                    </a:cubicBezTo>
                    <a:cubicBezTo>
                      <a:pt x="1299806" y="153261"/>
                      <a:pt x="1182195" y="177294"/>
                      <a:pt x="1108176" y="215068"/>
                    </a:cubicBezTo>
                    <a:cubicBezTo>
                      <a:pt x="1072916" y="135306"/>
                      <a:pt x="945134" y="-5422"/>
                      <a:pt x="699542" y="162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sz="2701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B8BC7BC-BF58-402E-9A69-AA9226DE7CAA}"/>
                </a:ext>
              </a:extLst>
            </p:cNvPr>
            <p:cNvGrpSpPr/>
            <p:nvPr/>
          </p:nvGrpSpPr>
          <p:grpSpPr>
            <a:xfrm>
              <a:off x="1176068" y="503243"/>
              <a:ext cx="1334145" cy="620384"/>
              <a:chOff x="7439031" y="1585639"/>
              <a:chExt cx="2143740" cy="996849"/>
            </a:xfrm>
            <a:solidFill>
              <a:schemeClr val="accent6"/>
            </a:solidFill>
          </p:grpSpPr>
          <p:sp>
            <p:nvSpPr>
              <p:cNvPr id="17" name="Freeform: Shape 66">
                <a:extLst>
                  <a:ext uri="{FF2B5EF4-FFF2-40B4-BE49-F238E27FC236}">
                    <a16:creationId xmlns:a16="http://schemas.microsoft.com/office/drawing/2014/main" id="{2A081543-B9FF-49B1-8EEF-ABDF5438EDCD}"/>
                  </a:ext>
                </a:extLst>
              </p:cNvPr>
              <p:cNvSpPr/>
              <p:nvPr/>
            </p:nvSpPr>
            <p:spPr>
              <a:xfrm>
                <a:off x="7439031" y="1585639"/>
                <a:ext cx="2143740" cy="996849"/>
              </a:xfrm>
              <a:custGeom>
                <a:avLst/>
                <a:gdLst/>
                <a:ahLst/>
                <a:cxnLst/>
                <a:rect l="l" t="t" r="r" b="b"/>
                <a:pathLst>
                  <a:path w="1862733" h="866179">
                    <a:moveTo>
                      <a:pt x="794147" y="204787"/>
                    </a:moveTo>
                    <a:cubicBezTo>
                      <a:pt x="745605" y="204787"/>
                      <a:pt x="701637" y="218416"/>
                      <a:pt x="662244" y="245673"/>
                    </a:cubicBezTo>
                    <a:cubicBezTo>
                      <a:pt x="622851" y="272930"/>
                      <a:pt x="594798" y="309240"/>
                      <a:pt x="578086" y="354601"/>
                    </a:cubicBezTo>
                    <a:cubicBezTo>
                      <a:pt x="568536" y="380467"/>
                      <a:pt x="563761" y="406729"/>
                      <a:pt x="563761" y="433387"/>
                    </a:cubicBezTo>
                    <a:cubicBezTo>
                      <a:pt x="563761" y="488299"/>
                      <a:pt x="582064" y="537440"/>
                      <a:pt x="618670" y="580811"/>
                    </a:cubicBezTo>
                    <a:cubicBezTo>
                      <a:pt x="664031" y="634532"/>
                      <a:pt x="722524" y="661392"/>
                      <a:pt x="794147" y="661392"/>
                    </a:cubicBezTo>
                    <a:cubicBezTo>
                      <a:pt x="865771" y="661392"/>
                      <a:pt x="924462" y="634733"/>
                      <a:pt x="970220" y="581415"/>
                    </a:cubicBezTo>
                    <a:cubicBezTo>
                      <a:pt x="1006826" y="538838"/>
                      <a:pt x="1025128" y="489496"/>
                      <a:pt x="1025128" y="433387"/>
                    </a:cubicBezTo>
                    <a:cubicBezTo>
                      <a:pt x="1025128" y="376088"/>
                      <a:pt x="1006826" y="326547"/>
                      <a:pt x="970220" y="284764"/>
                    </a:cubicBezTo>
                    <a:cubicBezTo>
                      <a:pt x="923265" y="231446"/>
                      <a:pt x="864574" y="204787"/>
                      <a:pt x="794147" y="204787"/>
                    </a:cubicBezTo>
                    <a:close/>
                    <a:moveTo>
                      <a:pt x="1304330" y="24408"/>
                    </a:moveTo>
                    <a:lnTo>
                      <a:pt x="1862733" y="24408"/>
                    </a:lnTo>
                    <a:lnTo>
                      <a:pt x="1862733" y="200620"/>
                    </a:lnTo>
                    <a:lnTo>
                      <a:pt x="1687711" y="200620"/>
                    </a:lnTo>
                    <a:lnTo>
                      <a:pt x="1687711" y="837009"/>
                    </a:lnTo>
                    <a:lnTo>
                      <a:pt x="1476375" y="837009"/>
                    </a:lnTo>
                    <a:lnTo>
                      <a:pt x="1476375" y="200620"/>
                    </a:lnTo>
                    <a:lnTo>
                      <a:pt x="1304330" y="200620"/>
                    </a:lnTo>
                    <a:close/>
                    <a:moveTo>
                      <a:pt x="0" y="24408"/>
                    </a:moveTo>
                    <a:lnTo>
                      <a:pt x="211336" y="24408"/>
                    </a:lnTo>
                    <a:lnTo>
                      <a:pt x="211336" y="837009"/>
                    </a:lnTo>
                    <a:lnTo>
                      <a:pt x="0" y="837009"/>
                    </a:lnTo>
                    <a:close/>
                    <a:moveTo>
                      <a:pt x="794147" y="0"/>
                    </a:moveTo>
                    <a:cubicBezTo>
                      <a:pt x="937022" y="0"/>
                      <a:pt x="1050330" y="47426"/>
                      <a:pt x="1134071" y="142280"/>
                    </a:cubicBezTo>
                    <a:cubicBezTo>
                      <a:pt x="1207493" y="225623"/>
                      <a:pt x="1244204" y="322659"/>
                      <a:pt x="1244204" y="433387"/>
                    </a:cubicBezTo>
                    <a:cubicBezTo>
                      <a:pt x="1244204" y="543719"/>
                      <a:pt x="1207493" y="640556"/>
                      <a:pt x="1134071" y="723900"/>
                    </a:cubicBezTo>
                    <a:cubicBezTo>
                      <a:pt x="1050330" y="818753"/>
                      <a:pt x="937022" y="866179"/>
                      <a:pt x="794147" y="866179"/>
                    </a:cubicBezTo>
                    <a:cubicBezTo>
                      <a:pt x="651669" y="866179"/>
                      <a:pt x="538560" y="818753"/>
                      <a:pt x="454819" y="723900"/>
                    </a:cubicBezTo>
                    <a:cubicBezTo>
                      <a:pt x="381397" y="640556"/>
                      <a:pt x="344686" y="543719"/>
                      <a:pt x="344686" y="433387"/>
                    </a:cubicBezTo>
                    <a:cubicBezTo>
                      <a:pt x="344686" y="382984"/>
                      <a:pt x="354608" y="331291"/>
                      <a:pt x="374452" y="278308"/>
                    </a:cubicBezTo>
                    <a:cubicBezTo>
                      <a:pt x="394296" y="225326"/>
                      <a:pt x="420886" y="179983"/>
                      <a:pt x="454224" y="142280"/>
                    </a:cubicBezTo>
                    <a:cubicBezTo>
                      <a:pt x="537964" y="47426"/>
                      <a:pt x="651272" y="0"/>
                      <a:pt x="794147" y="0"/>
                    </a:cubicBezTo>
                    <a:close/>
                  </a:path>
                </a:pathLst>
              </a:custGeom>
              <a:solidFill>
                <a:srgbClr val="00B0F0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800" dirty="0"/>
              </a:p>
            </p:txBody>
          </p:sp>
          <p:sp>
            <p:nvSpPr>
              <p:cNvPr id="18" name="Freeform: Shape 67">
                <a:extLst>
                  <a:ext uri="{FF2B5EF4-FFF2-40B4-BE49-F238E27FC236}">
                    <a16:creationId xmlns:a16="http://schemas.microsoft.com/office/drawing/2014/main" id="{275D1FAA-C13F-4A6B-BA37-7704CFB7ADCD}"/>
                  </a:ext>
                </a:extLst>
              </p:cNvPr>
              <p:cNvSpPr/>
              <p:nvPr/>
            </p:nvSpPr>
            <p:spPr>
              <a:xfrm>
                <a:off x="8174174" y="1963600"/>
                <a:ext cx="443936" cy="326799"/>
              </a:xfrm>
              <a:custGeom>
                <a:avLst/>
                <a:gdLst>
                  <a:gd name="connsiteX0" fmla="*/ 1869041 w 3738080"/>
                  <a:gd name="connsiteY0" fmla="*/ 1997576 h 2751770"/>
                  <a:gd name="connsiteX1" fmla="*/ 2246138 w 3738080"/>
                  <a:gd name="connsiteY1" fmla="*/ 2374673 h 2751770"/>
                  <a:gd name="connsiteX2" fmla="*/ 1869041 w 3738080"/>
                  <a:gd name="connsiteY2" fmla="*/ 2751770 h 2751770"/>
                  <a:gd name="connsiteX3" fmla="*/ 1491944 w 3738080"/>
                  <a:gd name="connsiteY3" fmla="*/ 2374673 h 2751770"/>
                  <a:gd name="connsiteX4" fmla="*/ 1869041 w 3738080"/>
                  <a:gd name="connsiteY4" fmla="*/ 1997576 h 2751770"/>
                  <a:gd name="connsiteX5" fmla="*/ 2788485 w 3738080"/>
                  <a:gd name="connsiteY5" fmla="*/ 1841061 h 2751770"/>
                  <a:gd name="connsiteX6" fmla="*/ 2632248 w 3738080"/>
                  <a:gd name="connsiteY6" fmla="*/ 1992174 h 2751770"/>
                  <a:gd name="connsiteX7" fmla="*/ 2624294 w 3738080"/>
                  <a:gd name="connsiteY7" fmla="*/ 1992174 h 2751770"/>
                  <a:gd name="connsiteX8" fmla="*/ 1858846 w 3738080"/>
                  <a:gd name="connsiteY8" fmla="*/ 1306247 h 2751770"/>
                  <a:gd name="connsiteX9" fmla="*/ 2645621 w 3738080"/>
                  <a:gd name="connsiteY9" fmla="*/ 1504218 h 2751770"/>
                  <a:gd name="connsiteX10" fmla="*/ 2795575 w 3738080"/>
                  <a:gd name="connsiteY10" fmla="*/ 1757331 h 2751770"/>
                  <a:gd name="connsiteX11" fmla="*/ 2539052 w 3738080"/>
                  <a:gd name="connsiteY11" fmla="*/ 1841672 h 2751770"/>
                  <a:gd name="connsiteX12" fmla="*/ 1353947 w 3738080"/>
                  <a:gd name="connsiteY12" fmla="*/ 1778974 h 2751770"/>
                  <a:gd name="connsiteX13" fmla="*/ 982333 w 3738080"/>
                  <a:gd name="connsiteY13" fmla="*/ 1780833 h 2751770"/>
                  <a:gd name="connsiteX14" fmla="*/ 966756 w 3738080"/>
                  <a:gd name="connsiteY14" fmla="*/ 1667407 h 2751770"/>
                  <a:gd name="connsiteX15" fmla="*/ 1217540 w 3738080"/>
                  <a:gd name="connsiteY15" fmla="*/ 1445700 h 2751770"/>
                  <a:gd name="connsiteX16" fmla="*/ 1858846 w 3738080"/>
                  <a:gd name="connsiteY16" fmla="*/ 1306247 h 2751770"/>
                  <a:gd name="connsiteX17" fmla="*/ 1828129 w 3738080"/>
                  <a:gd name="connsiteY17" fmla="*/ 650059 h 2751770"/>
                  <a:gd name="connsiteX18" fmla="*/ 3108200 w 3738080"/>
                  <a:gd name="connsiteY18" fmla="*/ 1008980 h 2751770"/>
                  <a:gd name="connsiteX19" fmla="*/ 3258155 w 3738080"/>
                  <a:gd name="connsiteY19" fmla="*/ 1319033 h 2751770"/>
                  <a:gd name="connsiteX20" fmla="*/ 2937692 w 3738080"/>
                  <a:gd name="connsiteY20" fmla="*/ 1304637 h 2751770"/>
                  <a:gd name="connsiteX21" fmla="*/ 763561 w 3738080"/>
                  <a:gd name="connsiteY21" fmla="*/ 1325535 h 2751770"/>
                  <a:gd name="connsiteX22" fmla="*/ 464412 w 3738080"/>
                  <a:gd name="connsiteY22" fmla="*/ 1278813 h 2751770"/>
                  <a:gd name="connsiteX23" fmla="*/ 450482 w 3738080"/>
                  <a:gd name="connsiteY23" fmla="*/ 1202928 h 2751770"/>
                  <a:gd name="connsiteX24" fmla="*/ 622892 w 3738080"/>
                  <a:gd name="connsiteY24" fmla="*/ 1008979 h 2751770"/>
                  <a:gd name="connsiteX25" fmla="*/ 1828129 w 3738080"/>
                  <a:gd name="connsiteY25" fmla="*/ 650059 h 2751770"/>
                  <a:gd name="connsiteX26" fmla="*/ 1764313 w 3738080"/>
                  <a:gd name="connsiteY26" fmla="*/ 591 h 2751770"/>
                  <a:gd name="connsiteX27" fmla="*/ 3559697 w 3738080"/>
                  <a:gd name="connsiteY27" fmla="*/ 547180 h 2751770"/>
                  <a:gd name="connsiteX28" fmla="*/ 3709650 w 3738080"/>
                  <a:gd name="connsiteY28" fmla="*/ 882310 h 2751770"/>
                  <a:gd name="connsiteX29" fmla="*/ 3367875 w 3738080"/>
                  <a:gd name="connsiteY29" fmla="*/ 834477 h 2751770"/>
                  <a:gd name="connsiteX30" fmla="*/ 318417 w 3738080"/>
                  <a:gd name="connsiteY30" fmla="*/ 884635 h 2751770"/>
                  <a:gd name="connsiteX31" fmla="*/ 19267 w 3738080"/>
                  <a:gd name="connsiteY31" fmla="*/ 846272 h 2751770"/>
                  <a:gd name="connsiteX32" fmla="*/ 275 w 3738080"/>
                  <a:gd name="connsiteY32" fmla="*/ 760137 h 2751770"/>
                  <a:gd name="connsiteX33" fmla="*/ 173484 w 3738080"/>
                  <a:gd name="connsiteY33" fmla="*/ 547180 h 2751770"/>
                  <a:gd name="connsiteX34" fmla="*/ 1764313 w 3738080"/>
                  <a:gd name="connsiteY34" fmla="*/ 591 h 2751770"/>
                  <a:gd name="connsiteX0" fmla="*/ 1869041 w 3738080"/>
                  <a:gd name="connsiteY0" fmla="*/ 1997576 h 2751770"/>
                  <a:gd name="connsiteX1" fmla="*/ 2246138 w 3738080"/>
                  <a:gd name="connsiteY1" fmla="*/ 2374673 h 2751770"/>
                  <a:gd name="connsiteX2" fmla="*/ 1869041 w 3738080"/>
                  <a:gd name="connsiteY2" fmla="*/ 2751770 h 2751770"/>
                  <a:gd name="connsiteX3" fmla="*/ 1491944 w 3738080"/>
                  <a:gd name="connsiteY3" fmla="*/ 2374673 h 2751770"/>
                  <a:gd name="connsiteX4" fmla="*/ 1869041 w 3738080"/>
                  <a:gd name="connsiteY4" fmla="*/ 1997576 h 2751770"/>
                  <a:gd name="connsiteX5" fmla="*/ 2624294 w 3738080"/>
                  <a:gd name="connsiteY5" fmla="*/ 1992174 h 2751770"/>
                  <a:gd name="connsiteX6" fmla="*/ 2632248 w 3738080"/>
                  <a:gd name="connsiteY6" fmla="*/ 1992174 h 2751770"/>
                  <a:gd name="connsiteX7" fmla="*/ 2624294 w 3738080"/>
                  <a:gd name="connsiteY7" fmla="*/ 1992174 h 2751770"/>
                  <a:gd name="connsiteX8" fmla="*/ 1858846 w 3738080"/>
                  <a:gd name="connsiteY8" fmla="*/ 1306247 h 2751770"/>
                  <a:gd name="connsiteX9" fmla="*/ 2645621 w 3738080"/>
                  <a:gd name="connsiteY9" fmla="*/ 1504218 h 2751770"/>
                  <a:gd name="connsiteX10" fmla="*/ 2795575 w 3738080"/>
                  <a:gd name="connsiteY10" fmla="*/ 1757331 h 2751770"/>
                  <a:gd name="connsiteX11" fmla="*/ 2539052 w 3738080"/>
                  <a:gd name="connsiteY11" fmla="*/ 1841672 h 2751770"/>
                  <a:gd name="connsiteX12" fmla="*/ 1353947 w 3738080"/>
                  <a:gd name="connsiteY12" fmla="*/ 1778974 h 2751770"/>
                  <a:gd name="connsiteX13" fmla="*/ 982333 w 3738080"/>
                  <a:gd name="connsiteY13" fmla="*/ 1780833 h 2751770"/>
                  <a:gd name="connsiteX14" fmla="*/ 966756 w 3738080"/>
                  <a:gd name="connsiteY14" fmla="*/ 1667407 h 2751770"/>
                  <a:gd name="connsiteX15" fmla="*/ 1217540 w 3738080"/>
                  <a:gd name="connsiteY15" fmla="*/ 1445700 h 2751770"/>
                  <a:gd name="connsiteX16" fmla="*/ 1858846 w 3738080"/>
                  <a:gd name="connsiteY16" fmla="*/ 1306247 h 2751770"/>
                  <a:gd name="connsiteX17" fmla="*/ 1828129 w 3738080"/>
                  <a:gd name="connsiteY17" fmla="*/ 650059 h 2751770"/>
                  <a:gd name="connsiteX18" fmla="*/ 3108200 w 3738080"/>
                  <a:gd name="connsiteY18" fmla="*/ 1008980 h 2751770"/>
                  <a:gd name="connsiteX19" fmla="*/ 3258155 w 3738080"/>
                  <a:gd name="connsiteY19" fmla="*/ 1319033 h 2751770"/>
                  <a:gd name="connsiteX20" fmla="*/ 2937692 w 3738080"/>
                  <a:gd name="connsiteY20" fmla="*/ 1304637 h 2751770"/>
                  <a:gd name="connsiteX21" fmla="*/ 763561 w 3738080"/>
                  <a:gd name="connsiteY21" fmla="*/ 1325535 h 2751770"/>
                  <a:gd name="connsiteX22" fmla="*/ 464412 w 3738080"/>
                  <a:gd name="connsiteY22" fmla="*/ 1278813 h 2751770"/>
                  <a:gd name="connsiteX23" fmla="*/ 450482 w 3738080"/>
                  <a:gd name="connsiteY23" fmla="*/ 1202928 h 2751770"/>
                  <a:gd name="connsiteX24" fmla="*/ 622892 w 3738080"/>
                  <a:gd name="connsiteY24" fmla="*/ 1008979 h 2751770"/>
                  <a:gd name="connsiteX25" fmla="*/ 1828129 w 3738080"/>
                  <a:gd name="connsiteY25" fmla="*/ 650059 h 2751770"/>
                  <a:gd name="connsiteX26" fmla="*/ 1764313 w 3738080"/>
                  <a:gd name="connsiteY26" fmla="*/ 591 h 2751770"/>
                  <a:gd name="connsiteX27" fmla="*/ 3559697 w 3738080"/>
                  <a:gd name="connsiteY27" fmla="*/ 547180 h 2751770"/>
                  <a:gd name="connsiteX28" fmla="*/ 3709650 w 3738080"/>
                  <a:gd name="connsiteY28" fmla="*/ 882310 h 2751770"/>
                  <a:gd name="connsiteX29" fmla="*/ 3367875 w 3738080"/>
                  <a:gd name="connsiteY29" fmla="*/ 834477 h 2751770"/>
                  <a:gd name="connsiteX30" fmla="*/ 318417 w 3738080"/>
                  <a:gd name="connsiteY30" fmla="*/ 884635 h 2751770"/>
                  <a:gd name="connsiteX31" fmla="*/ 19267 w 3738080"/>
                  <a:gd name="connsiteY31" fmla="*/ 846272 h 2751770"/>
                  <a:gd name="connsiteX32" fmla="*/ 275 w 3738080"/>
                  <a:gd name="connsiteY32" fmla="*/ 760137 h 2751770"/>
                  <a:gd name="connsiteX33" fmla="*/ 173484 w 3738080"/>
                  <a:gd name="connsiteY33" fmla="*/ 547180 h 2751770"/>
                  <a:gd name="connsiteX34" fmla="*/ 1764313 w 3738080"/>
                  <a:gd name="connsiteY34" fmla="*/ 591 h 2751770"/>
                  <a:gd name="connsiteX0" fmla="*/ 1869041 w 3738080"/>
                  <a:gd name="connsiteY0" fmla="*/ 1997576 h 2751770"/>
                  <a:gd name="connsiteX1" fmla="*/ 2246138 w 3738080"/>
                  <a:gd name="connsiteY1" fmla="*/ 2374673 h 2751770"/>
                  <a:gd name="connsiteX2" fmla="*/ 1869041 w 3738080"/>
                  <a:gd name="connsiteY2" fmla="*/ 2751770 h 2751770"/>
                  <a:gd name="connsiteX3" fmla="*/ 1491944 w 3738080"/>
                  <a:gd name="connsiteY3" fmla="*/ 2374673 h 2751770"/>
                  <a:gd name="connsiteX4" fmla="*/ 1869041 w 3738080"/>
                  <a:gd name="connsiteY4" fmla="*/ 1997576 h 2751770"/>
                  <a:gd name="connsiteX5" fmla="*/ 1858846 w 3738080"/>
                  <a:gd name="connsiteY5" fmla="*/ 1306247 h 2751770"/>
                  <a:gd name="connsiteX6" fmla="*/ 2645621 w 3738080"/>
                  <a:gd name="connsiteY6" fmla="*/ 1504218 h 2751770"/>
                  <a:gd name="connsiteX7" fmla="*/ 2795575 w 3738080"/>
                  <a:gd name="connsiteY7" fmla="*/ 1757331 h 2751770"/>
                  <a:gd name="connsiteX8" fmla="*/ 2539052 w 3738080"/>
                  <a:gd name="connsiteY8" fmla="*/ 1841672 h 2751770"/>
                  <a:gd name="connsiteX9" fmla="*/ 1353947 w 3738080"/>
                  <a:gd name="connsiteY9" fmla="*/ 1778974 h 2751770"/>
                  <a:gd name="connsiteX10" fmla="*/ 982333 w 3738080"/>
                  <a:gd name="connsiteY10" fmla="*/ 1780833 h 2751770"/>
                  <a:gd name="connsiteX11" fmla="*/ 966756 w 3738080"/>
                  <a:gd name="connsiteY11" fmla="*/ 1667407 h 2751770"/>
                  <a:gd name="connsiteX12" fmla="*/ 1217540 w 3738080"/>
                  <a:gd name="connsiteY12" fmla="*/ 1445700 h 2751770"/>
                  <a:gd name="connsiteX13" fmla="*/ 1858846 w 3738080"/>
                  <a:gd name="connsiteY13" fmla="*/ 1306247 h 2751770"/>
                  <a:gd name="connsiteX14" fmla="*/ 1828129 w 3738080"/>
                  <a:gd name="connsiteY14" fmla="*/ 650059 h 2751770"/>
                  <a:gd name="connsiteX15" fmla="*/ 3108200 w 3738080"/>
                  <a:gd name="connsiteY15" fmla="*/ 1008980 h 2751770"/>
                  <a:gd name="connsiteX16" fmla="*/ 3258155 w 3738080"/>
                  <a:gd name="connsiteY16" fmla="*/ 1319033 h 2751770"/>
                  <a:gd name="connsiteX17" fmla="*/ 2937692 w 3738080"/>
                  <a:gd name="connsiteY17" fmla="*/ 1304637 h 2751770"/>
                  <a:gd name="connsiteX18" fmla="*/ 763561 w 3738080"/>
                  <a:gd name="connsiteY18" fmla="*/ 1325535 h 2751770"/>
                  <a:gd name="connsiteX19" fmla="*/ 464412 w 3738080"/>
                  <a:gd name="connsiteY19" fmla="*/ 1278813 h 2751770"/>
                  <a:gd name="connsiteX20" fmla="*/ 450482 w 3738080"/>
                  <a:gd name="connsiteY20" fmla="*/ 1202928 h 2751770"/>
                  <a:gd name="connsiteX21" fmla="*/ 622892 w 3738080"/>
                  <a:gd name="connsiteY21" fmla="*/ 1008979 h 2751770"/>
                  <a:gd name="connsiteX22" fmla="*/ 1828129 w 3738080"/>
                  <a:gd name="connsiteY22" fmla="*/ 650059 h 2751770"/>
                  <a:gd name="connsiteX23" fmla="*/ 1764313 w 3738080"/>
                  <a:gd name="connsiteY23" fmla="*/ 591 h 2751770"/>
                  <a:gd name="connsiteX24" fmla="*/ 3559697 w 3738080"/>
                  <a:gd name="connsiteY24" fmla="*/ 547180 h 2751770"/>
                  <a:gd name="connsiteX25" fmla="*/ 3709650 w 3738080"/>
                  <a:gd name="connsiteY25" fmla="*/ 882310 h 2751770"/>
                  <a:gd name="connsiteX26" fmla="*/ 3367875 w 3738080"/>
                  <a:gd name="connsiteY26" fmla="*/ 834477 h 2751770"/>
                  <a:gd name="connsiteX27" fmla="*/ 318417 w 3738080"/>
                  <a:gd name="connsiteY27" fmla="*/ 884635 h 2751770"/>
                  <a:gd name="connsiteX28" fmla="*/ 19267 w 3738080"/>
                  <a:gd name="connsiteY28" fmla="*/ 846272 h 2751770"/>
                  <a:gd name="connsiteX29" fmla="*/ 275 w 3738080"/>
                  <a:gd name="connsiteY29" fmla="*/ 760137 h 2751770"/>
                  <a:gd name="connsiteX30" fmla="*/ 173484 w 3738080"/>
                  <a:gd name="connsiteY30" fmla="*/ 547180 h 2751770"/>
                  <a:gd name="connsiteX31" fmla="*/ 1764313 w 3738080"/>
                  <a:gd name="connsiteY31" fmla="*/ 591 h 27517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3738080" h="2751770">
                    <a:moveTo>
                      <a:pt x="1869041" y="1997576"/>
                    </a:moveTo>
                    <a:cubicBezTo>
                      <a:pt x="2077306" y="1997576"/>
                      <a:pt x="2246138" y="2166408"/>
                      <a:pt x="2246138" y="2374673"/>
                    </a:cubicBezTo>
                    <a:cubicBezTo>
                      <a:pt x="2246138" y="2582938"/>
                      <a:pt x="2077306" y="2751770"/>
                      <a:pt x="1869041" y="2751770"/>
                    </a:cubicBezTo>
                    <a:cubicBezTo>
                      <a:pt x="1660776" y="2751770"/>
                      <a:pt x="1491944" y="2582938"/>
                      <a:pt x="1491944" y="2374673"/>
                    </a:cubicBezTo>
                    <a:cubicBezTo>
                      <a:pt x="1491944" y="2166408"/>
                      <a:pt x="1660776" y="1997576"/>
                      <a:pt x="1869041" y="1997576"/>
                    </a:cubicBezTo>
                    <a:close/>
                    <a:moveTo>
                      <a:pt x="1858846" y="1306247"/>
                    </a:moveTo>
                    <a:cubicBezTo>
                      <a:pt x="2165924" y="1301758"/>
                      <a:pt x="2404940" y="1399722"/>
                      <a:pt x="2645621" y="1504218"/>
                    </a:cubicBezTo>
                    <a:cubicBezTo>
                      <a:pt x="2813424" y="1597955"/>
                      <a:pt x="2823993" y="1678797"/>
                      <a:pt x="2795575" y="1757331"/>
                    </a:cubicBezTo>
                    <a:cubicBezTo>
                      <a:pt x="2761471" y="1842158"/>
                      <a:pt x="2685239" y="1908552"/>
                      <a:pt x="2539052" y="1841672"/>
                    </a:cubicBezTo>
                    <a:cubicBezTo>
                      <a:pt x="2347207" y="1684231"/>
                      <a:pt x="1733351" y="1556050"/>
                      <a:pt x="1353947" y="1778974"/>
                    </a:cubicBezTo>
                    <a:cubicBezTo>
                      <a:pt x="1250080" y="1855218"/>
                      <a:pt x="1037749" y="1915097"/>
                      <a:pt x="982333" y="1780833"/>
                    </a:cubicBezTo>
                    <a:cubicBezTo>
                      <a:pt x="968480" y="1736637"/>
                      <a:pt x="963386" y="1699601"/>
                      <a:pt x="966756" y="1667407"/>
                    </a:cubicBezTo>
                    <a:cubicBezTo>
                      <a:pt x="976866" y="1570822"/>
                      <a:pt x="1063141" y="1517802"/>
                      <a:pt x="1217540" y="1445700"/>
                    </a:cubicBezTo>
                    <a:cubicBezTo>
                      <a:pt x="1465851" y="1348519"/>
                      <a:pt x="1674601" y="1308942"/>
                      <a:pt x="1858846" y="1306247"/>
                    </a:cubicBezTo>
                    <a:close/>
                    <a:moveTo>
                      <a:pt x="1828129" y="650059"/>
                    </a:moveTo>
                    <a:cubicBezTo>
                      <a:pt x="2445754" y="646836"/>
                      <a:pt x="2937662" y="894034"/>
                      <a:pt x="3108200" y="1008980"/>
                    </a:cubicBezTo>
                    <a:cubicBezTo>
                      <a:pt x="3228810" y="1075858"/>
                      <a:pt x="3343409" y="1171509"/>
                      <a:pt x="3258155" y="1319033"/>
                    </a:cubicBezTo>
                    <a:cubicBezTo>
                      <a:pt x="3134282" y="1435449"/>
                      <a:pt x="3057301" y="1393031"/>
                      <a:pt x="2937692" y="1304637"/>
                    </a:cubicBezTo>
                    <a:cubicBezTo>
                      <a:pt x="2647778" y="1191783"/>
                      <a:pt x="2008321" y="619142"/>
                      <a:pt x="763561" y="1325535"/>
                    </a:cubicBezTo>
                    <a:cubicBezTo>
                      <a:pt x="621636" y="1425852"/>
                      <a:pt x="511304" y="1376178"/>
                      <a:pt x="464412" y="1278813"/>
                    </a:cubicBezTo>
                    <a:cubicBezTo>
                      <a:pt x="452398" y="1252494"/>
                      <a:pt x="448110" y="1227223"/>
                      <a:pt x="450482" y="1202928"/>
                    </a:cubicBezTo>
                    <a:cubicBezTo>
                      <a:pt x="457599" y="1130049"/>
                      <a:pt x="524660" y="1065987"/>
                      <a:pt x="622892" y="1008979"/>
                    </a:cubicBezTo>
                    <a:cubicBezTo>
                      <a:pt x="1041721" y="744082"/>
                      <a:pt x="1457554" y="651995"/>
                      <a:pt x="1828129" y="650059"/>
                    </a:cubicBezTo>
                    <a:close/>
                    <a:moveTo>
                      <a:pt x="1764313" y="591"/>
                    </a:moveTo>
                    <a:cubicBezTo>
                      <a:pt x="2430887" y="-13278"/>
                      <a:pt x="3056659" y="218017"/>
                      <a:pt x="3559697" y="547180"/>
                    </a:cubicBezTo>
                    <a:cubicBezTo>
                      <a:pt x="3671781" y="597338"/>
                      <a:pt x="3794905" y="759863"/>
                      <a:pt x="3709650" y="882310"/>
                    </a:cubicBezTo>
                    <a:cubicBezTo>
                      <a:pt x="3594303" y="984791"/>
                      <a:pt x="3449118" y="907547"/>
                      <a:pt x="3367875" y="834477"/>
                    </a:cubicBezTo>
                    <a:cubicBezTo>
                      <a:pt x="3193985" y="725799"/>
                      <a:pt x="1920315" y="-235561"/>
                      <a:pt x="318417" y="884635"/>
                    </a:cubicBezTo>
                    <a:cubicBezTo>
                      <a:pt x="189280" y="993311"/>
                      <a:pt x="70419" y="922739"/>
                      <a:pt x="19267" y="846272"/>
                    </a:cubicBezTo>
                    <a:cubicBezTo>
                      <a:pt x="4410" y="817516"/>
                      <a:pt x="-1388" y="788500"/>
                      <a:pt x="275" y="760137"/>
                    </a:cubicBezTo>
                    <a:cubicBezTo>
                      <a:pt x="5260" y="675044"/>
                      <a:pt x="77384" y="595829"/>
                      <a:pt x="173484" y="547180"/>
                    </a:cubicBezTo>
                    <a:cubicBezTo>
                      <a:pt x="702741" y="170471"/>
                      <a:pt x="1245868" y="11376"/>
                      <a:pt x="1764313" y="591"/>
                    </a:cubicBezTo>
                    <a:close/>
                  </a:path>
                </a:pathLst>
              </a:cu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sp>
          <p:nvSpPr>
            <p:cNvPr id="14" name="Subtitle 2">
              <a:extLst>
                <a:ext uri="{FF2B5EF4-FFF2-40B4-BE49-F238E27FC236}">
                  <a16:creationId xmlns:a16="http://schemas.microsoft.com/office/drawing/2014/main" id="{53858C97-DA2F-8866-47CC-CDF4077BBF9D}"/>
                </a:ext>
              </a:extLst>
            </p:cNvPr>
            <p:cNvSpPr txBox="1">
              <a:spLocks/>
            </p:cNvSpPr>
            <p:nvPr/>
          </p:nvSpPr>
          <p:spPr>
            <a:xfrm>
              <a:off x="1560697" y="757061"/>
              <a:ext cx="729275" cy="203382"/>
            </a:xfrm>
            <a:prstGeom prst="rect">
              <a:avLst/>
            </a:prstGeom>
          </p:spPr>
          <p:txBody>
            <a:bodyPr vert="horz" lIns="68580" tIns="34290" rIns="68580" bIns="34290" rtlCol="0">
              <a:normAutofit fontScale="550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1200" dirty="0">
                  <a:solidFill>
                    <a:srgbClr val="7030A0"/>
                  </a:solidFill>
                </a:rPr>
                <a:t>PDS</a:t>
              </a:r>
            </a:p>
          </p:txBody>
        </p:sp>
      </p:grpSp>
      <p:sp>
        <p:nvSpPr>
          <p:cNvPr id="22" name="Rectangle 21"/>
          <p:cNvSpPr/>
          <p:nvPr/>
        </p:nvSpPr>
        <p:spPr>
          <a:xfrm>
            <a:off x="6683644" y="4335788"/>
            <a:ext cx="2613761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dirty="0"/>
              <a:t>https://www.youtube.com/@AmelOline/videos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20552" y="4197289"/>
            <a:ext cx="1623448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dirty="0"/>
              <a:t>https://github.com/siagianp</a:t>
            </a:r>
          </a:p>
        </p:txBody>
      </p:sp>
      <p:sp>
        <p:nvSpPr>
          <p:cNvPr id="2" name="Rectangle 1"/>
          <p:cNvSpPr/>
          <p:nvPr/>
        </p:nvSpPr>
        <p:spPr>
          <a:xfrm>
            <a:off x="5707251" y="4474288"/>
            <a:ext cx="3667194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dirty="0"/>
              <a:t>https://github.com/amelcharolinesgn2/IoT_simulator-mqtt-NodeRed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8807" y="1979698"/>
            <a:ext cx="334565" cy="47689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35773" y="1991577"/>
            <a:ext cx="460043" cy="43704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9784" y="1979697"/>
            <a:ext cx="449747" cy="433166"/>
          </a:xfrm>
          <a:prstGeom prst="rect">
            <a:avLst/>
          </a:prstGeom>
        </p:spPr>
      </p:pic>
      <p:sp>
        <p:nvSpPr>
          <p:cNvPr id="26" name="Subtitle 2"/>
          <p:cNvSpPr txBox="1">
            <a:spLocks/>
          </p:cNvSpPr>
          <p:nvPr/>
        </p:nvSpPr>
        <p:spPr>
          <a:xfrm>
            <a:off x="1928066" y="2722292"/>
            <a:ext cx="6768461" cy="390806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3200" dirty="0" smtClean="0"/>
              <a:t>AWS</a:t>
            </a:r>
          </a:p>
          <a:p>
            <a:pPr algn="l"/>
            <a:r>
              <a:rPr lang="en-US" sz="3200" dirty="0" smtClean="0"/>
              <a:t>AWS-cloud-platform</a:t>
            </a:r>
            <a:endParaRPr lang="en-US" sz="3200" dirty="0"/>
          </a:p>
        </p:txBody>
      </p:sp>
      <p:sp>
        <p:nvSpPr>
          <p:cNvPr id="27" name="Title 1"/>
          <p:cNvSpPr txBox="1">
            <a:spLocks/>
          </p:cNvSpPr>
          <p:nvPr/>
        </p:nvSpPr>
        <p:spPr>
          <a:xfrm>
            <a:off x="1928067" y="3546558"/>
            <a:ext cx="6425543" cy="503071"/>
          </a:xfrm>
          <a:prstGeom prst="rect">
            <a:avLst/>
          </a:prstGeom>
        </p:spPr>
        <p:txBody>
          <a:bodyPr vert="horz" lIns="68580" tIns="34290" rIns="68580" bIns="34290" rtlCol="0" anchor="b">
            <a:normAutofit fontScale="97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300" dirty="0">
                <a:solidFill>
                  <a:srgbClr val="0070C0"/>
                </a:solidFill>
              </a:rPr>
              <a:t>.</a:t>
            </a:r>
            <a:endParaRPr lang="en-US" sz="3300" b="1" dirty="0"/>
          </a:p>
        </p:txBody>
      </p:sp>
      <p:sp>
        <p:nvSpPr>
          <p:cNvPr id="3" name="Rectangle 2"/>
          <p:cNvSpPr/>
          <p:nvPr/>
        </p:nvSpPr>
        <p:spPr>
          <a:xfrm>
            <a:off x="6152941" y="4612787"/>
            <a:ext cx="3204723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00" dirty="0"/>
              <a:t>https://github.com/amelcharolinesgn2/Cloud-Infrastructures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20344" y="4785911"/>
            <a:ext cx="3839513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00" dirty="0"/>
              <a:t>https://github.com/amelcharolinesgn2/ClouD-Infrastructure-SISKA-2025</a:t>
            </a:r>
          </a:p>
        </p:txBody>
      </p:sp>
    </p:spTree>
    <p:extLst>
      <p:ext uri="{BB962C8B-B14F-4D97-AF65-F5344CB8AC3E}">
        <p14:creationId xmlns:p14="http://schemas.microsoft.com/office/powerpoint/2010/main" val="28642243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9097" y="173420"/>
            <a:ext cx="2847992" cy="152810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952" y="2373276"/>
            <a:ext cx="2824145" cy="217967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8760" y="2203236"/>
            <a:ext cx="2398329" cy="234971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0" y="2552858"/>
            <a:ext cx="2070882" cy="1820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7575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3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573" y="115904"/>
            <a:ext cx="2822693" cy="218255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34573" y="2298461"/>
            <a:ext cx="2822693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/>
              <a:t>IaaS are virtual </a:t>
            </a:r>
            <a:r>
              <a:rPr lang="en-US" b="1" dirty="0">
                <a:solidFill>
                  <a:srgbClr val="0070C0"/>
                </a:solidFill>
              </a:rPr>
              <a:t>Machines</a:t>
            </a:r>
            <a:r>
              <a:rPr lang="en-US" dirty="0"/>
              <a:t> or </a:t>
            </a:r>
            <a:r>
              <a:rPr lang="en-US" b="1" dirty="0">
                <a:solidFill>
                  <a:srgbClr val="0070C0"/>
                </a:solidFill>
              </a:rPr>
              <a:t>AWS EC2</a:t>
            </a:r>
            <a:r>
              <a:rPr lang="en-US" dirty="0"/>
              <a:t>, Storage or Networking. </a:t>
            </a:r>
          </a:p>
        </p:txBody>
      </p:sp>
      <p:sp>
        <p:nvSpPr>
          <p:cNvPr id="7" name="Rectangle 6"/>
          <p:cNvSpPr/>
          <p:nvPr/>
        </p:nvSpPr>
        <p:spPr>
          <a:xfrm>
            <a:off x="3057266" y="0"/>
            <a:ext cx="282269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smtClean="0"/>
              <a:t>virtual </a:t>
            </a:r>
            <a:r>
              <a:rPr lang="en-US" b="1" dirty="0" smtClean="0">
                <a:solidFill>
                  <a:srgbClr val="0070C0"/>
                </a:solidFill>
              </a:rPr>
              <a:t>Machines</a:t>
            </a: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3172265" y="369332"/>
            <a:ext cx="4572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Containers (Docker) vs Virtual Machines (VM): Pros, Cons, and Use Cases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593959" y="981611"/>
            <a:ext cx="5395296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Table of </a:t>
            </a:r>
            <a:r>
              <a:rPr lang="en-US" dirty="0" smtClean="0"/>
              <a:t>Contents: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Exploring Virtual Machines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Virtual Machine: Architecture and Benefits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Pros &amp; Cons of VMs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What Are Containers?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How Do Containers Work?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Pros &amp; Cons of Containers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Difference Between Physical Server and VM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Container (Docker) vs Virtual Machine (VM)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Conclusion: What is Better?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Frequently Asked Questions</a:t>
            </a:r>
          </a:p>
        </p:txBody>
      </p:sp>
    </p:spTree>
    <p:extLst>
      <p:ext uri="{BB962C8B-B14F-4D97-AF65-F5344CB8AC3E}">
        <p14:creationId xmlns:p14="http://schemas.microsoft.com/office/powerpoint/2010/main" val="29294331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4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573" y="115904"/>
            <a:ext cx="2822693" cy="218255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34573" y="2298461"/>
            <a:ext cx="2822693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/>
              <a:t>IaaS are virtual </a:t>
            </a:r>
            <a:r>
              <a:rPr lang="en-US" b="1" dirty="0">
                <a:solidFill>
                  <a:srgbClr val="0070C0"/>
                </a:solidFill>
              </a:rPr>
              <a:t>Machines</a:t>
            </a:r>
            <a:r>
              <a:rPr lang="en-US" dirty="0"/>
              <a:t> or </a:t>
            </a:r>
            <a:r>
              <a:rPr lang="en-US" b="1" dirty="0">
                <a:solidFill>
                  <a:srgbClr val="0070C0"/>
                </a:solidFill>
              </a:rPr>
              <a:t>AWS EC2</a:t>
            </a:r>
            <a:r>
              <a:rPr lang="en-US" dirty="0"/>
              <a:t>, Storage or Networking. </a:t>
            </a:r>
          </a:p>
        </p:txBody>
      </p:sp>
      <p:sp>
        <p:nvSpPr>
          <p:cNvPr id="7" name="Rectangle 6"/>
          <p:cNvSpPr/>
          <p:nvPr/>
        </p:nvSpPr>
        <p:spPr>
          <a:xfrm>
            <a:off x="3057266" y="0"/>
            <a:ext cx="282269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b="1" dirty="0" smtClean="0">
                <a:solidFill>
                  <a:srgbClr val="0070C0"/>
                </a:solidFill>
              </a:rPr>
              <a:t>AWS EC2</a:t>
            </a: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3172265" y="369332"/>
            <a:ext cx="4572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AWS EC2 Instance | Steps to Connect Windows EC2 Instance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940148" y="1015663"/>
            <a:ext cx="6049107" cy="43396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dirty="0" smtClean="0"/>
              <a:t>Optimize </a:t>
            </a:r>
            <a:r>
              <a:rPr lang="en-US" sz="1200" dirty="0"/>
              <a:t>your workload performance and cost-effectiveness.</a:t>
            </a:r>
          </a:p>
          <a:p>
            <a:pPr algn="just"/>
            <a:endParaRPr lang="en-US" sz="1200" dirty="0"/>
          </a:p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n-US" sz="1200" dirty="0"/>
              <a:t>General Purpose Instances: These instances are suitable for a wide range of workloads, such as small to medium-sized databases, web servers, and development environments. For example, a t2.micro instance can be used for running a small-scale WordPress website, while an m5.large instance can be used for running a small-scale e-commerce website. Examples of general-purpose instances include t2, m5, and m6g.</a:t>
            </a:r>
          </a:p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n-US" sz="1200" dirty="0"/>
              <a:t>Compute Optimized Instances: These instances are ideal for compute-intensive workloads, such as high-performance computing (HPC), scientific modeling, and data analytics. Examples of compute-optimized instances include c5, c6g, and c6gd.</a:t>
            </a:r>
          </a:p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n-US" sz="1200" dirty="0"/>
              <a:t>Memory Optimized Instances: These instances are designed for workloads that require large amounts of memory, such as in-memory databases, big data processing, and analytics. Examples of memory-optimized instances include r5, r6g, and x1e.</a:t>
            </a:r>
          </a:p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n-US" sz="1200" dirty="0"/>
              <a:t>Storage Optimized Instances: These instances are suitable for storage-intensive workloads that require high disk throughput and low latency, such as data warehousing and log processing. Examples of storage-optimized instances include i3, i3en, and d3.</a:t>
            </a:r>
          </a:p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n-US" sz="1200" dirty="0"/>
              <a:t>GPU Instances: These instances are designed for workloads that require high-performance GPU resources, such as machine learning, deep learning, and graphics rendering. Examples of GPU instances include p3, g4, and inf1.</a:t>
            </a:r>
          </a:p>
          <a:p>
            <a:pPr marL="171450" indent="-171450" algn="just">
              <a:buFont typeface="Wingdings" panose="05000000000000000000" pitchFamily="2" charset="2"/>
              <a:buChar char="ü"/>
            </a:pPr>
            <a:r>
              <a:rPr lang="en-US" sz="1200" dirty="0"/>
              <a:t>High-Performance Computing Instances: These instances are designed for high-performance computing (HPC) workloads that require high network performance and low latency, such as scientific modeling, financial simulations, and engineering simulations. Examples of HPC instances include hpc6id and hpc6a.</a:t>
            </a:r>
          </a:p>
        </p:txBody>
      </p:sp>
    </p:spTree>
    <p:extLst>
      <p:ext uri="{BB962C8B-B14F-4D97-AF65-F5344CB8AC3E}">
        <p14:creationId xmlns:p14="http://schemas.microsoft.com/office/powerpoint/2010/main" val="25175966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7833" y="1596207"/>
            <a:ext cx="7886700" cy="994172"/>
          </a:xfrm>
        </p:spPr>
        <p:txBody>
          <a:bodyPr>
            <a:normAutofit/>
          </a:bodyPr>
          <a:lstStyle/>
          <a:p>
            <a:pPr algn="ctr"/>
            <a:r>
              <a:rPr lang="en-US" b="1" dirty="0"/>
              <a:t>**Amazon Web Services (AWS)**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5</a:t>
            </a:fld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1241" y="2638343"/>
            <a:ext cx="2984109" cy="1994380"/>
          </a:xfrm>
          <a:prstGeom prst="rect">
            <a:avLst/>
          </a:prstGeom>
        </p:spPr>
      </p:pic>
      <p:sp>
        <p:nvSpPr>
          <p:cNvPr id="7" name="Title 1"/>
          <p:cNvSpPr txBox="1">
            <a:spLocks/>
          </p:cNvSpPr>
          <p:nvPr/>
        </p:nvSpPr>
        <p:spPr>
          <a:xfrm>
            <a:off x="7666892" y="154745"/>
            <a:ext cx="1364566" cy="4079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200" b="1" dirty="0" smtClean="0">
                <a:solidFill>
                  <a:srgbClr val="0070C0"/>
                </a:solidFill>
              </a:rPr>
              <a:t>Cloud providers**</a:t>
            </a:r>
            <a:endParaRPr lang="en-US" sz="12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06391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AWS </a:t>
            </a:r>
            <a:r>
              <a:rPr lang="en-US" b="1" dirty="0" err="1"/>
              <a:t>CodeDeploy</a:t>
            </a:r>
            <a:r>
              <a:rPr lang="en-US" b="1" dirty="0"/>
              <a:t>?</a:t>
            </a:r>
            <a:br>
              <a:rPr lang="en-US" b="1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6</a:t>
            </a:fld>
            <a:endParaRPr lang="en-US" dirty="0"/>
          </a:p>
        </p:txBody>
      </p:sp>
      <p:pic>
        <p:nvPicPr>
          <p:cNvPr id="59394" name="Picture 2" descr="aws-code-deploy-06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7175" y="1370013"/>
            <a:ext cx="6089649" cy="3262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31091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7</a:t>
            </a:fld>
            <a:endParaRPr lang="en-US" dirty="0"/>
          </a:p>
        </p:txBody>
      </p:sp>
      <p:sp>
        <p:nvSpPr>
          <p:cNvPr id="7" name="Title 1"/>
          <p:cNvSpPr txBox="1">
            <a:spLocks/>
          </p:cNvSpPr>
          <p:nvPr/>
        </p:nvSpPr>
        <p:spPr>
          <a:xfrm>
            <a:off x="7666892" y="154745"/>
            <a:ext cx="1364566" cy="4079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200" b="1" dirty="0" smtClean="0">
                <a:solidFill>
                  <a:srgbClr val="0070C0"/>
                </a:solidFill>
              </a:rPr>
              <a:t>Cloud providers**</a:t>
            </a:r>
            <a:endParaRPr lang="en-US" sz="1200" dirty="0">
              <a:solidFill>
                <a:srgbClr val="0070C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49382" y="206138"/>
            <a:ext cx="4572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b="1" dirty="0"/>
              <a:t>Creating Virtual Machines on Cloud Platforms: AWS, Azure, and GCP</a:t>
            </a:r>
          </a:p>
        </p:txBody>
      </p:sp>
      <p:sp>
        <p:nvSpPr>
          <p:cNvPr id="9" name="Rectangle 8"/>
          <p:cNvSpPr/>
          <p:nvPr/>
        </p:nvSpPr>
        <p:spPr>
          <a:xfrm>
            <a:off x="249382" y="736635"/>
            <a:ext cx="8091054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AWS (Amazon Web Services)</a:t>
            </a:r>
          </a:p>
          <a:p>
            <a:r>
              <a:rPr lang="en-US" sz="1200" dirty="0"/>
              <a:t>AWS offers a robust and scalable cloud computing environment. The Elastic Compute Cloud (EC2) service is commonly used to create and manage virtual machines.</a:t>
            </a:r>
          </a:p>
          <a:p>
            <a:endParaRPr lang="en-US" sz="1200" dirty="0"/>
          </a:p>
          <a:p>
            <a:r>
              <a:rPr lang="en-US" sz="1200" dirty="0"/>
              <a:t>Step-by-Step Guide to Creating an EC2 Instance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200" dirty="0"/>
              <a:t>Sign in to the AWS Management Console.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200" dirty="0"/>
              <a:t>Navigate to the EC2 Dashboard.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200" dirty="0"/>
              <a:t>Launch Instance</a:t>
            </a:r>
            <a:r>
              <a:rPr lang="en-US" sz="1200" dirty="0" smtClean="0"/>
              <a:t>:  Click </a:t>
            </a:r>
            <a:r>
              <a:rPr lang="en-US" sz="1200" dirty="0"/>
              <a:t>on the “Launch Instance” button.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200" dirty="0"/>
              <a:t>Choose an Amazon Machine Image (AMI</a:t>
            </a:r>
            <a:r>
              <a:rPr lang="en-US" sz="1200" dirty="0" smtClean="0"/>
              <a:t>): Select </a:t>
            </a:r>
            <a:r>
              <a:rPr lang="en-US" sz="1200" dirty="0"/>
              <a:t>an AMI. For this example, we’ll use the Amazon Linux 2 AMI.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200" dirty="0"/>
              <a:t>Choose an Instance Type</a:t>
            </a:r>
            <a:r>
              <a:rPr lang="en-US" sz="1200" dirty="0" smtClean="0"/>
              <a:t>: Select </a:t>
            </a:r>
            <a:r>
              <a:rPr lang="en-US" sz="1200" dirty="0"/>
              <a:t>an instance type. The t2.micro instance is a good choice for beginners.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200" dirty="0"/>
              <a:t>Configure Instance Details</a:t>
            </a:r>
            <a:r>
              <a:rPr lang="en-US" sz="1200" dirty="0" smtClean="0"/>
              <a:t>: Configure </a:t>
            </a:r>
            <a:r>
              <a:rPr lang="en-US" sz="1200" dirty="0"/>
              <a:t>settings like the number of instances, network, and IAM role.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200" dirty="0"/>
              <a:t>Add Storage</a:t>
            </a:r>
            <a:r>
              <a:rPr lang="en-US" sz="1200" dirty="0" smtClean="0"/>
              <a:t>: Specify </a:t>
            </a:r>
            <a:r>
              <a:rPr lang="en-US" sz="1200" dirty="0"/>
              <a:t>the storage size and type.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200" dirty="0"/>
              <a:t>Add Tags</a:t>
            </a:r>
            <a:r>
              <a:rPr lang="en-US" sz="1200" dirty="0" smtClean="0"/>
              <a:t>: Add </a:t>
            </a:r>
            <a:r>
              <a:rPr lang="en-US" sz="1200" dirty="0"/>
              <a:t>tags to organize and manage your instances.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200" dirty="0"/>
              <a:t>Configure Security Group</a:t>
            </a:r>
            <a:r>
              <a:rPr lang="en-US" sz="1200" dirty="0" smtClean="0"/>
              <a:t>: Configure </a:t>
            </a:r>
            <a:r>
              <a:rPr lang="en-US" sz="1200" dirty="0"/>
              <a:t>firewall settings to control traffic to your instance.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200" dirty="0"/>
              <a:t>Review and Launch</a:t>
            </a:r>
            <a:r>
              <a:rPr lang="en-US" sz="1200" dirty="0" smtClean="0"/>
              <a:t>: Review </a:t>
            </a:r>
            <a:r>
              <a:rPr lang="en-US" sz="1200" dirty="0"/>
              <a:t>your settings and click “Launch”. Choose an existing key pair or create a new one for SSH access.</a:t>
            </a:r>
          </a:p>
        </p:txBody>
      </p:sp>
    </p:spTree>
    <p:extLst>
      <p:ext uri="{BB962C8B-B14F-4D97-AF65-F5344CB8AC3E}">
        <p14:creationId xmlns:p14="http://schemas.microsoft.com/office/powerpoint/2010/main" val="38067545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8</a:t>
            </a:fld>
            <a:endParaRPr lang="en-US" dirty="0"/>
          </a:p>
        </p:txBody>
      </p:sp>
      <p:sp>
        <p:nvSpPr>
          <p:cNvPr id="7" name="Title 1"/>
          <p:cNvSpPr txBox="1">
            <a:spLocks/>
          </p:cNvSpPr>
          <p:nvPr/>
        </p:nvSpPr>
        <p:spPr>
          <a:xfrm>
            <a:off x="7666892" y="154745"/>
            <a:ext cx="1364566" cy="4079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200" b="1" dirty="0" smtClean="0">
                <a:solidFill>
                  <a:srgbClr val="0070C0"/>
                </a:solidFill>
              </a:rPr>
              <a:t>Cloud providers**</a:t>
            </a:r>
            <a:endParaRPr lang="en-US" sz="1200" dirty="0">
              <a:solidFill>
                <a:srgbClr val="0070C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49382" y="206138"/>
            <a:ext cx="4572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b="1" dirty="0"/>
              <a:t>Creating Virtual Machines on Cloud Platforms: AWS, Azure, and GCP</a:t>
            </a:r>
          </a:p>
        </p:txBody>
      </p:sp>
    </p:spTree>
    <p:extLst>
      <p:ext uri="{BB962C8B-B14F-4D97-AF65-F5344CB8AC3E}">
        <p14:creationId xmlns:p14="http://schemas.microsoft.com/office/powerpoint/2010/main" val="23371165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7833" y="1596207"/>
            <a:ext cx="7886700" cy="994172"/>
          </a:xfrm>
        </p:spPr>
        <p:txBody>
          <a:bodyPr>
            <a:normAutofit/>
          </a:bodyPr>
          <a:lstStyle/>
          <a:p>
            <a:pPr algn="ctr"/>
            <a:r>
              <a:rPr lang="en-US" b="1" dirty="0"/>
              <a:t>**Amazon Web Services (AWS)**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9</a:t>
            </a:fld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1241" y="2638343"/>
            <a:ext cx="2984109" cy="1994380"/>
          </a:xfrm>
          <a:prstGeom prst="rect">
            <a:avLst/>
          </a:prstGeom>
        </p:spPr>
      </p:pic>
      <p:sp>
        <p:nvSpPr>
          <p:cNvPr id="7" name="Title 1"/>
          <p:cNvSpPr txBox="1">
            <a:spLocks/>
          </p:cNvSpPr>
          <p:nvPr/>
        </p:nvSpPr>
        <p:spPr>
          <a:xfrm>
            <a:off x="7666892" y="154745"/>
            <a:ext cx="1364566" cy="4079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200" b="1" dirty="0" smtClean="0">
                <a:solidFill>
                  <a:srgbClr val="0070C0"/>
                </a:solidFill>
              </a:rPr>
              <a:t>Cloud providers**</a:t>
            </a:r>
            <a:endParaRPr lang="en-US" sz="12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71190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7833" y="1596207"/>
            <a:ext cx="7886700" cy="994172"/>
          </a:xfrm>
        </p:spPr>
        <p:txBody>
          <a:bodyPr>
            <a:normAutofit/>
          </a:bodyPr>
          <a:lstStyle/>
          <a:p>
            <a:pPr algn="ctr"/>
            <a:r>
              <a:rPr lang="en-US" b="1" dirty="0"/>
              <a:t>**Amazon Web Services (AWS)**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10</a:t>
            </a:fld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1241" y="2638343"/>
            <a:ext cx="2984109" cy="1994380"/>
          </a:xfrm>
          <a:prstGeom prst="rect">
            <a:avLst/>
          </a:prstGeom>
        </p:spPr>
      </p:pic>
      <p:sp>
        <p:nvSpPr>
          <p:cNvPr id="7" name="Title 1"/>
          <p:cNvSpPr txBox="1">
            <a:spLocks/>
          </p:cNvSpPr>
          <p:nvPr/>
        </p:nvSpPr>
        <p:spPr>
          <a:xfrm>
            <a:off x="7666892" y="154745"/>
            <a:ext cx="1364566" cy="4079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200" b="1" dirty="0" smtClean="0">
                <a:solidFill>
                  <a:srgbClr val="0070C0"/>
                </a:solidFill>
              </a:rPr>
              <a:t>Cloud providers**</a:t>
            </a:r>
            <a:endParaRPr lang="en-US" sz="12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40739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11</a:t>
            </a:fld>
            <a:endParaRPr lang="en-US" dirty="0"/>
          </a:p>
        </p:txBody>
      </p:sp>
      <p:sp>
        <p:nvSpPr>
          <p:cNvPr id="2" name="Rectangle 1"/>
          <p:cNvSpPr/>
          <p:nvPr/>
        </p:nvSpPr>
        <p:spPr>
          <a:xfrm>
            <a:off x="2286000" y="2248585"/>
            <a:ext cx="4572000" cy="83099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4800" dirty="0" err="1" smtClean="0">
                <a:solidFill>
                  <a:srgbClr val="0070C0"/>
                </a:solidFill>
              </a:rPr>
              <a:t>Mauliate</a:t>
            </a:r>
            <a:r>
              <a:rPr lang="en-US" sz="4800" dirty="0" smtClean="0">
                <a:solidFill>
                  <a:srgbClr val="0070C0"/>
                </a:solidFill>
              </a:rPr>
              <a:t> </a:t>
            </a:r>
            <a:r>
              <a:rPr lang="en-US" sz="4800" dirty="0" err="1" smtClean="0">
                <a:solidFill>
                  <a:srgbClr val="0070C0"/>
                </a:solidFill>
              </a:rPr>
              <a:t>Godang</a:t>
            </a:r>
            <a:endParaRPr lang="en-US" sz="48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19320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729</TotalTime>
  <Words>721</Words>
  <Application>Microsoft Office PowerPoint</Application>
  <PresentationFormat>On-screen Show (16:9)</PresentationFormat>
  <Paragraphs>157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맑은 고딕</vt:lpstr>
      <vt:lpstr>Arial</vt:lpstr>
      <vt:lpstr>Calibri</vt:lpstr>
      <vt:lpstr>Calibri Light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**Amazon Web Services (AWS)**</vt:lpstr>
      <vt:lpstr>AWS CodeDeploy? </vt:lpstr>
      <vt:lpstr>PowerPoint Presentation</vt:lpstr>
      <vt:lpstr>PowerPoint Presentation</vt:lpstr>
      <vt:lpstr>**Amazon Web Services (AWS)**</vt:lpstr>
      <vt:lpstr>**Amazon Web Services (AWS)**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Google Cloud Platform Official Icons and Sample Diagrams</dc:title>
  <dc:subject/>
  <dc:creator>pds</dc:creator>
  <cp:keywords/>
  <dc:description/>
  <cp:lastModifiedBy>Gde</cp:lastModifiedBy>
  <cp:revision>71</cp:revision>
  <dcterms:modified xsi:type="dcterms:W3CDTF">2025-09-11T01:24:33Z</dcterms:modified>
  <cp:category/>
</cp:coreProperties>
</file>