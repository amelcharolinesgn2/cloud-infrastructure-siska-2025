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7" r:id="rId1"/>
  </p:sldMasterIdLst>
  <p:notesMasterIdLst>
    <p:notesMasterId r:id="rId45"/>
  </p:notesMasterIdLst>
  <p:sldIdLst>
    <p:sldId id="370" r:id="rId2"/>
    <p:sldId id="414" r:id="rId3"/>
    <p:sldId id="417" r:id="rId4"/>
    <p:sldId id="371" r:id="rId5"/>
    <p:sldId id="372" r:id="rId6"/>
    <p:sldId id="415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1" r:id="rId15"/>
    <p:sldId id="382" r:id="rId16"/>
    <p:sldId id="383" r:id="rId17"/>
    <p:sldId id="384" r:id="rId18"/>
    <p:sldId id="413" r:id="rId19"/>
    <p:sldId id="386" r:id="rId20"/>
    <p:sldId id="387" r:id="rId21"/>
    <p:sldId id="388" r:id="rId22"/>
    <p:sldId id="389" r:id="rId23"/>
    <p:sldId id="390" r:id="rId24"/>
    <p:sldId id="391" r:id="rId25"/>
    <p:sldId id="41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0" r:id="rId34"/>
    <p:sldId id="401" r:id="rId35"/>
    <p:sldId id="402" r:id="rId36"/>
    <p:sldId id="403" r:id="rId37"/>
    <p:sldId id="404" r:id="rId38"/>
    <p:sldId id="405" r:id="rId39"/>
    <p:sldId id="406" r:id="rId40"/>
    <p:sldId id="407" r:id="rId41"/>
    <p:sldId id="408" r:id="rId42"/>
    <p:sldId id="416" r:id="rId43"/>
    <p:sldId id="41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9626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0943" autoAdjust="0"/>
  </p:normalViewPr>
  <p:slideViewPr>
    <p:cSldViewPr snapToGrid="0">
      <p:cViewPr varScale="1">
        <p:scale>
          <a:sx n="57" d="100"/>
          <a:sy n="57" d="100"/>
        </p:scale>
        <p:origin x="9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D89A-DE75-490E-B3B8-DA645685EB5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2648F-4152-4278-B136-F77E8E2B3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https://docs.openstack.org/liberty/install-guide-rdo/overview.html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28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88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7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2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8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891" y="0"/>
            <a:ext cx="5305425" cy="338137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0421" y="1795824"/>
            <a:ext cx="4804363" cy="1929688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8911525" y="5781051"/>
            <a:ext cx="34850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27402" y="5596385"/>
            <a:ext cx="216459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https://github.com/siagianp</a:t>
            </a:r>
          </a:p>
        </p:txBody>
      </p:sp>
      <p:sp>
        <p:nvSpPr>
          <p:cNvPr id="2" name="Rectangle 1"/>
          <p:cNvSpPr/>
          <p:nvPr/>
        </p:nvSpPr>
        <p:spPr>
          <a:xfrm>
            <a:off x="7609668" y="5965717"/>
            <a:ext cx="48895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</a:t>
            </a:r>
            <a:r>
              <a:rPr lang="en-US" sz="1200" dirty="0" smtClean="0"/>
              <a:t>://github.com/amelcharolinesgn2/IoT_simulator-mqtt-NodeRed</a:t>
            </a:r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743" y="2639596"/>
            <a:ext cx="446086" cy="635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363" y="2655435"/>
            <a:ext cx="613391" cy="582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45" y="2639596"/>
            <a:ext cx="599662" cy="577554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3138827" y="3783967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600" b="1" dirty="0" smtClean="0">
                <a:solidFill>
                  <a:srgbClr val="00B050"/>
                </a:solidFill>
              </a:rPr>
              <a:t>Choosing</a:t>
            </a:r>
          </a:p>
          <a:p>
            <a:pPr algn="l"/>
            <a:r>
              <a:rPr lang="en-US" sz="14400" b="1" dirty="0" smtClean="0">
                <a:solidFill>
                  <a:srgbClr val="7030A0"/>
                </a:solidFill>
              </a:rPr>
              <a:t>Cloud providers</a:t>
            </a:r>
            <a:endParaRPr lang="en-US" sz="14400" dirty="0">
              <a:solidFill>
                <a:srgbClr val="7030A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93790" y="6196549"/>
            <a:ext cx="4698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200" dirty="0"/>
              <a:t>https://</a:t>
            </a:r>
            <a:r>
              <a:rPr lang="en-US" sz="1200" dirty="0" smtClean="0"/>
              <a:t>github.com/amelcharolinesgn2/Cloud-Infrastructures</a:t>
            </a:r>
          </a:p>
          <a:p>
            <a:pPr algn="r"/>
            <a:r>
              <a:rPr lang="en-US" sz="1200" dirty="0"/>
              <a:t>https://github.com/amelcharolinesgn2/ClouD-Infrastructure-SISKA-2025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1495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Cloud Providers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011" t="26615" r="5784" b="14243"/>
          <a:stretch/>
        </p:blipFill>
        <p:spPr>
          <a:xfrm>
            <a:off x="2819400" y="2269066"/>
            <a:ext cx="6553200" cy="282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4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Service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3867"/>
            <a:ext cx="10066867" cy="55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27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There must a Better Way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2" descr="C:\Users\malbanes.SITE\Dropbox\Temp\cloud_78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360086"/>
            <a:ext cx="5181600" cy="481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64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 of Previous Lectures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We have developed an </a:t>
            </a:r>
            <a:r>
              <a:rPr lang="en-US" dirty="0" smtClean="0">
                <a:solidFill>
                  <a:srgbClr val="FF0000"/>
                </a:solidFill>
              </a:rPr>
              <a:t>understanding of the security issues and countermeasures for cloud computing</a:t>
            </a:r>
          </a:p>
          <a:p>
            <a:pPr lvl="1"/>
            <a:r>
              <a:rPr lang="en-US" dirty="0" smtClean="0"/>
              <a:t>current </a:t>
            </a:r>
            <a:r>
              <a:rPr lang="en-US" dirty="0" smtClean="0">
                <a:solidFill>
                  <a:srgbClr val="0070C0"/>
                </a:solidFill>
              </a:rPr>
              <a:t>cloud service and delivery models</a:t>
            </a:r>
          </a:p>
          <a:p>
            <a:pPr lvl="1"/>
            <a:r>
              <a:rPr lang="en-US" dirty="0" smtClean="0"/>
              <a:t>major outstanding </a:t>
            </a:r>
            <a:r>
              <a:rPr lang="en-US" dirty="0" smtClean="0">
                <a:solidFill>
                  <a:srgbClr val="0070C0"/>
                </a:solidFill>
              </a:rPr>
              <a:t>concerns</a:t>
            </a:r>
          </a:p>
          <a:p>
            <a:pPr lvl="1"/>
            <a:r>
              <a:rPr lang="en-US" dirty="0" smtClean="0"/>
              <a:t>various aspects of </a:t>
            </a:r>
            <a:r>
              <a:rPr lang="en-US" dirty="0" smtClean="0">
                <a:solidFill>
                  <a:srgbClr val="0070C0"/>
                </a:solidFill>
              </a:rPr>
              <a:t>securing the cloud</a:t>
            </a:r>
          </a:p>
          <a:p>
            <a:pPr lvl="2"/>
            <a:r>
              <a:rPr lang="en-US" dirty="0" smtClean="0"/>
              <a:t>architecture, data security, and best practices</a:t>
            </a:r>
          </a:p>
          <a:p>
            <a:pPr lvl="1"/>
            <a:r>
              <a:rPr lang="en-US" dirty="0" smtClean="0"/>
              <a:t>We identified specific </a:t>
            </a:r>
            <a:r>
              <a:rPr lang="en-US" dirty="0" smtClean="0">
                <a:solidFill>
                  <a:srgbClr val="00B050"/>
                </a:solidFill>
              </a:rPr>
              <a:t>criteria to consider when building a private cloud</a:t>
            </a:r>
          </a:p>
          <a:p>
            <a:r>
              <a:rPr lang="en-US" dirty="0" smtClean="0"/>
              <a:t>We now build on that information to detail </a:t>
            </a:r>
            <a:r>
              <a:rPr lang="en-US" dirty="0" smtClean="0">
                <a:solidFill>
                  <a:srgbClr val="FF0000"/>
                </a:solidFill>
              </a:rPr>
              <a:t>security criteria for selecting a public cloud service provider</a:t>
            </a:r>
          </a:p>
          <a:p>
            <a:pPr lvl="1"/>
            <a:r>
              <a:rPr lang="en-US" dirty="0" smtClean="0"/>
              <a:t>The consumer does not need to be operationally concerned with the </a:t>
            </a:r>
            <a:r>
              <a:rPr lang="en-US" dirty="0" smtClean="0">
                <a:solidFill>
                  <a:srgbClr val="7030A0"/>
                </a:solidFill>
              </a:rPr>
              <a:t>details of the underlying cloud infrastructure</a:t>
            </a:r>
          </a:p>
          <a:p>
            <a:pPr lvl="2"/>
            <a:r>
              <a:rPr lang="en-US" dirty="0" smtClean="0"/>
              <a:t>However, there are several open questions for customers that have to do with </a:t>
            </a:r>
            <a:r>
              <a:rPr lang="en-US" dirty="0" smtClean="0">
                <a:solidFill>
                  <a:srgbClr val="0070C0"/>
                </a:solidFill>
              </a:rPr>
              <a:t>security and governance of the cloud service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1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035237" y="3142734"/>
            <a:ext cx="75096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Selecting a CSP: Overview of Assurance</a:t>
            </a:r>
          </a:p>
        </p:txBody>
      </p:sp>
    </p:spTree>
    <p:extLst>
      <p:ext uri="{BB962C8B-B14F-4D97-AF65-F5344CB8AC3E}">
        <p14:creationId xmlns:p14="http://schemas.microsoft.com/office/powerpoint/2010/main" val="50063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Vendor Claims </a:t>
            </a:r>
            <a:r>
              <a:rPr lang="en-US" dirty="0" smtClean="0"/>
              <a:t>&amp; Independent </a:t>
            </a:r>
            <a:r>
              <a:rPr lang="en-US" dirty="0"/>
              <a:t>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When </a:t>
            </a:r>
            <a:r>
              <a:rPr lang="en-US" dirty="0"/>
              <a:t>organizations adopt public clouds, they </a:t>
            </a:r>
            <a:r>
              <a:rPr lang="en-US" i="1" dirty="0">
                <a:solidFill>
                  <a:srgbClr val="FF0000"/>
                </a:solidFill>
              </a:rPr>
              <a:t>do not </a:t>
            </a:r>
            <a:r>
              <a:rPr lang="en-US" i="1" dirty="0" smtClean="0">
                <a:solidFill>
                  <a:srgbClr val="FF0000"/>
                </a:solidFill>
              </a:rPr>
              <a:t>always evaluate </a:t>
            </a:r>
            <a:r>
              <a:rPr lang="en-US" i="1" dirty="0">
                <a:solidFill>
                  <a:srgbClr val="FF0000"/>
                </a:solidFill>
              </a:rPr>
              <a:t>the security of their vendors carefully </a:t>
            </a:r>
            <a:endParaRPr lang="en-US" i="1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On the other side, CSPs have not been </a:t>
            </a:r>
            <a:r>
              <a:rPr lang="en-US" dirty="0"/>
              <a:t>keen on repeatedly incurring the cost of </a:t>
            </a:r>
            <a:r>
              <a:rPr lang="en-US" dirty="0">
                <a:solidFill>
                  <a:srgbClr val="0070C0"/>
                </a:solidFill>
              </a:rPr>
              <a:t>answering </a:t>
            </a:r>
            <a:r>
              <a:rPr lang="en-US" dirty="0" smtClean="0">
                <a:solidFill>
                  <a:srgbClr val="0070C0"/>
                </a:solidFill>
              </a:rPr>
              <a:t>customer’s detailed </a:t>
            </a:r>
            <a:r>
              <a:rPr lang="en-US" dirty="0">
                <a:solidFill>
                  <a:srgbClr val="0070C0"/>
                </a:solidFill>
              </a:rPr>
              <a:t>security </a:t>
            </a:r>
            <a:r>
              <a:rPr lang="en-US" dirty="0" smtClean="0">
                <a:solidFill>
                  <a:srgbClr val="0070C0"/>
                </a:solidFill>
              </a:rPr>
              <a:t>questions</a:t>
            </a:r>
            <a:endParaRPr lang="en-US" dirty="0"/>
          </a:p>
          <a:p>
            <a:pPr lvl="1"/>
            <a:r>
              <a:rPr lang="en-US" dirty="0" smtClean="0"/>
              <a:t>Too </a:t>
            </a:r>
            <a:r>
              <a:rPr lang="en-US" dirty="0"/>
              <a:t>often, a vendor may state that they are SAS70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7030A0"/>
                </a:solidFill>
              </a:rPr>
              <a:t>ISO </a:t>
            </a:r>
            <a:r>
              <a:rPr lang="en-US" dirty="0">
                <a:solidFill>
                  <a:srgbClr val="7030A0"/>
                </a:solidFill>
              </a:rPr>
              <a:t>27002 </a:t>
            </a:r>
            <a:r>
              <a:rPr lang="en-US" i="1" dirty="0" smtClean="0">
                <a:solidFill>
                  <a:srgbClr val="7030A0"/>
                </a:solidFill>
              </a:rPr>
              <a:t>compliant</a:t>
            </a:r>
          </a:p>
          <a:p>
            <a:pPr lvl="2"/>
            <a:r>
              <a:rPr lang="en-US" dirty="0" smtClean="0"/>
              <a:t>Simply stating </a:t>
            </a:r>
            <a:r>
              <a:rPr lang="en-US" dirty="0"/>
              <a:t>that a CSP is compliant only amounts </a:t>
            </a:r>
            <a:r>
              <a:rPr lang="en-US" dirty="0" smtClean="0"/>
              <a:t>to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i="1" dirty="0" smtClean="0">
                <a:solidFill>
                  <a:srgbClr val="00B050"/>
                </a:solidFill>
              </a:rPr>
              <a:t>self-certification</a:t>
            </a:r>
          </a:p>
          <a:p>
            <a:r>
              <a:rPr lang="en-US" dirty="0" smtClean="0"/>
              <a:t>The </a:t>
            </a:r>
            <a:r>
              <a:rPr lang="en-US" dirty="0"/>
              <a:t>increase in </a:t>
            </a:r>
            <a:r>
              <a:rPr lang="en-US" dirty="0">
                <a:solidFill>
                  <a:srgbClr val="FF0000"/>
                </a:solidFill>
              </a:rPr>
              <a:t>third party audits </a:t>
            </a:r>
            <a:r>
              <a:rPr lang="en-US" dirty="0"/>
              <a:t>by some CSPs is a </a:t>
            </a:r>
            <a:r>
              <a:rPr lang="en-US" dirty="0" smtClean="0"/>
              <a:t>positive trend</a:t>
            </a:r>
          </a:p>
          <a:p>
            <a:pPr lvl="1"/>
            <a:r>
              <a:rPr lang="en-US" dirty="0" smtClean="0"/>
              <a:t>But, </a:t>
            </a:r>
            <a:r>
              <a:rPr lang="en-US" dirty="0"/>
              <a:t>these audits are not always performed against </a:t>
            </a:r>
            <a:r>
              <a:rPr lang="en-US" dirty="0">
                <a:solidFill>
                  <a:srgbClr val="0070C0"/>
                </a:solidFill>
              </a:rPr>
              <a:t>common test </a:t>
            </a:r>
            <a:r>
              <a:rPr lang="en-US" dirty="0" smtClean="0">
                <a:solidFill>
                  <a:srgbClr val="0070C0"/>
                </a:solidFill>
              </a:rPr>
              <a:t>sets</a:t>
            </a:r>
          </a:p>
          <a:p>
            <a:pPr lvl="1"/>
            <a:r>
              <a:rPr lang="en-US" dirty="0" smtClean="0"/>
              <a:t>Being </a:t>
            </a:r>
            <a:r>
              <a:rPr lang="en-US" dirty="0"/>
              <a:t>able to </a:t>
            </a:r>
            <a:r>
              <a:rPr lang="en-US" dirty="0" smtClean="0"/>
              <a:t>specify the </a:t>
            </a:r>
            <a:r>
              <a:rPr lang="en-US" i="1" dirty="0">
                <a:solidFill>
                  <a:srgbClr val="7030A0"/>
                </a:solidFill>
              </a:rPr>
              <a:t>controls </a:t>
            </a:r>
            <a:r>
              <a:rPr lang="en-US" dirty="0">
                <a:solidFill>
                  <a:srgbClr val="7030A0"/>
                </a:solidFill>
              </a:rPr>
              <a:t>and </a:t>
            </a:r>
            <a:r>
              <a:rPr lang="en-US" i="1" dirty="0">
                <a:solidFill>
                  <a:srgbClr val="7030A0"/>
                </a:solidFill>
              </a:rPr>
              <a:t>control objectives </a:t>
            </a:r>
            <a:r>
              <a:rPr lang="en-US" dirty="0"/>
              <a:t>that will be verified </a:t>
            </a:r>
            <a:r>
              <a:rPr lang="en-US" dirty="0" smtClean="0"/>
              <a:t>is not </a:t>
            </a:r>
            <a:r>
              <a:rPr lang="en-US" dirty="0"/>
              <a:t>sufficiently </a:t>
            </a:r>
            <a:r>
              <a:rPr lang="en-US" dirty="0" smtClean="0"/>
              <a:t>meaningful when </a:t>
            </a:r>
            <a:r>
              <a:rPr lang="en-US" dirty="0"/>
              <a:t>performing CSP </a:t>
            </a:r>
            <a:r>
              <a:rPr lang="en-US" dirty="0" smtClean="0"/>
              <a:t>comparisons</a:t>
            </a:r>
          </a:p>
          <a:p>
            <a:pPr lvl="1"/>
            <a:r>
              <a:rPr lang="en-US" dirty="0" smtClean="0"/>
              <a:t>What </a:t>
            </a:r>
            <a:r>
              <a:rPr lang="en-US" dirty="0"/>
              <a:t>we want to know is </a:t>
            </a:r>
            <a:endParaRPr lang="en-US" dirty="0" smtClean="0"/>
          </a:p>
          <a:p>
            <a:pPr lvl="2"/>
            <a:r>
              <a:rPr lang="en-US" dirty="0" smtClean="0"/>
              <a:t>Does </a:t>
            </a:r>
            <a:r>
              <a:rPr lang="en-US" dirty="0"/>
              <a:t>a given </a:t>
            </a:r>
            <a:r>
              <a:rPr lang="en-US" dirty="0" smtClean="0"/>
              <a:t>CSP </a:t>
            </a:r>
            <a:r>
              <a:rPr lang="en-US" dirty="0" smtClean="0">
                <a:solidFill>
                  <a:srgbClr val="FF0000"/>
                </a:solidFill>
              </a:rPr>
              <a:t>meet </a:t>
            </a:r>
            <a:r>
              <a:rPr lang="en-US" dirty="0">
                <a:solidFill>
                  <a:srgbClr val="FF0000"/>
                </a:solidFill>
              </a:rPr>
              <a:t>our requirements for </a:t>
            </a:r>
            <a:r>
              <a:rPr lang="en-US" dirty="0" smtClean="0">
                <a:solidFill>
                  <a:srgbClr val="FF0000"/>
                </a:solidFill>
              </a:rPr>
              <a:t>security</a:t>
            </a:r>
            <a:r>
              <a:rPr lang="en-US" dirty="0" smtClean="0"/>
              <a:t>?</a:t>
            </a:r>
          </a:p>
          <a:p>
            <a:pPr lvl="2"/>
            <a:r>
              <a:rPr lang="en-US" dirty="0"/>
              <a:t>H</a:t>
            </a:r>
            <a:r>
              <a:rPr lang="en-US" dirty="0" smtClean="0"/>
              <a:t>ow </a:t>
            </a:r>
            <a:r>
              <a:rPr lang="en-US" dirty="0"/>
              <a:t>do they stack up against other CSPs?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5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Role for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0300" y="1600201"/>
            <a:ext cx="8499100" cy="45259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5000"/>
              </a:lnSpc>
            </a:pPr>
            <a:r>
              <a:rPr lang="en-US" dirty="0"/>
              <a:t>The U.S. federal government has been </a:t>
            </a:r>
            <a:r>
              <a:rPr lang="en-US" i="1" dirty="0" smtClean="0">
                <a:solidFill>
                  <a:srgbClr val="FF0000"/>
                </a:solidFill>
              </a:rPr>
              <a:t>adopting public </a:t>
            </a:r>
            <a:r>
              <a:rPr lang="en-US" i="1" dirty="0">
                <a:solidFill>
                  <a:srgbClr val="FF0000"/>
                </a:solidFill>
              </a:rPr>
              <a:t>cloud computing to process </a:t>
            </a:r>
            <a:r>
              <a:rPr lang="en-US" i="1" dirty="0" smtClean="0">
                <a:solidFill>
                  <a:srgbClr val="FF0000"/>
                </a:solidFill>
              </a:rPr>
              <a:t>non-classified </a:t>
            </a:r>
            <a:r>
              <a:rPr lang="en-US" i="1" dirty="0">
                <a:solidFill>
                  <a:srgbClr val="FF0000"/>
                </a:solidFill>
              </a:rPr>
              <a:t>data </a:t>
            </a:r>
            <a:r>
              <a:rPr lang="en-US" dirty="0" smtClean="0"/>
              <a:t>instead </a:t>
            </a:r>
            <a:r>
              <a:rPr lang="en-US" dirty="0"/>
              <a:t>of building new </a:t>
            </a:r>
            <a:r>
              <a:rPr lang="en-US" dirty="0" smtClean="0"/>
              <a:t>systems</a:t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dirty="0" smtClean="0"/>
              <a:t>NIST, the General </a:t>
            </a:r>
            <a:r>
              <a:rPr lang="en-US" dirty="0"/>
              <a:t>Services Administration (GSA), the Federal </a:t>
            </a:r>
            <a:r>
              <a:rPr lang="en-US" dirty="0" smtClean="0"/>
              <a:t>CIO Council and other entities have </a:t>
            </a:r>
            <a:r>
              <a:rPr lang="en-US" dirty="0">
                <a:solidFill>
                  <a:srgbClr val="0070C0"/>
                </a:solidFill>
              </a:rPr>
              <a:t>addressed the problem of </a:t>
            </a:r>
            <a:r>
              <a:rPr lang="en-US" dirty="0" smtClean="0">
                <a:solidFill>
                  <a:srgbClr val="0070C0"/>
                </a:solidFill>
              </a:rPr>
              <a:t>cloud security </a:t>
            </a:r>
            <a:r>
              <a:rPr lang="en-US" dirty="0">
                <a:solidFill>
                  <a:srgbClr val="0070C0"/>
                </a:solidFill>
              </a:rPr>
              <a:t>assurance from multiple </a:t>
            </a:r>
            <a:r>
              <a:rPr lang="en-US" dirty="0" smtClean="0">
                <a:solidFill>
                  <a:srgbClr val="0070C0"/>
                </a:solidFill>
              </a:rPr>
              <a:t>directions</a:t>
            </a:r>
          </a:p>
          <a:p>
            <a:pPr lvl="1">
              <a:lnSpc>
                <a:spcPct val="115000"/>
              </a:lnSpc>
            </a:pPr>
            <a:r>
              <a:rPr lang="en-US" dirty="0" smtClean="0"/>
              <a:t>These </a:t>
            </a:r>
            <a:r>
              <a:rPr lang="en-US" dirty="0"/>
              <a:t>groups </a:t>
            </a:r>
            <a:r>
              <a:rPr lang="en-US" dirty="0" smtClean="0"/>
              <a:t>have developed </a:t>
            </a:r>
            <a:r>
              <a:rPr lang="en-US" dirty="0"/>
              <a:t>guidelines including the Federal CIO </a:t>
            </a:r>
            <a:r>
              <a:rPr lang="en-US" dirty="0" smtClean="0"/>
              <a:t>Council’s </a:t>
            </a:r>
          </a:p>
          <a:p>
            <a:pPr lvl="2">
              <a:lnSpc>
                <a:spcPct val="115000"/>
              </a:lnSpc>
            </a:pPr>
            <a:r>
              <a:rPr lang="en-US" i="1" dirty="0" smtClean="0">
                <a:solidFill>
                  <a:srgbClr val="7030A0"/>
                </a:solidFill>
              </a:rPr>
              <a:t>Proposed Security Assessment </a:t>
            </a:r>
            <a:r>
              <a:rPr lang="en-US" i="1" dirty="0">
                <a:solidFill>
                  <a:srgbClr val="7030A0"/>
                </a:solidFill>
              </a:rPr>
              <a:t>and Authorization for U.S. Government Cloud </a:t>
            </a:r>
            <a:r>
              <a:rPr lang="en-US" i="1" dirty="0" smtClean="0">
                <a:solidFill>
                  <a:srgbClr val="7030A0"/>
                </a:solidFill>
              </a:rPr>
              <a:t>Computing</a:t>
            </a:r>
          </a:p>
          <a:p>
            <a:pPr>
              <a:lnSpc>
                <a:spcPct val="115000"/>
              </a:lnSpc>
            </a:pPr>
            <a:r>
              <a:rPr lang="en-US" dirty="0"/>
              <a:t>The approach taken by several </a:t>
            </a:r>
            <a:r>
              <a:rPr lang="en-US" dirty="0" smtClean="0"/>
              <a:t>groups is </a:t>
            </a:r>
            <a:r>
              <a:rPr lang="en-US" dirty="0"/>
              <a:t>to either adopt or otherwise leverage </a:t>
            </a:r>
            <a:r>
              <a:rPr lang="en-US" b="1" dirty="0"/>
              <a:t>NIST 800-53 </a:t>
            </a:r>
            <a:r>
              <a:rPr lang="en-US" dirty="0"/>
              <a:t>(</a:t>
            </a:r>
            <a:r>
              <a:rPr lang="en-US" i="1" dirty="0">
                <a:solidFill>
                  <a:srgbClr val="7030A0"/>
                </a:solidFill>
              </a:rPr>
              <a:t>Recommended Security </a:t>
            </a:r>
            <a:r>
              <a:rPr lang="en-US" i="1" dirty="0" smtClean="0">
                <a:solidFill>
                  <a:srgbClr val="7030A0"/>
                </a:solidFill>
              </a:rPr>
              <a:t>Controls for </a:t>
            </a:r>
            <a:r>
              <a:rPr lang="en-US" i="1" dirty="0">
                <a:solidFill>
                  <a:srgbClr val="7030A0"/>
                </a:solidFill>
              </a:rPr>
              <a:t>Federal Information </a:t>
            </a:r>
            <a:r>
              <a:rPr lang="en-US" i="1" dirty="0" smtClean="0">
                <a:solidFill>
                  <a:srgbClr val="7030A0"/>
                </a:solidFill>
              </a:rPr>
              <a:t>Systems and Organizations</a:t>
            </a:r>
            <a:r>
              <a:rPr lang="en-US" dirty="0" smtClean="0"/>
              <a:t>) or similar controls</a:t>
            </a:r>
          </a:p>
          <a:p>
            <a:pPr lvl="1">
              <a:lnSpc>
                <a:spcPct val="115000"/>
              </a:lnSpc>
            </a:pPr>
            <a:r>
              <a:rPr lang="en-US" dirty="0" smtClean="0"/>
              <a:t>The goal is to define </a:t>
            </a:r>
            <a:r>
              <a:rPr lang="en-US" dirty="0"/>
              <a:t>a </a:t>
            </a:r>
            <a:r>
              <a:rPr lang="en-US" dirty="0" smtClean="0">
                <a:solidFill>
                  <a:srgbClr val="00B050"/>
                </a:solidFill>
              </a:rPr>
              <a:t>security baseline </a:t>
            </a:r>
            <a:r>
              <a:rPr lang="en-US" dirty="0">
                <a:solidFill>
                  <a:srgbClr val="00B050"/>
                </a:solidFill>
              </a:rPr>
              <a:t>or benchmarks</a:t>
            </a:r>
            <a:r>
              <a:rPr lang="en-US" dirty="0"/>
              <a:t> for assessing the security of a cloud implementation </a:t>
            </a:r>
            <a:r>
              <a:rPr lang="en-US" dirty="0" smtClean="0"/>
              <a:t>or service</a:t>
            </a:r>
            <a:endParaRPr lang="en-US" i="1" dirty="0" smtClean="0"/>
          </a:p>
          <a:p>
            <a:pPr lvl="1">
              <a:lnSpc>
                <a:spcPct val="115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7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dirty="0"/>
              <a:t>Information Security Management </a:t>
            </a:r>
            <a:r>
              <a:rPr lang="en-US" sz="3100" dirty="0"/>
              <a:t>Systems (1/3)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0300" y="1600201"/>
            <a:ext cx="8270500" cy="45259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0070C0"/>
                </a:solidFill>
              </a:rPr>
              <a:t>Information </a:t>
            </a:r>
            <a:r>
              <a:rPr lang="en-US" dirty="0" smtClean="0">
                <a:solidFill>
                  <a:srgbClr val="0070C0"/>
                </a:solidFill>
              </a:rPr>
              <a:t>Security Management Systems </a:t>
            </a:r>
            <a:r>
              <a:rPr lang="en-US" dirty="0">
                <a:solidFill>
                  <a:srgbClr val="0070C0"/>
                </a:solidFill>
              </a:rPr>
              <a:t>(ISMS)</a:t>
            </a:r>
            <a:r>
              <a:rPr lang="en-US" dirty="0"/>
              <a:t> are </a:t>
            </a:r>
            <a:r>
              <a:rPr lang="en-US" i="1" dirty="0">
                <a:solidFill>
                  <a:srgbClr val="FF0000"/>
                </a:solidFill>
              </a:rPr>
              <a:t>organizational </a:t>
            </a:r>
            <a:r>
              <a:rPr lang="en-US" i="1" dirty="0" smtClean="0">
                <a:solidFill>
                  <a:srgbClr val="FF0000"/>
                </a:solidFill>
              </a:rPr>
              <a:t>programs whose </a:t>
            </a:r>
            <a:r>
              <a:rPr lang="en-US" i="1" dirty="0">
                <a:solidFill>
                  <a:srgbClr val="FF0000"/>
                </a:solidFill>
              </a:rPr>
              <a:t>scope covers every aspect of policy </a:t>
            </a:r>
            <a:r>
              <a:rPr lang="en-US" dirty="0"/>
              <a:t>through specific security controls </a:t>
            </a:r>
            <a:r>
              <a:rPr lang="en-US" dirty="0" smtClean="0"/>
              <a:t>and procedures 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The </a:t>
            </a:r>
            <a:r>
              <a:rPr lang="en-US" dirty="0"/>
              <a:t>adoption of ISMS has been furthered by </a:t>
            </a:r>
            <a:r>
              <a:rPr lang="en-US" b="1" dirty="0" smtClean="0"/>
              <a:t>ISO/IEC 27002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ISO </a:t>
            </a:r>
            <a:r>
              <a:rPr lang="en-US" dirty="0"/>
              <a:t>27002 outlines </a:t>
            </a:r>
            <a:r>
              <a:rPr lang="en-US" dirty="0">
                <a:solidFill>
                  <a:srgbClr val="00B050"/>
                </a:solidFill>
              </a:rPr>
              <a:t>control objectives and </a:t>
            </a:r>
            <a:r>
              <a:rPr lang="en-US" dirty="0" smtClean="0">
                <a:solidFill>
                  <a:srgbClr val="00B050"/>
                </a:solidFill>
              </a:rPr>
              <a:t>controls</a:t>
            </a:r>
            <a:r>
              <a:rPr lang="en-US" dirty="0" smtClean="0"/>
              <a:t> that should </a:t>
            </a:r>
            <a:r>
              <a:rPr lang="en-US" dirty="0"/>
              <a:t>be implemented to address </a:t>
            </a:r>
            <a:r>
              <a:rPr lang="en-US" dirty="0" smtClean="0"/>
              <a:t>requirements identified </a:t>
            </a:r>
            <a:r>
              <a:rPr lang="en-US" dirty="0"/>
              <a:t>by a risk </a:t>
            </a:r>
            <a:r>
              <a:rPr lang="en-US" dirty="0" smtClean="0"/>
              <a:t>assessment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ISO </a:t>
            </a:r>
            <a:r>
              <a:rPr lang="en-US" b="1" dirty="0">
                <a:solidFill>
                  <a:srgbClr val="7030A0"/>
                </a:solidFill>
              </a:rPr>
              <a:t>27001 </a:t>
            </a:r>
            <a:r>
              <a:rPr lang="en-US" dirty="0" smtClean="0"/>
              <a:t>identifies several </a:t>
            </a:r>
            <a:r>
              <a:rPr lang="en-US" dirty="0"/>
              <a:t>categories of </a:t>
            </a:r>
            <a:r>
              <a:rPr lang="en-US" i="1" dirty="0">
                <a:solidFill>
                  <a:srgbClr val="0070C0"/>
                </a:solidFill>
              </a:rPr>
              <a:t>security control </a:t>
            </a:r>
            <a:r>
              <a:rPr lang="en-US" i="1" dirty="0" smtClean="0">
                <a:solidFill>
                  <a:srgbClr val="0070C0"/>
                </a:solidFill>
              </a:rPr>
              <a:t>objectives</a:t>
            </a:r>
            <a:endParaRPr lang="en-US" i="1" dirty="0">
              <a:solidFill>
                <a:srgbClr val="0070C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b="1" dirty="0"/>
              <a:t>Security Policy</a:t>
            </a:r>
            <a:r>
              <a:rPr lang="en-US" dirty="0"/>
              <a:t> </a:t>
            </a:r>
            <a:endParaRPr lang="en-US" dirty="0" smtClean="0"/>
          </a:p>
          <a:p>
            <a:pPr lvl="2">
              <a:lnSpc>
                <a:spcPct val="110000"/>
              </a:lnSpc>
            </a:pPr>
            <a:r>
              <a:rPr lang="en-US" dirty="0" smtClean="0"/>
              <a:t>The policy should </a:t>
            </a:r>
            <a:r>
              <a:rPr lang="en-US" dirty="0"/>
              <a:t>be </a:t>
            </a:r>
            <a:r>
              <a:rPr lang="en-US" dirty="0">
                <a:solidFill>
                  <a:srgbClr val="FF0000"/>
                </a:solidFill>
              </a:rPr>
              <a:t>consistent with business objectives </a:t>
            </a:r>
            <a:r>
              <a:rPr lang="en-US" dirty="0"/>
              <a:t>and meet business requirements</a:t>
            </a:r>
            <a:r>
              <a:rPr lang="en-US" dirty="0" smtClean="0"/>
              <a:t>, and </a:t>
            </a:r>
            <a:r>
              <a:rPr lang="en-US" dirty="0"/>
              <a:t>it should comply with laws and </a:t>
            </a:r>
            <a:r>
              <a:rPr lang="en-US" dirty="0" smtClean="0"/>
              <a:t>regulations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b="1" dirty="0" smtClean="0"/>
              <a:t>Organization </a:t>
            </a:r>
            <a:r>
              <a:rPr lang="en-US" b="1" dirty="0"/>
              <a:t>of Information Security</a:t>
            </a:r>
            <a:r>
              <a:rPr lang="en-US" dirty="0"/>
              <a:t> </a:t>
            </a:r>
            <a:endParaRPr lang="en-US" dirty="0" smtClean="0"/>
          </a:p>
          <a:p>
            <a:pPr lvl="2">
              <a:lnSpc>
                <a:spcPct val="110000"/>
              </a:lnSpc>
            </a:pPr>
            <a:r>
              <a:rPr lang="en-US" dirty="0" smtClean="0"/>
              <a:t>A </a:t>
            </a:r>
            <a:r>
              <a:rPr lang="en-US" dirty="0"/>
              <a:t>management </a:t>
            </a:r>
            <a:r>
              <a:rPr lang="en-US" dirty="0">
                <a:solidFill>
                  <a:srgbClr val="FF0000"/>
                </a:solidFill>
              </a:rPr>
              <a:t>framework </a:t>
            </a:r>
            <a:r>
              <a:rPr lang="en-US" dirty="0" smtClean="0">
                <a:solidFill>
                  <a:srgbClr val="FF0000"/>
                </a:solidFill>
              </a:rPr>
              <a:t>to implement </a:t>
            </a:r>
            <a:r>
              <a:rPr lang="en-US" dirty="0">
                <a:solidFill>
                  <a:srgbClr val="FF0000"/>
                </a:solidFill>
              </a:rPr>
              <a:t>security</a:t>
            </a:r>
            <a:r>
              <a:rPr lang="en-US" dirty="0"/>
              <a:t>, assign security roles, and coordinate </a:t>
            </a:r>
            <a:r>
              <a:rPr lang="en-US" dirty="0" smtClean="0"/>
              <a:t>implementations across </a:t>
            </a:r>
            <a:r>
              <a:rPr lang="en-US" dirty="0"/>
              <a:t>the </a:t>
            </a:r>
            <a:r>
              <a:rPr lang="en-US" dirty="0" smtClean="0"/>
              <a:t>organization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1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dirty="0"/>
              <a:t>Information Security Management </a:t>
            </a:r>
            <a:r>
              <a:rPr lang="en-US" sz="3100" dirty="0"/>
              <a:t>Systems (2/3)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lnSpc>
                <a:spcPct val="108000"/>
              </a:lnSpc>
            </a:pPr>
            <a:r>
              <a:rPr lang="en-US" b="1" dirty="0"/>
              <a:t>Asset Management</a:t>
            </a:r>
            <a:r>
              <a:rPr lang="en-US" dirty="0"/>
              <a:t> </a:t>
            </a:r>
            <a:endParaRPr lang="en-US" dirty="0" smtClean="0"/>
          </a:p>
          <a:p>
            <a:pPr lvl="2">
              <a:lnSpc>
                <a:spcPct val="108000"/>
              </a:lnSpc>
            </a:pPr>
            <a:r>
              <a:rPr lang="en-US" dirty="0" smtClean="0"/>
              <a:t>Establishes </a:t>
            </a:r>
            <a:r>
              <a:rPr lang="en-US" dirty="0"/>
              <a:t>responsibility for and protect </a:t>
            </a:r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organization’s assets</a:t>
            </a:r>
            <a:endParaRPr lang="en-US" dirty="0"/>
          </a:p>
          <a:p>
            <a:pPr lvl="1">
              <a:lnSpc>
                <a:spcPct val="108000"/>
              </a:lnSpc>
            </a:pPr>
            <a:r>
              <a:rPr lang="en-US" b="1" dirty="0" smtClean="0"/>
              <a:t>Human </a:t>
            </a:r>
            <a:r>
              <a:rPr lang="en-US" b="1" dirty="0"/>
              <a:t>Resources</a:t>
            </a:r>
            <a:r>
              <a:rPr lang="en-US" dirty="0"/>
              <a:t> </a:t>
            </a:r>
            <a:endParaRPr lang="en-US" dirty="0" smtClean="0"/>
          </a:p>
          <a:p>
            <a:pPr lvl="2">
              <a:lnSpc>
                <a:spcPct val="108000"/>
              </a:lnSpc>
            </a:pPr>
            <a:r>
              <a:rPr lang="en-US" dirty="0" smtClean="0"/>
              <a:t>This </a:t>
            </a:r>
            <a:r>
              <a:rPr lang="en-US" dirty="0"/>
              <a:t>includes </a:t>
            </a:r>
            <a:r>
              <a:rPr lang="en-US" dirty="0">
                <a:solidFill>
                  <a:srgbClr val="FF0000"/>
                </a:solidFill>
              </a:rPr>
              <a:t>all aspects of personnel</a:t>
            </a:r>
            <a:r>
              <a:rPr lang="en-US" dirty="0"/>
              <a:t>, including contractors </a:t>
            </a:r>
            <a:r>
              <a:rPr lang="en-US" dirty="0" smtClean="0"/>
              <a:t>and third </a:t>
            </a:r>
            <a:r>
              <a:rPr lang="en-US" dirty="0"/>
              <a:t>party users, as well as all phases of </a:t>
            </a:r>
            <a:r>
              <a:rPr lang="en-US" dirty="0" smtClean="0"/>
              <a:t>employment</a:t>
            </a:r>
            <a:endParaRPr lang="en-US" dirty="0"/>
          </a:p>
          <a:p>
            <a:pPr lvl="1">
              <a:lnSpc>
                <a:spcPct val="108000"/>
              </a:lnSpc>
            </a:pPr>
            <a:r>
              <a:rPr lang="en-US" b="1" dirty="0" smtClean="0"/>
              <a:t>Physical </a:t>
            </a:r>
            <a:r>
              <a:rPr lang="en-US" b="1" dirty="0"/>
              <a:t>and Environmental Security</a:t>
            </a:r>
            <a:r>
              <a:rPr lang="en-US" dirty="0"/>
              <a:t> </a:t>
            </a:r>
            <a:endParaRPr lang="en-US" dirty="0" smtClean="0"/>
          </a:p>
          <a:p>
            <a:pPr lvl="2">
              <a:lnSpc>
                <a:spcPct val="108000"/>
              </a:lnSpc>
            </a:pPr>
            <a:r>
              <a:rPr lang="en-US" dirty="0" smtClean="0"/>
              <a:t>This </a:t>
            </a:r>
            <a:r>
              <a:rPr lang="en-US" dirty="0"/>
              <a:t>involves every aspect of ensuring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controlled </a:t>
            </a:r>
            <a:r>
              <a:rPr lang="en-US" dirty="0">
                <a:solidFill>
                  <a:srgbClr val="FF0000"/>
                </a:solidFill>
              </a:rPr>
              <a:t>and protected environment </a:t>
            </a:r>
            <a:r>
              <a:rPr lang="en-US" dirty="0"/>
              <a:t>for information facilities and </a:t>
            </a:r>
            <a:r>
              <a:rPr lang="en-US" dirty="0" smtClean="0"/>
              <a:t>equipment</a:t>
            </a:r>
            <a:endParaRPr lang="en-US" dirty="0"/>
          </a:p>
          <a:p>
            <a:pPr lvl="1">
              <a:lnSpc>
                <a:spcPct val="108000"/>
              </a:lnSpc>
            </a:pPr>
            <a:r>
              <a:rPr lang="en-US" b="1" dirty="0" smtClean="0"/>
              <a:t>Communications </a:t>
            </a:r>
            <a:r>
              <a:rPr lang="en-US" b="1" dirty="0"/>
              <a:t>and Operations Management</a:t>
            </a:r>
            <a:r>
              <a:rPr lang="en-US" dirty="0"/>
              <a:t> </a:t>
            </a:r>
            <a:endParaRPr lang="en-US" dirty="0" smtClean="0"/>
          </a:p>
          <a:p>
            <a:pPr lvl="2">
              <a:lnSpc>
                <a:spcPct val="108000"/>
              </a:lnSpc>
            </a:pPr>
            <a:r>
              <a:rPr lang="en-US" dirty="0" smtClean="0"/>
              <a:t>Defines </a:t>
            </a:r>
            <a:r>
              <a:rPr lang="en-US" dirty="0">
                <a:solidFill>
                  <a:srgbClr val="FF0000"/>
                </a:solidFill>
              </a:rPr>
              <a:t>responsibilities </a:t>
            </a:r>
            <a:r>
              <a:rPr lang="en-US" dirty="0" smtClean="0">
                <a:solidFill>
                  <a:srgbClr val="FF0000"/>
                </a:solidFill>
              </a:rPr>
              <a:t>for information </a:t>
            </a:r>
            <a:r>
              <a:rPr lang="en-US" dirty="0">
                <a:solidFill>
                  <a:srgbClr val="FF0000"/>
                </a:solidFill>
              </a:rPr>
              <a:t>processing facilities</a:t>
            </a:r>
            <a:r>
              <a:rPr lang="en-US" dirty="0"/>
              <a:t> and </a:t>
            </a:r>
            <a:r>
              <a:rPr lang="en-US" dirty="0" smtClean="0"/>
              <a:t>establishes </a:t>
            </a:r>
            <a:r>
              <a:rPr lang="en-US" dirty="0"/>
              <a:t>procedures for their </a:t>
            </a:r>
            <a:r>
              <a:rPr lang="en-US" dirty="0" smtClean="0"/>
              <a:t>operation and control	</a:t>
            </a:r>
          </a:p>
          <a:p>
            <a:pPr lvl="1">
              <a:lnSpc>
                <a:spcPct val="108000"/>
              </a:lnSpc>
            </a:pPr>
            <a:r>
              <a:rPr lang="en-US" b="1" dirty="0"/>
              <a:t>Access Control</a:t>
            </a:r>
            <a:r>
              <a:rPr lang="en-US" dirty="0"/>
              <a:t> </a:t>
            </a:r>
          </a:p>
          <a:p>
            <a:pPr lvl="2">
              <a:lnSpc>
                <a:spcPct val="108000"/>
              </a:lnSpc>
            </a:pPr>
            <a:r>
              <a:rPr lang="en-US" dirty="0" smtClean="0"/>
              <a:t>Controls </a:t>
            </a:r>
            <a:r>
              <a:rPr lang="en-US" dirty="0">
                <a:solidFill>
                  <a:srgbClr val="FF0000"/>
                </a:solidFill>
              </a:rPr>
              <a:t>access to information </a:t>
            </a:r>
            <a:r>
              <a:rPr lang="en-US" dirty="0"/>
              <a:t>and </a:t>
            </a:r>
            <a:r>
              <a:rPr lang="en-US" dirty="0" smtClean="0"/>
              <a:t>ensures </a:t>
            </a:r>
            <a:r>
              <a:rPr lang="en-US" dirty="0"/>
              <a:t>that controls meet organizational </a:t>
            </a:r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1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dirty="0"/>
              <a:t>Information Security Management </a:t>
            </a:r>
            <a:r>
              <a:rPr lang="en-US" sz="3100" dirty="0"/>
              <a:t>Systems (3/3)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0300" y="1600200"/>
            <a:ext cx="8270500" cy="4648200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10000"/>
              </a:lnSpc>
            </a:pPr>
            <a:r>
              <a:rPr lang="en-US" b="1" dirty="0" smtClean="0"/>
              <a:t>Systems </a:t>
            </a:r>
            <a:r>
              <a:rPr lang="en-US" b="1" dirty="0"/>
              <a:t>Development and Maintenance</a:t>
            </a:r>
            <a:r>
              <a:rPr lang="en-US" dirty="0"/>
              <a:t> </a:t>
            </a:r>
            <a:endParaRPr lang="en-US" dirty="0" smtClean="0"/>
          </a:p>
          <a:p>
            <a:pPr lvl="2">
              <a:lnSpc>
                <a:spcPct val="110000"/>
              </a:lnSpc>
            </a:pPr>
            <a:r>
              <a:rPr lang="en-US" dirty="0" smtClean="0"/>
              <a:t>Identifies security requirements </a:t>
            </a:r>
            <a:r>
              <a:rPr lang="en-US" dirty="0" smtClean="0">
                <a:solidFill>
                  <a:srgbClr val="FF0000"/>
                </a:solidFill>
              </a:rPr>
              <a:t>before </a:t>
            </a:r>
            <a:r>
              <a:rPr lang="en-US" dirty="0">
                <a:solidFill>
                  <a:srgbClr val="FF0000"/>
                </a:solidFill>
              </a:rPr>
              <a:t>starting </a:t>
            </a:r>
            <a:r>
              <a:rPr lang="en-US" dirty="0"/>
              <a:t>the development process or any other aspect of </a:t>
            </a:r>
            <a:r>
              <a:rPr lang="en-US" dirty="0" smtClean="0"/>
              <a:t>implementation or acquisition</a:t>
            </a:r>
          </a:p>
          <a:p>
            <a:pPr lvl="2">
              <a:lnSpc>
                <a:spcPct val="110000"/>
              </a:lnSpc>
            </a:pPr>
            <a:r>
              <a:rPr lang="en-US" dirty="0" smtClean="0"/>
              <a:t>Verifies </a:t>
            </a:r>
            <a:r>
              <a:rPr lang="en-US" dirty="0"/>
              <a:t>that applications and controls </a:t>
            </a:r>
            <a:r>
              <a:rPr lang="en-US" dirty="0">
                <a:solidFill>
                  <a:srgbClr val="FF0000"/>
                </a:solidFill>
              </a:rPr>
              <a:t>operate correctly </a:t>
            </a:r>
            <a:r>
              <a:rPr lang="en-US" dirty="0"/>
              <a:t>and </a:t>
            </a:r>
            <a:r>
              <a:rPr lang="en-US" dirty="0" smtClean="0"/>
              <a:t>are appropriate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b="1" dirty="0" smtClean="0"/>
              <a:t>Information </a:t>
            </a:r>
            <a:r>
              <a:rPr lang="en-US" b="1" dirty="0"/>
              <a:t>Security Incident Management </a:t>
            </a:r>
            <a:endParaRPr lang="en-US" b="1" dirty="0" smtClean="0"/>
          </a:p>
          <a:p>
            <a:pPr lvl="2">
              <a:lnSpc>
                <a:spcPct val="110000"/>
              </a:lnSpc>
            </a:pPr>
            <a:r>
              <a:rPr lang="en-US" dirty="0" smtClean="0"/>
              <a:t>Reports </a:t>
            </a:r>
            <a:r>
              <a:rPr lang="en-US" dirty="0">
                <a:solidFill>
                  <a:srgbClr val="FF0000"/>
                </a:solidFill>
              </a:rPr>
              <a:t>security events</a:t>
            </a:r>
            <a:r>
              <a:rPr lang="en-US" dirty="0" smtClean="0">
                <a:solidFill>
                  <a:srgbClr val="FF0000"/>
                </a:solidFill>
              </a:rPr>
              <a:t>, incidents</a:t>
            </a:r>
            <a:r>
              <a:rPr lang="en-US" dirty="0">
                <a:solidFill>
                  <a:srgbClr val="FF0000"/>
                </a:solidFill>
              </a:rPr>
              <a:t>, and </a:t>
            </a:r>
            <a:r>
              <a:rPr lang="en-US" dirty="0" smtClean="0">
                <a:solidFill>
                  <a:srgbClr val="FF0000"/>
                </a:solidFill>
              </a:rPr>
              <a:t>weaknesses</a:t>
            </a:r>
          </a:p>
          <a:p>
            <a:pPr lvl="2">
              <a:lnSpc>
                <a:spcPct val="110000"/>
              </a:lnSpc>
            </a:pPr>
            <a:r>
              <a:rPr lang="en-US" dirty="0" smtClean="0"/>
              <a:t>Establishes </a:t>
            </a:r>
            <a:r>
              <a:rPr lang="en-US" dirty="0"/>
              <a:t>formal processes and procedures </a:t>
            </a:r>
            <a:r>
              <a:rPr lang="en-US" dirty="0" smtClean="0"/>
              <a:t>for </a:t>
            </a:r>
            <a:r>
              <a:rPr lang="en-US" dirty="0" smtClean="0">
                <a:solidFill>
                  <a:srgbClr val="FF0000"/>
                </a:solidFill>
              </a:rPr>
              <a:t>managing incidents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b="1" dirty="0" smtClean="0"/>
              <a:t>Business </a:t>
            </a:r>
            <a:r>
              <a:rPr lang="en-US" b="1" dirty="0"/>
              <a:t>Continuity Management</a:t>
            </a:r>
            <a:r>
              <a:rPr lang="en-US" dirty="0"/>
              <a:t> </a:t>
            </a:r>
            <a:endParaRPr lang="en-US" dirty="0" smtClean="0"/>
          </a:p>
          <a:p>
            <a:pPr lvl="2">
              <a:lnSpc>
                <a:spcPct val="110000"/>
              </a:lnSpc>
            </a:pPr>
            <a:r>
              <a:rPr lang="en-US" dirty="0" smtClean="0"/>
              <a:t>Establishes </a:t>
            </a:r>
            <a:r>
              <a:rPr lang="en-US" dirty="0"/>
              <a:t>and use a </a:t>
            </a:r>
            <a:r>
              <a:rPr lang="en-US" dirty="0">
                <a:solidFill>
                  <a:srgbClr val="FF0000"/>
                </a:solidFill>
              </a:rPr>
              <a:t>business </a:t>
            </a:r>
            <a:r>
              <a:rPr lang="en-US" dirty="0" smtClean="0">
                <a:solidFill>
                  <a:srgbClr val="FF0000"/>
                </a:solidFill>
              </a:rPr>
              <a:t>continuity management </a:t>
            </a:r>
            <a:r>
              <a:rPr lang="en-US" dirty="0">
                <a:solidFill>
                  <a:srgbClr val="FF0000"/>
                </a:solidFill>
              </a:rPr>
              <a:t>process </a:t>
            </a:r>
            <a:r>
              <a:rPr lang="en-US" dirty="0"/>
              <a:t>to counteract interruptions and protect critical </a:t>
            </a:r>
            <a:r>
              <a:rPr lang="en-US" dirty="0" smtClean="0"/>
              <a:t>processes</a:t>
            </a:r>
          </a:p>
          <a:p>
            <a:pPr lvl="1">
              <a:lnSpc>
                <a:spcPct val="110000"/>
              </a:lnSpc>
            </a:pPr>
            <a:r>
              <a:rPr lang="en-US" b="1" dirty="0" smtClean="0"/>
              <a:t>Compliance </a:t>
            </a:r>
          </a:p>
          <a:p>
            <a:pPr lvl="2">
              <a:lnSpc>
                <a:spcPct val="110000"/>
              </a:lnSpc>
            </a:pPr>
            <a:r>
              <a:rPr lang="en-US" dirty="0" smtClean="0"/>
              <a:t>Ensures compliance </a:t>
            </a:r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legal and regulatory </a:t>
            </a:r>
            <a:r>
              <a:rPr lang="en-US" dirty="0" smtClean="0">
                <a:solidFill>
                  <a:srgbClr val="FF0000"/>
                </a:solidFill>
              </a:rPr>
              <a:t>requirements</a:t>
            </a:r>
          </a:p>
          <a:p>
            <a:pPr>
              <a:lnSpc>
                <a:spcPct val="110000"/>
              </a:lnSpc>
            </a:pPr>
            <a:r>
              <a:rPr lang="en-US" dirty="0"/>
              <a:t>The ISO 27000 series recognizes that </a:t>
            </a:r>
            <a:r>
              <a:rPr lang="en-US" i="1" dirty="0">
                <a:solidFill>
                  <a:srgbClr val="0070C0"/>
                </a:solidFill>
              </a:rPr>
              <a:t>people, processes, and technology </a:t>
            </a:r>
            <a:r>
              <a:rPr lang="en-US" i="1" dirty="0" smtClean="0">
                <a:solidFill>
                  <a:srgbClr val="0070C0"/>
                </a:solidFill>
              </a:rPr>
              <a:t>are equally </a:t>
            </a:r>
            <a:r>
              <a:rPr lang="en-US" i="1" dirty="0">
                <a:solidFill>
                  <a:srgbClr val="0070C0"/>
                </a:solidFill>
              </a:rPr>
              <a:t>important aspects of effective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8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</a:t>
            </a:r>
            <a:r>
              <a:rPr lang="en-US" dirty="0" smtClean="0"/>
              <a:t>Verification (1/3)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5000"/>
              </a:lnSpc>
            </a:pPr>
            <a:r>
              <a:rPr lang="en-US" dirty="0"/>
              <a:t>Obtaining </a:t>
            </a:r>
            <a:r>
              <a:rPr lang="en-US" dirty="0">
                <a:solidFill>
                  <a:srgbClr val="0070C0"/>
                </a:solidFill>
              </a:rPr>
              <a:t>accreditation</a:t>
            </a:r>
            <a:r>
              <a:rPr lang="en-US" dirty="0"/>
              <a:t> is both </a:t>
            </a:r>
            <a:r>
              <a:rPr lang="en-US" dirty="0">
                <a:solidFill>
                  <a:srgbClr val="FF0000"/>
                </a:solidFill>
              </a:rPr>
              <a:t>time consuming </a:t>
            </a:r>
            <a:r>
              <a:rPr lang="en-US" dirty="0" smtClean="0">
                <a:solidFill>
                  <a:srgbClr val="FF0000"/>
                </a:solidFill>
              </a:rPr>
              <a:t>and expensive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Doing </a:t>
            </a:r>
            <a:r>
              <a:rPr lang="en-US" dirty="0"/>
              <a:t>this is becoming a cost of a CSP doing </a:t>
            </a:r>
            <a:r>
              <a:rPr lang="en-US" dirty="0" smtClean="0"/>
              <a:t>business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dirty="0"/>
              <a:t>Without third party accreditation of vendor security claims, </a:t>
            </a:r>
            <a:r>
              <a:rPr lang="en-US" dirty="0">
                <a:solidFill>
                  <a:srgbClr val="7030A0"/>
                </a:solidFill>
              </a:rPr>
              <a:t>cloud consumers </a:t>
            </a:r>
            <a:r>
              <a:rPr lang="en-US" dirty="0" smtClean="0">
                <a:solidFill>
                  <a:srgbClr val="7030A0"/>
                </a:solidFill>
              </a:rPr>
              <a:t>can only </a:t>
            </a:r>
            <a:r>
              <a:rPr lang="en-US" dirty="0">
                <a:solidFill>
                  <a:srgbClr val="7030A0"/>
                </a:solidFill>
              </a:rPr>
              <a:t>trust that CSPs security claims </a:t>
            </a:r>
            <a:r>
              <a:rPr lang="en-US" dirty="0" smtClean="0">
                <a:solidFill>
                  <a:srgbClr val="7030A0"/>
                </a:solidFill>
              </a:rPr>
              <a:t>are accurate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Public cloud users </a:t>
            </a:r>
            <a:r>
              <a:rPr lang="en-US" dirty="0"/>
              <a:t>do not have the </a:t>
            </a:r>
            <a:r>
              <a:rPr lang="en-US" dirty="0" smtClean="0"/>
              <a:t>ability </a:t>
            </a:r>
            <a:r>
              <a:rPr lang="en-US" dirty="0"/>
              <a:t>to review details of </a:t>
            </a:r>
            <a:r>
              <a:rPr lang="en-US" dirty="0" smtClean="0"/>
              <a:t>the security </a:t>
            </a:r>
            <a:r>
              <a:rPr lang="en-US" dirty="0"/>
              <a:t>implementation, processes, and procedures of a public </a:t>
            </a:r>
            <a:r>
              <a:rPr lang="en-US" dirty="0" smtClean="0"/>
              <a:t>cloud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It is </a:t>
            </a:r>
            <a:r>
              <a:rPr lang="en-US" dirty="0" smtClean="0">
                <a:solidFill>
                  <a:srgbClr val="FF0000"/>
                </a:solidFill>
              </a:rPr>
              <a:t>not </a:t>
            </a:r>
            <a:r>
              <a:rPr lang="en-US" dirty="0">
                <a:solidFill>
                  <a:srgbClr val="FF0000"/>
                </a:solidFill>
              </a:rPr>
              <a:t>prudent </a:t>
            </a:r>
            <a:r>
              <a:rPr lang="en-US" dirty="0"/>
              <a:t>for a CSP to expose technical details of cloud </a:t>
            </a:r>
            <a:r>
              <a:rPr lang="en-US" dirty="0" smtClean="0"/>
              <a:t>security to potential customers, just to </a:t>
            </a:r>
            <a:r>
              <a:rPr lang="en-US" dirty="0"/>
              <a:t>win their </a:t>
            </a:r>
            <a:r>
              <a:rPr lang="en-US" dirty="0" smtClean="0"/>
              <a:t>business</a:t>
            </a:r>
          </a:p>
          <a:p>
            <a:pPr>
              <a:lnSpc>
                <a:spcPct val="105000"/>
              </a:lnSpc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best method of addressing this </a:t>
            </a:r>
            <a:r>
              <a:rPr lang="en-US" dirty="0" smtClean="0"/>
              <a:t>issue is to </a:t>
            </a:r>
            <a:r>
              <a:rPr lang="en-US" dirty="0" smtClean="0">
                <a:solidFill>
                  <a:srgbClr val="0070C0"/>
                </a:solidFill>
              </a:rPr>
              <a:t>place </a:t>
            </a:r>
            <a:r>
              <a:rPr lang="en-US" dirty="0">
                <a:solidFill>
                  <a:srgbClr val="0070C0"/>
                </a:solidFill>
              </a:rPr>
              <a:t>value in trusted third party accreditations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9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Verification </a:t>
            </a:r>
            <a:r>
              <a:rPr lang="en-US" dirty="0" smtClean="0"/>
              <a:t>(2/3)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0300" y="1600200"/>
            <a:ext cx="8575300" cy="4648200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b="1" dirty="0" smtClean="0"/>
              <a:t>SAS70</a:t>
            </a:r>
            <a:r>
              <a:rPr lang="en-US" dirty="0" smtClean="0"/>
              <a:t> (</a:t>
            </a:r>
            <a:r>
              <a:rPr lang="en-US" dirty="0"/>
              <a:t>Statement on Auditing </a:t>
            </a:r>
            <a:r>
              <a:rPr lang="en-US" dirty="0" smtClean="0"/>
              <a:t>Standards No. 70)</a:t>
            </a:r>
            <a:r>
              <a:rPr lang="en-US" b="1" dirty="0" smtClean="0"/>
              <a:t>, Type II 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This </a:t>
            </a:r>
            <a:r>
              <a:rPr lang="en-US" dirty="0"/>
              <a:t>certification focuses on a CSPs infrastructure</a:t>
            </a:r>
            <a:r>
              <a:rPr lang="en-US" dirty="0" smtClean="0"/>
              <a:t>, policies</a:t>
            </a:r>
            <a:r>
              <a:rPr lang="en-US" dirty="0"/>
              <a:t>, and procedures to assure that it </a:t>
            </a:r>
            <a:r>
              <a:rPr lang="en-US" dirty="0">
                <a:solidFill>
                  <a:srgbClr val="FF0000"/>
                </a:solidFill>
              </a:rPr>
              <a:t>follows best practices in </a:t>
            </a:r>
            <a:r>
              <a:rPr lang="en-US" dirty="0" smtClean="0">
                <a:solidFill>
                  <a:srgbClr val="FF0000"/>
                </a:solidFill>
              </a:rPr>
              <a:t>minimizing  the </a:t>
            </a:r>
            <a:r>
              <a:rPr lang="en-US" dirty="0">
                <a:solidFill>
                  <a:srgbClr val="FF0000"/>
                </a:solidFill>
              </a:rPr>
              <a:t>risk of service disruption and to ensure security of </a:t>
            </a:r>
            <a:r>
              <a:rPr lang="en-US" dirty="0" smtClean="0">
                <a:solidFill>
                  <a:srgbClr val="FF0000"/>
                </a:solidFill>
              </a:rPr>
              <a:t>data</a:t>
            </a:r>
            <a:endParaRPr lang="en-US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en-US" b="1" dirty="0"/>
              <a:t>ISO </a:t>
            </a:r>
            <a:r>
              <a:rPr lang="en-US" b="1" dirty="0" smtClean="0"/>
              <a:t>27001/2 </a:t>
            </a:r>
          </a:p>
          <a:p>
            <a:pPr lvl="1">
              <a:lnSpc>
                <a:spcPct val="110000"/>
              </a:lnSpc>
            </a:pPr>
            <a:r>
              <a:rPr lang="en-US" dirty="0" smtClean="0">
                <a:solidFill>
                  <a:srgbClr val="0070C0"/>
                </a:solidFill>
              </a:rPr>
              <a:t>More comprehensive than SAS70</a:t>
            </a:r>
          </a:p>
          <a:p>
            <a:pPr>
              <a:lnSpc>
                <a:spcPct val="110000"/>
              </a:lnSpc>
            </a:pPr>
            <a:r>
              <a:rPr lang="en-US" b="1" dirty="0" smtClean="0"/>
              <a:t>Cloud </a:t>
            </a:r>
            <a:r>
              <a:rPr lang="en-US" b="1" dirty="0"/>
              <a:t>Security Alliance (CSA) </a:t>
            </a:r>
            <a:endParaRPr lang="en-US" b="1" dirty="0" smtClean="0"/>
          </a:p>
          <a:p>
            <a:pPr lvl="1">
              <a:lnSpc>
                <a:spcPct val="110000"/>
              </a:lnSpc>
            </a:pPr>
            <a:r>
              <a:rPr lang="en-US" dirty="0" smtClean="0"/>
              <a:t>In 2010</a:t>
            </a:r>
            <a:r>
              <a:rPr lang="en-US" dirty="0"/>
              <a:t>, CSA revealed an initial </a:t>
            </a:r>
            <a:r>
              <a:rPr lang="en-US" dirty="0" smtClean="0"/>
              <a:t>program for </a:t>
            </a:r>
            <a:r>
              <a:rPr lang="en-US" i="1" dirty="0" smtClean="0">
                <a:solidFill>
                  <a:srgbClr val="0070C0"/>
                </a:solidFill>
              </a:rPr>
              <a:t>accreditation / certification oriented </a:t>
            </a:r>
            <a:r>
              <a:rPr lang="en-US" i="1" dirty="0">
                <a:solidFill>
                  <a:srgbClr val="0070C0"/>
                </a:solidFill>
              </a:rPr>
              <a:t>toward </a:t>
            </a:r>
            <a:r>
              <a:rPr lang="en-US" i="1" dirty="0" smtClean="0">
                <a:solidFill>
                  <a:srgbClr val="0070C0"/>
                </a:solidFill>
              </a:rPr>
              <a:t>certifying competency </a:t>
            </a:r>
            <a:r>
              <a:rPr lang="en-US" i="1" dirty="0">
                <a:solidFill>
                  <a:srgbClr val="0070C0"/>
                </a:solidFill>
              </a:rPr>
              <a:t>in cloud security </a:t>
            </a:r>
            <a:r>
              <a:rPr lang="en-US" i="1" dirty="0" smtClean="0">
                <a:solidFill>
                  <a:srgbClr val="0070C0"/>
                </a:solidFill>
              </a:rPr>
              <a:t>practices</a:t>
            </a:r>
          </a:p>
          <a:p>
            <a:pPr lvl="1">
              <a:lnSpc>
                <a:spcPct val="110000"/>
              </a:lnSpc>
            </a:pP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1" y="5848600"/>
            <a:ext cx="5562599" cy="87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069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Verification </a:t>
            </a:r>
            <a:r>
              <a:rPr lang="en-US" dirty="0" smtClean="0"/>
              <a:t>(3/3)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0300" y="1600200"/>
            <a:ext cx="8575300" cy="4648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PCI </a:t>
            </a:r>
            <a:r>
              <a:rPr lang="en-US" b="1" dirty="0" smtClean="0"/>
              <a:t>DSS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smtClean="0"/>
              <a:t>A </a:t>
            </a:r>
            <a:r>
              <a:rPr lang="en-US" dirty="0"/>
              <a:t>standard developed by the </a:t>
            </a:r>
            <a:r>
              <a:rPr lang="en-US" dirty="0">
                <a:solidFill>
                  <a:srgbClr val="7030A0"/>
                </a:solidFill>
              </a:rPr>
              <a:t>Payment Card Industry</a:t>
            </a:r>
          </a:p>
          <a:p>
            <a:pPr>
              <a:lnSpc>
                <a:spcPct val="110000"/>
              </a:lnSpc>
            </a:pPr>
            <a:r>
              <a:rPr lang="en-US" b="1" dirty="0" smtClean="0"/>
              <a:t>FISMA</a:t>
            </a:r>
            <a:r>
              <a:rPr lang="en-US" dirty="0"/>
              <a:t>, </a:t>
            </a:r>
            <a:r>
              <a:rPr lang="en-US" b="1" dirty="0" err="1"/>
              <a:t>FedRAMP</a:t>
            </a:r>
            <a:r>
              <a:rPr lang="en-US" dirty="0"/>
              <a:t>, and </a:t>
            </a:r>
            <a:r>
              <a:rPr lang="en-US" b="1" dirty="0"/>
              <a:t>NIST </a:t>
            </a:r>
            <a:r>
              <a:rPr lang="en-US" b="1" dirty="0" smtClean="0"/>
              <a:t>800-53</a:t>
            </a:r>
            <a:r>
              <a:rPr lang="en-US" dirty="0" smtClean="0"/>
              <a:t> 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U.S</a:t>
            </a:r>
            <a:r>
              <a:rPr lang="en-US" dirty="0"/>
              <a:t>. </a:t>
            </a:r>
            <a:r>
              <a:rPr lang="en-US" dirty="0" smtClean="0"/>
              <a:t>federal government programs </a:t>
            </a:r>
            <a:r>
              <a:rPr lang="en-US" dirty="0"/>
              <a:t>to measure security for federal IT </a:t>
            </a:r>
            <a:r>
              <a:rPr lang="en-US" dirty="0" smtClean="0"/>
              <a:t>systems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Industry </a:t>
            </a:r>
            <a:r>
              <a:rPr lang="en-US" dirty="0"/>
              <a:t>organizations that set </a:t>
            </a:r>
            <a:r>
              <a:rPr lang="en-US" dirty="0" smtClean="0"/>
              <a:t>standards and provide certifications</a:t>
            </a:r>
          </a:p>
          <a:p>
            <a:pPr lvl="1">
              <a:lnSpc>
                <a:spcPct val="110000"/>
              </a:lnSpc>
            </a:pPr>
            <a:r>
              <a:rPr lang="en-US" b="1" dirty="0" smtClean="0">
                <a:solidFill>
                  <a:srgbClr val="0070C0"/>
                </a:solidFill>
              </a:rPr>
              <a:t>Uptime Institute</a:t>
            </a:r>
          </a:p>
          <a:p>
            <a:pPr lvl="2">
              <a:lnSpc>
                <a:spcPct val="110000"/>
              </a:lnSpc>
            </a:pPr>
            <a:r>
              <a:rPr lang="en-US" i="1" dirty="0" smtClean="0">
                <a:solidFill>
                  <a:srgbClr val="7030A0"/>
                </a:solidFill>
              </a:rPr>
              <a:t>“Provides education, publications, </a:t>
            </a:r>
            <a:r>
              <a:rPr lang="en-US" i="1" dirty="0">
                <a:solidFill>
                  <a:srgbClr val="7030A0"/>
                </a:solidFill>
              </a:rPr>
              <a:t>consulting, certifications, conferences and seminars, independent research, and thought leadership for the enterprise data center industry and for data center </a:t>
            </a:r>
            <a:r>
              <a:rPr lang="en-US" i="1" dirty="0" smtClean="0">
                <a:solidFill>
                  <a:srgbClr val="7030A0"/>
                </a:solidFill>
              </a:rPr>
              <a:t>professionals”</a:t>
            </a:r>
          </a:p>
          <a:p>
            <a:pPr lvl="1"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1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Vendor Transparency (1/3)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Customers of a </a:t>
            </a:r>
            <a:r>
              <a:rPr lang="en-US" dirty="0" smtClean="0"/>
              <a:t>public </a:t>
            </a:r>
            <a:r>
              <a:rPr lang="en-US" dirty="0"/>
              <a:t>cloud service have </a:t>
            </a:r>
            <a:r>
              <a:rPr lang="en-US" i="1" dirty="0">
                <a:solidFill>
                  <a:srgbClr val="0070C0"/>
                </a:solidFill>
              </a:rPr>
              <a:t>expectations that </a:t>
            </a:r>
            <a:r>
              <a:rPr lang="en-US" i="1" dirty="0" smtClean="0">
                <a:solidFill>
                  <a:srgbClr val="0070C0"/>
                </a:solidFill>
              </a:rPr>
              <a:t>the </a:t>
            </a:r>
            <a:r>
              <a:rPr lang="en-US" i="1" dirty="0">
                <a:solidFill>
                  <a:srgbClr val="0070C0"/>
                </a:solidFill>
              </a:rPr>
              <a:t>CSP will offer the appropriate level of security </a:t>
            </a:r>
            <a:r>
              <a:rPr lang="en-US" i="1" dirty="0" smtClean="0">
                <a:solidFill>
                  <a:srgbClr val="0070C0"/>
                </a:solidFill>
              </a:rPr>
              <a:t>and governance </a:t>
            </a:r>
            <a:r>
              <a:rPr lang="en-US" dirty="0" smtClean="0"/>
              <a:t>to protect their data</a:t>
            </a:r>
          </a:p>
          <a:p>
            <a:pPr lvl="1"/>
            <a:r>
              <a:rPr lang="en-US" dirty="0" smtClean="0"/>
              <a:t>Unfortunately, </a:t>
            </a:r>
            <a:r>
              <a:rPr lang="en-US" dirty="0" smtClean="0">
                <a:solidFill>
                  <a:srgbClr val="FF0000"/>
                </a:solidFill>
              </a:rPr>
              <a:t>vendor </a:t>
            </a:r>
            <a:r>
              <a:rPr lang="en-US" dirty="0">
                <a:solidFill>
                  <a:srgbClr val="FF0000"/>
                </a:solidFill>
              </a:rPr>
              <a:t>claims about security are often made without sufficient </a:t>
            </a:r>
            <a:r>
              <a:rPr lang="en-US" dirty="0" smtClean="0">
                <a:solidFill>
                  <a:srgbClr val="FF0000"/>
                </a:solidFill>
              </a:rPr>
              <a:t>justification </a:t>
            </a:r>
            <a:r>
              <a:rPr lang="en-US" dirty="0" smtClean="0"/>
              <a:t>or they may be very vague and generic</a:t>
            </a:r>
            <a:endParaRPr lang="en-US" dirty="0"/>
          </a:p>
          <a:p>
            <a:pPr lvl="1"/>
            <a:r>
              <a:rPr lang="en-US" dirty="0" smtClean="0"/>
              <a:t>CSPs may also </a:t>
            </a:r>
            <a:r>
              <a:rPr lang="en-US" dirty="0" smtClean="0">
                <a:solidFill>
                  <a:srgbClr val="7030A0"/>
                </a:solidFill>
              </a:rPr>
              <a:t>transfer liability </a:t>
            </a:r>
            <a:r>
              <a:rPr lang="en-US" dirty="0">
                <a:solidFill>
                  <a:srgbClr val="7030A0"/>
                </a:solidFill>
              </a:rPr>
              <a:t>to </a:t>
            </a:r>
            <a:r>
              <a:rPr lang="en-US" dirty="0" smtClean="0">
                <a:solidFill>
                  <a:srgbClr val="7030A0"/>
                </a:solidFill>
              </a:rPr>
              <a:t>customers</a:t>
            </a:r>
          </a:p>
          <a:p>
            <a:r>
              <a:rPr lang="en-US" dirty="0" smtClean="0"/>
              <a:t>Customers seek </a:t>
            </a:r>
            <a:r>
              <a:rPr lang="en-US" dirty="0"/>
              <a:t>a degree of understanding of </a:t>
            </a:r>
            <a:r>
              <a:rPr lang="en-US" i="1" dirty="0">
                <a:solidFill>
                  <a:srgbClr val="FF0000"/>
                </a:solidFill>
              </a:rPr>
              <a:t>what the provider actually does </a:t>
            </a:r>
            <a:r>
              <a:rPr lang="en-US" i="1" dirty="0" smtClean="0">
                <a:solidFill>
                  <a:srgbClr val="FF0000"/>
                </a:solidFill>
              </a:rPr>
              <a:t>and would </a:t>
            </a:r>
            <a:r>
              <a:rPr lang="en-US" i="1" dirty="0">
                <a:solidFill>
                  <a:srgbClr val="FF0000"/>
                </a:solidFill>
              </a:rPr>
              <a:t>do under various </a:t>
            </a:r>
            <a:r>
              <a:rPr lang="en-US" i="1" dirty="0" smtClean="0">
                <a:solidFill>
                  <a:srgbClr val="FF0000"/>
                </a:solidFill>
              </a:rPr>
              <a:t>circumstances</a:t>
            </a:r>
          </a:p>
          <a:p>
            <a:r>
              <a:rPr lang="en-US" dirty="0"/>
              <a:t>The term </a:t>
            </a:r>
            <a:r>
              <a:rPr lang="en-US" b="1" dirty="0">
                <a:solidFill>
                  <a:srgbClr val="00B050"/>
                </a:solidFill>
              </a:rPr>
              <a:t>transparency</a:t>
            </a:r>
            <a:r>
              <a:rPr lang="en-US" dirty="0"/>
              <a:t> is used to describe the </a:t>
            </a:r>
            <a:r>
              <a:rPr lang="en-US" i="1" dirty="0">
                <a:solidFill>
                  <a:srgbClr val="0070C0"/>
                </a:solidFill>
              </a:rPr>
              <a:t>degree of visibility into </a:t>
            </a:r>
            <a:r>
              <a:rPr lang="en-US" i="1" dirty="0" smtClean="0">
                <a:solidFill>
                  <a:srgbClr val="0070C0"/>
                </a:solidFill>
              </a:rPr>
              <a:t>security policy </a:t>
            </a:r>
            <a:r>
              <a:rPr lang="en-US" i="1" dirty="0">
                <a:solidFill>
                  <a:srgbClr val="0070C0"/>
                </a:solidFill>
              </a:rPr>
              <a:t>and operations that a CSP offers to its </a:t>
            </a:r>
            <a:r>
              <a:rPr lang="en-US" i="1" dirty="0" smtClean="0">
                <a:solidFill>
                  <a:srgbClr val="0070C0"/>
                </a:solidFill>
              </a:rPr>
              <a:t>customers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Although customers should </a:t>
            </a:r>
            <a:r>
              <a:rPr lang="en-US" dirty="0"/>
              <a:t>not expect a CSP to detail how security is implemented, </a:t>
            </a:r>
            <a:r>
              <a:rPr lang="en-US" dirty="0" smtClean="0"/>
              <a:t>they expect </a:t>
            </a:r>
            <a:r>
              <a:rPr lang="en-US" dirty="0"/>
              <a:t>a CSP to be </a:t>
            </a:r>
            <a:r>
              <a:rPr lang="en-US" i="1" dirty="0">
                <a:solidFill>
                  <a:srgbClr val="00B050"/>
                </a:solidFill>
              </a:rPr>
              <a:t>open and accountable about security </a:t>
            </a:r>
            <a:r>
              <a:rPr lang="en-US" i="1" dirty="0" smtClean="0">
                <a:solidFill>
                  <a:srgbClr val="00B050"/>
                </a:solidFill>
              </a:rPr>
              <a:t>practices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7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Transparency </a:t>
            </a:r>
            <a:r>
              <a:rPr lang="en-US" dirty="0" smtClean="0"/>
              <a:t>(2/3)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Revealing extensive </a:t>
            </a:r>
            <a:r>
              <a:rPr lang="en-US" dirty="0"/>
              <a:t>information about security is </a:t>
            </a:r>
            <a:r>
              <a:rPr lang="en-US" i="1" dirty="0" smtClean="0">
                <a:solidFill>
                  <a:srgbClr val="FF0000"/>
                </a:solidFill>
              </a:rPr>
              <a:t>often prohibited </a:t>
            </a:r>
            <a:r>
              <a:rPr lang="en-US" i="1" dirty="0">
                <a:solidFill>
                  <a:srgbClr val="FF0000"/>
                </a:solidFill>
              </a:rPr>
              <a:t>by </a:t>
            </a:r>
            <a:r>
              <a:rPr lang="en-US" i="1" dirty="0" smtClean="0">
                <a:solidFill>
                  <a:srgbClr val="FF0000"/>
                </a:solidFill>
              </a:rPr>
              <a:t>the organizational security policy</a:t>
            </a:r>
          </a:p>
          <a:p>
            <a:pPr lvl="1"/>
            <a:r>
              <a:rPr lang="en-US" dirty="0"/>
              <a:t>What should be kept </a:t>
            </a:r>
            <a:r>
              <a:rPr lang="en-US" dirty="0" smtClean="0"/>
              <a:t>secret includes </a:t>
            </a:r>
            <a:r>
              <a:rPr lang="en-US" dirty="0" smtClean="0">
                <a:solidFill>
                  <a:srgbClr val="0070C0"/>
                </a:solidFill>
              </a:rPr>
              <a:t>specific </a:t>
            </a:r>
            <a:r>
              <a:rPr lang="en-US" dirty="0">
                <a:solidFill>
                  <a:srgbClr val="0070C0"/>
                </a:solidFill>
              </a:rPr>
              <a:t>implementation </a:t>
            </a:r>
            <a:r>
              <a:rPr lang="en-US" dirty="0" smtClean="0">
                <a:solidFill>
                  <a:srgbClr val="0070C0"/>
                </a:solidFill>
              </a:rPr>
              <a:t>details that could </a:t>
            </a:r>
            <a:r>
              <a:rPr lang="en-US" dirty="0">
                <a:solidFill>
                  <a:srgbClr val="0070C0"/>
                </a:solidFill>
              </a:rPr>
              <a:t>be exploited by a </a:t>
            </a:r>
            <a:r>
              <a:rPr lang="en-US" dirty="0" smtClean="0">
                <a:solidFill>
                  <a:srgbClr val="0070C0"/>
                </a:solidFill>
              </a:rPr>
              <a:t>hacker</a:t>
            </a:r>
          </a:p>
          <a:p>
            <a:r>
              <a:rPr lang="en-US" dirty="0"/>
              <a:t>CSPs should </a:t>
            </a:r>
            <a:r>
              <a:rPr lang="en-US" dirty="0" smtClean="0"/>
              <a:t>disclose enough </a:t>
            </a:r>
            <a:r>
              <a:rPr lang="en-US" dirty="0"/>
              <a:t>information </a:t>
            </a:r>
            <a:r>
              <a:rPr lang="en-US" dirty="0" smtClean="0"/>
              <a:t>to </a:t>
            </a:r>
          </a:p>
          <a:p>
            <a:pPr lvl="1"/>
            <a:r>
              <a:rPr lang="en-US" dirty="0" smtClean="0">
                <a:solidFill>
                  <a:srgbClr val="7030A0"/>
                </a:solidFill>
              </a:rPr>
              <a:t>empower customers/users to make </a:t>
            </a:r>
            <a:r>
              <a:rPr lang="en-US" dirty="0">
                <a:solidFill>
                  <a:srgbClr val="7030A0"/>
                </a:solidFill>
              </a:rPr>
              <a:t>informed </a:t>
            </a:r>
            <a:r>
              <a:rPr lang="en-US" dirty="0" smtClean="0">
                <a:solidFill>
                  <a:srgbClr val="7030A0"/>
                </a:solidFill>
              </a:rPr>
              <a:t>decisions </a:t>
            </a:r>
            <a:r>
              <a:rPr lang="en-US" dirty="0" smtClean="0"/>
              <a:t>about choosing </a:t>
            </a:r>
            <a:r>
              <a:rPr lang="en-US" dirty="0"/>
              <a:t>a </a:t>
            </a:r>
            <a:r>
              <a:rPr lang="en-US" dirty="0" smtClean="0"/>
              <a:t>CSP or implementing </a:t>
            </a:r>
            <a:r>
              <a:rPr lang="en-US" dirty="0"/>
              <a:t>additional security procedures or </a:t>
            </a:r>
            <a:r>
              <a:rPr lang="en-US" dirty="0" smtClean="0"/>
              <a:t>measures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054" y="4231620"/>
            <a:ext cx="8556547" cy="1997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625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Transparency </a:t>
            </a:r>
            <a:r>
              <a:rPr lang="en-US" dirty="0" smtClean="0"/>
              <a:t>(3/3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06000"/>
              </a:lnSpc>
            </a:pPr>
            <a:r>
              <a:rPr lang="en-US" b="1" dirty="0"/>
              <a:t>CSPs Security </a:t>
            </a:r>
            <a:r>
              <a:rPr lang="en-US" b="1" dirty="0" smtClean="0"/>
              <a:t>Policies and Standards </a:t>
            </a:r>
          </a:p>
          <a:p>
            <a:pPr lvl="1">
              <a:lnSpc>
                <a:spcPct val="106000"/>
              </a:lnSpc>
            </a:pPr>
            <a:r>
              <a:rPr lang="en-US" dirty="0" smtClean="0"/>
              <a:t>Sufficient </a:t>
            </a:r>
            <a:r>
              <a:rPr lang="en-US" dirty="0"/>
              <a:t>details </a:t>
            </a:r>
            <a:r>
              <a:rPr lang="en-US" dirty="0" smtClean="0"/>
              <a:t>to </a:t>
            </a:r>
            <a:r>
              <a:rPr lang="en-US" dirty="0"/>
              <a:t>allow customers to </a:t>
            </a:r>
            <a:r>
              <a:rPr lang="en-US" dirty="0" smtClean="0"/>
              <a:t>be </a:t>
            </a:r>
            <a:r>
              <a:rPr lang="en-US" i="1" dirty="0" smtClean="0">
                <a:solidFill>
                  <a:srgbClr val="FF0000"/>
                </a:solidFill>
              </a:rPr>
              <a:t>informed in their security expectations</a:t>
            </a:r>
            <a:endParaRPr lang="en-US" i="1" dirty="0">
              <a:solidFill>
                <a:srgbClr val="FF0000"/>
              </a:solidFill>
            </a:endParaRPr>
          </a:p>
          <a:p>
            <a:pPr>
              <a:lnSpc>
                <a:spcPct val="106000"/>
              </a:lnSpc>
            </a:pPr>
            <a:r>
              <a:rPr lang="en-US" b="1" dirty="0" smtClean="0"/>
              <a:t>Security </a:t>
            </a:r>
            <a:r>
              <a:rPr lang="en-US" b="1" dirty="0"/>
              <a:t>Implementation and Procedures </a:t>
            </a:r>
            <a:endParaRPr lang="en-US" b="1" dirty="0" smtClean="0"/>
          </a:p>
          <a:p>
            <a:pPr lvl="1">
              <a:lnSpc>
                <a:spcPct val="106000"/>
              </a:lnSpc>
            </a:pPr>
            <a:r>
              <a:rPr lang="en-US" dirty="0" smtClean="0"/>
              <a:t>Enough details to allow customers </a:t>
            </a:r>
            <a:r>
              <a:rPr lang="en-US" dirty="0"/>
              <a:t>to decide if the CSP should be </a:t>
            </a:r>
            <a:r>
              <a:rPr lang="en-US" dirty="0">
                <a:solidFill>
                  <a:srgbClr val="FF0000"/>
                </a:solidFill>
              </a:rPr>
              <a:t>entrusted with customer </a:t>
            </a:r>
            <a:r>
              <a:rPr lang="en-US" dirty="0" smtClean="0">
                <a:solidFill>
                  <a:srgbClr val="FF0000"/>
                </a:solidFill>
              </a:rPr>
              <a:t>data</a:t>
            </a:r>
          </a:p>
          <a:p>
            <a:pPr>
              <a:lnSpc>
                <a:spcPct val="106000"/>
              </a:lnSpc>
            </a:pPr>
            <a:r>
              <a:rPr lang="en-US" b="1" dirty="0"/>
              <a:t>Liability and Risk</a:t>
            </a:r>
            <a:r>
              <a:rPr lang="en-US" dirty="0"/>
              <a:t> </a:t>
            </a:r>
            <a:endParaRPr lang="en-US" dirty="0" smtClean="0"/>
          </a:p>
          <a:p>
            <a:pPr lvl="1">
              <a:lnSpc>
                <a:spcPct val="106000"/>
              </a:lnSpc>
            </a:pPr>
            <a:r>
              <a:rPr lang="en-US" dirty="0" smtClean="0"/>
              <a:t>No information </a:t>
            </a:r>
            <a:r>
              <a:rPr lang="en-US" dirty="0"/>
              <a:t>that would result in </a:t>
            </a:r>
            <a:r>
              <a:rPr lang="en-US" dirty="0">
                <a:solidFill>
                  <a:srgbClr val="FF0000"/>
                </a:solidFill>
              </a:rPr>
              <a:t>liability for the </a:t>
            </a:r>
            <a:r>
              <a:rPr lang="en-US" dirty="0" smtClean="0">
                <a:solidFill>
                  <a:srgbClr val="FF0000"/>
                </a:solidFill>
              </a:rPr>
              <a:t>CSP </a:t>
            </a:r>
            <a:r>
              <a:rPr lang="en-US" dirty="0" smtClean="0"/>
              <a:t>or </a:t>
            </a:r>
            <a:r>
              <a:rPr lang="en-US" dirty="0">
                <a:solidFill>
                  <a:srgbClr val="FF0000"/>
                </a:solidFill>
              </a:rPr>
              <a:t>risk to customer </a:t>
            </a:r>
            <a:r>
              <a:rPr lang="en-US" dirty="0" smtClean="0">
                <a:solidFill>
                  <a:srgbClr val="FF0000"/>
                </a:solidFill>
              </a:rPr>
              <a:t>data</a:t>
            </a:r>
          </a:p>
          <a:p>
            <a:pPr>
              <a:lnSpc>
                <a:spcPct val="106000"/>
              </a:lnSpc>
            </a:pPr>
            <a:r>
              <a:rPr lang="en-US" b="1" dirty="0"/>
              <a:t>Service </a:t>
            </a:r>
            <a:r>
              <a:rPr lang="en-US" b="1" dirty="0" smtClean="0"/>
              <a:t>Issues</a:t>
            </a:r>
          </a:p>
          <a:p>
            <a:pPr lvl="1">
              <a:lnSpc>
                <a:spcPct val="106000"/>
              </a:lnSpc>
            </a:pPr>
            <a:r>
              <a:rPr lang="en-US" dirty="0" smtClean="0"/>
              <a:t>Specific information </a:t>
            </a:r>
            <a:r>
              <a:rPr lang="en-US" dirty="0"/>
              <a:t>about </a:t>
            </a:r>
            <a:r>
              <a:rPr lang="en-US" dirty="0">
                <a:solidFill>
                  <a:srgbClr val="FF0000"/>
                </a:solidFill>
              </a:rPr>
              <a:t>security </a:t>
            </a:r>
            <a:r>
              <a:rPr lang="en-US" dirty="0" smtClean="0">
                <a:solidFill>
                  <a:srgbClr val="FF0000"/>
                </a:solidFill>
              </a:rPr>
              <a:t>incidents</a:t>
            </a:r>
            <a:r>
              <a:rPr lang="en-US" dirty="0" smtClean="0"/>
              <a:t>, including </a:t>
            </a:r>
            <a:r>
              <a:rPr lang="en-US" dirty="0"/>
              <a:t>their scope and how </a:t>
            </a:r>
            <a:r>
              <a:rPr lang="en-US" dirty="0" smtClean="0"/>
              <a:t>the CSP </a:t>
            </a:r>
            <a:r>
              <a:rPr lang="en-US" dirty="0"/>
              <a:t>is rectifying the </a:t>
            </a:r>
            <a:r>
              <a:rPr lang="en-US" dirty="0" smtClean="0"/>
              <a:t>situation</a:t>
            </a:r>
          </a:p>
          <a:p>
            <a:pPr>
              <a:lnSpc>
                <a:spcPct val="106000"/>
              </a:lnSpc>
            </a:pPr>
            <a:r>
              <a:rPr lang="en-US" b="1" dirty="0"/>
              <a:t>Regulatory and </a:t>
            </a:r>
            <a:r>
              <a:rPr lang="en-US" b="1" dirty="0" smtClean="0"/>
              <a:t>Legal</a:t>
            </a:r>
          </a:p>
          <a:p>
            <a:pPr lvl="1">
              <a:lnSpc>
                <a:spcPct val="106000"/>
              </a:lnSpc>
            </a:pPr>
            <a:r>
              <a:rPr lang="en-US" dirty="0" smtClean="0"/>
              <a:t>Any information that </a:t>
            </a:r>
            <a:r>
              <a:rPr lang="en-US" dirty="0" smtClean="0">
                <a:solidFill>
                  <a:srgbClr val="FF0000"/>
                </a:solidFill>
              </a:rPr>
              <a:t>laws and regulations mandate to be disclosed</a:t>
            </a:r>
          </a:p>
          <a:p>
            <a:pPr>
              <a:lnSpc>
                <a:spcPct val="106000"/>
              </a:lnSpc>
            </a:pPr>
            <a:r>
              <a:rPr lang="en-US" b="1" dirty="0"/>
              <a:t>Division of Responsibilities</a:t>
            </a:r>
            <a:endParaRPr lang="en-US" b="1" dirty="0" smtClean="0"/>
          </a:p>
          <a:p>
            <a:pPr lvl="1">
              <a:lnSpc>
                <a:spcPct val="106000"/>
              </a:lnSpc>
            </a:pPr>
            <a:r>
              <a:rPr lang="en-US" dirty="0" smtClean="0"/>
              <a:t>Areas </a:t>
            </a:r>
            <a:r>
              <a:rPr lang="en-US" dirty="0"/>
              <a:t>for which </a:t>
            </a:r>
            <a:r>
              <a:rPr lang="en-US" dirty="0" smtClean="0"/>
              <a:t>CSPs </a:t>
            </a:r>
            <a:r>
              <a:rPr lang="en-US" dirty="0" smtClean="0">
                <a:solidFill>
                  <a:srgbClr val="FF0000"/>
                </a:solidFill>
              </a:rPr>
              <a:t>are </a:t>
            </a:r>
            <a:r>
              <a:rPr lang="en-US" dirty="0">
                <a:solidFill>
                  <a:srgbClr val="FF0000"/>
                </a:solidFill>
              </a:rPr>
              <a:t>and are not responsible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0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689590" y="3464468"/>
            <a:ext cx="58260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Selecting a CSP: Overview of Risks</a:t>
            </a:r>
          </a:p>
        </p:txBody>
      </p:sp>
    </p:spTree>
    <p:extLst>
      <p:ext uri="{BB962C8B-B14F-4D97-AF65-F5344CB8AC3E}">
        <p14:creationId xmlns:p14="http://schemas.microsoft.com/office/powerpoint/2010/main" val="301806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Will Vary by Customer and by CSP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dirty="0" smtClean="0"/>
              <a:t>We </a:t>
            </a:r>
            <a:r>
              <a:rPr lang="en-US" dirty="0"/>
              <a:t>introduced </a:t>
            </a:r>
            <a:r>
              <a:rPr lang="en-US" dirty="0" smtClean="0"/>
              <a:t>the concepts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risk and risk </a:t>
            </a:r>
            <a:r>
              <a:rPr lang="en-US" dirty="0" smtClean="0">
                <a:solidFill>
                  <a:srgbClr val="FF0000"/>
                </a:solidFill>
              </a:rPr>
              <a:t>management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Risk </a:t>
            </a:r>
            <a:r>
              <a:rPr lang="en-US" dirty="0"/>
              <a:t>can be expressed as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0070C0"/>
                </a:solidFill>
              </a:rPr>
              <a:t>relationship </a:t>
            </a:r>
            <a:r>
              <a:rPr lang="en-US" dirty="0">
                <a:solidFill>
                  <a:srgbClr val="0070C0"/>
                </a:solidFill>
              </a:rPr>
              <a:t>between threats, vulnerabilities, countermeasures, and asset </a:t>
            </a:r>
            <a:r>
              <a:rPr lang="en-US" dirty="0" smtClean="0">
                <a:solidFill>
                  <a:srgbClr val="0070C0"/>
                </a:solidFill>
              </a:rPr>
              <a:t>value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We </a:t>
            </a:r>
            <a:r>
              <a:rPr lang="en-US" dirty="0"/>
              <a:t>looked at </a:t>
            </a:r>
            <a:r>
              <a:rPr lang="en-US" dirty="0" smtClean="0"/>
              <a:t>various </a:t>
            </a:r>
            <a:r>
              <a:rPr lang="en-US" dirty="0" smtClean="0">
                <a:solidFill>
                  <a:srgbClr val="7030A0"/>
                </a:solidFill>
              </a:rPr>
              <a:t>perceived </a:t>
            </a:r>
            <a:r>
              <a:rPr lang="en-US" dirty="0">
                <a:solidFill>
                  <a:srgbClr val="7030A0"/>
                </a:solidFill>
              </a:rPr>
              <a:t>cloud computing risks</a:t>
            </a:r>
            <a:r>
              <a:rPr lang="en-US" dirty="0"/>
              <a:t>, </a:t>
            </a:r>
            <a:r>
              <a:rPr lang="en-US" dirty="0" smtClean="0"/>
              <a:t>and </a:t>
            </a:r>
            <a:r>
              <a:rPr lang="en-US" dirty="0"/>
              <a:t>how one can assess </a:t>
            </a:r>
            <a:r>
              <a:rPr lang="en-US" dirty="0" smtClean="0"/>
              <a:t>and mitigate risk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We looked at </a:t>
            </a:r>
            <a:r>
              <a:rPr lang="en-US" dirty="0"/>
              <a:t>risk from the standpoint of </a:t>
            </a:r>
            <a:r>
              <a:rPr lang="en-US" dirty="0">
                <a:solidFill>
                  <a:srgbClr val="7030A0"/>
                </a:solidFill>
              </a:rPr>
              <a:t>data in motion and data at rest</a:t>
            </a:r>
            <a:r>
              <a:rPr lang="en-US" dirty="0"/>
              <a:t> for </a:t>
            </a:r>
            <a:r>
              <a:rPr lang="en-US" dirty="0">
                <a:solidFill>
                  <a:srgbClr val="00B050"/>
                </a:solidFill>
              </a:rPr>
              <a:t>public </a:t>
            </a:r>
            <a:r>
              <a:rPr lang="en-US" dirty="0" err="1">
                <a:solidFill>
                  <a:srgbClr val="00B050"/>
                </a:solidFill>
              </a:rPr>
              <a:t>SaaS</a:t>
            </a:r>
            <a:r>
              <a:rPr lang="en-US" dirty="0" smtClean="0">
                <a:solidFill>
                  <a:srgbClr val="00B050"/>
                </a:solidFill>
              </a:rPr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PaaS</a:t>
            </a:r>
            <a:r>
              <a:rPr lang="en-US" dirty="0">
                <a:solidFill>
                  <a:srgbClr val="00B050"/>
                </a:solidFill>
              </a:rPr>
              <a:t>, and </a:t>
            </a:r>
            <a:r>
              <a:rPr lang="en-US" dirty="0" err="1" smtClean="0">
                <a:solidFill>
                  <a:srgbClr val="00B050"/>
                </a:solidFill>
              </a:rPr>
              <a:t>laaS</a:t>
            </a:r>
            <a:r>
              <a:rPr lang="en-US" dirty="0">
                <a:solidFill>
                  <a:srgbClr val="00B050"/>
                </a:solidFill>
              </a:rPr>
              <a:t>	</a:t>
            </a:r>
            <a:endParaRPr lang="en-US" dirty="0" smtClean="0">
              <a:solidFill>
                <a:srgbClr val="00B050"/>
              </a:solidFill>
            </a:endParaRPr>
          </a:p>
          <a:p>
            <a:pPr>
              <a:lnSpc>
                <a:spcPct val="105000"/>
              </a:lnSpc>
            </a:pPr>
            <a:r>
              <a:rPr lang="en-US" dirty="0"/>
              <a:t>With that background on cloud computing risks, </a:t>
            </a:r>
            <a:r>
              <a:rPr lang="en-US" dirty="0" smtClean="0"/>
              <a:t>one should then </a:t>
            </a:r>
            <a:r>
              <a:rPr lang="en-US" dirty="0"/>
              <a:t>consider </a:t>
            </a:r>
            <a:r>
              <a:rPr lang="en-US" dirty="0" smtClean="0"/>
              <a:t>the </a:t>
            </a:r>
            <a:r>
              <a:rPr lang="en-US" i="1" dirty="0" smtClean="0">
                <a:solidFill>
                  <a:srgbClr val="FF0000"/>
                </a:solidFill>
              </a:rPr>
              <a:t>requirements </a:t>
            </a:r>
            <a:r>
              <a:rPr lang="en-US" i="1" dirty="0">
                <a:solidFill>
                  <a:srgbClr val="FF0000"/>
                </a:solidFill>
              </a:rPr>
              <a:t>of individual </a:t>
            </a:r>
            <a:r>
              <a:rPr lang="en-US" i="1" dirty="0" smtClean="0">
                <a:solidFill>
                  <a:srgbClr val="FF0000"/>
                </a:solidFill>
              </a:rPr>
              <a:t>organizations</a:t>
            </a:r>
          </a:p>
          <a:p>
            <a:pPr lvl="1">
              <a:lnSpc>
                <a:spcPct val="105000"/>
              </a:lnSpc>
            </a:pPr>
            <a:r>
              <a:rPr lang="en-US" dirty="0" smtClean="0">
                <a:solidFill>
                  <a:srgbClr val="0070C0"/>
                </a:solidFill>
              </a:rPr>
              <a:t>Likelihood </a:t>
            </a:r>
            <a:r>
              <a:rPr lang="en-US" dirty="0">
                <a:solidFill>
                  <a:srgbClr val="0070C0"/>
                </a:solidFill>
              </a:rPr>
              <a:t>of an incident versus its expected business </a:t>
            </a:r>
            <a:r>
              <a:rPr lang="en-US" dirty="0" smtClean="0">
                <a:solidFill>
                  <a:srgbClr val="0070C0"/>
                </a:solidFill>
              </a:rPr>
              <a:t>impact</a:t>
            </a:r>
          </a:p>
          <a:p>
            <a:pPr lvl="2">
              <a:lnSpc>
                <a:spcPct val="105000"/>
              </a:lnSpc>
            </a:pPr>
            <a:r>
              <a:rPr lang="en-US" dirty="0" smtClean="0"/>
              <a:t>some </a:t>
            </a:r>
            <a:r>
              <a:rPr lang="en-US" dirty="0"/>
              <a:t>incidents </a:t>
            </a:r>
            <a:r>
              <a:rPr lang="en-US" dirty="0" smtClean="0"/>
              <a:t>are highly </a:t>
            </a:r>
            <a:r>
              <a:rPr lang="en-US" dirty="0"/>
              <a:t>unlikely yet </a:t>
            </a:r>
            <a:r>
              <a:rPr lang="en-US" dirty="0" smtClean="0"/>
              <a:t>they may have </a:t>
            </a:r>
            <a:r>
              <a:rPr lang="en-US" dirty="0"/>
              <a:t>a very high </a:t>
            </a:r>
            <a:r>
              <a:rPr lang="en-US" dirty="0" smtClean="0"/>
              <a:t>impact</a:t>
            </a:r>
          </a:p>
          <a:p>
            <a:pPr lvl="2">
              <a:lnSpc>
                <a:spcPct val="105000"/>
              </a:lnSpc>
            </a:pPr>
            <a:r>
              <a:rPr lang="en-US" dirty="0" smtClean="0"/>
              <a:t>other incidents are </a:t>
            </a:r>
            <a:r>
              <a:rPr lang="en-US" dirty="0"/>
              <a:t>highly likely, but have a very low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Probability of </a:t>
            </a:r>
            <a:r>
              <a:rPr lang="en-US" dirty="0" smtClean="0"/>
              <a:t>Incident Versus Business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100" y="2438400"/>
            <a:ext cx="8759798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513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dirty="0"/>
              <a:t>Selecting a public CSP should entail an </a:t>
            </a:r>
            <a:r>
              <a:rPr lang="en-US" i="1" dirty="0">
                <a:solidFill>
                  <a:srgbClr val="FF0000"/>
                </a:solidFill>
              </a:rPr>
              <a:t>assessment of the risk that </a:t>
            </a:r>
            <a:r>
              <a:rPr lang="en-US" i="1" dirty="0" smtClean="0">
                <a:solidFill>
                  <a:srgbClr val="FF0000"/>
                </a:solidFill>
              </a:rPr>
              <a:t>customers or data </a:t>
            </a:r>
            <a:r>
              <a:rPr lang="en-US" i="1" dirty="0">
                <a:solidFill>
                  <a:srgbClr val="FF0000"/>
                </a:solidFill>
              </a:rPr>
              <a:t>are subject </a:t>
            </a:r>
            <a:r>
              <a:rPr lang="en-US" i="1" dirty="0" smtClean="0">
                <a:solidFill>
                  <a:srgbClr val="FF0000"/>
                </a:solidFill>
              </a:rPr>
              <a:t>to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The </a:t>
            </a:r>
            <a:r>
              <a:rPr lang="en-US" dirty="0"/>
              <a:t>nature and level of risk will </a:t>
            </a:r>
            <a:r>
              <a:rPr lang="en-US" dirty="0">
                <a:solidFill>
                  <a:srgbClr val="7030A0"/>
                </a:solidFill>
              </a:rPr>
              <a:t>vary according to many </a:t>
            </a:r>
            <a:r>
              <a:rPr lang="en-US" dirty="0" smtClean="0">
                <a:solidFill>
                  <a:srgbClr val="7030A0"/>
                </a:solidFill>
              </a:rPr>
              <a:t>factors</a:t>
            </a:r>
            <a:r>
              <a:rPr lang="en-US" dirty="0" smtClean="0"/>
              <a:t>, including </a:t>
            </a:r>
            <a:r>
              <a:rPr lang="en-US" dirty="0"/>
              <a:t>cloud architecture and security </a:t>
            </a:r>
            <a:r>
              <a:rPr lang="en-US" dirty="0" smtClean="0"/>
              <a:t>measures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Overall, risk </a:t>
            </a:r>
            <a:r>
              <a:rPr lang="en-US" dirty="0"/>
              <a:t>can be broadly classified into </a:t>
            </a:r>
            <a:r>
              <a:rPr lang="en-US" dirty="0" smtClean="0">
                <a:solidFill>
                  <a:srgbClr val="0070C0"/>
                </a:solidFill>
              </a:rPr>
              <a:t>three categories</a:t>
            </a:r>
            <a:endParaRPr lang="en-US" dirty="0">
              <a:solidFill>
                <a:srgbClr val="0070C0"/>
              </a:solidFill>
            </a:endParaRPr>
          </a:p>
          <a:p>
            <a:pPr lvl="1">
              <a:lnSpc>
                <a:spcPct val="105000"/>
              </a:lnSpc>
            </a:pPr>
            <a:r>
              <a:rPr lang="en-US" b="1" dirty="0" smtClean="0"/>
              <a:t>Technical Risks</a:t>
            </a:r>
            <a:r>
              <a:rPr lang="en-US" dirty="0" smtClean="0"/>
              <a:t>: </a:t>
            </a:r>
            <a:r>
              <a:rPr lang="en-US" i="1" dirty="0" smtClean="0"/>
              <a:t>isolation failure, data interception, data leakage, </a:t>
            </a:r>
            <a:r>
              <a:rPr lang="en-US" i="1" dirty="0"/>
              <a:t>and malicious </a:t>
            </a:r>
            <a:r>
              <a:rPr lang="en-US" i="1" dirty="0" smtClean="0"/>
              <a:t>probes</a:t>
            </a:r>
            <a:endParaRPr lang="en-US" i="1" dirty="0"/>
          </a:p>
          <a:p>
            <a:pPr lvl="1">
              <a:lnSpc>
                <a:spcPct val="105000"/>
              </a:lnSpc>
            </a:pPr>
            <a:r>
              <a:rPr lang="en-US" b="1" dirty="0" smtClean="0"/>
              <a:t>Policy </a:t>
            </a:r>
            <a:r>
              <a:rPr lang="en-US" b="1" dirty="0"/>
              <a:t>and Legal </a:t>
            </a:r>
            <a:r>
              <a:rPr lang="en-US" b="1" dirty="0" smtClean="0"/>
              <a:t>Risks</a:t>
            </a:r>
            <a:r>
              <a:rPr lang="en-US" dirty="0" smtClean="0"/>
              <a:t>: </a:t>
            </a:r>
            <a:r>
              <a:rPr lang="en-US" i="1" dirty="0" smtClean="0"/>
              <a:t>loss </a:t>
            </a:r>
            <a:r>
              <a:rPr lang="en-US" i="1" dirty="0"/>
              <a:t>of governance, </a:t>
            </a:r>
            <a:r>
              <a:rPr lang="en-US" i="1" dirty="0" smtClean="0"/>
              <a:t>compliance failures</a:t>
            </a:r>
            <a:r>
              <a:rPr lang="en-US" i="1" dirty="0"/>
              <a:t>, jurisdictional issues, subpoenas, and </a:t>
            </a:r>
            <a:r>
              <a:rPr lang="en-US" i="1" dirty="0" smtClean="0"/>
              <a:t>licensing issues</a:t>
            </a:r>
          </a:p>
          <a:p>
            <a:pPr lvl="1">
              <a:lnSpc>
                <a:spcPct val="105000"/>
              </a:lnSpc>
            </a:pPr>
            <a:r>
              <a:rPr lang="en-US" b="1" dirty="0"/>
              <a:t>Operational </a:t>
            </a:r>
            <a:r>
              <a:rPr lang="en-US" b="1" dirty="0" smtClean="0"/>
              <a:t>Risks</a:t>
            </a:r>
            <a:r>
              <a:rPr lang="en-US" dirty="0" smtClean="0"/>
              <a:t>: </a:t>
            </a:r>
            <a:r>
              <a:rPr lang="en-US" i="1" dirty="0" smtClean="0"/>
              <a:t>malicious </a:t>
            </a:r>
            <a:r>
              <a:rPr lang="en-US" i="1" dirty="0"/>
              <a:t>insiders, errors and </a:t>
            </a:r>
            <a:r>
              <a:rPr lang="en-US" i="1" dirty="0" smtClean="0"/>
              <a:t>misconfigurations, bandwidth </a:t>
            </a:r>
            <a:r>
              <a:rPr lang="en-US" i="1" dirty="0"/>
              <a:t>problems, </a:t>
            </a:r>
            <a:r>
              <a:rPr lang="en-US" i="1" dirty="0" smtClean="0"/>
              <a:t>social engineering</a:t>
            </a:r>
            <a:r>
              <a:rPr lang="en-US" i="1" dirty="0"/>
              <a:t>, </a:t>
            </a:r>
            <a:r>
              <a:rPr lang="en-US" i="1" dirty="0" smtClean="0"/>
              <a:t>loss </a:t>
            </a:r>
            <a:r>
              <a:rPr lang="en-US" i="1" dirty="0"/>
              <a:t>of backup data</a:t>
            </a:r>
            <a:r>
              <a:rPr lang="en-US" i="1" dirty="0" smtClean="0"/>
              <a:t>, physical </a:t>
            </a:r>
            <a:r>
              <a:rPr lang="en-US" i="1" dirty="0"/>
              <a:t>security compromise, loss of encryption </a:t>
            </a:r>
            <a:r>
              <a:rPr lang="en-US" i="1" dirty="0" smtClean="0"/>
              <a:t>keys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4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Factors and Assets in Cloud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260618"/>
            <a:ext cx="7162799" cy="4919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This table is derived from analysis by the European Network and Information Security Agency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53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Deeper Look at CSP Business Viability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6000"/>
              </a:lnSpc>
            </a:pPr>
            <a:r>
              <a:rPr lang="en-US" dirty="0"/>
              <a:t>A CSP </a:t>
            </a:r>
            <a:r>
              <a:rPr lang="en-US" i="1" dirty="0">
                <a:solidFill>
                  <a:srgbClr val="FF0000"/>
                </a:solidFill>
              </a:rPr>
              <a:t>may fail </a:t>
            </a:r>
            <a:r>
              <a:rPr lang="en-US" i="1" dirty="0" smtClean="0">
                <a:solidFill>
                  <a:srgbClr val="FF0000"/>
                </a:solidFill>
              </a:rPr>
              <a:t>or </a:t>
            </a:r>
            <a:r>
              <a:rPr lang="en-US" i="1" dirty="0">
                <a:solidFill>
                  <a:srgbClr val="FF0000"/>
                </a:solidFill>
              </a:rPr>
              <a:t>be subject </a:t>
            </a:r>
            <a:r>
              <a:rPr lang="en-US" i="1" dirty="0" smtClean="0">
                <a:solidFill>
                  <a:srgbClr val="FF0000"/>
                </a:solidFill>
              </a:rPr>
              <a:t>to adverse circumstances</a:t>
            </a:r>
          </a:p>
          <a:p>
            <a:pPr lvl="1">
              <a:lnSpc>
                <a:spcPct val="106000"/>
              </a:lnSpc>
            </a:pPr>
            <a:r>
              <a:rPr lang="en-US" dirty="0" smtClean="0"/>
              <a:t>This a </a:t>
            </a:r>
            <a:r>
              <a:rPr lang="en-US" dirty="0"/>
              <a:t>risk for a customer who </a:t>
            </a:r>
            <a:r>
              <a:rPr lang="en-US" dirty="0" smtClean="0"/>
              <a:t>comes to </a:t>
            </a:r>
            <a:r>
              <a:rPr lang="en-US" dirty="0"/>
              <a:t>rely on a cloud </a:t>
            </a:r>
            <a:r>
              <a:rPr lang="en-US" dirty="0" smtClean="0"/>
              <a:t>service</a:t>
            </a:r>
          </a:p>
          <a:p>
            <a:pPr lvl="1">
              <a:lnSpc>
                <a:spcPct val="106000"/>
              </a:lnSpc>
            </a:pPr>
            <a:r>
              <a:rPr lang="en-US" dirty="0" smtClean="0"/>
              <a:t>The </a:t>
            </a:r>
            <a:r>
              <a:rPr lang="en-US" i="1" dirty="0">
                <a:solidFill>
                  <a:srgbClr val="0070C0"/>
                </a:solidFill>
              </a:rPr>
              <a:t>viability of the CSP is an important factor </a:t>
            </a:r>
            <a:r>
              <a:rPr lang="en-US" dirty="0" smtClean="0"/>
              <a:t>when choosing </a:t>
            </a:r>
            <a:r>
              <a:rPr lang="en-US" dirty="0"/>
              <a:t>a public </a:t>
            </a:r>
            <a:r>
              <a:rPr lang="en-US" dirty="0" smtClean="0"/>
              <a:t>cloud</a:t>
            </a:r>
          </a:p>
          <a:p>
            <a:pPr>
              <a:lnSpc>
                <a:spcPct val="106000"/>
              </a:lnSpc>
            </a:pPr>
            <a:r>
              <a:rPr lang="en-US" dirty="0"/>
              <a:t>The </a:t>
            </a:r>
            <a:r>
              <a:rPr lang="en-US" dirty="0" smtClean="0"/>
              <a:t>ability of </a:t>
            </a:r>
            <a:r>
              <a:rPr lang="en-US" dirty="0"/>
              <a:t>a CSP to provide adequate security </a:t>
            </a:r>
            <a:r>
              <a:rPr lang="en-US" i="1" dirty="0"/>
              <a:t>can be undermined if </a:t>
            </a:r>
            <a:r>
              <a:rPr lang="en-US" i="1" dirty="0" smtClean="0"/>
              <a:t>the CSP </a:t>
            </a:r>
            <a:r>
              <a:rPr lang="en-US" i="1" dirty="0">
                <a:solidFill>
                  <a:srgbClr val="00B050"/>
                </a:solidFill>
              </a:rPr>
              <a:t>can no longer </a:t>
            </a:r>
            <a:r>
              <a:rPr lang="en-US" i="1" dirty="0" smtClean="0">
                <a:solidFill>
                  <a:srgbClr val="00B050"/>
                </a:solidFill>
              </a:rPr>
              <a:t>appropriately fund security </a:t>
            </a:r>
            <a:r>
              <a:rPr lang="en-US" i="1" dirty="0">
                <a:solidFill>
                  <a:srgbClr val="00B050"/>
                </a:solidFill>
              </a:rPr>
              <a:t>relevant aspects </a:t>
            </a:r>
            <a:r>
              <a:rPr lang="en-US" i="1" dirty="0" smtClean="0">
                <a:solidFill>
                  <a:srgbClr val="00B050"/>
                </a:solidFill>
              </a:rPr>
              <a:t>of cloud operations</a:t>
            </a:r>
          </a:p>
          <a:p>
            <a:pPr lvl="1">
              <a:lnSpc>
                <a:spcPct val="106000"/>
              </a:lnSpc>
            </a:pPr>
            <a:r>
              <a:rPr lang="en-US" dirty="0" smtClean="0"/>
              <a:t>Various </a:t>
            </a:r>
            <a:r>
              <a:rPr lang="en-US" dirty="0"/>
              <a:t>scenarios are possible, </a:t>
            </a:r>
            <a:r>
              <a:rPr lang="en-US" dirty="0" smtClean="0"/>
              <a:t>including</a:t>
            </a:r>
          </a:p>
          <a:p>
            <a:pPr lvl="2">
              <a:lnSpc>
                <a:spcPct val="106000"/>
              </a:lnSpc>
            </a:pPr>
            <a:r>
              <a:rPr lang="en-US" b="1" dirty="0"/>
              <a:t>Staff </a:t>
            </a:r>
            <a:r>
              <a:rPr lang="en-US" b="1" dirty="0" smtClean="0"/>
              <a:t>Reductions</a:t>
            </a:r>
            <a:r>
              <a:rPr lang="en-US" dirty="0" smtClean="0"/>
              <a:t>: </a:t>
            </a:r>
            <a:r>
              <a:rPr lang="en-US" dirty="0"/>
              <a:t>can leave remaining staff to assume the duties of departed </a:t>
            </a:r>
            <a:r>
              <a:rPr lang="en-US" dirty="0" smtClean="0"/>
              <a:t>staff or duties they are not trained for</a:t>
            </a:r>
          </a:p>
          <a:p>
            <a:pPr lvl="2">
              <a:lnSpc>
                <a:spcPct val="106000"/>
              </a:lnSpc>
            </a:pPr>
            <a:r>
              <a:rPr lang="en-US" b="1" dirty="0" smtClean="0"/>
              <a:t>Security Infrastructure Relevancy</a:t>
            </a:r>
            <a:r>
              <a:rPr lang="en-US" dirty="0"/>
              <a:t>: </a:t>
            </a:r>
            <a:r>
              <a:rPr lang="en-US" dirty="0" smtClean="0"/>
              <a:t>if a </a:t>
            </a:r>
            <a:r>
              <a:rPr lang="en-US" dirty="0"/>
              <a:t>CSP </a:t>
            </a:r>
            <a:r>
              <a:rPr lang="en-US" dirty="0" smtClean="0"/>
              <a:t>can’t keep their </a:t>
            </a:r>
            <a:r>
              <a:rPr lang="en-US" dirty="0"/>
              <a:t>security technology relevant, its security will become ineffective</a:t>
            </a:r>
            <a:endParaRPr lang="en-US" dirty="0" smtClean="0"/>
          </a:p>
          <a:p>
            <a:pPr lvl="2">
              <a:lnSpc>
                <a:spcPct val="106000"/>
              </a:lnSpc>
            </a:pPr>
            <a:r>
              <a:rPr lang="en-US" b="1" dirty="0" smtClean="0"/>
              <a:t>Business Model</a:t>
            </a:r>
            <a:r>
              <a:rPr lang="en-US" dirty="0" smtClean="0"/>
              <a:t>: CSPs </a:t>
            </a:r>
            <a:r>
              <a:rPr lang="en-US" dirty="0"/>
              <a:t>might initially advertise that their service </a:t>
            </a:r>
            <a:r>
              <a:rPr lang="en-US" dirty="0" smtClean="0"/>
              <a:t>maintains </a:t>
            </a:r>
            <a:r>
              <a:rPr lang="en-US" dirty="0"/>
              <a:t>privacy, but if the business model evolves that agreement may </a:t>
            </a:r>
            <a:r>
              <a:rPr lang="en-US" dirty="0" smtClean="0"/>
              <a:t>be void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7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Deeper Look at CSP Business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5000"/>
              </a:lnSpc>
            </a:pPr>
            <a:r>
              <a:rPr lang="en-US" dirty="0" smtClean="0"/>
              <a:t>In the event of disasters </a:t>
            </a:r>
            <a:r>
              <a:rPr lang="en-US" dirty="0"/>
              <a:t>that would impact the cloud, the provider should have a </a:t>
            </a:r>
            <a:r>
              <a:rPr lang="en-US" dirty="0" smtClean="0">
                <a:solidFill>
                  <a:srgbClr val="FF0000"/>
                </a:solidFill>
              </a:rPr>
              <a:t>formal disaster </a:t>
            </a:r>
            <a:r>
              <a:rPr lang="en-US" dirty="0">
                <a:solidFill>
                  <a:srgbClr val="FF0000"/>
                </a:solidFill>
              </a:rPr>
              <a:t>recovery plan</a:t>
            </a:r>
            <a:r>
              <a:rPr lang="en-US" dirty="0"/>
              <a:t> </a:t>
            </a:r>
            <a:endParaRPr lang="en-US" dirty="0" smtClean="0"/>
          </a:p>
          <a:p>
            <a:pPr lvl="1">
              <a:lnSpc>
                <a:spcPct val="105000"/>
              </a:lnSpc>
            </a:pPr>
            <a:r>
              <a:rPr lang="en-US" dirty="0" smtClean="0"/>
              <a:t>The plan should be </a:t>
            </a:r>
            <a:r>
              <a:rPr lang="en-US" dirty="0" smtClean="0">
                <a:solidFill>
                  <a:srgbClr val="0070C0"/>
                </a:solidFill>
              </a:rPr>
              <a:t>kept </a:t>
            </a:r>
            <a:r>
              <a:rPr lang="en-US" dirty="0">
                <a:solidFill>
                  <a:srgbClr val="0070C0"/>
                </a:solidFill>
              </a:rPr>
              <a:t>relevant and periodically </a:t>
            </a:r>
            <a:r>
              <a:rPr lang="en-US" dirty="0" smtClean="0">
                <a:solidFill>
                  <a:srgbClr val="0070C0"/>
                </a:solidFill>
              </a:rPr>
              <a:t>tested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dirty="0" smtClean="0"/>
              <a:t>especially important </a:t>
            </a:r>
            <a:r>
              <a:rPr lang="en-US" dirty="0"/>
              <a:t>to understand the </a:t>
            </a:r>
            <a:r>
              <a:rPr lang="en-US" dirty="0">
                <a:solidFill>
                  <a:srgbClr val="7030A0"/>
                </a:solidFill>
              </a:rPr>
              <a:t>procedures and design the cloud provider </a:t>
            </a:r>
            <a:r>
              <a:rPr lang="en-US" dirty="0" smtClean="0">
                <a:solidFill>
                  <a:srgbClr val="7030A0"/>
                </a:solidFill>
              </a:rPr>
              <a:t>has in </a:t>
            </a:r>
            <a:r>
              <a:rPr lang="en-US" dirty="0">
                <a:solidFill>
                  <a:srgbClr val="7030A0"/>
                </a:solidFill>
              </a:rPr>
              <a:t>place to ensure its </a:t>
            </a:r>
            <a:r>
              <a:rPr lang="en-US" dirty="0" smtClean="0">
                <a:solidFill>
                  <a:srgbClr val="7030A0"/>
                </a:solidFill>
              </a:rPr>
              <a:t>viability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Disaster </a:t>
            </a:r>
            <a:r>
              <a:rPr lang="en-US" dirty="0"/>
              <a:t>recovery not only includes </a:t>
            </a:r>
            <a:r>
              <a:rPr lang="en-US" dirty="0">
                <a:solidFill>
                  <a:srgbClr val="FF0000"/>
                </a:solidFill>
              </a:rPr>
              <a:t>natural </a:t>
            </a:r>
            <a:r>
              <a:rPr lang="en-US" dirty="0" smtClean="0">
                <a:solidFill>
                  <a:srgbClr val="FF0000"/>
                </a:solidFill>
              </a:rPr>
              <a:t>events </a:t>
            </a:r>
            <a:r>
              <a:rPr lang="en-US" dirty="0" smtClean="0"/>
              <a:t>like </a:t>
            </a:r>
            <a:r>
              <a:rPr lang="en-US" dirty="0"/>
              <a:t>earthquakes, fires, or tornadoes </a:t>
            </a:r>
            <a:endParaRPr lang="en-US" dirty="0" smtClean="0"/>
          </a:p>
          <a:p>
            <a:pPr lvl="1">
              <a:lnSpc>
                <a:spcPct val="105000"/>
              </a:lnSpc>
            </a:pPr>
            <a:r>
              <a:rPr lang="en-US" dirty="0" smtClean="0"/>
              <a:t>It also </a:t>
            </a:r>
            <a:r>
              <a:rPr lang="en-US" dirty="0"/>
              <a:t>includes how you recover </a:t>
            </a:r>
            <a:r>
              <a:rPr lang="en-US" dirty="0" smtClean="0"/>
              <a:t>from disasters caused by </a:t>
            </a:r>
            <a:r>
              <a:rPr lang="en-US" dirty="0" smtClean="0">
                <a:solidFill>
                  <a:srgbClr val="FF0000"/>
                </a:solidFill>
              </a:rPr>
              <a:t>human error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If </a:t>
            </a:r>
            <a:r>
              <a:rPr lang="en-US" dirty="0"/>
              <a:t>the CSP has a disaster recovery </a:t>
            </a:r>
            <a:r>
              <a:rPr lang="en-US" dirty="0" smtClean="0"/>
              <a:t>plan in </a:t>
            </a:r>
            <a:r>
              <a:rPr lang="en-US" dirty="0"/>
              <a:t>place, </a:t>
            </a:r>
            <a:r>
              <a:rPr lang="en-US" dirty="0">
                <a:solidFill>
                  <a:srgbClr val="0070C0"/>
                </a:solidFill>
              </a:rPr>
              <a:t>does the plan itself compromise the security of the </a:t>
            </a:r>
            <a:r>
              <a:rPr lang="en-US" dirty="0" smtClean="0">
                <a:solidFill>
                  <a:srgbClr val="0070C0"/>
                </a:solidFill>
              </a:rPr>
              <a:t>cloud?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7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18766" y="3108868"/>
            <a:ext cx="6977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Selecting a </a:t>
            </a:r>
            <a:r>
              <a:rPr lang="en-US" sz="3600" dirty="0">
                <a:solidFill>
                  <a:srgbClr val="7030A0"/>
                </a:solidFill>
              </a:rPr>
              <a:t>CSP</a:t>
            </a:r>
            <a:r>
              <a:rPr lang="en-US" sz="3600" dirty="0"/>
              <a:t>: Overview of Criteria</a:t>
            </a:r>
          </a:p>
        </p:txBody>
      </p:sp>
    </p:spTree>
    <p:extLst>
      <p:ext uri="{BB962C8B-B14F-4D97-AF65-F5344CB8AC3E}">
        <p14:creationId xmlns:p14="http://schemas.microsoft.com/office/powerpoint/2010/main" val="188194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Criteria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4000"/>
              </a:lnSpc>
            </a:pPr>
            <a:r>
              <a:rPr lang="en-US" dirty="0" smtClean="0"/>
              <a:t>Many aspects of a CSP should be </a:t>
            </a:r>
            <a:r>
              <a:rPr lang="en-US" dirty="0" smtClean="0">
                <a:solidFill>
                  <a:srgbClr val="FF0000"/>
                </a:solidFill>
              </a:rPr>
              <a:t>examined and “quantified”</a:t>
            </a:r>
          </a:p>
          <a:p>
            <a:pPr lvl="1">
              <a:lnSpc>
                <a:spcPct val="104000"/>
              </a:lnSpc>
            </a:pPr>
            <a:r>
              <a:rPr lang="en-US" b="1" dirty="0"/>
              <a:t>Security </a:t>
            </a:r>
            <a:r>
              <a:rPr lang="en-US" b="1" dirty="0" smtClean="0"/>
              <a:t>Policies</a:t>
            </a:r>
          </a:p>
          <a:p>
            <a:pPr lvl="2">
              <a:lnSpc>
                <a:spcPct val="104000"/>
              </a:lnSpc>
            </a:pPr>
            <a:r>
              <a:rPr lang="en-US" dirty="0" smtClean="0"/>
              <a:t>The </a:t>
            </a:r>
            <a:r>
              <a:rPr lang="en-US" dirty="0"/>
              <a:t>quality of a </a:t>
            </a:r>
            <a:r>
              <a:rPr lang="en-US" dirty="0" smtClean="0"/>
              <a:t>CSP’s security policy </a:t>
            </a:r>
            <a:r>
              <a:rPr lang="en-US" dirty="0"/>
              <a:t>is indicative of how seriously they take their responsibility for </a:t>
            </a:r>
            <a:r>
              <a:rPr lang="en-US" dirty="0" smtClean="0"/>
              <a:t>security</a:t>
            </a:r>
            <a:endParaRPr lang="en-US" dirty="0"/>
          </a:p>
          <a:p>
            <a:pPr lvl="1">
              <a:lnSpc>
                <a:spcPct val="104000"/>
              </a:lnSpc>
            </a:pPr>
            <a:r>
              <a:rPr lang="en-US" b="1" dirty="0" smtClean="0"/>
              <a:t>Security </a:t>
            </a:r>
            <a:r>
              <a:rPr lang="en-US" b="1" dirty="0"/>
              <a:t>Staff </a:t>
            </a:r>
            <a:r>
              <a:rPr lang="en-US" b="1" dirty="0" smtClean="0"/>
              <a:t>Independence</a:t>
            </a:r>
            <a:endParaRPr lang="en-US" dirty="0" smtClean="0"/>
          </a:p>
          <a:p>
            <a:pPr lvl="2">
              <a:lnSpc>
                <a:spcPct val="104000"/>
              </a:lnSpc>
            </a:pPr>
            <a:r>
              <a:rPr lang="en-US" dirty="0" smtClean="0"/>
              <a:t>Security </a:t>
            </a:r>
            <a:r>
              <a:rPr lang="en-US" dirty="0"/>
              <a:t>operations staff should </a:t>
            </a:r>
            <a:r>
              <a:rPr lang="en-US" dirty="0" smtClean="0"/>
              <a:t>cooperate </a:t>
            </a:r>
            <a:r>
              <a:rPr lang="en-US" dirty="0"/>
              <a:t>with the operations </a:t>
            </a:r>
            <a:r>
              <a:rPr lang="en-US" dirty="0" smtClean="0"/>
              <a:t>staff, but maintaining independence  </a:t>
            </a:r>
            <a:endParaRPr lang="en-US" dirty="0"/>
          </a:p>
          <a:p>
            <a:pPr lvl="1">
              <a:lnSpc>
                <a:spcPct val="104000"/>
              </a:lnSpc>
            </a:pPr>
            <a:r>
              <a:rPr lang="en-US" b="1" dirty="0" smtClean="0"/>
              <a:t>Change Management</a:t>
            </a:r>
          </a:p>
          <a:p>
            <a:pPr lvl="2">
              <a:lnSpc>
                <a:spcPct val="104000"/>
              </a:lnSpc>
            </a:pPr>
            <a:r>
              <a:rPr lang="en-US" dirty="0" smtClean="0"/>
              <a:t>The </a:t>
            </a:r>
            <a:r>
              <a:rPr lang="en-US" dirty="0"/>
              <a:t>authority to make </a:t>
            </a:r>
            <a:r>
              <a:rPr lang="en-US" dirty="0" smtClean="0"/>
              <a:t>changes </a:t>
            </a:r>
            <a:r>
              <a:rPr lang="en-US" dirty="0"/>
              <a:t>must be </a:t>
            </a:r>
            <a:r>
              <a:rPr lang="en-US" dirty="0" smtClean="0"/>
              <a:t>clearly defined</a:t>
            </a:r>
            <a:endParaRPr lang="en-US" dirty="0"/>
          </a:p>
          <a:p>
            <a:pPr lvl="1">
              <a:lnSpc>
                <a:spcPct val="104000"/>
              </a:lnSpc>
            </a:pPr>
            <a:r>
              <a:rPr lang="en-US" b="1" dirty="0" smtClean="0"/>
              <a:t>Upgrades </a:t>
            </a:r>
            <a:r>
              <a:rPr lang="en-US" b="1" dirty="0"/>
              <a:t>and Patch </a:t>
            </a:r>
            <a:r>
              <a:rPr lang="en-US" b="1" dirty="0" smtClean="0"/>
              <a:t>Management</a:t>
            </a:r>
            <a:r>
              <a:rPr lang="en-US" dirty="0" smtClean="0"/>
              <a:t> </a:t>
            </a:r>
          </a:p>
          <a:p>
            <a:pPr lvl="2">
              <a:lnSpc>
                <a:spcPct val="104000"/>
              </a:lnSpc>
            </a:pPr>
            <a:r>
              <a:rPr lang="en-US" dirty="0" smtClean="0"/>
              <a:t>Upgrades </a:t>
            </a:r>
            <a:r>
              <a:rPr lang="en-US" dirty="0"/>
              <a:t>and patches should be </a:t>
            </a:r>
            <a:r>
              <a:rPr lang="en-US" dirty="0" smtClean="0"/>
              <a:t>applied in </a:t>
            </a:r>
            <a:r>
              <a:rPr lang="en-US" dirty="0"/>
              <a:t>a timely and safe manner to limit </a:t>
            </a:r>
            <a:r>
              <a:rPr lang="en-US" dirty="0" smtClean="0"/>
              <a:t>exposure</a:t>
            </a:r>
            <a:endParaRPr lang="en-US" dirty="0"/>
          </a:p>
          <a:p>
            <a:pPr lvl="1">
              <a:lnSpc>
                <a:spcPct val="104000"/>
              </a:lnSpc>
            </a:pPr>
            <a:r>
              <a:rPr lang="en-US" b="1" dirty="0" smtClean="0"/>
              <a:t>Scans</a:t>
            </a:r>
            <a:r>
              <a:rPr lang="en-US" dirty="0" smtClean="0"/>
              <a:t> </a:t>
            </a:r>
          </a:p>
          <a:p>
            <a:pPr lvl="2">
              <a:lnSpc>
                <a:spcPct val="104000"/>
              </a:lnSpc>
            </a:pPr>
            <a:r>
              <a:rPr lang="en-US" dirty="0" smtClean="0"/>
              <a:t>The </a:t>
            </a:r>
            <a:r>
              <a:rPr lang="en-US" dirty="0"/>
              <a:t>CSP must perform regular </a:t>
            </a:r>
            <a:r>
              <a:rPr lang="en-US" dirty="0">
                <a:solidFill>
                  <a:srgbClr val="0070C0"/>
                </a:solidFill>
              </a:rPr>
              <a:t>vulnerability </a:t>
            </a:r>
            <a:r>
              <a:rPr lang="en-US" dirty="0" smtClean="0">
                <a:solidFill>
                  <a:srgbClr val="0070C0"/>
                </a:solidFill>
              </a:rPr>
              <a:t>assessments</a:t>
            </a:r>
          </a:p>
          <a:p>
            <a:pPr lvl="3">
              <a:lnSpc>
                <a:spcPct val="104000"/>
              </a:lnSpc>
            </a:pPr>
            <a:r>
              <a:rPr lang="en-US" dirty="0" smtClean="0"/>
              <a:t>Any </a:t>
            </a:r>
            <a:r>
              <a:rPr lang="en-US" dirty="0"/>
              <a:t>issues must be evaluated </a:t>
            </a:r>
            <a:r>
              <a:rPr lang="en-US" dirty="0" smtClean="0"/>
              <a:t>and promptly rectified</a:t>
            </a:r>
          </a:p>
          <a:p>
            <a:pPr lvl="1">
              <a:lnSpc>
                <a:spcPct val="104000"/>
              </a:lnSpc>
            </a:pPr>
            <a:endParaRPr lang="en-US" dirty="0" smtClean="0"/>
          </a:p>
          <a:p>
            <a:pPr lvl="1">
              <a:lnSpc>
                <a:spcPct val="104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4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Criteria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b="1" dirty="0"/>
              <a:t>Forensics </a:t>
            </a:r>
            <a:endParaRPr lang="en-US" b="1" dirty="0" smtClean="0"/>
          </a:p>
          <a:p>
            <a:pPr lvl="2"/>
            <a:r>
              <a:rPr lang="en-US" dirty="0" smtClean="0"/>
              <a:t>Security </a:t>
            </a:r>
            <a:r>
              <a:rPr lang="en-US" dirty="0"/>
              <a:t>relevant logs must be retained long enough to assure </a:t>
            </a:r>
            <a:r>
              <a:rPr lang="en-US" dirty="0" smtClean="0"/>
              <a:t>their availability </a:t>
            </a:r>
            <a:r>
              <a:rPr lang="en-US" dirty="0"/>
              <a:t>to meet </a:t>
            </a:r>
            <a:r>
              <a:rPr lang="en-US" dirty="0">
                <a:solidFill>
                  <a:srgbClr val="0070C0"/>
                </a:solidFill>
              </a:rPr>
              <a:t>forensic and legal </a:t>
            </a:r>
            <a:r>
              <a:rPr lang="en-US" dirty="0" smtClean="0">
                <a:solidFill>
                  <a:srgbClr val="0070C0"/>
                </a:solidFill>
              </a:rPr>
              <a:t>requirements</a:t>
            </a:r>
          </a:p>
          <a:p>
            <a:pPr lvl="3"/>
            <a:r>
              <a:rPr lang="en-US" dirty="0" smtClean="0"/>
              <a:t>Logs contribute to understand how </a:t>
            </a:r>
            <a:r>
              <a:rPr lang="en-US" dirty="0"/>
              <a:t>an incident </a:t>
            </a:r>
            <a:r>
              <a:rPr lang="en-US" dirty="0" smtClean="0"/>
              <a:t>occurred and </a:t>
            </a:r>
            <a:r>
              <a:rPr lang="en-US" dirty="0"/>
              <a:t>its </a:t>
            </a:r>
            <a:r>
              <a:rPr lang="en-US" dirty="0" smtClean="0"/>
              <a:t>impact</a:t>
            </a:r>
            <a:endParaRPr lang="en-US" dirty="0"/>
          </a:p>
          <a:p>
            <a:pPr lvl="1"/>
            <a:r>
              <a:rPr lang="en-US" b="1" dirty="0" smtClean="0"/>
              <a:t>Incident </a:t>
            </a:r>
            <a:r>
              <a:rPr lang="en-US" b="1" dirty="0"/>
              <a:t>Management</a:t>
            </a:r>
            <a:r>
              <a:rPr lang="en-US" dirty="0"/>
              <a:t> </a:t>
            </a:r>
            <a:endParaRPr lang="en-US" dirty="0" smtClean="0"/>
          </a:p>
          <a:p>
            <a:pPr lvl="2"/>
            <a:r>
              <a:rPr lang="en-US" dirty="0" smtClean="0"/>
              <a:t>Not </a:t>
            </a:r>
            <a:r>
              <a:rPr lang="en-US" dirty="0"/>
              <a:t>only is a customer </a:t>
            </a:r>
            <a:r>
              <a:rPr lang="en-US" dirty="0" smtClean="0"/>
              <a:t>interested in 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response time frame </a:t>
            </a:r>
            <a:r>
              <a:rPr lang="en-US" dirty="0"/>
              <a:t>(detection, incident disclosure, remediation, </a:t>
            </a:r>
            <a:r>
              <a:rPr lang="en-US" dirty="0" smtClean="0"/>
              <a:t>review, and </a:t>
            </a:r>
            <a:r>
              <a:rPr lang="en-US" dirty="0"/>
              <a:t>public disclosure</a:t>
            </a:r>
            <a:r>
              <a:rPr lang="en-US" dirty="0" smtClean="0"/>
              <a:t>)</a:t>
            </a:r>
          </a:p>
          <a:p>
            <a:pPr lvl="3"/>
            <a:r>
              <a:rPr lang="en-US" dirty="0" smtClean="0"/>
              <a:t>Customers </a:t>
            </a:r>
            <a:r>
              <a:rPr lang="en-US" dirty="0"/>
              <a:t>may also require </a:t>
            </a:r>
            <a:r>
              <a:rPr lang="en-US" dirty="0">
                <a:solidFill>
                  <a:srgbClr val="0070C0"/>
                </a:solidFill>
              </a:rPr>
              <a:t>responsive </a:t>
            </a:r>
            <a:r>
              <a:rPr lang="en-US" dirty="0" smtClean="0">
                <a:solidFill>
                  <a:srgbClr val="0070C0"/>
                </a:solidFill>
              </a:rPr>
              <a:t>cooperation </a:t>
            </a:r>
            <a:r>
              <a:rPr lang="en-US" dirty="0" smtClean="0"/>
              <a:t>from </a:t>
            </a:r>
            <a:r>
              <a:rPr lang="en-US" dirty="0"/>
              <a:t>a CSP to support resolution of customer identified </a:t>
            </a:r>
            <a:r>
              <a:rPr lang="en-US" dirty="0" smtClean="0"/>
              <a:t>incidents</a:t>
            </a:r>
          </a:p>
          <a:p>
            <a:pPr lvl="1"/>
            <a:r>
              <a:rPr lang="en-US" b="1" dirty="0"/>
              <a:t>Business Continuity </a:t>
            </a:r>
            <a:endParaRPr lang="en-US" b="1" dirty="0" smtClean="0"/>
          </a:p>
          <a:p>
            <a:pPr lvl="2"/>
            <a:r>
              <a:rPr lang="en-US" dirty="0" smtClean="0">
                <a:solidFill>
                  <a:srgbClr val="0070C0"/>
                </a:solidFill>
              </a:rPr>
              <a:t>Recovery Point Objective </a:t>
            </a:r>
            <a:r>
              <a:rPr lang="en-US" dirty="0">
                <a:solidFill>
                  <a:srgbClr val="0070C0"/>
                </a:solidFill>
              </a:rPr>
              <a:t>(RPO) </a:t>
            </a:r>
            <a:r>
              <a:rPr lang="en-US" dirty="0"/>
              <a:t>is the maximum </a:t>
            </a:r>
            <a:r>
              <a:rPr lang="en-US" dirty="0" smtClean="0"/>
              <a:t>amount of </a:t>
            </a:r>
            <a:r>
              <a:rPr lang="en-US" dirty="0"/>
              <a:t>data loss that is acceptable after a data loss </a:t>
            </a:r>
            <a:r>
              <a:rPr lang="en-US" dirty="0" smtClean="0"/>
              <a:t>incident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Recovery Time Objective (RTO)</a:t>
            </a:r>
            <a:r>
              <a:rPr lang="en-US" dirty="0"/>
              <a:t> is the maximum amount </a:t>
            </a:r>
            <a:r>
              <a:rPr lang="en-US" dirty="0" smtClean="0"/>
              <a:t>of time </a:t>
            </a:r>
            <a:r>
              <a:rPr lang="en-US" dirty="0"/>
              <a:t>that is acceptable for restoring and regaining access to data after </a:t>
            </a:r>
            <a:r>
              <a:rPr lang="en-US" dirty="0" smtClean="0"/>
              <a:t>a disruption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5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</a:t>
            </a:r>
            <a:r>
              <a:rPr lang="en-US" dirty="0" smtClean="0"/>
              <a:t>Defense-in-depth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</a:pPr>
            <a:r>
              <a:rPr lang="en-US" dirty="0" smtClean="0"/>
              <a:t>Layers of </a:t>
            </a: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defense-in-depth model for </a:t>
            </a:r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US" dirty="0">
                <a:solidFill>
                  <a:srgbClr val="FF0000"/>
                </a:solidFill>
              </a:rPr>
              <a:t>public </a:t>
            </a:r>
            <a:r>
              <a:rPr lang="en-US" dirty="0" smtClean="0">
                <a:solidFill>
                  <a:srgbClr val="FF0000"/>
                </a:solidFill>
              </a:rPr>
              <a:t>cloud</a:t>
            </a:r>
          </a:p>
          <a:p>
            <a:pPr lvl="1">
              <a:lnSpc>
                <a:spcPct val="107000"/>
              </a:lnSpc>
            </a:pPr>
            <a:r>
              <a:rPr lang="en-US" b="1" dirty="0"/>
              <a:t>Hardened Routers</a:t>
            </a:r>
            <a:r>
              <a:rPr lang="en-US" dirty="0"/>
              <a:t> </a:t>
            </a:r>
            <a:endParaRPr lang="en-US" dirty="0" smtClean="0"/>
          </a:p>
          <a:p>
            <a:pPr lvl="2">
              <a:lnSpc>
                <a:spcPct val="107000"/>
              </a:lnSpc>
            </a:pPr>
            <a:r>
              <a:rPr lang="en-US" dirty="0" smtClean="0"/>
              <a:t>Routers </a:t>
            </a:r>
            <a:r>
              <a:rPr lang="en-US" dirty="0"/>
              <a:t>are </a:t>
            </a:r>
            <a:r>
              <a:rPr lang="en-US" dirty="0" smtClean="0"/>
              <a:t>usually </a:t>
            </a:r>
            <a:r>
              <a:rPr lang="en-US" dirty="0"/>
              <a:t>the first point of entry to the </a:t>
            </a:r>
            <a:r>
              <a:rPr lang="en-US" dirty="0" smtClean="0"/>
              <a:t>network</a:t>
            </a:r>
          </a:p>
          <a:p>
            <a:pPr lvl="2">
              <a:lnSpc>
                <a:spcPct val="107000"/>
              </a:lnSpc>
            </a:pPr>
            <a:r>
              <a:rPr lang="en-US" dirty="0" smtClean="0"/>
              <a:t>They </a:t>
            </a:r>
            <a:r>
              <a:rPr lang="en-US" dirty="0"/>
              <a:t>should </a:t>
            </a:r>
            <a:r>
              <a:rPr lang="en-US" dirty="0" smtClean="0"/>
              <a:t>be </a:t>
            </a:r>
            <a:r>
              <a:rPr lang="en-US" dirty="0" smtClean="0">
                <a:solidFill>
                  <a:srgbClr val="0070C0"/>
                </a:solidFill>
              </a:rPr>
              <a:t>hardened </a:t>
            </a:r>
            <a:r>
              <a:rPr lang="en-US" dirty="0">
                <a:solidFill>
                  <a:srgbClr val="0070C0"/>
                </a:solidFill>
              </a:rPr>
              <a:t>to prevent </a:t>
            </a:r>
            <a:r>
              <a:rPr lang="en-US" dirty="0" smtClean="0">
                <a:solidFill>
                  <a:srgbClr val="0070C0"/>
                </a:solidFill>
              </a:rPr>
              <a:t>common </a:t>
            </a:r>
            <a:r>
              <a:rPr lang="en-US" dirty="0">
                <a:solidFill>
                  <a:srgbClr val="0070C0"/>
                </a:solidFill>
              </a:rPr>
              <a:t>threats like </a:t>
            </a:r>
            <a:r>
              <a:rPr lang="en-US" dirty="0" smtClean="0">
                <a:solidFill>
                  <a:srgbClr val="0070C0"/>
                </a:solidFill>
              </a:rPr>
              <a:t>spoofing</a:t>
            </a:r>
          </a:p>
          <a:p>
            <a:pPr lvl="1">
              <a:lnSpc>
                <a:spcPct val="107000"/>
              </a:lnSpc>
            </a:pPr>
            <a:r>
              <a:rPr lang="en-US" b="1" dirty="0"/>
              <a:t>Firewalls </a:t>
            </a:r>
            <a:endParaRPr lang="en-US" b="1" dirty="0" smtClean="0"/>
          </a:p>
          <a:p>
            <a:pPr lvl="2">
              <a:lnSpc>
                <a:spcPct val="107000"/>
              </a:lnSpc>
            </a:pPr>
            <a:r>
              <a:rPr lang="en-US" dirty="0" smtClean="0"/>
              <a:t>Firewalls should </a:t>
            </a:r>
            <a:r>
              <a:rPr lang="en-US" dirty="0"/>
              <a:t>be installed at the </a:t>
            </a:r>
            <a:r>
              <a:rPr lang="en-US" dirty="0">
                <a:solidFill>
                  <a:srgbClr val="FF0000"/>
                </a:solidFill>
              </a:rPr>
              <a:t>edge of the network </a:t>
            </a:r>
            <a:r>
              <a:rPr lang="en-US" dirty="0" smtClean="0"/>
              <a:t>as well </a:t>
            </a:r>
            <a:r>
              <a:rPr lang="en-US" dirty="0">
                <a:solidFill>
                  <a:srgbClr val="FF0000"/>
                </a:solidFill>
              </a:rPr>
              <a:t>between critical security zones</a:t>
            </a:r>
            <a:r>
              <a:rPr lang="en-US" dirty="0"/>
              <a:t> </a:t>
            </a:r>
            <a:r>
              <a:rPr lang="en-US" dirty="0" smtClean="0"/>
              <a:t>within </a:t>
            </a:r>
            <a:r>
              <a:rPr lang="en-US" dirty="0"/>
              <a:t>the </a:t>
            </a:r>
            <a:r>
              <a:rPr lang="en-US" dirty="0" smtClean="0"/>
              <a:t>infrastructure</a:t>
            </a:r>
          </a:p>
          <a:p>
            <a:pPr lvl="1">
              <a:lnSpc>
                <a:spcPct val="107000"/>
              </a:lnSpc>
            </a:pPr>
            <a:r>
              <a:rPr lang="en-US" b="1" dirty="0"/>
              <a:t>Application-level Proxy or </a:t>
            </a:r>
            <a:r>
              <a:rPr lang="en-US" b="1" dirty="0" smtClean="0"/>
              <a:t>Firewall</a:t>
            </a:r>
          </a:p>
          <a:p>
            <a:pPr lvl="2">
              <a:lnSpc>
                <a:spcPct val="107000"/>
              </a:lnSpc>
            </a:pPr>
            <a:r>
              <a:rPr lang="en-US" dirty="0" smtClean="0"/>
              <a:t>A proxy applies </a:t>
            </a:r>
            <a:r>
              <a:rPr lang="en-US" dirty="0"/>
              <a:t>the same </a:t>
            </a:r>
            <a:r>
              <a:rPr lang="en-US" dirty="0" smtClean="0"/>
              <a:t>principles of a firewall at the </a:t>
            </a:r>
            <a:r>
              <a:rPr lang="en-US" dirty="0">
                <a:solidFill>
                  <a:srgbClr val="FF0000"/>
                </a:solidFill>
              </a:rPr>
              <a:t>application </a:t>
            </a:r>
            <a:r>
              <a:rPr lang="en-US" dirty="0" smtClean="0">
                <a:solidFill>
                  <a:srgbClr val="FF0000"/>
                </a:solidFill>
              </a:rPr>
              <a:t>layer</a:t>
            </a:r>
          </a:p>
          <a:p>
            <a:pPr lvl="1">
              <a:lnSpc>
                <a:spcPct val="107000"/>
              </a:lnSpc>
            </a:pPr>
            <a:r>
              <a:rPr lang="en-US" b="1" dirty="0"/>
              <a:t>Security Event Management (SEM</a:t>
            </a:r>
            <a:r>
              <a:rPr lang="en-US" b="1" dirty="0" smtClean="0"/>
              <a:t>)</a:t>
            </a:r>
          </a:p>
          <a:p>
            <a:pPr lvl="2">
              <a:lnSpc>
                <a:spcPct val="107000"/>
              </a:lnSpc>
            </a:pPr>
            <a:r>
              <a:rPr lang="en-US" dirty="0" smtClean="0"/>
              <a:t>Security </a:t>
            </a:r>
            <a:r>
              <a:rPr lang="en-US" dirty="0"/>
              <a:t>event generation, </a:t>
            </a:r>
            <a:r>
              <a:rPr lang="en-US" dirty="0" smtClean="0"/>
              <a:t>collection</a:t>
            </a:r>
            <a:r>
              <a:rPr lang="en-US" dirty="0"/>
              <a:t>, </a:t>
            </a:r>
            <a:r>
              <a:rPr lang="en-US" dirty="0" smtClean="0"/>
              <a:t>analysis</a:t>
            </a:r>
            <a:r>
              <a:rPr lang="en-US" dirty="0"/>
              <a:t>, and </a:t>
            </a:r>
            <a:r>
              <a:rPr lang="en-US" dirty="0" smtClean="0"/>
              <a:t>alerting process</a:t>
            </a:r>
          </a:p>
          <a:p>
            <a:pPr lvl="1">
              <a:lnSpc>
                <a:spcPct val="107000"/>
              </a:lnSpc>
            </a:pPr>
            <a:r>
              <a:rPr lang="en-US" b="1" dirty="0"/>
              <a:t>Host and Network Intrusion </a:t>
            </a:r>
            <a:r>
              <a:rPr lang="en-US" b="1" dirty="0" smtClean="0"/>
              <a:t>Detection/Prevention</a:t>
            </a:r>
          </a:p>
          <a:p>
            <a:pPr lvl="2">
              <a:lnSpc>
                <a:spcPct val="107000"/>
              </a:lnSpc>
            </a:pPr>
            <a:r>
              <a:rPr lang="en-US" dirty="0" smtClean="0"/>
              <a:t>Detecting potential intrusions</a:t>
            </a:r>
            <a:r>
              <a:rPr lang="en-US" dirty="0"/>
              <a:t>, misuse, or insider threats</a:t>
            </a:r>
          </a:p>
          <a:p>
            <a:pPr marL="915988" lvl="2" indent="0">
              <a:lnSpc>
                <a:spcPct val="107000"/>
              </a:lnSpc>
              <a:buNone/>
            </a:pPr>
            <a:endParaRPr lang="en-US" dirty="0" smtClean="0"/>
          </a:p>
          <a:p>
            <a:pPr lvl="1">
              <a:lnSpc>
                <a:spcPct val="107000"/>
              </a:lnSpc>
            </a:pPr>
            <a:endParaRPr lang="en-US" dirty="0" smtClean="0"/>
          </a:p>
          <a:p>
            <a:pPr lvl="1">
              <a:lnSpc>
                <a:spcPct val="107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5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Defense-in-depth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160" y="1524001"/>
            <a:ext cx="8615041" cy="4657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419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Security Criteria: Other Considerations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Patch </a:t>
            </a:r>
            <a:r>
              <a:rPr lang="en-US" dirty="0" smtClean="0"/>
              <a:t>Management</a:t>
            </a:r>
          </a:p>
          <a:p>
            <a:r>
              <a:rPr lang="en-US" dirty="0" smtClean="0"/>
              <a:t>Security </a:t>
            </a:r>
            <a:r>
              <a:rPr lang="en-US" dirty="0"/>
              <a:t>Operations </a:t>
            </a:r>
            <a:r>
              <a:rPr lang="en-US" dirty="0" smtClean="0"/>
              <a:t>Center</a:t>
            </a:r>
          </a:p>
          <a:p>
            <a:r>
              <a:rPr lang="en-US" dirty="0"/>
              <a:t>Infrastructure</a:t>
            </a:r>
          </a:p>
          <a:p>
            <a:r>
              <a:rPr lang="en-US" dirty="0" smtClean="0"/>
              <a:t>Platforms</a:t>
            </a:r>
          </a:p>
          <a:p>
            <a:r>
              <a:rPr lang="en-US" dirty="0"/>
              <a:t>Data </a:t>
            </a:r>
            <a:r>
              <a:rPr lang="en-US" dirty="0" smtClean="0"/>
              <a:t>Backups</a:t>
            </a:r>
          </a:p>
          <a:p>
            <a:r>
              <a:rPr lang="en-US" dirty="0"/>
              <a:t>Security </a:t>
            </a:r>
            <a:r>
              <a:rPr lang="en-US" dirty="0" smtClean="0"/>
              <a:t>Practice</a:t>
            </a:r>
          </a:p>
          <a:p>
            <a:r>
              <a:rPr lang="en-US" dirty="0"/>
              <a:t>Service Level Agreements</a:t>
            </a:r>
          </a:p>
          <a:p>
            <a:r>
              <a:rPr lang="en-US" dirty="0"/>
              <a:t>Elasticity</a:t>
            </a:r>
          </a:p>
          <a:p>
            <a:r>
              <a:rPr lang="en-US" dirty="0"/>
              <a:t>Data Center Location</a:t>
            </a:r>
          </a:p>
          <a:p>
            <a:r>
              <a:rPr lang="en-US" dirty="0" smtClean="0"/>
              <a:t>Staff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3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Patch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5000"/>
              </a:lnSpc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formal patch management process </a:t>
            </a:r>
            <a:r>
              <a:rPr lang="en-US" dirty="0"/>
              <a:t>is a key to ongoing </a:t>
            </a:r>
            <a:r>
              <a:rPr lang="en-US" dirty="0" smtClean="0"/>
              <a:t>security</a:t>
            </a:r>
          </a:p>
          <a:p>
            <a:pPr lvl="1">
              <a:lnSpc>
                <a:spcPct val="115000"/>
              </a:lnSpc>
            </a:pPr>
            <a:r>
              <a:rPr lang="en-US" dirty="0" smtClean="0"/>
              <a:t>With </a:t>
            </a:r>
            <a:r>
              <a:rPr lang="en-US" dirty="0"/>
              <a:t>a </a:t>
            </a:r>
            <a:r>
              <a:rPr lang="en-US" dirty="0" smtClean="0"/>
              <a:t>public cloud </a:t>
            </a:r>
            <a:r>
              <a:rPr lang="en-US" dirty="0"/>
              <a:t>you are </a:t>
            </a:r>
            <a:r>
              <a:rPr lang="en-US" dirty="0">
                <a:solidFill>
                  <a:srgbClr val="0070C0"/>
                </a:solidFill>
              </a:rPr>
              <a:t>relying on the cloud provider to patch their </a:t>
            </a:r>
            <a:r>
              <a:rPr lang="en-US" dirty="0" smtClean="0">
                <a:solidFill>
                  <a:srgbClr val="0070C0"/>
                </a:solidFill>
              </a:rPr>
              <a:t>systems</a:t>
            </a:r>
          </a:p>
          <a:p>
            <a:pPr lvl="1">
              <a:lnSpc>
                <a:spcPct val="115000"/>
              </a:lnSpc>
            </a:pPr>
            <a:r>
              <a:rPr lang="en-US" dirty="0" smtClean="0"/>
              <a:t>This </a:t>
            </a:r>
            <a:r>
              <a:rPr lang="en-US" dirty="0"/>
              <a:t>is of paramount importance when you are </a:t>
            </a:r>
            <a:r>
              <a:rPr lang="en-US" dirty="0" smtClean="0"/>
              <a:t>talking about </a:t>
            </a:r>
            <a:r>
              <a:rPr lang="en-US" dirty="0"/>
              <a:t>patching the foundation, such as </a:t>
            </a:r>
            <a:r>
              <a:rPr lang="en-US" dirty="0">
                <a:solidFill>
                  <a:srgbClr val="00B050"/>
                </a:solidFill>
              </a:rPr>
              <a:t>virtualization-level </a:t>
            </a:r>
            <a:r>
              <a:rPr lang="en-US" dirty="0" smtClean="0">
                <a:solidFill>
                  <a:srgbClr val="00B050"/>
                </a:solidFill>
              </a:rPr>
              <a:t>vulnerabilities</a:t>
            </a:r>
          </a:p>
          <a:p>
            <a:pPr>
              <a:lnSpc>
                <a:spcPct val="115000"/>
              </a:lnSpc>
            </a:pPr>
            <a:r>
              <a:rPr lang="en-US" b="1" dirty="0" smtClean="0">
                <a:solidFill>
                  <a:srgbClr val="00B050"/>
                </a:solidFill>
              </a:rPr>
              <a:t>Operational </a:t>
            </a:r>
            <a:r>
              <a:rPr lang="en-US" b="1" dirty="0">
                <a:solidFill>
                  <a:srgbClr val="00B050"/>
                </a:solidFill>
              </a:rPr>
              <a:t>VMs </a:t>
            </a:r>
            <a:r>
              <a:rPr lang="en-US" dirty="0"/>
              <a:t>may also require </a:t>
            </a:r>
            <a:r>
              <a:rPr lang="en-US" dirty="0" smtClean="0"/>
              <a:t>patching</a:t>
            </a:r>
          </a:p>
          <a:p>
            <a:pPr lvl="1">
              <a:lnSpc>
                <a:spcPct val="115000"/>
              </a:lnSpc>
            </a:pPr>
            <a:r>
              <a:rPr lang="en-US" dirty="0" smtClean="0"/>
              <a:t>The sheer </a:t>
            </a:r>
            <a:r>
              <a:rPr lang="en-US" dirty="0"/>
              <a:t>number of VMs in a virtualized cloud makes </a:t>
            </a:r>
            <a:r>
              <a:rPr lang="en-US" dirty="0">
                <a:solidFill>
                  <a:srgbClr val="FF0000"/>
                </a:solidFill>
              </a:rPr>
              <a:t>patching all VMs </a:t>
            </a:r>
            <a:r>
              <a:rPr lang="en-US" dirty="0" smtClean="0">
                <a:solidFill>
                  <a:srgbClr val="FF0000"/>
                </a:solidFill>
              </a:rPr>
              <a:t>unrealistic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lnSpc>
                <a:spcPct val="115000"/>
              </a:lnSpc>
            </a:pPr>
            <a:r>
              <a:rPr lang="en-US" dirty="0"/>
              <a:t>Virtualization brings </a:t>
            </a:r>
            <a:r>
              <a:rPr lang="en-US" dirty="0">
                <a:solidFill>
                  <a:srgbClr val="0070C0"/>
                </a:solidFill>
              </a:rPr>
              <a:t>new opportunity to the traditional patch </a:t>
            </a:r>
            <a:r>
              <a:rPr lang="en-US" dirty="0" smtClean="0">
                <a:solidFill>
                  <a:srgbClr val="0070C0"/>
                </a:solidFill>
              </a:rPr>
              <a:t>process</a:t>
            </a:r>
          </a:p>
          <a:p>
            <a:pPr lvl="2">
              <a:lnSpc>
                <a:spcPct val="115000"/>
              </a:lnSpc>
            </a:pPr>
            <a:r>
              <a:rPr lang="en-US" dirty="0" smtClean="0"/>
              <a:t>It is easier </a:t>
            </a:r>
            <a:r>
              <a:rPr lang="en-US" dirty="0"/>
              <a:t>to </a:t>
            </a:r>
            <a:r>
              <a:rPr lang="en-US" dirty="0">
                <a:solidFill>
                  <a:srgbClr val="7030A0"/>
                </a:solidFill>
              </a:rPr>
              <a:t>patch a golden image </a:t>
            </a:r>
            <a:r>
              <a:rPr lang="en-US" dirty="0"/>
              <a:t>and then copy customer components to a copy </a:t>
            </a:r>
            <a:r>
              <a:rPr lang="en-US" dirty="0" smtClean="0"/>
              <a:t>of that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1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Operations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equipment protecting an infrastructure often is only </a:t>
            </a:r>
            <a:r>
              <a:rPr lang="en-US" i="1" dirty="0">
                <a:solidFill>
                  <a:srgbClr val="FF0000"/>
                </a:solidFill>
              </a:rPr>
              <a:t>as good as the </a:t>
            </a:r>
            <a:r>
              <a:rPr lang="en-US" i="1" dirty="0" smtClean="0">
                <a:solidFill>
                  <a:srgbClr val="FF0000"/>
                </a:solidFill>
              </a:rPr>
              <a:t>engineers managing it</a:t>
            </a:r>
          </a:p>
          <a:p>
            <a:r>
              <a:rPr lang="en-US" dirty="0"/>
              <a:t>In the event </a:t>
            </a:r>
            <a:r>
              <a:rPr lang="en-US" dirty="0" smtClean="0"/>
              <a:t>of a </a:t>
            </a:r>
            <a:r>
              <a:rPr lang="en-US" dirty="0"/>
              <a:t>critical security issue, there needs to be </a:t>
            </a:r>
            <a:r>
              <a:rPr lang="en-US" dirty="0">
                <a:solidFill>
                  <a:srgbClr val="0070C0"/>
                </a:solidFill>
              </a:rPr>
              <a:t>a team of qualified engineers </a:t>
            </a:r>
            <a:r>
              <a:rPr lang="en-US" dirty="0"/>
              <a:t>in place </a:t>
            </a:r>
            <a:r>
              <a:rPr lang="en-US" dirty="0" smtClean="0"/>
              <a:t>to </a:t>
            </a:r>
          </a:p>
          <a:p>
            <a:pPr lvl="1"/>
            <a:r>
              <a:rPr lang="en-US" dirty="0" smtClean="0"/>
              <a:t>assess </a:t>
            </a:r>
            <a:r>
              <a:rPr lang="en-US" dirty="0"/>
              <a:t>the threat, diagnose its impact, and react </a:t>
            </a:r>
            <a:r>
              <a:rPr lang="en-US" dirty="0" smtClean="0"/>
              <a:t>accordingly</a:t>
            </a:r>
          </a:p>
          <a:p>
            <a:r>
              <a:rPr lang="en-US" dirty="0" smtClean="0"/>
              <a:t>These </a:t>
            </a:r>
            <a:r>
              <a:rPr lang="en-US" dirty="0"/>
              <a:t>engineers </a:t>
            </a:r>
            <a:r>
              <a:rPr lang="en-US" dirty="0" smtClean="0"/>
              <a:t>need to </a:t>
            </a:r>
            <a:r>
              <a:rPr lang="en-US" dirty="0"/>
              <a:t>have a </a:t>
            </a:r>
            <a:r>
              <a:rPr lang="en-US" i="1" dirty="0">
                <a:solidFill>
                  <a:srgbClr val="FF0000"/>
                </a:solidFill>
              </a:rPr>
              <a:t>primary responsibility of </a:t>
            </a:r>
            <a:r>
              <a:rPr lang="en-US" i="1" dirty="0" smtClean="0">
                <a:solidFill>
                  <a:srgbClr val="FF0000"/>
                </a:solidFill>
              </a:rPr>
              <a:t>security</a:t>
            </a:r>
            <a:r>
              <a:rPr lang="en-US" dirty="0" smtClean="0"/>
              <a:t>, but not of operations, as the two roles </a:t>
            </a:r>
            <a:r>
              <a:rPr lang="en-US" dirty="0"/>
              <a:t>can </a:t>
            </a:r>
            <a:r>
              <a:rPr lang="en-US" dirty="0" smtClean="0"/>
              <a:t>conflict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team is often called a </a:t>
            </a:r>
            <a:r>
              <a:rPr lang="en-US" dirty="0" smtClean="0">
                <a:solidFill>
                  <a:srgbClr val="00B050"/>
                </a:solidFill>
              </a:rPr>
              <a:t>Security Operations Center (</a:t>
            </a:r>
            <a:r>
              <a:rPr lang="en-US" dirty="0">
                <a:solidFill>
                  <a:srgbClr val="00B050"/>
                </a:solidFill>
              </a:rPr>
              <a:t>SOC) </a:t>
            </a:r>
            <a:r>
              <a:rPr lang="en-US" dirty="0" smtClean="0"/>
              <a:t>in contrast to the </a:t>
            </a:r>
            <a:r>
              <a:rPr lang="en-US" dirty="0" smtClean="0">
                <a:solidFill>
                  <a:srgbClr val="00B050"/>
                </a:solidFill>
              </a:rPr>
              <a:t>Network Operations Center </a:t>
            </a:r>
            <a:r>
              <a:rPr lang="en-US" dirty="0">
                <a:solidFill>
                  <a:srgbClr val="00B050"/>
                </a:solidFill>
              </a:rPr>
              <a:t>(NOC</a:t>
            </a:r>
            <a:r>
              <a:rPr lang="en-US" dirty="0" smtClean="0">
                <a:solidFill>
                  <a:srgbClr val="00B050"/>
                </a:solidFill>
              </a:rPr>
              <a:t>)</a:t>
            </a:r>
          </a:p>
          <a:p>
            <a:r>
              <a:rPr lang="en-US" dirty="0"/>
              <a:t>The CSP should also be </a:t>
            </a:r>
            <a:r>
              <a:rPr lang="en-US" i="1" dirty="0">
                <a:solidFill>
                  <a:srgbClr val="FF0000"/>
                </a:solidFill>
              </a:rPr>
              <a:t>responsive to requests that you submit </a:t>
            </a:r>
            <a:endParaRPr lang="en-US" i="1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This will have an impact </a:t>
            </a:r>
            <a:r>
              <a:rPr lang="en-US" dirty="0"/>
              <a:t>on your ability to secure your use of the cloud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5000"/>
              </a:lnSpc>
            </a:pPr>
            <a:r>
              <a:rPr lang="en-US" dirty="0"/>
              <a:t>Although a customer purchases a service that is </a:t>
            </a:r>
            <a:r>
              <a:rPr lang="en-US" i="1" dirty="0">
                <a:solidFill>
                  <a:srgbClr val="FF0000"/>
                </a:solidFill>
              </a:rPr>
              <a:t>abstracted away from </a:t>
            </a:r>
            <a:r>
              <a:rPr lang="en-US" i="1" dirty="0" smtClean="0">
                <a:solidFill>
                  <a:srgbClr val="FF0000"/>
                </a:solidFill>
              </a:rPr>
              <a:t>underlying infrastructure</a:t>
            </a:r>
            <a:r>
              <a:rPr lang="en-US" dirty="0"/>
              <a:t>, the CSPs infrastructure is of great importance when </a:t>
            </a:r>
            <a:r>
              <a:rPr lang="en-US" dirty="0" smtClean="0"/>
              <a:t>considering security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Ultimately, your </a:t>
            </a:r>
            <a:r>
              <a:rPr lang="en-US" dirty="0"/>
              <a:t>data is only </a:t>
            </a:r>
            <a:r>
              <a:rPr lang="en-US" dirty="0">
                <a:solidFill>
                  <a:srgbClr val="0070C0"/>
                </a:solidFill>
              </a:rPr>
              <a:t>as secure as the infrastructure and </a:t>
            </a:r>
            <a:r>
              <a:rPr lang="en-US" dirty="0" smtClean="0">
                <a:solidFill>
                  <a:srgbClr val="0070C0"/>
                </a:solidFill>
              </a:rPr>
              <a:t>physical locations are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A </a:t>
            </a:r>
            <a:r>
              <a:rPr lang="en-US" dirty="0"/>
              <a:t>CSP is </a:t>
            </a:r>
            <a:r>
              <a:rPr lang="en-US" i="1" dirty="0">
                <a:solidFill>
                  <a:srgbClr val="00B050"/>
                </a:solidFill>
              </a:rPr>
              <a:t>unlikely to provide details such as exact specifications </a:t>
            </a:r>
            <a:r>
              <a:rPr lang="en-US" dirty="0" smtClean="0"/>
              <a:t>of the </a:t>
            </a:r>
            <a:r>
              <a:rPr lang="en-US" dirty="0"/>
              <a:t>servers or their patch </a:t>
            </a:r>
            <a:r>
              <a:rPr lang="en-US" dirty="0" smtClean="0"/>
              <a:t>levels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However  </a:t>
            </a:r>
            <a:r>
              <a:rPr lang="en-US" dirty="0"/>
              <a:t>an organization adopting that cloud </a:t>
            </a:r>
            <a:r>
              <a:rPr lang="en-US" dirty="0" smtClean="0"/>
              <a:t>should have </a:t>
            </a:r>
            <a:r>
              <a:rPr lang="en-US" dirty="0"/>
              <a:t>more than just an understanding of the </a:t>
            </a:r>
            <a:r>
              <a:rPr lang="en-US" dirty="0">
                <a:solidFill>
                  <a:srgbClr val="0070C0"/>
                </a:solidFill>
              </a:rPr>
              <a:t>policies that are in place to </a:t>
            </a:r>
            <a:r>
              <a:rPr lang="en-US" dirty="0" smtClean="0">
                <a:solidFill>
                  <a:srgbClr val="0070C0"/>
                </a:solidFill>
              </a:rPr>
              <a:t>address these concerns</a:t>
            </a:r>
          </a:p>
          <a:p>
            <a:pPr lvl="2">
              <a:lnSpc>
                <a:spcPct val="105000"/>
              </a:lnSpc>
            </a:pPr>
            <a:r>
              <a:rPr lang="en-US" dirty="0" smtClean="0"/>
              <a:t>They </a:t>
            </a:r>
            <a:r>
              <a:rPr lang="en-US" dirty="0"/>
              <a:t>should also have a sufficient </a:t>
            </a:r>
            <a:r>
              <a:rPr lang="en-US" dirty="0">
                <a:solidFill>
                  <a:srgbClr val="7030A0"/>
                </a:solidFill>
              </a:rPr>
              <a:t>understanding of the </a:t>
            </a:r>
            <a:r>
              <a:rPr lang="en-US" dirty="0" smtClean="0">
                <a:solidFill>
                  <a:srgbClr val="7030A0"/>
                </a:solidFill>
              </a:rPr>
              <a:t>environment in </a:t>
            </a:r>
            <a:r>
              <a:rPr lang="en-US" dirty="0">
                <a:solidFill>
                  <a:srgbClr val="7030A0"/>
                </a:solidFill>
              </a:rPr>
              <a:t>which their business will operate </a:t>
            </a:r>
            <a:r>
              <a:rPr lang="en-US" dirty="0" smtClean="0">
                <a:solidFill>
                  <a:srgbClr val="7030A0"/>
                </a:solidFill>
              </a:rPr>
              <a:t>from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9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Platforms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3000"/>
              </a:lnSpc>
            </a:pPr>
            <a:r>
              <a:rPr lang="en-US" dirty="0"/>
              <a:t>The kind of servers that are deployed along with the </a:t>
            </a:r>
            <a:r>
              <a:rPr lang="en-US" i="1" dirty="0">
                <a:solidFill>
                  <a:srgbClr val="FF0000"/>
                </a:solidFill>
              </a:rPr>
              <a:t>foundational software </a:t>
            </a:r>
            <a:r>
              <a:rPr lang="en-US" i="1" dirty="0" smtClean="0">
                <a:solidFill>
                  <a:srgbClr val="FF0000"/>
                </a:solidFill>
              </a:rPr>
              <a:t>that comprises </a:t>
            </a:r>
            <a:r>
              <a:rPr lang="en-US" i="1" dirty="0">
                <a:solidFill>
                  <a:srgbClr val="FF0000"/>
                </a:solidFill>
              </a:rPr>
              <a:t>the cloud</a:t>
            </a:r>
            <a:r>
              <a:rPr lang="en-US" dirty="0"/>
              <a:t> can be valuable information for </a:t>
            </a:r>
            <a:r>
              <a:rPr lang="en-US" dirty="0" smtClean="0"/>
              <a:t>customers </a:t>
            </a:r>
          </a:p>
          <a:p>
            <a:pPr lvl="1">
              <a:lnSpc>
                <a:spcPct val="103000"/>
              </a:lnSpc>
            </a:pPr>
            <a:r>
              <a:rPr lang="en-US" dirty="0" smtClean="0"/>
              <a:t>If a cloud </a:t>
            </a:r>
            <a:r>
              <a:rPr lang="en-US" dirty="0"/>
              <a:t>is built on virtualization, </a:t>
            </a:r>
            <a:r>
              <a:rPr lang="en-US" i="1" dirty="0">
                <a:solidFill>
                  <a:srgbClr val="0070C0"/>
                </a:solidFill>
              </a:rPr>
              <a:t>an understanding of how virtualization is </a:t>
            </a:r>
            <a:r>
              <a:rPr lang="en-US" i="1" dirty="0" smtClean="0">
                <a:solidFill>
                  <a:srgbClr val="0070C0"/>
                </a:solidFill>
              </a:rPr>
              <a:t>accomplished is important</a:t>
            </a:r>
          </a:p>
          <a:p>
            <a:pPr>
              <a:lnSpc>
                <a:spcPct val="103000"/>
              </a:lnSpc>
            </a:pPr>
            <a:r>
              <a:rPr lang="en-US" dirty="0"/>
              <a:t>There are several </a:t>
            </a:r>
            <a:r>
              <a:rPr lang="en-US" dirty="0" smtClean="0"/>
              <a:t>virtualization </a:t>
            </a:r>
            <a:r>
              <a:rPr lang="en-US" dirty="0"/>
              <a:t>products </a:t>
            </a:r>
            <a:r>
              <a:rPr lang="en-US" dirty="0" smtClean="0"/>
              <a:t>available that </a:t>
            </a:r>
            <a:r>
              <a:rPr lang="en-US" dirty="0"/>
              <a:t>form clouds, including </a:t>
            </a:r>
            <a:r>
              <a:rPr lang="en-US" dirty="0" err="1">
                <a:solidFill>
                  <a:srgbClr val="7030A0"/>
                </a:solidFill>
              </a:rPr>
              <a:t>VMWare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Xen</a:t>
            </a:r>
            <a:r>
              <a:rPr lang="en-US" dirty="0">
                <a:solidFill>
                  <a:srgbClr val="7030A0"/>
                </a:solidFill>
              </a:rPr>
              <a:t>, and </a:t>
            </a:r>
            <a:r>
              <a:rPr lang="en-US" dirty="0" smtClean="0">
                <a:solidFill>
                  <a:srgbClr val="7030A0"/>
                </a:solidFill>
              </a:rPr>
              <a:t>Microsoft’s Hyper-V</a:t>
            </a:r>
          </a:p>
          <a:p>
            <a:pPr lvl="1">
              <a:lnSpc>
                <a:spcPct val="103000"/>
              </a:lnSpc>
            </a:pPr>
            <a:r>
              <a:rPr lang="en-US" dirty="0"/>
              <a:t>Virtualization security is still </a:t>
            </a:r>
            <a:r>
              <a:rPr lang="en-US" dirty="0">
                <a:solidFill>
                  <a:srgbClr val="0070C0"/>
                </a:solidFill>
              </a:rPr>
              <a:t>an evolving </a:t>
            </a:r>
            <a:r>
              <a:rPr lang="en-US" dirty="0" smtClean="0">
                <a:solidFill>
                  <a:srgbClr val="0070C0"/>
                </a:solidFill>
              </a:rPr>
              <a:t>science</a:t>
            </a:r>
            <a:endParaRPr lang="en-US" dirty="0" smtClean="0"/>
          </a:p>
          <a:p>
            <a:pPr lvl="2">
              <a:lnSpc>
                <a:spcPct val="103000"/>
              </a:lnSpc>
            </a:pPr>
            <a:r>
              <a:rPr lang="en-US" dirty="0" smtClean="0"/>
              <a:t>There </a:t>
            </a:r>
            <a:r>
              <a:rPr lang="en-US" dirty="0"/>
              <a:t>is </a:t>
            </a:r>
            <a:r>
              <a:rPr lang="en-US" dirty="0" smtClean="0"/>
              <a:t>currently a tremendous amount </a:t>
            </a:r>
            <a:r>
              <a:rPr lang="en-US" dirty="0"/>
              <a:t>of </a:t>
            </a:r>
            <a:r>
              <a:rPr lang="en-US" dirty="0">
                <a:solidFill>
                  <a:srgbClr val="7030A0"/>
                </a:solidFill>
              </a:rPr>
              <a:t>research and </a:t>
            </a:r>
            <a:r>
              <a:rPr lang="en-US" dirty="0" smtClean="0">
                <a:solidFill>
                  <a:srgbClr val="7030A0"/>
                </a:solidFill>
              </a:rPr>
              <a:t>development</a:t>
            </a:r>
          </a:p>
          <a:p>
            <a:pPr lvl="1">
              <a:lnSpc>
                <a:spcPct val="103000"/>
              </a:lnSpc>
            </a:pPr>
            <a:r>
              <a:rPr lang="en-US" dirty="0"/>
              <a:t>An </a:t>
            </a:r>
            <a:r>
              <a:rPr lang="en-US" i="1" dirty="0">
                <a:solidFill>
                  <a:srgbClr val="FF0000"/>
                </a:solidFill>
              </a:rPr>
              <a:t>understanding of what kind of platform is used</a:t>
            </a:r>
            <a:r>
              <a:rPr lang="en-US" dirty="0"/>
              <a:t> allows the subscribing </a:t>
            </a:r>
            <a:r>
              <a:rPr lang="en-US" dirty="0" smtClean="0"/>
              <a:t>organization to </a:t>
            </a:r>
            <a:r>
              <a:rPr lang="en-US" dirty="0"/>
              <a:t>know </a:t>
            </a:r>
            <a:r>
              <a:rPr lang="en-US" dirty="0">
                <a:solidFill>
                  <a:srgbClr val="0070C0"/>
                </a:solidFill>
              </a:rPr>
              <a:t>what threats might exist</a:t>
            </a:r>
            <a:r>
              <a:rPr lang="en-US" dirty="0"/>
              <a:t> as new vulnerabilities are </a:t>
            </a:r>
            <a:r>
              <a:rPr lang="en-US" dirty="0" smtClean="0"/>
              <a:t>discovered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7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Backups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basic element of any disaster recovery plan is </a:t>
            </a:r>
            <a:r>
              <a:rPr lang="en-US" dirty="0">
                <a:solidFill>
                  <a:srgbClr val="0070C0"/>
                </a:solidFill>
              </a:rPr>
              <a:t>data backups and moving </a:t>
            </a:r>
            <a:r>
              <a:rPr lang="en-US" dirty="0" smtClean="0">
                <a:solidFill>
                  <a:srgbClr val="0070C0"/>
                </a:solidFill>
              </a:rPr>
              <a:t>those backups off-site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can take the form of backing data up to </a:t>
            </a:r>
            <a:r>
              <a:rPr lang="en-US" dirty="0">
                <a:solidFill>
                  <a:srgbClr val="FF0000"/>
                </a:solidFill>
              </a:rPr>
              <a:t>high capacity </a:t>
            </a:r>
            <a:r>
              <a:rPr lang="en-US" dirty="0" smtClean="0">
                <a:solidFill>
                  <a:srgbClr val="FF0000"/>
                </a:solidFill>
              </a:rPr>
              <a:t>storage tapes</a:t>
            </a:r>
            <a:r>
              <a:rPr lang="en-US" dirty="0" smtClean="0"/>
              <a:t> </a:t>
            </a:r>
            <a:r>
              <a:rPr lang="en-US" dirty="0"/>
              <a:t>and moving those tapes </a:t>
            </a:r>
            <a:r>
              <a:rPr lang="en-US" dirty="0" smtClean="0"/>
              <a:t>off-site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same can be done with </a:t>
            </a:r>
            <a:r>
              <a:rPr lang="en-US" dirty="0" smtClean="0">
                <a:solidFill>
                  <a:srgbClr val="FF0000"/>
                </a:solidFill>
              </a:rPr>
              <a:t>disk-based storage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remote network-based </a:t>
            </a:r>
            <a:r>
              <a:rPr lang="en-US" dirty="0" smtClean="0">
                <a:solidFill>
                  <a:srgbClr val="FF0000"/>
                </a:solidFill>
              </a:rPr>
              <a:t>backups</a:t>
            </a:r>
          </a:p>
          <a:p>
            <a:r>
              <a:rPr lang="en-US" dirty="0" smtClean="0"/>
              <a:t>The act </a:t>
            </a:r>
            <a:r>
              <a:rPr lang="en-US" dirty="0"/>
              <a:t>of backing up the cloud </a:t>
            </a:r>
            <a:r>
              <a:rPr lang="en-US" dirty="0">
                <a:solidFill>
                  <a:srgbClr val="00B050"/>
                </a:solidFill>
              </a:rPr>
              <a:t>might </a:t>
            </a:r>
            <a:r>
              <a:rPr lang="en-US" dirty="0" smtClean="0">
                <a:solidFill>
                  <a:srgbClr val="00B050"/>
                </a:solidFill>
              </a:rPr>
              <a:t>compromise security</a:t>
            </a:r>
          </a:p>
          <a:p>
            <a:pPr lvl="1"/>
            <a:r>
              <a:rPr lang="en-US" dirty="0" smtClean="0"/>
              <a:t>Is </a:t>
            </a:r>
            <a:r>
              <a:rPr lang="en-US" dirty="0">
                <a:solidFill>
                  <a:srgbClr val="7030A0"/>
                </a:solidFill>
              </a:rPr>
              <a:t>encryption</a:t>
            </a:r>
            <a:r>
              <a:rPr lang="en-US" dirty="0"/>
              <a:t> used as backups are created? </a:t>
            </a:r>
            <a:endParaRPr lang="en-US" dirty="0" smtClean="0"/>
          </a:p>
          <a:p>
            <a:pPr lvl="1"/>
            <a:r>
              <a:rPr lang="en-US" dirty="0" smtClean="0"/>
              <a:t>When the </a:t>
            </a:r>
            <a:r>
              <a:rPr lang="en-US" dirty="0"/>
              <a:t>backups are physically being moved to another location is there a </a:t>
            </a:r>
            <a:r>
              <a:rPr lang="en-US" dirty="0">
                <a:solidFill>
                  <a:srgbClr val="7030A0"/>
                </a:solidFill>
              </a:rPr>
              <a:t>chain </a:t>
            </a:r>
            <a:r>
              <a:rPr lang="en-US" dirty="0" smtClean="0">
                <a:solidFill>
                  <a:srgbClr val="7030A0"/>
                </a:solidFill>
              </a:rPr>
              <a:t>of custody</a:t>
            </a:r>
            <a:r>
              <a:rPr lang="en-US" dirty="0"/>
              <a:t>? </a:t>
            </a:r>
            <a:endParaRPr lang="en-US" dirty="0" smtClean="0"/>
          </a:p>
          <a:p>
            <a:pPr lvl="1"/>
            <a:r>
              <a:rPr lang="en-US" dirty="0" smtClean="0"/>
              <a:t>Are </a:t>
            </a:r>
            <a:r>
              <a:rPr lang="en-US" dirty="0"/>
              <a:t>there any measures in place to insure that the data has not </a:t>
            </a:r>
            <a:r>
              <a:rPr lang="en-US" dirty="0" smtClean="0"/>
              <a:t>been </a:t>
            </a:r>
            <a:r>
              <a:rPr lang="en-US" dirty="0" smtClean="0">
                <a:solidFill>
                  <a:srgbClr val="7030A0"/>
                </a:solidFill>
              </a:rPr>
              <a:t>tampered </a:t>
            </a:r>
            <a:r>
              <a:rPr lang="en-US" dirty="0">
                <a:solidFill>
                  <a:srgbClr val="7030A0"/>
                </a:solidFill>
              </a:rPr>
              <a:t>with during the move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</a:t>
            </a:r>
            <a:r>
              <a:rPr lang="en-US" dirty="0" smtClean="0"/>
              <a:t>Practice – Multi-Tenancy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5000"/>
              </a:lnSpc>
            </a:pPr>
            <a:r>
              <a:rPr lang="en-US" dirty="0"/>
              <a:t>One of the most important aspects of a CSPs security policy is to understand </a:t>
            </a:r>
            <a:r>
              <a:rPr lang="en-US" i="1" dirty="0" smtClean="0">
                <a:solidFill>
                  <a:srgbClr val="7030A0"/>
                </a:solidFill>
              </a:rPr>
              <a:t>how one subscriber’s </a:t>
            </a:r>
            <a:r>
              <a:rPr lang="en-US" i="1" dirty="0">
                <a:solidFill>
                  <a:srgbClr val="7030A0"/>
                </a:solidFill>
              </a:rPr>
              <a:t>data </a:t>
            </a:r>
            <a:r>
              <a:rPr lang="en-US" i="1" dirty="0" smtClean="0">
                <a:solidFill>
                  <a:srgbClr val="7030A0"/>
                </a:solidFill>
              </a:rPr>
              <a:t>is </a:t>
            </a:r>
            <a:r>
              <a:rPr lang="en-US" i="1" dirty="0">
                <a:solidFill>
                  <a:srgbClr val="7030A0"/>
                </a:solidFill>
              </a:rPr>
              <a:t>kept separate from another </a:t>
            </a:r>
            <a:r>
              <a:rPr lang="en-US" i="1" dirty="0" smtClean="0">
                <a:solidFill>
                  <a:srgbClr val="7030A0"/>
                </a:solidFill>
              </a:rPr>
              <a:t>user’s data</a:t>
            </a:r>
            <a:endParaRPr lang="en-US" i="1" dirty="0">
              <a:solidFill>
                <a:srgbClr val="7030A0"/>
              </a:solidFill>
            </a:endParaRPr>
          </a:p>
          <a:p>
            <a:pPr>
              <a:lnSpc>
                <a:spcPct val="105000"/>
              </a:lnSpc>
            </a:pPr>
            <a:r>
              <a:rPr lang="en-US" dirty="0" smtClean="0"/>
              <a:t>An </a:t>
            </a:r>
            <a:r>
              <a:rPr lang="en-US" dirty="0"/>
              <a:t>MIT </a:t>
            </a:r>
            <a:r>
              <a:rPr lang="en-US" dirty="0" smtClean="0"/>
              <a:t>paper</a:t>
            </a:r>
            <a:r>
              <a:rPr lang="en-US" i="1" dirty="0" smtClean="0"/>
              <a:t> </a:t>
            </a:r>
            <a:r>
              <a:rPr lang="en-US" dirty="0"/>
              <a:t>described how </a:t>
            </a:r>
            <a:r>
              <a:rPr lang="en-US" dirty="0" smtClean="0"/>
              <a:t>security researchers </a:t>
            </a:r>
            <a:r>
              <a:rPr lang="en-US" dirty="0"/>
              <a:t>found a way to </a:t>
            </a:r>
            <a:r>
              <a:rPr lang="en-US" dirty="0">
                <a:solidFill>
                  <a:srgbClr val="FF0000"/>
                </a:solidFill>
              </a:rPr>
              <a:t>breach the segmentation that Amazon had in place </a:t>
            </a:r>
            <a:r>
              <a:rPr lang="en-US" dirty="0" smtClean="0">
                <a:solidFill>
                  <a:srgbClr val="FF0000"/>
                </a:solidFill>
              </a:rPr>
              <a:t>in their </a:t>
            </a:r>
            <a:r>
              <a:rPr lang="en-US" dirty="0">
                <a:solidFill>
                  <a:srgbClr val="FF0000"/>
                </a:solidFill>
              </a:rPr>
              <a:t>Elastic Compute Cloud </a:t>
            </a:r>
            <a:r>
              <a:rPr lang="en-US" dirty="0" smtClean="0">
                <a:solidFill>
                  <a:srgbClr val="FF0000"/>
                </a:solidFill>
              </a:rPr>
              <a:t>(EC2)</a:t>
            </a:r>
          </a:p>
          <a:p>
            <a:pPr lvl="1">
              <a:lnSpc>
                <a:spcPct val="105000"/>
              </a:lnSpc>
            </a:pPr>
            <a:r>
              <a:rPr lang="en-US" dirty="0" smtClean="0"/>
              <a:t>They proved that </a:t>
            </a:r>
            <a:r>
              <a:rPr lang="en-US" i="1" dirty="0" smtClean="0">
                <a:solidFill>
                  <a:srgbClr val="0070C0"/>
                </a:solidFill>
              </a:rPr>
              <a:t>exploitation </a:t>
            </a:r>
            <a:r>
              <a:rPr lang="en-US" i="1" dirty="0">
                <a:solidFill>
                  <a:srgbClr val="0070C0"/>
                </a:solidFill>
              </a:rPr>
              <a:t>was possible from within one virtual machine to another virtual </a:t>
            </a:r>
            <a:r>
              <a:rPr lang="en-US" i="1" dirty="0" smtClean="0">
                <a:solidFill>
                  <a:srgbClr val="0070C0"/>
                </a:solidFill>
              </a:rPr>
              <a:t>machine</a:t>
            </a:r>
            <a:r>
              <a:rPr lang="en-US" dirty="0" smtClean="0"/>
              <a:t> simply </a:t>
            </a:r>
            <a:r>
              <a:rPr lang="en-US" dirty="0"/>
              <a:t>by existing on the same host </a:t>
            </a:r>
            <a:r>
              <a:rPr lang="en-US" dirty="0" smtClean="0"/>
              <a:t>within </a:t>
            </a:r>
            <a:r>
              <a:rPr lang="en-US" dirty="0"/>
              <a:t>the </a:t>
            </a:r>
            <a:r>
              <a:rPr lang="en-US" dirty="0" smtClean="0"/>
              <a:t>cloud (co-residence)</a:t>
            </a:r>
          </a:p>
          <a:p>
            <a:pPr lvl="1">
              <a:lnSpc>
                <a:spcPct val="105000"/>
              </a:lnSpc>
            </a:pPr>
            <a:r>
              <a:rPr lang="en-US" dirty="0"/>
              <a:t>They were able to successfully exploit how Amazon attempts to </a:t>
            </a:r>
            <a:r>
              <a:rPr lang="en-US" dirty="0" smtClean="0">
                <a:solidFill>
                  <a:srgbClr val="0070C0"/>
                </a:solidFill>
              </a:rPr>
              <a:t>randomize the </a:t>
            </a:r>
            <a:r>
              <a:rPr lang="en-US" dirty="0">
                <a:solidFill>
                  <a:srgbClr val="0070C0"/>
                </a:solidFill>
              </a:rPr>
              <a:t>hosts selected to house </a:t>
            </a:r>
            <a:r>
              <a:rPr lang="en-US" dirty="0" smtClean="0">
                <a:solidFill>
                  <a:srgbClr val="0070C0"/>
                </a:solidFill>
              </a:rPr>
              <a:t>VMs</a:t>
            </a:r>
          </a:p>
          <a:p>
            <a:pPr lvl="1">
              <a:lnSpc>
                <a:spcPct val="105000"/>
              </a:lnSpc>
            </a:pPr>
            <a:r>
              <a:rPr lang="en-US" dirty="0"/>
              <a:t>Amazon very quickly reacted to the vulnerability and further </a:t>
            </a:r>
            <a:r>
              <a:rPr lang="en-US" dirty="0" smtClean="0"/>
              <a:t>randomized their </a:t>
            </a:r>
            <a:r>
              <a:rPr lang="en-US" dirty="0"/>
              <a:t>host selection process, along with other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Level Agreements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Service </a:t>
            </a:r>
            <a:r>
              <a:rPr lang="en-US" b="1" dirty="0" smtClean="0"/>
              <a:t>Level Agreements </a:t>
            </a:r>
            <a:r>
              <a:rPr lang="en-US" b="1" dirty="0"/>
              <a:t>(SLA)</a:t>
            </a:r>
            <a:r>
              <a:rPr lang="en-US" dirty="0"/>
              <a:t> are a critical component of a </a:t>
            </a:r>
            <a:r>
              <a:rPr lang="en-US" dirty="0">
                <a:solidFill>
                  <a:srgbClr val="FF0000"/>
                </a:solidFill>
              </a:rPr>
              <a:t>public </a:t>
            </a:r>
            <a:r>
              <a:rPr lang="en-US" dirty="0" smtClean="0">
                <a:solidFill>
                  <a:srgbClr val="FF0000"/>
                </a:solidFill>
              </a:rPr>
              <a:t>cloud’s availability guarantees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A cloud must be available and network reachable to </a:t>
            </a:r>
            <a:r>
              <a:rPr lang="en-US" dirty="0">
                <a:solidFill>
                  <a:srgbClr val="0070C0"/>
                </a:solidFill>
              </a:rPr>
              <a:t>provide any value to </a:t>
            </a:r>
            <a:r>
              <a:rPr lang="en-US" dirty="0" smtClean="0">
                <a:solidFill>
                  <a:srgbClr val="0070C0"/>
                </a:solidFill>
              </a:rPr>
              <a:t>its tenants </a:t>
            </a:r>
            <a:r>
              <a:rPr lang="en-US" dirty="0">
                <a:solidFill>
                  <a:srgbClr val="0070C0"/>
                </a:solidFill>
              </a:rPr>
              <a:t>or </a:t>
            </a:r>
            <a:r>
              <a:rPr lang="en-US" dirty="0" smtClean="0">
                <a:solidFill>
                  <a:srgbClr val="0070C0"/>
                </a:solidFill>
              </a:rPr>
              <a:t>customers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 smtClean="0"/>
              <a:t> An </a:t>
            </a:r>
            <a:r>
              <a:rPr lang="en-US" dirty="0"/>
              <a:t>SLA is the primary means a customer has of </a:t>
            </a:r>
            <a:r>
              <a:rPr lang="en-US" dirty="0" smtClean="0"/>
              <a:t>assurance that </a:t>
            </a:r>
            <a:r>
              <a:rPr lang="en-US" dirty="0">
                <a:solidFill>
                  <a:srgbClr val="7030A0"/>
                </a:solidFill>
              </a:rPr>
              <a:t>availability will be maintained or </a:t>
            </a:r>
            <a:r>
              <a:rPr lang="en-US" dirty="0" smtClean="0">
                <a:solidFill>
                  <a:srgbClr val="7030A0"/>
                </a:solidFill>
              </a:rPr>
              <a:t>the </a:t>
            </a:r>
            <a:r>
              <a:rPr lang="en-US" dirty="0">
                <a:solidFill>
                  <a:srgbClr val="7030A0"/>
                </a:solidFill>
              </a:rPr>
              <a:t>CSP will incur </a:t>
            </a:r>
            <a:r>
              <a:rPr lang="en-US" dirty="0" smtClean="0">
                <a:solidFill>
                  <a:srgbClr val="7030A0"/>
                </a:solidFill>
              </a:rPr>
              <a:t>penalties</a:t>
            </a:r>
          </a:p>
          <a:p>
            <a:r>
              <a:rPr lang="en-US" dirty="0"/>
              <a:t>As an alternative </a:t>
            </a:r>
            <a:r>
              <a:rPr lang="en-US" dirty="0" smtClean="0"/>
              <a:t>to </a:t>
            </a:r>
            <a:r>
              <a:rPr lang="en-US" dirty="0"/>
              <a:t>third party certification, </a:t>
            </a:r>
            <a:r>
              <a:rPr lang="en-US" dirty="0">
                <a:solidFill>
                  <a:srgbClr val="FF0000"/>
                </a:solidFill>
              </a:rPr>
              <a:t>similar SLAs can </a:t>
            </a:r>
            <a:r>
              <a:rPr lang="en-US" dirty="0" smtClean="0">
                <a:solidFill>
                  <a:srgbClr val="FF0000"/>
                </a:solidFill>
              </a:rPr>
              <a:t>apply to security</a:t>
            </a:r>
          </a:p>
          <a:p>
            <a:pPr lvl="1"/>
            <a:r>
              <a:rPr lang="en-US" dirty="0" smtClean="0"/>
              <a:t>How good is the cloud if it is available but insecure? </a:t>
            </a:r>
          </a:p>
          <a:p>
            <a:pPr lvl="1"/>
            <a:r>
              <a:rPr lang="en-US" dirty="0" smtClean="0"/>
              <a:t>Although a security </a:t>
            </a:r>
            <a:r>
              <a:rPr lang="en-US" dirty="0"/>
              <a:t>SLA will not guarantee security, it </a:t>
            </a:r>
            <a:r>
              <a:rPr lang="en-US" dirty="0">
                <a:solidFill>
                  <a:srgbClr val="7030A0"/>
                </a:solidFill>
              </a:rPr>
              <a:t>does provide assurances that </a:t>
            </a:r>
            <a:r>
              <a:rPr lang="en-US" dirty="0" smtClean="0">
                <a:solidFill>
                  <a:srgbClr val="7030A0"/>
                </a:solidFill>
              </a:rPr>
              <a:t>appropriate policies </a:t>
            </a:r>
            <a:r>
              <a:rPr lang="en-US" dirty="0">
                <a:solidFill>
                  <a:srgbClr val="7030A0"/>
                </a:solidFill>
              </a:rPr>
              <a:t>and procedures are in </a:t>
            </a:r>
            <a:r>
              <a:rPr lang="en-US" dirty="0" smtClean="0">
                <a:solidFill>
                  <a:srgbClr val="7030A0"/>
                </a:solidFill>
              </a:rPr>
              <a:t>place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they are not met then </a:t>
            </a:r>
            <a:r>
              <a:rPr lang="en-US" dirty="0">
                <a:solidFill>
                  <a:srgbClr val="00B050"/>
                </a:solidFill>
              </a:rPr>
              <a:t>there is </a:t>
            </a:r>
            <a:r>
              <a:rPr lang="en-US" dirty="0" smtClean="0">
                <a:solidFill>
                  <a:srgbClr val="00B050"/>
                </a:solidFill>
              </a:rPr>
              <a:t>a penalty for </a:t>
            </a:r>
            <a:r>
              <a:rPr lang="en-US" dirty="0">
                <a:solidFill>
                  <a:srgbClr val="00B050"/>
                </a:solidFill>
              </a:rPr>
              <a:t>the </a:t>
            </a:r>
            <a:r>
              <a:rPr lang="en-US" dirty="0" smtClean="0">
                <a:solidFill>
                  <a:srgbClr val="00B050"/>
                </a:solidFill>
              </a:rPr>
              <a:t>CSP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0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6000"/>
              </a:lnSpc>
            </a:pPr>
            <a:r>
              <a:rPr lang="en-US" dirty="0"/>
              <a:t>The </a:t>
            </a:r>
            <a:r>
              <a:rPr lang="en-US" i="1" dirty="0" smtClean="0">
                <a:solidFill>
                  <a:srgbClr val="00B050"/>
                </a:solidFill>
              </a:rPr>
              <a:t>on-demand </a:t>
            </a:r>
            <a:r>
              <a:rPr lang="en-US" i="1" dirty="0">
                <a:solidFill>
                  <a:srgbClr val="00B050"/>
                </a:solidFill>
              </a:rPr>
              <a:t>ability for a cloud to increase capacity </a:t>
            </a:r>
            <a:r>
              <a:rPr lang="en-US" i="1" dirty="0" smtClean="0">
                <a:solidFill>
                  <a:srgbClr val="00B050"/>
                </a:solidFill>
              </a:rPr>
              <a:t>dynamically</a:t>
            </a:r>
            <a:r>
              <a:rPr lang="en-US" dirty="0" smtClean="0"/>
              <a:t> and “without limits” </a:t>
            </a:r>
            <a:r>
              <a:rPr lang="en-US" dirty="0"/>
              <a:t>affects the availability of the </a:t>
            </a:r>
            <a:r>
              <a:rPr lang="en-US" dirty="0" smtClean="0"/>
              <a:t>cloud</a:t>
            </a:r>
          </a:p>
          <a:p>
            <a:pPr lvl="1">
              <a:lnSpc>
                <a:spcPct val="106000"/>
              </a:lnSpc>
            </a:pPr>
            <a:r>
              <a:rPr lang="en-US" dirty="0" smtClean="0"/>
              <a:t>Availability is a core </a:t>
            </a:r>
            <a:r>
              <a:rPr lang="en-US" dirty="0"/>
              <a:t>security property, and </a:t>
            </a:r>
            <a:r>
              <a:rPr lang="en-US" dirty="0">
                <a:solidFill>
                  <a:srgbClr val="FF0000"/>
                </a:solidFill>
              </a:rPr>
              <a:t>availability is subject to </a:t>
            </a:r>
            <a:r>
              <a:rPr lang="en-US" dirty="0" err="1">
                <a:solidFill>
                  <a:srgbClr val="FF0000"/>
                </a:solidFill>
              </a:rPr>
              <a:t>DDoS</a:t>
            </a:r>
            <a:r>
              <a:rPr lang="en-US" dirty="0">
                <a:solidFill>
                  <a:srgbClr val="FF0000"/>
                </a:solidFill>
              </a:rPr>
              <a:t> and numerous </a:t>
            </a:r>
            <a:r>
              <a:rPr lang="en-US" dirty="0" smtClean="0">
                <a:solidFill>
                  <a:srgbClr val="FF0000"/>
                </a:solidFill>
              </a:rPr>
              <a:t>factors</a:t>
            </a:r>
            <a:r>
              <a:rPr lang="en-US" dirty="0" smtClean="0"/>
              <a:t> including </a:t>
            </a:r>
            <a:r>
              <a:rPr lang="en-US" dirty="0"/>
              <a:t>misbehaving processes that attempt to consume all available </a:t>
            </a:r>
            <a:r>
              <a:rPr lang="en-US" dirty="0" smtClean="0"/>
              <a:t>resources	</a:t>
            </a:r>
          </a:p>
          <a:p>
            <a:pPr>
              <a:lnSpc>
                <a:spcPct val="106000"/>
              </a:lnSpc>
            </a:pPr>
            <a:r>
              <a:rPr lang="en-US" dirty="0"/>
              <a:t>Make sure </a:t>
            </a:r>
            <a:r>
              <a:rPr lang="en-US" dirty="0" smtClean="0"/>
              <a:t>you understand </a:t>
            </a:r>
            <a:r>
              <a:rPr lang="en-US" i="1" dirty="0" smtClean="0">
                <a:solidFill>
                  <a:srgbClr val="FF0000"/>
                </a:solidFill>
              </a:rPr>
              <a:t>how </a:t>
            </a:r>
            <a:r>
              <a:rPr lang="en-US" i="1" dirty="0">
                <a:solidFill>
                  <a:srgbClr val="FF0000"/>
                </a:solidFill>
              </a:rPr>
              <a:t>the cloud provider scales their </a:t>
            </a:r>
            <a:r>
              <a:rPr lang="en-US" i="1" dirty="0" smtClean="0">
                <a:solidFill>
                  <a:srgbClr val="FF0000"/>
                </a:solidFill>
              </a:rPr>
              <a:t>cloud and balances load</a:t>
            </a:r>
          </a:p>
          <a:p>
            <a:pPr lvl="1">
              <a:lnSpc>
                <a:spcPct val="106000"/>
              </a:lnSpc>
            </a:pPr>
            <a:r>
              <a:rPr lang="en-US" dirty="0" smtClean="0"/>
              <a:t>How do </a:t>
            </a:r>
            <a:r>
              <a:rPr lang="en-US" dirty="0"/>
              <a:t>they accommodate </a:t>
            </a:r>
            <a:r>
              <a:rPr lang="en-US" dirty="0">
                <a:solidFill>
                  <a:srgbClr val="0070C0"/>
                </a:solidFill>
              </a:rPr>
              <a:t>customer growth</a:t>
            </a:r>
            <a:r>
              <a:rPr lang="en-US" dirty="0"/>
              <a:t>? </a:t>
            </a:r>
            <a:endParaRPr lang="en-US" dirty="0" smtClean="0"/>
          </a:p>
          <a:p>
            <a:pPr lvl="1">
              <a:lnSpc>
                <a:spcPct val="106000"/>
              </a:lnSpc>
            </a:pPr>
            <a:r>
              <a:rPr lang="en-US" dirty="0" smtClean="0"/>
              <a:t>How </a:t>
            </a:r>
            <a:r>
              <a:rPr lang="en-US" dirty="0"/>
              <a:t>load is </a:t>
            </a:r>
            <a:r>
              <a:rPr lang="en-US" dirty="0">
                <a:solidFill>
                  <a:srgbClr val="0070C0"/>
                </a:solidFill>
              </a:rPr>
              <a:t>shared among nodes</a:t>
            </a:r>
            <a:r>
              <a:rPr lang="en-US" dirty="0"/>
              <a:t>, and how </a:t>
            </a:r>
            <a:r>
              <a:rPr lang="en-US" dirty="0" smtClean="0"/>
              <a:t>does that affect </a:t>
            </a:r>
            <a:r>
              <a:rPr lang="en-US" dirty="0"/>
              <a:t>your </a:t>
            </a:r>
            <a:r>
              <a:rPr lang="en-US" dirty="0" smtClean="0"/>
              <a:t>adoption of </a:t>
            </a:r>
            <a:r>
              <a:rPr lang="en-US" dirty="0"/>
              <a:t>the cloud with your particular </a:t>
            </a:r>
            <a:r>
              <a:rPr lang="en-US" dirty="0" smtClean="0"/>
              <a:t>application?</a:t>
            </a:r>
          </a:p>
          <a:p>
            <a:pPr lvl="2">
              <a:lnSpc>
                <a:spcPct val="106000"/>
              </a:lnSpc>
            </a:pPr>
            <a:r>
              <a:rPr lang="en-US" dirty="0" smtClean="0"/>
              <a:t>Usually </a:t>
            </a:r>
            <a:r>
              <a:rPr lang="en-US" dirty="0"/>
              <a:t>this can be </a:t>
            </a:r>
            <a:r>
              <a:rPr lang="en-US" dirty="0" smtClean="0"/>
              <a:t>quantitatively tracked </a:t>
            </a:r>
            <a:r>
              <a:rPr lang="en-US" dirty="0"/>
              <a:t>in the form of a </a:t>
            </a:r>
            <a:r>
              <a:rPr lang="en-US" dirty="0">
                <a:solidFill>
                  <a:srgbClr val="7030A0"/>
                </a:solidFill>
              </a:rPr>
              <a:t>SLA with availability </a:t>
            </a:r>
            <a:r>
              <a:rPr lang="en-US" dirty="0" smtClean="0">
                <a:solidFill>
                  <a:srgbClr val="7030A0"/>
                </a:solidFill>
              </a:rPr>
              <a:t>metrics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0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location of the data center(s) </a:t>
            </a:r>
            <a:r>
              <a:rPr lang="en-US" dirty="0" smtClean="0"/>
              <a:t>implementing </a:t>
            </a:r>
            <a:r>
              <a:rPr lang="en-US" dirty="0"/>
              <a:t>the service </a:t>
            </a:r>
            <a:r>
              <a:rPr lang="en-US" dirty="0" smtClean="0"/>
              <a:t>has </a:t>
            </a:r>
            <a:r>
              <a:rPr lang="en-US" dirty="0" smtClean="0">
                <a:solidFill>
                  <a:srgbClr val="7030A0"/>
                </a:solidFill>
              </a:rPr>
              <a:t>many implications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dirty="0"/>
              <a:t>A prospective customer should </a:t>
            </a:r>
            <a:r>
              <a:rPr lang="en-US" dirty="0" smtClean="0"/>
              <a:t>ask many questions </a:t>
            </a:r>
            <a:r>
              <a:rPr lang="en-US" dirty="0"/>
              <a:t>about </a:t>
            </a:r>
            <a:r>
              <a:rPr lang="en-US" dirty="0" smtClean="0"/>
              <a:t>this</a:t>
            </a:r>
          </a:p>
          <a:p>
            <a:pPr lvl="1"/>
            <a:r>
              <a:rPr lang="en-US" dirty="0"/>
              <a:t>Is the cloud made up of </a:t>
            </a:r>
            <a:r>
              <a:rPr lang="en-US" dirty="0">
                <a:solidFill>
                  <a:srgbClr val="0070C0"/>
                </a:solidFill>
              </a:rPr>
              <a:t>multiple data centers</a:t>
            </a:r>
            <a:r>
              <a:rPr lang="en-US" dirty="0"/>
              <a:t>, perhaps in </a:t>
            </a:r>
            <a:r>
              <a:rPr lang="en-US" dirty="0">
                <a:solidFill>
                  <a:srgbClr val="0070C0"/>
                </a:solidFill>
              </a:rPr>
              <a:t>multiple countries</a:t>
            </a:r>
            <a:r>
              <a:rPr lang="en-US" dirty="0" smtClean="0"/>
              <a:t>?</a:t>
            </a:r>
          </a:p>
          <a:p>
            <a:pPr lvl="2"/>
            <a:r>
              <a:rPr lang="en-US" dirty="0"/>
              <a:t>Where will data be stored?</a:t>
            </a:r>
          </a:p>
          <a:p>
            <a:pPr lvl="2"/>
            <a:r>
              <a:rPr lang="en-US" dirty="0" smtClean="0"/>
              <a:t>Would the </a:t>
            </a:r>
            <a:r>
              <a:rPr lang="en-US" dirty="0"/>
              <a:t>CSP store sensitive information </a:t>
            </a:r>
            <a:r>
              <a:rPr lang="en-US" dirty="0" smtClean="0"/>
              <a:t>that </a:t>
            </a:r>
            <a:r>
              <a:rPr lang="en-US" dirty="0"/>
              <a:t>are not allowed to be stored outside </a:t>
            </a:r>
            <a:r>
              <a:rPr lang="en-US" dirty="0" smtClean="0"/>
              <a:t>certain borders</a:t>
            </a:r>
            <a:r>
              <a:rPr lang="en-US" dirty="0"/>
              <a:t>? </a:t>
            </a:r>
            <a:endParaRPr lang="en-US" dirty="0" smtClean="0"/>
          </a:p>
          <a:p>
            <a:pPr lvl="1"/>
            <a:r>
              <a:rPr lang="en-US" dirty="0"/>
              <a:t>How </a:t>
            </a:r>
            <a:r>
              <a:rPr lang="en-US" dirty="0">
                <a:solidFill>
                  <a:srgbClr val="00B050"/>
                </a:solidFill>
              </a:rPr>
              <a:t>stable</a:t>
            </a:r>
            <a:r>
              <a:rPr lang="en-US" dirty="0"/>
              <a:t> is the country or region in which </a:t>
            </a:r>
            <a:r>
              <a:rPr lang="en-US" dirty="0" smtClean="0"/>
              <a:t>the data </a:t>
            </a:r>
            <a:r>
              <a:rPr lang="en-US" dirty="0"/>
              <a:t>center operates? </a:t>
            </a:r>
            <a:endParaRPr lang="en-US" dirty="0" smtClean="0"/>
          </a:p>
          <a:p>
            <a:pPr lvl="1"/>
            <a:r>
              <a:rPr lang="en-US" dirty="0" smtClean="0"/>
              <a:t>Is </a:t>
            </a:r>
            <a:r>
              <a:rPr lang="en-US" dirty="0"/>
              <a:t>it at risk to </a:t>
            </a:r>
            <a:r>
              <a:rPr lang="en-US" dirty="0">
                <a:solidFill>
                  <a:srgbClr val="00B050"/>
                </a:solidFill>
              </a:rPr>
              <a:t>law enforcement</a:t>
            </a:r>
            <a:r>
              <a:rPr lang="en-US" dirty="0"/>
              <a:t> without due process? </a:t>
            </a:r>
            <a:endParaRPr lang="en-US" dirty="0" smtClean="0"/>
          </a:p>
          <a:p>
            <a:pPr lvl="1"/>
            <a:r>
              <a:rPr lang="en-US" dirty="0" smtClean="0"/>
              <a:t>Does the </a:t>
            </a:r>
            <a:r>
              <a:rPr lang="en-US" dirty="0"/>
              <a:t>stored information </a:t>
            </a:r>
            <a:r>
              <a:rPr lang="en-US" dirty="0" smtClean="0"/>
              <a:t>require or use </a:t>
            </a:r>
            <a:r>
              <a:rPr lang="en-US" dirty="0" smtClean="0">
                <a:solidFill>
                  <a:srgbClr val="00B050"/>
                </a:solidFill>
              </a:rPr>
              <a:t>encryption</a:t>
            </a:r>
            <a:r>
              <a:rPr lang="en-US" dirty="0" smtClean="0"/>
              <a:t>?</a:t>
            </a:r>
          </a:p>
          <a:p>
            <a:r>
              <a:rPr lang="en-US" dirty="0"/>
              <a:t>At the very least, a customer should know </a:t>
            </a:r>
            <a:r>
              <a:rPr lang="en-US" i="1" dirty="0">
                <a:solidFill>
                  <a:srgbClr val="FF0000"/>
                </a:solidFill>
              </a:rPr>
              <a:t>in which jurisdictions the </a:t>
            </a:r>
            <a:r>
              <a:rPr lang="en-US" i="1" dirty="0" smtClean="0">
                <a:solidFill>
                  <a:srgbClr val="FF0000"/>
                </a:solidFill>
              </a:rPr>
              <a:t>nodes that </a:t>
            </a:r>
            <a:r>
              <a:rPr lang="en-US" i="1" dirty="0">
                <a:solidFill>
                  <a:srgbClr val="FF0000"/>
                </a:solidFill>
              </a:rPr>
              <a:t>form the </a:t>
            </a:r>
            <a:r>
              <a:rPr lang="en-US" i="1" dirty="0" smtClean="0">
                <a:solidFill>
                  <a:srgbClr val="FF0000"/>
                </a:solidFill>
              </a:rPr>
              <a:t>cloud are located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8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cloud customer </a:t>
            </a:r>
            <a:r>
              <a:rPr lang="en-US" dirty="0"/>
              <a:t>will have very </a:t>
            </a:r>
            <a:r>
              <a:rPr lang="en-US" i="1" dirty="0">
                <a:solidFill>
                  <a:srgbClr val="FF0000"/>
                </a:solidFill>
              </a:rPr>
              <a:t>little (if any) direct exposure to the personnel </a:t>
            </a:r>
            <a:r>
              <a:rPr lang="en-US" i="1" dirty="0" smtClean="0">
                <a:solidFill>
                  <a:srgbClr val="FF0000"/>
                </a:solidFill>
              </a:rPr>
              <a:t>managing that cloud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is certainly true for most </a:t>
            </a:r>
            <a:r>
              <a:rPr lang="en-US" dirty="0" err="1"/>
              <a:t>SaaS</a:t>
            </a:r>
            <a:r>
              <a:rPr lang="en-US" dirty="0"/>
              <a:t> and it is largely true for </a:t>
            </a:r>
            <a:r>
              <a:rPr lang="en-US" dirty="0" err="1"/>
              <a:t>PaaS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 err="1" smtClean="0"/>
              <a:t>IaaS</a:t>
            </a:r>
            <a:endParaRPr lang="en-US" dirty="0"/>
          </a:p>
          <a:p>
            <a:r>
              <a:rPr lang="en-US" dirty="0"/>
              <a:t>In terms of security, it is </a:t>
            </a:r>
            <a:r>
              <a:rPr lang="en-US" dirty="0" smtClean="0"/>
              <a:t>important to </a:t>
            </a:r>
            <a:r>
              <a:rPr lang="en-US" dirty="0"/>
              <a:t>understand the </a:t>
            </a:r>
            <a:r>
              <a:rPr lang="en-US" dirty="0">
                <a:solidFill>
                  <a:srgbClr val="0070C0"/>
                </a:solidFill>
              </a:rPr>
              <a:t>hiring policies and procedures of the public cloud provider </a:t>
            </a:r>
            <a:r>
              <a:rPr lang="en-US" dirty="0" smtClean="0"/>
              <a:t>for key </a:t>
            </a:r>
            <a:r>
              <a:rPr lang="en-US" dirty="0"/>
              <a:t>personnel involved in the development and management of the </a:t>
            </a:r>
            <a:r>
              <a:rPr lang="en-US" dirty="0" smtClean="0"/>
              <a:t>cloud</a:t>
            </a:r>
          </a:p>
          <a:p>
            <a:pPr lvl="1"/>
            <a:r>
              <a:rPr lang="en-US" dirty="0"/>
              <a:t>Are </a:t>
            </a:r>
            <a:r>
              <a:rPr lang="en-US" dirty="0">
                <a:solidFill>
                  <a:srgbClr val="7030A0"/>
                </a:solidFill>
              </a:rPr>
              <a:t>background </a:t>
            </a:r>
            <a:r>
              <a:rPr lang="en-US" dirty="0" smtClean="0">
                <a:solidFill>
                  <a:srgbClr val="7030A0"/>
                </a:solidFill>
              </a:rPr>
              <a:t>checks </a:t>
            </a:r>
            <a:r>
              <a:rPr lang="en-US" dirty="0" smtClean="0"/>
              <a:t>performed </a:t>
            </a:r>
            <a:r>
              <a:rPr lang="en-US" dirty="0"/>
              <a:t>on CSP personnel? </a:t>
            </a:r>
            <a:endParaRPr lang="en-US" dirty="0" smtClean="0"/>
          </a:p>
          <a:p>
            <a:pPr lvl="1"/>
            <a:r>
              <a:rPr lang="en-US" dirty="0" smtClean="0"/>
              <a:t>What </a:t>
            </a:r>
            <a:r>
              <a:rPr lang="en-US" dirty="0"/>
              <a:t>are their </a:t>
            </a:r>
            <a:r>
              <a:rPr lang="en-US" dirty="0">
                <a:solidFill>
                  <a:srgbClr val="7030A0"/>
                </a:solidFill>
              </a:rPr>
              <a:t>minimum required credentials </a:t>
            </a:r>
            <a:r>
              <a:rPr lang="en-US" dirty="0"/>
              <a:t>to </a:t>
            </a:r>
            <a:r>
              <a:rPr lang="en-US" dirty="0" smtClean="0"/>
              <a:t>be considered</a:t>
            </a:r>
            <a:r>
              <a:rPr lang="en-US" dirty="0"/>
              <a:t>? </a:t>
            </a:r>
            <a:endParaRPr lang="en-US" dirty="0" smtClean="0"/>
          </a:p>
          <a:p>
            <a:pPr lvl="1"/>
            <a:r>
              <a:rPr lang="en-US" dirty="0" smtClean="0"/>
              <a:t>What </a:t>
            </a:r>
            <a:r>
              <a:rPr lang="en-US" dirty="0"/>
              <a:t>system of </a:t>
            </a:r>
            <a:r>
              <a:rPr lang="en-US" dirty="0">
                <a:solidFill>
                  <a:srgbClr val="7030A0"/>
                </a:solidFill>
              </a:rPr>
              <a:t>checks and balances </a:t>
            </a:r>
            <a:r>
              <a:rPr lang="en-US" dirty="0"/>
              <a:t>is in place to prevent </a:t>
            </a:r>
            <a:r>
              <a:rPr lang="en-US" dirty="0" smtClean="0"/>
              <a:t>malicious employees </a:t>
            </a:r>
            <a:r>
              <a:rPr lang="en-US" dirty="0"/>
              <a:t>from compromising the integrity of the cloud?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8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Security Criteria: Selecting an External Cloud </a:t>
            </a:r>
            <a:r>
              <a:rPr lang="en-US" dirty="0" smtClean="0"/>
              <a:t>Provider</a:t>
            </a:r>
            <a:endParaRPr lang="en-US" dirty="0"/>
          </a:p>
          <a:p>
            <a:pPr lvl="1"/>
            <a:r>
              <a:rPr lang="en-US" dirty="0"/>
              <a:t>Overview of </a:t>
            </a:r>
            <a:r>
              <a:rPr lang="en-US" dirty="0" smtClean="0"/>
              <a:t>Assurance</a:t>
            </a:r>
          </a:p>
          <a:p>
            <a:pPr lvl="2"/>
            <a:r>
              <a:rPr lang="en-US" dirty="0"/>
              <a:t>Vendor Claims &amp; Independent </a:t>
            </a:r>
            <a:r>
              <a:rPr lang="en-US" dirty="0" smtClean="0"/>
              <a:t>Verification</a:t>
            </a:r>
          </a:p>
          <a:p>
            <a:pPr lvl="2"/>
            <a:r>
              <a:rPr lang="en-US" dirty="0" smtClean="0"/>
              <a:t>Vendor Transparency</a:t>
            </a:r>
            <a:endParaRPr lang="en-US" dirty="0"/>
          </a:p>
          <a:p>
            <a:pPr lvl="1"/>
            <a:r>
              <a:rPr lang="en-US" dirty="0"/>
              <a:t>Overview of </a:t>
            </a:r>
            <a:r>
              <a:rPr lang="en-US" dirty="0" smtClean="0"/>
              <a:t>Risks</a:t>
            </a:r>
          </a:p>
          <a:p>
            <a:pPr lvl="2"/>
            <a:r>
              <a:rPr lang="en-US" dirty="0" smtClean="0"/>
              <a:t>Assessing Risk Factors</a:t>
            </a:r>
          </a:p>
          <a:p>
            <a:pPr lvl="3"/>
            <a:r>
              <a:rPr lang="en-US" dirty="0" smtClean="0"/>
              <a:t>CSP Business Viability</a:t>
            </a:r>
          </a:p>
          <a:p>
            <a:pPr lvl="3"/>
            <a:r>
              <a:rPr lang="en-US" dirty="0" smtClean="0"/>
              <a:t>CSP Business Continuity</a:t>
            </a:r>
            <a:endParaRPr lang="en-US" dirty="0"/>
          </a:p>
          <a:p>
            <a:pPr lvl="1"/>
            <a:r>
              <a:rPr lang="en-US" dirty="0"/>
              <a:t>Security </a:t>
            </a:r>
            <a:r>
              <a:rPr lang="en-US" dirty="0" smtClean="0"/>
              <a:t>Criteria</a:t>
            </a:r>
          </a:p>
          <a:p>
            <a:pPr lvl="2"/>
            <a:r>
              <a:rPr lang="en-US" dirty="0" smtClean="0"/>
              <a:t>Defense-in-depth</a:t>
            </a:r>
          </a:p>
          <a:p>
            <a:pPr lvl="2"/>
            <a:r>
              <a:rPr lang="en-US" dirty="0" smtClean="0"/>
              <a:t>Other criteria</a:t>
            </a:r>
          </a:p>
          <a:p>
            <a:pPr lvl="3"/>
            <a:r>
              <a:rPr lang="en-US" dirty="0" smtClean="0"/>
              <a:t>Patch Management, SOC, Infrastructure </a:t>
            </a:r>
            <a:r>
              <a:rPr lang="en-US" dirty="0"/>
              <a:t>and </a:t>
            </a:r>
            <a:r>
              <a:rPr lang="en-US" dirty="0" smtClean="0"/>
              <a:t>Platforms, Data Backups, Security Practice, SLAs</a:t>
            </a:r>
            <a:r>
              <a:rPr lang="en-US" smtClean="0"/>
              <a:t>, Elasticity, Data </a:t>
            </a:r>
            <a:r>
              <a:rPr lang="en-US"/>
              <a:t>Center </a:t>
            </a:r>
            <a:r>
              <a:rPr lang="en-US" smtClean="0"/>
              <a:t>Location, Staff</a:t>
            </a:r>
            <a:endParaRPr lang="en-US" dirty="0"/>
          </a:p>
          <a:p>
            <a:pPr lvl="3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9EFC8D-E62C-445A-8258-DB6C34097B88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5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4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8067" y="2820458"/>
            <a:ext cx="10515600" cy="1325563"/>
          </a:xfrm>
        </p:spPr>
        <p:txBody>
          <a:bodyPr/>
          <a:lstStyle/>
          <a:p>
            <a:r>
              <a:rPr lang="en-US" dirty="0" smtClean="0"/>
              <a:t>Thx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22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23749</TotalTime>
  <Words>3203</Words>
  <Application>Microsoft Office PowerPoint</Application>
  <PresentationFormat>Widescreen</PresentationFormat>
  <Paragraphs>333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맑은 고딕</vt:lpstr>
      <vt:lpstr>Arial</vt:lpstr>
      <vt:lpstr>Calibri</vt:lpstr>
      <vt:lpstr>Calibri Light</vt:lpstr>
      <vt:lpstr>Office Theme</vt:lpstr>
      <vt:lpstr>PowerPoint Presentation</vt:lpstr>
      <vt:lpstr>Cloud Providers</vt:lpstr>
      <vt:lpstr>Cloud Service</vt:lpstr>
      <vt:lpstr>There must a Better Way …</vt:lpstr>
      <vt:lpstr>Summary of Previous Lectures</vt:lpstr>
      <vt:lpstr>PowerPoint Presentation</vt:lpstr>
      <vt:lpstr>Vendor Claims &amp; Independent Verification</vt:lpstr>
      <vt:lpstr>A Role for Government</vt:lpstr>
      <vt:lpstr>Information Security Management Systems (1/3)</vt:lpstr>
      <vt:lpstr>Information Security Management Systems (2/3)</vt:lpstr>
      <vt:lpstr>Information Security Management Systems (3/3)</vt:lpstr>
      <vt:lpstr>Independent Verification (1/3)</vt:lpstr>
      <vt:lpstr>Independent Verification (2/3)</vt:lpstr>
      <vt:lpstr>Independent Verification (3/3)</vt:lpstr>
      <vt:lpstr>Vendor Transparency (1/3)</vt:lpstr>
      <vt:lpstr>Vendor Transparency (2/3)</vt:lpstr>
      <vt:lpstr>Vendor Transparency (3/3)</vt:lpstr>
      <vt:lpstr>PowerPoint Presentation</vt:lpstr>
      <vt:lpstr>Risk Will Vary by Customer and by CSP</vt:lpstr>
      <vt:lpstr>Probability of Incident Versus Business Impact</vt:lpstr>
      <vt:lpstr>Assessing Risk Factors</vt:lpstr>
      <vt:lpstr>Risk Factors and Assets in Cloud Computing</vt:lpstr>
      <vt:lpstr>A Deeper Look at CSP Business Viability</vt:lpstr>
      <vt:lpstr>A Deeper Look at CSP Business Continuity</vt:lpstr>
      <vt:lpstr>PowerPoint Presentation</vt:lpstr>
      <vt:lpstr>Security Criteria (1/2)</vt:lpstr>
      <vt:lpstr>Security Criteria (2/2)</vt:lpstr>
      <vt:lpstr>Revisiting Defense-in-depth</vt:lpstr>
      <vt:lpstr>Defense-in-depth Example</vt:lpstr>
      <vt:lpstr>Security Criteria: Other Considerations</vt:lpstr>
      <vt:lpstr>Patch Management</vt:lpstr>
      <vt:lpstr>Security Operations Center</vt:lpstr>
      <vt:lpstr>Infrastructure</vt:lpstr>
      <vt:lpstr>Platforms</vt:lpstr>
      <vt:lpstr>Data Backups</vt:lpstr>
      <vt:lpstr>Security Practice – Multi-Tenancy</vt:lpstr>
      <vt:lpstr>Service Level Agreements</vt:lpstr>
      <vt:lpstr>Elasticity</vt:lpstr>
      <vt:lpstr>Data Center Location</vt:lpstr>
      <vt:lpstr>Staff</vt:lpstr>
      <vt:lpstr>Summary</vt:lpstr>
      <vt:lpstr>PowerPoint Presentation</vt:lpstr>
      <vt:lpstr>Thx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Gde</cp:lastModifiedBy>
  <cp:revision>178</cp:revision>
  <dcterms:created xsi:type="dcterms:W3CDTF">2024-07-11T17:06:45Z</dcterms:created>
  <dcterms:modified xsi:type="dcterms:W3CDTF">2025-09-22T02:44:24Z</dcterms:modified>
</cp:coreProperties>
</file>