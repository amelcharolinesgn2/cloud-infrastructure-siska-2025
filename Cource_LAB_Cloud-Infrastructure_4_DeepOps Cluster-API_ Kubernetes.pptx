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89" r:id="rId1"/>
  </p:sldMasterIdLst>
  <p:notesMasterIdLst>
    <p:notesMasterId r:id="rId13"/>
  </p:notesMasterIdLst>
  <p:sldIdLst>
    <p:sldId id="348" r:id="rId2"/>
    <p:sldId id="433" r:id="rId3"/>
    <p:sldId id="434" r:id="rId4"/>
    <p:sldId id="435" r:id="rId5"/>
    <p:sldId id="436" r:id="rId6"/>
    <p:sldId id="437" r:id="rId7"/>
    <p:sldId id="438" r:id="rId8"/>
    <p:sldId id="439" r:id="rId9"/>
    <p:sldId id="440" r:id="rId10"/>
    <p:sldId id="432" r:id="rId11"/>
    <p:sldId id="350" r:id="rId12"/>
  </p:sldIdLst>
  <p:sldSz cx="9144000" cy="5143500" type="screen16x9"/>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eal Mueller" initials="" lastIdx="9" clrIdx="0"/>
  <p:cmAuthor id="1" name="Chuck Erickson" initials="" lastIdx="6" clrIdx="1"/>
  <p:cmAuthor id="2" name="Adam Glick" initials=""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CC"/>
    <a:srgbClr val="0000FF"/>
    <a:srgbClr val="7575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57"/>
    <p:restoredTop sz="80386" autoAdjust="0"/>
  </p:normalViewPr>
  <p:slideViewPr>
    <p:cSldViewPr snapToGrid="0" snapToObjects="1">
      <p:cViewPr varScale="1">
        <p:scale>
          <a:sx n="103" d="100"/>
          <a:sy n="103" d="100"/>
        </p:scale>
        <p:origin x="318" y="6"/>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3037839" cy="464818"/>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rgbClr val="000000"/>
              </a:buClr>
              <a:buFont typeface="Arial"/>
              <a:buNone/>
              <a:defRPr sz="12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4" name="Shape 4"/>
          <p:cNvSpPr txBox="1">
            <a:spLocks noGrp="1"/>
          </p:cNvSpPr>
          <p:nvPr>
            <p:ph type="dt" idx="10"/>
          </p:nvPr>
        </p:nvSpPr>
        <p:spPr>
          <a:xfrm>
            <a:off x="3970937" y="0"/>
            <a:ext cx="3037839" cy="464818"/>
          </a:xfrm>
          <a:prstGeom prst="rect">
            <a:avLst/>
          </a:prstGeom>
          <a:noFill/>
          <a:ln>
            <a:noFill/>
          </a:ln>
        </p:spPr>
        <p:txBody>
          <a:bodyPr lIns="91425" tIns="91425" rIns="91425" bIns="91425" anchor="t" anchorCtr="0"/>
          <a:lstStyle>
            <a:lvl1pPr marL="0" marR="0" lvl="0" indent="0" algn="r" rtl="0">
              <a:lnSpc>
                <a:spcPct val="100000"/>
              </a:lnSpc>
              <a:spcBef>
                <a:spcPts val="0"/>
              </a:spcBef>
              <a:spcAft>
                <a:spcPts val="0"/>
              </a:spcAft>
              <a:buClr>
                <a:srgbClr val="000000"/>
              </a:buClr>
              <a:buFont typeface="Arial"/>
              <a:buNone/>
              <a:defRPr sz="12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407181" y="696912"/>
            <a:ext cx="6195899" cy="3486299"/>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701039" y="4415789"/>
            <a:ext cx="5608319" cy="4183379"/>
          </a:xfrm>
          <a:prstGeom prst="rect">
            <a:avLst/>
          </a:prstGeom>
          <a:noFill/>
          <a:ln>
            <a:noFill/>
          </a:ln>
        </p:spPr>
        <p:txBody>
          <a:bodyPr lIns="91425" tIns="91425" rIns="91425" bIns="91425" anchor="ctr"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829967"/>
            <a:ext cx="3037839" cy="464818"/>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000000"/>
              </a:buClr>
              <a:buFont typeface="Arial"/>
              <a:buNone/>
              <a:defRPr sz="12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970937" y="8829967"/>
            <a:ext cx="3037839" cy="464818"/>
          </a:xfrm>
          <a:prstGeom prst="rect">
            <a:avLst/>
          </a:prstGeom>
          <a:noFill/>
          <a:ln>
            <a:noFill/>
          </a:ln>
        </p:spPr>
        <p:txBody>
          <a:bodyPr lIns="91425" tIns="91425" rIns="91425" bIns="91425" anchor="b" anchorCtr="0">
            <a:noAutofit/>
          </a:bodyPr>
          <a:lstStyle/>
          <a:p>
            <a:pPr marL="0" marR="0" lvl="0" indent="0" algn="r" rtl="0">
              <a:lnSpc>
                <a:spcPct val="100000"/>
              </a:lnSpc>
              <a:spcBef>
                <a:spcPts val="0"/>
              </a:spcBef>
              <a:spcAft>
                <a:spcPts val="0"/>
              </a:spcAft>
              <a:buClr>
                <a:srgbClr val="000000"/>
              </a:buClr>
              <a:buFont typeface="Arial"/>
              <a:buNone/>
            </a:pPr>
            <a:endParaRPr sz="12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941411827"/>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https://developer.nvidia.com/blog/deploying-rich-cluster-api-on-dgx-for-multi-user-sharing/</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4143713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https://developer.nvidia.com/blog/deploying-rich-cluster-api-on-dgx-for-multi-user-sharing/</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936566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https://developer.nvidia.com/blog/deploying-rich-cluster-api-on-dgx-for-multi-user-sharing/</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279033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https://developer.nvidia.com/blog/deploying-rich-cluster-api-on-dgx-for-multi-user-sharing/</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2749876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https://developer.nvidia.com/blog/deploying-rich-cluster-api-on-dgx-for-multi-user-sharing/</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5</a:t>
            </a:fld>
            <a:endParaRPr lang="en-US"/>
          </a:p>
        </p:txBody>
      </p:sp>
    </p:spTree>
    <p:extLst>
      <p:ext uri="{BB962C8B-B14F-4D97-AF65-F5344CB8AC3E}">
        <p14:creationId xmlns:p14="http://schemas.microsoft.com/office/powerpoint/2010/main" val="39713852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https://developer.nvidia.com/blog/deploying-rich-cluster-api-on-dgx-for-multi-user-sharing/</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7</a:t>
            </a:fld>
            <a:endParaRPr lang="en-US"/>
          </a:p>
        </p:txBody>
      </p:sp>
    </p:spTree>
    <p:extLst>
      <p:ext uri="{BB962C8B-B14F-4D97-AF65-F5344CB8AC3E}">
        <p14:creationId xmlns:p14="http://schemas.microsoft.com/office/powerpoint/2010/main" val="3298400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https://pt.linkedin.com/pulse/implantando-servi%C3%A7os-ao-cluster-do-docker-swarm-edilson-freitas</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8901824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https://mesutoezdil.medium.com/docker-swarm-6efa43f7b68d</a:t>
            </a:r>
          </a:p>
          <a:p>
            <a:r>
              <a:rPr lang="en-US" dirty="0" smtClean="0"/>
              <a:t>https://mesutoezdil.medium.com/docker-swarm-6efa43f7b68d</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8638367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https://medium.com/buildpiper/simplifying-containerization-with-docker-run-command-2f74e114f42a</a:t>
            </a:r>
          </a:p>
          <a:p>
            <a:endParaRPr lang="en-US" dirty="0" smtClean="0"/>
          </a:p>
          <a:p>
            <a:r>
              <a:rPr lang="en-US" dirty="0" smtClean="0"/>
              <a:t>https://github.com/IBA-Group-IT/IoT-data-simulator</a:t>
            </a:r>
          </a:p>
          <a:p>
            <a:endParaRPr lang="en-US" dirty="0" smtClean="0"/>
          </a:p>
          <a:p>
            <a:endParaRPr lang="en-US" dirty="0" smtClean="0"/>
          </a:p>
          <a:p>
            <a:r>
              <a:rPr lang="en-US" dirty="0" smtClean="0"/>
              <a:t>https://www.bevywise.com/blog/docker-mqtt-broker-easy-service-manageability/</a:t>
            </a:r>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10</a:t>
            </a:fld>
            <a:endParaRPr lang="en-US"/>
          </a:p>
        </p:txBody>
      </p:sp>
    </p:spTree>
    <p:extLst>
      <p:ext uri="{BB962C8B-B14F-4D97-AF65-F5344CB8AC3E}">
        <p14:creationId xmlns:p14="http://schemas.microsoft.com/office/powerpoint/2010/main" val="3454293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240705498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22963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128955239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A02337E-4703-49AB-8D81-EA2F8A6577FC}"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100628396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A02337E-4703-49AB-8D81-EA2F8A6577FC}"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143020674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A02337E-4703-49AB-8D81-EA2F8A6577FC}"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394664211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02337E-4703-49AB-8D81-EA2F8A6577FC}"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263187320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7A02337E-4703-49AB-8D81-EA2F8A6577FC}"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312661320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7A02337E-4703-49AB-8D81-EA2F8A6577FC}"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360610823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410284920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247443086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7A02337E-4703-49AB-8D81-EA2F8A6577FC}" type="datetimeFigureOut">
              <a:rPr lang="en-US" smtClean="0"/>
              <a:t>9/18/2026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25B63887-955A-4111-8FF6-299906ED7E11}" type="slidenum">
              <a:rPr lang="en-US" smtClean="0"/>
              <a:t>‹#›</a:t>
            </a:fld>
            <a:endParaRPr lang="en-US"/>
          </a:p>
        </p:txBody>
      </p:sp>
    </p:spTree>
    <p:extLst>
      <p:ext uri="{BB962C8B-B14F-4D97-AF65-F5344CB8AC3E}">
        <p14:creationId xmlns:p14="http://schemas.microsoft.com/office/powerpoint/2010/main" val="201664688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amelcharolinesgn2/AWS" TargetMode="External"/><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hyperlink" Target="https://mesutoezdil.medium.com/docker-swarm-6efa43f7b68d" TargetMode="External"/><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89919" y="1"/>
            <a:ext cx="3979069" cy="2536031"/>
          </a:xfrm>
          <a:prstGeom prst="rect">
            <a:avLst/>
          </a:prstGeom>
        </p:spPr>
      </p:pic>
      <p:grpSp>
        <p:nvGrpSpPr>
          <p:cNvPr id="9" name="Group 8"/>
          <p:cNvGrpSpPr/>
          <p:nvPr/>
        </p:nvGrpSpPr>
        <p:grpSpPr>
          <a:xfrm>
            <a:off x="277816" y="1346868"/>
            <a:ext cx="3603272" cy="1447266"/>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68580" tIns="34290" rIns="68580" bIns="3429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dirty="0">
                  <a:solidFill>
                    <a:schemeClr val="accent1">
                      <a:lumMod val="75000"/>
                    </a:schemeClr>
                  </a:solidFill>
                </a:rPr>
                <a:t>Computer </a:t>
              </a:r>
              <a:r>
                <a:rPr lang="en-US" sz="3000" dirty="0">
                  <a:solidFill>
                    <a:srgbClr val="00B0F0"/>
                  </a:solidFill>
                </a:rPr>
                <a:t>Vision</a:t>
              </a: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68580" tIns="34290" rIns="68580" bIns="3429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solidFill>
                    <a:srgbClr val="7030A0"/>
                  </a:solidFill>
                </a:rPr>
                <a:t>PDS</a:t>
              </a:r>
            </a:p>
          </p:txBody>
        </p:sp>
      </p:grpSp>
      <p:pic>
        <p:nvPicPr>
          <p:cNvPr id="4" name="Picture 3"/>
          <p:cNvPicPr>
            <a:picLocks noChangeAspect="1"/>
          </p:cNvPicPr>
          <p:nvPr/>
        </p:nvPicPr>
        <p:blipFill>
          <a:blip r:embed="rId5"/>
          <a:stretch>
            <a:fillRect/>
          </a:stretch>
        </p:blipFill>
        <p:spPr>
          <a:xfrm>
            <a:off x="1958807" y="1979698"/>
            <a:ext cx="334565" cy="476897"/>
          </a:xfrm>
          <a:prstGeom prst="rect">
            <a:avLst/>
          </a:prstGeom>
        </p:spPr>
      </p:pic>
      <p:pic>
        <p:nvPicPr>
          <p:cNvPr id="5" name="Picture 4"/>
          <p:cNvPicPr>
            <a:picLocks noChangeAspect="1"/>
          </p:cNvPicPr>
          <p:nvPr/>
        </p:nvPicPr>
        <p:blipFill>
          <a:blip r:embed="rId6"/>
          <a:stretch>
            <a:fillRect/>
          </a:stretch>
        </p:blipFill>
        <p:spPr>
          <a:xfrm>
            <a:off x="1435773" y="1991577"/>
            <a:ext cx="460043" cy="437041"/>
          </a:xfrm>
          <a:prstGeom prst="rect">
            <a:avLst/>
          </a:prstGeom>
        </p:spPr>
      </p:pic>
      <p:pic>
        <p:nvPicPr>
          <p:cNvPr id="6" name="Picture 5"/>
          <p:cNvPicPr>
            <a:picLocks noChangeAspect="1"/>
          </p:cNvPicPr>
          <p:nvPr/>
        </p:nvPicPr>
        <p:blipFill>
          <a:blip r:embed="rId7"/>
          <a:stretch>
            <a:fillRect/>
          </a:stretch>
        </p:blipFill>
        <p:spPr>
          <a:xfrm>
            <a:off x="789784" y="1979697"/>
            <a:ext cx="449747" cy="433166"/>
          </a:xfrm>
          <a:prstGeom prst="rect">
            <a:avLst/>
          </a:prstGeom>
        </p:spPr>
      </p:pic>
      <p:sp>
        <p:nvSpPr>
          <p:cNvPr id="26" name="Subtitle 2"/>
          <p:cNvSpPr txBox="1">
            <a:spLocks/>
          </p:cNvSpPr>
          <p:nvPr/>
        </p:nvSpPr>
        <p:spPr>
          <a:xfrm>
            <a:off x="1928066" y="2722292"/>
            <a:ext cx="6768461" cy="390806"/>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800" b="1" dirty="0" smtClean="0"/>
              <a:t>Cloud Infrastructure</a:t>
            </a:r>
          </a:p>
          <a:p>
            <a:pPr algn="l"/>
            <a:r>
              <a:rPr lang="en-US" sz="3200" b="1" dirty="0" err="1" smtClean="0">
                <a:solidFill>
                  <a:srgbClr val="0070C0"/>
                </a:solidFill>
              </a:rPr>
              <a:t>DeepOps</a:t>
            </a:r>
            <a:r>
              <a:rPr lang="en-US" sz="3200" b="1" dirty="0" smtClean="0">
                <a:solidFill>
                  <a:srgbClr val="0070C0"/>
                </a:solidFill>
              </a:rPr>
              <a:t> Cluster API_ Kubernetes</a:t>
            </a:r>
          </a:p>
        </p:txBody>
      </p:sp>
      <p:sp>
        <p:nvSpPr>
          <p:cNvPr id="27" name="Title 1"/>
          <p:cNvSpPr txBox="1">
            <a:spLocks/>
          </p:cNvSpPr>
          <p:nvPr/>
        </p:nvSpPr>
        <p:spPr>
          <a:xfrm>
            <a:off x="1928067" y="3546558"/>
            <a:ext cx="6425543" cy="503071"/>
          </a:xfrm>
          <a:prstGeom prst="rect">
            <a:avLst/>
          </a:prstGeom>
        </p:spPr>
        <p:txBody>
          <a:bodyPr vert="horz" lIns="68580" tIns="34290" rIns="68580" bIns="3429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300" dirty="0">
                <a:solidFill>
                  <a:srgbClr val="0070C0"/>
                </a:solidFill>
              </a:rPr>
              <a:t>.</a:t>
            </a:r>
            <a:endParaRPr lang="en-US" sz="3300" b="1" dirty="0"/>
          </a:p>
        </p:txBody>
      </p:sp>
      <p:sp>
        <p:nvSpPr>
          <p:cNvPr id="25" name="Rectangle 24"/>
          <p:cNvSpPr/>
          <p:nvPr/>
        </p:nvSpPr>
        <p:spPr>
          <a:xfrm>
            <a:off x="6743664" y="4801932"/>
            <a:ext cx="2218246" cy="169277"/>
          </a:xfrm>
          <a:prstGeom prst="rect">
            <a:avLst/>
          </a:prstGeom>
        </p:spPr>
        <p:txBody>
          <a:bodyPr wrap="square">
            <a:spAutoFit/>
          </a:bodyPr>
          <a:lstStyle/>
          <a:p>
            <a:r>
              <a:rPr lang="en-US" sz="500" dirty="0"/>
              <a:t>https</a:t>
            </a:r>
            <a:r>
              <a:rPr lang="en-US" sz="500" dirty="0" smtClean="0"/>
              <a:t>://github.com/amelcharolinesgn2/IoT_simulator-mqtt-NodeRed</a:t>
            </a:r>
            <a:endParaRPr lang="en-US" sz="500" dirty="0"/>
          </a:p>
        </p:txBody>
      </p:sp>
      <p:sp>
        <p:nvSpPr>
          <p:cNvPr id="28" name="Rectangle 27"/>
          <p:cNvSpPr/>
          <p:nvPr/>
        </p:nvSpPr>
        <p:spPr>
          <a:xfrm>
            <a:off x="7410247" y="4167018"/>
            <a:ext cx="1301349" cy="150490"/>
          </a:xfrm>
          <a:prstGeom prst="rect">
            <a:avLst/>
          </a:prstGeom>
        </p:spPr>
        <p:txBody>
          <a:bodyPr wrap="square">
            <a:spAutoFit/>
          </a:bodyPr>
          <a:lstStyle/>
          <a:p>
            <a:pPr algn="r"/>
            <a:r>
              <a:rPr lang="en-US" sz="378" dirty="0"/>
              <a:t>https://www.youtube.com/@AmelOline/videos</a:t>
            </a:r>
          </a:p>
        </p:txBody>
      </p:sp>
      <p:sp>
        <p:nvSpPr>
          <p:cNvPr id="29" name="Rectangle 28"/>
          <p:cNvSpPr/>
          <p:nvPr/>
        </p:nvSpPr>
        <p:spPr>
          <a:xfrm>
            <a:off x="7822818" y="4104718"/>
            <a:ext cx="879077" cy="150490"/>
          </a:xfrm>
          <a:prstGeom prst="rect">
            <a:avLst/>
          </a:prstGeom>
        </p:spPr>
        <p:txBody>
          <a:bodyPr wrap="square">
            <a:spAutoFit/>
          </a:bodyPr>
          <a:lstStyle/>
          <a:p>
            <a:pPr algn="r"/>
            <a:r>
              <a:rPr lang="en-US" sz="378" dirty="0"/>
              <a:t>https://github.com/siagianp</a:t>
            </a:r>
          </a:p>
        </p:txBody>
      </p:sp>
      <p:sp>
        <p:nvSpPr>
          <p:cNvPr id="30" name="Rectangle 29"/>
          <p:cNvSpPr/>
          <p:nvPr/>
        </p:nvSpPr>
        <p:spPr>
          <a:xfrm>
            <a:off x="7259515" y="4238617"/>
            <a:ext cx="1452642" cy="150490"/>
          </a:xfrm>
          <a:prstGeom prst="rect">
            <a:avLst/>
          </a:prstGeom>
        </p:spPr>
        <p:txBody>
          <a:bodyPr wrap="none">
            <a:spAutoFit/>
          </a:bodyPr>
          <a:lstStyle/>
          <a:p>
            <a:pPr algn="r"/>
            <a:r>
              <a:rPr lang="en-US" sz="378" dirty="0"/>
              <a:t>https://github.com/amelcharolinesgn2/Cloud-Infrastructures</a:t>
            </a:r>
          </a:p>
        </p:txBody>
      </p:sp>
      <p:sp>
        <p:nvSpPr>
          <p:cNvPr id="31" name="Rectangle 30"/>
          <p:cNvSpPr/>
          <p:nvPr/>
        </p:nvSpPr>
        <p:spPr>
          <a:xfrm>
            <a:off x="6993417" y="4302643"/>
            <a:ext cx="1718740" cy="150490"/>
          </a:xfrm>
          <a:prstGeom prst="rect">
            <a:avLst/>
          </a:prstGeom>
        </p:spPr>
        <p:txBody>
          <a:bodyPr wrap="none">
            <a:spAutoFit/>
          </a:bodyPr>
          <a:lstStyle/>
          <a:p>
            <a:pPr algn="r"/>
            <a:r>
              <a:rPr lang="en-US" sz="378" dirty="0"/>
              <a:t>https://github.com/amelcharolinesgn2/ClouD-Infrastructure-SISKA-2025</a:t>
            </a:r>
          </a:p>
        </p:txBody>
      </p:sp>
      <p:sp>
        <p:nvSpPr>
          <p:cNvPr id="32" name="Rectangle 31"/>
          <p:cNvSpPr/>
          <p:nvPr/>
        </p:nvSpPr>
        <p:spPr>
          <a:xfrm>
            <a:off x="7410247" y="4353586"/>
            <a:ext cx="1301349" cy="150490"/>
          </a:xfrm>
          <a:prstGeom prst="rect">
            <a:avLst/>
          </a:prstGeom>
        </p:spPr>
        <p:txBody>
          <a:bodyPr wrap="square">
            <a:spAutoFit/>
          </a:bodyPr>
          <a:lstStyle/>
          <a:p>
            <a:pPr algn="r"/>
            <a:r>
              <a:rPr lang="en-US" sz="378" dirty="0"/>
              <a:t>https://</a:t>
            </a:r>
            <a:r>
              <a:rPr lang="en-US" sz="378" dirty="0" smtClean="0"/>
              <a:t>github.com/amelcharolinesgn2/CCNA-1-v7</a:t>
            </a:r>
            <a:endParaRPr lang="en-US" sz="378" dirty="0"/>
          </a:p>
        </p:txBody>
      </p:sp>
      <p:sp>
        <p:nvSpPr>
          <p:cNvPr id="33" name="Rectangle 32"/>
          <p:cNvSpPr/>
          <p:nvPr/>
        </p:nvSpPr>
        <p:spPr>
          <a:xfrm>
            <a:off x="7410247" y="4415266"/>
            <a:ext cx="1301349" cy="150490"/>
          </a:xfrm>
          <a:prstGeom prst="rect">
            <a:avLst/>
          </a:prstGeom>
        </p:spPr>
        <p:txBody>
          <a:bodyPr wrap="square">
            <a:spAutoFit/>
          </a:bodyPr>
          <a:lstStyle/>
          <a:p>
            <a:pPr algn="r"/>
            <a:r>
              <a:rPr lang="en-US" sz="378" dirty="0"/>
              <a:t>https://</a:t>
            </a:r>
            <a:r>
              <a:rPr lang="en-US" sz="378" dirty="0" smtClean="0"/>
              <a:t>github.com/amelcharolinesgn2/CCNA-2-v7</a:t>
            </a:r>
            <a:endParaRPr lang="en-US" sz="378" dirty="0"/>
          </a:p>
        </p:txBody>
      </p:sp>
      <p:sp>
        <p:nvSpPr>
          <p:cNvPr id="34" name="Rectangle 33"/>
          <p:cNvSpPr/>
          <p:nvPr/>
        </p:nvSpPr>
        <p:spPr>
          <a:xfrm>
            <a:off x="7411369" y="4671154"/>
            <a:ext cx="1301349" cy="208647"/>
          </a:xfrm>
          <a:prstGeom prst="rect">
            <a:avLst/>
          </a:prstGeom>
        </p:spPr>
        <p:txBody>
          <a:bodyPr wrap="square">
            <a:spAutoFit/>
          </a:bodyPr>
          <a:lstStyle/>
          <a:p>
            <a:pPr algn="r"/>
            <a:r>
              <a:rPr lang="en-US" sz="378" dirty="0">
                <a:hlinkClick r:id="rId8"/>
              </a:rPr>
              <a:t>https://github.com/amelcharolinesgn2/AWS</a:t>
            </a:r>
            <a:r>
              <a:rPr lang="en-US" sz="378" dirty="0"/>
              <a:t> Certificate</a:t>
            </a:r>
          </a:p>
        </p:txBody>
      </p:sp>
      <p:sp>
        <p:nvSpPr>
          <p:cNvPr id="35" name="Rectangle 34"/>
          <p:cNvSpPr/>
          <p:nvPr/>
        </p:nvSpPr>
        <p:spPr>
          <a:xfrm>
            <a:off x="7411369" y="4729311"/>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github.com/amelcharolinesgn2/OpenStack</a:t>
            </a:r>
            <a:endParaRPr lang="en-US" sz="378" dirty="0"/>
          </a:p>
        </p:txBody>
      </p:sp>
      <p:sp>
        <p:nvSpPr>
          <p:cNvPr id="36" name="Rectangle 35"/>
          <p:cNvSpPr/>
          <p:nvPr/>
        </p:nvSpPr>
        <p:spPr>
          <a:xfrm>
            <a:off x="7410808" y="4612625"/>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github.com/amelcharolinesgn2/CloudSim</a:t>
            </a:r>
            <a:endParaRPr lang="en-US" sz="378" dirty="0"/>
          </a:p>
        </p:txBody>
      </p:sp>
      <p:sp>
        <p:nvSpPr>
          <p:cNvPr id="37" name="Rectangle 36"/>
          <p:cNvSpPr/>
          <p:nvPr/>
        </p:nvSpPr>
        <p:spPr>
          <a:xfrm>
            <a:off x="7409686" y="4475376"/>
            <a:ext cx="1301349" cy="150490"/>
          </a:xfrm>
          <a:prstGeom prst="rect">
            <a:avLst/>
          </a:prstGeom>
        </p:spPr>
        <p:txBody>
          <a:bodyPr wrap="square">
            <a:spAutoFit/>
          </a:bodyPr>
          <a:lstStyle/>
          <a:p>
            <a:pPr algn="r"/>
            <a:r>
              <a:rPr lang="en-US" sz="378" dirty="0"/>
              <a:t>https://</a:t>
            </a:r>
            <a:r>
              <a:rPr lang="en-US" sz="378" dirty="0" smtClean="0"/>
              <a:t>github.com/amelcharolinesgn2/CCNA-3-v7</a:t>
            </a:r>
            <a:endParaRPr lang="en-US" sz="378" dirty="0"/>
          </a:p>
        </p:txBody>
      </p:sp>
      <p:sp>
        <p:nvSpPr>
          <p:cNvPr id="38" name="Rectangle 37"/>
          <p:cNvSpPr/>
          <p:nvPr/>
        </p:nvSpPr>
        <p:spPr>
          <a:xfrm>
            <a:off x="7409686" y="4524310"/>
            <a:ext cx="1301349" cy="150490"/>
          </a:xfrm>
          <a:prstGeom prst="rect">
            <a:avLst/>
          </a:prstGeom>
        </p:spPr>
        <p:txBody>
          <a:bodyPr wrap="square">
            <a:spAutoFit/>
          </a:bodyPr>
          <a:lstStyle/>
          <a:p>
            <a:pPr algn="r"/>
            <a:r>
              <a:rPr lang="en-US" sz="378" dirty="0"/>
              <a:t>https://</a:t>
            </a:r>
            <a:r>
              <a:rPr lang="en-US" sz="378" dirty="0" smtClean="0"/>
              <a:t>github.com/amelcharolinesgn2/CCNA-4-v7</a:t>
            </a:r>
            <a:endParaRPr lang="en-US" sz="378" dirty="0"/>
          </a:p>
        </p:txBody>
      </p:sp>
      <p:sp>
        <p:nvSpPr>
          <p:cNvPr id="39" name="Rectangle 38"/>
          <p:cNvSpPr/>
          <p:nvPr/>
        </p:nvSpPr>
        <p:spPr>
          <a:xfrm>
            <a:off x="7293005" y="4572051"/>
            <a:ext cx="1408890" cy="150490"/>
          </a:xfrm>
          <a:prstGeom prst="rect">
            <a:avLst/>
          </a:prstGeom>
        </p:spPr>
        <p:txBody>
          <a:bodyPr wrap="square">
            <a:spAutoFit/>
          </a:bodyPr>
          <a:lstStyle/>
          <a:p>
            <a:pPr algn="r"/>
            <a:r>
              <a:rPr lang="en-US" sz="378" dirty="0"/>
              <a:t>https://</a:t>
            </a:r>
            <a:r>
              <a:rPr lang="en-US" sz="378" dirty="0" smtClean="0"/>
              <a:t>github.com/amelcharolinesgn2/ANJAR_CCNP_Lab</a:t>
            </a:r>
            <a:endParaRPr lang="en-US" sz="378" dirty="0"/>
          </a:p>
        </p:txBody>
      </p:sp>
    </p:spTree>
    <p:extLst>
      <p:ext uri="{BB962C8B-B14F-4D97-AF65-F5344CB8AC3E}">
        <p14:creationId xmlns:p14="http://schemas.microsoft.com/office/powerpoint/2010/main" val="28642243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fontAlgn="base"/>
            <a:r>
              <a:rPr lang="en-US" b="1" dirty="0" err="1"/>
              <a:t>DeepOps</a:t>
            </a:r>
            <a:r>
              <a:rPr lang="en-US" b="1" dirty="0"/>
              <a:t> cluster API</a:t>
            </a:r>
          </a:p>
        </p:txBody>
      </p:sp>
      <p:sp>
        <p:nvSpPr>
          <p:cNvPr id="4" name="Slide Number Placeholder 3"/>
          <p:cNvSpPr>
            <a:spLocks noGrp="1"/>
          </p:cNvSpPr>
          <p:nvPr>
            <p:ph type="sldNum" sz="quarter" idx="12"/>
          </p:nvPr>
        </p:nvSpPr>
        <p:spPr/>
        <p:txBody>
          <a:bodyPr/>
          <a:lstStyle/>
          <a:p>
            <a:fld id="{6D22F896-40B5-4ADD-8801-0D06FADFA095}" type="slidenum">
              <a:rPr lang="en-US" smtClean="0"/>
              <a:t>2</a:t>
            </a:fld>
            <a:endParaRPr lang="en-US" dirty="0"/>
          </a:p>
        </p:txBody>
      </p:sp>
      <p:sp>
        <p:nvSpPr>
          <p:cNvPr id="5" name="Rectangle 4"/>
          <p:cNvSpPr/>
          <p:nvPr/>
        </p:nvSpPr>
        <p:spPr>
          <a:xfrm>
            <a:off x="628650" y="1046408"/>
            <a:ext cx="7886700" cy="646331"/>
          </a:xfrm>
          <a:prstGeom prst="rect">
            <a:avLst/>
          </a:prstGeom>
        </p:spPr>
        <p:txBody>
          <a:bodyPr wrap="square">
            <a:spAutoFit/>
          </a:bodyPr>
          <a:lstStyle/>
          <a:p>
            <a:r>
              <a:rPr lang="en-US" dirty="0" err="1">
                <a:solidFill>
                  <a:srgbClr val="1A1A1A"/>
                </a:solidFill>
                <a:latin typeface="NVIDIA Sans"/>
              </a:rPr>
              <a:t>DeepOps</a:t>
            </a:r>
            <a:r>
              <a:rPr lang="en-US" dirty="0">
                <a:solidFill>
                  <a:srgbClr val="1A1A1A"/>
                </a:solidFill>
                <a:latin typeface="NVIDIA Sans"/>
              </a:rPr>
              <a:t> covers setting up </a:t>
            </a:r>
            <a:r>
              <a:rPr lang="en-US" dirty="0">
                <a:solidFill>
                  <a:srgbClr val="FF0000"/>
                </a:solidFill>
                <a:latin typeface="NVIDIA Sans"/>
              </a:rPr>
              <a:t>login nodes</a:t>
            </a:r>
            <a:r>
              <a:rPr lang="en-US" dirty="0">
                <a:solidFill>
                  <a:srgbClr val="1A1A1A"/>
                </a:solidFill>
                <a:latin typeface="NVIDIA Sans"/>
              </a:rPr>
              <a:t>, </a:t>
            </a:r>
            <a:r>
              <a:rPr lang="en-US" dirty="0">
                <a:solidFill>
                  <a:srgbClr val="0070C0"/>
                </a:solidFill>
                <a:latin typeface="NVIDIA Sans"/>
              </a:rPr>
              <a:t>management</a:t>
            </a:r>
            <a:r>
              <a:rPr lang="en-US" dirty="0">
                <a:solidFill>
                  <a:srgbClr val="1A1A1A"/>
                </a:solidFill>
                <a:latin typeface="NVIDIA Sans"/>
              </a:rPr>
              <a:t>, </a:t>
            </a:r>
            <a:r>
              <a:rPr lang="en-US" dirty="0">
                <a:solidFill>
                  <a:srgbClr val="FFC000"/>
                </a:solidFill>
                <a:latin typeface="NVIDIA Sans"/>
              </a:rPr>
              <a:t>monitoring</a:t>
            </a:r>
            <a:r>
              <a:rPr lang="en-US" dirty="0">
                <a:solidFill>
                  <a:srgbClr val="1A1A1A"/>
                </a:solidFill>
                <a:latin typeface="NVIDIA Sans"/>
              </a:rPr>
              <a:t>, </a:t>
            </a:r>
            <a:r>
              <a:rPr lang="en-US" dirty="0">
                <a:solidFill>
                  <a:schemeClr val="accent6">
                    <a:lumMod val="75000"/>
                  </a:schemeClr>
                </a:solidFill>
                <a:latin typeface="NVIDIA Sans"/>
              </a:rPr>
              <a:t>Kubernetes</a:t>
            </a:r>
            <a:r>
              <a:rPr lang="en-US" dirty="0">
                <a:solidFill>
                  <a:srgbClr val="1A1A1A"/>
                </a:solidFill>
                <a:latin typeface="NVIDIA Sans"/>
              </a:rPr>
              <a:t>, </a:t>
            </a:r>
            <a:r>
              <a:rPr lang="en-US" dirty="0" err="1">
                <a:solidFill>
                  <a:srgbClr val="3333CC"/>
                </a:solidFill>
                <a:latin typeface="NVIDIA Sans"/>
              </a:rPr>
              <a:t>Slurm</a:t>
            </a:r>
            <a:r>
              <a:rPr lang="en-US" dirty="0">
                <a:solidFill>
                  <a:srgbClr val="1A1A1A"/>
                </a:solidFill>
                <a:latin typeface="NVIDIA Sans"/>
              </a:rPr>
              <a:t>, and even </a:t>
            </a:r>
            <a:r>
              <a:rPr lang="en-US" dirty="0">
                <a:solidFill>
                  <a:schemeClr val="accent5">
                    <a:lumMod val="60000"/>
                    <a:lumOff val="40000"/>
                  </a:schemeClr>
                </a:solidFill>
                <a:latin typeface="NVIDIA Sans"/>
              </a:rPr>
              <a:t>storage provisioning</a:t>
            </a:r>
            <a:r>
              <a:rPr lang="en-US" dirty="0">
                <a:solidFill>
                  <a:srgbClr val="1A1A1A"/>
                </a:solidFill>
                <a:latin typeface="NVIDIA Sans"/>
              </a:rPr>
              <a:t>. </a:t>
            </a:r>
            <a:endParaRPr lang="en-US" dirty="0" smtClean="0">
              <a:solidFill>
                <a:srgbClr val="1A1A1A"/>
              </a:solidFill>
              <a:latin typeface="NVIDIA Sans"/>
            </a:endParaRPr>
          </a:p>
        </p:txBody>
      </p:sp>
      <p:sp>
        <p:nvSpPr>
          <p:cNvPr id="7" name="Rectangle 6"/>
          <p:cNvSpPr/>
          <p:nvPr/>
        </p:nvSpPr>
        <p:spPr>
          <a:xfrm>
            <a:off x="2074126" y="4856441"/>
            <a:ext cx="6352013" cy="369332"/>
          </a:xfrm>
          <a:prstGeom prst="rect">
            <a:avLst/>
          </a:prstGeom>
        </p:spPr>
        <p:txBody>
          <a:bodyPr wrap="square">
            <a:spAutoFit/>
          </a:bodyPr>
          <a:lstStyle/>
          <a:p>
            <a:r>
              <a:rPr lang="en-US" i="1" dirty="0"/>
              <a:t>Figure 1. </a:t>
            </a:r>
            <a:r>
              <a:rPr lang="en-US" i="1" dirty="0" err="1"/>
              <a:t>DeepOps</a:t>
            </a:r>
            <a:r>
              <a:rPr lang="en-US" i="1" dirty="0"/>
              <a:t> view of cluster management.</a:t>
            </a:r>
            <a:endParaRPr lang="en-US" dirty="0"/>
          </a:p>
        </p:txBody>
      </p:sp>
      <p:pic>
        <p:nvPicPr>
          <p:cNvPr id="1026" name="Picture 2" descr="DeepOps Cluster Management Diagram."/>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74487" y="1692739"/>
            <a:ext cx="4415883" cy="3250090"/>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628650" y="882042"/>
            <a:ext cx="6954180" cy="369332"/>
          </a:xfrm>
          <a:prstGeom prst="rect">
            <a:avLst/>
          </a:prstGeom>
        </p:spPr>
        <p:txBody>
          <a:bodyPr wrap="square">
            <a:spAutoFit/>
          </a:bodyPr>
          <a:lstStyle/>
          <a:p>
            <a:r>
              <a:rPr lang="en-US" dirty="0">
                <a:solidFill>
                  <a:srgbClr val="1A1A1A"/>
                </a:solidFill>
                <a:latin typeface="NVIDIA Sans"/>
              </a:rPr>
              <a:t>Figure 1 illustrates a cluster with the </a:t>
            </a:r>
            <a:r>
              <a:rPr lang="en-US" dirty="0" err="1">
                <a:solidFill>
                  <a:srgbClr val="1A1A1A"/>
                </a:solidFill>
                <a:latin typeface="NVIDIA Sans"/>
              </a:rPr>
              <a:t>DeepOps</a:t>
            </a:r>
            <a:r>
              <a:rPr lang="en-US" dirty="0">
                <a:solidFill>
                  <a:srgbClr val="1A1A1A"/>
                </a:solidFill>
                <a:latin typeface="NVIDIA Sans"/>
              </a:rPr>
              <a:t> components.</a:t>
            </a:r>
            <a:endParaRPr lang="en-US" dirty="0"/>
          </a:p>
        </p:txBody>
      </p:sp>
    </p:spTree>
    <p:extLst>
      <p:ext uri="{BB962C8B-B14F-4D97-AF65-F5344CB8AC3E}">
        <p14:creationId xmlns:p14="http://schemas.microsoft.com/office/powerpoint/2010/main" val="377047894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415" y="52236"/>
            <a:ext cx="7886700" cy="627988"/>
          </a:xfrm>
        </p:spPr>
        <p:txBody>
          <a:bodyPr/>
          <a:lstStyle/>
          <a:p>
            <a:r>
              <a:rPr lang="en-US" b="1" dirty="0" smtClean="0">
                <a:solidFill>
                  <a:srgbClr val="0070C0"/>
                </a:solidFill>
              </a:rPr>
              <a:t>Management</a:t>
            </a:r>
            <a:endParaRPr lang="en-US" b="1" dirty="0">
              <a:solidFill>
                <a:srgbClr val="0070C0"/>
              </a:solidFill>
            </a:endParaRPr>
          </a:p>
        </p:txBody>
      </p:sp>
      <p:sp>
        <p:nvSpPr>
          <p:cNvPr id="4" name="Slide Number Placeholder 3"/>
          <p:cNvSpPr>
            <a:spLocks noGrp="1"/>
          </p:cNvSpPr>
          <p:nvPr>
            <p:ph type="sldNum" sz="quarter" idx="12"/>
          </p:nvPr>
        </p:nvSpPr>
        <p:spPr/>
        <p:txBody>
          <a:bodyPr/>
          <a:lstStyle/>
          <a:p>
            <a:fld id="{6D22F896-40B5-4ADD-8801-0D06FADFA095}" type="slidenum">
              <a:rPr lang="en-US" smtClean="0"/>
              <a:t>3</a:t>
            </a:fld>
            <a:endParaRPr lang="en-US" dirty="0"/>
          </a:p>
        </p:txBody>
      </p:sp>
      <p:sp>
        <p:nvSpPr>
          <p:cNvPr id="5" name="Rectangle 4"/>
          <p:cNvSpPr/>
          <p:nvPr/>
        </p:nvSpPr>
        <p:spPr>
          <a:xfrm>
            <a:off x="316415" y="656115"/>
            <a:ext cx="7886700" cy="646331"/>
          </a:xfrm>
          <a:prstGeom prst="rect">
            <a:avLst/>
          </a:prstGeom>
        </p:spPr>
        <p:txBody>
          <a:bodyPr wrap="square">
            <a:spAutoFit/>
          </a:bodyPr>
          <a:lstStyle/>
          <a:p>
            <a:r>
              <a:rPr lang="en-US" dirty="0" err="1">
                <a:solidFill>
                  <a:srgbClr val="1A1A1A"/>
                </a:solidFill>
                <a:latin typeface="NVIDIA Sans"/>
              </a:rPr>
              <a:t>DeepOps</a:t>
            </a:r>
            <a:r>
              <a:rPr lang="en-US" dirty="0">
                <a:solidFill>
                  <a:srgbClr val="1A1A1A"/>
                </a:solidFill>
                <a:latin typeface="NVIDIA Sans"/>
              </a:rPr>
              <a:t> covers setting up </a:t>
            </a:r>
            <a:r>
              <a:rPr lang="en-US" dirty="0">
                <a:solidFill>
                  <a:srgbClr val="FF0000"/>
                </a:solidFill>
                <a:latin typeface="NVIDIA Sans"/>
              </a:rPr>
              <a:t>login nodes</a:t>
            </a:r>
            <a:r>
              <a:rPr lang="en-US" dirty="0">
                <a:solidFill>
                  <a:srgbClr val="1A1A1A"/>
                </a:solidFill>
                <a:latin typeface="NVIDIA Sans"/>
              </a:rPr>
              <a:t>, </a:t>
            </a:r>
            <a:r>
              <a:rPr lang="en-US" dirty="0">
                <a:solidFill>
                  <a:srgbClr val="0070C0"/>
                </a:solidFill>
                <a:latin typeface="NVIDIA Sans"/>
              </a:rPr>
              <a:t>management</a:t>
            </a:r>
            <a:r>
              <a:rPr lang="en-US" dirty="0">
                <a:solidFill>
                  <a:srgbClr val="1A1A1A"/>
                </a:solidFill>
                <a:latin typeface="NVIDIA Sans"/>
              </a:rPr>
              <a:t>, </a:t>
            </a:r>
            <a:r>
              <a:rPr lang="en-US" dirty="0">
                <a:solidFill>
                  <a:srgbClr val="FFC000"/>
                </a:solidFill>
                <a:latin typeface="NVIDIA Sans"/>
              </a:rPr>
              <a:t>monitoring</a:t>
            </a:r>
            <a:r>
              <a:rPr lang="en-US" dirty="0">
                <a:solidFill>
                  <a:srgbClr val="1A1A1A"/>
                </a:solidFill>
                <a:latin typeface="NVIDIA Sans"/>
              </a:rPr>
              <a:t>, </a:t>
            </a:r>
            <a:r>
              <a:rPr lang="en-US" dirty="0">
                <a:solidFill>
                  <a:schemeClr val="accent6">
                    <a:lumMod val="75000"/>
                  </a:schemeClr>
                </a:solidFill>
                <a:latin typeface="NVIDIA Sans"/>
              </a:rPr>
              <a:t>Kubernetes</a:t>
            </a:r>
            <a:r>
              <a:rPr lang="en-US" dirty="0">
                <a:solidFill>
                  <a:srgbClr val="1A1A1A"/>
                </a:solidFill>
                <a:latin typeface="NVIDIA Sans"/>
              </a:rPr>
              <a:t>, </a:t>
            </a:r>
            <a:r>
              <a:rPr lang="en-US" dirty="0" err="1">
                <a:solidFill>
                  <a:srgbClr val="3333CC"/>
                </a:solidFill>
                <a:latin typeface="NVIDIA Sans"/>
              </a:rPr>
              <a:t>Slurm</a:t>
            </a:r>
            <a:r>
              <a:rPr lang="en-US" dirty="0">
                <a:solidFill>
                  <a:srgbClr val="1A1A1A"/>
                </a:solidFill>
                <a:latin typeface="NVIDIA Sans"/>
              </a:rPr>
              <a:t>, and even </a:t>
            </a:r>
            <a:r>
              <a:rPr lang="en-US" dirty="0">
                <a:solidFill>
                  <a:schemeClr val="accent5">
                    <a:lumMod val="60000"/>
                    <a:lumOff val="40000"/>
                  </a:schemeClr>
                </a:solidFill>
                <a:latin typeface="NVIDIA Sans"/>
              </a:rPr>
              <a:t>storage provisioning</a:t>
            </a:r>
            <a:r>
              <a:rPr lang="en-US" dirty="0">
                <a:solidFill>
                  <a:srgbClr val="1A1A1A"/>
                </a:solidFill>
                <a:latin typeface="NVIDIA Sans"/>
              </a:rPr>
              <a:t>. </a:t>
            </a:r>
            <a:endParaRPr lang="en-US" dirty="0" smtClean="0">
              <a:solidFill>
                <a:srgbClr val="1A1A1A"/>
              </a:solidFill>
              <a:latin typeface="NVIDIA Sans"/>
            </a:endParaRPr>
          </a:p>
        </p:txBody>
      </p:sp>
      <p:pic>
        <p:nvPicPr>
          <p:cNvPr id="2050" name="Picture 2" descr="DeepOps Slurm Login on Compute Node Diagram. "/>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50641" y="1284103"/>
            <a:ext cx="4823886" cy="3365144"/>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5408753" y="1507738"/>
            <a:ext cx="3411575" cy="4401205"/>
          </a:xfrm>
          <a:prstGeom prst="rect">
            <a:avLst/>
          </a:prstGeom>
        </p:spPr>
        <p:txBody>
          <a:bodyPr wrap="square">
            <a:spAutoFit/>
          </a:bodyPr>
          <a:lstStyle/>
          <a:p>
            <a:pPr algn="just"/>
            <a:r>
              <a:rPr lang="en-US" sz="1000" dirty="0"/>
              <a:t>The above setup with management nodes, Kubernetes and other components would require additional servers, either physical or virtual, to be provisioned. Some organizations might acquire just DGX systems, and even with one node this will be sufficient without additional servers to set up a multi-user environment. However, deploying Kubernetes with just one node is not supported. Refer to the “Zero to Data Science” blog on deploying Kubernetes. We will rely on </a:t>
            </a:r>
            <a:r>
              <a:rPr lang="en-US" sz="1000" dirty="0" err="1"/>
              <a:t>Slurm</a:t>
            </a:r>
            <a:r>
              <a:rPr lang="en-US" sz="1000" dirty="0"/>
              <a:t> for the cluster resource manager and scheduling. This limited scope is illustrated in Figure 2</a:t>
            </a:r>
            <a:r>
              <a:rPr lang="en-US" sz="1000" dirty="0" smtClean="0"/>
              <a:t>.</a:t>
            </a:r>
          </a:p>
          <a:p>
            <a:pPr algn="just" fontAlgn="base"/>
            <a:r>
              <a:rPr lang="en-US" sz="1000" dirty="0"/>
              <a:t>Since the major difference in this setup is that one of the compute nodes functions as a login node, a few modifications are recommended. The GPU devices are restricted from regular login </a:t>
            </a:r>
            <a:r>
              <a:rPr lang="en-US" sz="1000" dirty="0" err="1"/>
              <a:t>ssh</a:t>
            </a:r>
            <a:r>
              <a:rPr lang="en-US" sz="1000" dirty="0"/>
              <a:t> sessions. When a user needs to run something on a GPU they would need to start a </a:t>
            </a:r>
            <a:r>
              <a:rPr lang="en-US" sz="1000" dirty="0" err="1"/>
              <a:t>Slurm</a:t>
            </a:r>
            <a:r>
              <a:rPr lang="en-US" sz="1000" dirty="0"/>
              <a:t> job session. The requested GPUs would then be available within the </a:t>
            </a:r>
            <a:r>
              <a:rPr lang="en-US" sz="1000" dirty="0" err="1"/>
              <a:t>Slurm</a:t>
            </a:r>
            <a:r>
              <a:rPr lang="en-US" sz="1000" dirty="0"/>
              <a:t> job session.</a:t>
            </a:r>
          </a:p>
          <a:p>
            <a:pPr algn="just" fontAlgn="base"/>
            <a:r>
              <a:rPr lang="en-US" sz="1000" dirty="0"/>
              <a:t>Additionally, in multi-user environments one typically wants to restrict elevated privileges for regular users. Rootless </a:t>
            </a:r>
            <a:r>
              <a:rPr lang="en-US" sz="1000" dirty="0" err="1"/>
              <a:t>docker</a:t>
            </a:r>
            <a:r>
              <a:rPr lang="en-US" sz="1000" dirty="0"/>
              <a:t> is used with the </a:t>
            </a:r>
            <a:r>
              <a:rPr lang="en-US" sz="1000" dirty="0" err="1"/>
              <a:t>Slurm</a:t>
            </a:r>
            <a:r>
              <a:rPr lang="en-US" sz="1000" dirty="0"/>
              <a:t> setup to avoid granting elevated rights to end users running containers. Rootless </a:t>
            </a:r>
            <a:r>
              <a:rPr lang="en-US" sz="1000" dirty="0" err="1"/>
              <a:t>docker</a:t>
            </a:r>
            <a:r>
              <a:rPr lang="en-US" sz="1000" dirty="0"/>
              <a:t> solves a couple problems. 1. The users can work in a familiar fashion with </a:t>
            </a:r>
            <a:r>
              <a:rPr lang="en-US" sz="1000" dirty="0" err="1"/>
              <a:t>docker</a:t>
            </a:r>
            <a:r>
              <a:rPr lang="en-US" sz="1000" dirty="0"/>
              <a:t> and NGC containers; 2. There is no need to add users to a privileged </a:t>
            </a:r>
            <a:r>
              <a:rPr lang="en-US" sz="1000" dirty="0" err="1"/>
              <a:t>docker</a:t>
            </a:r>
            <a:r>
              <a:rPr lang="en-US" sz="1000" dirty="0"/>
              <a:t> group; 3. The rootless </a:t>
            </a:r>
            <a:r>
              <a:rPr lang="en-US" sz="1000" dirty="0" err="1"/>
              <a:t>docker</a:t>
            </a:r>
            <a:r>
              <a:rPr lang="en-US" sz="1000" dirty="0"/>
              <a:t> sessions will be constrained to the </a:t>
            </a:r>
            <a:r>
              <a:rPr lang="en-US" sz="1000" dirty="0" err="1"/>
              <a:t>Slurm</a:t>
            </a:r>
            <a:r>
              <a:rPr lang="en-US" sz="1000" dirty="0"/>
              <a:t> job resources (privileged </a:t>
            </a:r>
            <a:r>
              <a:rPr lang="en-US" sz="1000" dirty="0" err="1"/>
              <a:t>docker</a:t>
            </a:r>
            <a:r>
              <a:rPr lang="en-US" sz="1000" dirty="0"/>
              <a:t> can bypass </a:t>
            </a:r>
            <a:r>
              <a:rPr lang="en-US" sz="1000" dirty="0" err="1"/>
              <a:t>Slurm</a:t>
            </a:r>
            <a:r>
              <a:rPr lang="en-US" sz="1000" dirty="0"/>
              <a:t> allocation constraints whereas rootless cannot). </a:t>
            </a:r>
          </a:p>
          <a:p>
            <a:pPr algn="just"/>
            <a:endParaRPr lang="en-US" sz="1000" dirty="0"/>
          </a:p>
        </p:txBody>
      </p:sp>
      <p:sp>
        <p:nvSpPr>
          <p:cNvPr id="7" name="Rectangle 6"/>
          <p:cNvSpPr/>
          <p:nvPr/>
        </p:nvSpPr>
        <p:spPr>
          <a:xfrm>
            <a:off x="450641" y="4579442"/>
            <a:ext cx="4572000" cy="400110"/>
          </a:xfrm>
          <a:prstGeom prst="rect">
            <a:avLst/>
          </a:prstGeom>
        </p:spPr>
        <p:txBody>
          <a:bodyPr>
            <a:spAutoFit/>
          </a:bodyPr>
          <a:lstStyle/>
          <a:p>
            <a:r>
              <a:rPr lang="en-US" sz="1000" dirty="0"/>
              <a:t>Figure 2. Simplified cluster management with one of the compute nodes functioning as a login node.</a:t>
            </a:r>
          </a:p>
        </p:txBody>
      </p:sp>
    </p:spTree>
    <p:extLst>
      <p:ext uri="{BB962C8B-B14F-4D97-AF65-F5344CB8AC3E}">
        <p14:creationId xmlns:p14="http://schemas.microsoft.com/office/powerpoint/2010/main" val="31743364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6415" y="52236"/>
            <a:ext cx="7886700" cy="627988"/>
          </a:xfrm>
        </p:spPr>
        <p:txBody>
          <a:bodyPr/>
          <a:lstStyle/>
          <a:p>
            <a:r>
              <a:rPr lang="en-US" b="1" dirty="0" smtClean="0">
                <a:solidFill>
                  <a:srgbClr val="FFC000"/>
                </a:solidFill>
              </a:rPr>
              <a:t>Monitoring</a:t>
            </a:r>
            <a:endParaRPr lang="en-US" b="1" dirty="0">
              <a:solidFill>
                <a:srgbClr val="FFC000"/>
              </a:solidFill>
            </a:endParaRPr>
          </a:p>
        </p:txBody>
      </p:sp>
      <p:sp>
        <p:nvSpPr>
          <p:cNvPr id="4" name="Slide Number Placeholder 3"/>
          <p:cNvSpPr>
            <a:spLocks noGrp="1"/>
          </p:cNvSpPr>
          <p:nvPr>
            <p:ph type="sldNum" sz="quarter" idx="12"/>
          </p:nvPr>
        </p:nvSpPr>
        <p:spPr/>
        <p:txBody>
          <a:bodyPr/>
          <a:lstStyle/>
          <a:p>
            <a:fld id="{6D22F896-40B5-4ADD-8801-0D06FADFA095}" type="slidenum">
              <a:rPr lang="en-US" smtClean="0"/>
              <a:t>4</a:t>
            </a:fld>
            <a:endParaRPr lang="en-US" dirty="0"/>
          </a:p>
        </p:txBody>
      </p:sp>
      <p:sp>
        <p:nvSpPr>
          <p:cNvPr id="5" name="Rectangle 4"/>
          <p:cNvSpPr/>
          <p:nvPr/>
        </p:nvSpPr>
        <p:spPr>
          <a:xfrm>
            <a:off x="316415" y="656115"/>
            <a:ext cx="7886700" cy="646331"/>
          </a:xfrm>
          <a:prstGeom prst="rect">
            <a:avLst/>
          </a:prstGeom>
        </p:spPr>
        <p:txBody>
          <a:bodyPr wrap="square">
            <a:spAutoFit/>
          </a:bodyPr>
          <a:lstStyle/>
          <a:p>
            <a:r>
              <a:rPr lang="en-US" dirty="0" err="1">
                <a:solidFill>
                  <a:srgbClr val="1A1A1A"/>
                </a:solidFill>
                <a:latin typeface="NVIDIA Sans"/>
              </a:rPr>
              <a:t>DeepOps</a:t>
            </a:r>
            <a:r>
              <a:rPr lang="en-US" dirty="0">
                <a:solidFill>
                  <a:srgbClr val="1A1A1A"/>
                </a:solidFill>
                <a:latin typeface="NVIDIA Sans"/>
              </a:rPr>
              <a:t> covers setting up </a:t>
            </a:r>
            <a:r>
              <a:rPr lang="en-US" dirty="0">
                <a:solidFill>
                  <a:srgbClr val="FF0000"/>
                </a:solidFill>
                <a:latin typeface="NVIDIA Sans"/>
              </a:rPr>
              <a:t>login nodes</a:t>
            </a:r>
            <a:r>
              <a:rPr lang="en-US" dirty="0">
                <a:solidFill>
                  <a:srgbClr val="1A1A1A"/>
                </a:solidFill>
                <a:latin typeface="NVIDIA Sans"/>
              </a:rPr>
              <a:t>, </a:t>
            </a:r>
            <a:r>
              <a:rPr lang="en-US" dirty="0">
                <a:solidFill>
                  <a:srgbClr val="0070C0"/>
                </a:solidFill>
                <a:latin typeface="NVIDIA Sans"/>
              </a:rPr>
              <a:t>management</a:t>
            </a:r>
            <a:r>
              <a:rPr lang="en-US" dirty="0">
                <a:solidFill>
                  <a:srgbClr val="1A1A1A"/>
                </a:solidFill>
                <a:latin typeface="NVIDIA Sans"/>
              </a:rPr>
              <a:t>, </a:t>
            </a:r>
            <a:r>
              <a:rPr lang="en-US" dirty="0">
                <a:solidFill>
                  <a:srgbClr val="FFC000"/>
                </a:solidFill>
                <a:latin typeface="NVIDIA Sans"/>
              </a:rPr>
              <a:t>monitoring</a:t>
            </a:r>
            <a:r>
              <a:rPr lang="en-US" dirty="0">
                <a:solidFill>
                  <a:srgbClr val="1A1A1A"/>
                </a:solidFill>
                <a:latin typeface="NVIDIA Sans"/>
              </a:rPr>
              <a:t>, </a:t>
            </a:r>
            <a:r>
              <a:rPr lang="en-US" dirty="0">
                <a:solidFill>
                  <a:schemeClr val="accent6">
                    <a:lumMod val="75000"/>
                  </a:schemeClr>
                </a:solidFill>
                <a:latin typeface="NVIDIA Sans"/>
              </a:rPr>
              <a:t>Kubernetes</a:t>
            </a:r>
            <a:r>
              <a:rPr lang="en-US" dirty="0">
                <a:solidFill>
                  <a:srgbClr val="1A1A1A"/>
                </a:solidFill>
                <a:latin typeface="NVIDIA Sans"/>
              </a:rPr>
              <a:t>, </a:t>
            </a:r>
            <a:r>
              <a:rPr lang="en-US" dirty="0" err="1">
                <a:solidFill>
                  <a:srgbClr val="3333CC"/>
                </a:solidFill>
                <a:latin typeface="NVIDIA Sans"/>
              </a:rPr>
              <a:t>Slurm</a:t>
            </a:r>
            <a:r>
              <a:rPr lang="en-US" dirty="0">
                <a:solidFill>
                  <a:srgbClr val="1A1A1A"/>
                </a:solidFill>
                <a:latin typeface="NVIDIA Sans"/>
              </a:rPr>
              <a:t>, and even </a:t>
            </a:r>
            <a:r>
              <a:rPr lang="en-US" dirty="0">
                <a:solidFill>
                  <a:schemeClr val="accent5">
                    <a:lumMod val="60000"/>
                    <a:lumOff val="40000"/>
                  </a:schemeClr>
                </a:solidFill>
                <a:latin typeface="NVIDIA Sans"/>
              </a:rPr>
              <a:t>storage provisioning</a:t>
            </a:r>
            <a:r>
              <a:rPr lang="en-US" dirty="0">
                <a:solidFill>
                  <a:srgbClr val="1A1A1A"/>
                </a:solidFill>
                <a:latin typeface="NVIDIA Sans"/>
              </a:rPr>
              <a:t>. </a:t>
            </a:r>
            <a:endParaRPr lang="en-US" dirty="0" smtClean="0">
              <a:solidFill>
                <a:srgbClr val="1A1A1A"/>
              </a:solidFill>
              <a:latin typeface="NVIDIA Sans"/>
            </a:endParaRPr>
          </a:p>
        </p:txBody>
      </p:sp>
      <p:sp>
        <p:nvSpPr>
          <p:cNvPr id="7" name="Rectangle 6"/>
          <p:cNvSpPr/>
          <p:nvPr/>
        </p:nvSpPr>
        <p:spPr>
          <a:xfrm>
            <a:off x="450641" y="4579442"/>
            <a:ext cx="4572000" cy="215444"/>
          </a:xfrm>
          <a:prstGeom prst="rect">
            <a:avLst/>
          </a:prstGeom>
        </p:spPr>
        <p:txBody>
          <a:bodyPr>
            <a:spAutoFit/>
          </a:bodyPr>
          <a:lstStyle/>
          <a:p>
            <a:r>
              <a:rPr lang="en-US" sz="800" i="1" dirty="0" err="1"/>
              <a:t>igure</a:t>
            </a:r>
            <a:r>
              <a:rPr lang="en-US" sz="800" i="1" dirty="0"/>
              <a:t> 3. Multi-user team sharing a DGX system and its GPUs for various workloads.</a:t>
            </a:r>
            <a:endParaRPr lang="en-US" sz="800" dirty="0"/>
          </a:p>
        </p:txBody>
      </p:sp>
      <p:pic>
        <p:nvPicPr>
          <p:cNvPr id="8" name="Picture 7"/>
          <p:cNvPicPr>
            <a:picLocks noChangeAspect="1"/>
          </p:cNvPicPr>
          <p:nvPr/>
        </p:nvPicPr>
        <p:blipFill>
          <a:blip r:embed="rId3"/>
          <a:stretch>
            <a:fillRect/>
          </a:stretch>
        </p:blipFill>
        <p:spPr>
          <a:xfrm>
            <a:off x="1193181" y="1527296"/>
            <a:ext cx="2887352" cy="2827295"/>
          </a:xfrm>
          <a:prstGeom prst="rect">
            <a:avLst/>
          </a:prstGeom>
        </p:spPr>
      </p:pic>
    </p:spTree>
    <p:extLst>
      <p:ext uri="{BB962C8B-B14F-4D97-AF65-F5344CB8AC3E}">
        <p14:creationId xmlns:p14="http://schemas.microsoft.com/office/powerpoint/2010/main" val="91539538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89919" y="1"/>
            <a:ext cx="3979069" cy="2536031"/>
          </a:xfrm>
          <a:prstGeom prst="rect">
            <a:avLst/>
          </a:prstGeom>
        </p:spPr>
      </p:pic>
      <p:grpSp>
        <p:nvGrpSpPr>
          <p:cNvPr id="9" name="Group 8"/>
          <p:cNvGrpSpPr/>
          <p:nvPr/>
        </p:nvGrpSpPr>
        <p:grpSpPr>
          <a:xfrm>
            <a:off x="277816" y="1346868"/>
            <a:ext cx="3603272" cy="1447266"/>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68580" tIns="34290" rIns="68580" bIns="3429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dirty="0">
                  <a:solidFill>
                    <a:schemeClr val="accent1">
                      <a:lumMod val="75000"/>
                    </a:schemeClr>
                  </a:solidFill>
                </a:rPr>
                <a:t>Computer </a:t>
              </a:r>
              <a:r>
                <a:rPr lang="en-US" sz="3000" dirty="0">
                  <a:solidFill>
                    <a:srgbClr val="00B0F0"/>
                  </a:solidFill>
                </a:rPr>
                <a:t>Vision</a:t>
              </a: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68580" tIns="34290" rIns="68580" bIns="3429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solidFill>
                    <a:srgbClr val="7030A0"/>
                  </a:solidFill>
                </a:rPr>
                <a:t>PDS</a:t>
              </a:r>
            </a:p>
          </p:txBody>
        </p:sp>
      </p:grpSp>
      <p:sp>
        <p:nvSpPr>
          <p:cNvPr id="22" name="Rectangle 21"/>
          <p:cNvSpPr/>
          <p:nvPr/>
        </p:nvSpPr>
        <p:spPr>
          <a:xfrm>
            <a:off x="6683644" y="4335788"/>
            <a:ext cx="2613761" cy="230832"/>
          </a:xfrm>
          <a:prstGeom prst="rect">
            <a:avLst/>
          </a:prstGeom>
        </p:spPr>
        <p:txBody>
          <a:bodyPr wrap="square">
            <a:spAutoFit/>
          </a:bodyPr>
          <a:lstStyle/>
          <a:p>
            <a:r>
              <a:rPr lang="en-US" sz="900" dirty="0"/>
              <a:t>https://www.youtube.com/@AmelOline/videos</a:t>
            </a:r>
          </a:p>
        </p:txBody>
      </p:sp>
      <p:sp>
        <p:nvSpPr>
          <p:cNvPr id="23" name="Rectangle 22"/>
          <p:cNvSpPr/>
          <p:nvPr/>
        </p:nvSpPr>
        <p:spPr>
          <a:xfrm>
            <a:off x="7520552" y="4197289"/>
            <a:ext cx="1623448" cy="230832"/>
          </a:xfrm>
          <a:prstGeom prst="rect">
            <a:avLst/>
          </a:prstGeom>
        </p:spPr>
        <p:txBody>
          <a:bodyPr wrap="square">
            <a:spAutoFit/>
          </a:bodyPr>
          <a:lstStyle/>
          <a:p>
            <a:r>
              <a:rPr lang="en-US" sz="900" dirty="0"/>
              <a:t>https://github.com/siagianp</a:t>
            </a:r>
          </a:p>
        </p:txBody>
      </p:sp>
      <p:sp>
        <p:nvSpPr>
          <p:cNvPr id="2" name="Rectangle 1"/>
          <p:cNvSpPr/>
          <p:nvPr/>
        </p:nvSpPr>
        <p:spPr>
          <a:xfrm>
            <a:off x="5707251" y="4474288"/>
            <a:ext cx="3667194" cy="230832"/>
          </a:xfrm>
          <a:prstGeom prst="rect">
            <a:avLst/>
          </a:prstGeom>
        </p:spPr>
        <p:txBody>
          <a:bodyPr wrap="square">
            <a:spAutoFit/>
          </a:bodyPr>
          <a:lstStyle/>
          <a:p>
            <a:r>
              <a:rPr lang="en-US" sz="900" dirty="0"/>
              <a:t>https://github.com/amelcharolinesgn2/IoT_simulator-mqtt-NodeRed</a:t>
            </a:r>
          </a:p>
        </p:txBody>
      </p:sp>
      <p:pic>
        <p:nvPicPr>
          <p:cNvPr id="4" name="Picture 3"/>
          <p:cNvPicPr>
            <a:picLocks noChangeAspect="1"/>
          </p:cNvPicPr>
          <p:nvPr/>
        </p:nvPicPr>
        <p:blipFill>
          <a:blip r:embed="rId5"/>
          <a:stretch>
            <a:fillRect/>
          </a:stretch>
        </p:blipFill>
        <p:spPr>
          <a:xfrm>
            <a:off x="1958807" y="1979698"/>
            <a:ext cx="334565" cy="476897"/>
          </a:xfrm>
          <a:prstGeom prst="rect">
            <a:avLst/>
          </a:prstGeom>
        </p:spPr>
      </p:pic>
      <p:pic>
        <p:nvPicPr>
          <p:cNvPr id="5" name="Picture 4"/>
          <p:cNvPicPr>
            <a:picLocks noChangeAspect="1"/>
          </p:cNvPicPr>
          <p:nvPr/>
        </p:nvPicPr>
        <p:blipFill>
          <a:blip r:embed="rId6"/>
          <a:stretch>
            <a:fillRect/>
          </a:stretch>
        </p:blipFill>
        <p:spPr>
          <a:xfrm>
            <a:off x="1435773" y="1991577"/>
            <a:ext cx="460043" cy="437041"/>
          </a:xfrm>
          <a:prstGeom prst="rect">
            <a:avLst/>
          </a:prstGeom>
        </p:spPr>
      </p:pic>
      <p:pic>
        <p:nvPicPr>
          <p:cNvPr id="6" name="Picture 5"/>
          <p:cNvPicPr>
            <a:picLocks noChangeAspect="1"/>
          </p:cNvPicPr>
          <p:nvPr/>
        </p:nvPicPr>
        <p:blipFill>
          <a:blip r:embed="rId7"/>
          <a:stretch>
            <a:fillRect/>
          </a:stretch>
        </p:blipFill>
        <p:spPr>
          <a:xfrm>
            <a:off x="789784" y="1979697"/>
            <a:ext cx="449747" cy="433166"/>
          </a:xfrm>
          <a:prstGeom prst="rect">
            <a:avLst/>
          </a:prstGeom>
        </p:spPr>
      </p:pic>
      <p:sp>
        <p:nvSpPr>
          <p:cNvPr id="27" name="Title 1"/>
          <p:cNvSpPr txBox="1">
            <a:spLocks/>
          </p:cNvSpPr>
          <p:nvPr/>
        </p:nvSpPr>
        <p:spPr>
          <a:xfrm>
            <a:off x="1928067" y="3546558"/>
            <a:ext cx="6425543" cy="503071"/>
          </a:xfrm>
          <a:prstGeom prst="rect">
            <a:avLst/>
          </a:prstGeom>
        </p:spPr>
        <p:txBody>
          <a:bodyPr vert="horz" lIns="68580" tIns="34290" rIns="68580" bIns="3429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300" dirty="0">
                <a:solidFill>
                  <a:srgbClr val="0070C0"/>
                </a:solidFill>
              </a:rPr>
              <a:t>.</a:t>
            </a:r>
            <a:endParaRPr lang="en-US" sz="3300" b="1" dirty="0"/>
          </a:p>
        </p:txBody>
      </p:sp>
      <p:sp>
        <p:nvSpPr>
          <p:cNvPr id="3" name="Rectangle 2"/>
          <p:cNvSpPr/>
          <p:nvPr/>
        </p:nvSpPr>
        <p:spPr>
          <a:xfrm>
            <a:off x="6152941" y="4612787"/>
            <a:ext cx="3204723" cy="230832"/>
          </a:xfrm>
          <a:prstGeom prst="rect">
            <a:avLst/>
          </a:prstGeom>
        </p:spPr>
        <p:txBody>
          <a:bodyPr wrap="none">
            <a:spAutoFit/>
          </a:bodyPr>
          <a:lstStyle/>
          <a:p>
            <a:r>
              <a:rPr lang="en-US" sz="900" dirty="0"/>
              <a:t>https://github.com/amelcharolinesgn2/Cloud-Infrastructures</a:t>
            </a:r>
          </a:p>
        </p:txBody>
      </p:sp>
      <p:sp>
        <p:nvSpPr>
          <p:cNvPr id="24" name="Rectangle 23"/>
          <p:cNvSpPr/>
          <p:nvPr/>
        </p:nvSpPr>
        <p:spPr>
          <a:xfrm>
            <a:off x="5620344" y="4785911"/>
            <a:ext cx="3587842" cy="230832"/>
          </a:xfrm>
          <a:prstGeom prst="rect">
            <a:avLst/>
          </a:prstGeom>
        </p:spPr>
        <p:txBody>
          <a:bodyPr wrap="none">
            <a:spAutoFit/>
          </a:bodyPr>
          <a:lstStyle/>
          <a:p>
            <a:r>
              <a:rPr lang="en-US" sz="900" dirty="0"/>
              <a:t>https://github.com/amelcharolinesgn2/ClouD-Infrastructure-SISKA-2025</a:t>
            </a:r>
          </a:p>
        </p:txBody>
      </p:sp>
      <p:sp>
        <p:nvSpPr>
          <p:cNvPr id="7" name="Rectangle 6"/>
          <p:cNvSpPr/>
          <p:nvPr/>
        </p:nvSpPr>
        <p:spPr>
          <a:xfrm>
            <a:off x="1442938" y="3158423"/>
            <a:ext cx="3520323" cy="400110"/>
          </a:xfrm>
          <a:prstGeom prst="rect">
            <a:avLst/>
          </a:prstGeom>
        </p:spPr>
        <p:txBody>
          <a:bodyPr wrap="none">
            <a:spAutoFit/>
          </a:bodyPr>
          <a:lstStyle/>
          <a:p>
            <a:r>
              <a:rPr lang="en-US" sz="2000" b="1" dirty="0" err="1">
                <a:solidFill>
                  <a:srgbClr val="00B0F0"/>
                </a:solidFill>
              </a:rPr>
              <a:t>Nvidia</a:t>
            </a:r>
            <a:r>
              <a:rPr lang="en-US" sz="2000" b="1" dirty="0">
                <a:solidFill>
                  <a:srgbClr val="00B0F0"/>
                </a:solidFill>
              </a:rPr>
              <a:t> Docker Kubernetes 2025</a:t>
            </a:r>
          </a:p>
        </p:txBody>
      </p:sp>
    </p:spTree>
    <p:extLst>
      <p:ext uri="{BB962C8B-B14F-4D97-AF65-F5344CB8AC3E}">
        <p14:creationId xmlns:p14="http://schemas.microsoft.com/office/powerpoint/2010/main" val="234670646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stretch>
            <a:fillRect/>
          </a:stretch>
        </p:blipFill>
        <p:spPr>
          <a:xfrm>
            <a:off x="1903028" y="1386483"/>
            <a:ext cx="5717085" cy="3262312"/>
          </a:xfrm>
          <a:prstGeom prst="rect">
            <a:avLst/>
          </a:prstGeom>
        </p:spPr>
      </p:pic>
      <p:sp>
        <p:nvSpPr>
          <p:cNvPr id="4" name="Slide Number Placeholder 3"/>
          <p:cNvSpPr>
            <a:spLocks noGrp="1"/>
          </p:cNvSpPr>
          <p:nvPr>
            <p:ph type="sldNum" sz="quarter" idx="12"/>
          </p:nvPr>
        </p:nvSpPr>
        <p:spPr/>
        <p:txBody>
          <a:bodyPr/>
          <a:lstStyle/>
          <a:p>
            <a:fld id="{6D22F896-40B5-4ADD-8801-0D06FADFA095}" type="slidenum">
              <a:rPr lang="en-US" smtClean="0"/>
              <a:t>6</a:t>
            </a:fld>
            <a:endParaRPr lang="en-US" dirty="0"/>
          </a:p>
        </p:txBody>
      </p:sp>
    </p:spTree>
    <p:extLst>
      <p:ext uri="{BB962C8B-B14F-4D97-AF65-F5344CB8AC3E}">
        <p14:creationId xmlns:p14="http://schemas.microsoft.com/office/powerpoint/2010/main" val="27250313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89919" y="1"/>
            <a:ext cx="3979069" cy="2536031"/>
          </a:xfrm>
          <a:prstGeom prst="rect">
            <a:avLst/>
          </a:prstGeom>
        </p:spPr>
      </p:pic>
      <p:grpSp>
        <p:nvGrpSpPr>
          <p:cNvPr id="9" name="Group 8"/>
          <p:cNvGrpSpPr/>
          <p:nvPr/>
        </p:nvGrpSpPr>
        <p:grpSpPr>
          <a:xfrm>
            <a:off x="277816" y="1346868"/>
            <a:ext cx="3603272" cy="1447266"/>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68580" tIns="34290" rIns="68580" bIns="3429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dirty="0">
                  <a:solidFill>
                    <a:schemeClr val="accent1">
                      <a:lumMod val="75000"/>
                    </a:schemeClr>
                  </a:solidFill>
                </a:rPr>
                <a:t>Computer </a:t>
              </a:r>
              <a:r>
                <a:rPr lang="en-US" sz="3000" dirty="0">
                  <a:solidFill>
                    <a:srgbClr val="00B0F0"/>
                  </a:solidFill>
                </a:rPr>
                <a:t>Vision</a:t>
              </a: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68580" tIns="34290" rIns="68580" bIns="3429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solidFill>
                    <a:srgbClr val="7030A0"/>
                  </a:solidFill>
                </a:rPr>
                <a:t>PDS</a:t>
              </a:r>
            </a:p>
          </p:txBody>
        </p:sp>
      </p:grpSp>
      <p:sp>
        <p:nvSpPr>
          <p:cNvPr id="22" name="Rectangle 21"/>
          <p:cNvSpPr/>
          <p:nvPr/>
        </p:nvSpPr>
        <p:spPr>
          <a:xfrm>
            <a:off x="6683644" y="4335788"/>
            <a:ext cx="2613761" cy="230832"/>
          </a:xfrm>
          <a:prstGeom prst="rect">
            <a:avLst/>
          </a:prstGeom>
        </p:spPr>
        <p:txBody>
          <a:bodyPr wrap="square">
            <a:spAutoFit/>
          </a:bodyPr>
          <a:lstStyle/>
          <a:p>
            <a:r>
              <a:rPr lang="en-US" sz="900" dirty="0"/>
              <a:t>https://www.youtube.com/@AmelOline/videos</a:t>
            </a:r>
          </a:p>
        </p:txBody>
      </p:sp>
      <p:sp>
        <p:nvSpPr>
          <p:cNvPr id="23" name="Rectangle 22"/>
          <p:cNvSpPr/>
          <p:nvPr/>
        </p:nvSpPr>
        <p:spPr>
          <a:xfrm>
            <a:off x="7520552" y="4197289"/>
            <a:ext cx="1623448" cy="230832"/>
          </a:xfrm>
          <a:prstGeom prst="rect">
            <a:avLst/>
          </a:prstGeom>
        </p:spPr>
        <p:txBody>
          <a:bodyPr wrap="square">
            <a:spAutoFit/>
          </a:bodyPr>
          <a:lstStyle/>
          <a:p>
            <a:r>
              <a:rPr lang="en-US" sz="900" dirty="0"/>
              <a:t>https://github.com/siagianp</a:t>
            </a:r>
          </a:p>
        </p:txBody>
      </p:sp>
      <p:sp>
        <p:nvSpPr>
          <p:cNvPr id="2" name="Rectangle 1"/>
          <p:cNvSpPr/>
          <p:nvPr/>
        </p:nvSpPr>
        <p:spPr>
          <a:xfrm>
            <a:off x="5707251" y="4474288"/>
            <a:ext cx="3667194" cy="230832"/>
          </a:xfrm>
          <a:prstGeom prst="rect">
            <a:avLst/>
          </a:prstGeom>
        </p:spPr>
        <p:txBody>
          <a:bodyPr wrap="square">
            <a:spAutoFit/>
          </a:bodyPr>
          <a:lstStyle/>
          <a:p>
            <a:r>
              <a:rPr lang="en-US" sz="900" dirty="0"/>
              <a:t>https://github.com/amelcharolinesgn2/IoT_simulator-mqtt-NodeRed</a:t>
            </a:r>
          </a:p>
        </p:txBody>
      </p:sp>
      <p:pic>
        <p:nvPicPr>
          <p:cNvPr id="4" name="Picture 3"/>
          <p:cNvPicPr>
            <a:picLocks noChangeAspect="1"/>
          </p:cNvPicPr>
          <p:nvPr/>
        </p:nvPicPr>
        <p:blipFill>
          <a:blip r:embed="rId5"/>
          <a:stretch>
            <a:fillRect/>
          </a:stretch>
        </p:blipFill>
        <p:spPr>
          <a:xfrm>
            <a:off x="1958807" y="1979698"/>
            <a:ext cx="334565" cy="476897"/>
          </a:xfrm>
          <a:prstGeom prst="rect">
            <a:avLst/>
          </a:prstGeom>
        </p:spPr>
      </p:pic>
      <p:pic>
        <p:nvPicPr>
          <p:cNvPr id="5" name="Picture 4"/>
          <p:cNvPicPr>
            <a:picLocks noChangeAspect="1"/>
          </p:cNvPicPr>
          <p:nvPr/>
        </p:nvPicPr>
        <p:blipFill>
          <a:blip r:embed="rId6"/>
          <a:stretch>
            <a:fillRect/>
          </a:stretch>
        </p:blipFill>
        <p:spPr>
          <a:xfrm>
            <a:off x="1435773" y="1991577"/>
            <a:ext cx="460043" cy="437041"/>
          </a:xfrm>
          <a:prstGeom prst="rect">
            <a:avLst/>
          </a:prstGeom>
        </p:spPr>
      </p:pic>
      <p:pic>
        <p:nvPicPr>
          <p:cNvPr id="6" name="Picture 5"/>
          <p:cNvPicPr>
            <a:picLocks noChangeAspect="1"/>
          </p:cNvPicPr>
          <p:nvPr/>
        </p:nvPicPr>
        <p:blipFill>
          <a:blip r:embed="rId7"/>
          <a:stretch>
            <a:fillRect/>
          </a:stretch>
        </p:blipFill>
        <p:spPr>
          <a:xfrm>
            <a:off x="789784" y="1979697"/>
            <a:ext cx="449747" cy="433166"/>
          </a:xfrm>
          <a:prstGeom prst="rect">
            <a:avLst/>
          </a:prstGeom>
        </p:spPr>
      </p:pic>
      <p:sp>
        <p:nvSpPr>
          <p:cNvPr id="27" name="Title 1"/>
          <p:cNvSpPr txBox="1">
            <a:spLocks/>
          </p:cNvSpPr>
          <p:nvPr/>
        </p:nvSpPr>
        <p:spPr>
          <a:xfrm>
            <a:off x="1928067" y="3546558"/>
            <a:ext cx="6425543" cy="503071"/>
          </a:xfrm>
          <a:prstGeom prst="rect">
            <a:avLst/>
          </a:prstGeom>
        </p:spPr>
        <p:txBody>
          <a:bodyPr vert="horz" lIns="68580" tIns="34290" rIns="68580" bIns="3429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300" dirty="0">
                <a:solidFill>
                  <a:srgbClr val="0070C0"/>
                </a:solidFill>
              </a:rPr>
              <a:t>.</a:t>
            </a:r>
            <a:endParaRPr lang="en-US" sz="3300" b="1" dirty="0"/>
          </a:p>
        </p:txBody>
      </p:sp>
      <p:sp>
        <p:nvSpPr>
          <p:cNvPr id="3" name="Rectangle 2"/>
          <p:cNvSpPr/>
          <p:nvPr/>
        </p:nvSpPr>
        <p:spPr>
          <a:xfrm>
            <a:off x="6152941" y="4612787"/>
            <a:ext cx="3204723" cy="230832"/>
          </a:xfrm>
          <a:prstGeom prst="rect">
            <a:avLst/>
          </a:prstGeom>
        </p:spPr>
        <p:txBody>
          <a:bodyPr wrap="none">
            <a:spAutoFit/>
          </a:bodyPr>
          <a:lstStyle/>
          <a:p>
            <a:r>
              <a:rPr lang="en-US" sz="900" dirty="0"/>
              <a:t>https://github.com/amelcharolinesgn2/Cloud-Infrastructures</a:t>
            </a:r>
          </a:p>
        </p:txBody>
      </p:sp>
      <p:sp>
        <p:nvSpPr>
          <p:cNvPr id="24" name="Rectangle 23"/>
          <p:cNvSpPr/>
          <p:nvPr/>
        </p:nvSpPr>
        <p:spPr>
          <a:xfrm>
            <a:off x="5620344" y="4785911"/>
            <a:ext cx="3587842" cy="230832"/>
          </a:xfrm>
          <a:prstGeom prst="rect">
            <a:avLst/>
          </a:prstGeom>
        </p:spPr>
        <p:txBody>
          <a:bodyPr wrap="none">
            <a:spAutoFit/>
          </a:bodyPr>
          <a:lstStyle/>
          <a:p>
            <a:r>
              <a:rPr lang="en-US" sz="900" dirty="0"/>
              <a:t>https://github.com/amelcharolinesgn2/ClouD-Infrastructure-SISKA-2025</a:t>
            </a:r>
          </a:p>
        </p:txBody>
      </p:sp>
      <p:sp>
        <p:nvSpPr>
          <p:cNvPr id="7" name="Rectangle 6"/>
          <p:cNvSpPr/>
          <p:nvPr/>
        </p:nvSpPr>
        <p:spPr>
          <a:xfrm>
            <a:off x="1442938" y="3158423"/>
            <a:ext cx="2336537" cy="523220"/>
          </a:xfrm>
          <a:prstGeom prst="rect">
            <a:avLst/>
          </a:prstGeom>
        </p:spPr>
        <p:txBody>
          <a:bodyPr wrap="none">
            <a:spAutoFit/>
          </a:bodyPr>
          <a:lstStyle/>
          <a:p>
            <a:pPr fontAlgn="base"/>
            <a:r>
              <a:rPr lang="en-US" sz="2800" b="1" dirty="0">
                <a:solidFill>
                  <a:srgbClr val="00B0F0"/>
                </a:solidFill>
              </a:rPr>
              <a:t>Docker Swarm</a:t>
            </a:r>
          </a:p>
        </p:txBody>
      </p:sp>
    </p:spTree>
    <p:extLst>
      <p:ext uri="{BB962C8B-B14F-4D97-AF65-F5344CB8AC3E}">
        <p14:creationId xmlns:p14="http://schemas.microsoft.com/office/powerpoint/2010/main" val="379194256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1414" y="273844"/>
            <a:ext cx="4723935" cy="994172"/>
          </a:xfrm>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smtClean="0"/>
              <a:t>8</a:t>
            </a:fld>
            <a:endParaRPr lang="en-US" dirty="0"/>
          </a:p>
        </p:txBody>
      </p:sp>
      <p:pic>
        <p:nvPicPr>
          <p:cNvPr id="1026" name="Picture 2" descr="Implantando Serviços ao Cluster do Docker Swarm"/>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22662" y="157605"/>
            <a:ext cx="3482407" cy="181738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4"/>
          <a:stretch>
            <a:fillRect/>
          </a:stretch>
        </p:blipFill>
        <p:spPr>
          <a:xfrm>
            <a:off x="323823" y="2033095"/>
            <a:ext cx="3281246" cy="2871090"/>
          </a:xfrm>
          <a:prstGeom prst="rect">
            <a:avLst/>
          </a:prstGeom>
        </p:spPr>
      </p:pic>
      <p:pic>
        <p:nvPicPr>
          <p:cNvPr id="6" name="Picture 5"/>
          <p:cNvPicPr>
            <a:picLocks noChangeAspect="1"/>
          </p:cNvPicPr>
          <p:nvPr/>
        </p:nvPicPr>
        <p:blipFill>
          <a:blip r:embed="rId5"/>
          <a:stretch>
            <a:fillRect/>
          </a:stretch>
        </p:blipFill>
        <p:spPr>
          <a:xfrm>
            <a:off x="3791414" y="1515116"/>
            <a:ext cx="4223989" cy="919740"/>
          </a:xfrm>
          <a:prstGeom prst="rect">
            <a:avLst/>
          </a:prstGeom>
        </p:spPr>
      </p:pic>
      <p:pic>
        <p:nvPicPr>
          <p:cNvPr id="7" name="Picture 6"/>
          <p:cNvPicPr>
            <a:picLocks noChangeAspect="1"/>
          </p:cNvPicPr>
          <p:nvPr/>
        </p:nvPicPr>
        <p:blipFill>
          <a:blip r:embed="rId6"/>
          <a:stretch>
            <a:fillRect/>
          </a:stretch>
        </p:blipFill>
        <p:spPr>
          <a:xfrm>
            <a:off x="3769111" y="2611072"/>
            <a:ext cx="5905500" cy="866775"/>
          </a:xfrm>
          <a:prstGeom prst="rect">
            <a:avLst/>
          </a:prstGeom>
        </p:spPr>
      </p:pic>
      <p:pic>
        <p:nvPicPr>
          <p:cNvPr id="8" name="Picture 7"/>
          <p:cNvPicPr>
            <a:picLocks noChangeAspect="1"/>
          </p:cNvPicPr>
          <p:nvPr/>
        </p:nvPicPr>
        <p:blipFill>
          <a:blip r:embed="rId7"/>
          <a:stretch>
            <a:fillRect/>
          </a:stretch>
        </p:blipFill>
        <p:spPr>
          <a:xfrm>
            <a:off x="3791414" y="3567356"/>
            <a:ext cx="3231530" cy="1902433"/>
          </a:xfrm>
          <a:prstGeom prst="rect">
            <a:avLst/>
          </a:prstGeom>
        </p:spPr>
      </p:pic>
    </p:spTree>
    <p:extLst>
      <p:ext uri="{BB962C8B-B14F-4D97-AF65-F5344CB8AC3E}">
        <p14:creationId xmlns:p14="http://schemas.microsoft.com/office/powerpoint/2010/main" val="35866475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hlinkClick r:id="rId3"/>
              </a:rPr>
              <a:t>Docker Swarm. an in-depth introduction</a:t>
            </a:r>
            <a:r>
              <a:rPr lang="en-US" dirty="0"/>
              <a:t/>
            </a:r>
            <a:br>
              <a:rPr lang="en-US" dirty="0"/>
            </a:br>
            <a:endParaRPr lang="en-US" dirty="0"/>
          </a:p>
        </p:txBody>
      </p:sp>
      <p:pic>
        <p:nvPicPr>
          <p:cNvPr id="5" name="Content Placeholder 4"/>
          <p:cNvPicPr>
            <a:picLocks noGrp="1" noChangeAspect="1"/>
          </p:cNvPicPr>
          <p:nvPr>
            <p:ph idx="1"/>
          </p:nvPr>
        </p:nvPicPr>
        <p:blipFill>
          <a:blip r:embed="rId4"/>
          <a:stretch>
            <a:fillRect/>
          </a:stretch>
        </p:blipFill>
        <p:spPr>
          <a:xfrm>
            <a:off x="235497" y="935116"/>
            <a:ext cx="3522464" cy="2131469"/>
          </a:xfrm>
          <a:prstGeom prst="rect">
            <a:avLst/>
          </a:prstGeom>
        </p:spPr>
      </p:pic>
      <p:sp>
        <p:nvSpPr>
          <p:cNvPr id="4" name="Slide Number Placeholder 3"/>
          <p:cNvSpPr>
            <a:spLocks noGrp="1"/>
          </p:cNvSpPr>
          <p:nvPr>
            <p:ph type="sldNum" sz="quarter" idx="12"/>
          </p:nvPr>
        </p:nvSpPr>
        <p:spPr/>
        <p:txBody>
          <a:bodyPr/>
          <a:lstStyle/>
          <a:p>
            <a:fld id="{6D22F896-40B5-4ADD-8801-0D06FADFA095}" type="slidenum">
              <a:rPr lang="en-US" smtClean="0"/>
              <a:t>9</a:t>
            </a:fld>
            <a:endParaRPr lang="en-US" dirty="0"/>
          </a:p>
        </p:txBody>
      </p:sp>
      <p:pic>
        <p:nvPicPr>
          <p:cNvPr id="6" name="Picture 5"/>
          <p:cNvPicPr>
            <a:picLocks noChangeAspect="1"/>
          </p:cNvPicPr>
          <p:nvPr/>
        </p:nvPicPr>
        <p:blipFill>
          <a:blip r:embed="rId5"/>
          <a:stretch>
            <a:fillRect/>
          </a:stretch>
        </p:blipFill>
        <p:spPr>
          <a:xfrm>
            <a:off x="7287324" y="22496"/>
            <a:ext cx="1856676" cy="1245520"/>
          </a:xfrm>
          <a:prstGeom prst="rect">
            <a:avLst/>
          </a:prstGeom>
        </p:spPr>
      </p:pic>
      <p:pic>
        <p:nvPicPr>
          <p:cNvPr id="7" name="Picture 6"/>
          <p:cNvPicPr>
            <a:picLocks noChangeAspect="1"/>
          </p:cNvPicPr>
          <p:nvPr/>
        </p:nvPicPr>
        <p:blipFill>
          <a:blip r:embed="rId6"/>
          <a:stretch>
            <a:fillRect/>
          </a:stretch>
        </p:blipFill>
        <p:spPr>
          <a:xfrm>
            <a:off x="7328443" y="1306217"/>
            <a:ext cx="1815557" cy="1140948"/>
          </a:xfrm>
          <a:prstGeom prst="rect">
            <a:avLst/>
          </a:prstGeom>
        </p:spPr>
      </p:pic>
      <p:pic>
        <p:nvPicPr>
          <p:cNvPr id="8" name="Picture 7"/>
          <p:cNvPicPr>
            <a:picLocks noChangeAspect="1"/>
          </p:cNvPicPr>
          <p:nvPr/>
        </p:nvPicPr>
        <p:blipFill>
          <a:blip r:embed="rId7"/>
          <a:stretch>
            <a:fillRect/>
          </a:stretch>
        </p:blipFill>
        <p:spPr>
          <a:xfrm>
            <a:off x="168589" y="3058039"/>
            <a:ext cx="3656279" cy="1304290"/>
          </a:xfrm>
          <a:prstGeom prst="rect">
            <a:avLst/>
          </a:prstGeom>
        </p:spPr>
      </p:pic>
      <p:pic>
        <p:nvPicPr>
          <p:cNvPr id="9" name="Picture 8"/>
          <p:cNvPicPr>
            <a:picLocks noChangeAspect="1"/>
          </p:cNvPicPr>
          <p:nvPr/>
        </p:nvPicPr>
        <p:blipFill>
          <a:blip r:embed="rId8"/>
          <a:stretch>
            <a:fillRect/>
          </a:stretch>
        </p:blipFill>
        <p:spPr>
          <a:xfrm>
            <a:off x="3775285" y="935116"/>
            <a:ext cx="1726798" cy="1223149"/>
          </a:xfrm>
          <a:prstGeom prst="rect">
            <a:avLst/>
          </a:prstGeom>
        </p:spPr>
      </p:pic>
      <p:pic>
        <p:nvPicPr>
          <p:cNvPr id="10" name="Picture 9"/>
          <p:cNvPicPr>
            <a:picLocks noChangeAspect="1"/>
          </p:cNvPicPr>
          <p:nvPr/>
        </p:nvPicPr>
        <p:blipFill>
          <a:blip r:embed="rId9"/>
          <a:stretch>
            <a:fillRect/>
          </a:stretch>
        </p:blipFill>
        <p:spPr>
          <a:xfrm>
            <a:off x="5544496" y="935116"/>
            <a:ext cx="1782727" cy="1223149"/>
          </a:xfrm>
          <a:prstGeom prst="rect">
            <a:avLst/>
          </a:prstGeom>
        </p:spPr>
      </p:pic>
      <p:pic>
        <p:nvPicPr>
          <p:cNvPr id="11" name="Picture 10"/>
          <p:cNvPicPr>
            <a:picLocks noChangeAspect="1"/>
          </p:cNvPicPr>
          <p:nvPr/>
        </p:nvPicPr>
        <p:blipFill>
          <a:blip r:embed="rId10"/>
          <a:stretch>
            <a:fillRect/>
          </a:stretch>
        </p:blipFill>
        <p:spPr>
          <a:xfrm>
            <a:off x="3891776" y="2447165"/>
            <a:ext cx="2637263" cy="2216033"/>
          </a:xfrm>
          <a:prstGeom prst="rect">
            <a:avLst/>
          </a:prstGeom>
        </p:spPr>
      </p:pic>
    </p:spTree>
    <p:extLst>
      <p:ext uri="{BB962C8B-B14F-4D97-AF65-F5344CB8AC3E}">
        <p14:creationId xmlns:p14="http://schemas.microsoft.com/office/powerpoint/2010/main" val="150414609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2394207" y="347908"/>
            <a:ext cx="3979069" cy="2536031"/>
          </a:xfrm>
          <a:prstGeom prst="rect">
            <a:avLst/>
          </a:prstGeom>
        </p:spPr>
      </p:pic>
      <p:grpSp>
        <p:nvGrpSpPr>
          <p:cNvPr id="9" name="Group 8"/>
          <p:cNvGrpSpPr/>
          <p:nvPr/>
        </p:nvGrpSpPr>
        <p:grpSpPr>
          <a:xfrm>
            <a:off x="2582104" y="1694776"/>
            <a:ext cx="3603272" cy="1447266"/>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68580" tIns="34290" rIns="68580" bIns="3429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dirty="0">
                  <a:solidFill>
                    <a:schemeClr val="accent1">
                      <a:lumMod val="75000"/>
                    </a:schemeClr>
                  </a:solidFill>
                </a:rPr>
                <a:t>Computer </a:t>
              </a:r>
              <a:r>
                <a:rPr lang="en-US" sz="3000" dirty="0">
                  <a:solidFill>
                    <a:srgbClr val="00B0F0"/>
                  </a:solidFill>
                </a:rPr>
                <a:t>Vision</a:t>
              </a: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68580" tIns="34290" rIns="68580" bIns="3429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solidFill>
                    <a:srgbClr val="7030A0"/>
                  </a:solidFill>
                </a:rPr>
                <a:t>PDS</a:t>
              </a:r>
            </a:p>
          </p:txBody>
        </p:sp>
      </p:grpSp>
      <p:sp>
        <p:nvSpPr>
          <p:cNvPr id="21" name="Title 1"/>
          <p:cNvSpPr>
            <a:spLocks noGrp="1"/>
          </p:cNvSpPr>
          <p:nvPr>
            <p:ph type="title"/>
          </p:nvPr>
        </p:nvSpPr>
        <p:spPr>
          <a:xfrm>
            <a:off x="3077521" y="3267544"/>
            <a:ext cx="2786903" cy="994172"/>
          </a:xfrm>
        </p:spPr>
        <p:txBody>
          <a:bodyPr/>
          <a:lstStyle/>
          <a:p>
            <a:r>
              <a:rPr lang="en-US" altLang="en-US" dirty="0"/>
              <a:t>Thank you!</a:t>
            </a:r>
            <a:endParaRPr lang="en-US" dirty="0"/>
          </a:p>
        </p:txBody>
      </p:sp>
      <p:sp>
        <p:nvSpPr>
          <p:cNvPr id="24" name="Rectangle 23"/>
          <p:cNvSpPr/>
          <p:nvPr/>
        </p:nvSpPr>
        <p:spPr>
          <a:xfrm>
            <a:off x="3077520" y="3880156"/>
            <a:ext cx="2563202" cy="300082"/>
          </a:xfrm>
          <a:prstGeom prst="rect">
            <a:avLst/>
          </a:prstGeom>
        </p:spPr>
        <p:txBody>
          <a:bodyPr wrap="none">
            <a:spAutoFit/>
          </a:bodyPr>
          <a:lstStyle/>
          <a:p>
            <a:r>
              <a:rPr lang="en-US" sz="1350" dirty="0"/>
              <a:t>Thank you For being a great class!</a:t>
            </a:r>
          </a:p>
        </p:txBody>
      </p:sp>
      <p:pic>
        <p:nvPicPr>
          <p:cNvPr id="25" name="Picture 24"/>
          <p:cNvPicPr>
            <a:picLocks noChangeAspect="1"/>
          </p:cNvPicPr>
          <p:nvPr/>
        </p:nvPicPr>
        <p:blipFill>
          <a:blip r:embed="rId5"/>
          <a:stretch>
            <a:fillRect/>
          </a:stretch>
        </p:blipFill>
        <p:spPr>
          <a:xfrm>
            <a:off x="4213321" y="2292033"/>
            <a:ext cx="334565" cy="476897"/>
          </a:xfrm>
          <a:prstGeom prst="rect">
            <a:avLst/>
          </a:prstGeom>
        </p:spPr>
      </p:pic>
      <p:pic>
        <p:nvPicPr>
          <p:cNvPr id="26" name="Picture 25"/>
          <p:cNvPicPr>
            <a:picLocks noChangeAspect="1"/>
          </p:cNvPicPr>
          <p:nvPr/>
        </p:nvPicPr>
        <p:blipFill>
          <a:blip r:embed="rId6"/>
          <a:stretch>
            <a:fillRect/>
          </a:stretch>
        </p:blipFill>
        <p:spPr>
          <a:xfrm>
            <a:off x="3587161" y="2284152"/>
            <a:ext cx="460043" cy="437041"/>
          </a:xfrm>
          <a:prstGeom prst="rect">
            <a:avLst/>
          </a:prstGeom>
        </p:spPr>
      </p:pic>
      <p:pic>
        <p:nvPicPr>
          <p:cNvPr id="27" name="Picture 26"/>
          <p:cNvPicPr>
            <a:picLocks noChangeAspect="1"/>
          </p:cNvPicPr>
          <p:nvPr/>
        </p:nvPicPr>
        <p:blipFill>
          <a:blip r:embed="rId7"/>
          <a:stretch>
            <a:fillRect/>
          </a:stretch>
        </p:blipFill>
        <p:spPr>
          <a:xfrm>
            <a:off x="3044298" y="2292032"/>
            <a:ext cx="449747" cy="433166"/>
          </a:xfrm>
          <a:prstGeom prst="rect">
            <a:avLst/>
          </a:prstGeom>
        </p:spPr>
      </p:pic>
      <p:sp>
        <p:nvSpPr>
          <p:cNvPr id="28" name="Rectangle 27"/>
          <p:cNvSpPr/>
          <p:nvPr/>
        </p:nvSpPr>
        <p:spPr>
          <a:xfrm>
            <a:off x="7117362" y="4579163"/>
            <a:ext cx="1960321" cy="196208"/>
          </a:xfrm>
          <a:prstGeom prst="rect">
            <a:avLst/>
          </a:prstGeom>
        </p:spPr>
        <p:txBody>
          <a:bodyPr wrap="square">
            <a:spAutoFit/>
          </a:bodyPr>
          <a:lstStyle/>
          <a:p>
            <a:r>
              <a:rPr lang="en-US" sz="675" dirty="0"/>
              <a:t>https://www.youtube.com/@AmelOline/videos</a:t>
            </a:r>
          </a:p>
        </p:txBody>
      </p:sp>
      <p:sp>
        <p:nvSpPr>
          <p:cNvPr id="29" name="Rectangle 28"/>
          <p:cNvSpPr/>
          <p:nvPr/>
        </p:nvSpPr>
        <p:spPr>
          <a:xfrm>
            <a:off x="7745042" y="4475288"/>
            <a:ext cx="1217586" cy="196208"/>
          </a:xfrm>
          <a:prstGeom prst="rect">
            <a:avLst/>
          </a:prstGeom>
        </p:spPr>
        <p:txBody>
          <a:bodyPr wrap="square">
            <a:spAutoFit/>
          </a:bodyPr>
          <a:lstStyle/>
          <a:p>
            <a:r>
              <a:rPr lang="en-US" sz="675" dirty="0"/>
              <a:t>https://github.com/siagianp</a:t>
            </a:r>
          </a:p>
        </p:txBody>
      </p:sp>
      <p:sp>
        <p:nvSpPr>
          <p:cNvPr id="30" name="Rectangle 29"/>
          <p:cNvSpPr/>
          <p:nvPr/>
        </p:nvSpPr>
        <p:spPr>
          <a:xfrm>
            <a:off x="6385066" y="4683038"/>
            <a:ext cx="2750396" cy="196208"/>
          </a:xfrm>
          <a:prstGeom prst="rect">
            <a:avLst/>
          </a:prstGeom>
        </p:spPr>
        <p:txBody>
          <a:bodyPr wrap="square">
            <a:spAutoFit/>
          </a:bodyPr>
          <a:lstStyle/>
          <a:p>
            <a:r>
              <a:rPr lang="en-US" sz="675" dirty="0"/>
              <a:t>https://github.com/amelcharolinesgn2/IoT_simulator-mqtt-NodeRed</a:t>
            </a:r>
          </a:p>
        </p:txBody>
      </p:sp>
      <p:sp>
        <p:nvSpPr>
          <p:cNvPr id="31" name="Rectangle 30"/>
          <p:cNvSpPr/>
          <p:nvPr/>
        </p:nvSpPr>
        <p:spPr>
          <a:xfrm>
            <a:off x="6719334" y="4786912"/>
            <a:ext cx="2327881" cy="196208"/>
          </a:xfrm>
          <a:prstGeom prst="rect">
            <a:avLst/>
          </a:prstGeom>
        </p:spPr>
        <p:txBody>
          <a:bodyPr wrap="none">
            <a:spAutoFit/>
          </a:bodyPr>
          <a:lstStyle/>
          <a:p>
            <a:r>
              <a:rPr lang="en-US" sz="675" dirty="0"/>
              <a:t>https://github.com/amelcharolinesgn2/Cloud-Infrastructures</a:t>
            </a:r>
          </a:p>
        </p:txBody>
      </p:sp>
      <p:sp>
        <p:nvSpPr>
          <p:cNvPr id="32" name="Rectangle 31"/>
          <p:cNvSpPr/>
          <p:nvPr/>
        </p:nvSpPr>
        <p:spPr>
          <a:xfrm>
            <a:off x="6319887" y="4916755"/>
            <a:ext cx="2727029" cy="196208"/>
          </a:xfrm>
          <a:prstGeom prst="rect">
            <a:avLst/>
          </a:prstGeom>
        </p:spPr>
        <p:txBody>
          <a:bodyPr wrap="none">
            <a:spAutoFit/>
          </a:bodyPr>
          <a:lstStyle/>
          <a:p>
            <a:r>
              <a:rPr lang="en-US" sz="675" dirty="0"/>
              <a:t>https://github.com/amelcharolinesgn2/ClouD-Infrastructure-SISKA-2025</a:t>
            </a:r>
          </a:p>
        </p:txBody>
      </p:sp>
      <p:sp>
        <p:nvSpPr>
          <p:cNvPr id="2" name="Rectangle 1"/>
          <p:cNvSpPr/>
          <p:nvPr/>
        </p:nvSpPr>
        <p:spPr>
          <a:xfrm>
            <a:off x="3792136" y="3397058"/>
            <a:ext cx="529312" cy="300082"/>
          </a:xfrm>
          <a:prstGeom prst="rect">
            <a:avLst/>
          </a:prstGeom>
        </p:spPr>
        <p:txBody>
          <a:bodyPr wrap="none">
            <a:spAutoFit/>
          </a:bodyPr>
          <a:lstStyle/>
          <a:p>
            <a:r>
              <a:rPr lang="en-GB" sz="1350" b="1" dirty="0">
                <a:solidFill>
                  <a:srgbClr val="FFC000"/>
                </a:solidFill>
              </a:rPr>
              <a:t>Q&amp;A</a:t>
            </a:r>
          </a:p>
        </p:txBody>
      </p:sp>
    </p:spTree>
    <p:extLst>
      <p:ext uri="{BB962C8B-B14F-4D97-AF65-F5344CB8AC3E}">
        <p14:creationId xmlns:p14="http://schemas.microsoft.com/office/powerpoint/2010/main" val="345021787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11</a:t>
            </a:fld>
            <a:endParaRPr lang="en-US" dirty="0"/>
          </a:p>
        </p:txBody>
      </p:sp>
      <p:sp>
        <p:nvSpPr>
          <p:cNvPr id="3" name="Subtitle 2"/>
          <p:cNvSpPr txBox="1">
            <a:spLocks/>
          </p:cNvSpPr>
          <p:nvPr/>
        </p:nvSpPr>
        <p:spPr>
          <a:xfrm>
            <a:off x="132720" y="179814"/>
            <a:ext cx="6768461" cy="390806"/>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dirty="0" smtClean="0"/>
              <a:t>Reference</a:t>
            </a:r>
          </a:p>
        </p:txBody>
      </p:sp>
      <p:sp>
        <p:nvSpPr>
          <p:cNvPr id="2" name="Rectangle 1"/>
          <p:cNvSpPr/>
          <p:nvPr/>
        </p:nvSpPr>
        <p:spPr>
          <a:xfrm>
            <a:off x="323384" y="570620"/>
            <a:ext cx="8452625" cy="646331"/>
          </a:xfrm>
          <a:prstGeom prst="rect">
            <a:avLst/>
          </a:prstGeom>
        </p:spPr>
        <p:txBody>
          <a:bodyPr wrap="square">
            <a:spAutoFit/>
          </a:bodyPr>
          <a:lstStyle/>
          <a:p>
            <a:r>
              <a:rPr lang="en-US" dirty="0"/>
              <a:t>https://developer.nvidia.com/blog/deploying-rich-cluster-api-on-dgx-for-multi-user-sharing/</a:t>
            </a:r>
          </a:p>
        </p:txBody>
      </p:sp>
    </p:spTree>
    <p:extLst>
      <p:ext uri="{BB962C8B-B14F-4D97-AF65-F5344CB8AC3E}">
        <p14:creationId xmlns:p14="http://schemas.microsoft.com/office/powerpoint/2010/main" val="19619320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2113</TotalTime>
  <Words>585</Words>
  <Application>Microsoft Office PowerPoint</Application>
  <PresentationFormat>On-screen Show (16:9)</PresentationFormat>
  <Paragraphs>123</Paragraphs>
  <Slides>11</Slides>
  <Notes>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Malgun Gothic</vt:lpstr>
      <vt:lpstr>Arial</vt:lpstr>
      <vt:lpstr>Calibri</vt:lpstr>
      <vt:lpstr>Calibri Light</vt:lpstr>
      <vt:lpstr>NVIDIA Sans</vt:lpstr>
      <vt:lpstr>Office Theme</vt:lpstr>
      <vt:lpstr>PowerPoint Presentation</vt:lpstr>
      <vt:lpstr>DeepOps cluster API</vt:lpstr>
      <vt:lpstr>Management</vt:lpstr>
      <vt:lpstr>Monitoring</vt:lpstr>
      <vt:lpstr>PowerPoint Presentation</vt:lpstr>
      <vt:lpstr>PowerPoint Presentation</vt:lpstr>
      <vt:lpstr>PowerPoint Presentation</vt:lpstr>
      <vt:lpstr>PowerPoint Presentation</vt:lpstr>
      <vt:lpstr>Docker Swarm. an in-depth introduction </vt:lpstr>
      <vt:lpstr>Thank you!</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Cloud Platform Official Icons and Sample Diagrams</dc:title>
  <dc:subject/>
  <dc:creator>pds</dc:creator>
  <cp:keywords/>
  <dc:description/>
  <cp:lastModifiedBy>PDS</cp:lastModifiedBy>
  <cp:revision>99</cp:revision>
  <dcterms:modified xsi:type="dcterms:W3CDTF">2026-09-18T01:27:35Z</dcterms:modified>
  <cp:category/>
</cp:coreProperties>
</file>