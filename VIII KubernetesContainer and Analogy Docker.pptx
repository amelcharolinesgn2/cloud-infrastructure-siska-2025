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11"/>
  </p:notesMasterIdLst>
  <p:sldIdLst>
    <p:sldId id="290" r:id="rId2"/>
    <p:sldId id="291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57" r:id="rId57"/>
    <p:sldId id="358" r:id="rId58"/>
    <p:sldId id="359" r:id="rId59"/>
    <p:sldId id="360" r:id="rId60"/>
    <p:sldId id="361" r:id="rId61"/>
    <p:sldId id="362" r:id="rId62"/>
    <p:sldId id="363" r:id="rId63"/>
    <p:sldId id="364" r:id="rId64"/>
    <p:sldId id="365" r:id="rId65"/>
    <p:sldId id="366" r:id="rId66"/>
    <p:sldId id="367" r:id="rId67"/>
    <p:sldId id="368" r:id="rId68"/>
    <p:sldId id="369" r:id="rId69"/>
    <p:sldId id="370" r:id="rId70"/>
    <p:sldId id="371" r:id="rId71"/>
    <p:sldId id="372" r:id="rId72"/>
    <p:sldId id="373" r:id="rId73"/>
    <p:sldId id="374" r:id="rId74"/>
    <p:sldId id="375" r:id="rId75"/>
    <p:sldId id="376" r:id="rId76"/>
    <p:sldId id="377" r:id="rId77"/>
    <p:sldId id="378" r:id="rId78"/>
    <p:sldId id="379" r:id="rId79"/>
    <p:sldId id="380" r:id="rId80"/>
    <p:sldId id="381" r:id="rId81"/>
    <p:sldId id="382" r:id="rId82"/>
    <p:sldId id="383" r:id="rId83"/>
    <p:sldId id="384" r:id="rId84"/>
    <p:sldId id="385" r:id="rId85"/>
    <p:sldId id="386" r:id="rId86"/>
    <p:sldId id="387" r:id="rId87"/>
    <p:sldId id="388" r:id="rId88"/>
    <p:sldId id="389" r:id="rId89"/>
    <p:sldId id="390" r:id="rId90"/>
    <p:sldId id="391" r:id="rId91"/>
    <p:sldId id="392" r:id="rId92"/>
    <p:sldId id="393" r:id="rId93"/>
    <p:sldId id="394" r:id="rId94"/>
    <p:sldId id="395" r:id="rId95"/>
    <p:sldId id="396" r:id="rId96"/>
    <p:sldId id="397" r:id="rId97"/>
    <p:sldId id="399" r:id="rId98"/>
    <p:sldId id="398" r:id="rId99"/>
    <p:sldId id="292" r:id="rId100"/>
    <p:sldId id="293" r:id="rId101"/>
    <p:sldId id="294" r:id="rId102"/>
    <p:sldId id="295" r:id="rId103"/>
    <p:sldId id="296" r:id="rId104"/>
    <p:sldId id="297" r:id="rId105"/>
    <p:sldId id="298" r:id="rId106"/>
    <p:sldId id="300" r:id="rId107"/>
    <p:sldId id="302" r:id="rId108"/>
    <p:sldId id="400" r:id="rId109"/>
    <p:sldId id="275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17" autoAdjust="0"/>
  </p:normalViewPr>
  <p:slideViewPr>
    <p:cSldViewPr snapToGrid="0">
      <p:cViewPr varScale="1">
        <p:scale>
          <a:sx n="75" d="100"/>
          <a:sy n="75" d="100"/>
        </p:scale>
        <p:origin x="4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96F42-C182-47FE-839F-85C948B2F6F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E49D0-5223-4533-A8BD-D85B89A25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Lab https://dockerlabs.collabnix.com//beginners/dockerfile/lab4_dockerfile_copy.html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https://dockerlabs.collabnix.com/?_gl=1*xgt5mz*_ga*MTk0NzgyNDQ5OC4xNzU2Mjg2NDY5*_ga_2YBFHJ8C2X*czE3NTYzNjY4ODIkbzIkZzAkdDE3NTYzNjY4ODIkajYwJGwwJGgw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https://roadmap.sh/aws</a:t>
            </a:r>
          </a:p>
          <a:p>
            <a:endParaRPr lang="en-US" dirty="0" smtClean="0"/>
          </a:p>
          <a:p>
            <a:pPr marL="228600" indent="-228600">
              <a:buAutoNum type="arabicPeriod"/>
            </a:pPr>
            <a:r>
              <a:rPr lang="en-US" dirty="0" smtClean="0"/>
              <a:t>https://roadmap.sh/aws</a:t>
            </a:r>
          </a:p>
          <a:p>
            <a:pPr marL="228600" indent="-228600">
              <a:buAutoNum type="arabicPeriod"/>
            </a:pPr>
            <a:r>
              <a:rPr lang="en-US" dirty="0" smtClean="0"/>
              <a:t>https://aws.amazon.com/what-is-cloud-computing/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https://www.ibm.com/think/topics/cloud-computing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https://www.ibm.com/topics/cloud-computing</a:t>
            </a:r>
          </a:p>
          <a:p>
            <a:pPr marL="0" indent="0">
              <a:buNone/>
            </a:pPr>
            <a:r>
              <a:rPr lang="en-US" dirty="0" smtClean="0"/>
              <a:t>4. https://csrc.nist.gov/pubs/sp/800/145/final</a:t>
            </a:r>
          </a:p>
          <a:p>
            <a:r>
              <a:rPr lang="en-US" dirty="0" smtClean="0"/>
              <a:t>https://csrc.nist.gov/pubs/sp/800/145/final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https://docs.openstack.org/liberty/install-guide-rdo/overview.html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8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https://www.juniper.net/assets/us/en/local/pdf/nxtwork/cloud-containers-and-microservices-with-contrail.pdf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 Architecture https://kubernetes.io/docs/concepts/architecture/</a:t>
            </a:r>
          </a:p>
          <a:p>
            <a:endParaRPr lang="en-US" dirty="0" smtClean="0"/>
          </a:p>
          <a:p>
            <a:r>
              <a:rPr lang="en-US" dirty="0" smtClean="0"/>
              <a:t>https://aws.plainenglish.io/kubernetes-local-setup-using-minikube-and-kubectl-3-a46b7effe693</a:t>
            </a:r>
          </a:p>
          <a:p>
            <a:r>
              <a:rPr lang="en-US" dirty="0" smtClean="0"/>
              <a:t>https://www.signadot.com/blog/beginner-minikube-guide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7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https://collabnix.com/wp-content/uploads/2022/02/Understand-Kubernetes-in-100-slides.pdf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25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https://kubernetes.io/docs/reference/kubernetes-api/cluster-resources/component-status-v1/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64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https://dockerlabs.collabnix.com/beginners/dockerfile/Writing-dockerfile.html#what-is-a-dockerfile</a:t>
            </a:r>
          </a:p>
          <a:p>
            <a:r>
              <a:rPr lang="en-US" dirty="0" smtClean="0"/>
              <a:t>https://dockerlabs.collabnix.com/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E49D0-5223-4533-A8BD-D85B89A25AD6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1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1544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325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322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455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859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6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248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28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10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615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2167" y="379398"/>
            <a:ext cx="7491307" cy="5262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FFAB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69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67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FFAB40"/>
                </a:solidFill>
                <a:latin typeface="Arial MT"/>
                <a:cs typeface="Arial MT"/>
              </a:defRPr>
            </a:lvl1pPr>
          </a:lstStyle>
          <a:p>
            <a:pPr marL="50799">
              <a:spcBef>
                <a:spcPts val="7"/>
              </a:spcBef>
            </a:pPr>
            <a:fld id="{81D60167-4931-47E6-BA6A-407CBD079E47}" type="slidenum">
              <a:rPr lang="en-US" spc="-67" smtClean="0"/>
              <a:pPr marL="50799">
                <a:spcBef>
                  <a:spcPts val="7"/>
                </a:spcBef>
              </a:pPr>
              <a:t>‹#›</a:t>
            </a:fld>
            <a:endParaRPr lang="en-US" spc="-67" dirty="0"/>
          </a:p>
        </p:txBody>
      </p:sp>
    </p:spTree>
    <p:extLst>
      <p:ext uri="{BB962C8B-B14F-4D97-AF65-F5344CB8AC3E}">
        <p14:creationId xmlns:p14="http://schemas.microsoft.com/office/powerpoint/2010/main" val="269862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7E0D4-8527-4FEA-BD77-3D995E7E7FEC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49EB-9E9D-493F-AC8F-3DE876F2475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152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jp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jp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gif"/><Relationship Id="rId3" Type="http://schemas.openxmlformats.org/officeDocument/2006/relationships/image" Target="../media/image59.gif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gif"/><Relationship Id="rId4" Type="http://schemas.openxmlformats.org/officeDocument/2006/relationships/image" Target="../media/image60.gi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2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3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64.gif"/><Relationship Id="rId4" Type="http://schemas.openxmlformats.org/officeDocument/2006/relationships/image" Target="../media/image67.png"/><Relationship Id="rId9" Type="http://schemas.openxmlformats.org/officeDocument/2006/relationships/image" Target="../media/image60.gi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gif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2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3.png"/><Relationship Id="rId4" Type="http://schemas.openxmlformats.org/officeDocument/2006/relationships/image" Target="../media/image67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hyperlink" Target="https://dockerlabs.collabnix.com/beginners/dockerfile/WORKDIR_instruction.html" TargetMode="External"/><Relationship Id="rId13" Type="http://schemas.openxmlformats.org/officeDocument/2006/relationships/hyperlink" Target="https://dockerlabs.collabnix.com/beginners/dockerfile/Label_instruction.html" TargetMode="External"/><Relationship Id="rId18" Type="http://schemas.openxmlformats.org/officeDocument/2006/relationships/hyperlink" Target="https://dockerlabs.collabnix.com/beginners/dockerfile/user.html" TargetMode="External"/><Relationship Id="rId3" Type="http://schemas.openxmlformats.org/officeDocument/2006/relationships/hyperlink" Target="https://dockerlabs.collabnix.com/beginners/dockerfile/lab1_dockerfile_git.html" TargetMode="External"/><Relationship Id="rId7" Type="http://schemas.openxmlformats.org/officeDocument/2006/relationships/hyperlink" Target="https://dockerlabs.collabnix.com/beginners/dockerfile/Dockerfile-ENTRYPOINT.html" TargetMode="External"/><Relationship Id="rId12" Type="http://schemas.openxmlformats.org/officeDocument/2006/relationships/hyperlink" Target="https://dockerlabs.collabnix.com/beginners/dockerfile/Lab#11_EXPOSE_instruction.html" TargetMode="External"/><Relationship Id="rId17" Type="http://schemas.openxmlformats.org/officeDocument/2006/relationships/hyperlink" Target="https://dockerlabs.collabnix.com/beginners/dockerfile/entrypoint-vs-run.html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dockerlabs.collabnix.com/beginners/dockerfile/Lab-14-Create-an-image-with-SHELL-instruc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kerlabs.collabnix.com/beginners/dockerfile/lab4_cmd.html" TargetMode="External"/><Relationship Id="rId11" Type="http://schemas.openxmlformats.org/officeDocument/2006/relationships/hyperlink" Target="https://dockerlabs.collabnix.com/beginners/dockerfile/Lab#10_VOLUME_instruction.html" TargetMode="External"/><Relationship Id="rId5" Type="http://schemas.openxmlformats.org/officeDocument/2006/relationships/hyperlink" Target="https://dockerlabs.collabnix.com/beginners/dockerfile/lab4_dockerfile_copy.html" TargetMode="External"/><Relationship Id="rId15" Type="http://schemas.openxmlformats.org/officeDocument/2006/relationships/hyperlink" Target="https://dockerlabs.collabnix.com/beginners/dockerfile/healthcheck.html" TargetMode="External"/><Relationship Id="rId10" Type="http://schemas.openxmlformats.org/officeDocument/2006/relationships/hyperlink" Target="https://dockerlabs.collabnix.com/beginners/dockerfile/arg.html" TargetMode="External"/><Relationship Id="rId19" Type="http://schemas.openxmlformats.org/officeDocument/2006/relationships/hyperlink" Target="https://dockerlabs.collabnix.com/beginners/dockerfile/lab_dockerfile_python.html" TargetMode="External"/><Relationship Id="rId4" Type="http://schemas.openxmlformats.org/officeDocument/2006/relationships/hyperlink" Target="https://dockerlabs.collabnix.com/beginners/dockerfile/Lab-2-Create-an-image-with-ADD-instruction.html" TargetMode="External"/><Relationship Id="rId9" Type="http://schemas.openxmlformats.org/officeDocument/2006/relationships/hyperlink" Target="https://dockerlabs.collabnix.com/beginners/dockerfile/Lab-7-Create-an-image-with-EXPOSE-instruction.html" TargetMode="External"/><Relationship Id="rId14" Type="http://schemas.openxmlformats.org/officeDocument/2006/relationships/hyperlink" Target="https://dockerlabs.collabnix.com/beginners/dockerfile/onbuild.html" TargetMode="Externa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891" y="0"/>
            <a:ext cx="5305425" cy="338137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0421" y="1795824"/>
            <a:ext cx="4804363" cy="1929688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743" y="2639596"/>
            <a:ext cx="446086" cy="6358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363" y="2655435"/>
            <a:ext cx="613391" cy="5827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045" y="2639596"/>
            <a:ext cx="599662" cy="577554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2570754" y="3629722"/>
            <a:ext cx="9024615" cy="521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 err="1" smtClean="0"/>
              <a:t>Kubernetes_Container</a:t>
            </a:r>
            <a:r>
              <a:rPr lang="en-US" sz="4400" dirty="0" smtClean="0"/>
              <a:t> and</a:t>
            </a:r>
          </a:p>
          <a:p>
            <a:pPr algn="l"/>
            <a:r>
              <a:rPr lang="en-US" sz="4400" b="1" smtClean="0"/>
              <a:t>Analogy </a:t>
            </a:r>
            <a:endParaRPr lang="en-US" sz="4400" b="1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344135" y="6042557"/>
            <a:ext cx="2012203" cy="6707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solidFill>
                  <a:srgbClr val="0070C0"/>
                </a:solidFill>
              </a:rPr>
              <a:t>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</a:t>
            </a:r>
            <a:r>
              <a:rPr lang="en-US" sz="2400" dirty="0" err="1">
                <a:solidFill>
                  <a:srgbClr val="00B0F0"/>
                </a:solidFill>
              </a:rPr>
              <a:t>of</a:t>
            </a:r>
            <a:r>
              <a:rPr lang="en-US" sz="2400" dirty="0" err="1">
                <a:solidFill>
                  <a:srgbClr val="0070C0"/>
                </a:solidFill>
              </a:rPr>
              <a:t>U</a:t>
            </a:r>
            <a:r>
              <a:rPr lang="en-US" sz="2400" dirty="0" err="1">
                <a:solidFill>
                  <a:srgbClr val="FF0000"/>
                </a:solidFill>
              </a:rPr>
              <a:t>-I</a:t>
            </a:r>
            <a:r>
              <a:rPr lang="en-US" sz="2400" dirty="0" err="1">
                <a:solidFill>
                  <a:schemeClr val="accent1"/>
                </a:solidFill>
              </a:rPr>
              <a:t>a</a:t>
            </a:r>
            <a:r>
              <a:rPr lang="en-US" sz="2400" dirty="0" err="1">
                <a:solidFill>
                  <a:srgbClr val="1A9626"/>
                </a:solidFill>
              </a:rPr>
              <a:t>C</a:t>
            </a:r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0290703" y="603355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03274" y="5971254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39971" y="6105153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3873" y="6169179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90703" y="622012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31" name="Rectangle 30"/>
          <p:cNvSpPr/>
          <p:nvPr/>
        </p:nvSpPr>
        <p:spPr>
          <a:xfrm>
            <a:off x="10290703" y="628180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32" name="Rectangle 31"/>
          <p:cNvSpPr/>
          <p:nvPr/>
        </p:nvSpPr>
        <p:spPr>
          <a:xfrm>
            <a:off x="10291825" y="6537690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91825" y="659584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github.com/amelcharolinesgn2/OpenStack</a:t>
            </a:r>
            <a:endParaRPr lang="en-US" sz="378" dirty="0"/>
          </a:p>
        </p:txBody>
      </p:sp>
      <p:sp>
        <p:nvSpPr>
          <p:cNvPr id="34" name="Rectangle 33"/>
          <p:cNvSpPr/>
          <p:nvPr/>
        </p:nvSpPr>
        <p:spPr>
          <a:xfrm>
            <a:off x="10291264" y="647916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8"/>
              </a:rPr>
              <a:t>https://</a:t>
            </a:r>
            <a:r>
              <a:rPr lang="en-US" sz="378" dirty="0" smtClean="0">
                <a:hlinkClick r:id="rId8"/>
              </a:rPr>
              <a:t>github.com/amelcharolinesgn2/CloudSim</a:t>
            </a:r>
            <a:endParaRPr lang="en-US" sz="378" dirty="0"/>
          </a:p>
        </p:txBody>
      </p:sp>
      <p:sp>
        <p:nvSpPr>
          <p:cNvPr id="35" name="Rectangle 34"/>
          <p:cNvSpPr/>
          <p:nvPr/>
        </p:nvSpPr>
        <p:spPr>
          <a:xfrm>
            <a:off x="10290142" y="634191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36" name="Rectangle 35"/>
          <p:cNvSpPr/>
          <p:nvPr/>
        </p:nvSpPr>
        <p:spPr>
          <a:xfrm>
            <a:off x="10290142" y="639084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7" name="Rectangle 36"/>
          <p:cNvSpPr/>
          <p:nvPr/>
        </p:nvSpPr>
        <p:spPr>
          <a:xfrm>
            <a:off x="10173461" y="6438587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4423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Minikube</a:t>
            </a:r>
            <a:r>
              <a:rPr lang="en-US" dirty="0" smtClean="0"/>
              <a:t> </a:t>
            </a:r>
            <a:r>
              <a:rPr lang="en-US" dirty="0" err="1" smtClean="0"/>
              <a:t>Oshestration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25014" y="1690688"/>
            <a:ext cx="5741971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100" y="1546168"/>
            <a:ext cx="9253700" cy="47382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333284"/>
            <a:ext cx="9753600" cy="530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8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4928" y="1762857"/>
            <a:ext cx="8251613" cy="91997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867" dirty="0">
                <a:solidFill>
                  <a:srgbClr val="FFC000"/>
                </a:solidFill>
                <a:latin typeface="Calibri"/>
                <a:cs typeface="Calibri"/>
              </a:rPr>
              <a:t>Let’s</a:t>
            </a:r>
            <a:r>
              <a:rPr sz="5867" spc="-20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FFC000"/>
                </a:solidFill>
                <a:latin typeface="Calibri"/>
                <a:cs typeface="Calibri"/>
              </a:rPr>
              <a:t>start</a:t>
            </a:r>
            <a:r>
              <a:rPr sz="5867" spc="-18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5867" spc="-193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FFC000"/>
                </a:solidFill>
                <a:latin typeface="Calibri"/>
                <a:cs typeface="Calibri"/>
              </a:rPr>
              <a:t>an</a:t>
            </a:r>
            <a:r>
              <a:rPr sz="5867" spc="-187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5867" spc="-13" dirty="0">
                <a:solidFill>
                  <a:srgbClr val="FFC000"/>
                </a:solidFill>
                <a:latin typeface="Calibri"/>
                <a:cs typeface="Calibri"/>
              </a:rPr>
              <a:t>analogy..</a:t>
            </a:r>
            <a:endParaRPr sz="5867" dirty="0">
              <a:solidFill>
                <a:srgbClr val="FFC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1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>
                <a:solidFill>
                  <a:srgbClr val="C00000"/>
                </a:solidFill>
              </a:rPr>
              <a:t>A</a:t>
            </a:r>
            <a:r>
              <a:rPr spc="-233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Cargo</a:t>
            </a:r>
            <a:r>
              <a:rPr spc="13" dirty="0">
                <a:solidFill>
                  <a:srgbClr val="C00000"/>
                </a:solidFill>
              </a:rPr>
              <a:t> </a:t>
            </a:r>
            <a:r>
              <a:rPr spc="-13" dirty="0">
                <a:solidFill>
                  <a:srgbClr val="C00000"/>
                </a:solidFill>
              </a:rPr>
              <a:t>Ship…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Carries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containers</a:t>
            </a:r>
            <a:r>
              <a:rPr sz="2800" spc="-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across</a:t>
            </a:r>
            <a:r>
              <a:rPr sz="2800" spc="-1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the</a:t>
            </a:r>
            <a:r>
              <a:rPr sz="2800" spc="-7" dirty="0">
                <a:solidFill>
                  <a:srgbClr val="595959"/>
                </a:solidFill>
              </a:rPr>
              <a:t> </a:t>
            </a:r>
            <a:r>
              <a:rPr sz="2800" spc="-33" dirty="0">
                <a:solidFill>
                  <a:srgbClr val="595959"/>
                </a:solidFill>
              </a:rPr>
              <a:t>sea</a:t>
            </a:r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" y="2298242"/>
            <a:ext cx="5975238" cy="34201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462" y="2880986"/>
            <a:ext cx="25050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/>
              <a:t>A</a:t>
            </a:r>
            <a:r>
              <a:rPr spc="-233" dirty="0"/>
              <a:t> </a:t>
            </a:r>
            <a:r>
              <a:rPr dirty="0"/>
              <a:t>Cargo</a:t>
            </a:r>
            <a:r>
              <a:rPr spc="13" dirty="0"/>
              <a:t> </a:t>
            </a:r>
            <a:r>
              <a:rPr spc="-13" dirty="0"/>
              <a:t>Ship…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Host</a:t>
            </a:r>
            <a:r>
              <a:rPr sz="2800" spc="-18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Application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as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Containers</a:t>
            </a:r>
            <a:r>
              <a:rPr sz="2800" spc="-4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~</a:t>
            </a:r>
            <a:r>
              <a:rPr sz="2800" spc="-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0097A7"/>
                </a:solidFill>
              </a:rPr>
              <a:t>Worker</a:t>
            </a:r>
            <a:r>
              <a:rPr sz="2800" spc="-33" dirty="0">
                <a:solidFill>
                  <a:srgbClr val="0097A7"/>
                </a:solidFill>
              </a:rPr>
              <a:t> </a:t>
            </a:r>
            <a:r>
              <a:rPr sz="2800" spc="-13" dirty="0">
                <a:solidFill>
                  <a:srgbClr val="0097A7"/>
                </a:solidFill>
              </a:rPr>
              <a:t>Nodes</a:t>
            </a:r>
            <a:endParaRPr sz="28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" y="2298242"/>
            <a:ext cx="5975238" cy="342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67" dirty="0"/>
              <a:pPr marL="50799">
                <a:spcBef>
                  <a:spcPts val="7"/>
                </a:spcBef>
              </a:pPr>
              <a:t>6</a:t>
            </a:fld>
            <a:endParaRPr spc="-67" dirty="0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Container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7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>
                <a:solidFill>
                  <a:srgbClr val="0070C0"/>
                </a:solidFill>
              </a:rPr>
              <a:t>Control</a:t>
            </a:r>
            <a:r>
              <a:rPr spc="-33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Ships..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Managing</a:t>
            </a:r>
            <a:r>
              <a:rPr sz="2800" spc="-4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&amp;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Monitoring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of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the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cargo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spc="-13" dirty="0">
                <a:solidFill>
                  <a:srgbClr val="595959"/>
                </a:solidFill>
              </a:rPr>
              <a:t>ships</a:t>
            </a:r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2057400"/>
            <a:ext cx="5777029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6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>
                <a:solidFill>
                  <a:srgbClr val="0070C0"/>
                </a:solidFill>
              </a:rPr>
              <a:t>Control</a:t>
            </a:r>
            <a:r>
              <a:rPr spc="-33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Ships..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Manage,</a:t>
            </a:r>
            <a:r>
              <a:rPr sz="2800" spc="-4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Plan,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Schedule,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Monitor</a:t>
            </a:r>
            <a:r>
              <a:rPr sz="2800" spc="-3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~</a:t>
            </a:r>
            <a:r>
              <a:rPr sz="2800" spc="33" dirty="0">
                <a:solidFill>
                  <a:srgbClr val="595959"/>
                </a:solidFill>
              </a:rPr>
              <a:t> </a:t>
            </a:r>
            <a:r>
              <a:rPr sz="2800" spc="-13" dirty="0">
                <a:solidFill>
                  <a:srgbClr val="7030A0"/>
                </a:solidFill>
              </a:rPr>
              <a:t>Master</a:t>
            </a:r>
            <a:endParaRPr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2057400"/>
            <a:ext cx="5777029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0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22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1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4928" y="1749999"/>
            <a:ext cx="6956213" cy="1834689"/>
          </a:xfrm>
          <a:prstGeom prst="rect">
            <a:avLst/>
          </a:prstGeom>
        </p:spPr>
        <p:txBody>
          <a:bodyPr vert="horz" wrap="square" lIns="0" tIns="38945" rIns="0" bIns="0" rtlCol="0" anchor="ctr">
            <a:spAutoFit/>
          </a:bodyPr>
          <a:lstStyle/>
          <a:p>
            <a:pPr marL="16933" marR="6773">
              <a:lnSpc>
                <a:spcPts val="7000"/>
              </a:lnSpc>
              <a:spcBef>
                <a:spcPts val="305"/>
              </a:spcBef>
            </a:pP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Let’s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talk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about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spc="-13" dirty="0">
                <a:solidFill>
                  <a:srgbClr val="C00000"/>
                </a:solidFill>
                <a:latin typeface="Calibri"/>
                <a:cs typeface="Calibri"/>
              </a:rPr>
              <a:t>Master Components..</a:t>
            </a:r>
            <a:endParaRPr sz="5867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73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>
                <a:solidFill>
                  <a:srgbClr val="0070C0"/>
                </a:solidFill>
              </a:rPr>
              <a:t>Ship</a:t>
            </a:r>
            <a:r>
              <a:rPr spc="-13" dirty="0">
                <a:solidFill>
                  <a:srgbClr val="0070C0"/>
                </a:solidFill>
              </a:rPr>
              <a:t> Cranes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Identifies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the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placement</a:t>
            </a:r>
            <a:r>
              <a:rPr sz="2800" spc="-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of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spc="-13" dirty="0">
                <a:solidFill>
                  <a:srgbClr val="595959"/>
                </a:solidFill>
              </a:rPr>
              <a:t>containers</a:t>
            </a:r>
            <a:endParaRPr sz="2800" dirty="0"/>
          </a:p>
        </p:txBody>
      </p:sp>
      <p:pic>
        <p:nvPicPr>
          <p:cNvPr id="7172" name="Picture 4" descr="Container ships GIFs on GIPHY - Be Animate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00250"/>
            <a:ext cx="59245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My Mistake / Harbour Crane by Guillaume Kurkdjian on Dribbbl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306365"/>
            <a:ext cx="2232025" cy="167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91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55928"/>
            <a:ext cx="10515600" cy="1343958"/>
          </a:xfrm>
          <a:prstGeom prst="rect">
            <a:avLst/>
          </a:prstGeom>
        </p:spPr>
        <p:txBody>
          <a:bodyPr vert="horz" wrap="square" lIns="0" tIns="1447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140"/>
              </a:spcBef>
            </a:pPr>
            <a:r>
              <a:rPr dirty="0">
                <a:solidFill>
                  <a:srgbClr val="0070C0"/>
                </a:solidFill>
              </a:rPr>
              <a:t>Ship</a:t>
            </a:r>
            <a:r>
              <a:rPr spc="-13" dirty="0">
                <a:solidFill>
                  <a:srgbClr val="0070C0"/>
                </a:solidFill>
              </a:rPr>
              <a:t> Cranes</a:t>
            </a:r>
          </a:p>
          <a:p>
            <a:pPr marL="16933">
              <a:lnSpc>
                <a:spcPct val="100000"/>
              </a:lnSpc>
              <a:spcBef>
                <a:spcPts val="720"/>
              </a:spcBef>
            </a:pPr>
            <a:r>
              <a:rPr sz="2800" dirty="0">
                <a:solidFill>
                  <a:srgbClr val="595959"/>
                </a:solidFill>
              </a:rPr>
              <a:t>Identifies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the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right</a:t>
            </a:r>
            <a:r>
              <a:rPr sz="2800" spc="-1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node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to</a:t>
            </a:r>
            <a:r>
              <a:rPr sz="2800" spc="-1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place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a</a:t>
            </a:r>
            <a:r>
              <a:rPr sz="2800" spc="-13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containers</a:t>
            </a:r>
            <a:r>
              <a:rPr sz="2800" spc="-20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595959"/>
                </a:solidFill>
              </a:rPr>
              <a:t>~</a:t>
            </a:r>
            <a:r>
              <a:rPr sz="2800" spc="27" dirty="0">
                <a:solidFill>
                  <a:srgbClr val="595959"/>
                </a:solidFill>
              </a:rPr>
              <a:t> </a:t>
            </a:r>
            <a:r>
              <a:rPr sz="2800" dirty="0">
                <a:solidFill>
                  <a:srgbClr val="00B050"/>
                </a:solidFill>
              </a:rPr>
              <a:t>Kube-</a:t>
            </a:r>
            <a:r>
              <a:rPr sz="2800" spc="-13" dirty="0">
                <a:solidFill>
                  <a:srgbClr val="00B050"/>
                </a:solidFill>
              </a:rPr>
              <a:t>Scheduler</a:t>
            </a:r>
            <a:endParaRPr sz="2800" dirty="0"/>
          </a:p>
        </p:txBody>
      </p:sp>
      <p:pic>
        <p:nvPicPr>
          <p:cNvPr id="8194" name="Picture 2" descr="Container ships GIFs on GIPHY - Be Animate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66900"/>
            <a:ext cx="59245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My Mistake / Harbour Crane by Guillaume Kurkdjian on Dribbbl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306365"/>
            <a:ext cx="2232025" cy="167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61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963276" y="403422"/>
                  </a:move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lnTo>
                    <a:pt x="5194" y="41507"/>
                  </a:ln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0" y="67238"/>
                  </a:move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07180" y="2080743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19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716058"/>
            <a:ext cx="14020800" cy="1308970"/>
          </a:xfrm>
          <a:prstGeom prst="rect">
            <a:avLst/>
          </a:prstGeom>
        </p:spPr>
        <p:txBody>
          <a:bodyPr vert="horz" wrap="square" lIns="0" tIns="23960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887"/>
              </a:spcBef>
            </a:pPr>
            <a:r>
              <a:rPr dirty="0">
                <a:solidFill>
                  <a:srgbClr val="C00000"/>
                </a:solidFill>
              </a:rPr>
              <a:t>Cargo</a:t>
            </a:r>
            <a:r>
              <a:rPr spc="-20" dirty="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Ship</a:t>
            </a:r>
            <a:r>
              <a:rPr spc="-13" dirty="0">
                <a:solidFill>
                  <a:srgbClr val="C00000"/>
                </a:solidFill>
              </a:rPr>
              <a:t> Profiles</a:t>
            </a:r>
          </a:p>
          <a:p>
            <a:pPr marL="16933">
              <a:lnSpc>
                <a:spcPct val="100000"/>
              </a:lnSpc>
              <a:spcBef>
                <a:spcPts val="847"/>
              </a:spcBef>
            </a:pPr>
            <a:r>
              <a:rPr sz="1867" spc="-13" dirty="0">
                <a:solidFill>
                  <a:srgbClr val="595959"/>
                </a:solidFill>
              </a:rPr>
              <a:t>HA</a:t>
            </a:r>
            <a:r>
              <a:rPr sz="1867" spc="-1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database</a:t>
            </a:r>
            <a:r>
              <a:rPr sz="1867" spc="-27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~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Which</a:t>
            </a:r>
            <a:r>
              <a:rPr sz="1867" spc="-27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containers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on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which</a:t>
            </a:r>
            <a:r>
              <a:rPr sz="1867" spc="-27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ships?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When</a:t>
            </a:r>
            <a:r>
              <a:rPr sz="1867" spc="-27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was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dirty="0">
                <a:solidFill>
                  <a:srgbClr val="595959"/>
                </a:solidFill>
              </a:rPr>
              <a:t>it</a:t>
            </a:r>
            <a:r>
              <a:rPr sz="1867" spc="-20" dirty="0">
                <a:solidFill>
                  <a:srgbClr val="595959"/>
                </a:solidFill>
              </a:rPr>
              <a:t> </a:t>
            </a:r>
            <a:r>
              <a:rPr sz="1867" spc="-13" dirty="0">
                <a:solidFill>
                  <a:srgbClr val="595959"/>
                </a:solidFill>
              </a:rPr>
              <a:t>loaded?</a:t>
            </a:r>
            <a:endParaRPr sz="1867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42" y="2593663"/>
            <a:ext cx="5216358" cy="32737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2" y="2630330"/>
            <a:ext cx="5049218" cy="323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2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713556"/>
            <a:ext cx="14020800" cy="1313972"/>
          </a:xfrm>
          <a:prstGeom prst="rect">
            <a:avLst/>
          </a:prstGeom>
        </p:spPr>
        <p:txBody>
          <a:bodyPr vert="horz" wrap="square" lIns="0" tIns="20404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7"/>
              </a:spcBef>
            </a:pPr>
            <a:r>
              <a:rPr dirty="0"/>
              <a:t>Cargo</a:t>
            </a:r>
            <a:r>
              <a:rPr spc="-20" dirty="0"/>
              <a:t> </a:t>
            </a:r>
            <a:r>
              <a:rPr dirty="0"/>
              <a:t>Ship</a:t>
            </a:r>
            <a:r>
              <a:rPr spc="-13" dirty="0"/>
              <a:t> Profiles</a:t>
            </a:r>
          </a:p>
          <a:p>
            <a:pPr marL="16933">
              <a:lnSpc>
                <a:spcPct val="100000"/>
              </a:lnSpc>
              <a:spcBef>
                <a:spcPts val="813"/>
              </a:spcBef>
            </a:pPr>
            <a:r>
              <a:rPr sz="2133" dirty="0">
                <a:solidFill>
                  <a:srgbClr val="595959"/>
                </a:solidFill>
              </a:rPr>
              <a:t>HA</a:t>
            </a:r>
            <a:r>
              <a:rPr sz="2133" spc="-14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database</a:t>
            </a:r>
            <a:r>
              <a:rPr sz="2133" spc="-20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~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Which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containers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on</a:t>
            </a:r>
            <a:r>
              <a:rPr sz="2133" spc="-20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which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ships?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When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was</a:t>
            </a:r>
            <a:r>
              <a:rPr sz="2133" spc="-20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it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loaded?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~ </a:t>
            </a:r>
            <a:r>
              <a:rPr sz="2133" dirty="0">
                <a:solidFill>
                  <a:srgbClr val="FF0000"/>
                </a:solidFill>
              </a:rPr>
              <a:t>The</a:t>
            </a:r>
            <a:r>
              <a:rPr sz="2133" spc="-20" dirty="0">
                <a:solidFill>
                  <a:srgbClr val="FF0000"/>
                </a:solidFill>
              </a:rPr>
              <a:t> </a:t>
            </a:r>
            <a:r>
              <a:rPr sz="2133" dirty="0">
                <a:solidFill>
                  <a:srgbClr val="FF0000"/>
                </a:solidFill>
              </a:rPr>
              <a:t>ETCD</a:t>
            </a:r>
            <a:r>
              <a:rPr sz="2133" spc="-27" dirty="0">
                <a:solidFill>
                  <a:srgbClr val="FF0000"/>
                </a:solidFill>
              </a:rPr>
              <a:t> </a:t>
            </a:r>
            <a:r>
              <a:rPr sz="2133" spc="-13" dirty="0">
                <a:solidFill>
                  <a:srgbClr val="FF0000"/>
                </a:solidFill>
              </a:rPr>
              <a:t>Cluster</a:t>
            </a:r>
            <a:endParaRPr sz="2133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831852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15</a:t>
            </a:fld>
            <a:endParaRPr spc="-33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42" y="2593663"/>
            <a:ext cx="5216358" cy="32737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2" y="2630330"/>
            <a:ext cx="5049218" cy="323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7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8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29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5602848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Offices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in</a:t>
            </a:r>
            <a:r>
              <a:rPr spc="27" dirty="0">
                <a:solidFill>
                  <a:srgbClr val="0070C0"/>
                </a:solidFill>
              </a:rPr>
              <a:t> </a:t>
            </a:r>
            <a:r>
              <a:rPr spc="-27" dirty="0">
                <a:solidFill>
                  <a:srgbClr val="0070C0"/>
                </a:solidFill>
              </a:rPr>
              <a:t>Dock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15" y="1664101"/>
            <a:ext cx="10201791" cy="45123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67" y="925390"/>
            <a:ext cx="11577320" cy="1276226"/>
          </a:xfrm>
          <a:prstGeom prst="rect">
            <a:avLst/>
          </a:prstGeom>
        </p:spPr>
        <p:txBody>
          <a:bodyPr vert="horz" wrap="square" lIns="0" tIns="110913" rIns="0" bIns="0" rtlCol="0">
            <a:spAutoFit/>
          </a:bodyPr>
          <a:lstStyle/>
          <a:p>
            <a:pPr marL="397077" indent="-335272">
              <a:spcBef>
                <a:spcPts val="873"/>
              </a:spcBef>
              <a:buChar char="-"/>
              <a:tabLst>
                <a:tab pos="397077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Operation</a:t>
            </a:r>
            <a:r>
              <a:rPr sz="2133" spc="-9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Team</a:t>
            </a:r>
            <a:r>
              <a:rPr sz="2133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Office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~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Ship</a:t>
            </a:r>
            <a:r>
              <a:rPr sz="2133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Handling,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Control</a:t>
            </a:r>
            <a:endParaRPr sz="2133">
              <a:latin typeface="Arial MT"/>
              <a:cs typeface="Arial MT"/>
            </a:endParaRPr>
          </a:p>
          <a:p>
            <a:pPr marL="397077" indent="-335272">
              <a:spcBef>
                <a:spcPts val="740"/>
              </a:spcBef>
              <a:buChar char="-"/>
              <a:tabLst>
                <a:tab pos="397077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Cargo</a:t>
            </a:r>
            <a:r>
              <a:rPr sz="2133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Team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Office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~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verify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containers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damaged,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ensure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2133" spc="5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containers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rebuilt</a:t>
            </a:r>
            <a:endParaRPr sz="2133">
              <a:latin typeface="Arial MT"/>
              <a:cs typeface="Arial MT"/>
            </a:endParaRPr>
          </a:p>
          <a:p>
            <a:pPr marL="407236" indent="-390304">
              <a:spcBef>
                <a:spcPts val="740"/>
              </a:spcBef>
              <a:buChar char="-"/>
              <a:tabLst>
                <a:tab pos="407236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IT</a:t>
            </a:r>
            <a:r>
              <a:rPr sz="2133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&amp;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Communication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Office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Communication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various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ships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0472" y="3235739"/>
            <a:ext cx="1924473" cy="1379220"/>
            <a:chOff x="3480353" y="2426804"/>
            <a:chExt cx="1443355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4252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8" y="292878"/>
            <a:ext cx="3960282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70C0"/>
                </a:solidFill>
              </a:rPr>
              <a:t>Controllers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15" y="1664101"/>
            <a:ext cx="10201791" cy="45123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432" y="1019368"/>
            <a:ext cx="10950787" cy="147976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2205" marR="360671" indent="-336118">
              <a:lnSpc>
                <a:spcPts val="2307"/>
              </a:lnSpc>
              <a:spcBef>
                <a:spcPts val="420"/>
              </a:spcBef>
              <a:buClr>
                <a:srgbClr val="EEFF41"/>
              </a:buClr>
              <a:buChar char="-"/>
              <a:tabLst>
                <a:tab pos="352205" algn="l"/>
              </a:tabLst>
            </a:pPr>
            <a:r>
              <a:rPr sz="2133" dirty="0">
                <a:solidFill>
                  <a:srgbClr val="BE9000"/>
                </a:solidFill>
                <a:latin typeface="Arial MT"/>
                <a:cs typeface="Arial MT"/>
              </a:rPr>
              <a:t>Node</a:t>
            </a:r>
            <a:r>
              <a:rPr sz="2133" spc="-33" dirty="0">
                <a:solidFill>
                  <a:srgbClr val="BE9000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BE9000"/>
                </a:solidFill>
                <a:latin typeface="Arial MT"/>
                <a:cs typeface="Arial MT"/>
              </a:rPr>
              <a:t>Controllers</a:t>
            </a:r>
            <a:r>
              <a:rPr sz="2133" spc="-33" dirty="0">
                <a:solidFill>
                  <a:srgbClr val="BE9000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133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Takes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care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Responsible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onboarding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new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67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cluster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|</a:t>
            </a:r>
            <a:r>
              <a:rPr sz="2133" spc="-1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Availability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endParaRPr sz="2133" dirty="0">
              <a:latin typeface="Arial MT"/>
              <a:cs typeface="Arial MT"/>
            </a:endParaRPr>
          </a:p>
          <a:p>
            <a:pPr marL="352205" indent="-335272">
              <a:spcBef>
                <a:spcPts val="700"/>
              </a:spcBef>
              <a:buChar char="-"/>
              <a:tabLst>
                <a:tab pos="352205" algn="l"/>
              </a:tabLst>
            </a:pPr>
            <a:r>
              <a:rPr sz="2133" dirty="0">
                <a:solidFill>
                  <a:srgbClr val="212121"/>
                </a:solidFill>
                <a:latin typeface="Arial MT"/>
                <a:cs typeface="Arial MT"/>
              </a:rPr>
              <a:t>Replicas</a:t>
            </a:r>
            <a:r>
              <a:rPr sz="2133" spc="-27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212121"/>
                </a:solidFill>
                <a:latin typeface="Arial MT"/>
                <a:cs typeface="Arial MT"/>
              </a:rPr>
              <a:t>Controller</a:t>
            </a:r>
            <a:r>
              <a:rPr sz="2133" spc="-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Ensures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desired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number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containers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running</a:t>
            </a:r>
            <a:r>
              <a:rPr sz="2133" spc="5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at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sz="2133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times</a:t>
            </a:r>
            <a:endParaRPr sz="2133" dirty="0">
              <a:latin typeface="Arial MT"/>
              <a:cs typeface="Arial MT"/>
            </a:endParaRPr>
          </a:p>
          <a:p>
            <a:pPr marL="352205" indent="-335272">
              <a:spcBef>
                <a:spcPts val="740"/>
              </a:spcBef>
              <a:buChar char="-"/>
              <a:tabLst>
                <a:tab pos="352205" algn="l"/>
              </a:tabLst>
            </a:pPr>
            <a:r>
              <a:rPr sz="2133" dirty="0">
                <a:solidFill>
                  <a:srgbClr val="C00000"/>
                </a:solidFill>
                <a:latin typeface="Arial MT"/>
                <a:cs typeface="Arial MT"/>
              </a:rPr>
              <a:t>Controller</a:t>
            </a:r>
            <a:r>
              <a:rPr sz="2133" spc="-1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C00000"/>
                </a:solidFill>
                <a:latin typeface="Arial MT"/>
                <a:cs typeface="Arial MT"/>
              </a:rPr>
              <a:t>Manager</a:t>
            </a:r>
            <a:r>
              <a:rPr sz="2133" spc="-1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2133" spc="579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Manages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controllers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 place</a:t>
            </a:r>
            <a:endParaRPr sz="2133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40471" y="3235739"/>
            <a:ext cx="2683933" cy="1379220"/>
            <a:chOff x="3480353" y="2426804"/>
            <a:chExt cx="2012950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379341" y="533569"/>
                  </a:moveTo>
                  <a:lnTo>
                    <a:pt x="0" y="533569"/>
                  </a:lnTo>
                  <a:lnTo>
                    <a:pt x="0" y="0"/>
                  </a:lnTo>
                  <a:lnTo>
                    <a:pt x="379341" y="0"/>
                  </a:lnTo>
                  <a:lnTo>
                    <a:pt x="379341" y="533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0" y="0"/>
                  </a:moveTo>
                  <a:lnTo>
                    <a:pt x="379341" y="0"/>
                  </a:lnTo>
                  <a:lnTo>
                    <a:pt x="379341" y="533569"/>
                  </a:lnTo>
                  <a:lnTo>
                    <a:pt x="0" y="53356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0593" y="2643561"/>
              <a:ext cx="189451" cy="174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8813" y="2948730"/>
              <a:ext cx="191246" cy="2462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739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1" name="object 11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27" name="object 2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2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33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39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1315" y="1664102"/>
            <a:ext cx="10202333" cy="4512733"/>
            <a:chOff x="608486" y="1248076"/>
            <a:chExt cx="7651750" cy="3384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02167" y="1019370"/>
            <a:ext cx="775546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does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communicate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each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other?</a:t>
            </a:r>
            <a:endParaRPr sz="2133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1801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3637280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92D050"/>
                </a:solidFill>
              </a:rPr>
              <a:t>Kube</a:t>
            </a:r>
            <a:r>
              <a:rPr spc="-200" dirty="0">
                <a:solidFill>
                  <a:srgbClr val="92D050"/>
                </a:solidFill>
              </a:rPr>
              <a:t> </a:t>
            </a:r>
            <a:r>
              <a:rPr dirty="0">
                <a:solidFill>
                  <a:srgbClr val="92D050"/>
                </a:solidFill>
              </a:rPr>
              <a:t>API</a:t>
            </a:r>
            <a:r>
              <a:rPr spc="20" dirty="0">
                <a:solidFill>
                  <a:srgbClr val="92D050"/>
                </a:solidFill>
              </a:rPr>
              <a:t> </a:t>
            </a:r>
            <a:r>
              <a:rPr spc="-13" dirty="0">
                <a:solidFill>
                  <a:srgbClr val="92D050"/>
                </a:solidFill>
              </a:rPr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1315" y="1664102"/>
            <a:ext cx="10201790" cy="4512330"/>
            <a:chOff x="608486" y="1248076"/>
            <a:chExt cx="7651343" cy="3384248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 flipH="1" flipV="1">
              <a:off x="5733222" y="2641549"/>
              <a:ext cx="498642" cy="1144638"/>
            </a:xfrm>
            <a:custGeom>
              <a:avLst/>
              <a:gdLst/>
              <a:ahLst/>
              <a:cxnLst/>
              <a:rect l="l" t="t" r="r" b="b"/>
              <a:pathLst>
                <a:path w="733425" h="334644">
                  <a:moveTo>
                    <a:pt x="733186" y="0"/>
                  </a:moveTo>
                  <a:lnTo>
                    <a:pt x="0" y="33411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0" y="32240"/>
                  </a:moveTo>
                  <a:lnTo>
                    <a:pt x="32809" y="0"/>
                  </a:lnTo>
                  <a:lnTo>
                    <a:pt x="45857" y="28632"/>
                  </a:lnTo>
                  <a:lnTo>
                    <a:pt x="0" y="3224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2809" y="0"/>
                  </a:moveTo>
                  <a:lnTo>
                    <a:pt x="0" y="32240"/>
                  </a:lnTo>
                  <a:lnTo>
                    <a:pt x="45857" y="28632"/>
                  </a:lnTo>
                  <a:lnTo>
                    <a:pt x="3280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5971" y="1149464"/>
            <a:ext cx="10220960" cy="13431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2205" indent="-335272">
              <a:spcBef>
                <a:spcPts val="133"/>
              </a:spcBef>
              <a:buChar char="-"/>
              <a:tabLst>
                <a:tab pos="352205" algn="l"/>
              </a:tabLst>
            </a:pPr>
            <a:r>
              <a:rPr sz="2133" dirty="0">
                <a:latin typeface="Arial MT"/>
                <a:cs typeface="Arial MT"/>
              </a:rPr>
              <a:t>A</a:t>
            </a:r>
            <a:r>
              <a:rPr sz="2133" spc="-152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primary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management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component</a:t>
            </a:r>
            <a:r>
              <a:rPr sz="2133" spc="527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7" dirty="0">
                <a:latin typeface="Arial MT"/>
                <a:cs typeface="Arial MT"/>
              </a:rPr>
              <a:t> </a:t>
            </a:r>
            <a:r>
              <a:rPr sz="2133" spc="-33" dirty="0">
                <a:latin typeface="Arial MT"/>
                <a:cs typeface="Arial MT"/>
              </a:rPr>
              <a:t>k8s</a:t>
            </a:r>
            <a:endParaRPr sz="2133" dirty="0">
              <a:latin typeface="Arial MT"/>
              <a:cs typeface="Arial MT"/>
            </a:endParaRPr>
          </a:p>
          <a:p>
            <a:pPr marL="352205" indent="-335272">
              <a:spcBef>
                <a:spcPts val="40"/>
              </a:spcBef>
              <a:buChar char="-"/>
              <a:tabLst>
                <a:tab pos="352205" algn="l"/>
              </a:tabLst>
            </a:pPr>
            <a:r>
              <a:rPr sz="2133" dirty="0">
                <a:latin typeface="Arial MT"/>
                <a:cs typeface="Arial MT"/>
              </a:rPr>
              <a:t>Responsible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for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orchestrating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all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operations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within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>
                <a:latin typeface="Arial MT"/>
                <a:cs typeface="Arial MT"/>
              </a:rPr>
              <a:t>cluster</a:t>
            </a:r>
            <a:endParaRPr sz="2133" dirty="0">
              <a:latin typeface="Arial MT"/>
              <a:cs typeface="Arial MT"/>
            </a:endParaRPr>
          </a:p>
          <a:p>
            <a:pPr marL="352205" marR="451262" indent="-336118">
              <a:lnSpc>
                <a:spcPct val="101600"/>
              </a:lnSpc>
              <a:buChar char="-"/>
              <a:tabLst>
                <a:tab pos="352205" algn="l"/>
              </a:tabLst>
            </a:pPr>
            <a:r>
              <a:rPr sz="2133" dirty="0">
                <a:latin typeface="Arial MT"/>
                <a:cs typeface="Arial MT"/>
              </a:rPr>
              <a:t>Exposes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K8s</a:t>
            </a:r>
            <a:r>
              <a:rPr sz="2133" spc="-1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API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,used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by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external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users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perform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management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operation</a:t>
            </a:r>
            <a:r>
              <a:rPr sz="2133" spc="-33" dirty="0">
                <a:latin typeface="Arial MT"/>
                <a:cs typeface="Arial MT"/>
              </a:rPr>
              <a:t> in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5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cluster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and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number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controller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to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monitor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state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of</a:t>
            </a:r>
            <a:r>
              <a:rPr sz="2133" spc="-40" dirty="0">
                <a:latin typeface="Arial MT"/>
                <a:cs typeface="Arial MT"/>
              </a:rPr>
              <a:t> </a:t>
            </a:r>
            <a:r>
              <a:rPr sz="2133" dirty="0">
                <a:latin typeface="Arial MT"/>
                <a:cs typeface="Arial MT"/>
              </a:rPr>
              <a:t>the</a:t>
            </a:r>
            <a:r>
              <a:rPr sz="2133" spc="-33" dirty="0">
                <a:latin typeface="Arial MT"/>
                <a:cs typeface="Arial MT"/>
              </a:rPr>
              <a:t> </a:t>
            </a:r>
            <a:r>
              <a:rPr sz="2133" spc="-13" dirty="0" smtClean="0">
                <a:latin typeface="Arial MT"/>
                <a:cs typeface="Arial MT"/>
              </a:rPr>
              <a:t>cluster</a:t>
            </a:r>
            <a:endParaRPr sz="2133" dirty="0">
              <a:latin typeface="Arial MT"/>
              <a:cs typeface="Arial M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85114" y="4921536"/>
            <a:ext cx="1294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6773" algn="r">
              <a:spcBef>
                <a:spcPts val="1460"/>
              </a:spcBef>
            </a:pPr>
            <a:r>
              <a:rPr lang="en-US" dirty="0">
                <a:latin typeface="Arial MT"/>
                <a:cs typeface="Arial MT"/>
              </a:rPr>
              <a:t>API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spc="-13" dirty="0">
                <a:latin typeface="Arial MT"/>
                <a:cs typeface="Arial MT"/>
              </a:rPr>
              <a:t>Server</a:t>
            </a:r>
            <a:endParaRPr lang="en-US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99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928151" y="1567543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7214204" y="5663621"/>
            <a:ext cx="15443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Nodes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28151" y="2670628"/>
            <a:ext cx="2235200" cy="183896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6928151" y="4741335"/>
            <a:ext cx="2235200" cy="871220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8" name="object 8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94843" y="5621598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5" name="object 15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19" name="object 19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1661" y="2397751"/>
            <a:ext cx="757767" cy="1328420"/>
            <a:chOff x="473745" y="1798313"/>
            <a:chExt cx="568325" cy="996315"/>
          </a:xfrm>
        </p:grpSpPr>
        <p:sp>
          <p:nvSpPr>
            <p:cNvPr id="24" name="object 2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56894" y="3249265"/>
            <a:ext cx="3064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1333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64580" y="3355709"/>
            <a:ext cx="1782233" cy="55033"/>
            <a:chOff x="1098434" y="2516781"/>
            <a:chExt cx="1336675" cy="41275"/>
          </a:xfrm>
        </p:grpSpPr>
        <p:sp>
          <p:nvSpPr>
            <p:cNvPr id="31" name="object 31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03186" y="3811446"/>
            <a:ext cx="309033" cy="420793"/>
            <a:chOff x="452389" y="2858584"/>
            <a:chExt cx="231775" cy="315595"/>
          </a:xfrm>
        </p:grpSpPr>
        <p:sp>
          <p:nvSpPr>
            <p:cNvPr id="35" name="object 35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23731" y="2030337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kubectl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7854" y="4268331"/>
            <a:ext cx="2709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UI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8056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37" y="396302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/>
              <a:t>In</a:t>
            </a:r>
            <a:r>
              <a:rPr spc="20" dirty="0"/>
              <a:t> </a:t>
            </a:r>
            <a:r>
              <a:rPr spc="-13" dirty="0"/>
              <a:t>nutshell…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167" y="1813433"/>
            <a:ext cx="4532205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$kubectl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get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componentstatus</a:t>
            </a:r>
            <a:endParaRPr sz="2667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501" y="2685436"/>
            <a:ext cx="4315460" cy="56596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Arial MT"/>
                <a:cs typeface="Arial MT"/>
              </a:rPr>
              <a:t>[node1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install]$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kubectl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33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nodes</a:t>
            </a:r>
            <a:r>
              <a:rPr sz="1200" spc="-27" dirty="0">
                <a:latin typeface="Arial MT"/>
                <a:cs typeface="Arial MT"/>
              </a:rPr>
              <a:t> </a:t>
            </a:r>
            <a:r>
              <a:rPr sz="1200" spc="-13" dirty="0">
                <a:latin typeface="Arial MT"/>
                <a:cs typeface="Arial MT"/>
              </a:rPr>
              <a:t>-</a:t>
            </a:r>
            <a:r>
              <a:rPr sz="1200" dirty="0">
                <a:latin typeface="Arial MT"/>
                <a:cs typeface="Arial MT"/>
              </a:rPr>
              <a:t>o</a:t>
            </a:r>
            <a:r>
              <a:rPr sz="1200" spc="-27" dirty="0">
                <a:latin typeface="Arial MT"/>
                <a:cs typeface="Arial MT"/>
              </a:rPr>
              <a:t> wide</a:t>
            </a:r>
            <a:endParaRPr sz="1200">
              <a:latin typeface="Arial MT"/>
              <a:cs typeface="Arial MT"/>
            </a:endParaRPr>
          </a:p>
          <a:p>
            <a:pPr marL="16933">
              <a:spcBef>
                <a:spcPts val="1359"/>
              </a:spcBef>
              <a:tabLst>
                <a:tab pos="1413898" algn="l"/>
              </a:tabLst>
            </a:pPr>
            <a:r>
              <a:rPr sz="1200" dirty="0">
                <a:latin typeface="Arial MT"/>
                <a:cs typeface="Arial MT"/>
              </a:rPr>
              <a:t>NAME</a:t>
            </a:r>
            <a:r>
              <a:rPr sz="1200" spc="320" dirty="0">
                <a:latin typeface="Arial MT"/>
                <a:cs typeface="Arial MT"/>
              </a:rPr>
              <a:t>  </a:t>
            </a:r>
            <a:r>
              <a:rPr sz="1200" spc="-13" dirty="0">
                <a:latin typeface="Arial MT"/>
                <a:cs typeface="Arial MT"/>
              </a:rPr>
              <a:t>STATUS</a:t>
            </a:r>
            <a:r>
              <a:rPr sz="1200" dirty="0">
                <a:latin typeface="Arial MT"/>
                <a:cs typeface="Arial MT"/>
              </a:rPr>
              <a:t>	ROLES</a:t>
            </a:r>
            <a:r>
              <a:rPr sz="1200" spc="287" dirty="0">
                <a:latin typeface="Arial MT"/>
                <a:cs typeface="Arial MT"/>
              </a:rPr>
              <a:t>  </a:t>
            </a:r>
            <a:r>
              <a:rPr sz="1200" dirty="0">
                <a:latin typeface="Arial MT"/>
                <a:cs typeface="Arial MT"/>
              </a:rPr>
              <a:t>AGE</a:t>
            </a:r>
            <a:r>
              <a:rPr sz="1200" spc="66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VERSION</a:t>
            </a:r>
            <a:r>
              <a:rPr sz="1200" spc="660" dirty="0">
                <a:latin typeface="Arial MT"/>
                <a:cs typeface="Arial MT"/>
              </a:rPr>
              <a:t> </a:t>
            </a:r>
            <a:r>
              <a:rPr sz="1200" spc="-13" dirty="0">
                <a:latin typeface="Arial MT"/>
                <a:cs typeface="Arial MT"/>
              </a:rPr>
              <a:t>INTERNAL-</a:t>
            </a:r>
            <a:r>
              <a:rPr sz="1200" spc="-33" dirty="0">
                <a:latin typeface="Arial MT"/>
                <a:cs typeface="Arial MT"/>
              </a:rPr>
              <a:t>IP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7884" y="3041036"/>
            <a:ext cx="191685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 dirty="0">
                <a:latin typeface="Arial MT"/>
                <a:cs typeface="Arial MT"/>
              </a:rPr>
              <a:t>EXTERNAL-</a:t>
            </a:r>
            <a:r>
              <a:rPr sz="1200" dirty="0">
                <a:latin typeface="Arial MT"/>
                <a:cs typeface="Arial MT"/>
              </a:rPr>
              <a:t>IP</a:t>
            </a:r>
            <a:r>
              <a:rPr sz="1200" spc="187" dirty="0">
                <a:latin typeface="Arial MT"/>
                <a:cs typeface="Arial MT"/>
              </a:rPr>
              <a:t>  </a:t>
            </a:r>
            <a:r>
              <a:rPr sz="1200" spc="-13" dirty="0">
                <a:latin typeface="Arial MT"/>
                <a:cs typeface="Arial MT"/>
              </a:rPr>
              <a:t>OS-IMAGE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5731" y="3041036"/>
            <a:ext cx="138006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 dirty="0">
                <a:latin typeface="Arial MT"/>
                <a:cs typeface="Arial MT"/>
              </a:rPr>
              <a:t>KERNEL-VERSION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5183" y="3041036"/>
            <a:ext cx="166285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33" dirty="0">
                <a:latin typeface="Arial MT"/>
                <a:cs typeface="Arial MT"/>
              </a:rPr>
              <a:t>CONTAINER-</a:t>
            </a:r>
            <a:r>
              <a:rPr sz="1200" spc="-13" dirty="0">
                <a:latin typeface="Arial MT"/>
                <a:cs typeface="Arial MT"/>
              </a:rPr>
              <a:t>RUNTIME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501" y="3396637"/>
            <a:ext cx="458047" cy="745503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 algn="just">
              <a:lnSpc>
                <a:spcPts val="1400"/>
              </a:lnSpc>
              <a:spcBef>
                <a:spcPts val="21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node1 node2 node3 node4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7817" y="3396636"/>
            <a:ext cx="712047" cy="745503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>
              <a:lnSpc>
                <a:spcPts val="1400"/>
              </a:lnSpc>
              <a:spcBef>
                <a:spcPts val="21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Ready Ready NotReady NotReady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2150" y="3396637"/>
            <a:ext cx="56642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019">
              <a:lnSpc>
                <a:spcPts val="1420"/>
              </a:lnSpc>
              <a:spcBef>
                <a:spcPts val="13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master</a:t>
            </a:r>
            <a:endParaRPr sz="1200">
              <a:latin typeface="Arial MT"/>
              <a:cs typeface="Arial MT"/>
            </a:endParaRPr>
          </a:p>
          <a:p>
            <a:pPr marL="33019">
              <a:lnSpc>
                <a:spcPts val="1400"/>
              </a:lnSpc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00"/>
              </a:lnSpc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20"/>
              </a:lnSpc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1567" y="3396637"/>
            <a:ext cx="922867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3">
              <a:lnSpc>
                <a:spcPts val="1420"/>
              </a:lnSpc>
              <a:spcBef>
                <a:spcPts val="133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92s</a:t>
            </a:r>
            <a:r>
              <a:rPr sz="1200" spc="6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v1.14.2</a:t>
            </a:r>
            <a:endParaRPr sz="1200">
              <a:latin typeface="Arial MT"/>
              <a:cs typeface="Arial MT"/>
            </a:endParaRPr>
          </a:p>
          <a:p>
            <a:pPr marL="33019">
              <a:lnSpc>
                <a:spcPts val="140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57s</a:t>
            </a:r>
            <a:r>
              <a:rPr sz="1200" spc="6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v1.14.2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0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39s</a:t>
            </a:r>
            <a:r>
              <a:rPr sz="1200" spc="6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v1.14.2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2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32s</a:t>
            </a:r>
            <a:r>
              <a:rPr sz="1200" spc="6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v1.14.2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0323" y="3396637"/>
            <a:ext cx="158242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3">
              <a:lnSpc>
                <a:spcPts val="1420"/>
              </a:lnSpc>
              <a:spcBef>
                <a:spcPts val="133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192.168.0.18</a:t>
            </a:r>
            <a:r>
              <a:rPr sz="1200" spc="58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  <a:p>
            <a:pPr marL="33019">
              <a:lnSpc>
                <a:spcPts val="140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192.168.0.17</a:t>
            </a:r>
            <a:r>
              <a:rPr sz="1200" spc="58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0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192.168.0.16</a:t>
            </a:r>
            <a:r>
              <a:rPr sz="1200" spc="58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420"/>
              </a:lnSpc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192.168.0.15</a:t>
            </a:r>
            <a:r>
              <a:rPr sz="1200" spc="58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&lt;none&gt;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3736" y="3396636"/>
            <a:ext cx="1599353" cy="745503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 indent="7620" algn="just">
              <a:lnSpc>
                <a:spcPts val="1400"/>
              </a:lnSpc>
              <a:spcBef>
                <a:spcPts val="213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CentOS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Linux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7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 (Core)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CentOS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Linux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7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 (Core)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CentOS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Linux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7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 (Core)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CentOS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Linux</a:t>
            </a:r>
            <a:r>
              <a:rPr sz="12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7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 (Core)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09105" y="3396637"/>
            <a:ext cx="1244600" cy="745503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 indent="7620" algn="just">
              <a:lnSpc>
                <a:spcPts val="1400"/>
              </a:lnSpc>
              <a:spcBef>
                <a:spcPts val="213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4.4.0-141-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generic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4.4.0-141-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generic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4.4.0-141-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generic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4.4.0-141-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generic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30319" y="3396637"/>
            <a:ext cx="1058333" cy="745503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 indent="7620" algn="just">
              <a:lnSpc>
                <a:spcPts val="1400"/>
              </a:lnSpc>
              <a:spcBef>
                <a:spcPts val="21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docker://18.9.6 docker://18.9.6 docker://18.9.6 docker://18.9.6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7501" y="4463436"/>
            <a:ext cx="304038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latin typeface="Arial MT"/>
                <a:cs typeface="Arial MT"/>
              </a:rPr>
              <a:t>[node1</a:t>
            </a:r>
            <a:r>
              <a:rPr sz="1200" spc="-47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install]$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kubectl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get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3" dirty="0">
                <a:latin typeface="Arial MT"/>
                <a:cs typeface="Arial MT"/>
              </a:rPr>
              <a:t>componentstatus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7501" y="4819036"/>
            <a:ext cx="1313180" cy="7480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1420"/>
              </a:lnSpc>
              <a:spcBef>
                <a:spcPts val="133"/>
              </a:spcBef>
            </a:pPr>
            <a:r>
              <a:rPr sz="1200" spc="-27" dirty="0">
                <a:solidFill>
                  <a:srgbClr val="C00000"/>
                </a:solidFill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  <a:p>
            <a:pPr marL="16933" marR="6773">
              <a:lnSpc>
                <a:spcPts val="1400"/>
              </a:lnSpc>
              <a:spcBef>
                <a:spcPts val="60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scheduler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controller-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manager etcd-</a:t>
            </a:r>
            <a:r>
              <a:rPr sz="1200" spc="-67" dirty="0">
                <a:solidFill>
                  <a:srgbClr val="C00000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8144" y="4819036"/>
            <a:ext cx="153331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STATUS</a:t>
            </a:r>
            <a:r>
              <a:rPr sz="1200" spc="227" dirty="0">
                <a:solidFill>
                  <a:srgbClr val="C00000"/>
                </a:solidFill>
                <a:latin typeface="Arial MT"/>
                <a:cs typeface="Arial MT"/>
              </a:rPr>
              <a:t>  </a:t>
            </a: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MESSAGE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6252" y="4819036"/>
            <a:ext cx="58420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ERROR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61865" y="4996836"/>
            <a:ext cx="577427" cy="565967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16933" marR="6773" indent="26246" algn="just">
              <a:lnSpc>
                <a:spcPts val="1400"/>
              </a:lnSpc>
              <a:spcBef>
                <a:spcPts val="213"/>
              </a:spcBef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Healthy Healthy Healthy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5241" y="4996836"/>
            <a:ext cx="1070187" cy="565967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27939" marR="855112" indent="14393">
              <a:lnSpc>
                <a:spcPts val="1400"/>
              </a:lnSpc>
              <a:spcBef>
                <a:spcPts val="213"/>
              </a:spcBef>
            </a:pPr>
            <a:r>
              <a:rPr sz="1200" spc="-33" dirty="0">
                <a:solidFill>
                  <a:srgbClr val="C00000"/>
                </a:solidFill>
                <a:latin typeface="Arial MT"/>
                <a:cs typeface="Arial MT"/>
              </a:rPr>
              <a:t>ok ok</a:t>
            </a:r>
            <a:endParaRPr sz="1200">
              <a:latin typeface="Arial MT"/>
              <a:cs typeface="Arial MT"/>
            </a:endParaRPr>
          </a:p>
          <a:p>
            <a:pPr marL="16933">
              <a:lnSpc>
                <a:spcPts val="1359"/>
              </a:lnSpc>
            </a:pPr>
            <a:r>
              <a:rPr sz="1200" spc="-13" dirty="0">
                <a:solidFill>
                  <a:srgbClr val="C00000"/>
                </a:solidFill>
                <a:latin typeface="Arial MT"/>
                <a:cs typeface="Arial MT"/>
              </a:rPr>
              <a:t>{"health":"true"}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9621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14928" y="1749999"/>
            <a:ext cx="7035800" cy="1834689"/>
          </a:xfrm>
          <a:prstGeom prst="rect">
            <a:avLst/>
          </a:prstGeom>
        </p:spPr>
        <p:txBody>
          <a:bodyPr vert="horz" wrap="square" lIns="0" tIns="38945" rIns="0" bIns="0" rtlCol="0" anchor="ctr">
            <a:spAutoFit/>
          </a:bodyPr>
          <a:lstStyle/>
          <a:p>
            <a:pPr marL="16933" marR="6773">
              <a:lnSpc>
                <a:spcPts val="7000"/>
              </a:lnSpc>
              <a:spcBef>
                <a:spcPts val="305"/>
              </a:spcBef>
            </a:pP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Let’s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talk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dirty="0">
                <a:solidFill>
                  <a:srgbClr val="C00000"/>
                </a:solidFill>
                <a:latin typeface="Calibri"/>
                <a:cs typeface="Calibri"/>
              </a:rPr>
              <a:t>about</a:t>
            </a:r>
            <a:r>
              <a:rPr sz="5867" spc="-2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867" spc="-53" dirty="0">
                <a:solidFill>
                  <a:srgbClr val="C00000"/>
                </a:solidFill>
                <a:latin typeface="Calibri"/>
                <a:cs typeface="Calibri"/>
              </a:rPr>
              <a:t>Worker </a:t>
            </a:r>
            <a:r>
              <a:rPr sz="5867" spc="-13" dirty="0">
                <a:solidFill>
                  <a:srgbClr val="C00000"/>
                </a:solidFill>
                <a:latin typeface="Calibri"/>
                <a:cs typeface="Calibri"/>
              </a:rPr>
              <a:t>Components..</a:t>
            </a:r>
            <a:endParaRPr sz="5867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651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118930" y="5817761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A</a:t>
            </a:r>
            <a:r>
              <a:rPr sz="1867" spc="-1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Node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27130" y="1519160"/>
            <a:ext cx="3942927" cy="4170680"/>
          </a:xfrm>
          <a:custGeom>
            <a:avLst/>
            <a:gdLst/>
            <a:ahLst/>
            <a:cxnLst/>
            <a:rect l="l" t="t" r="r" b="b"/>
            <a:pathLst>
              <a:path w="2957195" h="3128010">
                <a:moveTo>
                  <a:pt x="0" y="492818"/>
                </a:moveTo>
                <a:lnTo>
                  <a:pt x="2255" y="445356"/>
                </a:lnTo>
                <a:lnTo>
                  <a:pt x="8886" y="399171"/>
                </a:lnTo>
                <a:lnTo>
                  <a:pt x="19684" y="354469"/>
                </a:lnTo>
                <a:lnTo>
                  <a:pt x="34443" y="311456"/>
                </a:lnTo>
                <a:lnTo>
                  <a:pt x="52957" y="270339"/>
                </a:lnTo>
                <a:lnTo>
                  <a:pt x="75019" y="231325"/>
                </a:lnTo>
                <a:lnTo>
                  <a:pt x="100423" y="194619"/>
                </a:lnTo>
                <a:lnTo>
                  <a:pt x="128962" y="160430"/>
                </a:lnTo>
                <a:lnTo>
                  <a:pt x="160430" y="128962"/>
                </a:lnTo>
                <a:lnTo>
                  <a:pt x="194619" y="100423"/>
                </a:lnTo>
                <a:lnTo>
                  <a:pt x="231325" y="75019"/>
                </a:lnTo>
                <a:lnTo>
                  <a:pt x="270339" y="52957"/>
                </a:lnTo>
                <a:lnTo>
                  <a:pt x="311456" y="34443"/>
                </a:lnTo>
                <a:lnTo>
                  <a:pt x="354469" y="19684"/>
                </a:lnTo>
                <a:lnTo>
                  <a:pt x="399171" y="8886"/>
                </a:lnTo>
                <a:lnTo>
                  <a:pt x="445356" y="2255"/>
                </a:lnTo>
                <a:lnTo>
                  <a:pt x="492818" y="0"/>
                </a:lnTo>
                <a:lnTo>
                  <a:pt x="2464034" y="0"/>
                </a:lnTo>
                <a:lnTo>
                  <a:pt x="2512743" y="2411"/>
                </a:lnTo>
                <a:lnTo>
                  <a:pt x="2560627" y="9556"/>
                </a:lnTo>
                <a:lnTo>
                  <a:pt x="2607362" y="21302"/>
                </a:lnTo>
                <a:lnTo>
                  <a:pt x="2652627" y="37513"/>
                </a:lnTo>
                <a:lnTo>
                  <a:pt x="2696097" y="58057"/>
                </a:lnTo>
                <a:lnTo>
                  <a:pt x="2737449" y="82799"/>
                </a:lnTo>
                <a:lnTo>
                  <a:pt x="2776361" y="111605"/>
                </a:lnTo>
                <a:lnTo>
                  <a:pt x="2812509" y="144343"/>
                </a:lnTo>
                <a:lnTo>
                  <a:pt x="2845246" y="180490"/>
                </a:lnTo>
                <a:lnTo>
                  <a:pt x="2874053" y="219402"/>
                </a:lnTo>
                <a:lnTo>
                  <a:pt x="2898795" y="260755"/>
                </a:lnTo>
                <a:lnTo>
                  <a:pt x="2919339" y="304225"/>
                </a:lnTo>
                <a:lnTo>
                  <a:pt x="2935550" y="349489"/>
                </a:lnTo>
                <a:lnTo>
                  <a:pt x="2947296" y="396225"/>
                </a:lnTo>
                <a:lnTo>
                  <a:pt x="2954441" y="444109"/>
                </a:lnTo>
                <a:lnTo>
                  <a:pt x="2956852" y="492818"/>
                </a:lnTo>
                <a:lnTo>
                  <a:pt x="2956852" y="2635010"/>
                </a:lnTo>
                <a:lnTo>
                  <a:pt x="2954596" y="2682472"/>
                </a:lnTo>
                <a:lnTo>
                  <a:pt x="2947966" y="2728657"/>
                </a:lnTo>
                <a:lnTo>
                  <a:pt x="2937168" y="2773359"/>
                </a:lnTo>
                <a:lnTo>
                  <a:pt x="2922409" y="2816372"/>
                </a:lnTo>
                <a:lnTo>
                  <a:pt x="2903895" y="2857489"/>
                </a:lnTo>
                <a:lnTo>
                  <a:pt x="2881833" y="2896503"/>
                </a:lnTo>
                <a:lnTo>
                  <a:pt x="2856429" y="2933209"/>
                </a:lnTo>
                <a:lnTo>
                  <a:pt x="2827890" y="2967398"/>
                </a:lnTo>
                <a:lnTo>
                  <a:pt x="2796422" y="2998866"/>
                </a:lnTo>
                <a:lnTo>
                  <a:pt x="2762232" y="3027405"/>
                </a:lnTo>
                <a:lnTo>
                  <a:pt x="2725527" y="3052809"/>
                </a:lnTo>
                <a:lnTo>
                  <a:pt x="2686513" y="3074871"/>
                </a:lnTo>
                <a:lnTo>
                  <a:pt x="2645396" y="3093385"/>
                </a:lnTo>
                <a:lnTo>
                  <a:pt x="2602383" y="3108144"/>
                </a:lnTo>
                <a:lnTo>
                  <a:pt x="2557681" y="3118942"/>
                </a:lnTo>
                <a:lnTo>
                  <a:pt x="2511495" y="3125573"/>
                </a:lnTo>
                <a:lnTo>
                  <a:pt x="2464034" y="3127828"/>
                </a:lnTo>
                <a:lnTo>
                  <a:pt x="492818" y="3127828"/>
                </a:lnTo>
                <a:lnTo>
                  <a:pt x="445356" y="3125573"/>
                </a:lnTo>
                <a:lnTo>
                  <a:pt x="399171" y="3118942"/>
                </a:lnTo>
                <a:lnTo>
                  <a:pt x="354469" y="3108144"/>
                </a:lnTo>
                <a:lnTo>
                  <a:pt x="311456" y="3093385"/>
                </a:lnTo>
                <a:lnTo>
                  <a:pt x="270339" y="3074871"/>
                </a:lnTo>
                <a:lnTo>
                  <a:pt x="231325" y="3052809"/>
                </a:lnTo>
                <a:lnTo>
                  <a:pt x="194619" y="3027405"/>
                </a:lnTo>
                <a:lnTo>
                  <a:pt x="160430" y="2998866"/>
                </a:lnTo>
                <a:lnTo>
                  <a:pt x="128962" y="2967398"/>
                </a:lnTo>
                <a:lnTo>
                  <a:pt x="100423" y="2933209"/>
                </a:lnTo>
                <a:lnTo>
                  <a:pt x="75019" y="2896503"/>
                </a:lnTo>
                <a:lnTo>
                  <a:pt x="52957" y="2857489"/>
                </a:lnTo>
                <a:lnTo>
                  <a:pt x="34443" y="2816372"/>
                </a:lnTo>
                <a:lnTo>
                  <a:pt x="19684" y="2773359"/>
                </a:lnTo>
                <a:lnTo>
                  <a:pt x="8886" y="2728657"/>
                </a:lnTo>
                <a:lnTo>
                  <a:pt x="2255" y="2682472"/>
                </a:lnTo>
                <a:lnTo>
                  <a:pt x="0" y="2635010"/>
                </a:lnTo>
                <a:lnTo>
                  <a:pt x="0" y="49281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33034" y="5689821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1661" y="2397751"/>
            <a:ext cx="757767" cy="1328420"/>
            <a:chOff x="473745" y="1798313"/>
            <a:chExt cx="568325" cy="996315"/>
          </a:xfrm>
        </p:grpSpPr>
        <p:sp>
          <p:nvSpPr>
            <p:cNvPr id="22" name="object 22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56894" y="3249265"/>
            <a:ext cx="3064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1333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64580" y="3355709"/>
            <a:ext cx="1782233" cy="55033"/>
            <a:chOff x="1098434" y="2516781"/>
            <a:chExt cx="1336675" cy="41275"/>
          </a:xfrm>
        </p:grpSpPr>
        <p:sp>
          <p:nvSpPr>
            <p:cNvPr id="29" name="object 29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03186" y="3811446"/>
            <a:ext cx="309033" cy="420793"/>
            <a:chOff x="452389" y="2858584"/>
            <a:chExt cx="231775" cy="315595"/>
          </a:xfrm>
        </p:grpSpPr>
        <p:sp>
          <p:nvSpPr>
            <p:cNvPr id="33" name="object 3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23731" y="2030337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kubectl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7854" y="4268331"/>
            <a:ext cx="2709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UI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0791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0097" y="2388856"/>
            <a:ext cx="965383" cy="9653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167" y="-45676"/>
            <a:ext cx="4179147" cy="1376445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/>
              <a:t>Captain of</a:t>
            </a:r>
            <a:r>
              <a:rPr spc="7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7" dirty="0"/>
              <a:t>Ship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7432" y="925390"/>
            <a:ext cx="7535333" cy="1694224"/>
          </a:xfrm>
          <a:prstGeom prst="rect">
            <a:avLst/>
          </a:prstGeom>
        </p:spPr>
        <p:txBody>
          <a:bodyPr vert="horz" wrap="square" lIns="0" tIns="110913" rIns="0" bIns="0" rtlCol="0">
            <a:spAutoFit/>
          </a:bodyPr>
          <a:lstStyle/>
          <a:p>
            <a:pPr marL="428403" indent="-411470">
              <a:spcBef>
                <a:spcPts val="873"/>
              </a:spcBef>
              <a:buChar char="-"/>
              <a:tabLst>
                <a:tab pos="428403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Manages</a:t>
            </a:r>
            <a:r>
              <a:rPr sz="2133" spc="-3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sort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activity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 ship</a:t>
            </a:r>
            <a:endParaRPr sz="2133">
              <a:latin typeface="Arial MT"/>
              <a:cs typeface="Arial MT"/>
            </a:endParaRPr>
          </a:p>
          <a:p>
            <a:pPr marL="428403" indent="-411470">
              <a:spcBef>
                <a:spcPts val="740"/>
              </a:spcBef>
              <a:buChar char="-"/>
              <a:tabLst>
                <a:tab pos="428403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Let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master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ship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knows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they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are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interested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join</a:t>
            </a:r>
            <a:endParaRPr sz="2133">
              <a:latin typeface="Arial MT"/>
              <a:cs typeface="Arial MT"/>
            </a:endParaRPr>
          </a:p>
          <a:p>
            <a:pPr marL="428403" indent="-411470">
              <a:spcBef>
                <a:spcPts val="740"/>
              </a:spcBef>
              <a:buChar char="-"/>
              <a:tabLst>
                <a:tab pos="428403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Sending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reports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back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master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2133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status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27" dirty="0">
                <a:solidFill>
                  <a:srgbClr val="595959"/>
                </a:solidFill>
                <a:latin typeface="Arial MT"/>
                <a:cs typeface="Arial MT"/>
              </a:rPr>
              <a:t>ship</a:t>
            </a:r>
            <a:endParaRPr sz="2133">
              <a:latin typeface="Arial MT"/>
              <a:cs typeface="Arial MT"/>
            </a:endParaRPr>
          </a:p>
          <a:p>
            <a:pPr marL="428403" indent="-411470">
              <a:spcBef>
                <a:spcPts val="740"/>
              </a:spcBef>
              <a:buChar char="-"/>
              <a:tabLst>
                <a:tab pos="428403" algn="l"/>
              </a:tabLst>
            </a:pP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Sending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reports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status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133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2133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133" spc="-13" dirty="0">
                <a:solidFill>
                  <a:srgbClr val="595959"/>
                </a:solidFill>
                <a:latin typeface="Arial MT"/>
                <a:cs typeface="Arial MT"/>
              </a:rPr>
              <a:t>containers</a:t>
            </a:r>
            <a:endParaRPr sz="2133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0097" y="4310812"/>
            <a:ext cx="965383" cy="96538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29" y="3371618"/>
            <a:ext cx="5449135" cy="12444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030" y="2176483"/>
            <a:ext cx="2087971" cy="11951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882" y="4576580"/>
            <a:ext cx="2087971" cy="11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5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9663" y="2358887"/>
            <a:ext cx="965383" cy="9653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713556"/>
            <a:ext cx="14020800" cy="1313972"/>
          </a:xfrm>
          <a:prstGeom prst="rect">
            <a:avLst/>
          </a:prstGeom>
        </p:spPr>
        <p:txBody>
          <a:bodyPr vert="horz" wrap="square" lIns="0" tIns="20404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7"/>
              </a:spcBef>
            </a:pPr>
            <a:r>
              <a:rPr dirty="0"/>
              <a:t>Captain</a:t>
            </a:r>
            <a:r>
              <a:rPr spc="13" dirty="0"/>
              <a:t> </a:t>
            </a:r>
            <a:r>
              <a:rPr dirty="0"/>
              <a:t>of</a:t>
            </a:r>
            <a:r>
              <a:rPr spc="7" dirty="0"/>
              <a:t> </a:t>
            </a:r>
            <a:r>
              <a:rPr dirty="0"/>
              <a:t>the</a:t>
            </a:r>
            <a:r>
              <a:rPr spc="7" dirty="0"/>
              <a:t> </a:t>
            </a:r>
            <a:r>
              <a:rPr dirty="0"/>
              <a:t>Ship</a:t>
            </a:r>
            <a:r>
              <a:rPr spc="13" dirty="0"/>
              <a:t> </a:t>
            </a:r>
            <a:r>
              <a:rPr dirty="0"/>
              <a:t>~</a:t>
            </a:r>
            <a:r>
              <a:rPr spc="33" dirty="0"/>
              <a:t> </a:t>
            </a:r>
            <a:r>
              <a:rPr spc="-13" dirty="0">
                <a:solidFill>
                  <a:srgbClr val="4008FF"/>
                </a:solidFill>
              </a:rPr>
              <a:t>Kubelet</a:t>
            </a:r>
          </a:p>
          <a:p>
            <a:pPr marL="16933">
              <a:lnSpc>
                <a:spcPct val="100000"/>
              </a:lnSpc>
              <a:spcBef>
                <a:spcPts val="813"/>
              </a:spcBef>
            </a:pPr>
            <a:r>
              <a:rPr sz="2133" dirty="0">
                <a:solidFill>
                  <a:srgbClr val="595959"/>
                </a:solidFill>
              </a:rPr>
              <a:t>Agent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which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runs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on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each</a:t>
            </a:r>
            <a:r>
              <a:rPr sz="2133" spc="-20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nodes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of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the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spc="-13" dirty="0">
                <a:solidFill>
                  <a:srgbClr val="595959"/>
                </a:solidFill>
              </a:rPr>
              <a:t>container</a:t>
            </a:r>
            <a:endParaRPr sz="2133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0097" y="4310814"/>
            <a:ext cx="965383" cy="9653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29" y="3371618"/>
            <a:ext cx="5449135" cy="12444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480" y="2129134"/>
            <a:ext cx="2087971" cy="11951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332" y="4529231"/>
            <a:ext cx="2087971" cy="11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3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36681" y="5447327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37506" y="1510693"/>
            <a:ext cx="9002607" cy="4047067"/>
            <a:chOff x="1303129" y="1133020"/>
            <a:chExt cx="6751955" cy="303530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27985" cy="2881630"/>
            </a:xfrm>
            <a:custGeom>
              <a:avLst/>
              <a:gdLst/>
              <a:ahLst/>
              <a:cxnLst/>
              <a:rect l="l" t="t" r="r" b="b"/>
              <a:pathLst>
                <a:path w="2927984" h="2881629">
                  <a:moveTo>
                    <a:pt x="0" y="480190"/>
                  </a:moveTo>
                  <a:lnTo>
                    <a:pt x="2479" y="431093"/>
                  </a:lnTo>
                  <a:lnTo>
                    <a:pt x="9755" y="383415"/>
                  </a:lnTo>
                  <a:lnTo>
                    <a:pt x="21588" y="337396"/>
                  </a:lnTo>
                  <a:lnTo>
                    <a:pt x="37735" y="293278"/>
                  </a:lnTo>
                  <a:lnTo>
                    <a:pt x="57956" y="251303"/>
                  </a:lnTo>
                  <a:lnTo>
                    <a:pt x="82008" y="211711"/>
                  </a:lnTo>
                  <a:lnTo>
                    <a:pt x="109652" y="174744"/>
                  </a:lnTo>
                  <a:lnTo>
                    <a:pt x="140644" y="140644"/>
                  </a:lnTo>
                  <a:lnTo>
                    <a:pt x="174744" y="109652"/>
                  </a:lnTo>
                  <a:lnTo>
                    <a:pt x="211711" y="82008"/>
                  </a:lnTo>
                  <a:lnTo>
                    <a:pt x="251303" y="57956"/>
                  </a:lnTo>
                  <a:lnTo>
                    <a:pt x="293278" y="37735"/>
                  </a:lnTo>
                  <a:lnTo>
                    <a:pt x="337396" y="21588"/>
                  </a:lnTo>
                  <a:lnTo>
                    <a:pt x="383415" y="9755"/>
                  </a:lnTo>
                  <a:lnTo>
                    <a:pt x="431093" y="2479"/>
                  </a:lnTo>
                  <a:lnTo>
                    <a:pt x="480190" y="0"/>
                  </a:lnTo>
                  <a:lnTo>
                    <a:pt x="2447632" y="0"/>
                  </a:lnTo>
                  <a:lnTo>
                    <a:pt x="2495093" y="2349"/>
                  </a:lnTo>
                  <a:lnTo>
                    <a:pt x="2541750" y="9311"/>
                  </a:lnTo>
                  <a:lnTo>
                    <a:pt x="2587288" y="20756"/>
                  </a:lnTo>
                  <a:lnTo>
                    <a:pt x="2631393" y="36552"/>
                  </a:lnTo>
                  <a:lnTo>
                    <a:pt x="2673749" y="56569"/>
                  </a:lnTo>
                  <a:lnTo>
                    <a:pt x="2714042" y="80677"/>
                  </a:lnTo>
                  <a:lnTo>
                    <a:pt x="2751956" y="108746"/>
                  </a:lnTo>
                  <a:lnTo>
                    <a:pt x="2787177" y="140644"/>
                  </a:lnTo>
                  <a:lnTo>
                    <a:pt x="2819076" y="175865"/>
                  </a:lnTo>
                  <a:lnTo>
                    <a:pt x="2847145" y="213780"/>
                  </a:lnTo>
                  <a:lnTo>
                    <a:pt x="2871253" y="254073"/>
                  </a:lnTo>
                  <a:lnTo>
                    <a:pt x="2891270" y="296429"/>
                  </a:lnTo>
                  <a:lnTo>
                    <a:pt x="2907066" y="340534"/>
                  </a:lnTo>
                  <a:lnTo>
                    <a:pt x="2918510" y="386072"/>
                  </a:lnTo>
                  <a:lnTo>
                    <a:pt x="2925472" y="432729"/>
                  </a:lnTo>
                  <a:lnTo>
                    <a:pt x="2927822" y="480190"/>
                  </a:lnTo>
                  <a:lnTo>
                    <a:pt x="2927822" y="2400894"/>
                  </a:lnTo>
                  <a:lnTo>
                    <a:pt x="2925343" y="2449991"/>
                  </a:lnTo>
                  <a:lnTo>
                    <a:pt x="2918066" y="2497669"/>
                  </a:lnTo>
                  <a:lnTo>
                    <a:pt x="2906234" y="2543688"/>
                  </a:lnTo>
                  <a:lnTo>
                    <a:pt x="2890086" y="2587806"/>
                  </a:lnTo>
                  <a:lnTo>
                    <a:pt x="2869866" y="2629781"/>
                  </a:lnTo>
                  <a:lnTo>
                    <a:pt x="2845813" y="2669373"/>
                  </a:lnTo>
                  <a:lnTo>
                    <a:pt x="2818170" y="2706340"/>
                  </a:lnTo>
                  <a:lnTo>
                    <a:pt x="2787178" y="2740440"/>
                  </a:lnTo>
                  <a:lnTo>
                    <a:pt x="2753078" y="2771432"/>
                  </a:lnTo>
                  <a:lnTo>
                    <a:pt x="2716111" y="2799075"/>
                  </a:lnTo>
                  <a:lnTo>
                    <a:pt x="2676519" y="2823128"/>
                  </a:lnTo>
                  <a:lnTo>
                    <a:pt x="2634544" y="2843349"/>
                  </a:lnTo>
                  <a:lnTo>
                    <a:pt x="2590426" y="2859496"/>
                  </a:lnTo>
                  <a:lnTo>
                    <a:pt x="2544407" y="2871328"/>
                  </a:lnTo>
                  <a:lnTo>
                    <a:pt x="2496729" y="2878605"/>
                  </a:lnTo>
                  <a:lnTo>
                    <a:pt x="2447632" y="2881084"/>
                  </a:lnTo>
                  <a:lnTo>
                    <a:pt x="480190" y="2881084"/>
                  </a:lnTo>
                  <a:lnTo>
                    <a:pt x="431093" y="2878605"/>
                  </a:lnTo>
                  <a:lnTo>
                    <a:pt x="383415" y="2871328"/>
                  </a:lnTo>
                  <a:lnTo>
                    <a:pt x="337396" y="2859496"/>
                  </a:lnTo>
                  <a:lnTo>
                    <a:pt x="293278" y="2843349"/>
                  </a:lnTo>
                  <a:lnTo>
                    <a:pt x="251303" y="2823128"/>
                  </a:lnTo>
                  <a:lnTo>
                    <a:pt x="211711" y="2799075"/>
                  </a:lnTo>
                  <a:lnTo>
                    <a:pt x="174744" y="2771432"/>
                  </a:lnTo>
                  <a:lnTo>
                    <a:pt x="140644" y="2740440"/>
                  </a:lnTo>
                  <a:lnTo>
                    <a:pt x="109652" y="2706340"/>
                  </a:lnTo>
                  <a:lnTo>
                    <a:pt x="82008" y="2669373"/>
                  </a:lnTo>
                  <a:lnTo>
                    <a:pt x="57956" y="2629781"/>
                  </a:lnTo>
                  <a:lnTo>
                    <a:pt x="37735" y="2587806"/>
                  </a:lnTo>
                  <a:lnTo>
                    <a:pt x="21588" y="2543688"/>
                  </a:lnTo>
                  <a:lnTo>
                    <a:pt x="9755" y="2497669"/>
                  </a:lnTo>
                  <a:lnTo>
                    <a:pt x="2479" y="2449991"/>
                  </a:lnTo>
                  <a:lnTo>
                    <a:pt x="0" y="2400894"/>
                  </a:lnTo>
                  <a:lnTo>
                    <a:pt x="0" y="48019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87311" y="5665605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93858" y="1986811"/>
            <a:ext cx="1241213" cy="516467"/>
            <a:chOff x="5320393" y="1490108"/>
            <a:chExt cx="930910" cy="387350"/>
          </a:xfrm>
        </p:grpSpPr>
        <p:sp>
          <p:nvSpPr>
            <p:cNvPr id="22" name="object 22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237782" y="2052004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Kubelet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64579" y="2173206"/>
            <a:ext cx="9033087" cy="3060700"/>
            <a:chOff x="1098434" y="1629904"/>
            <a:chExt cx="6774815" cy="2295525"/>
          </a:xfrm>
        </p:grpSpPr>
        <p:sp>
          <p:nvSpPr>
            <p:cNvPr id="26" name="object 26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5599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631661" y="2397751"/>
            <a:ext cx="757767" cy="1328420"/>
            <a:chOff x="473745" y="1798313"/>
            <a:chExt cx="568325" cy="996315"/>
          </a:xfrm>
        </p:grpSpPr>
        <p:sp>
          <p:nvSpPr>
            <p:cNvPr id="34" name="object 3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6894" y="3249265"/>
            <a:ext cx="3064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1333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03186" y="3811446"/>
            <a:ext cx="309033" cy="420793"/>
            <a:chOff x="452389" y="2858584"/>
            <a:chExt cx="231775" cy="315595"/>
          </a:xfrm>
        </p:grpSpPr>
        <p:sp>
          <p:nvSpPr>
            <p:cNvPr id="41" name="object 41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23731" y="2030337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kubectl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7854" y="4268331"/>
            <a:ext cx="2709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UI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8663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713556"/>
            <a:ext cx="14020800" cy="1313972"/>
          </a:xfrm>
          <a:prstGeom prst="rect">
            <a:avLst/>
          </a:prstGeom>
        </p:spPr>
        <p:txBody>
          <a:bodyPr vert="horz" wrap="square" lIns="0" tIns="20404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7"/>
              </a:spcBef>
            </a:pPr>
            <a:r>
              <a:rPr dirty="0">
                <a:solidFill>
                  <a:srgbClr val="0070C0"/>
                </a:solidFill>
              </a:rPr>
              <a:t>Communication</a:t>
            </a:r>
            <a:r>
              <a:rPr spc="-4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between</a:t>
            </a:r>
            <a:r>
              <a:rPr spc="-40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Cargo</a:t>
            </a:r>
            <a:r>
              <a:rPr spc="-4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Ships</a:t>
            </a:r>
          </a:p>
          <a:p>
            <a:pPr marL="16933">
              <a:lnSpc>
                <a:spcPct val="100000"/>
              </a:lnSpc>
              <a:spcBef>
                <a:spcPts val="813"/>
              </a:spcBef>
            </a:pPr>
            <a:r>
              <a:rPr sz="2133" dirty="0">
                <a:solidFill>
                  <a:srgbClr val="595959"/>
                </a:solidFill>
              </a:rPr>
              <a:t>How</a:t>
            </a:r>
            <a:r>
              <a:rPr sz="2133" spc="-40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does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two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cargo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ships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communicate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with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each</a:t>
            </a:r>
            <a:r>
              <a:rPr sz="2133" spc="-27" dirty="0">
                <a:solidFill>
                  <a:srgbClr val="595959"/>
                </a:solidFill>
              </a:rPr>
              <a:t> </a:t>
            </a:r>
            <a:r>
              <a:rPr sz="2133" spc="-13" dirty="0">
                <a:solidFill>
                  <a:srgbClr val="595959"/>
                </a:solidFill>
              </a:rPr>
              <a:t>other?</a:t>
            </a:r>
            <a:endParaRPr sz="2133" dirty="0"/>
          </a:p>
        </p:txBody>
      </p:sp>
      <p:grpSp>
        <p:nvGrpSpPr>
          <p:cNvPr id="3" name="object 3"/>
          <p:cNvGrpSpPr/>
          <p:nvPr/>
        </p:nvGrpSpPr>
        <p:grpSpPr>
          <a:xfrm>
            <a:off x="8910632" y="3207025"/>
            <a:ext cx="2121497" cy="1285105"/>
            <a:chOff x="6682975" y="2405270"/>
            <a:chExt cx="1591123" cy="963829"/>
          </a:xfrm>
        </p:grpSpPr>
        <p:sp>
          <p:nvSpPr>
            <p:cNvPr id="6" name="object 6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306" y="1947386"/>
            <a:ext cx="2087971" cy="11951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158" y="4492130"/>
            <a:ext cx="2087971" cy="11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1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4289213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Kube-proxy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167" y="1140922"/>
            <a:ext cx="11352107" cy="837836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16933" marR="6773">
              <a:lnSpc>
                <a:spcPts val="3000"/>
              </a:lnSpc>
              <a:spcBef>
                <a:spcPts val="533"/>
              </a:spcBef>
            </a:pP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2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web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server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running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worker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reach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out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DB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3" dirty="0">
                <a:solidFill>
                  <a:srgbClr val="595959"/>
                </a:solidFill>
                <a:latin typeface="Arial MT"/>
                <a:cs typeface="Arial MT"/>
              </a:rPr>
              <a:t>server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800" spc="-1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another</a:t>
            </a:r>
            <a:r>
              <a:rPr sz="2800" spc="-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worker</a:t>
            </a:r>
            <a:r>
              <a:rPr sz="2800" spc="-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3" dirty="0">
                <a:solidFill>
                  <a:srgbClr val="595959"/>
                </a:solidFill>
                <a:latin typeface="Arial MT"/>
                <a:cs typeface="Arial MT"/>
              </a:rPr>
              <a:t>node?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167" y="3045921"/>
            <a:ext cx="617982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Communication</a:t>
            </a:r>
            <a:r>
              <a:rPr sz="2800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2800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worker</a:t>
            </a:r>
            <a:r>
              <a:rPr sz="2800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3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927394" y="3093128"/>
            <a:ext cx="2121497" cy="1285105"/>
            <a:chOff x="6682975" y="2405270"/>
            <a:chExt cx="1591123" cy="963829"/>
          </a:xfrm>
        </p:grpSpPr>
        <p:sp>
          <p:nvSpPr>
            <p:cNvPr id="8" name="object 8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56583" y="3728535"/>
            <a:ext cx="2438400" cy="407804"/>
          </a:xfrm>
          <a:prstGeom prst="rect">
            <a:avLst/>
          </a:prstGeom>
          <a:ln w="57149">
            <a:solidFill>
              <a:srgbClr val="00B0F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14297"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Kube-</a:t>
            </a:r>
            <a:r>
              <a:rPr sz="2400" spc="-13" dirty="0">
                <a:latin typeface="Arial MT"/>
                <a:cs typeface="Arial MT"/>
              </a:rPr>
              <a:t>proxy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068" y="1802739"/>
            <a:ext cx="2087971" cy="119513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920" y="4473487"/>
            <a:ext cx="2087971" cy="11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2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737505" y="1510694"/>
            <a:ext cx="9040707" cy="4187613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93858" y="1986811"/>
            <a:ext cx="1241213" cy="516467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237782" y="2052004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Kubelet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09156" y="1961754"/>
            <a:ext cx="5433905" cy="1363980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09197" y="2039475"/>
            <a:ext cx="14198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Arial MT"/>
                <a:cs typeface="Arial MT"/>
              </a:rPr>
              <a:t>Kube-</a:t>
            </a: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proxy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239001" y="998665"/>
            <a:ext cx="3258820" cy="4235027"/>
            <a:chOff x="5429250" y="748999"/>
            <a:chExt cx="2444115" cy="3176270"/>
          </a:xfrm>
        </p:grpSpPr>
        <p:sp>
          <p:nvSpPr>
            <p:cNvPr id="37" name="object 37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7962945" y="234630"/>
            <a:ext cx="2382072" cy="695611"/>
            <a:chOff x="5972207" y="175972"/>
            <a:chExt cx="1786554" cy="521708"/>
          </a:xfrm>
        </p:grpSpPr>
        <p:sp>
          <p:nvSpPr>
            <p:cNvPr id="43" name="object 43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377123" y="365891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51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52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00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41385" y="1986159"/>
            <a:ext cx="6028267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  <a:latin typeface="Calibri"/>
                <a:cs typeface="Calibri"/>
              </a:rPr>
              <a:t>Let’s</a:t>
            </a:r>
            <a:r>
              <a:rPr sz="5333" spc="-1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33" dirty="0">
                <a:solidFill>
                  <a:srgbClr val="C00000"/>
                </a:solidFill>
                <a:latin typeface="Calibri"/>
                <a:cs typeface="Calibri"/>
              </a:rPr>
              <a:t>talk</a:t>
            </a:r>
            <a:r>
              <a:rPr sz="5333" spc="-1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33" dirty="0">
                <a:solidFill>
                  <a:srgbClr val="C00000"/>
                </a:solidFill>
                <a:latin typeface="Calibri"/>
                <a:cs typeface="Calibri"/>
              </a:rPr>
              <a:t>about</a:t>
            </a:r>
            <a:r>
              <a:rPr sz="5333" spc="-13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5333" spc="-13" dirty="0">
                <a:solidFill>
                  <a:srgbClr val="C00000"/>
                </a:solidFill>
                <a:latin typeface="Calibri"/>
                <a:cs typeface="Calibri"/>
              </a:rPr>
              <a:t>Pods..</a:t>
            </a:r>
            <a:endParaRPr sz="5333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490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737505" y="1510694"/>
            <a:ext cx="9040707" cy="4187613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28915" y="1967952"/>
            <a:ext cx="530013" cy="55033"/>
            <a:chOff x="696686" y="1475963"/>
            <a:chExt cx="397510" cy="41275"/>
          </a:xfrm>
        </p:grpSpPr>
        <p:sp>
          <p:nvSpPr>
            <p:cNvPr id="11" name="object 11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368" y="1814478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93858" y="1986811"/>
            <a:ext cx="1241213" cy="516467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237782" y="2052004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Kubelet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09156" y="1961754"/>
            <a:ext cx="5433905" cy="1363980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09197" y="2039475"/>
            <a:ext cx="14198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Arial MT"/>
                <a:cs typeface="Arial MT"/>
              </a:rPr>
              <a:t>Kube-</a:t>
            </a: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proxy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962945" y="234630"/>
            <a:ext cx="2382072" cy="695611"/>
            <a:chOff x="5972207" y="175972"/>
            <a:chExt cx="1786554" cy="521708"/>
          </a:xfrm>
        </p:grpSpPr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239001" y="998665"/>
            <a:ext cx="3744807" cy="4235027"/>
            <a:chOff x="5429250" y="748999"/>
            <a:chExt cx="2808605" cy="3176270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8377123" y="365891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986217" y="3868857"/>
            <a:ext cx="4563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65" name="object 8"/>
          <p:cNvSpPr txBox="1"/>
          <p:nvPr/>
        </p:nvSpPr>
        <p:spPr>
          <a:xfrm>
            <a:off x="7040025" y="5844302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66" name="object 20"/>
          <p:cNvSpPr txBox="1"/>
          <p:nvPr/>
        </p:nvSpPr>
        <p:spPr>
          <a:xfrm>
            <a:off x="3026132" y="5744919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67" name="Straight Arrow Connector 66"/>
          <p:cNvCxnSpPr/>
          <p:nvPr/>
        </p:nvCxnSpPr>
        <p:spPr>
          <a:xfrm flipV="1">
            <a:off x="3784745" y="5568034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7040025" y="561255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90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5" name="object 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49363" y="4140883"/>
            <a:ext cx="1347047" cy="696807"/>
            <a:chOff x="1387022" y="3105662"/>
            <a:chExt cx="1010285" cy="522605"/>
          </a:xfrm>
        </p:grpSpPr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96972" y="4140882"/>
            <a:ext cx="1459653" cy="696807"/>
            <a:chOff x="2547729" y="3105661"/>
            <a:chExt cx="1094740" cy="522605"/>
          </a:xfrm>
        </p:grpSpPr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93858" y="1986811"/>
            <a:ext cx="1241213" cy="516467"/>
            <a:chOff x="5320393" y="1490108"/>
            <a:chExt cx="930910" cy="387350"/>
          </a:xfrm>
        </p:grpSpPr>
        <p:sp>
          <p:nvSpPr>
            <p:cNvPr id="25" name="object 25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37782" y="2052004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Kubelet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909155" y="2173206"/>
            <a:ext cx="2114127" cy="1152313"/>
            <a:chOff x="3681866" y="1629904"/>
            <a:chExt cx="1585595" cy="864235"/>
          </a:xfrm>
        </p:grpSpPr>
        <p:sp>
          <p:nvSpPr>
            <p:cNvPr id="29" name="object 29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8494774" y="1961753"/>
            <a:ext cx="1848273" cy="541867"/>
            <a:chOff x="6371080" y="1471315"/>
            <a:chExt cx="1386205" cy="406400"/>
          </a:xfrm>
        </p:grpSpPr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09197" y="2039475"/>
            <a:ext cx="14198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Arial MT"/>
                <a:cs typeface="Arial MT"/>
              </a:rPr>
              <a:t>Kube-</a:t>
            </a: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proxy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792733" y="232014"/>
            <a:ext cx="2382072" cy="695611"/>
            <a:chOff x="5972207" y="175972"/>
            <a:chExt cx="1786554" cy="521708"/>
          </a:xfrm>
        </p:grpSpPr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239001" y="3431418"/>
            <a:ext cx="3744807" cy="1802553"/>
            <a:chOff x="5429250" y="2573563"/>
            <a:chExt cx="2808605" cy="1351915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140317" y="124603"/>
                  </a:moveTo>
                  <a:lnTo>
                    <a:pt x="0" y="124603"/>
                  </a:lnTo>
                  <a:lnTo>
                    <a:pt x="0" y="0"/>
                  </a:lnTo>
                  <a:lnTo>
                    <a:pt x="140317" y="0"/>
                  </a:lnTo>
                  <a:lnTo>
                    <a:pt x="140317" y="12460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0" y="0"/>
                  </a:moveTo>
                  <a:lnTo>
                    <a:pt x="140317" y="0"/>
                  </a:lnTo>
                  <a:lnTo>
                    <a:pt x="140317" y="124603"/>
                  </a:lnTo>
                  <a:lnTo>
                    <a:pt x="0" y="12460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136388" y="102633"/>
                  </a:moveTo>
                  <a:lnTo>
                    <a:pt x="0" y="102633"/>
                  </a:lnTo>
                  <a:lnTo>
                    <a:pt x="0" y="0"/>
                  </a:lnTo>
                  <a:lnTo>
                    <a:pt x="136388" y="0"/>
                  </a:lnTo>
                  <a:lnTo>
                    <a:pt x="136388" y="102633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0" y="0"/>
                  </a:moveTo>
                  <a:lnTo>
                    <a:pt x="136388" y="0"/>
                  </a:lnTo>
                  <a:lnTo>
                    <a:pt x="136388" y="102633"/>
                  </a:lnTo>
                  <a:lnTo>
                    <a:pt x="0" y="10263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880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7238357" y="3109520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7119842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8953801" y="998665"/>
            <a:ext cx="60960" cy="856827"/>
            <a:chOff x="6715351" y="748999"/>
            <a:chExt cx="45720" cy="642620"/>
          </a:xfrm>
        </p:grpSpPr>
        <p:sp>
          <p:nvSpPr>
            <p:cNvPr id="70" name="object 70"/>
            <p:cNvSpPr/>
            <p:nvPr/>
          </p:nvSpPr>
          <p:spPr>
            <a:xfrm>
              <a:off x="6720113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2" name="object 72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8377123" y="365891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9123625" y="3992571"/>
            <a:ext cx="303953" cy="307339"/>
            <a:chOff x="6842718" y="2994428"/>
            <a:chExt cx="227965" cy="230504"/>
          </a:xfrm>
        </p:grpSpPr>
        <p:sp>
          <p:nvSpPr>
            <p:cNvPr id="75" name="object 75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78" name="object 78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0986217" y="3868857"/>
            <a:ext cx="4563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973629" y="4630821"/>
            <a:ext cx="10625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84" name="object 8"/>
          <p:cNvSpPr txBox="1"/>
          <p:nvPr/>
        </p:nvSpPr>
        <p:spPr>
          <a:xfrm>
            <a:off x="7260831" y="5412415"/>
            <a:ext cx="16366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Node-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85" name="object 20"/>
          <p:cNvSpPr txBox="1"/>
          <p:nvPr/>
        </p:nvSpPr>
        <p:spPr>
          <a:xfrm>
            <a:off x="3440980" y="5766290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 dirty="0">
              <a:latin typeface="Arial MT"/>
              <a:cs typeface="Arial MT"/>
            </a:endParaRPr>
          </a:p>
        </p:txBody>
      </p:sp>
      <p:cxnSp>
        <p:nvCxnSpPr>
          <p:cNvPr id="86" name="Straight Arrow Connector 85"/>
          <p:cNvCxnSpPr/>
          <p:nvPr/>
        </p:nvCxnSpPr>
        <p:spPr>
          <a:xfrm flipV="1">
            <a:off x="4199593" y="5589405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7260831" y="5180668"/>
            <a:ext cx="374843" cy="353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06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713556"/>
            <a:ext cx="14020800" cy="1313972"/>
          </a:xfrm>
          <a:prstGeom prst="rect">
            <a:avLst/>
          </a:prstGeom>
        </p:spPr>
        <p:txBody>
          <a:bodyPr vert="horz" wrap="square" lIns="0" tIns="20404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607"/>
              </a:spcBef>
            </a:pPr>
            <a:r>
              <a:rPr dirty="0"/>
              <a:t>Docker</a:t>
            </a:r>
            <a:r>
              <a:rPr spc="7" dirty="0"/>
              <a:t> </a:t>
            </a:r>
            <a:r>
              <a:rPr spc="-13" dirty="0"/>
              <a:t>Containers</a:t>
            </a:r>
          </a:p>
          <a:p>
            <a:pPr marL="16933">
              <a:lnSpc>
                <a:spcPct val="100000"/>
              </a:lnSpc>
              <a:spcBef>
                <a:spcPts val="813"/>
              </a:spcBef>
            </a:pPr>
            <a:r>
              <a:rPr sz="2133" dirty="0">
                <a:solidFill>
                  <a:srgbClr val="595959"/>
                </a:solidFill>
              </a:rPr>
              <a:t>A</a:t>
            </a:r>
            <a:r>
              <a:rPr sz="2133" spc="-12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popular</a:t>
            </a:r>
            <a:r>
              <a:rPr sz="2133" spc="-7" dirty="0">
                <a:solidFill>
                  <a:srgbClr val="595959"/>
                </a:solidFill>
              </a:rPr>
              <a:t> </a:t>
            </a:r>
            <a:r>
              <a:rPr sz="2133" dirty="0">
                <a:solidFill>
                  <a:srgbClr val="595959"/>
                </a:solidFill>
              </a:rPr>
              <a:t>Container</a:t>
            </a:r>
            <a:r>
              <a:rPr sz="2133" spc="-7" dirty="0">
                <a:solidFill>
                  <a:srgbClr val="595959"/>
                </a:solidFill>
              </a:rPr>
              <a:t> </a:t>
            </a:r>
            <a:r>
              <a:rPr sz="2133" spc="-13" dirty="0">
                <a:solidFill>
                  <a:srgbClr val="595959"/>
                </a:solidFill>
              </a:rPr>
              <a:t>Runtime</a:t>
            </a:r>
            <a:endParaRPr sz="2133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83" y="2298242"/>
            <a:ext cx="5975238" cy="34201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462" y="2880986"/>
            <a:ext cx="25050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3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9999133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Overall</a:t>
            </a:r>
            <a:r>
              <a:rPr spc="-20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Kubernetes</a:t>
            </a:r>
            <a:r>
              <a:rPr spc="-22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1" y="5770055"/>
            <a:ext cx="14257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Node</a:t>
            </a:r>
            <a:endParaRPr sz="1867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580" y="226163"/>
            <a:ext cx="9519105" cy="54719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3069" y="4322769"/>
            <a:ext cx="6798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solidFill>
                  <a:srgbClr val="FFFFFF"/>
                </a:solidFill>
                <a:latin typeface="Arial MT"/>
                <a:cs typeface="Arial MT"/>
              </a:rPr>
              <a:t>ETCD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6121" y="4183067"/>
            <a:ext cx="106172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62652" marR="6773" indent="-46566">
              <a:lnSpc>
                <a:spcPts val="2200"/>
              </a:lnSpc>
              <a:spcBef>
                <a:spcPts val="240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Controller Manager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6889" y="3254417"/>
            <a:ext cx="11794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37782" y="2052004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Kubelet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9197" y="2039475"/>
            <a:ext cx="14198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dirty="0">
                <a:solidFill>
                  <a:srgbClr val="FFFFFF"/>
                </a:solidFill>
                <a:latin typeface="Arial MT"/>
                <a:cs typeface="Arial MT"/>
              </a:rPr>
              <a:t>Kube-</a:t>
            </a: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proxy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7123" y="365891"/>
            <a:ext cx="9516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Internet</a:t>
            </a:r>
            <a:endParaRPr sz="2133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86217" y="3868857"/>
            <a:ext cx="4563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73629" y="4630821"/>
            <a:ext cx="10625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1661" y="2397751"/>
            <a:ext cx="757767" cy="1328420"/>
            <a:chOff x="473745" y="1798313"/>
            <a:chExt cx="568325" cy="996315"/>
          </a:xfrm>
        </p:grpSpPr>
        <p:sp>
          <p:nvSpPr>
            <p:cNvPr id="16" name="object 16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6894" y="3249265"/>
            <a:ext cx="3064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1333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3186" y="3811446"/>
            <a:ext cx="309033" cy="420793"/>
            <a:chOff x="452389" y="2858584"/>
            <a:chExt cx="231775" cy="315595"/>
          </a:xfrm>
        </p:grpSpPr>
        <p:sp>
          <p:nvSpPr>
            <p:cNvPr id="23" name="object 2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23731" y="2030337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kubectl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7854" y="4268331"/>
            <a:ext cx="2709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UI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52136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80" y="323378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lang="en-US" spc="-27" dirty="0" err="1" smtClean="0"/>
              <a:t>Config</a:t>
            </a:r>
            <a:endParaRPr spc="-27" dirty="0"/>
          </a:p>
        </p:txBody>
      </p:sp>
      <p:sp>
        <p:nvSpPr>
          <p:cNvPr id="3" name="object 3"/>
          <p:cNvSpPr txBox="1"/>
          <p:nvPr/>
        </p:nvSpPr>
        <p:spPr>
          <a:xfrm>
            <a:off x="452980" y="1813433"/>
            <a:ext cx="11243720" cy="1420175"/>
          </a:xfrm>
          <a:prstGeom prst="rect">
            <a:avLst/>
          </a:prstGeom>
        </p:spPr>
        <p:txBody>
          <a:bodyPr vert="horz" wrap="square" lIns="0" tIns="60113" rIns="0" bIns="0" rtlCol="0">
            <a:spAutoFit/>
          </a:bodyPr>
          <a:lstStyle/>
          <a:p>
            <a:pPr marL="192189" marR="6773" indent="-176102">
              <a:lnSpc>
                <a:spcPts val="2907"/>
              </a:lnSpc>
              <a:spcBef>
                <a:spcPts val="473"/>
              </a:spcBef>
              <a:buClr>
                <a:srgbClr val="FFAB40"/>
              </a:buClr>
              <a:buChar char="•"/>
              <a:tabLst>
                <a:tab pos="193882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Setting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single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K8s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cluster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Docker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Desktop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 smtClean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Windows</a:t>
            </a:r>
            <a:endParaRPr sz="2667" dirty="0">
              <a:latin typeface="Arial MT"/>
              <a:cs typeface="Arial MT"/>
            </a:endParaRPr>
          </a:p>
          <a:p>
            <a:pPr marL="193035" indent="-176102">
              <a:spcBef>
                <a:spcPts val="645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Setting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5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Kubernetes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Cluster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PWK</a:t>
            </a:r>
            <a:endParaRPr sz="2667" dirty="0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Setting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3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Nodes</a:t>
            </a:r>
            <a:r>
              <a:rPr sz="2667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K8s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Cluster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on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Bare</a:t>
            </a:r>
            <a:r>
              <a:rPr sz="2667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Metal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VM</a:t>
            </a:r>
            <a:endParaRPr sz="2667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0091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7" y="1775703"/>
            <a:ext cx="8489527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</a:rPr>
              <a:t>Let’s</a:t>
            </a:r>
            <a:r>
              <a:rPr sz="5333" spc="-10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Deep</a:t>
            </a:r>
            <a:r>
              <a:rPr sz="5333" spc="-93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Dive</a:t>
            </a:r>
            <a:r>
              <a:rPr sz="5333" spc="-93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into</a:t>
            </a:r>
            <a:r>
              <a:rPr sz="5333" spc="-93" dirty="0">
                <a:solidFill>
                  <a:srgbClr val="C00000"/>
                </a:solidFill>
              </a:rPr>
              <a:t> </a:t>
            </a:r>
            <a:r>
              <a:rPr sz="5333" spc="-13" dirty="0">
                <a:solidFill>
                  <a:srgbClr val="C00000"/>
                </a:solidFill>
              </a:rPr>
              <a:t>Pods…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17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" y="285278"/>
            <a:ext cx="629285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Pod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- </a:t>
            </a:r>
            <a:r>
              <a:rPr spc="-13" dirty="0">
                <a:solidFill>
                  <a:srgbClr val="0070C0"/>
                </a:solidFill>
              </a:rPr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979" y="1724533"/>
            <a:ext cx="5197687" cy="3518506"/>
          </a:xfrm>
          <a:prstGeom prst="rect">
            <a:avLst/>
          </a:prstGeom>
        </p:spPr>
        <p:txBody>
          <a:bodyPr vert="horz" wrap="square" lIns="0" tIns="105833" rIns="0" bIns="0" rtlCol="0">
            <a:spAutoFit/>
          </a:bodyPr>
          <a:lstStyle/>
          <a:p>
            <a:pPr marL="193035" indent="-176102">
              <a:spcBef>
                <a:spcPts val="833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 Pod?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Deployment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Multi-Container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Networking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Inter-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 &amp;</a:t>
            </a:r>
            <a:r>
              <a:rPr sz="2667" spc="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Intra-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Networking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Lifecycle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Manifest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File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5547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50" y="301993"/>
            <a:ext cx="640715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Atomic</a:t>
            </a:r>
            <a:r>
              <a:rPr spc="4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Unit</a:t>
            </a:r>
            <a:r>
              <a:rPr spc="40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of</a:t>
            </a:r>
            <a:r>
              <a:rPr spc="4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Scheduling</a:t>
            </a:r>
          </a:p>
        </p:txBody>
      </p:sp>
      <p:sp>
        <p:nvSpPr>
          <p:cNvPr id="3" name="object 3"/>
          <p:cNvSpPr/>
          <p:nvPr/>
        </p:nvSpPr>
        <p:spPr>
          <a:xfrm>
            <a:off x="739738" y="1726058"/>
            <a:ext cx="2794847" cy="3822700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3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299162" y="1726058"/>
            <a:ext cx="2794847" cy="3822700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2" y="213354"/>
                </a:lnTo>
                <a:lnTo>
                  <a:pt x="47693" y="173015"/>
                </a:lnTo>
                <a:lnTo>
                  <a:pt x="72787" y="135864"/>
                </a:lnTo>
                <a:lnTo>
                  <a:pt x="102316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1" y="258669"/>
                </a:lnTo>
                <a:lnTo>
                  <a:pt x="2092899" y="303411"/>
                </a:lnTo>
                <a:lnTo>
                  <a:pt x="2095929" y="349328"/>
                </a:lnTo>
                <a:lnTo>
                  <a:pt x="2095929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5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6" y="2764174"/>
                </a:lnTo>
                <a:lnTo>
                  <a:pt x="72787" y="2730625"/>
                </a:lnTo>
                <a:lnTo>
                  <a:pt x="47693" y="2693474"/>
                </a:lnTo>
                <a:lnTo>
                  <a:pt x="27452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7858586" y="1770515"/>
            <a:ext cx="2794847" cy="3822700"/>
          </a:xfrm>
          <a:custGeom>
            <a:avLst/>
            <a:gdLst/>
            <a:ahLst/>
            <a:cxnLst/>
            <a:rect l="l" t="t" r="r" b="b"/>
            <a:pathLst>
              <a:path w="2096134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3" y="27451"/>
                </a:lnTo>
                <a:lnTo>
                  <a:pt x="256462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7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39" y="2564563"/>
                </a:lnTo>
                <a:lnTo>
                  <a:pt x="2083450" y="2610026"/>
                </a:lnTo>
                <a:lnTo>
                  <a:pt x="2068476" y="2653135"/>
                </a:lnTo>
                <a:lnTo>
                  <a:pt x="2048235" y="2693474"/>
                </a:lnTo>
                <a:lnTo>
                  <a:pt x="2023141" y="2730625"/>
                </a:lnTo>
                <a:lnTo>
                  <a:pt x="1993612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2" y="2854011"/>
                </a:lnTo>
                <a:lnTo>
                  <a:pt x="213353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455823" y="2254592"/>
            <a:ext cx="17729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Virtualization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96793" y="2281632"/>
            <a:ext cx="9999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Docker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9451" y="2254592"/>
            <a:ext cx="15934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Kubernetes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75120" y="3673043"/>
            <a:ext cx="1563793" cy="1322492"/>
            <a:chOff x="1031339" y="2754782"/>
            <a:chExt cx="1172845" cy="991869"/>
          </a:xfrm>
        </p:grpSpPr>
        <p:sp>
          <p:nvSpPr>
            <p:cNvPr id="10" name="object 10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2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87669" y="4188240"/>
            <a:ext cx="3386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FFFFFF"/>
                </a:solidFill>
                <a:latin typeface="Arial MT"/>
                <a:cs typeface="Arial MT"/>
              </a:rPr>
              <a:t>VM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97557" y="3722733"/>
            <a:ext cx="1563793" cy="1322492"/>
            <a:chOff x="3598167" y="2792049"/>
            <a:chExt cx="1172845" cy="991869"/>
          </a:xfrm>
        </p:grpSpPr>
        <p:sp>
          <p:nvSpPr>
            <p:cNvPr id="14" name="object 14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58972" y="4244956"/>
            <a:ext cx="84158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13" dirty="0">
                <a:solidFill>
                  <a:srgbClr val="FFFFFF"/>
                </a:solidFill>
                <a:latin typeface="Arial MT"/>
                <a:cs typeface="Arial MT"/>
              </a:rPr>
              <a:t>Container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473990" y="3604547"/>
            <a:ext cx="1563793" cy="1322492"/>
            <a:chOff x="6355492" y="2703410"/>
            <a:chExt cx="1172845" cy="991869"/>
          </a:xfrm>
        </p:grpSpPr>
        <p:sp>
          <p:nvSpPr>
            <p:cNvPr id="18" name="object 18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67773" y="4052180"/>
            <a:ext cx="57657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33" dirty="0">
                <a:solidFill>
                  <a:srgbClr val="FFFFFF"/>
                </a:solidFill>
                <a:latin typeface="Arial MT"/>
                <a:cs typeface="Arial MT"/>
              </a:rPr>
              <a:t>Pod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4252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400" y="188314"/>
            <a:ext cx="991235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How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Pods are </a:t>
            </a:r>
            <a:r>
              <a:rPr spc="-13" dirty="0">
                <a:solidFill>
                  <a:srgbClr val="0070C0"/>
                </a:solidFill>
              </a:rPr>
              <a:t>deployed?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2" y="5770055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Cluster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65600" cy="4187613"/>
            <a:chOff x="5113997" y="1133020"/>
            <a:chExt cx="312420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123625" y="3992571"/>
            <a:ext cx="303953" cy="307339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5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51193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Scaling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the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Pods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to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accommodate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increasing</a:t>
            </a:r>
            <a:r>
              <a:rPr spc="-13" dirty="0">
                <a:solidFill>
                  <a:srgbClr val="0070C0"/>
                </a:solidFill>
              </a:rPr>
              <a:t> 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1" y="5770055"/>
            <a:ext cx="14257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Node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71527" cy="4187613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123625" y="3992571"/>
            <a:ext cx="303953" cy="307339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138023" y="3537786"/>
            <a:ext cx="668867" cy="1111673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8273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00" y="303014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What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if node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resources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is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getting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1" y="5770055"/>
            <a:ext cx="14257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Worker</a:t>
            </a:r>
            <a:r>
              <a:rPr sz="1867" spc="-67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Node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71527" cy="4187613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123625" y="3992571"/>
            <a:ext cx="303953" cy="307339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138023" y="3537786"/>
            <a:ext cx="668867" cy="1111673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7738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03" y="17918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What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if node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resources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is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getting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2" y="5770055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Cluster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71527" cy="4187613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48" y="521099"/>
                  </a:move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51"/>
                  </a:move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68508" y="23753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123625" y="3992571"/>
            <a:ext cx="303953" cy="307339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271113" y="3620189"/>
            <a:ext cx="303953" cy="307339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7219936" y="1832962"/>
            <a:ext cx="3876040" cy="2816860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1192928" y="1721505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861320" y="3500709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19466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03" y="115505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What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if node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resources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is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getting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2" y="5770055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Cluster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71527" cy="4187613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062081" y="3893268"/>
            <a:ext cx="303953" cy="307339"/>
            <a:chOff x="6796560" y="2919951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271113" y="3620189"/>
            <a:ext cx="303953" cy="307339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7219936" y="1832962"/>
            <a:ext cx="3876040" cy="2816860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1192928" y="1721505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861320" y="3500709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643929" y="2201916"/>
            <a:ext cx="303953" cy="307339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8289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003" y="77038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2 Containers in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same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33" dirty="0">
                <a:solidFill>
                  <a:srgbClr val="0070C0"/>
                </a:solidFill>
              </a:rPr>
              <a:t>Pod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1402" y="5770055"/>
            <a:ext cx="7848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Cluster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8663" y="1510694"/>
            <a:ext cx="4171527" cy="4187613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737505" y="1621970"/>
            <a:ext cx="3335867" cy="3936153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7311" y="5627767"/>
            <a:ext cx="7586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latin typeface="Arial MT"/>
                <a:cs typeface="Arial MT"/>
              </a:rPr>
              <a:t>Master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76224" y="2313966"/>
            <a:ext cx="11015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Scheduler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05439" y="3086705"/>
            <a:ext cx="1442720" cy="473698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84573" rIns="0" bIns="0" rtlCol="0">
            <a:spAutoFit/>
          </a:bodyPr>
          <a:lstStyle/>
          <a:p>
            <a:pPr marL="148163">
              <a:spcBef>
                <a:spcPts val="1453"/>
              </a:spcBef>
            </a:pPr>
            <a:r>
              <a:rPr sz="1867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r>
              <a:rPr sz="1867" spc="-53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Server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045962" y="4005872"/>
            <a:ext cx="155785" cy="194733"/>
            <a:chOff x="6784471" y="3004404"/>
            <a:chExt cx="116839" cy="146050"/>
          </a:xfrm>
        </p:grpSpPr>
        <p:sp>
          <p:nvSpPr>
            <p:cNvPr id="33" name="object 33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103885" y="133030"/>
                  </a:moveTo>
                  <a:lnTo>
                    <a:pt x="0" y="133030"/>
                  </a:lnTo>
                  <a:lnTo>
                    <a:pt x="0" y="0"/>
                  </a:lnTo>
                  <a:lnTo>
                    <a:pt x="103885" y="0"/>
                  </a:lnTo>
                  <a:lnTo>
                    <a:pt x="103885" y="13303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0" y="0"/>
                  </a:moveTo>
                  <a:lnTo>
                    <a:pt x="103885" y="0"/>
                  </a:lnTo>
                  <a:lnTo>
                    <a:pt x="103885" y="133030"/>
                  </a:lnTo>
                  <a:lnTo>
                    <a:pt x="0" y="13303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666004" y="4718360"/>
            <a:ext cx="303953" cy="307339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973629" y="3868857"/>
            <a:ext cx="1062567" cy="1084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786">
              <a:spcBef>
                <a:spcPts val="133"/>
              </a:spcBef>
            </a:pPr>
            <a:r>
              <a:rPr sz="1867" spc="-33" dirty="0">
                <a:latin typeface="Arial MT"/>
                <a:cs typeface="Arial MT"/>
              </a:rPr>
              <a:t>Pod</a:t>
            </a:r>
            <a:endParaRPr sz="1867">
              <a:latin typeface="Arial MT"/>
              <a:cs typeface="Arial MT"/>
            </a:endParaRPr>
          </a:p>
          <a:p>
            <a:pPr>
              <a:spcBef>
                <a:spcPts val="1607"/>
              </a:spcBef>
            </a:pPr>
            <a:endParaRPr sz="1867">
              <a:latin typeface="Arial MT"/>
              <a:cs typeface="Arial MT"/>
            </a:endParaRPr>
          </a:p>
          <a:p>
            <a:pPr marL="16933">
              <a:spcBef>
                <a:spcPts val="7"/>
              </a:spcBef>
            </a:pPr>
            <a:r>
              <a:rPr sz="1867" spc="-13" dirty="0">
                <a:latin typeface="Arial MT"/>
                <a:cs typeface="Arial MT"/>
              </a:rPr>
              <a:t>Container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64579" y="2827433"/>
            <a:ext cx="5195147" cy="789940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19" y="3209968"/>
            <a:ext cx="550325" cy="67732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271113" y="3620189"/>
            <a:ext cx="303953" cy="307339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7219936" y="1832962"/>
            <a:ext cx="3876040" cy="2816860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1192928" y="1721505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861320" y="3500709"/>
            <a:ext cx="10041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27" dirty="0">
                <a:latin typeface="Arial MT"/>
                <a:cs typeface="Arial MT"/>
              </a:rPr>
              <a:t>Worker-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643929" y="2201916"/>
            <a:ext cx="303953" cy="307339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9229479" y="3922038"/>
            <a:ext cx="134620" cy="175260"/>
            <a:chOff x="6922109" y="2941528"/>
            <a:chExt cx="100965" cy="131445"/>
          </a:xfrm>
        </p:grpSpPr>
        <p:sp>
          <p:nvSpPr>
            <p:cNvPr id="75" name="object 75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87849" y="118574"/>
                  </a:moveTo>
                  <a:lnTo>
                    <a:pt x="0" y="118574"/>
                  </a:lnTo>
                  <a:lnTo>
                    <a:pt x="0" y="0"/>
                  </a:lnTo>
                  <a:lnTo>
                    <a:pt x="87849" y="0"/>
                  </a:lnTo>
                  <a:lnTo>
                    <a:pt x="87849" y="118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0" y="0"/>
                  </a:moveTo>
                  <a:lnTo>
                    <a:pt x="87849" y="0"/>
                  </a:lnTo>
                  <a:lnTo>
                    <a:pt x="87849" y="118574"/>
                  </a:lnTo>
                  <a:lnTo>
                    <a:pt x="0" y="11857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23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9"/>
            <a:ext cx="4639690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Pod</a:t>
            </a:r>
            <a:r>
              <a:rPr spc="-2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9176" y="1621969"/>
            <a:ext cx="3671147" cy="302768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28532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4821" y="2578033"/>
            <a:ext cx="805180" cy="449781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192189">
              <a:lnSpc>
                <a:spcPct val="101200"/>
              </a:lnSpc>
              <a:spcBef>
                <a:spcPts val="113"/>
              </a:spcBef>
            </a:pPr>
            <a:r>
              <a:rPr sz="1400" spc="-27" dirty="0">
                <a:latin typeface="Arial MT"/>
                <a:cs typeface="Arial MT"/>
              </a:rPr>
              <a:t>Main </a:t>
            </a:r>
            <a:r>
              <a:rPr sz="1400" spc="-13" dirty="0">
                <a:latin typeface="Arial MT"/>
                <a:cs typeface="Arial MT"/>
              </a:rPr>
              <a:t>Controller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703" y="3099561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:8080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1189" y="4410821"/>
            <a:ext cx="1347047" cy="430953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7412" y="4480432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8913" y="1621969"/>
            <a:ext cx="3671147" cy="302768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48271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45274" y="2639566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4404" y="3271358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:7777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80259" y="4386017"/>
            <a:ext cx="1347047" cy="430953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56483" y="4455629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10.0.30.60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56317" y="2486721"/>
            <a:ext cx="1669627" cy="662940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82645" y="2551617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9726" y="3085723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:3000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2704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44646" y="1630839"/>
            <a:ext cx="9140612" cy="2479119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</a:rPr>
              <a:t>How</a:t>
            </a:r>
            <a:r>
              <a:rPr sz="5333" spc="-107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does</a:t>
            </a:r>
            <a:r>
              <a:rPr sz="5333" spc="-10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these</a:t>
            </a:r>
            <a:r>
              <a:rPr sz="5333" spc="-100" dirty="0">
                <a:solidFill>
                  <a:srgbClr val="C00000"/>
                </a:solidFill>
              </a:rPr>
              <a:t> </a:t>
            </a:r>
            <a:r>
              <a:rPr sz="5333" spc="-13" dirty="0">
                <a:solidFill>
                  <a:srgbClr val="C00000"/>
                </a:solidFill>
              </a:rPr>
              <a:t>containers </a:t>
            </a:r>
            <a:r>
              <a:rPr sz="5333" dirty="0">
                <a:solidFill>
                  <a:srgbClr val="C00000"/>
                </a:solidFill>
              </a:rPr>
              <a:t>inside</a:t>
            </a:r>
            <a:r>
              <a:rPr sz="5333" spc="-10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Pods</a:t>
            </a:r>
            <a:r>
              <a:rPr sz="5333" spc="-100" dirty="0">
                <a:solidFill>
                  <a:srgbClr val="C00000"/>
                </a:solidFill>
              </a:rPr>
              <a:t> </a:t>
            </a:r>
            <a:r>
              <a:rPr sz="5333" spc="-13" dirty="0">
                <a:solidFill>
                  <a:srgbClr val="C00000"/>
                </a:solidFill>
              </a:rPr>
              <a:t>communicate</a:t>
            </a:r>
            <a:r>
              <a:rPr sz="5333" spc="-93" dirty="0">
                <a:solidFill>
                  <a:srgbClr val="C00000"/>
                </a:solidFill>
              </a:rPr>
              <a:t> </a:t>
            </a:r>
            <a:r>
              <a:rPr sz="5333" spc="-27" dirty="0">
                <a:solidFill>
                  <a:srgbClr val="C00000"/>
                </a:solidFill>
              </a:rPr>
              <a:t>with </a:t>
            </a:r>
            <a:r>
              <a:rPr sz="5333" dirty="0">
                <a:solidFill>
                  <a:srgbClr val="C00000"/>
                </a:solidFill>
              </a:rPr>
              <a:t>External</a:t>
            </a:r>
            <a:r>
              <a:rPr sz="5333" spc="-267" dirty="0">
                <a:solidFill>
                  <a:srgbClr val="C00000"/>
                </a:solidFill>
              </a:rPr>
              <a:t> </a:t>
            </a:r>
            <a:r>
              <a:rPr sz="5333" spc="-13" dirty="0">
                <a:solidFill>
                  <a:srgbClr val="C00000"/>
                </a:solidFill>
              </a:rPr>
              <a:t>World?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14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6" y="102205"/>
            <a:ext cx="6805213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Network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Namespace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9176" y="1621969"/>
            <a:ext cx="3671147" cy="302768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28532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4821" y="2578033"/>
            <a:ext cx="805180" cy="449781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192189">
              <a:lnSpc>
                <a:spcPct val="101200"/>
              </a:lnSpc>
              <a:spcBef>
                <a:spcPts val="113"/>
              </a:spcBef>
            </a:pPr>
            <a:r>
              <a:rPr sz="1400" spc="-27" dirty="0">
                <a:latin typeface="Arial MT"/>
                <a:cs typeface="Arial MT"/>
              </a:rPr>
              <a:t>Main </a:t>
            </a:r>
            <a:r>
              <a:rPr sz="1400" spc="-13" dirty="0">
                <a:latin typeface="Arial MT"/>
                <a:cs typeface="Arial MT"/>
              </a:rPr>
              <a:t>Controller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703" y="3099561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:8080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1189" y="4410821"/>
            <a:ext cx="1347047" cy="430953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7412" y="4480432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8913" y="1621969"/>
            <a:ext cx="3671147" cy="302768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48271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45274" y="2639566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4404" y="3271358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:7777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80259" y="4386017"/>
            <a:ext cx="1347047" cy="430953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56483" y="4455629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10.0.30.60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56317" y="2486721"/>
            <a:ext cx="1669627" cy="662940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82645" y="2551617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9726" y="3085723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:3000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25707" y="3363100"/>
            <a:ext cx="4114800" cy="2514600"/>
            <a:chOff x="694280" y="2522325"/>
            <a:chExt cx="3086100" cy="1885950"/>
          </a:xfrm>
        </p:grpSpPr>
        <p:sp>
          <p:nvSpPr>
            <p:cNvPr id="33" name="object 33"/>
            <p:cNvSpPr/>
            <p:nvPr/>
          </p:nvSpPr>
          <p:spPr>
            <a:xfrm>
              <a:off x="981319" y="2537466"/>
              <a:ext cx="765810" cy="1511300"/>
            </a:xfrm>
            <a:custGeom>
              <a:avLst/>
              <a:gdLst/>
              <a:ahLst/>
              <a:cxnLst/>
              <a:rect l="l" t="t" r="r" b="b"/>
              <a:pathLst>
                <a:path w="765810" h="1511300">
                  <a:moveTo>
                    <a:pt x="765287" y="0"/>
                  </a:moveTo>
                  <a:lnTo>
                    <a:pt x="0" y="151093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0" y="45669"/>
                  </a:moveTo>
                  <a:lnTo>
                    <a:pt x="5495" y="0"/>
                  </a:lnTo>
                  <a:lnTo>
                    <a:pt x="33566" y="14217"/>
                  </a:lnTo>
                  <a:lnTo>
                    <a:pt x="0" y="4566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5495" y="0"/>
                  </a:moveTo>
                  <a:lnTo>
                    <a:pt x="0" y="45669"/>
                  </a:lnTo>
                  <a:lnTo>
                    <a:pt x="33566" y="14217"/>
                  </a:lnTo>
                  <a:lnTo>
                    <a:pt x="549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059218" y="2527087"/>
              <a:ext cx="697230" cy="1459230"/>
            </a:xfrm>
            <a:custGeom>
              <a:avLst/>
              <a:gdLst/>
              <a:ahLst/>
              <a:cxnLst/>
              <a:rect l="l" t="t" r="r" b="b"/>
              <a:pathLst>
                <a:path w="697229" h="1459229">
                  <a:moveTo>
                    <a:pt x="0" y="0"/>
                  </a:moveTo>
                  <a:lnTo>
                    <a:pt x="697163" y="145923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32829" y="45784"/>
                  </a:moveTo>
                  <a:lnTo>
                    <a:pt x="0" y="13564"/>
                  </a:lnTo>
                  <a:lnTo>
                    <a:pt x="28391" y="0"/>
                  </a:lnTo>
                  <a:lnTo>
                    <a:pt x="32829" y="4578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0" y="13564"/>
                  </a:moveTo>
                  <a:lnTo>
                    <a:pt x="32829" y="45784"/>
                  </a:lnTo>
                  <a:lnTo>
                    <a:pt x="28391" y="0"/>
                  </a:lnTo>
                  <a:lnTo>
                    <a:pt x="0" y="1356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131269" y="5549753"/>
            <a:ext cx="15028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10.0.30.50:8080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070490" y="5485400"/>
            <a:ext cx="1914313" cy="364067"/>
            <a:chOff x="3052867" y="4114050"/>
            <a:chExt cx="1435735" cy="273050"/>
          </a:xfrm>
        </p:grpSpPr>
        <p:sp>
          <p:nvSpPr>
            <p:cNvPr id="43" name="object 43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276053" y="5521690"/>
            <a:ext cx="150283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10.0.30.50:3000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2168" y="6431300"/>
            <a:ext cx="222673" cy="205976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16933">
              <a:spcBef>
                <a:spcPts val="7"/>
              </a:spcBef>
            </a:pPr>
            <a:r>
              <a:rPr sz="1333" spc="-33" dirty="0">
                <a:solidFill>
                  <a:srgbClr val="FFAB40"/>
                </a:solidFill>
                <a:latin typeface="Arial MT"/>
                <a:cs typeface="Arial MT"/>
              </a:rPr>
              <a:t>50</a:t>
            </a:r>
            <a:endParaRPr sz="1333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0906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011767" y="1771256"/>
            <a:ext cx="7749540" cy="16584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How</a:t>
            </a:r>
            <a:r>
              <a:rPr sz="5333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does</a:t>
            </a:r>
            <a:r>
              <a:rPr sz="5333" spc="-5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one</a:t>
            </a:r>
            <a:r>
              <a:rPr sz="5333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Pod</a:t>
            </a:r>
            <a:r>
              <a:rPr sz="5333" spc="-5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talk</a:t>
            </a:r>
            <a:r>
              <a:rPr sz="5333" spc="-5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spc="-33" dirty="0">
                <a:solidFill>
                  <a:srgbClr val="C00000"/>
                </a:solidFill>
                <a:latin typeface="Arial MT"/>
                <a:cs typeface="Arial MT"/>
              </a:rPr>
              <a:t>to </a:t>
            </a:r>
            <a:r>
              <a:rPr sz="5333" dirty="0">
                <a:solidFill>
                  <a:srgbClr val="C00000"/>
                </a:solidFill>
                <a:latin typeface="Arial MT"/>
                <a:cs typeface="Arial MT"/>
              </a:rPr>
              <a:t>another</a:t>
            </a:r>
            <a:r>
              <a:rPr sz="5333" spc="-19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5333" spc="-27" dirty="0">
                <a:solidFill>
                  <a:srgbClr val="C00000"/>
                </a:solidFill>
                <a:latin typeface="Arial MT"/>
                <a:cs typeface="Arial MT"/>
              </a:rPr>
              <a:t>Pod?</a:t>
            </a:r>
            <a:endParaRPr sz="5333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1767" y="3643400"/>
            <a:ext cx="593174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solidFill>
                  <a:srgbClr val="C00000"/>
                </a:solidFill>
                <a:latin typeface="Arial MT"/>
                <a:cs typeface="Arial MT"/>
              </a:rPr>
              <a:t>Welcome</a:t>
            </a:r>
            <a:r>
              <a:rPr sz="26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C00000"/>
                </a:solidFill>
                <a:latin typeface="Arial MT"/>
                <a:cs typeface="Arial MT"/>
              </a:rPr>
              <a:t>to</a:t>
            </a:r>
            <a:r>
              <a:rPr sz="26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C00000"/>
                </a:solidFill>
                <a:latin typeface="Arial MT"/>
                <a:cs typeface="Arial MT"/>
              </a:rPr>
              <a:t>Inter-</a:t>
            </a:r>
            <a:r>
              <a:rPr sz="2667" dirty="0">
                <a:solidFill>
                  <a:srgbClr val="C00000"/>
                </a:solidFill>
                <a:latin typeface="Arial MT"/>
                <a:cs typeface="Arial MT"/>
              </a:rPr>
              <a:t>Pod</a:t>
            </a:r>
            <a:r>
              <a:rPr sz="2667" spc="-53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C00000"/>
                </a:solidFill>
                <a:latin typeface="Arial MT"/>
                <a:cs typeface="Arial MT"/>
              </a:rPr>
              <a:t>Communication..</a:t>
            </a:r>
            <a:endParaRPr sz="2667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6524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9"/>
            <a:ext cx="5274733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Pod</a:t>
            </a:r>
            <a:r>
              <a:rPr spc="-2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9176" y="1621969"/>
            <a:ext cx="3671147" cy="302768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928532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4821" y="2578033"/>
            <a:ext cx="805180" cy="449781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192189">
              <a:lnSpc>
                <a:spcPct val="101200"/>
              </a:lnSpc>
              <a:spcBef>
                <a:spcPts val="113"/>
              </a:spcBef>
            </a:pPr>
            <a:r>
              <a:rPr sz="1400" spc="-27" dirty="0">
                <a:latin typeface="Arial MT"/>
                <a:cs typeface="Arial MT"/>
              </a:rPr>
              <a:t>Main </a:t>
            </a:r>
            <a:r>
              <a:rPr sz="1400" spc="-13" dirty="0">
                <a:latin typeface="Arial MT"/>
                <a:cs typeface="Arial MT"/>
              </a:rPr>
              <a:t>Controller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2703" y="3099561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:8080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1189" y="4410821"/>
            <a:ext cx="1347047" cy="430953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17412" y="4480432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8913" y="1621969"/>
            <a:ext cx="3671147" cy="302768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748271" y="120771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2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45274" y="2639566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854404" y="3271358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:7777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580259" y="4386017"/>
            <a:ext cx="1347047" cy="430953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56483" y="4455629"/>
            <a:ext cx="9939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10.0.30.60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256317" y="2486721"/>
            <a:ext cx="1669627" cy="662940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82645" y="2551617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9726" y="3085723"/>
            <a:ext cx="799253" cy="259045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44776">
              <a:spcBef>
                <a:spcPts val="100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:3000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45972" y="5676521"/>
            <a:ext cx="9262533" cy="346249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27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Pod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FFFFFF"/>
                </a:solidFill>
                <a:latin typeface="Arial MT"/>
                <a:cs typeface="Arial MT"/>
              </a:rPr>
              <a:t>Network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187238" y="4833000"/>
            <a:ext cx="55033" cy="831427"/>
            <a:chOff x="2390428" y="3624750"/>
            <a:chExt cx="41275" cy="623570"/>
          </a:xfrm>
        </p:grpSpPr>
        <p:sp>
          <p:nvSpPr>
            <p:cNvPr id="34" name="object 34"/>
            <p:cNvSpPr/>
            <p:nvPr/>
          </p:nvSpPr>
          <p:spPr>
            <a:xfrm>
              <a:off x="2410923" y="3624750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9226309" y="4736761"/>
            <a:ext cx="55033" cy="831427"/>
            <a:chOff x="6919731" y="3552571"/>
            <a:chExt cx="41275" cy="623570"/>
          </a:xfrm>
        </p:grpSpPr>
        <p:sp>
          <p:nvSpPr>
            <p:cNvPr id="38" name="object 38"/>
            <p:cNvSpPr/>
            <p:nvPr/>
          </p:nvSpPr>
          <p:spPr>
            <a:xfrm>
              <a:off x="6940226" y="3552571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49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02168" y="6431300"/>
            <a:ext cx="222673" cy="205976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16933">
              <a:spcBef>
                <a:spcPts val="7"/>
              </a:spcBef>
            </a:pPr>
            <a:r>
              <a:rPr sz="1333" spc="-33" dirty="0">
                <a:solidFill>
                  <a:srgbClr val="FFAB40"/>
                </a:solidFill>
                <a:latin typeface="Arial MT"/>
                <a:cs typeface="Arial MT"/>
              </a:rPr>
              <a:t>52</a:t>
            </a:r>
            <a:endParaRPr sz="1333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166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7" y="1771767"/>
            <a:ext cx="8238067" cy="165844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</a:rPr>
              <a:t>How</a:t>
            </a:r>
            <a:r>
              <a:rPr sz="5333" spc="-4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does</a:t>
            </a:r>
            <a:r>
              <a:rPr sz="5333" spc="-33" dirty="0">
                <a:solidFill>
                  <a:srgbClr val="C00000"/>
                </a:solidFill>
              </a:rPr>
              <a:t> </a:t>
            </a:r>
            <a:r>
              <a:rPr sz="5333" spc="-40" dirty="0">
                <a:solidFill>
                  <a:srgbClr val="C00000"/>
                </a:solidFill>
              </a:rPr>
              <a:t>Intra-</a:t>
            </a:r>
            <a:r>
              <a:rPr sz="5333" spc="-33" dirty="0">
                <a:solidFill>
                  <a:srgbClr val="C00000"/>
                </a:solidFill>
              </a:rPr>
              <a:t>Pod </a:t>
            </a:r>
            <a:r>
              <a:rPr sz="5333" spc="-13" dirty="0">
                <a:solidFill>
                  <a:srgbClr val="C00000"/>
                </a:solidFill>
              </a:rPr>
              <a:t>communication</a:t>
            </a:r>
            <a:r>
              <a:rPr sz="5333" spc="-20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take</a:t>
            </a:r>
            <a:r>
              <a:rPr sz="5333" spc="-200" dirty="0">
                <a:solidFill>
                  <a:srgbClr val="C00000"/>
                </a:solidFill>
              </a:rPr>
              <a:t> </a:t>
            </a:r>
            <a:r>
              <a:rPr sz="5333" spc="-13" dirty="0">
                <a:solidFill>
                  <a:srgbClr val="C00000"/>
                </a:solidFill>
              </a:rPr>
              <a:t>place?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8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8" y="292878"/>
            <a:ext cx="8156229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Intra-Pod</a:t>
            </a:r>
            <a:r>
              <a:rPr spc="10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Communication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51612" y="1386200"/>
            <a:ext cx="6245013" cy="3234267"/>
            <a:chOff x="2813709" y="1039650"/>
            <a:chExt cx="4683760" cy="2425700"/>
          </a:xfrm>
        </p:grpSpPr>
        <p:sp>
          <p:nvSpPr>
            <p:cNvPr id="4" name="object 4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4268463" y="2413001"/>
                  </a:move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0" y="402174"/>
                  </a:move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1268401" y="477253"/>
                  </a:move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0" y="79543"/>
                  </a:move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23575" y="986061"/>
            <a:ext cx="653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 MT"/>
                <a:cs typeface="Arial MT"/>
              </a:rPr>
              <a:t>Pod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67" dirty="0">
                <a:latin typeface="Arial MT"/>
                <a:cs typeface="Arial MT"/>
              </a:rPr>
              <a:t>1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3373" y="2329970"/>
            <a:ext cx="1239520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dirty="0">
                <a:latin typeface="Arial MT"/>
                <a:cs typeface="Arial MT"/>
              </a:rPr>
              <a:t>Main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3" dirty="0">
                <a:latin typeface="Arial MT"/>
                <a:cs typeface="Arial MT"/>
              </a:rPr>
              <a:t>Container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49347" y="2126086"/>
            <a:ext cx="1669627" cy="662940"/>
            <a:chOff x="5512010" y="1594564"/>
            <a:chExt cx="1252220" cy="497205"/>
          </a:xfrm>
        </p:grpSpPr>
        <p:sp>
          <p:nvSpPr>
            <p:cNvPr id="11" name="object 11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3" y="484185"/>
                  </a:move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75674" y="2190982"/>
            <a:ext cx="101684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67732" marR="6773" indent="-51645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Supporting Container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050513" y="2695326"/>
            <a:ext cx="816187" cy="301413"/>
            <a:chOff x="3787885" y="2021494"/>
            <a:chExt cx="612140" cy="226060"/>
          </a:xfrm>
        </p:grpSpPr>
        <p:sp>
          <p:nvSpPr>
            <p:cNvPr id="15" name="object 15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67447" y="2699945"/>
            <a:ext cx="7823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36310">
              <a:spcBef>
                <a:spcPts val="133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:8080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79168" y="2711138"/>
            <a:ext cx="816187" cy="301413"/>
            <a:chOff x="5909376" y="2033353"/>
            <a:chExt cx="612140" cy="226060"/>
          </a:xfrm>
        </p:grpSpPr>
        <p:sp>
          <p:nvSpPr>
            <p:cNvPr id="19" name="object 19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015685" y="2715758"/>
            <a:ext cx="542712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:3000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51862" y="2981169"/>
            <a:ext cx="2923540" cy="2197947"/>
            <a:chOff x="4088896" y="2235877"/>
            <a:chExt cx="2192655" cy="1648460"/>
          </a:xfrm>
        </p:grpSpPr>
        <p:sp>
          <p:nvSpPr>
            <p:cNvPr id="23" name="object 23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5"/>
                  </a:move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93658" y="2240639"/>
              <a:ext cx="1061720" cy="1595755"/>
            </a:xfrm>
            <a:custGeom>
              <a:avLst/>
              <a:gdLst/>
              <a:ahLst/>
              <a:cxnLst/>
              <a:rect l="l" t="t" r="r" b="b"/>
              <a:pathLst>
                <a:path w="1061720" h="1595754">
                  <a:moveTo>
                    <a:pt x="0" y="0"/>
                  </a:moveTo>
                  <a:lnTo>
                    <a:pt x="0" y="826366"/>
                  </a:lnTo>
                  <a:lnTo>
                    <a:pt x="1061699" y="826366"/>
                  </a:lnTo>
                  <a:lnTo>
                    <a:pt x="1061699" y="159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5398642" y="2252499"/>
              <a:ext cx="878205" cy="1584325"/>
            </a:xfrm>
            <a:custGeom>
              <a:avLst/>
              <a:gdLst/>
              <a:ahLst/>
              <a:cxnLst/>
              <a:rect l="l" t="t" r="r" b="b"/>
              <a:pathLst>
                <a:path w="878204" h="1584325">
                  <a:moveTo>
                    <a:pt x="877799" y="0"/>
                  </a:moveTo>
                  <a:lnTo>
                    <a:pt x="877799" y="820499"/>
                  </a:lnTo>
                  <a:lnTo>
                    <a:pt x="0" y="820499"/>
                  </a:lnTo>
                  <a:lnTo>
                    <a:pt x="0" y="15838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537518" y="4466289"/>
            <a:ext cx="1073573" cy="10200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5671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10.0.30.50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spcBef>
                <a:spcPts val="300"/>
              </a:spcBef>
            </a:pPr>
            <a:endParaRPr sz="1600">
              <a:latin typeface="Arial MT"/>
              <a:cs typeface="Arial MT"/>
            </a:endParaRPr>
          </a:p>
          <a:p>
            <a:pPr marL="16933"/>
            <a:r>
              <a:rPr sz="1467" dirty="0">
                <a:latin typeface="Arial MT"/>
                <a:cs typeface="Arial MT"/>
              </a:rPr>
              <a:t>:8080</a:t>
            </a:r>
            <a:r>
              <a:rPr sz="1467" spc="367" dirty="0">
                <a:latin typeface="Arial MT"/>
                <a:cs typeface="Arial MT"/>
              </a:rPr>
              <a:t> </a:t>
            </a:r>
            <a:r>
              <a:rPr sz="1467" spc="-13" dirty="0">
                <a:latin typeface="Arial MT"/>
                <a:cs typeface="Arial MT"/>
              </a:rPr>
              <a:t>:3000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689753" y="2874609"/>
            <a:ext cx="2310552" cy="832273"/>
            <a:chOff x="4267315" y="2155956"/>
            <a:chExt cx="1732914" cy="624205"/>
          </a:xfrm>
        </p:grpSpPr>
        <p:sp>
          <p:nvSpPr>
            <p:cNvPr id="33" name="object 33"/>
            <p:cNvSpPr/>
            <p:nvPr/>
          </p:nvSpPr>
          <p:spPr>
            <a:xfrm>
              <a:off x="4272077" y="2160719"/>
              <a:ext cx="1723389" cy="513715"/>
            </a:xfrm>
            <a:custGeom>
              <a:avLst/>
              <a:gdLst/>
              <a:ahLst/>
              <a:cxnLst/>
              <a:rect l="l" t="t" r="r" b="b"/>
              <a:pathLst>
                <a:path w="1723389" h="513714">
                  <a:moveTo>
                    <a:pt x="0" y="0"/>
                  </a:moveTo>
                  <a:lnTo>
                    <a:pt x="287399" y="0"/>
                  </a:lnTo>
                  <a:lnTo>
                    <a:pt x="287399" y="513299"/>
                  </a:lnTo>
                  <a:lnTo>
                    <a:pt x="517649" y="513299"/>
                  </a:lnTo>
                </a:path>
                <a:path w="1723389" h="513714">
                  <a:moveTo>
                    <a:pt x="1723259" y="23924"/>
                  </a:moveTo>
                  <a:lnTo>
                    <a:pt x="1442759" y="23924"/>
                  </a:lnTo>
                  <a:lnTo>
                    <a:pt x="1442759" y="494324"/>
                  </a:lnTo>
                  <a:lnTo>
                    <a:pt x="1219409" y="4943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803107" y="227764"/>
                  </a:moveTo>
                  <a:lnTo>
                    <a:pt x="0" y="227764"/>
                  </a:lnTo>
                  <a:lnTo>
                    <a:pt x="0" y="0"/>
                  </a:lnTo>
                  <a:lnTo>
                    <a:pt x="803107" y="0"/>
                  </a:lnTo>
                  <a:lnTo>
                    <a:pt x="803107" y="227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0" y="0"/>
                  </a:moveTo>
                  <a:lnTo>
                    <a:pt x="803107" y="0"/>
                  </a:lnTo>
                  <a:lnTo>
                    <a:pt x="803107" y="227764"/>
                  </a:lnTo>
                  <a:lnTo>
                    <a:pt x="0" y="22776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91091" y="3434167"/>
            <a:ext cx="68580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13" dirty="0">
                <a:solidFill>
                  <a:srgbClr val="FFFFFF"/>
                </a:solidFill>
                <a:latin typeface="Arial MT"/>
                <a:cs typeface="Arial MT"/>
              </a:rPr>
              <a:t>Localhost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242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750" y="190028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A</a:t>
            </a:r>
            <a:r>
              <a:rPr spc="-220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Look</a:t>
            </a:r>
            <a:r>
              <a:rPr spc="20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at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Pod</a:t>
            </a:r>
            <a:r>
              <a:rPr spc="20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Manifest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97" y="1601246"/>
            <a:ext cx="4534729" cy="3661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3583" y="2076429"/>
            <a:ext cx="5855909" cy="314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2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24" y="553229"/>
            <a:ext cx="9988409" cy="607003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Get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shell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to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running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Container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130" y="1701449"/>
            <a:ext cx="11582399" cy="1106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8929" y="3177301"/>
            <a:ext cx="4933527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spc="-13" dirty="0">
                <a:solidFill>
                  <a:srgbClr val="0070C0"/>
                </a:solidFill>
                <a:latin typeface="Arial MT"/>
                <a:cs typeface="Arial MT"/>
              </a:rPr>
              <a:t>Verifying</a:t>
            </a:r>
            <a:r>
              <a:rPr sz="2800" spc="-6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70C0"/>
                </a:solidFill>
                <a:latin typeface="Arial MT"/>
                <a:cs typeface="Arial MT"/>
              </a:rPr>
              <a:t>the</a:t>
            </a:r>
            <a:r>
              <a:rPr sz="2800" spc="-6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70C0"/>
                </a:solidFill>
                <a:latin typeface="Arial MT"/>
                <a:cs typeface="Arial MT"/>
              </a:rPr>
              <a:t>Operating</a:t>
            </a:r>
            <a:r>
              <a:rPr sz="2800" spc="-53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800" spc="-13" dirty="0">
                <a:solidFill>
                  <a:srgbClr val="0070C0"/>
                </a:solidFill>
                <a:latin typeface="Arial MT"/>
                <a:cs typeface="Arial MT"/>
              </a:rPr>
              <a:t>System</a:t>
            </a:r>
            <a:endParaRPr sz="28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134" y="3907601"/>
            <a:ext cx="11127617" cy="220106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55</a:t>
            </a:fld>
            <a:endParaRPr spc="-33" dirty="0"/>
          </a:p>
        </p:txBody>
      </p:sp>
    </p:spTree>
    <p:extLst>
      <p:ext uri="{BB962C8B-B14F-4D97-AF65-F5344CB8AC3E}">
        <p14:creationId xmlns:p14="http://schemas.microsoft.com/office/powerpoint/2010/main" val="102846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605" y="232117"/>
            <a:ext cx="9340245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Get</a:t>
            </a:r>
            <a:r>
              <a:rPr spc="-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shell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to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running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Container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605" y="2525572"/>
            <a:ext cx="5092700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27" dirty="0">
                <a:solidFill>
                  <a:srgbClr val="0070C0"/>
                </a:solidFill>
                <a:latin typeface="Arial MT"/>
                <a:cs typeface="Arial MT"/>
              </a:rPr>
              <a:t>Verifying</a:t>
            </a:r>
            <a:r>
              <a:rPr sz="3733" spc="-107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733" dirty="0">
                <a:solidFill>
                  <a:srgbClr val="0070C0"/>
                </a:solidFill>
                <a:latin typeface="Arial MT"/>
                <a:cs typeface="Arial MT"/>
              </a:rPr>
              <a:t>the</a:t>
            </a:r>
            <a:r>
              <a:rPr sz="3733" spc="-107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733" dirty="0">
                <a:solidFill>
                  <a:srgbClr val="0070C0"/>
                </a:solidFill>
                <a:latin typeface="Arial MT"/>
                <a:cs typeface="Arial MT"/>
              </a:rPr>
              <a:t>index</a:t>
            </a:r>
            <a:r>
              <a:rPr sz="3733" spc="-107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733" spc="-27" dirty="0">
                <a:solidFill>
                  <a:srgbClr val="0070C0"/>
                </a:solidFill>
                <a:latin typeface="Arial MT"/>
                <a:cs typeface="Arial MT"/>
              </a:rPr>
              <a:t>page</a:t>
            </a:r>
            <a:endParaRPr sz="3733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858" y="1752039"/>
            <a:ext cx="10015220" cy="359073"/>
          </a:xfrm>
          <a:prstGeom prst="rect">
            <a:avLst/>
          </a:prstGeom>
          <a:solidFill>
            <a:srgbClr val="12212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7"/>
              </a:lnSpc>
            </a:pPr>
            <a:r>
              <a:rPr sz="2400" b="1" spc="-27" dirty="0">
                <a:solidFill>
                  <a:srgbClr val="FFFFFF"/>
                </a:solidFill>
                <a:latin typeface="Calibri"/>
                <a:cs typeface="Calibri"/>
              </a:rPr>
              <a:t>root@nginx-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pod:/#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echo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2400" b="1" spc="-13" dirty="0">
                <a:solidFill>
                  <a:srgbClr val="FFFFFF"/>
                </a:solidFill>
                <a:latin typeface="Calibri"/>
                <a:cs typeface="Calibri"/>
              </a:rPr>
              <a:t> /usr/share/nginx/html/index.html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858" y="3672545"/>
            <a:ext cx="10575167" cy="17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3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8" y="1775703"/>
            <a:ext cx="8198273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C00000"/>
                </a:solidFill>
              </a:rPr>
              <a:t>Stages</a:t>
            </a:r>
            <a:r>
              <a:rPr sz="5333" spc="-6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of</a:t>
            </a:r>
            <a:r>
              <a:rPr sz="5333" spc="-60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Life</a:t>
            </a:r>
            <a:r>
              <a:rPr sz="5333" spc="-53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Cycle</a:t>
            </a:r>
            <a:r>
              <a:rPr sz="5333" spc="-53" dirty="0">
                <a:solidFill>
                  <a:srgbClr val="C00000"/>
                </a:solidFill>
              </a:rPr>
              <a:t> </a:t>
            </a:r>
            <a:r>
              <a:rPr sz="5333" dirty="0">
                <a:solidFill>
                  <a:srgbClr val="C00000"/>
                </a:solidFill>
              </a:rPr>
              <a:t>of</a:t>
            </a:r>
            <a:r>
              <a:rPr sz="5333" spc="-60" dirty="0">
                <a:solidFill>
                  <a:srgbClr val="C00000"/>
                </a:solidFill>
              </a:rPr>
              <a:t> </a:t>
            </a:r>
            <a:r>
              <a:rPr sz="5333" spc="-33" dirty="0">
                <a:solidFill>
                  <a:srgbClr val="C00000"/>
                </a:solidFill>
              </a:rPr>
              <a:t>Pod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0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535" y="212244"/>
            <a:ext cx="5861466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Lifecycle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of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spc="-33" dirty="0">
                <a:solidFill>
                  <a:srgbClr val="0070C0"/>
                </a:solidFill>
              </a:rPr>
              <a:t>Pod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535" y="2413635"/>
            <a:ext cx="550325" cy="67732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640840" y="2249805"/>
            <a:ext cx="1495213" cy="739140"/>
            <a:chOff x="1230630" y="1687353"/>
            <a:chExt cx="1121410" cy="554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0630" y="1821180"/>
              <a:ext cx="420051" cy="4200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682" y="1687353"/>
              <a:ext cx="267651" cy="267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46574" y="2699809"/>
            <a:ext cx="596053" cy="297180"/>
            <a:chOff x="709930" y="2024856"/>
            <a:chExt cx="447040" cy="222885"/>
          </a:xfrm>
        </p:grpSpPr>
        <p:sp>
          <p:nvSpPr>
            <p:cNvPr id="10" name="object 10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167294" y="2241338"/>
            <a:ext cx="1937173" cy="1109980"/>
            <a:chOff x="3125470" y="1681003"/>
            <a:chExt cx="1452880" cy="832485"/>
          </a:xfrm>
        </p:grpSpPr>
        <p:sp>
          <p:nvSpPr>
            <p:cNvPr id="13" name="object 13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808894" y="2241338"/>
            <a:ext cx="1937173" cy="1109980"/>
            <a:chOff x="5106670" y="1681003"/>
            <a:chExt cx="1452880" cy="832485"/>
          </a:xfrm>
        </p:grpSpPr>
        <p:sp>
          <p:nvSpPr>
            <p:cNvPr id="16" name="object 16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414934" y="2241338"/>
            <a:ext cx="1937173" cy="1109980"/>
            <a:chOff x="7061200" y="1681003"/>
            <a:chExt cx="1452880" cy="832485"/>
          </a:xfrm>
        </p:grpSpPr>
        <p:sp>
          <p:nvSpPr>
            <p:cNvPr id="19" name="object 19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32629" y="3169919"/>
            <a:ext cx="1236980" cy="301002"/>
          </a:xfrm>
          <a:prstGeom prst="rect">
            <a:avLst/>
          </a:prstGeom>
          <a:solidFill>
            <a:srgbClr val="5C95B8"/>
          </a:solidFill>
          <a:ln w="12699">
            <a:solidFill>
              <a:srgbClr val="127BB4"/>
            </a:solidFill>
          </a:ln>
        </p:spPr>
        <p:txBody>
          <a:bodyPr vert="horz" wrap="square" lIns="0" tIns="13547" rIns="0" bIns="0" rtlCol="0">
            <a:spAutoFit/>
          </a:bodyPr>
          <a:lstStyle/>
          <a:p>
            <a:pPr marL="182875">
              <a:spcBef>
                <a:spcPts val="107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Pending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25983" y="3169919"/>
            <a:ext cx="1236980" cy="301002"/>
          </a:xfrm>
          <a:prstGeom prst="rect">
            <a:avLst/>
          </a:prstGeom>
          <a:solidFill>
            <a:srgbClr val="0097A7"/>
          </a:solidFill>
          <a:ln w="12699">
            <a:solidFill>
              <a:srgbClr val="127BB4"/>
            </a:solidFill>
          </a:ln>
        </p:spPr>
        <p:txBody>
          <a:bodyPr vert="horz" wrap="square" lIns="0" tIns="13547" rIns="0" bIns="0" rtlCol="0">
            <a:spAutoFit/>
          </a:bodyPr>
          <a:lstStyle/>
          <a:p>
            <a:pPr marL="176102">
              <a:spcBef>
                <a:spcPts val="107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Running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08673" y="3154681"/>
            <a:ext cx="1503680" cy="316391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8787" rIns="0" bIns="0" rtlCol="0">
            <a:spAutoFit/>
          </a:bodyPr>
          <a:lstStyle/>
          <a:p>
            <a:pPr marL="132077">
              <a:spcBef>
                <a:spcPts val="227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Succeeding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92745" y="4578928"/>
            <a:ext cx="3953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26709" y="1874860"/>
            <a:ext cx="3953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66073" y="1874857"/>
            <a:ext cx="3953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17489" y="3661410"/>
            <a:ext cx="574040" cy="1154853"/>
            <a:chOff x="3988117" y="2746057"/>
            <a:chExt cx="430530" cy="866140"/>
          </a:xfrm>
        </p:grpSpPr>
        <p:sp>
          <p:nvSpPr>
            <p:cNvPr id="28" name="object 28"/>
            <p:cNvSpPr/>
            <p:nvPr/>
          </p:nvSpPr>
          <p:spPr>
            <a:xfrm>
              <a:off x="3992879" y="2750820"/>
              <a:ext cx="401955" cy="817880"/>
            </a:xfrm>
            <a:custGeom>
              <a:avLst/>
              <a:gdLst/>
              <a:ahLst/>
              <a:cxnLst/>
              <a:rect l="l" t="t" r="r" b="b"/>
              <a:pathLst>
                <a:path w="401954" h="817879">
                  <a:moveTo>
                    <a:pt x="0" y="0"/>
                  </a:moveTo>
                  <a:lnTo>
                    <a:pt x="401522" y="81738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79" y="45733"/>
                  </a:moveTo>
                  <a:lnTo>
                    <a:pt x="0" y="13873"/>
                  </a:lnTo>
                  <a:lnTo>
                    <a:pt x="28242" y="0"/>
                  </a:lnTo>
                  <a:lnTo>
                    <a:pt x="33179" y="4573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73"/>
                  </a:moveTo>
                  <a:lnTo>
                    <a:pt x="33179" y="45733"/>
                  </a:lnTo>
                  <a:lnTo>
                    <a:pt x="28242" y="0"/>
                  </a:lnTo>
                  <a:lnTo>
                    <a:pt x="0" y="1387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076931" y="3651250"/>
            <a:ext cx="996527" cy="1187873"/>
            <a:chOff x="5307698" y="2738437"/>
            <a:chExt cx="747395" cy="890905"/>
          </a:xfrm>
        </p:grpSpPr>
        <p:sp>
          <p:nvSpPr>
            <p:cNvPr id="32" name="object 32"/>
            <p:cNvSpPr/>
            <p:nvPr/>
          </p:nvSpPr>
          <p:spPr>
            <a:xfrm>
              <a:off x="5340216" y="2743200"/>
              <a:ext cx="710565" cy="847725"/>
            </a:xfrm>
            <a:custGeom>
              <a:avLst/>
              <a:gdLst/>
              <a:ahLst/>
              <a:cxnLst/>
              <a:rect l="l" t="t" r="r" b="b"/>
              <a:pathLst>
                <a:path w="710564" h="847725">
                  <a:moveTo>
                    <a:pt x="710063" y="0"/>
                  </a:moveTo>
                  <a:lnTo>
                    <a:pt x="0" y="84772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0" y="43239"/>
                  </a:moveTo>
                  <a:lnTo>
                    <a:pt x="15694" y="0"/>
                  </a:lnTo>
                  <a:lnTo>
                    <a:pt x="39816" y="20204"/>
                  </a:lnTo>
                  <a:lnTo>
                    <a:pt x="0" y="432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694" y="0"/>
                  </a:moveTo>
                  <a:lnTo>
                    <a:pt x="0" y="43239"/>
                  </a:lnTo>
                  <a:lnTo>
                    <a:pt x="39816" y="20204"/>
                  </a:lnTo>
                  <a:lnTo>
                    <a:pt x="1569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641606" y="4990254"/>
            <a:ext cx="1937173" cy="1109980"/>
            <a:chOff x="4231204" y="3742690"/>
            <a:chExt cx="1452880" cy="832485"/>
          </a:xfrm>
        </p:grpSpPr>
        <p:sp>
          <p:nvSpPr>
            <p:cNvPr id="36" name="object 36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26457" y="5873750"/>
            <a:ext cx="1503680" cy="316391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8787" rIns="0" bIns="0" rtlCol="0">
            <a:spAutoFit/>
          </a:bodyPr>
          <a:lstStyle/>
          <a:p>
            <a:pPr marL="428403">
              <a:spcBef>
                <a:spcPts val="227"/>
              </a:spcBef>
            </a:pPr>
            <a:r>
              <a:rPr sz="1867" spc="-13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17810" y="1868113"/>
            <a:ext cx="3953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9142" y="3172643"/>
            <a:ext cx="9338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Arial MT"/>
                <a:cs typeface="Arial MT"/>
              </a:rPr>
              <a:t>API</a:t>
            </a:r>
            <a:r>
              <a:rPr sz="1467" spc="-47" dirty="0">
                <a:latin typeface="Arial MT"/>
                <a:cs typeface="Arial MT"/>
              </a:rPr>
              <a:t> </a:t>
            </a:r>
            <a:r>
              <a:rPr sz="1467" spc="-13" dirty="0">
                <a:latin typeface="Arial MT"/>
                <a:cs typeface="Arial MT"/>
              </a:rPr>
              <a:t>Server</a:t>
            </a:r>
            <a:endParaRPr sz="1467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7755" y="3221497"/>
            <a:ext cx="80094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Manifest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2408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27921" y="3716169"/>
            <a:ext cx="3304540" cy="83777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333" spc="-13" dirty="0">
                <a:solidFill>
                  <a:srgbClr val="C00000"/>
                </a:solidFill>
                <a:latin typeface="Arial MT"/>
                <a:cs typeface="Arial MT"/>
              </a:rPr>
              <a:t>ReplicaSet</a:t>
            </a:r>
            <a:endParaRPr sz="5333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9405" y="2299119"/>
            <a:ext cx="8989907" cy="610722"/>
          </a:xfrm>
          <a:prstGeom prst="rect">
            <a:avLst/>
          </a:prstGeom>
        </p:spPr>
        <p:txBody>
          <a:bodyPr vert="horz" wrap="square" lIns="0" tIns="121073" rIns="0" bIns="0" rtlCol="0">
            <a:spAutoFit/>
          </a:bodyPr>
          <a:lstStyle/>
          <a:p>
            <a:pPr marL="16933" marR="6773">
              <a:lnSpc>
                <a:spcPct val="69900"/>
              </a:lnSpc>
              <a:spcBef>
                <a:spcPts val="953"/>
              </a:spcBef>
            </a:pP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How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can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you</a:t>
            </a:r>
            <a:r>
              <a:rPr sz="22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ensure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that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there</a:t>
            </a:r>
            <a:r>
              <a:rPr sz="22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are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3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Pods</a:t>
            </a:r>
            <a:r>
              <a:rPr sz="22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instances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which</a:t>
            </a:r>
            <a:r>
              <a:rPr sz="2267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are</a:t>
            </a:r>
            <a:r>
              <a:rPr sz="2267" spc="-67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spc="-13" dirty="0">
                <a:solidFill>
                  <a:srgbClr val="C00000"/>
                </a:solidFill>
                <a:latin typeface="Arial MT"/>
                <a:cs typeface="Arial MT"/>
              </a:rPr>
              <a:t>always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available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and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running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at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point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dirty="0">
                <a:solidFill>
                  <a:srgbClr val="C00000"/>
                </a:solidFill>
                <a:latin typeface="Arial MT"/>
                <a:cs typeface="Arial MT"/>
              </a:rPr>
              <a:t>in</a:t>
            </a:r>
            <a:r>
              <a:rPr sz="2267" spc="-8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267" spc="-13" dirty="0">
                <a:solidFill>
                  <a:srgbClr val="C00000"/>
                </a:solidFill>
                <a:latin typeface="Arial MT"/>
                <a:cs typeface="Arial MT"/>
              </a:rPr>
              <a:t>time?</a:t>
            </a:r>
            <a:endParaRPr sz="2267" dirty="0">
              <a:solidFill>
                <a:srgbClr val="C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4351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529" y="606438"/>
            <a:ext cx="14020800" cy="1282743"/>
          </a:xfrm>
          <a:prstGeom prst="rect">
            <a:avLst/>
          </a:prstGeom>
        </p:spPr>
        <p:txBody>
          <a:bodyPr vert="horz" wrap="square" lIns="0" tIns="19591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640"/>
              </a:spcBef>
            </a:pPr>
            <a:r>
              <a:rPr dirty="0">
                <a:solidFill>
                  <a:srgbClr val="0070C0"/>
                </a:solidFill>
              </a:rPr>
              <a:t>What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is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ReplicaSet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all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about?</a:t>
            </a:r>
          </a:p>
          <a:p>
            <a:pPr marL="8466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solidFill>
                  <a:srgbClr val="000000"/>
                </a:solidFill>
              </a:rPr>
              <a:t>Maintain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stable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set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replica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Pods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running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at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any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given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27" dirty="0">
                <a:solidFill>
                  <a:srgbClr val="000000"/>
                </a:solidFill>
              </a:rPr>
              <a:t>time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600529" y="1889181"/>
            <a:ext cx="10445327" cy="2666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077" indent="-329345">
              <a:spcBef>
                <a:spcPts val="133"/>
              </a:spcBef>
              <a:buChar char="-"/>
              <a:tabLst>
                <a:tab pos="397077" algn="l"/>
              </a:tabLst>
            </a:pPr>
            <a:r>
              <a:rPr sz="2400" dirty="0">
                <a:latin typeface="Arial MT"/>
                <a:cs typeface="Arial MT"/>
              </a:rPr>
              <a:t>Ensures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running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13" dirty="0">
                <a:latin typeface="Arial MT"/>
                <a:cs typeface="Arial MT"/>
              </a:rPr>
              <a:t> </a:t>
            </a:r>
            <a:r>
              <a:rPr sz="2400" spc="-27" dirty="0">
                <a:latin typeface="Arial MT"/>
                <a:cs typeface="Arial MT"/>
              </a:rPr>
              <a:t>time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607045" lvl="1" indent="-336964">
              <a:buAutoNum type="alphaLcPeriod"/>
              <a:tabLst>
                <a:tab pos="60704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Pods,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killed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versa</a:t>
            </a:r>
            <a:endParaRPr sz="2400">
              <a:latin typeface="Arial MT"/>
              <a:cs typeface="Arial MT"/>
            </a:endParaRPr>
          </a:p>
          <a:p>
            <a:pPr marL="607045" lvl="1" indent="-336964">
              <a:spcBef>
                <a:spcPts val="20"/>
              </a:spcBef>
              <a:buAutoNum type="alphaLcPeriod"/>
              <a:tabLst>
                <a:tab pos="607045" algn="l"/>
              </a:tabLst>
            </a:pP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launched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failed,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terminated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Arial MT"/>
              <a:buAutoNum type="alphaLcPeriod"/>
            </a:pPr>
            <a:endParaRPr sz="2400">
              <a:latin typeface="Arial MT"/>
              <a:cs typeface="Arial MT"/>
            </a:endParaRPr>
          </a:p>
          <a:p>
            <a:pPr lvl="1">
              <a:spcBef>
                <a:spcPts val="300"/>
              </a:spcBef>
              <a:buFont typeface="Arial MT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201502" indent="-184569">
              <a:buChar char="-"/>
              <a:tabLst>
                <a:tab pos="201502" algn="l"/>
              </a:tabLst>
            </a:pPr>
            <a:r>
              <a:rPr sz="2400" dirty="0">
                <a:latin typeface="Arial MT"/>
                <a:cs typeface="Arial MT"/>
              </a:rPr>
              <a:t>ReplicaSet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“labels”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1059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755" y="361916"/>
            <a:ext cx="8840545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Replication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Controller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Vs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ReplicaSets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314" y="1753713"/>
            <a:ext cx="816779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46278" indent="-329345">
              <a:spcBef>
                <a:spcPts val="133"/>
              </a:spcBef>
              <a:buChar char="-"/>
              <a:tabLst>
                <a:tab pos="346278" algn="l"/>
              </a:tabLst>
            </a:pPr>
            <a:r>
              <a:rPr sz="2400" dirty="0">
                <a:latin typeface="Arial MT"/>
                <a:cs typeface="Arial MT"/>
              </a:rPr>
              <a:t>ReplicaSet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Replication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Controller</a:t>
            </a:r>
            <a:endParaRPr sz="2400">
              <a:latin typeface="Arial MT"/>
              <a:cs typeface="Arial MT"/>
            </a:endParaRPr>
          </a:p>
          <a:p>
            <a:pPr marL="346278" indent="-329345">
              <a:spcBef>
                <a:spcPts val="20"/>
              </a:spcBef>
              <a:buChar char="-"/>
              <a:tabLst>
                <a:tab pos="346278" algn="l"/>
              </a:tabLst>
            </a:pP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purpose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8643" y="3219400"/>
            <a:ext cx="15053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ReplicaSet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3122" y="3219400"/>
            <a:ext cx="29472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Replication</a:t>
            </a:r>
            <a:r>
              <a:rPr sz="2400" spc="-7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Controller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70681" y="3757689"/>
            <a:ext cx="55033" cy="952500"/>
            <a:chOff x="2678010" y="2818266"/>
            <a:chExt cx="41275" cy="714375"/>
          </a:xfrm>
        </p:grpSpPr>
        <p:sp>
          <p:nvSpPr>
            <p:cNvPr id="7" name="object 7"/>
            <p:cNvSpPr/>
            <p:nvPr/>
          </p:nvSpPr>
          <p:spPr>
            <a:xfrm>
              <a:off x="2685143" y="2823029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69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8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8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421804" y="3683818"/>
            <a:ext cx="55033" cy="952500"/>
            <a:chOff x="5566352" y="2762863"/>
            <a:chExt cx="41275" cy="714375"/>
          </a:xfrm>
        </p:grpSpPr>
        <p:sp>
          <p:nvSpPr>
            <p:cNvPr id="11" name="object 11"/>
            <p:cNvSpPr/>
            <p:nvPr/>
          </p:nvSpPr>
          <p:spPr>
            <a:xfrm>
              <a:off x="5573485" y="2767626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70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9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9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03501" y="4937181"/>
            <a:ext cx="27779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Set-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Selectors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57862" y="4916007"/>
            <a:ext cx="34052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Equality-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Selectors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535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48234"/>
            <a:ext cx="10515600" cy="1359346"/>
          </a:xfrm>
          <a:prstGeom prst="rect">
            <a:avLst/>
          </a:prstGeom>
        </p:spPr>
        <p:txBody>
          <a:bodyPr vert="horz" wrap="square" lIns="0" tIns="195580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540"/>
              </a:spcBef>
            </a:pPr>
            <a:r>
              <a:rPr dirty="0">
                <a:solidFill>
                  <a:srgbClr val="0070C0"/>
                </a:solidFill>
              </a:rPr>
              <a:t>Labels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&amp;</a:t>
            </a:r>
            <a:r>
              <a:rPr spc="13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Selectors</a:t>
            </a:r>
          </a:p>
          <a:p>
            <a:pPr marL="16933">
              <a:lnSpc>
                <a:spcPct val="100000"/>
              </a:lnSpc>
              <a:spcBef>
                <a:spcPts val="867"/>
              </a:spcBef>
            </a:pPr>
            <a:r>
              <a:rPr sz="2400" dirty="0">
                <a:solidFill>
                  <a:srgbClr val="000000"/>
                </a:solidFill>
              </a:rPr>
              <a:t>When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Pods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are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scaled,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how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are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these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Pods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Managed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at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such</a:t>
            </a:r>
            <a:r>
              <a:rPr sz="2400" spc="-27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large</a:t>
            </a:r>
            <a:r>
              <a:rPr sz="2400" spc="-20" dirty="0">
                <a:solidFill>
                  <a:srgbClr val="000000"/>
                </a:solidFill>
              </a:rPr>
              <a:t> </a:t>
            </a:r>
            <a:r>
              <a:rPr sz="2400" spc="-13" dirty="0">
                <a:solidFill>
                  <a:srgbClr val="000000"/>
                </a:solidFill>
              </a:rPr>
              <a:t>scale?</a:t>
            </a:r>
            <a:endParaRPr sz="2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3728659" y="2467908"/>
            <a:ext cx="2490893" cy="3479800"/>
            <a:chOff x="2796494" y="1850931"/>
            <a:chExt cx="1868170" cy="2609850"/>
          </a:xfrm>
        </p:grpSpPr>
        <p:sp>
          <p:nvSpPr>
            <p:cNvPr id="4" name="object 4"/>
            <p:cNvSpPr/>
            <p:nvPr/>
          </p:nvSpPr>
          <p:spPr>
            <a:xfrm>
              <a:off x="3720352" y="1855693"/>
              <a:ext cx="518159" cy="2600325"/>
            </a:xfrm>
            <a:custGeom>
              <a:avLst/>
              <a:gdLst/>
              <a:ahLst/>
              <a:cxnLst/>
              <a:rect l="l" t="t" r="r" b="b"/>
              <a:pathLst>
                <a:path w="518160" h="2600325">
                  <a:moveTo>
                    <a:pt x="0" y="0"/>
                  </a:moveTo>
                  <a:lnTo>
                    <a:pt x="68828" y="1541"/>
                  </a:lnTo>
                  <a:lnTo>
                    <a:pt x="130676" y="5891"/>
                  </a:lnTo>
                  <a:lnTo>
                    <a:pt x="183076" y="12638"/>
                  </a:lnTo>
                  <a:lnTo>
                    <a:pt x="223560" y="21371"/>
                  </a:lnTo>
                  <a:lnTo>
                    <a:pt x="249660" y="31678"/>
                  </a:lnTo>
                  <a:lnTo>
                    <a:pt x="258908" y="43149"/>
                  </a:lnTo>
                  <a:lnTo>
                    <a:pt x="258908" y="1256732"/>
                  </a:lnTo>
                  <a:lnTo>
                    <a:pt x="268157" y="1268203"/>
                  </a:lnTo>
                  <a:lnTo>
                    <a:pt x="334741" y="1287244"/>
                  </a:lnTo>
                  <a:lnTo>
                    <a:pt x="387141" y="1293991"/>
                  </a:lnTo>
                  <a:lnTo>
                    <a:pt x="448989" y="1298341"/>
                  </a:lnTo>
                  <a:lnTo>
                    <a:pt x="517817" y="1299882"/>
                  </a:lnTo>
                  <a:lnTo>
                    <a:pt x="448989" y="1301423"/>
                  </a:lnTo>
                  <a:lnTo>
                    <a:pt x="387141" y="1305773"/>
                  </a:lnTo>
                  <a:lnTo>
                    <a:pt x="334741" y="1312520"/>
                  </a:lnTo>
                  <a:lnTo>
                    <a:pt x="294257" y="1321253"/>
                  </a:lnTo>
                  <a:lnTo>
                    <a:pt x="258908" y="1343032"/>
                  </a:lnTo>
                  <a:lnTo>
                    <a:pt x="258908" y="2556615"/>
                  </a:lnTo>
                  <a:lnTo>
                    <a:pt x="249660" y="2568086"/>
                  </a:lnTo>
                  <a:lnTo>
                    <a:pt x="223560" y="2578393"/>
                  </a:lnTo>
                  <a:lnTo>
                    <a:pt x="183076" y="2587126"/>
                  </a:lnTo>
                  <a:lnTo>
                    <a:pt x="130676" y="2593873"/>
                  </a:lnTo>
                  <a:lnTo>
                    <a:pt x="68828" y="2598223"/>
                  </a:lnTo>
                  <a:lnTo>
                    <a:pt x="0" y="25997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801256" y="2185970"/>
              <a:ext cx="1815464" cy="1341120"/>
            </a:xfrm>
            <a:custGeom>
              <a:avLst/>
              <a:gdLst/>
              <a:ahLst/>
              <a:cxnLst/>
              <a:rect l="l" t="t" r="r" b="b"/>
              <a:pathLst>
                <a:path w="1815464" h="1341120">
                  <a:moveTo>
                    <a:pt x="0" y="1340999"/>
                  </a:moveTo>
                  <a:lnTo>
                    <a:pt x="936149" y="1340999"/>
                  </a:lnTo>
                  <a:lnTo>
                    <a:pt x="936149" y="0"/>
                  </a:lnTo>
                  <a:lnTo>
                    <a:pt x="18151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85933" y="1758455"/>
            <a:ext cx="7289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Arial MT"/>
                <a:cs typeface="Arial MT"/>
              </a:rPr>
              <a:t>Pods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0545" y="1818219"/>
            <a:ext cx="30488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Controllers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Services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7113" y="2332533"/>
            <a:ext cx="1745827" cy="3302613"/>
          </a:xfrm>
          <a:prstGeom prst="rect">
            <a:avLst/>
          </a:prstGeom>
        </p:spPr>
        <p:txBody>
          <a:bodyPr vert="horz" wrap="square" lIns="0" tIns="161713" rIns="0" bIns="0" rtlCol="0">
            <a:spAutoFit/>
          </a:bodyPr>
          <a:lstStyle/>
          <a:p>
            <a:pPr marL="16933">
              <a:spcBef>
                <a:spcPts val="1273"/>
              </a:spcBef>
            </a:pPr>
            <a:r>
              <a:rPr sz="2400" spc="-13" dirty="0">
                <a:latin typeface="Arial MT"/>
                <a:cs typeface="Arial MT"/>
              </a:rPr>
              <a:t>Labels</a:t>
            </a:r>
            <a:endParaRPr sz="2400">
              <a:latin typeface="Arial MT"/>
              <a:cs typeface="Arial MT"/>
            </a:endParaRPr>
          </a:p>
          <a:p>
            <a:pPr marL="80431" marR="379297">
              <a:lnSpc>
                <a:spcPts val="1907"/>
              </a:lnSpc>
              <a:spcBef>
                <a:spcPts val="840"/>
              </a:spcBef>
            </a:pPr>
            <a:r>
              <a:rPr sz="1600" dirty="0">
                <a:latin typeface="Arial MT"/>
                <a:cs typeface="Arial MT"/>
              </a:rPr>
              <a:t>#Pod-</a:t>
            </a:r>
            <a:r>
              <a:rPr sz="1600" spc="-27" dirty="0">
                <a:latin typeface="Arial MT"/>
                <a:cs typeface="Arial MT"/>
              </a:rPr>
              <a:t>Spec </a:t>
            </a:r>
            <a:r>
              <a:rPr sz="1600" spc="-13" dirty="0">
                <a:latin typeface="Arial MT"/>
                <a:cs typeface="Arial MT"/>
              </a:rPr>
              <a:t>apiVersion: </a:t>
            </a:r>
            <a:r>
              <a:rPr sz="1600" spc="-33" dirty="0">
                <a:latin typeface="Arial MT"/>
                <a:cs typeface="Arial MT"/>
              </a:rPr>
              <a:t>v1 </a:t>
            </a:r>
            <a:r>
              <a:rPr sz="1600" dirty="0">
                <a:latin typeface="Arial MT"/>
                <a:cs typeface="Arial MT"/>
              </a:rPr>
              <a:t>kind:</a:t>
            </a:r>
            <a:r>
              <a:rPr sz="1600" spc="-33" dirty="0">
                <a:latin typeface="Arial MT"/>
                <a:cs typeface="Arial MT"/>
              </a:rPr>
              <a:t> pod </a:t>
            </a:r>
            <a:r>
              <a:rPr sz="1600" spc="-13" dirty="0">
                <a:latin typeface="Arial MT"/>
                <a:cs typeface="Arial MT"/>
              </a:rPr>
              <a:t>metadata:</a:t>
            </a:r>
            <a:endParaRPr sz="1600">
              <a:latin typeface="Arial MT"/>
              <a:cs typeface="Arial MT"/>
            </a:endParaRPr>
          </a:p>
          <a:p>
            <a:pPr marL="193035">
              <a:lnSpc>
                <a:spcPts val="1807"/>
              </a:lnSpc>
            </a:pPr>
            <a:r>
              <a:rPr sz="1600" dirty="0">
                <a:latin typeface="Arial MT"/>
                <a:cs typeface="Arial MT"/>
              </a:rPr>
              <a:t>name:</a:t>
            </a:r>
            <a:r>
              <a:rPr sz="1600" spc="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nginx-</a:t>
            </a: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  <a:p>
            <a:pPr marL="193035">
              <a:lnSpc>
                <a:spcPts val="1900"/>
              </a:lnSpc>
            </a:pPr>
            <a:r>
              <a:rPr sz="1600" spc="-13" dirty="0">
                <a:latin typeface="Arial MT"/>
                <a:cs typeface="Arial MT"/>
              </a:rPr>
              <a:t>labels:</a:t>
            </a:r>
            <a:endParaRPr sz="1600">
              <a:latin typeface="Arial MT"/>
              <a:cs typeface="Arial MT"/>
            </a:endParaRPr>
          </a:p>
          <a:p>
            <a:pPr marL="305639" marR="39792">
              <a:lnSpc>
                <a:spcPts val="1907"/>
              </a:lnSpc>
              <a:spcBef>
                <a:spcPts val="67"/>
              </a:spcBef>
            </a:pPr>
            <a:r>
              <a:rPr sz="1600" dirty="0">
                <a:latin typeface="Arial MT"/>
                <a:cs typeface="Arial MT"/>
              </a:rPr>
              <a:t>app: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guestbook </a:t>
            </a:r>
            <a:r>
              <a:rPr sz="1600" dirty="0">
                <a:latin typeface="Arial MT"/>
                <a:cs typeface="Arial MT"/>
              </a:rPr>
              <a:t>tier: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frontend </a:t>
            </a:r>
            <a:r>
              <a:rPr sz="1600" dirty="0">
                <a:latin typeface="Arial MT"/>
                <a:cs typeface="Arial MT"/>
              </a:rPr>
              <a:t>env: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dev</a:t>
            </a:r>
            <a:endParaRPr sz="1600">
              <a:latin typeface="Arial MT"/>
              <a:cs typeface="Arial MT"/>
            </a:endParaRPr>
          </a:p>
          <a:p>
            <a:pPr marL="80431">
              <a:lnSpc>
                <a:spcPts val="1813"/>
              </a:lnSpc>
            </a:pPr>
            <a:r>
              <a:rPr sz="1600" spc="-13" dirty="0">
                <a:latin typeface="Arial MT"/>
                <a:cs typeface="Arial MT"/>
              </a:rPr>
              <a:t>spec:</a:t>
            </a:r>
            <a:endParaRPr sz="1600">
              <a:latin typeface="Arial MT"/>
              <a:cs typeface="Arial MT"/>
            </a:endParaRPr>
          </a:p>
          <a:p>
            <a:pPr marL="193035">
              <a:lnSpc>
                <a:spcPts val="1913"/>
              </a:lnSpc>
            </a:pPr>
            <a:r>
              <a:rPr sz="1600" dirty="0">
                <a:latin typeface="Arial MT"/>
                <a:cs typeface="Arial MT"/>
              </a:rPr>
              <a:t>replicas: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5..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2584" y="2691411"/>
            <a:ext cx="13047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Selectors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22916" y="4330544"/>
            <a:ext cx="335280" cy="948267"/>
          </a:xfrm>
          <a:custGeom>
            <a:avLst/>
            <a:gdLst/>
            <a:ahLst/>
            <a:cxnLst/>
            <a:rect l="l" t="t" r="r" b="b"/>
            <a:pathLst>
              <a:path w="251460" h="711200">
                <a:moveTo>
                  <a:pt x="0" y="0"/>
                </a:moveTo>
                <a:lnTo>
                  <a:pt x="48935" y="1646"/>
                </a:lnTo>
                <a:lnTo>
                  <a:pt x="88897" y="6136"/>
                </a:lnTo>
                <a:lnTo>
                  <a:pt x="115839" y="12796"/>
                </a:lnTo>
                <a:lnTo>
                  <a:pt x="125719" y="20952"/>
                </a:lnTo>
                <a:lnTo>
                  <a:pt x="125719" y="334647"/>
                </a:lnTo>
                <a:lnTo>
                  <a:pt x="135599" y="342803"/>
                </a:lnTo>
                <a:lnTo>
                  <a:pt x="162542" y="349463"/>
                </a:lnTo>
                <a:lnTo>
                  <a:pt x="202503" y="353953"/>
                </a:lnTo>
                <a:lnTo>
                  <a:pt x="251439" y="355599"/>
                </a:lnTo>
                <a:lnTo>
                  <a:pt x="202503" y="357246"/>
                </a:lnTo>
                <a:lnTo>
                  <a:pt x="162542" y="361736"/>
                </a:lnTo>
                <a:lnTo>
                  <a:pt x="135599" y="368396"/>
                </a:lnTo>
                <a:lnTo>
                  <a:pt x="125719" y="376552"/>
                </a:lnTo>
                <a:lnTo>
                  <a:pt x="125719" y="690247"/>
                </a:lnTo>
                <a:lnTo>
                  <a:pt x="115839" y="698403"/>
                </a:lnTo>
                <a:lnTo>
                  <a:pt x="88897" y="705063"/>
                </a:lnTo>
                <a:lnTo>
                  <a:pt x="48935" y="709553"/>
                </a:lnTo>
                <a:lnTo>
                  <a:pt x="0" y="71119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3454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6107815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70C0"/>
                </a:solidFill>
              </a:rPr>
              <a:t>Equality-</a:t>
            </a:r>
            <a:r>
              <a:rPr dirty="0">
                <a:solidFill>
                  <a:srgbClr val="0070C0"/>
                </a:solidFill>
              </a:rPr>
              <a:t>based</a:t>
            </a:r>
            <a:r>
              <a:rPr spc="40" dirty="0">
                <a:solidFill>
                  <a:srgbClr val="0070C0"/>
                </a:solidFill>
              </a:rPr>
              <a:t> </a:t>
            </a:r>
            <a:r>
              <a:rPr lang="en-US" spc="40" dirty="0" smtClean="0">
                <a:solidFill>
                  <a:srgbClr val="0070C0"/>
                </a:solidFill>
              </a:rPr>
              <a:t>S</a:t>
            </a:r>
            <a:r>
              <a:rPr spc="-13" dirty="0" smtClean="0">
                <a:solidFill>
                  <a:srgbClr val="0070C0"/>
                </a:solidFill>
              </a:rPr>
              <a:t>electors</a:t>
            </a:r>
            <a:endParaRPr spc="-13" dirty="0">
              <a:solidFill>
                <a:srgbClr val="0070C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0816" y="332667"/>
            <a:ext cx="4424680" cy="60700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3800" spc="-13" dirty="0">
                <a:solidFill>
                  <a:srgbClr val="0070C0"/>
                </a:solidFill>
                <a:latin typeface="Arial MT"/>
                <a:cs typeface="Arial MT"/>
              </a:rPr>
              <a:t>Set-</a:t>
            </a:r>
            <a:r>
              <a:rPr sz="3800" dirty="0">
                <a:solidFill>
                  <a:srgbClr val="0070C0"/>
                </a:solidFill>
                <a:latin typeface="Arial MT"/>
                <a:cs typeface="Arial MT"/>
              </a:rPr>
              <a:t>based</a:t>
            </a:r>
            <a:r>
              <a:rPr sz="3800" spc="7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800" spc="-13" dirty="0">
                <a:solidFill>
                  <a:srgbClr val="0070C0"/>
                </a:solidFill>
                <a:latin typeface="Arial MT"/>
                <a:cs typeface="Arial MT"/>
              </a:rPr>
              <a:t>Selectors</a:t>
            </a:r>
            <a:endParaRPr sz="38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3085" y="716038"/>
            <a:ext cx="126153" cy="5051213"/>
          </a:xfrm>
          <a:custGeom>
            <a:avLst/>
            <a:gdLst/>
            <a:ahLst/>
            <a:cxnLst/>
            <a:rect l="l" t="t" r="r" b="b"/>
            <a:pathLst>
              <a:path w="94614" h="3788410">
                <a:moveTo>
                  <a:pt x="0" y="0"/>
                </a:moveTo>
                <a:lnTo>
                  <a:pt x="94342" y="3788227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00528" y="1400410"/>
            <a:ext cx="8331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Operators: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529" y="1806810"/>
            <a:ext cx="7069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=</a:t>
            </a:r>
            <a:r>
              <a:rPr sz="1333" spc="-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and</a:t>
            </a:r>
            <a:r>
              <a:rPr sz="1333" spc="-7" dirty="0">
                <a:latin typeface="Arial MT"/>
                <a:cs typeface="Arial MT"/>
              </a:rPr>
              <a:t> </a:t>
            </a:r>
            <a:r>
              <a:rPr sz="1333" spc="-33" dirty="0">
                <a:latin typeface="Arial MT"/>
                <a:cs typeface="Arial MT"/>
              </a:rPr>
              <a:t>==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0529" y="2213210"/>
            <a:ext cx="8238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Examples: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528" y="2619610"/>
            <a:ext cx="1947333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environment</a:t>
            </a:r>
            <a:r>
              <a:rPr sz="1333" spc="-4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=</a:t>
            </a:r>
            <a:r>
              <a:rPr sz="1333" spc="-4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production </a:t>
            </a:r>
            <a:r>
              <a:rPr sz="1333" dirty="0">
                <a:latin typeface="Arial MT"/>
                <a:cs typeface="Arial MT"/>
              </a:rPr>
              <a:t>tier!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=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frontend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528" y="3229210"/>
            <a:ext cx="11243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Commandline: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528" y="3635610"/>
            <a:ext cx="336973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$kubectl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get</a:t>
            </a:r>
            <a:r>
              <a:rPr sz="1333" spc="-1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pods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spc="-27" dirty="0">
                <a:latin typeface="Arial MT"/>
                <a:cs typeface="Arial MT"/>
              </a:rPr>
              <a:t>-</a:t>
            </a:r>
            <a:r>
              <a:rPr sz="1333" dirty="0">
                <a:latin typeface="Arial MT"/>
                <a:cs typeface="Arial MT"/>
              </a:rPr>
              <a:t>l</a:t>
            </a:r>
            <a:r>
              <a:rPr sz="1333" spc="-13" dirty="0">
                <a:latin typeface="Arial MT"/>
                <a:cs typeface="Arial MT"/>
              </a:rPr>
              <a:t> environment=production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529" y="4245210"/>
            <a:ext cx="9084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solidFill>
                  <a:srgbClr val="78909B"/>
                </a:solidFill>
                <a:latin typeface="Arial MT"/>
                <a:cs typeface="Arial MT"/>
              </a:rPr>
              <a:t>In</a:t>
            </a:r>
            <a:r>
              <a:rPr sz="1333" spc="-7" dirty="0">
                <a:solidFill>
                  <a:srgbClr val="78909B"/>
                </a:solidFill>
                <a:latin typeface="Arial MT"/>
                <a:cs typeface="Arial MT"/>
              </a:rPr>
              <a:t> </a:t>
            </a: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Manifest: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529" y="4651610"/>
            <a:ext cx="4434839" cy="13786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..</a:t>
            </a:r>
            <a:endParaRPr sz="1333">
              <a:latin typeface="Arial MT"/>
              <a:cs typeface="Arial MT"/>
            </a:endParaRPr>
          </a:p>
          <a:p>
            <a:pPr marL="16933"/>
            <a:r>
              <a:rPr sz="1333" spc="-13" dirty="0">
                <a:latin typeface="Arial MT"/>
                <a:cs typeface="Arial MT"/>
              </a:rPr>
              <a:t>selector:</a:t>
            </a:r>
            <a:endParaRPr sz="1333">
              <a:latin typeface="Arial MT"/>
              <a:cs typeface="Arial MT"/>
            </a:endParaRPr>
          </a:p>
          <a:p>
            <a:pPr marL="110064" marR="2498451"/>
            <a:r>
              <a:rPr sz="1333" dirty="0">
                <a:latin typeface="Arial MT"/>
                <a:cs typeface="Arial MT"/>
              </a:rPr>
              <a:t>environment:</a:t>
            </a:r>
            <a:r>
              <a:rPr sz="1333" spc="-80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production </a:t>
            </a:r>
            <a:r>
              <a:rPr sz="1333" dirty="0">
                <a:latin typeface="Arial MT"/>
                <a:cs typeface="Arial MT"/>
              </a:rPr>
              <a:t>tier: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frontend</a:t>
            </a:r>
            <a:endParaRPr sz="1333">
              <a:latin typeface="Arial MT"/>
              <a:cs typeface="Arial MT"/>
            </a:endParaRPr>
          </a:p>
          <a:p>
            <a:pPr marL="16933"/>
            <a:r>
              <a:rPr sz="1333" spc="-33" dirty="0">
                <a:latin typeface="Arial MT"/>
                <a:cs typeface="Arial MT"/>
              </a:rPr>
              <a:t>..</a:t>
            </a:r>
            <a:endParaRPr sz="1333">
              <a:latin typeface="Arial MT"/>
              <a:cs typeface="Arial MT"/>
            </a:endParaRPr>
          </a:p>
          <a:p>
            <a:pPr marL="659537">
              <a:spcBef>
                <a:spcPts val="673"/>
              </a:spcBef>
            </a:pPr>
            <a:r>
              <a:rPr sz="1600" dirty="0">
                <a:latin typeface="Arial MT"/>
                <a:cs typeface="Arial MT"/>
              </a:rPr>
              <a:t>Supports:</a:t>
            </a:r>
            <a:r>
              <a:rPr sz="1600" spc="-6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Services,</a:t>
            </a:r>
            <a:r>
              <a:rPr sz="1600" spc="-6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Replication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Controller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6680" y="1427525"/>
            <a:ext cx="8331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Operators: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6680" y="1833925"/>
            <a:ext cx="10600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in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notin</a:t>
            </a:r>
            <a:r>
              <a:rPr sz="1333" spc="-20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exists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66681" y="2240325"/>
            <a:ext cx="82380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Examples: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66681" y="2646726"/>
            <a:ext cx="2374052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environment</a:t>
            </a:r>
            <a:r>
              <a:rPr sz="1333" spc="-60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in</a:t>
            </a:r>
            <a:r>
              <a:rPr sz="1333" spc="-5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(production,</a:t>
            </a:r>
            <a:r>
              <a:rPr sz="1333" spc="-53" dirty="0">
                <a:latin typeface="Arial MT"/>
                <a:cs typeface="Arial MT"/>
              </a:rPr>
              <a:t> </a:t>
            </a:r>
            <a:r>
              <a:rPr sz="1333" spc="-33" dirty="0">
                <a:latin typeface="Arial MT"/>
                <a:cs typeface="Arial MT"/>
              </a:rPr>
              <a:t>qa) </a:t>
            </a:r>
            <a:r>
              <a:rPr sz="1333" dirty="0">
                <a:latin typeface="Arial MT"/>
                <a:cs typeface="Arial MT"/>
              </a:rPr>
              <a:t>tier</a:t>
            </a:r>
            <a:r>
              <a:rPr sz="1333" spc="4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notin(frontend,</a:t>
            </a:r>
            <a:r>
              <a:rPr sz="1333" spc="4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backend)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66680" y="3256326"/>
            <a:ext cx="11243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Commandline: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66680" y="3662726"/>
            <a:ext cx="361696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 MT"/>
                <a:cs typeface="Arial MT"/>
              </a:rPr>
              <a:t>$kubectl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get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pods</a:t>
            </a:r>
            <a:r>
              <a:rPr sz="1333" spc="-27" dirty="0">
                <a:latin typeface="Arial MT"/>
                <a:cs typeface="Arial MT"/>
              </a:rPr>
              <a:t> -</a:t>
            </a:r>
            <a:r>
              <a:rPr sz="1333" dirty="0">
                <a:latin typeface="Arial MT"/>
                <a:cs typeface="Arial MT"/>
              </a:rPr>
              <a:t>l</a:t>
            </a:r>
            <a:r>
              <a:rPr sz="1333" spc="-33" dirty="0">
                <a:latin typeface="Arial MT"/>
                <a:cs typeface="Arial MT"/>
              </a:rPr>
              <a:t> </a:t>
            </a:r>
            <a:r>
              <a:rPr sz="1333" dirty="0">
                <a:latin typeface="Arial MT"/>
                <a:cs typeface="Arial MT"/>
              </a:rPr>
              <a:t>`enviornment</a:t>
            </a:r>
            <a:r>
              <a:rPr sz="1333" spc="-27" dirty="0">
                <a:latin typeface="Arial MT"/>
                <a:cs typeface="Arial MT"/>
              </a:rPr>
              <a:t> </a:t>
            </a:r>
            <a:r>
              <a:rPr sz="1333" spc="-13" dirty="0">
                <a:latin typeface="Arial MT"/>
                <a:cs typeface="Arial MT"/>
              </a:rPr>
              <a:t>in(production)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6681" y="4272326"/>
            <a:ext cx="9084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solidFill>
                  <a:srgbClr val="78909B"/>
                </a:solidFill>
                <a:latin typeface="Arial MT"/>
                <a:cs typeface="Arial MT"/>
              </a:rPr>
              <a:t>In</a:t>
            </a:r>
            <a:r>
              <a:rPr sz="1333" spc="-7" dirty="0">
                <a:solidFill>
                  <a:srgbClr val="78909B"/>
                </a:solidFill>
                <a:latin typeface="Arial MT"/>
                <a:cs typeface="Arial MT"/>
              </a:rPr>
              <a:t> </a:t>
            </a:r>
            <a:r>
              <a:rPr sz="1333" spc="-13" dirty="0">
                <a:solidFill>
                  <a:srgbClr val="78909B"/>
                </a:solidFill>
                <a:latin typeface="Arial MT"/>
                <a:cs typeface="Arial MT"/>
              </a:rPr>
              <a:t>Manifest: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66681" y="4678725"/>
            <a:ext cx="5162972" cy="14402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latin typeface="Arial MT"/>
                <a:cs typeface="Arial MT"/>
              </a:rPr>
              <a:t>..</a:t>
            </a:r>
            <a:endParaRPr sz="1333">
              <a:latin typeface="Arial MT"/>
              <a:cs typeface="Arial MT"/>
            </a:endParaRPr>
          </a:p>
          <a:p>
            <a:pPr marL="16933"/>
            <a:r>
              <a:rPr sz="1333" spc="-13" dirty="0">
                <a:latin typeface="Arial MT"/>
                <a:cs typeface="Arial MT"/>
              </a:rPr>
              <a:t>selector:</a:t>
            </a:r>
            <a:endParaRPr sz="1333">
              <a:latin typeface="Arial MT"/>
              <a:cs typeface="Arial MT"/>
            </a:endParaRPr>
          </a:p>
          <a:p>
            <a:pPr marL="110064"/>
            <a:r>
              <a:rPr sz="1333" spc="-13" dirty="0">
                <a:latin typeface="Arial MT"/>
                <a:cs typeface="Arial MT"/>
              </a:rPr>
              <a:t>matchExpressions:</a:t>
            </a:r>
            <a:endParaRPr sz="1333">
              <a:latin typeface="Arial MT"/>
              <a:cs typeface="Arial MT"/>
            </a:endParaRPr>
          </a:p>
          <a:p>
            <a:pPr marL="305639" indent="-101597">
              <a:buChar char="-"/>
              <a:tabLst>
                <a:tab pos="305639" algn="l"/>
              </a:tabLst>
            </a:pPr>
            <a:r>
              <a:rPr sz="1333" spc="-13" dirty="0">
                <a:latin typeface="Arial MT"/>
                <a:cs typeface="Arial MT"/>
              </a:rPr>
              <a:t>{key:environment,operator:in,values:[prod,qa]}</a:t>
            </a:r>
            <a:endParaRPr sz="1333">
              <a:latin typeface="Arial MT"/>
              <a:cs typeface="Arial MT"/>
            </a:endParaRPr>
          </a:p>
          <a:p>
            <a:pPr marL="305639" indent="-101597">
              <a:buChar char="-"/>
              <a:tabLst>
                <a:tab pos="305639" algn="l"/>
              </a:tabLst>
            </a:pPr>
            <a:r>
              <a:rPr sz="1333" spc="-13" dirty="0">
                <a:latin typeface="Arial MT"/>
                <a:cs typeface="Arial MT"/>
              </a:rPr>
              <a:t>{key:tier,operator:Notin,values:[frontend,backend]}</a:t>
            </a:r>
            <a:endParaRPr sz="1333">
              <a:latin typeface="Arial MT"/>
              <a:cs typeface="Arial MT"/>
            </a:endParaRPr>
          </a:p>
          <a:p>
            <a:pPr marL="16933">
              <a:lnSpc>
                <a:spcPts val="1413"/>
              </a:lnSpc>
            </a:pPr>
            <a:r>
              <a:rPr sz="1333" spc="-33" dirty="0">
                <a:latin typeface="Arial MT"/>
                <a:cs typeface="Arial MT"/>
              </a:rPr>
              <a:t>..</a:t>
            </a:r>
            <a:endParaRPr sz="1333">
              <a:latin typeface="Arial MT"/>
              <a:cs typeface="Arial MT"/>
            </a:endParaRPr>
          </a:p>
          <a:p>
            <a:pPr marL="420783">
              <a:lnSpc>
                <a:spcPts val="1733"/>
              </a:lnSpc>
            </a:pPr>
            <a:r>
              <a:rPr sz="1600" dirty="0">
                <a:latin typeface="Arial MT"/>
                <a:cs typeface="Arial MT"/>
              </a:rPr>
              <a:t>Supports:</a:t>
            </a:r>
            <a:r>
              <a:rPr sz="1600" spc="-7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Job,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Deployment,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ReplicaSet,</a:t>
            </a:r>
            <a:r>
              <a:rPr sz="1600" spc="-53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DaemonSet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632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148" y="942563"/>
            <a:ext cx="10632921" cy="48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7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79" y="361478"/>
            <a:ext cx="8176671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lang="en-US" dirty="0" smtClean="0">
                <a:solidFill>
                  <a:srgbClr val="0070C0"/>
                </a:solidFill>
              </a:rPr>
              <a:t>Ex:</a:t>
            </a:r>
            <a:r>
              <a:rPr dirty="0" smtClean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ReplicaSet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979" y="1724533"/>
            <a:ext cx="3805767" cy="2877112"/>
          </a:xfrm>
          <a:prstGeom prst="rect">
            <a:avLst/>
          </a:prstGeom>
        </p:spPr>
        <p:txBody>
          <a:bodyPr vert="horz" wrap="square" lIns="0" tIns="105833" rIns="0" bIns="0" rtlCol="0">
            <a:spAutoFit/>
          </a:bodyPr>
          <a:lstStyle/>
          <a:p>
            <a:pPr marL="193035" indent="-176102">
              <a:spcBef>
                <a:spcPts val="833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Manifest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file</a:t>
            </a:r>
            <a:endParaRPr sz="2667">
              <a:latin typeface="Arial MT"/>
              <a:cs typeface="Arial MT"/>
            </a:endParaRPr>
          </a:p>
          <a:p>
            <a:pPr marL="192189" marR="6773" indent="-176102">
              <a:lnSpc>
                <a:spcPts val="2907"/>
              </a:lnSpc>
              <a:spcBef>
                <a:spcPts val="1040"/>
              </a:spcBef>
              <a:buClr>
                <a:srgbClr val="FFAB40"/>
              </a:buClr>
              <a:buChar char="•"/>
              <a:tabLst>
                <a:tab pos="193882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Deploy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2667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RS 	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Display</a:t>
            </a:r>
            <a:r>
              <a:rPr sz="2667" spc="-1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2667" spc="-1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validate</a:t>
            </a:r>
            <a:r>
              <a:rPr sz="2667" spc="-1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RS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645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Test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Node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Fails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Test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Test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–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Down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8997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6941" y="1317843"/>
            <a:ext cx="2548688" cy="52227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517" y="195065"/>
            <a:ext cx="7578583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ReplicaSet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Manifest</a:t>
            </a:r>
            <a:r>
              <a:rPr spc="20" dirty="0">
                <a:solidFill>
                  <a:srgbClr val="0070C0"/>
                </a:solidFill>
              </a:rPr>
              <a:t> </a:t>
            </a:r>
            <a:r>
              <a:rPr spc="-27" dirty="0">
                <a:solidFill>
                  <a:srgbClr val="0070C0"/>
                </a:solidFill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93315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167" y="110846"/>
            <a:ext cx="5074072" cy="607003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spcBef>
                <a:spcPts val="173"/>
              </a:spcBef>
            </a:pPr>
            <a:r>
              <a:rPr sz="3800" dirty="0">
                <a:solidFill>
                  <a:srgbClr val="0070C0"/>
                </a:solidFill>
                <a:latin typeface="Arial MT"/>
                <a:cs typeface="Arial MT"/>
              </a:rPr>
              <a:t>Creating</a:t>
            </a:r>
            <a:r>
              <a:rPr sz="3800" spc="-2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70C0"/>
                </a:solidFill>
                <a:latin typeface="Arial MT"/>
                <a:cs typeface="Arial MT"/>
              </a:rPr>
              <a:t>Nginx-rs</a:t>
            </a:r>
            <a:r>
              <a:rPr sz="3800" spc="-13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800" spc="-27" dirty="0">
                <a:solidFill>
                  <a:srgbClr val="0070C0"/>
                </a:solidFill>
                <a:latin typeface="Arial MT"/>
                <a:cs typeface="Arial MT"/>
              </a:rPr>
              <a:t>Pods</a:t>
            </a:r>
            <a:endParaRPr sz="38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364" y="1470275"/>
            <a:ext cx="7591549" cy="1386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67" y="831363"/>
            <a:ext cx="505121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$kubectl</a:t>
            </a:r>
            <a:r>
              <a:rPr sz="2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create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–f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800" spc="-13" dirty="0">
                <a:solidFill>
                  <a:srgbClr val="595959"/>
                </a:solidFill>
                <a:latin typeface="Arial MT"/>
                <a:cs typeface="Arial MT"/>
              </a:rPr>
              <a:t>nginx-rs.yaml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364" y="3043806"/>
            <a:ext cx="9802581" cy="12233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364" y="4684162"/>
            <a:ext cx="10633128" cy="146021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67</a:t>
            </a:fld>
            <a:endParaRPr spc="-33" dirty="0"/>
          </a:p>
        </p:txBody>
      </p:sp>
    </p:spTree>
    <p:extLst>
      <p:ext uri="{BB962C8B-B14F-4D97-AF65-F5344CB8AC3E}">
        <p14:creationId xmlns:p14="http://schemas.microsoft.com/office/powerpoint/2010/main" val="109325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359" y="1404301"/>
            <a:ext cx="8979507" cy="423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6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783" y="170978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70C0"/>
                </a:solidFill>
              </a:rPr>
              <a:t>Scaling</a:t>
            </a:r>
            <a:r>
              <a:rPr spc="-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the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Nginx</a:t>
            </a:r>
            <a:r>
              <a:rPr spc="7" dirty="0">
                <a:solidFill>
                  <a:srgbClr val="0070C0"/>
                </a:solidFill>
              </a:rPr>
              <a:t> </a:t>
            </a:r>
            <a:r>
              <a:rPr spc="-13" dirty="0">
                <a:solidFill>
                  <a:srgbClr val="0070C0"/>
                </a:solidFill>
              </a:rPr>
              <a:t>Service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783" y="1244394"/>
            <a:ext cx="11194535" cy="88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7" y="1775703"/>
            <a:ext cx="3643207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-13" dirty="0">
                <a:solidFill>
                  <a:srgbClr val="C00000"/>
                </a:solidFill>
              </a:rPr>
              <a:t>Deployment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95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292878"/>
            <a:ext cx="4060651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70C0"/>
                </a:solidFill>
              </a:rPr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4415" y="1386016"/>
            <a:ext cx="10886440" cy="37765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</a:t>
            </a:r>
            <a:r>
              <a:rPr sz="2400" spc="-16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Deployment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controller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provides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declarative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updates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for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Pods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ReplicaSets.</a:t>
            </a: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>
              <a:spcBef>
                <a:spcPts val="140"/>
              </a:spcBef>
            </a:pP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 marL="16933" marR="6773">
              <a:lnSpc>
                <a:spcPct val="100699"/>
              </a:lnSpc>
            </a:pPr>
            <a:r>
              <a:rPr sz="2400" spc="-47" dirty="0">
                <a:solidFill>
                  <a:schemeClr val="tx2"/>
                </a:solidFill>
                <a:latin typeface="Arial MT"/>
                <a:cs typeface="Arial MT"/>
              </a:rPr>
              <a:t>You</a:t>
            </a:r>
            <a:r>
              <a:rPr sz="2400" spc="-5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describe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desired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state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in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Deployment,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and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Deployment</a:t>
            </a:r>
            <a:r>
              <a:rPr sz="2400" spc="-4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controller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changes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the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actual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state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to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the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desired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state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at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controlled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rate.</a:t>
            </a:r>
            <a:r>
              <a:rPr sz="2400" spc="-8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47" dirty="0">
                <a:solidFill>
                  <a:schemeClr val="tx2"/>
                </a:solidFill>
                <a:latin typeface="Arial MT"/>
                <a:cs typeface="Arial MT"/>
              </a:rPr>
              <a:t>You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can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define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Deployments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to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create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new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ReplicaSets,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or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to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remove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existing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Deployments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adopt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all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their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resources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with</a:t>
            </a:r>
            <a:r>
              <a:rPr sz="2400" spc="-20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new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 Deployments.</a:t>
            </a: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>
              <a:spcBef>
                <a:spcPts val="300"/>
              </a:spcBef>
            </a:pP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 marL="16933"/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How</a:t>
            </a:r>
            <a:r>
              <a:rPr sz="2400" spc="-4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is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it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different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from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Replicaset?</a:t>
            </a: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  <a:p>
            <a:pPr marL="16933">
              <a:spcBef>
                <a:spcPts val="20"/>
              </a:spcBef>
            </a:pP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ReplicaSet</a:t>
            </a:r>
            <a:r>
              <a:rPr sz="2400" spc="-4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doesn’t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provide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features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like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updates</a:t>
            </a:r>
            <a:r>
              <a:rPr sz="2400" spc="-33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&amp;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tx2"/>
                </a:solidFill>
                <a:latin typeface="Arial MT"/>
                <a:cs typeface="Arial MT"/>
              </a:rPr>
              <a:t>roll</a:t>
            </a:r>
            <a:r>
              <a:rPr sz="2400" spc="-27" dirty="0">
                <a:solidFill>
                  <a:schemeClr val="tx2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chemeClr val="tx2"/>
                </a:solidFill>
                <a:latin typeface="Arial MT"/>
                <a:cs typeface="Arial MT"/>
              </a:rPr>
              <a:t>backs.</a:t>
            </a:r>
            <a:endParaRPr sz="2400" dirty="0">
              <a:solidFill>
                <a:schemeClr val="tx2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3786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8" y="292878"/>
            <a:ext cx="9256182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A</a:t>
            </a:r>
            <a:r>
              <a:rPr spc="-21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Single</a:t>
            </a:r>
            <a:r>
              <a:rPr spc="20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Deployment</a:t>
            </a:r>
            <a:r>
              <a:rPr spc="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Manifest</a:t>
            </a:r>
            <a:r>
              <a:rPr spc="7" dirty="0">
                <a:solidFill>
                  <a:srgbClr val="002060"/>
                </a:solidFill>
              </a:rPr>
              <a:t> </a:t>
            </a:r>
            <a:r>
              <a:rPr spc="-27" dirty="0">
                <a:solidFill>
                  <a:srgbClr val="002060"/>
                </a:solidFill>
              </a:rPr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7364" y="1348441"/>
            <a:ext cx="3854515" cy="34519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05199" y="2600350"/>
            <a:ext cx="4978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7" dirty="0">
                <a:latin typeface="Arial MT"/>
                <a:cs typeface="Arial MT"/>
              </a:rPr>
              <a:t>Pods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7073" y="1167618"/>
            <a:ext cx="11167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Deployment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2898" y="1784389"/>
            <a:ext cx="10151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ReplicaSet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794" y="1951330"/>
            <a:ext cx="4418753" cy="76063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 MT"/>
                <a:cs typeface="Arial MT"/>
              </a:rPr>
              <a:t>Do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13" dirty="0">
                <a:latin typeface="Arial MT"/>
                <a:cs typeface="Arial MT"/>
              </a:rPr>
              <a:t> different </a:t>
            </a:r>
            <a:r>
              <a:rPr sz="2400" dirty="0">
                <a:latin typeface="Arial MT"/>
                <a:cs typeface="Arial MT"/>
              </a:rPr>
              <a:t>manifest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these?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794" y="3424531"/>
            <a:ext cx="4801447" cy="1133686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 MT"/>
                <a:cs typeface="Arial MT"/>
              </a:rPr>
              <a:t>Answer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“No”.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67" dirty="0">
                <a:latin typeface="Arial MT"/>
                <a:cs typeface="Arial MT"/>
              </a:rPr>
              <a:t>3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objects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single </a:t>
            </a:r>
            <a:r>
              <a:rPr sz="2400" dirty="0">
                <a:latin typeface="Arial MT"/>
                <a:cs typeface="Arial MT"/>
              </a:rPr>
              <a:t>Deployment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manifest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7" dirty="0"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16197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167" y="1813434"/>
            <a:ext cx="2990427" cy="491638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3834" indent="-176102">
              <a:spcBef>
                <a:spcPts val="133"/>
              </a:spcBef>
              <a:buClr>
                <a:srgbClr val="FFAB40"/>
              </a:buClr>
              <a:buChar char="•"/>
              <a:tabLst>
                <a:tab pos="243834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2667" spc="-1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Replicas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336964" indent="-269233">
              <a:buClr>
                <a:srgbClr val="FFAB40"/>
              </a:buClr>
              <a:buChar char="•"/>
              <a:tabLst>
                <a:tab pos="336964" algn="l"/>
              </a:tabLst>
            </a:pP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Upgrade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243834" indent="-176102">
              <a:buClr>
                <a:srgbClr val="FFAB40"/>
              </a:buClr>
              <a:buChar char="•"/>
              <a:tabLst>
                <a:tab pos="243834" algn="l"/>
              </a:tabLst>
            </a:pP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Rollback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243834" indent="-176102">
              <a:buClr>
                <a:srgbClr val="FFAB40"/>
              </a:buClr>
              <a:buChar char="•"/>
              <a:tabLst>
                <a:tab pos="243834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Scale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Up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Down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243834" indent="-176102">
              <a:buClr>
                <a:srgbClr val="FFAB40"/>
              </a:buClr>
              <a:buChar char="•"/>
              <a:tabLst>
                <a:tab pos="243834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Pause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&amp;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Resume</a:t>
            </a:r>
            <a:endParaRPr sz="2667">
              <a:latin typeface="Arial MT"/>
              <a:cs typeface="Arial MT"/>
            </a:endParaRPr>
          </a:p>
          <a:p>
            <a:pPr marL="16933">
              <a:spcBef>
                <a:spcPts val="1833"/>
              </a:spcBef>
            </a:pPr>
            <a:r>
              <a:rPr sz="1333" spc="-33" dirty="0">
                <a:solidFill>
                  <a:srgbClr val="FFAB40"/>
                </a:solidFill>
                <a:latin typeface="Arial MT"/>
                <a:cs typeface="Arial MT"/>
              </a:rPr>
              <a:t>74</a:t>
            </a:r>
            <a:endParaRPr sz="1333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167" y="304328"/>
            <a:ext cx="9256183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Features</a:t>
            </a:r>
            <a:r>
              <a:rPr spc="9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of</a:t>
            </a:r>
            <a:r>
              <a:rPr spc="87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26069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239" y="80989"/>
            <a:ext cx="8129611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Deployment</a:t>
            </a:r>
            <a:r>
              <a:rPr spc="-14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Types</a:t>
            </a:r>
            <a:r>
              <a:rPr spc="-7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spc="-73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Recreate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168" y="1560190"/>
            <a:ext cx="1929553" cy="11507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97077" indent="-335272">
              <a:spcBef>
                <a:spcPts val="133"/>
              </a:spcBef>
              <a:buChar char="•"/>
              <a:tabLst>
                <a:tab pos="397077" algn="l"/>
              </a:tabLst>
            </a:pPr>
            <a:r>
              <a:rPr sz="2400" spc="-13" dirty="0">
                <a:latin typeface="Arial MT"/>
                <a:cs typeface="Arial MT"/>
              </a:rPr>
              <a:t>Recreate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</a:pPr>
            <a:endParaRPr sz="2400">
              <a:latin typeface="Arial MT"/>
              <a:cs typeface="Arial MT"/>
            </a:endParaRPr>
          </a:p>
          <a:p>
            <a:pPr marL="16933"/>
            <a:r>
              <a:rPr sz="2400" dirty="0">
                <a:latin typeface="Arial MT"/>
                <a:cs typeface="Arial MT"/>
              </a:rPr>
              <a:t>How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3" dirty="0">
                <a:latin typeface="Arial MT"/>
                <a:cs typeface="Arial MT"/>
              </a:rPr>
              <a:t> works?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167" y="3037454"/>
            <a:ext cx="6429587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Arial MT"/>
                <a:cs typeface="Arial MT"/>
              </a:rPr>
              <a:t>Shutting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down</a:t>
            </a:r>
            <a:r>
              <a:rPr sz="1600" spc="-13" dirty="0">
                <a:latin typeface="Arial MT"/>
                <a:cs typeface="Arial MT"/>
              </a:rPr>
              <a:t> 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making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sure,</a:t>
            </a:r>
            <a:r>
              <a:rPr sz="1600" spc="-13" dirty="0">
                <a:latin typeface="Arial MT"/>
                <a:cs typeface="Arial MT"/>
              </a:rPr>
              <a:t> 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turned</a:t>
            </a:r>
            <a:r>
              <a:rPr sz="1600" spc="-13" dirty="0">
                <a:latin typeface="Arial MT"/>
                <a:cs typeface="Arial MT"/>
              </a:rPr>
              <a:t> off...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bringing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33" dirty="0">
                <a:latin typeface="Arial MT"/>
                <a:cs typeface="Arial MT"/>
              </a:rPr>
              <a:t> B.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167" y="3884289"/>
            <a:ext cx="4614333" cy="138670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Demerits:</a:t>
            </a:r>
            <a:endParaRPr sz="2400">
              <a:latin typeface="Arial MT"/>
              <a:cs typeface="Arial MT"/>
            </a:endParaRPr>
          </a:p>
          <a:p>
            <a:pPr marL="16933" marR="6773">
              <a:lnSpc>
                <a:spcPts val="2667"/>
              </a:lnSpc>
              <a:spcBef>
                <a:spcPts val="2413"/>
              </a:spcBef>
            </a:pPr>
            <a:r>
              <a:rPr sz="1600" dirty="0">
                <a:latin typeface="Arial MT"/>
                <a:cs typeface="Arial MT"/>
              </a:rPr>
              <a:t>During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this,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there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downtime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service. </a:t>
            </a:r>
            <a:r>
              <a:rPr sz="1600" dirty="0">
                <a:latin typeface="Arial MT"/>
                <a:cs typeface="Arial MT"/>
              </a:rPr>
              <a:t>Easy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setup</a:t>
            </a:r>
            <a:r>
              <a:rPr sz="2400" spc="-13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857" y="6335389"/>
            <a:ext cx="19109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1358" indent="-334425">
              <a:spcBef>
                <a:spcPts val="133"/>
              </a:spcBef>
              <a:buChar char="•"/>
              <a:tabLst>
                <a:tab pos="351358" algn="l"/>
              </a:tabLst>
            </a:pPr>
            <a:r>
              <a:rPr sz="2400" spc="-13" dirty="0">
                <a:latin typeface="Arial MT"/>
                <a:cs typeface="Arial MT"/>
              </a:rPr>
              <a:t>Blue/Green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4758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167" y="400091"/>
            <a:ext cx="9846733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Deployment</a:t>
            </a:r>
            <a:r>
              <a:rPr spc="-140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Type</a:t>
            </a:r>
            <a:r>
              <a:rPr spc="-6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–</a:t>
            </a:r>
            <a:r>
              <a:rPr spc="-6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Rolling</a:t>
            </a:r>
            <a:r>
              <a:rPr spc="-67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Updates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56" y="1560189"/>
            <a:ext cx="56709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1358" indent="-334425">
              <a:spcBef>
                <a:spcPts val="133"/>
              </a:spcBef>
              <a:buChar char="•"/>
              <a:tabLst>
                <a:tab pos="351358" algn="l"/>
              </a:tabLst>
            </a:pPr>
            <a:r>
              <a:rPr sz="2400" dirty="0">
                <a:latin typeface="Arial MT"/>
                <a:cs typeface="Arial MT"/>
              </a:rPr>
              <a:t>RollingUpdate(Ramped</a:t>
            </a:r>
            <a:r>
              <a:rPr sz="2400" spc="-7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Incremental)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100" y="2669153"/>
            <a:ext cx="5043593" cy="50441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63211" indent="-346278">
              <a:lnSpc>
                <a:spcPts val="1907"/>
              </a:lnSpc>
              <a:spcBef>
                <a:spcPts val="133"/>
              </a:spcBef>
              <a:buChar char="-"/>
              <a:tabLst>
                <a:tab pos="363211" algn="l"/>
              </a:tabLst>
            </a:pPr>
            <a:r>
              <a:rPr sz="1600" dirty="0">
                <a:latin typeface="Arial MT"/>
                <a:cs typeface="Arial MT"/>
              </a:rPr>
              <a:t>Default</a:t>
            </a:r>
            <a:r>
              <a:rPr sz="1600" spc="-4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updating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strategy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Kubernetes.</a:t>
            </a:r>
            <a:endParaRPr sz="1600">
              <a:latin typeface="Arial MT"/>
              <a:cs typeface="Arial MT"/>
            </a:endParaRPr>
          </a:p>
          <a:p>
            <a:pPr marL="363211" indent="-346278">
              <a:lnSpc>
                <a:spcPts val="1913"/>
              </a:lnSpc>
              <a:buChar char="-"/>
              <a:tabLst>
                <a:tab pos="363211" algn="l"/>
              </a:tabLst>
            </a:pPr>
            <a:r>
              <a:rPr sz="1600" dirty="0">
                <a:latin typeface="Arial MT"/>
                <a:cs typeface="Arial MT"/>
              </a:rPr>
              <a:t>It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take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sometime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process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168" y="3515989"/>
            <a:ext cx="19295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3" dirty="0">
                <a:latin typeface="Arial MT"/>
                <a:cs typeface="Arial MT"/>
              </a:rPr>
              <a:t> works?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167" y="4256654"/>
            <a:ext cx="10155767" cy="124649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6933" marR="205735">
              <a:lnSpc>
                <a:spcPts val="1893"/>
              </a:lnSpc>
              <a:spcBef>
                <a:spcPts val="220"/>
              </a:spcBef>
            </a:pPr>
            <a:r>
              <a:rPr sz="1600" dirty="0">
                <a:latin typeface="Arial MT"/>
                <a:cs typeface="Arial MT"/>
              </a:rPr>
              <a:t>Slowly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rollout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replacing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other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until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successfully </a:t>
            </a:r>
            <a:r>
              <a:rPr sz="1600" dirty="0">
                <a:latin typeface="Arial MT"/>
                <a:cs typeface="Arial MT"/>
              </a:rPr>
              <a:t>rolled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7" dirty="0">
                <a:latin typeface="Arial MT"/>
                <a:cs typeface="Arial MT"/>
              </a:rPr>
              <a:t>out.</a:t>
            </a:r>
            <a:endParaRPr sz="1600">
              <a:latin typeface="Arial MT"/>
              <a:cs typeface="Arial MT"/>
            </a:endParaRPr>
          </a:p>
          <a:p>
            <a:pPr marL="16933" marR="6773">
              <a:lnSpc>
                <a:spcPts val="1907"/>
              </a:lnSpc>
            </a:pPr>
            <a:r>
              <a:rPr sz="1600" dirty="0">
                <a:latin typeface="Arial MT"/>
                <a:cs typeface="Arial MT"/>
              </a:rPr>
              <a:t>Assume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10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which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behind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LB.</a:t>
            </a:r>
            <a:r>
              <a:rPr sz="1600" spc="-5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strategy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starts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7" dirty="0">
                <a:latin typeface="Arial MT"/>
                <a:cs typeface="Arial MT"/>
              </a:rPr>
              <a:t>with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deployed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accept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traffic,</a:t>
            </a:r>
            <a:r>
              <a:rPr sz="1600" spc="4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7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is </a:t>
            </a:r>
            <a:r>
              <a:rPr sz="1600" dirty="0">
                <a:latin typeface="Arial MT"/>
                <a:cs typeface="Arial MT"/>
              </a:rPr>
              <a:t>removed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7" dirty="0">
                <a:latin typeface="Arial MT"/>
                <a:cs typeface="Arial MT"/>
              </a:rPr>
              <a:t>pool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6837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183" y="507942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/>
              <a:t>Deployment</a:t>
            </a:r>
            <a:r>
              <a:rPr spc="-147" dirty="0"/>
              <a:t> </a:t>
            </a:r>
            <a:r>
              <a:rPr dirty="0"/>
              <a:t>Type</a:t>
            </a:r>
            <a:r>
              <a:rPr spc="-8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3" dirty="0"/>
              <a:t>Canary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940" y="1560187"/>
            <a:ext cx="13521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1358" indent="-334425">
              <a:spcBef>
                <a:spcPts val="133"/>
              </a:spcBef>
              <a:buChar char="•"/>
              <a:tabLst>
                <a:tab pos="351358" algn="l"/>
              </a:tabLst>
            </a:pPr>
            <a:r>
              <a:rPr sz="2400" spc="-13" dirty="0">
                <a:latin typeface="Arial MT"/>
                <a:cs typeface="Arial MT"/>
              </a:rPr>
              <a:t>Canary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183" y="2669153"/>
            <a:ext cx="91948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63211" algn="l"/>
              </a:tabLst>
            </a:pPr>
            <a:r>
              <a:rPr sz="1600" spc="-67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	Ideal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deployment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method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someone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who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want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newer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before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deployed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100%.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250" y="3274687"/>
            <a:ext cx="19295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3" dirty="0">
                <a:latin typeface="Arial MT"/>
                <a:cs typeface="Arial MT"/>
              </a:rPr>
              <a:t> works?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250" y="4015352"/>
            <a:ext cx="10309012" cy="14969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method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about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gradually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shifting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production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traffic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B.</a:t>
            </a:r>
            <a:endParaRPr sz="1600">
              <a:latin typeface="Arial MT"/>
              <a:cs typeface="Arial MT"/>
            </a:endParaRPr>
          </a:p>
          <a:p>
            <a:pPr>
              <a:spcBef>
                <a:spcPts val="113"/>
              </a:spcBef>
            </a:pPr>
            <a:endParaRPr sz="1600">
              <a:latin typeface="Arial MT"/>
              <a:cs typeface="Arial MT"/>
            </a:endParaRPr>
          </a:p>
          <a:p>
            <a:pPr marL="16933" marR="6773">
              <a:lnSpc>
                <a:spcPts val="1907"/>
              </a:lnSpc>
            </a:pPr>
            <a:r>
              <a:rPr sz="1600" dirty="0">
                <a:latin typeface="Arial MT"/>
                <a:cs typeface="Arial MT"/>
              </a:rPr>
              <a:t>Lets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imagine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about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10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inside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cluster.</a:t>
            </a:r>
            <a:r>
              <a:rPr sz="1600" spc="-47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You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Canary </a:t>
            </a:r>
            <a:r>
              <a:rPr sz="1600" dirty="0">
                <a:latin typeface="Arial MT"/>
                <a:cs typeface="Arial MT"/>
              </a:rPr>
              <a:t>deployment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want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upgrade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Let's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upgraded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</a:t>
            </a:r>
            <a:r>
              <a:rPr sz="1600" spc="-107" dirty="0">
                <a:latin typeface="Arial MT"/>
                <a:cs typeface="Arial MT"/>
              </a:rPr>
              <a:t> </a:t>
            </a:r>
            <a:r>
              <a:rPr sz="1600" spc="-67" dirty="0">
                <a:latin typeface="Arial MT"/>
                <a:cs typeface="Arial MT"/>
              </a:rPr>
              <a:t>A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testing.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results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good,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upgrade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remaining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8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instances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B. </a:t>
            </a:r>
            <a:r>
              <a:rPr sz="1600" spc="-13" dirty="0">
                <a:latin typeface="Arial MT"/>
                <a:cs typeface="Arial MT"/>
              </a:rPr>
              <a:t>Say,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ready,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completely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shut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down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A.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6857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7" y="262572"/>
            <a:ext cx="140208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Deployment</a:t>
            </a:r>
            <a:r>
              <a:rPr spc="-13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Type</a:t>
            </a:r>
            <a:r>
              <a:rPr spc="-60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–</a:t>
            </a:r>
            <a:r>
              <a:rPr spc="-6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Blue</a:t>
            </a:r>
            <a:r>
              <a:rPr spc="-60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Green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57" y="1560189"/>
            <a:ext cx="19109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1358" indent="-334425">
              <a:spcBef>
                <a:spcPts val="133"/>
              </a:spcBef>
              <a:buChar char="•"/>
              <a:tabLst>
                <a:tab pos="351358" algn="l"/>
              </a:tabLst>
            </a:pPr>
            <a:r>
              <a:rPr sz="2400" dirty="0">
                <a:latin typeface="Arial MT"/>
                <a:cs typeface="Arial MT"/>
              </a:rPr>
              <a:t>Blue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Green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099" y="2300854"/>
            <a:ext cx="307848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63211" algn="l"/>
              </a:tabLst>
            </a:pPr>
            <a:r>
              <a:rPr sz="1600" spc="-67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	Instance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roll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roll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back.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168" y="3274689"/>
            <a:ext cx="19295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3" dirty="0">
                <a:latin typeface="Arial MT"/>
                <a:cs typeface="Arial MT"/>
              </a:rPr>
              <a:t> works?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167" y="4015354"/>
            <a:ext cx="9763760" cy="988305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4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method,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B(which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GREEN)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deployed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along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side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A(which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BLUE)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exactly </a:t>
            </a:r>
            <a:r>
              <a:rPr sz="1600" dirty="0">
                <a:latin typeface="Arial MT"/>
                <a:cs typeface="Arial MT"/>
              </a:rPr>
              <a:t>same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amount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instances.</a:t>
            </a:r>
            <a:endParaRPr sz="1600">
              <a:latin typeface="Arial MT"/>
              <a:cs typeface="Arial MT"/>
            </a:endParaRPr>
          </a:p>
          <a:p>
            <a:pPr marL="16933">
              <a:lnSpc>
                <a:spcPts val="1820"/>
              </a:lnSpc>
            </a:pP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testing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new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requirement,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traffic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switched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version</a:t>
            </a:r>
            <a:r>
              <a:rPr sz="1600" spc="-1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version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33" dirty="0">
                <a:latin typeface="Arial MT"/>
                <a:cs typeface="Arial MT"/>
              </a:rPr>
              <a:t>LB</a:t>
            </a:r>
            <a:endParaRPr sz="1600">
              <a:latin typeface="Arial MT"/>
              <a:cs typeface="Arial MT"/>
            </a:endParaRPr>
          </a:p>
          <a:p>
            <a:pPr marL="16933">
              <a:lnSpc>
                <a:spcPts val="1913"/>
              </a:lnSpc>
            </a:pPr>
            <a:r>
              <a:rPr sz="1600" spc="-13" dirty="0">
                <a:latin typeface="Arial MT"/>
                <a:cs typeface="Arial MT"/>
              </a:rPr>
              <a:t>level.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50345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048" y="0"/>
            <a:ext cx="4988352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Demo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- </a:t>
            </a:r>
            <a:r>
              <a:rPr spc="-13" dirty="0">
                <a:solidFill>
                  <a:srgbClr val="002060"/>
                </a:solidFill>
              </a:rPr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9231" y="1497353"/>
            <a:ext cx="3454400" cy="42079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01502" indent="-184569">
              <a:spcBef>
                <a:spcPts val="133"/>
              </a:spcBef>
              <a:buChar char="-"/>
              <a:tabLst>
                <a:tab pos="201502" algn="l"/>
              </a:tabLst>
            </a:pP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Manifest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27" dirty="0">
                <a:solidFill>
                  <a:srgbClr val="53636C"/>
                </a:solidFill>
                <a:latin typeface="Arial MT"/>
                <a:cs typeface="Arial MT"/>
              </a:rPr>
              <a:t>file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Clr>
                <a:srgbClr val="53636C"/>
              </a:buClr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201502" indent="-184569">
              <a:buChar char="-"/>
              <a:tabLst>
                <a:tab pos="201502" algn="l"/>
              </a:tabLst>
            </a:pP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Deploy</a:t>
            </a:r>
            <a:r>
              <a:rPr sz="2400" spc="-20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app</a:t>
            </a:r>
            <a:r>
              <a:rPr sz="2400" spc="-20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using</a:t>
            </a:r>
            <a:r>
              <a:rPr sz="2400" spc="-20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53636C"/>
                </a:solidFill>
                <a:latin typeface="Arial MT"/>
                <a:cs typeface="Arial MT"/>
              </a:rPr>
              <a:t>RS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Clr>
                <a:srgbClr val="53636C"/>
              </a:buClr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201502" indent="-184569">
              <a:buChar char="-"/>
              <a:tabLst>
                <a:tab pos="201502" algn="l"/>
              </a:tabLst>
            </a:pP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Display</a:t>
            </a:r>
            <a:r>
              <a:rPr sz="2400" spc="-40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and</a:t>
            </a:r>
            <a:r>
              <a:rPr sz="2400" spc="-27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validate</a:t>
            </a:r>
            <a:r>
              <a:rPr sz="2400" spc="-27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53636C"/>
                </a:solidFill>
                <a:latin typeface="Arial MT"/>
                <a:cs typeface="Arial MT"/>
              </a:rPr>
              <a:t>RS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Clr>
                <a:srgbClr val="53636C"/>
              </a:buClr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196422" indent="-179489">
              <a:buChar char="-"/>
              <a:tabLst>
                <a:tab pos="196422" algn="l"/>
              </a:tabLst>
            </a:pPr>
            <a:r>
              <a:rPr sz="2400" spc="-47" dirty="0">
                <a:solidFill>
                  <a:srgbClr val="53636C"/>
                </a:solidFill>
                <a:latin typeface="Arial MT"/>
                <a:cs typeface="Arial MT"/>
              </a:rPr>
              <a:t>Test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–</a:t>
            </a:r>
            <a:r>
              <a:rPr sz="2400" spc="-47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Node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53636C"/>
                </a:solidFill>
                <a:latin typeface="Arial MT"/>
                <a:cs typeface="Arial MT"/>
              </a:rPr>
              <a:t>Fails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Clr>
                <a:srgbClr val="53636C"/>
              </a:buClr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397077" indent="-329345">
              <a:buChar char="-"/>
              <a:tabLst>
                <a:tab pos="397077" algn="l"/>
              </a:tabLst>
            </a:pPr>
            <a:r>
              <a:rPr sz="2400" spc="-47" dirty="0">
                <a:solidFill>
                  <a:srgbClr val="53636C"/>
                </a:solidFill>
                <a:latin typeface="Arial MT"/>
                <a:cs typeface="Arial MT"/>
              </a:rPr>
              <a:t>Test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–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Scale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33" dirty="0">
                <a:solidFill>
                  <a:srgbClr val="53636C"/>
                </a:solidFill>
                <a:latin typeface="Arial MT"/>
                <a:cs typeface="Arial MT"/>
              </a:rPr>
              <a:t>Up</a:t>
            </a:r>
            <a:endParaRPr sz="2400">
              <a:latin typeface="Arial MT"/>
              <a:cs typeface="Arial MT"/>
            </a:endParaRPr>
          </a:p>
          <a:p>
            <a:pPr>
              <a:spcBef>
                <a:spcPts val="160"/>
              </a:spcBef>
              <a:buClr>
                <a:srgbClr val="53636C"/>
              </a:buClr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196422" indent="-179489">
              <a:buChar char="-"/>
              <a:tabLst>
                <a:tab pos="196422" algn="l"/>
              </a:tabLst>
            </a:pPr>
            <a:r>
              <a:rPr sz="2400" spc="-47" dirty="0">
                <a:solidFill>
                  <a:srgbClr val="53636C"/>
                </a:solidFill>
                <a:latin typeface="Arial MT"/>
                <a:cs typeface="Arial MT"/>
              </a:rPr>
              <a:t>Test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–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53636C"/>
                </a:solidFill>
                <a:latin typeface="Arial MT"/>
                <a:cs typeface="Arial MT"/>
              </a:rPr>
              <a:t>Scale</a:t>
            </a:r>
            <a:r>
              <a:rPr sz="2400" spc="-53" dirty="0">
                <a:solidFill>
                  <a:srgbClr val="53636C"/>
                </a:solidFill>
                <a:latin typeface="Arial MT"/>
                <a:cs typeface="Arial MT"/>
              </a:rPr>
              <a:t> </a:t>
            </a:r>
            <a:r>
              <a:rPr sz="2400" spc="-27" dirty="0">
                <a:solidFill>
                  <a:srgbClr val="53636C"/>
                </a:solidFill>
                <a:latin typeface="Arial MT"/>
                <a:cs typeface="Arial MT"/>
              </a:rPr>
              <a:t>Down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4930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100" y="186265"/>
            <a:ext cx="808355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Deployment</a:t>
            </a:r>
            <a:r>
              <a:rPr spc="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Manifest</a:t>
            </a:r>
            <a:r>
              <a:rPr spc="20" dirty="0">
                <a:solidFill>
                  <a:srgbClr val="002060"/>
                </a:solidFill>
              </a:rPr>
              <a:t> </a:t>
            </a:r>
            <a:r>
              <a:rPr spc="-27" dirty="0">
                <a:solidFill>
                  <a:srgbClr val="002060"/>
                </a:solidFill>
              </a:rPr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9" y="1173984"/>
            <a:ext cx="3375093" cy="51448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156615" y="2778177"/>
            <a:ext cx="779780" cy="1869440"/>
          </a:xfrm>
          <a:custGeom>
            <a:avLst/>
            <a:gdLst/>
            <a:ahLst/>
            <a:cxnLst/>
            <a:rect l="l" t="t" r="r" b="b"/>
            <a:pathLst>
              <a:path w="584835" h="14020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6"/>
                </a:lnTo>
                <a:lnTo>
                  <a:pt x="292308" y="652073"/>
                </a:lnTo>
                <a:lnTo>
                  <a:pt x="302750" y="665024"/>
                </a:lnTo>
                <a:lnTo>
                  <a:pt x="377923" y="686521"/>
                </a:lnTo>
                <a:lnTo>
                  <a:pt x="437083" y="694138"/>
                </a:lnTo>
                <a:lnTo>
                  <a:pt x="506909" y="699049"/>
                </a:lnTo>
                <a:lnTo>
                  <a:pt x="584617" y="700789"/>
                </a:lnTo>
                <a:lnTo>
                  <a:pt x="506909" y="702530"/>
                </a:lnTo>
                <a:lnTo>
                  <a:pt x="437083" y="707441"/>
                </a:lnTo>
                <a:lnTo>
                  <a:pt x="377923" y="715058"/>
                </a:lnTo>
                <a:lnTo>
                  <a:pt x="332217" y="724918"/>
                </a:lnTo>
                <a:lnTo>
                  <a:pt x="292308" y="749505"/>
                </a:lnTo>
                <a:lnTo>
                  <a:pt x="292308" y="1352863"/>
                </a:lnTo>
                <a:lnTo>
                  <a:pt x="281867" y="1365814"/>
                </a:lnTo>
                <a:lnTo>
                  <a:pt x="252399" y="1377451"/>
                </a:lnTo>
                <a:lnTo>
                  <a:pt x="206693" y="1387311"/>
                </a:lnTo>
                <a:lnTo>
                  <a:pt x="147533" y="1394928"/>
                </a:lnTo>
                <a:lnTo>
                  <a:pt x="77707" y="1399839"/>
                </a:lnTo>
                <a:lnTo>
                  <a:pt x="0" y="140157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156615" y="4760208"/>
            <a:ext cx="779780" cy="1598507"/>
          </a:xfrm>
          <a:custGeom>
            <a:avLst/>
            <a:gdLst/>
            <a:ahLst/>
            <a:cxnLst/>
            <a:rect l="l" t="t" r="r" b="b"/>
            <a:pathLst>
              <a:path w="584835" h="11988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5"/>
                </a:lnTo>
                <a:lnTo>
                  <a:pt x="292308" y="550456"/>
                </a:lnTo>
                <a:lnTo>
                  <a:pt x="302750" y="563407"/>
                </a:lnTo>
                <a:lnTo>
                  <a:pt x="377923" y="584904"/>
                </a:lnTo>
                <a:lnTo>
                  <a:pt x="437083" y="592521"/>
                </a:lnTo>
                <a:lnTo>
                  <a:pt x="506909" y="597432"/>
                </a:lnTo>
                <a:lnTo>
                  <a:pt x="584617" y="599172"/>
                </a:lnTo>
                <a:lnTo>
                  <a:pt x="506909" y="600913"/>
                </a:lnTo>
                <a:lnTo>
                  <a:pt x="437083" y="605824"/>
                </a:lnTo>
                <a:lnTo>
                  <a:pt x="377923" y="613441"/>
                </a:lnTo>
                <a:lnTo>
                  <a:pt x="332217" y="623301"/>
                </a:lnTo>
                <a:lnTo>
                  <a:pt x="292308" y="647888"/>
                </a:lnTo>
                <a:lnTo>
                  <a:pt x="292308" y="1149629"/>
                </a:lnTo>
                <a:lnTo>
                  <a:pt x="281867" y="1162580"/>
                </a:lnTo>
                <a:lnTo>
                  <a:pt x="252399" y="1174217"/>
                </a:lnTo>
                <a:lnTo>
                  <a:pt x="206693" y="1184077"/>
                </a:lnTo>
                <a:lnTo>
                  <a:pt x="147533" y="1191694"/>
                </a:lnTo>
                <a:lnTo>
                  <a:pt x="77707" y="1196605"/>
                </a:lnTo>
                <a:lnTo>
                  <a:pt x="0" y="1198345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6483176" y="3379471"/>
            <a:ext cx="15053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 MT"/>
                <a:cs typeface="Arial MT"/>
              </a:rPr>
              <a:t>ReplicaSet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4357" y="5332515"/>
            <a:ext cx="7289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Arial MT"/>
                <a:cs typeface="Arial MT"/>
              </a:rPr>
              <a:t>Pods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0430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369" y="304313"/>
            <a:ext cx="10862131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2060"/>
                </a:solidFill>
              </a:rPr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370" y="1419871"/>
            <a:ext cx="11079239" cy="16917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369" y="3352010"/>
            <a:ext cx="11079239" cy="136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8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6224" y="553229"/>
            <a:ext cx="9988409" cy="607003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Deployment =&gt;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Pods</a:t>
            </a:r>
            <a:r>
              <a:rPr spc="1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+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ReplicaSet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62" y="1924582"/>
            <a:ext cx="5831076" cy="18901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7364" y="1348441"/>
            <a:ext cx="3854515" cy="34519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07073" y="1167618"/>
            <a:ext cx="1116753" cy="17380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Deployment</a:t>
            </a:r>
            <a:endParaRPr sz="1600">
              <a:latin typeface="Arial MT"/>
              <a:cs typeface="Arial MT"/>
            </a:endParaRPr>
          </a:p>
          <a:p>
            <a:pPr>
              <a:spcBef>
                <a:spcPts val="1092"/>
              </a:spcBef>
            </a:pPr>
            <a:endParaRPr sz="1600">
              <a:latin typeface="Arial MT"/>
              <a:cs typeface="Arial MT"/>
            </a:endParaRPr>
          </a:p>
          <a:p>
            <a:pPr marL="32173"/>
            <a:r>
              <a:rPr sz="1600" spc="-13" dirty="0">
                <a:latin typeface="Arial MT"/>
                <a:cs typeface="Arial MT"/>
              </a:rPr>
              <a:t>ReplicaSet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00">
              <a:latin typeface="Arial MT"/>
              <a:cs typeface="Arial MT"/>
            </a:endParaRPr>
          </a:p>
          <a:p>
            <a:pPr>
              <a:spcBef>
                <a:spcPts val="827"/>
              </a:spcBef>
            </a:pPr>
            <a:endParaRPr sz="1600">
              <a:latin typeface="Arial MT"/>
              <a:cs typeface="Arial MT"/>
            </a:endParaRPr>
          </a:p>
          <a:p>
            <a:pPr marL="215048"/>
            <a:r>
              <a:rPr sz="1600" spc="-27" dirty="0">
                <a:latin typeface="Arial MT"/>
                <a:cs typeface="Arial MT"/>
              </a:rPr>
              <a:t>Pods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81</a:t>
            </a:fld>
            <a:endParaRPr spc="-33" dirty="0"/>
          </a:p>
        </p:txBody>
      </p:sp>
    </p:spTree>
    <p:extLst>
      <p:ext uri="{BB962C8B-B14F-4D97-AF65-F5344CB8AC3E}">
        <p14:creationId xmlns:p14="http://schemas.microsoft.com/office/powerpoint/2010/main" val="227097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485" y="171880"/>
            <a:ext cx="11057165" cy="1332924"/>
          </a:xfrm>
          <a:prstGeom prst="rect">
            <a:avLst/>
          </a:prstGeom>
        </p:spPr>
        <p:txBody>
          <a:bodyPr vert="horz" wrap="square" lIns="0" tIns="261297" rIns="0" bIns="0" rtlCol="0" anchor="ctr">
            <a:spAutoFit/>
          </a:bodyPr>
          <a:lstStyle/>
          <a:p>
            <a:pPr marL="16933" marR="6773">
              <a:lnSpc>
                <a:spcPts val="4107"/>
              </a:lnSpc>
              <a:spcBef>
                <a:spcPts val="687"/>
              </a:spcBef>
            </a:pPr>
            <a:r>
              <a:rPr dirty="0"/>
              <a:t>3</a:t>
            </a:r>
            <a:r>
              <a:rPr spc="27" dirty="0"/>
              <a:t> </a:t>
            </a:r>
            <a:r>
              <a:rPr dirty="0">
                <a:solidFill>
                  <a:srgbClr val="002060"/>
                </a:solidFill>
              </a:rPr>
              <a:t>Instances</a:t>
            </a:r>
            <a:r>
              <a:rPr spc="20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of</a:t>
            </a:r>
            <a:r>
              <a:rPr spc="20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same</a:t>
            </a:r>
            <a:r>
              <a:rPr spc="2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Nginx</a:t>
            </a:r>
            <a:r>
              <a:rPr spc="-193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Apps</a:t>
            </a:r>
            <a:r>
              <a:rPr spc="2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running</a:t>
            </a:r>
            <a:r>
              <a:rPr spc="2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in</a:t>
            </a:r>
            <a:r>
              <a:rPr spc="20" dirty="0">
                <a:solidFill>
                  <a:srgbClr val="002060"/>
                </a:solidFill>
              </a:rPr>
              <a:t> </a:t>
            </a:r>
            <a:r>
              <a:rPr lang="en-US" spc="20" dirty="0" smtClean="0">
                <a:solidFill>
                  <a:srgbClr val="002060"/>
                </a:solidFill>
              </a:rPr>
              <a:t/>
            </a:r>
            <a:br>
              <a:rPr lang="en-US" spc="20" dirty="0" smtClean="0">
                <a:solidFill>
                  <a:srgbClr val="002060"/>
                </a:solidFill>
              </a:rPr>
            </a:br>
            <a:r>
              <a:rPr lang="en-US" spc="20" dirty="0">
                <a:solidFill>
                  <a:srgbClr val="002060"/>
                </a:solidFill>
              </a:rPr>
              <a:t> </a:t>
            </a:r>
            <a:r>
              <a:rPr lang="en-US" spc="20" dirty="0" smtClean="0">
                <a:solidFill>
                  <a:srgbClr val="002060"/>
                </a:solidFill>
              </a:rPr>
              <a:t>   </a:t>
            </a:r>
            <a:r>
              <a:rPr dirty="0" smtClean="0">
                <a:solidFill>
                  <a:srgbClr val="002060"/>
                </a:solidFill>
              </a:rPr>
              <a:t>the</a:t>
            </a:r>
            <a:r>
              <a:rPr spc="27" dirty="0" smtClean="0">
                <a:solidFill>
                  <a:srgbClr val="002060"/>
                </a:solidFill>
              </a:rPr>
              <a:t> </a:t>
            </a:r>
            <a:r>
              <a:rPr spc="-27" dirty="0">
                <a:solidFill>
                  <a:srgbClr val="002060"/>
                </a:solidFill>
              </a:rPr>
              <a:t>form </a:t>
            </a:r>
            <a:r>
              <a:rPr dirty="0">
                <a:solidFill>
                  <a:srgbClr val="002060"/>
                </a:solidFill>
              </a:rPr>
              <a:t>of</a:t>
            </a:r>
            <a:r>
              <a:rPr spc="13" dirty="0">
                <a:solidFill>
                  <a:srgbClr val="002060"/>
                </a:solidFill>
              </a:rPr>
              <a:t> </a:t>
            </a:r>
            <a:r>
              <a:rPr spc="-27" dirty="0">
                <a:solidFill>
                  <a:srgbClr val="002060"/>
                </a:solidFill>
              </a:rPr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86" y="1790008"/>
            <a:ext cx="11727281" cy="2767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885" y="5145396"/>
            <a:ext cx="11587239" cy="97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55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167" y="332667"/>
            <a:ext cx="11197167" cy="1229397"/>
          </a:xfrm>
          <a:prstGeom prst="rect">
            <a:avLst/>
          </a:prstGeom>
        </p:spPr>
        <p:txBody>
          <a:bodyPr vert="horz" wrap="square" lIns="0" tIns="87207" rIns="0" bIns="0" rtlCol="0">
            <a:spAutoFit/>
          </a:bodyPr>
          <a:lstStyle/>
          <a:p>
            <a:pPr marL="16933" marR="6773">
              <a:lnSpc>
                <a:spcPts val="4107"/>
              </a:lnSpc>
              <a:spcBef>
                <a:spcPts val="687"/>
              </a:spcBef>
            </a:pPr>
            <a:r>
              <a:rPr sz="3800" dirty="0">
                <a:solidFill>
                  <a:schemeClr val="bg1">
                    <a:lumMod val="75000"/>
                  </a:schemeClr>
                </a:solidFill>
                <a:latin typeface="Arial MT"/>
                <a:cs typeface="Arial MT"/>
              </a:rPr>
              <a:t>3</a:t>
            </a:r>
            <a:r>
              <a:rPr sz="3800" spc="27" dirty="0">
                <a:solidFill>
                  <a:srgbClr val="FFAB4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Instances</a:t>
            </a:r>
            <a:r>
              <a:rPr sz="3800" spc="20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of</a:t>
            </a:r>
            <a:r>
              <a:rPr sz="3800" spc="20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same</a:t>
            </a:r>
            <a:r>
              <a:rPr sz="3800" spc="27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Nginx</a:t>
            </a:r>
            <a:r>
              <a:rPr sz="3800" spc="-193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Apps</a:t>
            </a:r>
            <a:r>
              <a:rPr sz="3800" spc="27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running</a:t>
            </a:r>
            <a:r>
              <a:rPr sz="3800" spc="27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 smtClean="0">
                <a:solidFill>
                  <a:srgbClr val="002060"/>
                </a:solidFill>
                <a:latin typeface="Arial MT"/>
                <a:cs typeface="Arial MT"/>
              </a:rPr>
              <a:t>in</a:t>
            </a:r>
            <a:endParaRPr lang="en-US" sz="3800" dirty="0" smtClean="0">
              <a:solidFill>
                <a:srgbClr val="002060"/>
              </a:solidFill>
              <a:latin typeface="Arial MT"/>
              <a:cs typeface="Arial MT"/>
            </a:endParaRPr>
          </a:p>
          <a:p>
            <a:pPr marL="16933" marR="6773">
              <a:lnSpc>
                <a:spcPts val="4107"/>
              </a:lnSpc>
              <a:spcBef>
                <a:spcPts val="687"/>
              </a:spcBef>
            </a:pPr>
            <a:r>
              <a:rPr lang="en-US" sz="3800" spc="20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lang="en-US" sz="3800" spc="20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spc="20" dirty="0" smtClean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the</a:t>
            </a:r>
            <a:r>
              <a:rPr sz="3800" spc="27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spc="-27" dirty="0">
                <a:solidFill>
                  <a:srgbClr val="002060"/>
                </a:solidFill>
                <a:latin typeface="Arial MT"/>
                <a:cs typeface="Arial MT"/>
              </a:rPr>
              <a:t>form </a:t>
            </a:r>
            <a:r>
              <a:rPr sz="3800" dirty="0">
                <a:solidFill>
                  <a:srgbClr val="002060"/>
                </a:solidFill>
                <a:latin typeface="Arial MT"/>
                <a:cs typeface="Arial MT"/>
              </a:rPr>
              <a:t>of</a:t>
            </a:r>
            <a:r>
              <a:rPr sz="3800" spc="13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3800" spc="-27" dirty="0">
                <a:solidFill>
                  <a:srgbClr val="002060"/>
                </a:solidFill>
                <a:latin typeface="Arial MT"/>
                <a:cs typeface="Arial MT"/>
              </a:rPr>
              <a:t>Pods</a:t>
            </a:r>
            <a:endParaRPr sz="3800" dirty="0">
              <a:solidFill>
                <a:srgbClr val="002060"/>
              </a:solidFill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84" y="1933904"/>
            <a:ext cx="10880875" cy="7545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885" y="3808203"/>
            <a:ext cx="11384039" cy="6446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0204" y="3059999"/>
            <a:ext cx="272541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002060"/>
                </a:solidFill>
                <a:latin typeface="Arial MT"/>
                <a:cs typeface="Arial MT"/>
              </a:rPr>
              <a:t>Update</a:t>
            </a:r>
            <a:r>
              <a:rPr sz="2400" spc="-53" dirty="0">
                <a:solidFill>
                  <a:srgbClr val="002060"/>
                </a:solidFill>
                <a:latin typeface="Arial MT"/>
                <a:cs typeface="Arial MT"/>
              </a:rPr>
              <a:t> </a:t>
            </a:r>
            <a:r>
              <a:rPr sz="2400" spc="-13" dirty="0">
                <a:solidFill>
                  <a:srgbClr val="002060"/>
                </a:solidFill>
                <a:latin typeface="Arial MT"/>
                <a:cs typeface="Arial MT"/>
              </a:rPr>
              <a:t>Deployment</a:t>
            </a:r>
            <a:endParaRPr sz="2400" dirty="0">
              <a:solidFill>
                <a:srgbClr val="002060"/>
              </a:solidFill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304" y="4650553"/>
            <a:ext cx="7121675" cy="22074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480800" y="8615561"/>
            <a:ext cx="3657600" cy="205976"/>
          </a:xfrm>
          <a:prstGeom prst="rect">
            <a:avLst/>
          </a:prstGeom>
        </p:spPr>
        <p:txBody>
          <a:bodyPr vert="horz" wrap="square" lIns="0" tIns="847" rIns="0" bIns="0" rtlCol="0" anchor="ctr">
            <a:spAutoFit/>
          </a:bodyPr>
          <a:lstStyle/>
          <a:p>
            <a:pPr marL="50799">
              <a:spcBef>
                <a:spcPts val="7"/>
              </a:spcBef>
            </a:pPr>
            <a:fld id="{81D60167-4931-47E6-BA6A-407CBD079E47}" type="slidenum">
              <a:rPr spc="-33" dirty="0"/>
              <a:pPr marL="50799">
                <a:spcBef>
                  <a:spcPts val="7"/>
                </a:spcBef>
              </a:pPr>
              <a:t>83</a:t>
            </a:fld>
            <a:endParaRPr spc="-33" dirty="0"/>
          </a:p>
        </p:txBody>
      </p:sp>
    </p:spTree>
    <p:extLst>
      <p:ext uri="{BB962C8B-B14F-4D97-AF65-F5344CB8AC3E}">
        <p14:creationId xmlns:p14="http://schemas.microsoft.com/office/powerpoint/2010/main" val="351405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513" y="407866"/>
            <a:ext cx="11288487" cy="807139"/>
          </a:xfrm>
          <a:prstGeom prst="rect">
            <a:avLst/>
          </a:prstGeom>
        </p:spPr>
        <p:txBody>
          <a:bodyPr vert="horz" wrap="square" lIns="0" tIns="261297" rIns="0" bIns="0" rtlCol="0" anchor="ctr">
            <a:spAutoFit/>
          </a:bodyPr>
          <a:lstStyle/>
          <a:p>
            <a:pPr marL="16933" marR="6773">
              <a:lnSpc>
                <a:spcPts val="4107"/>
              </a:lnSpc>
              <a:spcBef>
                <a:spcPts val="687"/>
              </a:spcBef>
            </a:pPr>
            <a:r>
              <a:rPr dirty="0"/>
              <a:t>3</a:t>
            </a:r>
            <a:r>
              <a:rPr spc="27" dirty="0"/>
              <a:t> </a:t>
            </a:r>
            <a:r>
              <a:rPr sz="3600" dirty="0">
                <a:solidFill>
                  <a:srgbClr val="002060"/>
                </a:solidFill>
              </a:rPr>
              <a:t>Instances</a:t>
            </a:r>
            <a:r>
              <a:rPr sz="3600" spc="20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of</a:t>
            </a:r>
            <a:r>
              <a:rPr sz="3600" spc="20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same</a:t>
            </a:r>
            <a:r>
              <a:rPr sz="3600" spc="27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Nginx</a:t>
            </a:r>
            <a:r>
              <a:rPr sz="3600" spc="-193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Apps</a:t>
            </a:r>
            <a:r>
              <a:rPr sz="3600" spc="27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running</a:t>
            </a:r>
            <a:r>
              <a:rPr sz="3600" spc="27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in</a:t>
            </a:r>
            <a:r>
              <a:rPr sz="3600" spc="20" dirty="0">
                <a:solidFill>
                  <a:srgbClr val="002060"/>
                </a:solidFill>
              </a:rPr>
              <a:t> </a:t>
            </a:r>
            <a:r>
              <a:rPr sz="3600" dirty="0">
                <a:solidFill>
                  <a:srgbClr val="002060"/>
                </a:solidFill>
              </a:rPr>
              <a:t>the</a:t>
            </a:r>
            <a:r>
              <a:rPr sz="3600" spc="27" dirty="0">
                <a:solidFill>
                  <a:srgbClr val="002060"/>
                </a:solidFill>
              </a:rPr>
              <a:t> </a:t>
            </a:r>
            <a:r>
              <a:rPr sz="3600" spc="-27" dirty="0">
                <a:solidFill>
                  <a:srgbClr val="002060"/>
                </a:solidFill>
              </a:rPr>
              <a:t>form </a:t>
            </a:r>
            <a:r>
              <a:rPr sz="3600" dirty="0">
                <a:solidFill>
                  <a:srgbClr val="002060"/>
                </a:solidFill>
              </a:rPr>
              <a:t>of</a:t>
            </a:r>
            <a:r>
              <a:rPr sz="3600" spc="13" dirty="0">
                <a:solidFill>
                  <a:srgbClr val="002060"/>
                </a:solidFill>
              </a:rPr>
              <a:t> </a:t>
            </a:r>
            <a:r>
              <a:rPr sz="3600" spc="-27" dirty="0">
                <a:solidFill>
                  <a:srgbClr val="002060"/>
                </a:solidFill>
              </a:rPr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513" y="1592875"/>
            <a:ext cx="8756953" cy="3431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513" y="5410762"/>
            <a:ext cx="10547047" cy="8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3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781" y="671361"/>
            <a:ext cx="4745869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Scaling</a:t>
            </a:r>
            <a:r>
              <a:rPr spc="-33" dirty="0">
                <a:solidFill>
                  <a:srgbClr val="002060"/>
                </a:solidFill>
              </a:rPr>
              <a:t> 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781" y="1890903"/>
            <a:ext cx="10847009" cy="13466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3926368"/>
            <a:ext cx="10692191" cy="235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1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50" y="418628"/>
            <a:ext cx="619760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>
                <a:solidFill>
                  <a:srgbClr val="002060"/>
                </a:solidFill>
              </a:rPr>
              <a:t>Listing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Pods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dirty="0">
                <a:solidFill>
                  <a:srgbClr val="002060"/>
                </a:solidFill>
              </a:rPr>
              <a:t>by</a:t>
            </a:r>
            <a:r>
              <a:rPr spc="-7" dirty="0">
                <a:solidFill>
                  <a:srgbClr val="002060"/>
                </a:solidFill>
              </a:rPr>
              <a:t> </a:t>
            </a:r>
            <a:r>
              <a:rPr spc="-13" dirty="0">
                <a:solidFill>
                  <a:srgbClr val="002060"/>
                </a:solidFill>
              </a:rPr>
              <a:t>Labels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751" y="1893748"/>
            <a:ext cx="10711541" cy="259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6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7" y="1775703"/>
            <a:ext cx="2631440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spc="-13" dirty="0">
                <a:solidFill>
                  <a:srgbClr val="C00000"/>
                </a:solidFill>
              </a:rPr>
              <a:t>Services</a:t>
            </a:r>
            <a:endParaRPr sz="5333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53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30" y="687319"/>
            <a:ext cx="508417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2060"/>
                </a:solidFill>
              </a:rPr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980" y="1813434"/>
            <a:ext cx="9168553" cy="24411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93035" indent="-176102">
              <a:spcBef>
                <a:spcPts val="133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Imagine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that,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been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asked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deploy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web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193035" indent="-176102">
              <a:buClr>
                <a:srgbClr val="FFAB40"/>
              </a:buClr>
              <a:buChar char="•"/>
              <a:tabLst>
                <a:tab pos="193035" algn="l"/>
                <a:tab pos="3844617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does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frontend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	web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exposed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outside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world?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front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end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connected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backend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database?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  <a:tab pos="5810528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How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resolve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Pod</a:t>
            </a:r>
            <a:r>
              <a:rPr sz="2667" spc="-6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IP</a:t>
            </a:r>
            <a:r>
              <a:rPr sz="2667" spc="-10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changes,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	when</a:t>
            </a:r>
            <a:r>
              <a:rPr sz="2667" spc="-5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they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die?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5820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79" y="660023"/>
            <a:ext cx="5166771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lang="en-US" spc="-13" dirty="0" smtClean="0">
                <a:solidFill>
                  <a:srgbClr val="002060"/>
                </a:solidFill>
              </a:rPr>
              <a:t>Scopes</a:t>
            </a:r>
            <a:endParaRPr spc="-13" dirty="0">
              <a:solidFill>
                <a:srgbClr val="00206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979" y="1813433"/>
            <a:ext cx="4257040" cy="245398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93035" indent="-176102">
              <a:spcBef>
                <a:spcPts val="133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Why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do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sz="2667" spc="-4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services?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193035" indent="-176102"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What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sz="2667" spc="-2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Service?</a:t>
            </a:r>
            <a:endParaRPr sz="2667">
              <a:latin typeface="Arial MT"/>
              <a:cs typeface="Arial MT"/>
            </a:endParaRPr>
          </a:p>
          <a:p>
            <a:pPr>
              <a:spcBef>
                <a:spcPts val="1533"/>
              </a:spcBef>
              <a:buClr>
                <a:srgbClr val="FFAB40"/>
              </a:buClr>
              <a:buFont typeface="Arial MT"/>
              <a:buChar char="•"/>
            </a:pPr>
            <a:endParaRPr sz="2667">
              <a:latin typeface="Arial MT"/>
              <a:cs typeface="Arial MT"/>
            </a:endParaRPr>
          </a:p>
          <a:p>
            <a:pPr marL="193035" indent="-176102"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Type</a:t>
            </a:r>
            <a:r>
              <a:rPr sz="2667" spc="-9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sz="2667" spc="-8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Services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2657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57897" y="1406806"/>
            <a:ext cx="3959860" cy="4187613"/>
            <a:chOff x="5068422" y="1055104"/>
            <a:chExt cx="2969895" cy="3140710"/>
          </a:xfrm>
        </p:grpSpPr>
        <p:sp>
          <p:nvSpPr>
            <p:cNvPr id="3" name="object 3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1828799" y="402772"/>
                  </a:moveTo>
                  <a:lnTo>
                    <a:pt x="0" y="402772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4027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0" y="0"/>
                  </a:moveTo>
                  <a:lnTo>
                    <a:pt x="1828799" y="0"/>
                  </a:lnTo>
                  <a:lnTo>
                    <a:pt x="1828799" y="402772"/>
                  </a:lnTo>
                  <a:lnTo>
                    <a:pt x="0" y="402772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2464033" y="3127829"/>
                  </a:move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2168" y="292878"/>
            <a:ext cx="1904153" cy="699336"/>
          </a:xfrm>
          <a:prstGeom prst="rect">
            <a:avLst/>
          </a:prstGeom>
        </p:spPr>
        <p:txBody>
          <a:bodyPr vert="horz" wrap="square" lIns="0" tIns="220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2060"/>
                </a:solidFill>
              </a:rPr>
              <a:t>Services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40951" y="1335314"/>
            <a:ext cx="1993900" cy="296662"/>
          </a:xfrm>
          <a:prstGeom prst="rect">
            <a:avLst/>
          </a:prstGeom>
          <a:solidFill>
            <a:srgbClr val="7030A0"/>
          </a:solidFill>
          <a:ln w="12699">
            <a:solidFill>
              <a:srgbClr val="127BB4"/>
            </a:solidFill>
          </a:ln>
        </p:spPr>
        <p:txBody>
          <a:bodyPr vert="horz" wrap="square" lIns="0" tIns="49953" rIns="0" bIns="0" rtlCol="0">
            <a:spAutoFit/>
          </a:bodyPr>
          <a:lstStyle/>
          <a:p>
            <a:pPr marL="459729">
              <a:spcBef>
                <a:spcPts val="393"/>
              </a:spcBef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192.168.1.1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858132" y="4565331"/>
            <a:ext cx="2071793" cy="688340"/>
            <a:chOff x="5893598" y="3423998"/>
            <a:chExt cx="1553845" cy="516255"/>
          </a:xfrm>
        </p:grpSpPr>
        <p:sp>
          <p:nvSpPr>
            <p:cNvPr id="10" name="object 10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1540651" y="392009"/>
                  </a:moveTo>
                  <a:lnTo>
                    <a:pt x="0" y="392009"/>
                  </a:lnTo>
                  <a:lnTo>
                    <a:pt x="0" y="0"/>
                  </a:lnTo>
                  <a:lnTo>
                    <a:pt x="1540651" y="0"/>
                  </a:lnTo>
                  <a:lnTo>
                    <a:pt x="1540651" y="39200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0" y="0"/>
                  </a:moveTo>
                  <a:lnTo>
                    <a:pt x="1540651" y="0"/>
                  </a:lnTo>
                  <a:lnTo>
                    <a:pt x="1540651" y="392009"/>
                  </a:lnTo>
                  <a:lnTo>
                    <a:pt x="0" y="39200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1149218" y="189639"/>
                  </a:moveTo>
                  <a:lnTo>
                    <a:pt x="0" y="189639"/>
                  </a:lnTo>
                  <a:lnTo>
                    <a:pt x="0" y="0"/>
                  </a:lnTo>
                  <a:lnTo>
                    <a:pt x="1149218" y="0"/>
                  </a:lnTo>
                  <a:lnTo>
                    <a:pt x="1149218" y="1896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0" y="0"/>
                  </a:moveTo>
                  <a:lnTo>
                    <a:pt x="1149218" y="0"/>
                  </a:lnTo>
                  <a:lnTo>
                    <a:pt x="1149218" y="189639"/>
                  </a:lnTo>
                  <a:lnTo>
                    <a:pt x="0" y="1896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81951" y="4573797"/>
            <a:ext cx="1532467" cy="153888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4649">
              <a:lnSpc>
                <a:spcPts val="1167"/>
              </a:lnSpc>
            </a:pPr>
            <a:r>
              <a:rPr sz="1600" spc="-13" dirty="0">
                <a:solidFill>
                  <a:srgbClr val="FFFFFF"/>
                </a:solidFill>
                <a:latin typeface="Arial MT"/>
                <a:cs typeface="Arial MT"/>
              </a:rPr>
              <a:t>app:db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017935" y="4893170"/>
            <a:ext cx="3159760" cy="312420"/>
            <a:chOff x="6013451" y="3669877"/>
            <a:chExt cx="2369820" cy="234315"/>
          </a:xfrm>
        </p:grpSpPr>
        <p:sp>
          <p:nvSpPr>
            <p:cNvPr id="16" name="object 16"/>
            <p:cNvSpPr/>
            <p:nvPr/>
          </p:nvSpPr>
          <p:spPr>
            <a:xfrm>
              <a:off x="7522777" y="3737366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1" y="3698807"/>
              <a:ext cx="253451" cy="1842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19801" y="369880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1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9038" y="3713323"/>
              <a:ext cx="253452" cy="184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19038" y="3713323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5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5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3600" y="3694396"/>
              <a:ext cx="253452" cy="1842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23600" y="3694396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0081" y="3676227"/>
              <a:ext cx="253452" cy="184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30081" y="367622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212522" y="4824228"/>
            <a:ext cx="824653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Backend </a:t>
            </a: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64281" y="5757689"/>
            <a:ext cx="7628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Arial MT"/>
                <a:cs typeface="Arial MT"/>
              </a:rPr>
              <a:t>Node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03846" y="3856082"/>
            <a:ext cx="2003213" cy="238591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76853">
              <a:spcBef>
                <a:spcPts val="100"/>
              </a:spcBef>
            </a:pPr>
            <a:r>
              <a:rPr sz="1467" spc="-13" dirty="0">
                <a:solidFill>
                  <a:srgbClr val="FFFFFF"/>
                </a:solidFill>
                <a:latin typeface="Arial MT"/>
                <a:cs typeface="Arial MT"/>
              </a:rPr>
              <a:t>Service(backend)</a:t>
            </a:r>
            <a:endParaRPr sz="1467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0150" y="2557749"/>
            <a:ext cx="1986340" cy="971484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7803844" y="2163462"/>
            <a:ext cx="2003213" cy="238591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287013">
              <a:spcBef>
                <a:spcPts val="100"/>
              </a:spcBef>
            </a:pPr>
            <a:r>
              <a:rPr sz="1467" spc="-13" dirty="0">
                <a:solidFill>
                  <a:srgbClr val="FFFFFF"/>
                </a:solidFill>
                <a:latin typeface="Arial MT"/>
                <a:cs typeface="Arial MT"/>
              </a:rPr>
              <a:t>Service(frontend)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710271" y="1705550"/>
            <a:ext cx="2186093" cy="2856653"/>
            <a:chOff x="6532703" y="1279162"/>
            <a:chExt cx="1639570" cy="2142490"/>
          </a:xfrm>
        </p:grpSpPr>
        <p:sp>
          <p:nvSpPr>
            <p:cNvPr id="41" name="object 41"/>
            <p:cNvSpPr/>
            <p:nvPr/>
          </p:nvSpPr>
          <p:spPr>
            <a:xfrm>
              <a:off x="7312027" y="2341930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6713733" y="3172136"/>
              <a:ext cx="9525" cy="201295"/>
            </a:xfrm>
            <a:custGeom>
              <a:avLst/>
              <a:gdLst/>
              <a:ahLst/>
              <a:cxnLst/>
              <a:rect l="l" t="t" r="r" b="b"/>
              <a:pathLst>
                <a:path w="9525" h="201295">
                  <a:moveTo>
                    <a:pt x="9376" y="0"/>
                  </a:moveTo>
                  <a:lnTo>
                    <a:pt x="0" y="2011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0" y="42445"/>
                  </a:lnTo>
                  <a:lnTo>
                    <a:pt x="17728" y="0"/>
                  </a:lnTo>
                  <a:lnTo>
                    <a:pt x="3143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17728" y="0"/>
                  </a:lnTo>
                  <a:lnTo>
                    <a:pt x="0" y="42445"/>
                  </a:lnTo>
                  <a:lnTo>
                    <a:pt x="31431" y="4391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701" y="43911"/>
                  </a:moveTo>
                  <a:lnTo>
                    <a:pt x="0" y="0"/>
                  </a:lnTo>
                  <a:lnTo>
                    <a:pt x="31431" y="1465"/>
                  </a:lnTo>
                  <a:lnTo>
                    <a:pt x="1370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701" y="43911"/>
                  </a:lnTo>
                  <a:lnTo>
                    <a:pt x="31431" y="146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6599215" y="2613240"/>
              <a:ext cx="8890" cy="201295"/>
            </a:xfrm>
            <a:custGeom>
              <a:avLst/>
              <a:gdLst/>
              <a:ahLst/>
              <a:cxnLst/>
              <a:rect l="l" t="t" r="r" b="b"/>
              <a:pathLst>
                <a:path w="8890" h="201294">
                  <a:moveTo>
                    <a:pt x="0" y="0"/>
                  </a:moveTo>
                  <a:lnTo>
                    <a:pt x="8328" y="2011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3839"/>
                  </a:moveTo>
                  <a:lnTo>
                    <a:pt x="13930" y="0"/>
                  </a:lnTo>
                  <a:lnTo>
                    <a:pt x="31438" y="42537"/>
                  </a:lnTo>
                  <a:lnTo>
                    <a:pt x="0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8" y="42537"/>
                  </a:moveTo>
                  <a:lnTo>
                    <a:pt x="13930" y="0"/>
                  </a:lnTo>
                  <a:lnTo>
                    <a:pt x="0" y="43839"/>
                  </a:lnTo>
                  <a:lnTo>
                    <a:pt x="31438" y="4253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7507" y="43839"/>
                  </a:moveTo>
                  <a:lnTo>
                    <a:pt x="0" y="1301"/>
                  </a:lnTo>
                  <a:lnTo>
                    <a:pt x="31438" y="0"/>
                  </a:lnTo>
                  <a:lnTo>
                    <a:pt x="17507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1301"/>
                  </a:moveTo>
                  <a:lnTo>
                    <a:pt x="17507" y="43839"/>
                  </a:lnTo>
                  <a:lnTo>
                    <a:pt x="31438" y="0"/>
                  </a:lnTo>
                  <a:lnTo>
                    <a:pt x="0" y="130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6572490" y="1883982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19">
                  <a:moveTo>
                    <a:pt x="0" y="0"/>
                  </a:moveTo>
                  <a:lnTo>
                    <a:pt x="0" y="14676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6553198" y="1327150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h="238759">
                  <a:moveTo>
                    <a:pt x="0" y="0"/>
                  </a:moveTo>
                  <a:lnTo>
                    <a:pt x="0" y="23829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998949" y="2919396"/>
            <a:ext cx="847513" cy="513816"/>
          </a:xfrm>
          <a:prstGeom prst="rect">
            <a:avLst/>
          </a:prstGeom>
        </p:spPr>
        <p:txBody>
          <a:bodyPr vert="horz" wrap="square" lIns="0" tIns="26247" rIns="0" bIns="0" rtlCol="0">
            <a:spAutoFit/>
          </a:bodyPr>
          <a:lstStyle/>
          <a:p>
            <a:pPr marL="16933" marR="6773">
              <a:lnSpc>
                <a:spcPts val="1907"/>
              </a:lnSpc>
              <a:spcBef>
                <a:spcPts val="207"/>
              </a:spcBef>
            </a:pPr>
            <a:r>
              <a:rPr sz="1600" spc="-13" dirty="0">
                <a:latin typeface="Arial MT"/>
                <a:cs typeface="Arial MT"/>
              </a:rPr>
              <a:t>Frontend </a:t>
            </a:r>
            <a:r>
              <a:rPr sz="1600" spc="-33" dirty="0">
                <a:latin typeface="Arial MT"/>
                <a:cs typeface="Arial MT"/>
              </a:rPr>
              <a:t>Pod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860249" y="693723"/>
            <a:ext cx="2721185" cy="646007"/>
            <a:chOff x="5895186" y="520292"/>
            <a:chExt cx="2040889" cy="484505"/>
          </a:xfrm>
        </p:grpSpPr>
        <p:sp>
          <p:nvSpPr>
            <p:cNvPr id="66" name="object 66"/>
            <p:cNvSpPr/>
            <p:nvPr/>
          </p:nvSpPr>
          <p:spPr>
            <a:xfrm>
              <a:off x="5899948" y="644526"/>
              <a:ext cx="1549400" cy="355600"/>
            </a:xfrm>
            <a:custGeom>
              <a:avLst/>
              <a:gdLst/>
              <a:ahLst/>
              <a:cxnLst/>
              <a:rect l="l" t="t" r="r" b="b"/>
              <a:pathLst>
                <a:path w="1549400" h="355600">
                  <a:moveTo>
                    <a:pt x="0" y="355499"/>
                  </a:moveTo>
                  <a:lnTo>
                    <a:pt x="803249" y="355499"/>
                  </a:lnTo>
                  <a:lnTo>
                    <a:pt x="803249" y="0"/>
                  </a:lnTo>
                  <a:lnTo>
                    <a:pt x="15493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9" name="object 69"/>
            <p:cNvSpPr/>
            <p:nvPr/>
          </p:nvSpPr>
          <p:spPr>
            <a:xfrm>
              <a:off x="7526442" y="526642"/>
              <a:ext cx="403860" cy="236854"/>
            </a:xfrm>
            <a:custGeom>
              <a:avLst/>
              <a:gdLst/>
              <a:ahLst/>
              <a:cxnLst/>
              <a:rect l="l" t="t" r="r" b="b"/>
              <a:pathLst>
                <a:path w="403859" h="236854">
                  <a:moveTo>
                    <a:pt x="36537" y="78079"/>
                  </a:moveTo>
                  <a:lnTo>
                    <a:pt x="36639" y="63888"/>
                  </a:lnTo>
                  <a:lnTo>
                    <a:pt x="41540" y="50524"/>
                  </a:lnTo>
                  <a:lnTo>
                    <a:pt x="50817" y="38739"/>
                  </a:lnTo>
                  <a:lnTo>
                    <a:pt x="64043" y="29286"/>
                  </a:lnTo>
                  <a:lnTo>
                    <a:pt x="80032" y="23151"/>
                  </a:lnTo>
                  <a:lnTo>
                    <a:pt x="97194" y="20832"/>
                  </a:lnTo>
                  <a:lnTo>
                    <a:pt x="114494" y="22351"/>
                  </a:lnTo>
                  <a:lnTo>
                    <a:pt x="130901" y="27734"/>
                  </a:lnTo>
                  <a:lnTo>
                    <a:pt x="167317" y="7011"/>
                  </a:lnTo>
                  <a:lnTo>
                    <a:pt x="178938" y="6680"/>
                  </a:lnTo>
                  <a:lnTo>
                    <a:pt x="190193" y="8480"/>
                  </a:lnTo>
                  <a:lnTo>
                    <a:pt x="200636" y="12297"/>
                  </a:lnTo>
                  <a:lnTo>
                    <a:pt x="209818" y="18014"/>
                  </a:lnTo>
                  <a:lnTo>
                    <a:pt x="215597" y="11106"/>
                  </a:lnTo>
                  <a:lnTo>
                    <a:pt x="223236" y="5665"/>
                  </a:lnTo>
                  <a:lnTo>
                    <a:pt x="232325" y="1916"/>
                  </a:lnTo>
                  <a:lnTo>
                    <a:pt x="242452" y="85"/>
                  </a:lnTo>
                  <a:lnTo>
                    <a:pt x="252828" y="362"/>
                  </a:lnTo>
                  <a:lnTo>
                    <a:pt x="262633" y="2678"/>
                  </a:lnTo>
                  <a:lnTo>
                    <a:pt x="271411" y="6874"/>
                  </a:lnTo>
                  <a:lnTo>
                    <a:pt x="278706" y="12790"/>
                  </a:lnTo>
                  <a:lnTo>
                    <a:pt x="288355" y="5962"/>
                  </a:lnTo>
                  <a:lnTo>
                    <a:pt x="299788" y="1637"/>
                  </a:lnTo>
                  <a:lnTo>
                    <a:pt x="312271" y="0"/>
                  </a:lnTo>
                  <a:lnTo>
                    <a:pt x="325072" y="1231"/>
                  </a:lnTo>
                  <a:lnTo>
                    <a:pt x="336923" y="5288"/>
                  </a:lnTo>
                  <a:lnTo>
                    <a:pt x="346699" y="11700"/>
                  </a:lnTo>
                  <a:lnTo>
                    <a:pt x="353878" y="20017"/>
                  </a:lnTo>
                  <a:lnTo>
                    <a:pt x="357943" y="29787"/>
                  </a:lnTo>
                  <a:lnTo>
                    <a:pt x="389704" y="50953"/>
                  </a:lnTo>
                  <a:lnTo>
                    <a:pt x="394647" y="67428"/>
                  </a:lnTo>
                  <a:lnTo>
                    <a:pt x="393763" y="75872"/>
                  </a:lnTo>
                  <a:lnTo>
                    <a:pt x="390629" y="84063"/>
                  </a:lnTo>
                  <a:lnTo>
                    <a:pt x="398915" y="95544"/>
                  </a:lnTo>
                  <a:lnTo>
                    <a:pt x="403154" y="108138"/>
                  </a:lnTo>
                  <a:lnTo>
                    <a:pt x="403235" y="121182"/>
                  </a:lnTo>
                  <a:lnTo>
                    <a:pt x="399045" y="134008"/>
                  </a:lnTo>
                  <a:lnTo>
                    <a:pt x="390840" y="145526"/>
                  </a:lnTo>
                  <a:lnTo>
                    <a:pt x="379392" y="154810"/>
                  </a:lnTo>
                  <a:lnTo>
                    <a:pt x="365362" y="161448"/>
                  </a:lnTo>
                  <a:lnTo>
                    <a:pt x="349410" y="165026"/>
                  </a:lnTo>
                  <a:lnTo>
                    <a:pt x="347378" y="176426"/>
                  </a:lnTo>
                  <a:lnTo>
                    <a:pt x="307968" y="206694"/>
                  </a:lnTo>
                  <a:lnTo>
                    <a:pt x="293885" y="207863"/>
                  </a:lnTo>
                  <a:lnTo>
                    <a:pt x="279904" y="206068"/>
                  </a:lnTo>
                  <a:lnTo>
                    <a:pt x="266782" y="201325"/>
                  </a:lnTo>
                  <a:lnTo>
                    <a:pt x="232871" y="232604"/>
                  </a:lnTo>
                  <a:lnTo>
                    <a:pt x="197801" y="236790"/>
                  </a:lnTo>
                  <a:lnTo>
                    <a:pt x="180901" y="232930"/>
                  </a:lnTo>
                  <a:lnTo>
                    <a:pt x="165982" y="225479"/>
                  </a:lnTo>
                  <a:lnTo>
                    <a:pt x="154017" y="214784"/>
                  </a:lnTo>
                  <a:lnTo>
                    <a:pt x="141006" y="219720"/>
                  </a:lnTo>
                  <a:lnTo>
                    <a:pt x="127172" y="222466"/>
                  </a:lnTo>
                  <a:lnTo>
                    <a:pt x="112936" y="222973"/>
                  </a:lnTo>
                  <a:lnTo>
                    <a:pt x="98718" y="221193"/>
                  </a:lnTo>
                  <a:lnTo>
                    <a:pt x="85225" y="217182"/>
                  </a:lnTo>
                  <a:lnTo>
                    <a:pt x="73102" y="211165"/>
                  </a:lnTo>
                  <a:lnTo>
                    <a:pt x="62690" y="203352"/>
                  </a:lnTo>
                  <a:lnTo>
                    <a:pt x="54325" y="193949"/>
                  </a:lnTo>
                  <a:lnTo>
                    <a:pt x="13237" y="176322"/>
                  </a:lnTo>
                  <a:lnTo>
                    <a:pt x="9277" y="157061"/>
                  </a:lnTo>
                  <a:lnTo>
                    <a:pt x="12810" y="147712"/>
                  </a:lnTo>
                  <a:lnTo>
                    <a:pt x="19854" y="139464"/>
                  </a:lnTo>
                  <a:lnTo>
                    <a:pt x="9952" y="132912"/>
                  </a:lnTo>
                  <a:lnTo>
                    <a:pt x="3208" y="124418"/>
                  </a:lnTo>
                  <a:lnTo>
                    <a:pt x="0" y="114675"/>
                  </a:lnTo>
                  <a:lnTo>
                    <a:pt x="705" y="104375"/>
                  </a:lnTo>
                  <a:lnTo>
                    <a:pt x="5365" y="94764"/>
                  </a:lnTo>
                  <a:lnTo>
                    <a:pt x="13300" y="86965"/>
                  </a:lnTo>
                  <a:lnTo>
                    <a:pt x="23811" y="81482"/>
                  </a:lnTo>
                  <a:lnTo>
                    <a:pt x="36197" y="78818"/>
                  </a:lnTo>
                  <a:lnTo>
                    <a:pt x="36537" y="78079"/>
                  </a:lnTo>
                  <a:close/>
                </a:path>
                <a:path w="403859" h="236854">
                  <a:moveTo>
                    <a:pt x="19859" y="139462"/>
                  </a:moveTo>
                  <a:lnTo>
                    <a:pt x="27004" y="142829"/>
                  </a:lnTo>
                  <a:lnTo>
                    <a:pt x="35258" y="144357"/>
                  </a:lnTo>
                  <a:lnTo>
                    <a:pt x="43514" y="143839"/>
                  </a:lnTo>
                </a:path>
                <a:path w="403859" h="236854">
                  <a:moveTo>
                    <a:pt x="54326" y="193949"/>
                  </a:moveTo>
                  <a:lnTo>
                    <a:pt x="57876" y="193616"/>
                  </a:lnTo>
                  <a:lnTo>
                    <a:pt x="61356" y="192912"/>
                  </a:lnTo>
                  <a:lnTo>
                    <a:pt x="64676" y="191854"/>
                  </a:lnTo>
                </a:path>
                <a:path w="403859" h="236854">
                  <a:moveTo>
                    <a:pt x="154013" y="214783"/>
                  </a:moveTo>
                  <a:lnTo>
                    <a:pt x="151516" y="211786"/>
                  </a:lnTo>
                  <a:lnTo>
                    <a:pt x="149425" y="208582"/>
                  </a:lnTo>
                  <a:lnTo>
                    <a:pt x="147777" y="205228"/>
                  </a:lnTo>
                </a:path>
                <a:path w="403859" h="236854">
                  <a:moveTo>
                    <a:pt x="266782" y="201324"/>
                  </a:moveTo>
                  <a:lnTo>
                    <a:pt x="268070" y="197909"/>
                  </a:lnTo>
                  <a:lnTo>
                    <a:pt x="268904" y="194395"/>
                  </a:lnTo>
                  <a:lnTo>
                    <a:pt x="269272" y="190839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9137" y="604357"/>
              <a:ext cx="84281" cy="9366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562980" y="539434"/>
              <a:ext cx="322580" cy="73660"/>
            </a:xfrm>
            <a:custGeom>
              <a:avLst/>
              <a:gdLst/>
              <a:ahLst/>
              <a:cxnLst/>
              <a:rect l="l" t="t" r="r" b="b"/>
              <a:pathLst>
                <a:path w="322579" h="73659">
                  <a:moveTo>
                    <a:pt x="321404" y="16996"/>
                  </a:moveTo>
                  <a:lnTo>
                    <a:pt x="321920" y="19285"/>
                  </a:lnTo>
                  <a:lnTo>
                    <a:pt x="322159" y="21609"/>
                  </a:lnTo>
                  <a:lnTo>
                    <a:pt x="322118" y="23935"/>
                  </a:lnTo>
                </a:path>
                <a:path w="322579" h="73659">
                  <a:moveTo>
                    <a:pt x="242169" y="0"/>
                  </a:moveTo>
                  <a:lnTo>
                    <a:pt x="239338" y="2667"/>
                  </a:lnTo>
                  <a:lnTo>
                    <a:pt x="237005" y="5648"/>
                  </a:lnTo>
                  <a:lnTo>
                    <a:pt x="235243" y="8849"/>
                  </a:lnTo>
                </a:path>
                <a:path w="322579" h="73659">
                  <a:moveTo>
                    <a:pt x="173281" y="5222"/>
                  </a:moveTo>
                  <a:lnTo>
                    <a:pt x="171771" y="7645"/>
                  </a:lnTo>
                  <a:lnTo>
                    <a:pt x="170645" y="10208"/>
                  </a:lnTo>
                  <a:lnTo>
                    <a:pt x="169926" y="12854"/>
                  </a:lnTo>
                </a:path>
                <a:path w="322579" h="73659">
                  <a:moveTo>
                    <a:pt x="94363" y="14942"/>
                  </a:moveTo>
                  <a:lnTo>
                    <a:pt x="98768" y="17008"/>
                  </a:lnTo>
                  <a:lnTo>
                    <a:pt x="102845" y="19494"/>
                  </a:lnTo>
                  <a:lnTo>
                    <a:pt x="106501" y="22346"/>
                  </a:lnTo>
                </a:path>
                <a:path w="322579" h="73659">
                  <a:moveTo>
                    <a:pt x="0" y="65287"/>
                  </a:moveTo>
                  <a:lnTo>
                    <a:pt x="448" y="67925"/>
                  </a:lnTo>
                  <a:lnTo>
                    <a:pt x="1156" y="70530"/>
                  </a:lnTo>
                  <a:lnTo>
                    <a:pt x="2117" y="7307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10708835" y="831908"/>
            <a:ext cx="629920" cy="55033"/>
            <a:chOff x="8031626" y="623930"/>
            <a:chExt cx="472440" cy="41275"/>
          </a:xfrm>
        </p:grpSpPr>
        <p:sp>
          <p:nvSpPr>
            <p:cNvPr id="73" name="object 73"/>
            <p:cNvSpPr/>
            <p:nvPr/>
          </p:nvSpPr>
          <p:spPr>
            <a:xfrm>
              <a:off x="8031626" y="644425"/>
              <a:ext cx="424180" cy="0"/>
            </a:xfrm>
            <a:custGeom>
              <a:avLst/>
              <a:gdLst/>
              <a:ahLst/>
              <a:cxnLst/>
              <a:rect l="l" t="t" r="r" b="b"/>
              <a:pathLst>
                <a:path w="424179">
                  <a:moveTo>
                    <a:pt x="0" y="0"/>
                  </a:moveTo>
                  <a:lnTo>
                    <a:pt x="423853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4" name="object 74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5" name="object 75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1407091" y="686250"/>
            <a:ext cx="4631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7" dirty="0">
                <a:latin typeface="Arial MT"/>
                <a:cs typeface="Arial MT"/>
              </a:rPr>
              <a:t>User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3419" y="1715007"/>
            <a:ext cx="2437552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Frontend</a:t>
            </a:r>
            <a:r>
              <a:rPr sz="2400" u="heavy" spc="-5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1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Service: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93419" y="2451608"/>
            <a:ext cx="5487247" cy="76063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stays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2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33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frontend</a:t>
            </a:r>
            <a:r>
              <a:rPr sz="2400" spc="-53" dirty="0">
                <a:latin typeface="Arial MT"/>
                <a:cs typeface="Arial MT"/>
              </a:rPr>
              <a:t> </a:t>
            </a:r>
            <a:r>
              <a:rPr sz="2400" spc="-33" dirty="0">
                <a:latin typeface="Arial MT"/>
                <a:cs typeface="Arial MT"/>
              </a:rPr>
              <a:t>pod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93419" y="3556507"/>
            <a:ext cx="240368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Backend</a:t>
            </a:r>
            <a:r>
              <a:rPr sz="2400" u="heavy" spc="-6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spc="-13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Service: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93419" y="4293107"/>
            <a:ext cx="5317067" cy="76063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Service</a:t>
            </a:r>
            <a:r>
              <a:rPr sz="2400" spc="-47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communicate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3" dirty="0">
                <a:latin typeface="Arial MT"/>
                <a:cs typeface="Arial MT"/>
              </a:rPr>
              <a:t>between </a:t>
            </a:r>
            <a:r>
              <a:rPr sz="2400" dirty="0">
                <a:latin typeface="Arial MT"/>
                <a:cs typeface="Arial MT"/>
              </a:rPr>
              <a:t>frontend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3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backend</a:t>
            </a:r>
            <a:r>
              <a:rPr sz="2400" spc="-33" dirty="0">
                <a:latin typeface="Arial MT"/>
                <a:cs typeface="Arial MT"/>
              </a:rPr>
              <a:t> end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82412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5431" y="1240989"/>
            <a:ext cx="3147060" cy="812800"/>
          </a:xfrm>
          <a:custGeom>
            <a:avLst/>
            <a:gdLst/>
            <a:ahLst/>
            <a:cxnLst/>
            <a:rect l="l" t="t" r="r" b="b"/>
            <a:pathLst>
              <a:path w="2360295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3" y="7984"/>
                </a:lnTo>
                <a:lnTo>
                  <a:pt x="101601" y="0"/>
                </a:lnTo>
                <a:lnTo>
                  <a:pt x="2258139" y="0"/>
                </a:lnTo>
                <a:lnTo>
                  <a:pt x="2297021" y="7734"/>
                </a:lnTo>
                <a:lnTo>
                  <a:pt x="2329983" y="29758"/>
                </a:lnTo>
                <a:lnTo>
                  <a:pt x="2352008" y="62720"/>
                </a:lnTo>
                <a:lnTo>
                  <a:pt x="2359741" y="101601"/>
                </a:lnTo>
                <a:lnTo>
                  <a:pt x="2359741" y="507997"/>
                </a:lnTo>
                <a:lnTo>
                  <a:pt x="2351757" y="547546"/>
                </a:lnTo>
                <a:lnTo>
                  <a:pt x="2329983" y="579841"/>
                </a:lnTo>
                <a:lnTo>
                  <a:pt x="2297688" y="601615"/>
                </a:lnTo>
                <a:lnTo>
                  <a:pt x="2258139" y="609599"/>
                </a:lnTo>
                <a:lnTo>
                  <a:pt x="101601" y="609599"/>
                </a:lnTo>
                <a:lnTo>
                  <a:pt x="62053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28905" y="1440713"/>
            <a:ext cx="2438400" cy="38643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400" dirty="0">
                <a:solidFill>
                  <a:srgbClr val="000000"/>
                </a:solidFill>
              </a:rPr>
              <a:t>Types</a:t>
            </a:r>
            <a:r>
              <a:rPr sz="2400" spc="-93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of</a:t>
            </a:r>
            <a:r>
              <a:rPr sz="2400" spc="-87" dirty="0">
                <a:solidFill>
                  <a:srgbClr val="000000"/>
                </a:solidFill>
              </a:rPr>
              <a:t> </a:t>
            </a:r>
            <a:r>
              <a:rPr sz="2400" spc="-13" dirty="0">
                <a:solidFill>
                  <a:srgbClr val="000000"/>
                </a:solidFill>
              </a:rPr>
              <a:t>Services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019095" y="2130527"/>
            <a:ext cx="7459133" cy="2765213"/>
            <a:chOff x="1514321" y="1597895"/>
            <a:chExt cx="5594350" cy="2073910"/>
          </a:xfrm>
        </p:grpSpPr>
        <p:sp>
          <p:nvSpPr>
            <p:cNvPr id="5" name="object 5"/>
            <p:cNvSpPr/>
            <p:nvPr/>
          </p:nvSpPr>
          <p:spPr>
            <a:xfrm>
              <a:off x="1519084" y="1602657"/>
              <a:ext cx="5584825" cy="1258570"/>
            </a:xfrm>
            <a:custGeom>
              <a:avLst/>
              <a:gdLst/>
              <a:ahLst/>
              <a:cxnLst/>
              <a:rect l="l" t="t" r="r" b="b"/>
              <a:pathLst>
                <a:path w="5584825" h="1258570">
                  <a:moveTo>
                    <a:pt x="2649792" y="0"/>
                  </a:moveTo>
                  <a:lnTo>
                    <a:pt x="2649792" y="481780"/>
                  </a:lnTo>
                </a:path>
                <a:path w="5584825" h="1258570">
                  <a:moveTo>
                    <a:pt x="0" y="481780"/>
                  </a:moveTo>
                  <a:lnTo>
                    <a:pt x="5584722" y="481780"/>
                  </a:lnTo>
                </a:path>
                <a:path w="5584825" h="1258570">
                  <a:moveTo>
                    <a:pt x="0" y="481780"/>
                  </a:moveTo>
                  <a:lnTo>
                    <a:pt x="0" y="1258529"/>
                  </a:lnTo>
                </a:path>
                <a:path w="5584825" h="1258570">
                  <a:moveTo>
                    <a:pt x="2649792" y="481780"/>
                  </a:moveTo>
                  <a:lnTo>
                    <a:pt x="2649792" y="1258529"/>
                  </a:lnTo>
                </a:path>
                <a:path w="5584825" h="1258570">
                  <a:moveTo>
                    <a:pt x="5584722" y="481780"/>
                  </a:moveTo>
                  <a:lnTo>
                    <a:pt x="5584722" y="12585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2" y="660400"/>
                  </a:move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887290" y="249739"/>
                  </a:move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0" y="41624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181706" y="3891039"/>
            <a:ext cx="2014220" cy="1053253"/>
            <a:chOff x="886279" y="2918279"/>
            <a:chExt cx="1510665" cy="789940"/>
          </a:xfrm>
        </p:grpSpPr>
        <p:sp>
          <p:nvSpPr>
            <p:cNvPr id="11" name="object 11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3" y="660399"/>
                  </a:move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887290" y="249739"/>
                  </a:move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0" y="41623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43377" y="4084076"/>
            <a:ext cx="1146387" cy="789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ClusterIP</a:t>
            </a:r>
            <a:endParaRPr sz="2133">
              <a:latin typeface="Arial MT"/>
              <a:cs typeface="Arial MT"/>
            </a:endParaRPr>
          </a:p>
          <a:p>
            <a:pPr marL="342045">
              <a:spcBef>
                <a:spcPts val="1733"/>
              </a:spcBef>
            </a:pPr>
            <a:r>
              <a:rPr sz="1467" spc="-27" dirty="0">
                <a:solidFill>
                  <a:srgbClr val="FFFFFF"/>
                </a:solidFill>
                <a:latin typeface="Arial MT"/>
                <a:cs typeface="Arial MT"/>
              </a:rPr>
              <a:t>Node-</a:t>
            </a:r>
            <a:r>
              <a:rPr sz="1467" spc="-67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467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1096" y="4058940"/>
            <a:ext cx="1176867" cy="7762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NodePort</a:t>
            </a:r>
            <a:endParaRPr sz="2133">
              <a:latin typeface="Arial MT"/>
              <a:cs typeface="Arial MT"/>
            </a:endParaRPr>
          </a:p>
          <a:p>
            <a:pPr marL="408083">
              <a:spcBef>
                <a:spcPts val="1553"/>
              </a:spcBef>
            </a:pPr>
            <a:r>
              <a:rPr sz="1467" spc="-27" dirty="0">
                <a:solidFill>
                  <a:srgbClr val="FFFFFF"/>
                </a:solidFill>
                <a:latin typeface="Arial MT"/>
                <a:cs typeface="Arial MT"/>
              </a:rPr>
              <a:t>Node-</a:t>
            </a:r>
            <a:r>
              <a:rPr sz="1467" spc="-67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467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74351" y="3744625"/>
            <a:ext cx="2968413" cy="325120"/>
            <a:chOff x="6205763" y="2808469"/>
            <a:chExt cx="2226310" cy="243840"/>
          </a:xfrm>
        </p:grpSpPr>
        <p:sp>
          <p:nvSpPr>
            <p:cNvPr id="18" name="object 18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2174934" y="230965"/>
                  </a:move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0" y="38494"/>
                  </a:move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05690" y="3714198"/>
            <a:ext cx="17060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FFFFFF"/>
                </a:solidFill>
                <a:latin typeface="Arial MT"/>
                <a:cs typeface="Arial MT"/>
              </a:rPr>
              <a:t>LoadBalancer</a:t>
            </a:r>
            <a:endParaRPr sz="2133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85280" y="4878008"/>
            <a:ext cx="1004993" cy="735753"/>
            <a:chOff x="6138959" y="3658505"/>
            <a:chExt cx="753745" cy="551815"/>
          </a:xfrm>
        </p:grpSpPr>
        <p:sp>
          <p:nvSpPr>
            <p:cNvPr id="22" name="object 22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8390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8391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48733" y="5378041"/>
            <a:ext cx="47836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spc="-13" dirty="0">
                <a:solidFill>
                  <a:srgbClr val="FFFFFF"/>
                </a:solidFill>
                <a:latin typeface="Arial MT"/>
                <a:cs typeface="Arial MT"/>
              </a:rPr>
              <a:t>Node-</a:t>
            </a:r>
            <a:r>
              <a:rPr sz="1067" spc="-67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067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337994" y="4878008"/>
            <a:ext cx="1004993" cy="735753"/>
            <a:chOff x="7003495" y="3658505"/>
            <a:chExt cx="753745" cy="551815"/>
          </a:xfrm>
        </p:grpSpPr>
        <p:sp>
          <p:nvSpPr>
            <p:cNvPr id="28" name="object 28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601449" y="5378041"/>
            <a:ext cx="47836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spc="-13" dirty="0">
                <a:solidFill>
                  <a:srgbClr val="FFFFFF"/>
                </a:solidFill>
                <a:latin typeface="Arial MT"/>
                <a:cs typeface="Arial MT"/>
              </a:rPr>
              <a:t>Node-</a:t>
            </a:r>
            <a:r>
              <a:rPr sz="1067" spc="-67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067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503521" y="4876278"/>
            <a:ext cx="1004993" cy="735753"/>
            <a:chOff x="7877640" y="3657208"/>
            <a:chExt cx="753745" cy="551815"/>
          </a:xfrm>
        </p:grpSpPr>
        <p:sp>
          <p:nvSpPr>
            <p:cNvPr id="34" name="object 34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2"/>
                  </a:move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1" y="56577"/>
                  </a:ln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766975" y="5376313"/>
            <a:ext cx="47836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spc="-13" dirty="0">
                <a:solidFill>
                  <a:srgbClr val="FFFFFF"/>
                </a:solidFill>
                <a:latin typeface="Arial MT"/>
                <a:cs typeface="Arial MT"/>
              </a:rPr>
              <a:t>Node-</a:t>
            </a:r>
            <a:r>
              <a:rPr sz="1067" spc="-67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067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526982" y="4061048"/>
            <a:ext cx="2642447" cy="725593"/>
            <a:chOff x="6395236" y="3045785"/>
            <a:chExt cx="1981835" cy="544195"/>
          </a:xfrm>
        </p:grpSpPr>
        <p:sp>
          <p:nvSpPr>
            <p:cNvPr id="40" name="object 40"/>
            <p:cNvSpPr/>
            <p:nvPr/>
          </p:nvSpPr>
          <p:spPr>
            <a:xfrm>
              <a:off x="6415732" y="3384339"/>
              <a:ext cx="1941195" cy="144145"/>
            </a:xfrm>
            <a:custGeom>
              <a:avLst/>
              <a:gdLst/>
              <a:ahLst/>
              <a:cxnLst/>
              <a:rect l="l" t="t" r="r" b="b"/>
              <a:pathLst>
                <a:path w="1941195" h="144145">
                  <a:moveTo>
                    <a:pt x="0" y="0"/>
                  </a:moveTo>
                  <a:lnTo>
                    <a:pt x="1940667" y="0"/>
                  </a:lnTo>
                </a:path>
                <a:path w="1941195" h="144145">
                  <a:moveTo>
                    <a:pt x="0" y="10608"/>
                  </a:moveTo>
                  <a:lnTo>
                    <a:pt x="0" y="14353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1989" y="3394948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293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8356400" y="341511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62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8827" y="304578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9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40044" y="5383397"/>
            <a:ext cx="2773680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8131" marR="204042" indent="-342045">
              <a:lnSpc>
                <a:spcPts val="2200"/>
              </a:lnSpc>
              <a:spcBef>
                <a:spcPts val="240"/>
              </a:spcBef>
              <a:buChar char="-"/>
              <a:tabLst>
                <a:tab pos="358131" algn="l"/>
              </a:tabLst>
            </a:pPr>
            <a:r>
              <a:rPr sz="1867" dirty="0">
                <a:latin typeface="Arial MT"/>
                <a:cs typeface="Arial MT"/>
              </a:rPr>
              <a:t>Reachable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within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spc="-33" dirty="0">
                <a:latin typeface="Arial MT"/>
                <a:cs typeface="Arial MT"/>
              </a:rPr>
              <a:t>the </a:t>
            </a:r>
            <a:r>
              <a:rPr sz="1867" spc="-13" dirty="0">
                <a:latin typeface="Arial MT"/>
                <a:cs typeface="Arial MT"/>
              </a:rPr>
              <a:t>cluster.</a:t>
            </a:r>
            <a:endParaRPr sz="1867">
              <a:latin typeface="Arial MT"/>
              <a:cs typeface="Arial MT"/>
            </a:endParaRPr>
          </a:p>
          <a:p>
            <a:pPr marL="358131" marR="6773" indent="-342045">
              <a:lnSpc>
                <a:spcPts val="2200"/>
              </a:lnSpc>
              <a:buChar char="-"/>
              <a:tabLst>
                <a:tab pos="358131" algn="l"/>
              </a:tabLst>
            </a:pPr>
            <a:r>
              <a:rPr sz="1867" dirty="0">
                <a:latin typeface="Arial MT"/>
                <a:cs typeface="Arial MT"/>
              </a:rPr>
              <a:t>Connects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Frontend </a:t>
            </a:r>
            <a:r>
              <a:rPr sz="1867" dirty="0">
                <a:latin typeface="Arial MT"/>
                <a:cs typeface="Arial MT"/>
              </a:rPr>
              <a:t>Pods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Backend</a:t>
            </a:r>
            <a:r>
              <a:rPr sz="1867" spc="-20" dirty="0">
                <a:latin typeface="Arial MT"/>
                <a:cs typeface="Arial MT"/>
              </a:rPr>
              <a:t> </a:t>
            </a:r>
            <a:r>
              <a:rPr sz="1867" spc="-27" dirty="0">
                <a:latin typeface="Arial MT"/>
                <a:cs typeface="Arial MT"/>
              </a:rPr>
              <a:t>Pods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87202" y="5292809"/>
            <a:ext cx="282617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8131" marR="6773" indent="-342045">
              <a:lnSpc>
                <a:spcPts val="2200"/>
              </a:lnSpc>
              <a:spcBef>
                <a:spcPts val="240"/>
              </a:spcBef>
              <a:tabLst>
                <a:tab pos="358131" algn="l"/>
              </a:tabLst>
            </a:pPr>
            <a:r>
              <a:rPr sz="1867" spc="-67" dirty="0">
                <a:latin typeface="Arial MT"/>
                <a:cs typeface="Arial MT"/>
              </a:rPr>
              <a:t>-</a:t>
            </a:r>
            <a:r>
              <a:rPr sz="1867" dirty="0">
                <a:latin typeface="Arial MT"/>
                <a:cs typeface="Arial MT"/>
              </a:rPr>
              <a:t>	Exposing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Frontend</a:t>
            </a:r>
            <a:r>
              <a:rPr sz="1867" spc="-53" dirty="0">
                <a:latin typeface="Arial MT"/>
                <a:cs typeface="Arial MT"/>
              </a:rPr>
              <a:t> </a:t>
            </a:r>
            <a:r>
              <a:rPr sz="1867" spc="-33" dirty="0">
                <a:latin typeface="Arial MT"/>
                <a:cs typeface="Arial MT"/>
              </a:rPr>
              <a:t>app </a:t>
            </a:r>
            <a:r>
              <a:rPr sz="1867" dirty="0">
                <a:latin typeface="Arial MT"/>
                <a:cs typeface="Arial MT"/>
              </a:rPr>
              <a:t>to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external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world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46077" y="5877891"/>
            <a:ext cx="32080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358131" algn="l"/>
              </a:tabLst>
            </a:pPr>
            <a:r>
              <a:rPr sz="1867" spc="-67" dirty="0">
                <a:latin typeface="Arial MT"/>
                <a:cs typeface="Arial MT"/>
              </a:rPr>
              <a:t>-</a:t>
            </a:r>
            <a:r>
              <a:rPr sz="1867" dirty="0">
                <a:latin typeface="Arial MT"/>
                <a:cs typeface="Arial MT"/>
              </a:rPr>
              <a:t>	Equally</a:t>
            </a:r>
            <a:r>
              <a:rPr sz="1867" spc="-47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distribute</a:t>
            </a:r>
            <a:r>
              <a:rPr sz="1867" spc="-33" dirty="0">
                <a:latin typeface="Arial MT"/>
                <a:cs typeface="Arial MT"/>
              </a:rPr>
              <a:t> </a:t>
            </a:r>
            <a:r>
              <a:rPr sz="1867" dirty="0">
                <a:latin typeface="Arial MT"/>
                <a:cs typeface="Arial MT"/>
              </a:rPr>
              <a:t>the</a:t>
            </a:r>
            <a:r>
              <a:rPr sz="1867" spc="-27" dirty="0">
                <a:latin typeface="Arial MT"/>
                <a:cs typeface="Arial MT"/>
              </a:rPr>
              <a:t> </a:t>
            </a:r>
            <a:r>
              <a:rPr sz="1867" spc="-13" dirty="0">
                <a:latin typeface="Arial MT"/>
                <a:cs typeface="Arial MT"/>
              </a:rPr>
              <a:t>loads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2207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1767" y="1775703"/>
            <a:ext cx="5781887" cy="837772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5333" dirty="0">
                <a:solidFill>
                  <a:srgbClr val="002060"/>
                </a:solidFill>
              </a:rPr>
              <a:t>Services:</a:t>
            </a:r>
            <a:r>
              <a:rPr sz="5333" spc="-305" dirty="0">
                <a:solidFill>
                  <a:srgbClr val="002060"/>
                </a:solidFill>
              </a:rPr>
              <a:t> </a:t>
            </a:r>
            <a:r>
              <a:rPr sz="5333" spc="-13" dirty="0">
                <a:solidFill>
                  <a:srgbClr val="002060"/>
                </a:solidFill>
              </a:rPr>
              <a:t>ClusterIP</a:t>
            </a:r>
            <a:endParaRPr sz="5333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41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3900" y="875828"/>
            <a:ext cx="7994650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spc="-13" dirty="0">
                <a:solidFill>
                  <a:srgbClr val="002060"/>
                </a:solidFill>
              </a:rPr>
              <a:t>Services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23900" y="2605617"/>
            <a:ext cx="11106150" cy="1676527"/>
          </a:xfrm>
          <a:prstGeom prst="rect">
            <a:avLst/>
          </a:prstGeom>
        </p:spPr>
        <p:txBody>
          <a:bodyPr vert="horz" wrap="square" lIns="0" tIns="60113" rIns="0" bIns="0" rtlCol="0">
            <a:spAutoFit/>
          </a:bodyPr>
          <a:lstStyle/>
          <a:p>
            <a:pPr marL="192189" marR="285320" indent="-176102">
              <a:lnSpc>
                <a:spcPts val="2907"/>
              </a:lnSpc>
              <a:spcBef>
                <a:spcPts val="473"/>
              </a:spcBef>
              <a:buClr>
                <a:srgbClr val="FFAB40"/>
              </a:buClr>
              <a:tabLst>
                <a:tab pos="193882" algn="l"/>
                <a:tab pos="2282556" algn="l"/>
              </a:tabLst>
            </a:pPr>
            <a:r>
              <a:rPr dirty="0"/>
              <a:t>Imagine</a:t>
            </a:r>
            <a:r>
              <a:rPr spc="-67" dirty="0"/>
              <a:t> </a:t>
            </a:r>
            <a:r>
              <a:rPr dirty="0"/>
              <a:t>you</a:t>
            </a:r>
            <a:r>
              <a:rPr spc="-67" dirty="0"/>
              <a:t> </a:t>
            </a:r>
            <a:r>
              <a:rPr dirty="0"/>
              <a:t>need</a:t>
            </a:r>
            <a:r>
              <a:rPr spc="-60" dirty="0"/>
              <a:t> </a:t>
            </a:r>
            <a:r>
              <a:rPr dirty="0"/>
              <a:t>to</a:t>
            </a:r>
            <a:r>
              <a:rPr spc="-67" dirty="0"/>
              <a:t> </a:t>
            </a:r>
            <a:r>
              <a:rPr dirty="0"/>
              <a:t>deploy</a:t>
            </a:r>
            <a:r>
              <a:rPr spc="-67" dirty="0"/>
              <a:t> </a:t>
            </a:r>
            <a:r>
              <a:rPr dirty="0"/>
              <a:t>one</a:t>
            </a:r>
            <a:r>
              <a:rPr spc="-60" dirty="0"/>
              <a:t> </a:t>
            </a:r>
            <a:r>
              <a:rPr dirty="0"/>
              <a:t>full</a:t>
            </a:r>
            <a:r>
              <a:rPr spc="-67" dirty="0"/>
              <a:t> </a:t>
            </a:r>
            <a:r>
              <a:rPr dirty="0"/>
              <a:t>fledge</a:t>
            </a:r>
            <a:r>
              <a:rPr spc="-60" dirty="0"/>
              <a:t> </a:t>
            </a:r>
            <a:r>
              <a:rPr dirty="0"/>
              <a:t>app</a:t>
            </a:r>
            <a:r>
              <a:rPr spc="-67" dirty="0"/>
              <a:t> </a:t>
            </a:r>
            <a:r>
              <a:rPr dirty="0"/>
              <a:t>which</a:t>
            </a:r>
            <a:r>
              <a:rPr spc="-67" dirty="0"/>
              <a:t> </a:t>
            </a:r>
            <a:r>
              <a:rPr dirty="0"/>
              <a:t>consists</a:t>
            </a:r>
            <a:r>
              <a:rPr spc="-60" dirty="0"/>
              <a:t> </a:t>
            </a:r>
            <a:r>
              <a:rPr spc="-33" dirty="0"/>
              <a:t>of 	</a:t>
            </a:r>
            <a:r>
              <a:rPr dirty="0"/>
              <a:t>frontend</a:t>
            </a:r>
            <a:r>
              <a:rPr spc="-53" dirty="0"/>
              <a:t> </a:t>
            </a:r>
            <a:r>
              <a:rPr spc="-33" dirty="0"/>
              <a:t>app</a:t>
            </a:r>
            <a:r>
              <a:rPr dirty="0"/>
              <a:t>	&amp;</a:t>
            </a:r>
            <a:r>
              <a:rPr spc="-87" dirty="0"/>
              <a:t> </a:t>
            </a:r>
            <a:r>
              <a:rPr dirty="0"/>
              <a:t>backend</a:t>
            </a:r>
            <a:r>
              <a:rPr spc="-87" dirty="0"/>
              <a:t> </a:t>
            </a:r>
            <a:r>
              <a:rPr spc="-33" dirty="0"/>
              <a:t>app</a:t>
            </a:r>
          </a:p>
          <a:p>
            <a:pPr marL="192189" marR="6773" indent="-176102">
              <a:lnSpc>
                <a:spcPts val="2907"/>
              </a:lnSpc>
              <a:buClr>
                <a:srgbClr val="FFAB40"/>
              </a:buClr>
              <a:tabLst>
                <a:tab pos="193882" algn="l"/>
              </a:tabLst>
            </a:pPr>
            <a:r>
              <a:rPr dirty="0" smtClean="0"/>
              <a:t>How</a:t>
            </a:r>
            <a:r>
              <a:rPr spc="-60" dirty="0" smtClean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we</a:t>
            </a:r>
            <a:r>
              <a:rPr spc="-53" dirty="0"/>
              <a:t> </a:t>
            </a:r>
            <a:r>
              <a:rPr dirty="0"/>
              <a:t>restrict</a:t>
            </a:r>
            <a:r>
              <a:rPr spc="-60" dirty="0"/>
              <a:t> </a:t>
            </a:r>
            <a:r>
              <a:rPr dirty="0"/>
              <a:t>access</a:t>
            </a:r>
            <a:r>
              <a:rPr spc="-60" dirty="0"/>
              <a:t> </a:t>
            </a:r>
            <a:r>
              <a:rPr dirty="0"/>
              <a:t>of</a:t>
            </a:r>
            <a:r>
              <a:rPr spc="-53" dirty="0"/>
              <a:t> </a:t>
            </a:r>
            <a:r>
              <a:rPr dirty="0"/>
              <a:t>backend</a:t>
            </a:r>
            <a:r>
              <a:rPr spc="-60" dirty="0"/>
              <a:t> </a:t>
            </a:r>
            <a:r>
              <a:rPr dirty="0"/>
              <a:t>database</a:t>
            </a:r>
            <a:r>
              <a:rPr spc="-60" dirty="0"/>
              <a:t> </a:t>
            </a:r>
            <a:r>
              <a:rPr dirty="0"/>
              <a:t>to</a:t>
            </a:r>
            <a:r>
              <a:rPr spc="-53" dirty="0"/>
              <a:t> </a:t>
            </a:r>
            <a:r>
              <a:rPr dirty="0"/>
              <a:t>only</a:t>
            </a:r>
            <a:r>
              <a:rPr spc="-60" dirty="0"/>
              <a:t> </a:t>
            </a:r>
            <a:r>
              <a:rPr dirty="0"/>
              <a:t>within</a:t>
            </a:r>
            <a:r>
              <a:rPr spc="-60" dirty="0"/>
              <a:t> </a:t>
            </a:r>
            <a:r>
              <a:rPr spc="-33" dirty="0"/>
              <a:t>the 	</a:t>
            </a:r>
            <a:r>
              <a:rPr dirty="0"/>
              <a:t>kubernetes</a:t>
            </a:r>
            <a:r>
              <a:rPr spc="-7" dirty="0"/>
              <a:t> </a:t>
            </a:r>
            <a:r>
              <a:rPr spc="-13" dirty="0"/>
              <a:t>cluster?</a:t>
            </a:r>
          </a:p>
        </p:txBody>
      </p:sp>
    </p:spTree>
    <p:extLst>
      <p:ext uri="{BB962C8B-B14F-4D97-AF65-F5344CB8AC3E}">
        <p14:creationId xmlns:p14="http://schemas.microsoft.com/office/powerpoint/2010/main" val="113328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0828" y="384823"/>
            <a:ext cx="10386907" cy="5807287"/>
            <a:chOff x="795621" y="288617"/>
            <a:chExt cx="7790180" cy="4355465"/>
          </a:xfrm>
        </p:grpSpPr>
        <p:sp>
          <p:nvSpPr>
            <p:cNvPr id="3" name="object 3"/>
            <p:cNvSpPr/>
            <p:nvPr/>
          </p:nvSpPr>
          <p:spPr>
            <a:xfrm>
              <a:off x="801971" y="439032"/>
              <a:ext cx="7777480" cy="4198620"/>
            </a:xfrm>
            <a:custGeom>
              <a:avLst/>
              <a:gdLst/>
              <a:ahLst/>
              <a:cxnLst/>
              <a:rect l="l" t="t" r="r" b="b"/>
              <a:pathLst>
                <a:path w="7777480" h="4198620">
                  <a:moveTo>
                    <a:pt x="0" y="699743"/>
                  </a:moveTo>
                  <a:lnTo>
                    <a:pt x="1614" y="651834"/>
                  </a:lnTo>
                  <a:lnTo>
                    <a:pt x="6387" y="604792"/>
                  </a:lnTo>
                  <a:lnTo>
                    <a:pt x="14216" y="558720"/>
                  </a:lnTo>
                  <a:lnTo>
                    <a:pt x="24995" y="513723"/>
                  </a:lnTo>
                  <a:lnTo>
                    <a:pt x="38621" y="469905"/>
                  </a:lnTo>
                  <a:lnTo>
                    <a:pt x="54989" y="427371"/>
                  </a:lnTo>
                  <a:lnTo>
                    <a:pt x="73995" y="386224"/>
                  </a:lnTo>
                  <a:lnTo>
                    <a:pt x="95535" y="346569"/>
                  </a:lnTo>
                  <a:lnTo>
                    <a:pt x="119505" y="308510"/>
                  </a:lnTo>
                  <a:lnTo>
                    <a:pt x="145800" y="272150"/>
                  </a:lnTo>
                  <a:lnTo>
                    <a:pt x="174316" y="237596"/>
                  </a:lnTo>
                  <a:lnTo>
                    <a:pt x="204950" y="204950"/>
                  </a:lnTo>
                  <a:lnTo>
                    <a:pt x="237596" y="174316"/>
                  </a:lnTo>
                  <a:lnTo>
                    <a:pt x="272150" y="145800"/>
                  </a:lnTo>
                  <a:lnTo>
                    <a:pt x="308510" y="119505"/>
                  </a:lnTo>
                  <a:lnTo>
                    <a:pt x="346569" y="95535"/>
                  </a:lnTo>
                  <a:lnTo>
                    <a:pt x="386224" y="73995"/>
                  </a:lnTo>
                  <a:lnTo>
                    <a:pt x="427371" y="54989"/>
                  </a:lnTo>
                  <a:lnTo>
                    <a:pt x="469905" y="38621"/>
                  </a:lnTo>
                  <a:lnTo>
                    <a:pt x="513723" y="24995"/>
                  </a:lnTo>
                  <a:lnTo>
                    <a:pt x="558720" y="14216"/>
                  </a:lnTo>
                  <a:lnTo>
                    <a:pt x="604792" y="6387"/>
                  </a:lnTo>
                  <a:lnTo>
                    <a:pt x="651834" y="1614"/>
                  </a:lnTo>
                  <a:lnTo>
                    <a:pt x="699743" y="0"/>
                  </a:lnTo>
                  <a:lnTo>
                    <a:pt x="7077572" y="0"/>
                  </a:lnTo>
                  <a:lnTo>
                    <a:pt x="7127968" y="1815"/>
                  </a:lnTo>
                  <a:lnTo>
                    <a:pt x="7177810" y="7213"/>
                  </a:lnTo>
                  <a:lnTo>
                    <a:pt x="7226923" y="16121"/>
                  </a:lnTo>
                  <a:lnTo>
                    <a:pt x="7275129" y="28465"/>
                  </a:lnTo>
                  <a:lnTo>
                    <a:pt x="7322252" y="44172"/>
                  </a:lnTo>
                  <a:lnTo>
                    <a:pt x="7368116" y="63170"/>
                  </a:lnTo>
                  <a:lnTo>
                    <a:pt x="7412544" y="85384"/>
                  </a:lnTo>
                  <a:lnTo>
                    <a:pt x="7455359" y="110742"/>
                  </a:lnTo>
                  <a:lnTo>
                    <a:pt x="7496386" y="139171"/>
                  </a:lnTo>
                  <a:lnTo>
                    <a:pt x="7535447" y="170598"/>
                  </a:lnTo>
                  <a:lnTo>
                    <a:pt x="7572366" y="204949"/>
                  </a:lnTo>
                  <a:lnTo>
                    <a:pt x="7606717" y="241869"/>
                  </a:lnTo>
                  <a:lnTo>
                    <a:pt x="7638144" y="280930"/>
                  </a:lnTo>
                  <a:lnTo>
                    <a:pt x="7666573" y="321956"/>
                  </a:lnTo>
                  <a:lnTo>
                    <a:pt x="7691931" y="364771"/>
                  </a:lnTo>
                  <a:lnTo>
                    <a:pt x="7714146" y="409199"/>
                  </a:lnTo>
                  <a:lnTo>
                    <a:pt x="7733143" y="455063"/>
                  </a:lnTo>
                  <a:lnTo>
                    <a:pt x="7748850" y="502186"/>
                  </a:lnTo>
                  <a:lnTo>
                    <a:pt x="7761194" y="550392"/>
                  </a:lnTo>
                  <a:lnTo>
                    <a:pt x="7770102" y="599505"/>
                  </a:lnTo>
                  <a:lnTo>
                    <a:pt x="7775500" y="649347"/>
                  </a:lnTo>
                  <a:lnTo>
                    <a:pt x="7777316" y="699743"/>
                  </a:lnTo>
                  <a:lnTo>
                    <a:pt x="7777316" y="3498631"/>
                  </a:lnTo>
                  <a:lnTo>
                    <a:pt x="7775701" y="3546540"/>
                  </a:lnTo>
                  <a:lnTo>
                    <a:pt x="7770928" y="3593582"/>
                  </a:lnTo>
                  <a:lnTo>
                    <a:pt x="7763099" y="3639654"/>
                  </a:lnTo>
                  <a:lnTo>
                    <a:pt x="7752320" y="3684651"/>
                  </a:lnTo>
                  <a:lnTo>
                    <a:pt x="7738694" y="3728469"/>
                  </a:lnTo>
                  <a:lnTo>
                    <a:pt x="7722326" y="3771003"/>
                  </a:lnTo>
                  <a:lnTo>
                    <a:pt x="7703320" y="3812150"/>
                  </a:lnTo>
                  <a:lnTo>
                    <a:pt x="7681780" y="3851805"/>
                  </a:lnTo>
                  <a:lnTo>
                    <a:pt x="7657811" y="3889864"/>
                  </a:lnTo>
                  <a:lnTo>
                    <a:pt x="7631515" y="3926223"/>
                  </a:lnTo>
                  <a:lnTo>
                    <a:pt x="7602999" y="3960778"/>
                  </a:lnTo>
                  <a:lnTo>
                    <a:pt x="7572366" y="3993424"/>
                  </a:lnTo>
                  <a:lnTo>
                    <a:pt x="7539719" y="4024058"/>
                  </a:lnTo>
                  <a:lnTo>
                    <a:pt x="7505165" y="4052574"/>
                  </a:lnTo>
                  <a:lnTo>
                    <a:pt x="7468806" y="4078869"/>
                  </a:lnTo>
                  <a:lnTo>
                    <a:pt x="7430746" y="4102839"/>
                  </a:lnTo>
                  <a:lnTo>
                    <a:pt x="7391091" y="4124379"/>
                  </a:lnTo>
                  <a:lnTo>
                    <a:pt x="7349944" y="4143385"/>
                  </a:lnTo>
                  <a:lnTo>
                    <a:pt x="7307410" y="4159753"/>
                  </a:lnTo>
                  <a:lnTo>
                    <a:pt x="7263592" y="4173379"/>
                  </a:lnTo>
                  <a:lnTo>
                    <a:pt x="7218595" y="4184158"/>
                  </a:lnTo>
                  <a:lnTo>
                    <a:pt x="7172523" y="4191986"/>
                  </a:lnTo>
                  <a:lnTo>
                    <a:pt x="7125481" y="4196760"/>
                  </a:lnTo>
                  <a:lnTo>
                    <a:pt x="7077572" y="4198374"/>
                  </a:lnTo>
                  <a:lnTo>
                    <a:pt x="699743" y="4198374"/>
                  </a:lnTo>
                  <a:lnTo>
                    <a:pt x="651834" y="4196760"/>
                  </a:lnTo>
                  <a:lnTo>
                    <a:pt x="604792" y="4191986"/>
                  </a:lnTo>
                  <a:lnTo>
                    <a:pt x="558720" y="4184158"/>
                  </a:lnTo>
                  <a:lnTo>
                    <a:pt x="513723" y="4173379"/>
                  </a:lnTo>
                  <a:lnTo>
                    <a:pt x="469905" y="4159753"/>
                  </a:lnTo>
                  <a:lnTo>
                    <a:pt x="427371" y="4143385"/>
                  </a:lnTo>
                  <a:lnTo>
                    <a:pt x="386224" y="4124379"/>
                  </a:lnTo>
                  <a:lnTo>
                    <a:pt x="346569" y="4102839"/>
                  </a:lnTo>
                  <a:lnTo>
                    <a:pt x="308510" y="4078869"/>
                  </a:lnTo>
                  <a:lnTo>
                    <a:pt x="272150" y="4052574"/>
                  </a:lnTo>
                  <a:lnTo>
                    <a:pt x="237596" y="4024058"/>
                  </a:lnTo>
                  <a:lnTo>
                    <a:pt x="204950" y="3993424"/>
                  </a:lnTo>
                  <a:lnTo>
                    <a:pt x="174316" y="3960778"/>
                  </a:lnTo>
                  <a:lnTo>
                    <a:pt x="145800" y="3926223"/>
                  </a:lnTo>
                  <a:lnTo>
                    <a:pt x="119505" y="3889864"/>
                  </a:lnTo>
                  <a:lnTo>
                    <a:pt x="95535" y="3851805"/>
                  </a:lnTo>
                  <a:lnTo>
                    <a:pt x="73995" y="3812150"/>
                  </a:lnTo>
                  <a:lnTo>
                    <a:pt x="54989" y="3771003"/>
                  </a:lnTo>
                  <a:lnTo>
                    <a:pt x="38621" y="3728469"/>
                  </a:lnTo>
                  <a:lnTo>
                    <a:pt x="24995" y="3684651"/>
                  </a:lnTo>
                  <a:lnTo>
                    <a:pt x="14216" y="3639654"/>
                  </a:lnTo>
                  <a:lnTo>
                    <a:pt x="6387" y="3593582"/>
                  </a:lnTo>
                  <a:lnTo>
                    <a:pt x="1614" y="3546540"/>
                  </a:lnTo>
                  <a:lnTo>
                    <a:pt x="0" y="3498631"/>
                  </a:lnTo>
                  <a:lnTo>
                    <a:pt x="0" y="6997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2721895" y="304799"/>
                  </a:move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0" y="50801"/>
                  </a:move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598660" y="450780"/>
            <a:ext cx="17288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latin typeface="Arial MT"/>
                <a:cs typeface="Arial MT"/>
              </a:rPr>
              <a:t>192.168.1.1:31000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91872" y="1239187"/>
            <a:ext cx="6440593" cy="4218093"/>
            <a:chOff x="2318903" y="929390"/>
            <a:chExt cx="4830445" cy="31635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038" y="929390"/>
              <a:ext cx="4606617" cy="1330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8903" y="3431868"/>
              <a:ext cx="4830413" cy="660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1325518" y="393963"/>
                  </a:move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0" y="65661"/>
                  </a:move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1008401" y="285872"/>
                  </a:move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0" y="142935"/>
                  </a:move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20029" y="3446322"/>
            <a:ext cx="1135380" cy="655799"/>
          </a:xfrm>
          <a:prstGeom prst="rect">
            <a:avLst/>
          </a:prstGeom>
        </p:spPr>
        <p:txBody>
          <a:bodyPr vert="horz" wrap="square" lIns="0" tIns="80433" rIns="0" bIns="0" rtlCol="0">
            <a:spAutoFit/>
          </a:bodyPr>
          <a:lstStyle/>
          <a:p>
            <a:pPr algn="ctr">
              <a:spcBef>
                <a:spcPts val="633"/>
              </a:spcBef>
            </a:pPr>
            <a:r>
              <a:rPr sz="1200" spc="-13" dirty="0">
                <a:latin typeface="Arial MT"/>
                <a:cs typeface="Arial MT"/>
              </a:rPr>
              <a:t>10.210.1.1:8080</a:t>
            </a:r>
            <a:endParaRPr sz="1200">
              <a:latin typeface="Arial MT"/>
              <a:cs typeface="Arial MT"/>
            </a:endParaRPr>
          </a:p>
          <a:p>
            <a:pPr marL="847" algn="ctr">
              <a:spcBef>
                <a:spcPts val="780"/>
              </a:spcBef>
            </a:pPr>
            <a:r>
              <a:rPr sz="1867" spc="-13" dirty="0">
                <a:latin typeface="Arial MT"/>
                <a:cs typeface="Arial MT"/>
              </a:rPr>
              <a:t>Services</a:t>
            </a:r>
            <a:endParaRPr sz="1867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04539" y="8731"/>
            <a:ext cx="6057053" cy="4660900"/>
            <a:chOff x="3153404" y="6548"/>
            <a:chExt cx="4542790" cy="3495675"/>
          </a:xfrm>
        </p:grpSpPr>
        <p:sp>
          <p:nvSpPr>
            <p:cNvPr id="16" name="object 16"/>
            <p:cNvSpPr/>
            <p:nvPr/>
          </p:nvSpPr>
          <p:spPr>
            <a:xfrm>
              <a:off x="4694862" y="2288718"/>
              <a:ext cx="17145" cy="227965"/>
            </a:xfrm>
            <a:custGeom>
              <a:avLst/>
              <a:gdLst/>
              <a:ahLst/>
              <a:cxnLst/>
              <a:rect l="l" t="t" r="r" b="b"/>
              <a:pathLst>
                <a:path w="17145" h="227964">
                  <a:moveTo>
                    <a:pt x="0" y="0"/>
                  </a:moveTo>
                  <a:lnTo>
                    <a:pt x="16792" y="22770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265"/>
                  </a:moveTo>
                  <a:lnTo>
                    <a:pt x="12510" y="0"/>
                  </a:lnTo>
                  <a:lnTo>
                    <a:pt x="31380" y="41951"/>
                  </a:lnTo>
                  <a:lnTo>
                    <a:pt x="0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80" y="41951"/>
                  </a:moveTo>
                  <a:lnTo>
                    <a:pt x="12510" y="0"/>
                  </a:lnTo>
                  <a:lnTo>
                    <a:pt x="0" y="44265"/>
                  </a:lnTo>
                  <a:lnTo>
                    <a:pt x="31380" y="4195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8869" y="44265"/>
                  </a:moveTo>
                  <a:lnTo>
                    <a:pt x="0" y="2314"/>
                  </a:lnTo>
                  <a:lnTo>
                    <a:pt x="31380" y="0"/>
                  </a:lnTo>
                  <a:lnTo>
                    <a:pt x="18869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2314"/>
                  </a:moveTo>
                  <a:lnTo>
                    <a:pt x="18869" y="44265"/>
                  </a:lnTo>
                  <a:lnTo>
                    <a:pt x="31380" y="0"/>
                  </a:lnTo>
                  <a:lnTo>
                    <a:pt x="0" y="231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7904" y="2311979"/>
              <a:ext cx="1087120" cy="215265"/>
            </a:xfrm>
            <a:custGeom>
              <a:avLst/>
              <a:gdLst/>
              <a:ahLst/>
              <a:cxnLst/>
              <a:rect l="l" t="t" r="r" b="b"/>
              <a:pathLst>
                <a:path w="1087120" h="215264">
                  <a:moveTo>
                    <a:pt x="0" y="215145"/>
                  </a:moveTo>
                  <a:lnTo>
                    <a:pt x="1087087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57" y="30866"/>
                  </a:moveTo>
                  <a:lnTo>
                    <a:pt x="0" y="23825"/>
                  </a:lnTo>
                  <a:lnTo>
                    <a:pt x="39348" y="0"/>
                  </a:lnTo>
                  <a:lnTo>
                    <a:pt x="45457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48" y="0"/>
                  </a:moveTo>
                  <a:lnTo>
                    <a:pt x="0" y="23825"/>
                  </a:lnTo>
                  <a:lnTo>
                    <a:pt x="45457" y="30866"/>
                  </a:lnTo>
                  <a:lnTo>
                    <a:pt x="39348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0" y="0"/>
                  </a:lnTo>
                  <a:lnTo>
                    <a:pt x="45457" y="7041"/>
                  </a:lnTo>
                  <a:lnTo>
                    <a:pt x="6108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45457" y="7041"/>
                  </a:lnTo>
                  <a:lnTo>
                    <a:pt x="0" y="0"/>
                  </a:lnTo>
                  <a:lnTo>
                    <a:pt x="6108" y="30866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86663" y="2316766"/>
              <a:ext cx="1289050" cy="227329"/>
            </a:xfrm>
            <a:custGeom>
              <a:avLst/>
              <a:gdLst/>
              <a:ahLst/>
              <a:cxnLst/>
              <a:rect l="l" t="t" r="r" b="b"/>
              <a:pathLst>
                <a:path w="1289050" h="227330">
                  <a:moveTo>
                    <a:pt x="0" y="0"/>
                  </a:moveTo>
                  <a:lnTo>
                    <a:pt x="1288525" y="227026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839" y="30988"/>
                  </a:moveTo>
                  <a:lnTo>
                    <a:pt x="0" y="7993"/>
                  </a:lnTo>
                  <a:lnTo>
                    <a:pt x="45299" y="0"/>
                  </a:lnTo>
                  <a:lnTo>
                    <a:pt x="39839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299" y="0"/>
                  </a:moveTo>
                  <a:lnTo>
                    <a:pt x="0" y="7993"/>
                  </a:lnTo>
                  <a:lnTo>
                    <a:pt x="39839" y="30988"/>
                  </a:lnTo>
                  <a:lnTo>
                    <a:pt x="452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5459" y="0"/>
                  </a:lnTo>
                  <a:lnTo>
                    <a:pt x="45299" y="22994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45299" y="22994"/>
                  </a:lnTo>
                  <a:lnTo>
                    <a:pt x="5459" y="0"/>
                  </a:lnTo>
                  <a:lnTo>
                    <a:pt x="0" y="3098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0675" y="3185515"/>
              <a:ext cx="1280160" cy="236220"/>
            </a:xfrm>
            <a:custGeom>
              <a:avLst/>
              <a:gdLst/>
              <a:ahLst/>
              <a:cxnLst/>
              <a:rect l="l" t="t" r="r" b="b"/>
              <a:pathLst>
                <a:path w="1280160" h="236220">
                  <a:moveTo>
                    <a:pt x="0" y="235987"/>
                  </a:moveTo>
                  <a:lnTo>
                    <a:pt x="1279621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361" y="30943"/>
                  </a:moveTo>
                  <a:lnTo>
                    <a:pt x="0" y="23311"/>
                  </a:lnTo>
                  <a:lnTo>
                    <a:pt x="39655" y="0"/>
                  </a:lnTo>
                  <a:lnTo>
                    <a:pt x="45361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39655" y="0"/>
                  </a:moveTo>
                  <a:lnTo>
                    <a:pt x="0" y="23311"/>
                  </a:lnTo>
                  <a:lnTo>
                    <a:pt x="45361" y="30943"/>
                  </a:lnTo>
                  <a:lnTo>
                    <a:pt x="3965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0" y="0"/>
                  </a:lnTo>
                  <a:lnTo>
                    <a:pt x="45361" y="7632"/>
                  </a:lnTo>
                  <a:lnTo>
                    <a:pt x="5706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45361" y="7632"/>
                  </a:lnTo>
                  <a:lnTo>
                    <a:pt x="0" y="0"/>
                  </a:lnTo>
                  <a:lnTo>
                    <a:pt x="5706" y="3094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1941" y="3176290"/>
              <a:ext cx="1558290" cy="305435"/>
            </a:xfrm>
            <a:custGeom>
              <a:avLst/>
              <a:gdLst/>
              <a:ahLst/>
              <a:cxnLst/>
              <a:rect l="l" t="t" r="r" b="b"/>
              <a:pathLst>
                <a:path w="1558289" h="305435">
                  <a:moveTo>
                    <a:pt x="0" y="0"/>
                  </a:moveTo>
                  <a:lnTo>
                    <a:pt x="1557786" y="305421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90" y="30877"/>
                  </a:moveTo>
                  <a:lnTo>
                    <a:pt x="0" y="7122"/>
                  </a:lnTo>
                  <a:lnTo>
                    <a:pt x="45444" y="0"/>
                  </a:lnTo>
                  <a:lnTo>
                    <a:pt x="3939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44" y="0"/>
                  </a:moveTo>
                  <a:lnTo>
                    <a:pt x="0" y="7122"/>
                  </a:lnTo>
                  <a:lnTo>
                    <a:pt x="39390" y="30877"/>
                  </a:lnTo>
                  <a:lnTo>
                    <a:pt x="4544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6053" y="0"/>
                  </a:lnTo>
                  <a:lnTo>
                    <a:pt x="45444" y="23755"/>
                  </a:lnTo>
                  <a:lnTo>
                    <a:pt x="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45444" y="23755"/>
                  </a:lnTo>
                  <a:lnTo>
                    <a:pt x="6053" y="0"/>
                  </a:lnTo>
                  <a:lnTo>
                    <a:pt x="0" y="3087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4645973" y="322244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27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4631471" y="1511196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49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9" name="object 49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4631471" y="656918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90">
                  <a:moveTo>
                    <a:pt x="0" y="0"/>
                  </a:moveTo>
                  <a:lnTo>
                    <a:pt x="0" y="2752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4631471" y="67209"/>
              <a:ext cx="1704339" cy="8890"/>
            </a:xfrm>
            <a:custGeom>
              <a:avLst/>
              <a:gdLst/>
              <a:ahLst/>
              <a:cxnLst/>
              <a:rect l="l" t="t" r="r" b="b"/>
              <a:pathLst>
                <a:path w="1704339" h="8890">
                  <a:moveTo>
                    <a:pt x="0" y="0"/>
                  </a:moveTo>
                  <a:lnTo>
                    <a:pt x="1703878" y="834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53" y="0"/>
                  </a:lnTo>
                  <a:lnTo>
                    <a:pt x="43301" y="15944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301" y="15944"/>
                  </a:lnTo>
                  <a:lnTo>
                    <a:pt x="153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6460600" y="12898"/>
              <a:ext cx="547370" cy="302260"/>
            </a:xfrm>
            <a:custGeom>
              <a:avLst/>
              <a:gdLst/>
              <a:ahLst/>
              <a:cxnLst/>
              <a:rect l="l" t="t" r="r" b="b"/>
              <a:pathLst>
                <a:path w="547370" h="302260">
                  <a:moveTo>
                    <a:pt x="49554" y="99466"/>
                  </a:moveTo>
                  <a:lnTo>
                    <a:pt x="49693" y="81388"/>
                  </a:lnTo>
                  <a:lnTo>
                    <a:pt x="56340" y="64363"/>
                  </a:lnTo>
                  <a:lnTo>
                    <a:pt x="68921" y="49350"/>
                  </a:lnTo>
                  <a:lnTo>
                    <a:pt x="86860" y="37308"/>
                  </a:lnTo>
                  <a:lnTo>
                    <a:pt x="108546" y="29493"/>
                  </a:lnTo>
                  <a:lnTo>
                    <a:pt x="131822" y="26538"/>
                  </a:lnTo>
                  <a:lnTo>
                    <a:pt x="155286" y="28473"/>
                  </a:lnTo>
                  <a:lnTo>
                    <a:pt x="177539" y="35330"/>
                  </a:lnTo>
                  <a:lnTo>
                    <a:pt x="211727" y="12091"/>
                  </a:lnTo>
                  <a:lnTo>
                    <a:pt x="242690" y="8509"/>
                  </a:lnTo>
                  <a:lnTo>
                    <a:pt x="257955" y="10803"/>
                  </a:lnTo>
                  <a:lnTo>
                    <a:pt x="272117" y="15665"/>
                  </a:lnTo>
                  <a:lnTo>
                    <a:pt x="284571" y="22948"/>
                  </a:lnTo>
                  <a:lnTo>
                    <a:pt x="292410" y="14148"/>
                  </a:lnTo>
                  <a:lnTo>
                    <a:pt x="302770" y="7217"/>
                  </a:lnTo>
                  <a:lnTo>
                    <a:pt x="315096" y="2441"/>
                  </a:lnTo>
                  <a:lnTo>
                    <a:pt x="328831" y="109"/>
                  </a:lnTo>
                  <a:lnTo>
                    <a:pt x="342905" y="461"/>
                  </a:lnTo>
                  <a:lnTo>
                    <a:pt x="356203" y="3411"/>
                  </a:lnTo>
                  <a:lnTo>
                    <a:pt x="368109" y="8757"/>
                  </a:lnTo>
                  <a:lnTo>
                    <a:pt x="378003" y="16294"/>
                  </a:lnTo>
                  <a:lnTo>
                    <a:pt x="391090" y="7595"/>
                  </a:lnTo>
                  <a:lnTo>
                    <a:pt x="406596" y="2086"/>
                  </a:lnTo>
                  <a:lnTo>
                    <a:pt x="423527" y="0"/>
                  </a:lnTo>
                  <a:lnTo>
                    <a:pt x="440889" y="1569"/>
                  </a:lnTo>
                  <a:lnTo>
                    <a:pt x="456962" y="6736"/>
                  </a:lnTo>
                  <a:lnTo>
                    <a:pt x="470220" y="14904"/>
                  </a:lnTo>
                  <a:lnTo>
                    <a:pt x="479957" y="25499"/>
                  </a:lnTo>
                  <a:lnTo>
                    <a:pt x="485470" y="37946"/>
                  </a:lnTo>
                  <a:lnTo>
                    <a:pt x="520881" y="55647"/>
                  </a:lnTo>
                  <a:lnTo>
                    <a:pt x="535251" y="85897"/>
                  </a:lnTo>
                  <a:lnTo>
                    <a:pt x="534052" y="96654"/>
                  </a:lnTo>
                  <a:lnTo>
                    <a:pt x="529802" y="107089"/>
                  </a:lnTo>
                  <a:lnTo>
                    <a:pt x="541039" y="121714"/>
                  </a:lnTo>
                  <a:lnTo>
                    <a:pt x="546789" y="137759"/>
                  </a:lnTo>
                  <a:lnTo>
                    <a:pt x="546898" y="154375"/>
                  </a:lnTo>
                  <a:lnTo>
                    <a:pt x="541215" y="170715"/>
                  </a:lnTo>
                  <a:lnTo>
                    <a:pt x="530088" y="185387"/>
                  </a:lnTo>
                  <a:lnTo>
                    <a:pt x="514561" y="197215"/>
                  </a:lnTo>
                  <a:lnTo>
                    <a:pt x="495532" y="205670"/>
                  </a:lnTo>
                  <a:lnTo>
                    <a:pt x="473897" y="210228"/>
                  </a:lnTo>
                  <a:lnTo>
                    <a:pt x="471140" y="224751"/>
                  </a:lnTo>
                  <a:lnTo>
                    <a:pt x="435908" y="258022"/>
                  </a:lnTo>
                  <a:lnTo>
                    <a:pt x="398589" y="264800"/>
                  </a:lnTo>
                  <a:lnTo>
                    <a:pt x="379628" y="262513"/>
                  </a:lnTo>
                  <a:lnTo>
                    <a:pt x="361830" y="256471"/>
                  </a:lnTo>
                  <a:lnTo>
                    <a:pt x="335869" y="286584"/>
                  </a:lnTo>
                  <a:lnTo>
                    <a:pt x="292563" y="301553"/>
                  </a:lnTo>
                  <a:lnTo>
                    <a:pt x="268273" y="301649"/>
                  </a:lnTo>
                  <a:lnTo>
                    <a:pt x="245352" y="296732"/>
                  </a:lnTo>
                  <a:lnTo>
                    <a:pt x="225118" y="287240"/>
                  </a:lnTo>
                  <a:lnTo>
                    <a:pt x="208890" y="273616"/>
                  </a:lnTo>
                  <a:lnTo>
                    <a:pt x="191244" y="279904"/>
                  </a:lnTo>
                  <a:lnTo>
                    <a:pt x="172481" y="283402"/>
                  </a:lnTo>
                  <a:lnTo>
                    <a:pt x="153173" y="284048"/>
                  </a:lnTo>
                  <a:lnTo>
                    <a:pt x="133890" y="281781"/>
                  </a:lnTo>
                  <a:lnTo>
                    <a:pt x="115589" y="276670"/>
                  </a:lnTo>
                  <a:lnTo>
                    <a:pt x="99147" y="269006"/>
                  </a:lnTo>
                  <a:lnTo>
                    <a:pt x="85025" y="259052"/>
                  </a:lnTo>
                  <a:lnTo>
                    <a:pt x="73681" y="247074"/>
                  </a:lnTo>
                  <a:lnTo>
                    <a:pt x="27830" y="234956"/>
                  </a:lnTo>
                  <a:lnTo>
                    <a:pt x="12582" y="200082"/>
                  </a:lnTo>
                  <a:lnTo>
                    <a:pt x="17374" y="188172"/>
                  </a:lnTo>
                  <a:lnTo>
                    <a:pt x="26929" y="177665"/>
                  </a:lnTo>
                  <a:lnTo>
                    <a:pt x="13498" y="169318"/>
                  </a:lnTo>
                  <a:lnTo>
                    <a:pt x="4351" y="158497"/>
                  </a:lnTo>
                  <a:lnTo>
                    <a:pt x="0" y="146086"/>
                  </a:lnTo>
                  <a:lnTo>
                    <a:pt x="957" y="132964"/>
                  </a:lnTo>
                  <a:lnTo>
                    <a:pt x="7277" y="120721"/>
                  </a:lnTo>
                  <a:lnTo>
                    <a:pt x="18039" y="110786"/>
                  </a:lnTo>
                  <a:lnTo>
                    <a:pt x="32295" y="103801"/>
                  </a:lnTo>
                  <a:lnTo>
                    <a:pt x="49094" y="100407"/>
                  </a:lnTo>
                  <a:lnTo>
                    <a:pt x="49554" y="99466"/>
                  </a:lnTo>
                  <a:close/>
                </a:path>
                <a:path w="547370" h="302260">
                  <a:moveTo>
                    <a:pt x="26934" y="177663"/>
                  </a:moveTo>
                  <a:lnTo>
                    <a:pt x="34461" y="180436"/>
                  </a:lnTo>
                  <a:lnTo>
                    <a:pt x="42411" y="182306"/>
                  </a:lnTo>
                  <a:lnTo>
                    <a:pt x="50643" y="183248"/>
                  </a:lnTo>
                  <a:lnTo>
                    <a:pt x="59017" y="183238"/>
                  </a:lnTo>
                </a:path>
                <a:path w="547370" h="302260">
                  <a:moveTo>
                    <a:pt x="73682" y="247073"/>
                  </a:moveTo>
                  <a:lnTo>
                    <a:pt x="78497" y="246650"/>
                  </a:lnTo>
                  <a:lnTo>
                    <a:pt x="83216" y="245753"/>
                  </a:lnTo>
                  <a:lnTo>
                    <a:pt x="87719" y="244405"/>
                  </a:lnTo>
                </a:path>
                <a:path w="547370" h="302260">
                  <a:moveTo>
                    <a:pt x="208884" y="273615"/>
                  </a:moveTo>
                  <a:lnTo>
                    <a:pt x="205497" y="269796"/>
                  </a:lnTo>
                  <a:lnTo>
                    <a:pt x="202662" y="265715"/>
                  </a:lnTo>
                  <a:lnTo>
                    <a:pt x="200426" y="261442"/>
                  </a:lnTo>
                </a:path>
                <a:path w="547370" h="302260">
                  <a:moveTo>
                    <a:pt x="361830" y="256469"/>
                  </a:moveTo>
                  <a:lnTo>
                    <a:pt x="363577" y="252119"/>
                  </a:lnTo>
                  <a:lnTo>
                    <a:pt x="364709" y="247642"/>
                  </a:lnTo>
                  <a:lnTo>
                    <a:pt x="365207" y="243112"/>
                  </a:lnTo>
                </a:path>
                <a:path w="547370" h="302260">
                  <a:moveTo>
                    <a:pt x="473893" y="210227"/>
                  </a:moveTo>
                  <a:lnTo>
                    <a:pt x="471124" y="194786"/>
                  </a:lnTo>
                  <a:lnTo>
                    <a:pt x="462907" y="180798"/>
                  </a:lnTo>
                  <a:lnTo>
                    <a:pt x="449889" y="169045"/>
                  </a:lnTo>
                  <a:lnTo>
                    <a:pt x="432713" y="160309"/>
                  </a:lnTo>
                </a:path>
                <a:path w="547370" h="302260">
                  <a:moveTo>
                    <a:pt x="529797" y="107091"/>
                  </a:moveTo>
                  <a:lnTo>
                    <a:pt x="526316" y="112347"/>
                  </a:lnTo>
                  <a:lnTo>
                    <a:pt x="522068" y="117250"/>
                  </a:lnTo>
                  <a:lnTo>
                    <a:pt x="517101" y="121753"/>
                  </a:lnTo>
                  <a:lnTo>
                    <a:pt x="511461" y="125809"/>
                  </a:lnTo>
                </a:path>
                <a:path w="547370" h="302260">
                  <a:moveTo>
                    <a:pt x="485469" y="37946"/>
                  </a:moveTo>
                  <a:lnTo>
                    <a:pt x="486169" y="40863"/>
                  </a:lnTo>
                  <a:lnTo>
                    <a:pt x="486493" y="43823"/>
                  </a:lnTo>
                  <a:lnTo>
                    <a:pt x="486437" y="46786"/>
                  </a:lnTo>
                </a:path>
                <a:path w="547370" h="302260">
                  <a:moveTo>
                    <a:pt x="378004" y="16295"/>
                  </a:moveTo>
                  <a:lnTo>
                    <a:pt x="374163" y="19693"/>
                  </a:lnTo>
                  <a:lnTo>
                    <a:pt x="371000" y="23490"/>
                  </a:lnTo>
                  <a:lnTo>
                    <a:pt x="368610" y="27569"/>
                  </a:lnTo>
                </a:path>
                <a:path w="547370" h="302260">
                  <a:moveTo>
                    <a:pt x="284571" y="22948"/>
                  </a:moveTo>
                  <a:lnTo>
                    <a:pt x="282525" y="26034"/>
                  </a:lnTo>
                  <a:lnTo>
                    <a:pt x="280996" y="29300"/>
                  </a:lnTo>
                  <a:lnTo>
                    <a:pt x="280022" y="32670"/>
                  </a:lnTo>
                </a:path>
                <a:path w="547370" h="302260">
                  <a:moveTo>
                    <a:pt x="177537" y="35330"/>
                  </a:moveTo>
                  <a:lnTo>
                    <a:pt x="183513" y="37961"/>
                  </a:lnTo>
                  <a:lnTo>
                    <a:pt x="189041" y="41129"/>
                  </a:lnTo>
                  <a:lnTo>
                    <a:pt x="194000" y="44763"/>
                  </a:lnTo>
                </a:path>
                <a:path w="547370" h="302260">
                  <a:moveTo>
                    <a:pt x="49554" y="99466"/>
                  </a:moveTo>
                  <a:lnTo>
                    <a:pt x="50163" y="102826"/>
                  </a:lnTo>
                  <a:lnTo>
                    <a:pt x="51123" y="106144"/>
                  </a:lnTo>
                  <a:lnTo>
                    <a:pt x="52427" y="109390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157802" y="162943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8999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2" name="object 62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3" name="object 63"/>
            <p:cNvSpPr/>
            <p:nvPr/>
          </p:nvSpPr>
          <p:spPr>
            <a:xfrm>
              <a:off x="4615190" y="75832"/>
              <a:ext cx="2280285" cy="1186180"/>
            </a:xfrm>
            <a:custGeom>
              <a:avLst/>
              <a:gdLst/>
              <a:ahLst/>
              <a:cxnLst/>
              <a:rect l="l" t="t" r="r" b="b"/>
              <a:pathLst>
                <a:path w="2280284" h="1186180">
                  <a:moveTo>
                    <a:pt x="16280" y="219135"/>
                  </a:moveTo>
                  <a:lnTo>
                    <a:pt x="0" y="0"/>
                  </a:lnTo>
                </a:path>
                <a:path w="2280284" h="1186180">
                  <a:moveTo>
                    <a:pt x="2280283" y="1185669"/>
                  </a:moveTo>
                  <a:lnTo>
                    <a:pt x="899621" y="117487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4" name="object 64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01" y="31464"/>
                  </a:moveTo>
                  <a:lnTo>
                    <a:pt x="0" y="15394"/>
                  </a:lnTo>
                  <a:lnTo>
                    <a:pt x="43346" y="0"/>
                  </a:lnTo>
                  <a:lnTo>
                    <a:pt x="43101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46" y="0"/>
                  </a:moveTo>
                  <a:lnTo>
                    <a:pt x="0" y="15394"/>
                  </a:lnTo>
                  <a:lnTo>
                    <a:pt x="43101" y="31464"/>
                  </a:lnTo>
                  <a:lnTo>
                    <a:pt x="43346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5514812" y="2990648"/>
              <a:ext cx="1635125" cy="15875"/>
            </a:xfrm>
            <a:custGeom>
              <a:avLst/>
              <a:gdLst/>
              <a:ahLst/>
              <a:cxnLst/>
              <a:rect l="l" t="t" r="r" b="b"/>
              <a:pathLst>
                <a:path w="1635125" h="15875">
                  <a:moveTo>
                    <a:pt x="1634504" y="0"/>
                  </a:moveTo>
                  <a:lnTo>
                    <a:pt x="0" y="1548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72" y="31464"/>
                  </a:moveTo>
                  <a:lnTo>
                    <a:pt x="0" y="16141"/>
                  </a:lnTo>
                  <a:lnTo>
                    <a:pt x="43074" y="0"/>
                  </a:lnTo>
                  <a:lnTo>
                    <a:pt x="43372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8" name="object 68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074" y="0"/>
                  </a:moveTo>
                  <a:lnTo>
                    <a:pt x="0" y="16141"/>
                  </a:lnTo>
                  <a:lnTo>
                    <a:pt x="43372" y="31464"/>
                  </a:lnTo>
                  <a:lnTo>
                    <a:pt x="4307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370624" y="-7287"/>
            <a:ext cx="67817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27" dirty="0">
                <a:latin typeface="Arial MT"/>
                <a:cs typeface="Arial MT"/>
              </a:rPr>
              <a:t>User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291333" y="1486213"/>
            <a:ext cx="10346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0683C7"/>
                </a:solidFill>
                <a:latin typeface="Arial MT"/>
                <a:cs typeface="Arial MT"/>
              </a:rPr>
              <a:t>NodePort</a:t>
            </a:r>
            <a:endParaRPr sz="1867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29790" y="3798703"/>
            <a:ext cx="10066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0683C7"/>
                </a:solidFill>
                <a:latin typeface="Arial MT"/>
                <a:cs typeface="Arial MT"/>
              </a:rPr>
              <a:t>ClusterIP</a:t>
            </a:r>
            <a:endParaRPr sz="18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4535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979" y="475778"/>
            <a:ext cx="5623971" cy="875128"/>
          </a:xfrm>
          <a:prstGeom prst="rect">
            <a:avLst/>
          </a:prstGeom>
        </p:spPr>
        <p:txBody>
          <a:bodyPr vert="horz" wrap="square" lIns="0" tIns="196104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73"/>
              </a:spcBef>
            </a:pPr>
            <a:r>
              <a:rPr dirty="0" smtClean="0"/>
              <a:t>Guestbook</a:t>
            </a:r>
            <a:endParaRPr spc="-27" dirty="0"/>
          </a:p>
        </p:txBody>
      </p:sp>
      <p:sp>
        <p:nvSpPr>
          <p:cNvPr id="3" name="object 3"/>
          <p:cNvSpPr txBox="1"/>
          <p:nvPr/>
        </p:nvSpPr>
        <p:spPr>
          <a:xfrm>
            <a:off x="452979" y="1724534"/>
            <a:ext cx="3259667" cy="1017500"/>
          </a:xfrm>
          <a:prstGeom prst="rect">
            <a:avLst/>
          </a:prstGeom>
        </p:spPr>
        <p:txBody>
          <a:bodyPr vert="horz" wrap="square" lIns="0" tIns="105833" rIns="0" bIns="0" rtlCol="0">
            <a:spAutoFit/>
          </a:bodyPr>
          <a:lstStyle/>
          <a:p>
            <a:pPr marL="193035" indent="-176102">
              <a:spcBef>
                <a:spcPts val="833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Frontend</a:t>
            </a:r>
            <a:r>
              <a:rPr sz="2667" spc="-8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Web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33" dirty="0">
                <a:solidFill>
                  <a:srgbClr val="595959"/>
                </a:solidFill>
                <a:latin typeface="Arial MT"/>
                <a:cs typeface="Arial MT"/>
              </a:rPr>
              <a:t>app</a:t>
            </a:r>
            <a:endParaRPr sz="2667">
              <a:latin typeface="Arial MT"/>
              <a:cs typeface="Arial MT"/>
            </a:endParaRPr>
          </a:p>
          <a:p>
            <a:pPr marL="193035" indent="-176102">
              <a:spcBef>
                <a:spcPts val="700"/>
              </a:spcBef>
              <a:buClr>
                <a:srgbClr val="FFAB40"/>
              </a:buClr>
              <a:buChar char="•"/>
              <a:tabLst>
                <a:tab pos="193035" algn="l"/>
              </a:tabLst>
            </a:pP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Backend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DB</a:t>
            </a:r>
            <a:r>
              <a:rPr sz="2667" spc="-67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2667" spc="-73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667" spc="-13" dirty="0">
                <a:solidFill>
                  <a:srgbClr val="595959"/>
                </a:solidFill>
                <a:latin typeface="Arial MT"/>
                <a:cs typeface="Arial MT"/>
              </a:rPr>
              <a:t>Redis</a:t>
            </a:r>
            <a:endParaRPr sz="2667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709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1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99E535-EDD8-44E3-98DC-07DF9ECB62E5}"/>
              </a:ext>
            </a:extLst>
          </p:cNvPr>
          <p:cNvSpPr txBox="1">
            <a:spLocks/>
          </p:cNvSpPr>
          <p:nvPr/>
        </p:nvSpPr>
        <p:spPr>
          <a:xfrm>
            <a:off x="2234042" y="1585648"/>
            <a:ext cx="6248442" cy="50852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4000" dirty="0"/>
              <a:t>Thank you.</a:t>
            </a:r>
          </a:p>
          <a:p>
            <a:endParaRPr lang="en-US" sz="4000" dirty="0"/>
          </a:p>
          <a:p>
            <a:r>
              <a:rPr lang="en-US" sz="3672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73668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2803525"/>
            <a:ext cx="3200400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The End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04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1975" y="248748"/>
            <a:ext cx="6604463" cy="100388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Minikube</a:t>
            </a:r>
            <a:r>
              <a:rPr lang="en-US" dirty="0" smtClean="0"/>
              <a:t> </a:t>
            </a:r>
            <a:r>
              <a:rPr lang="en-US" dirty="0" err="1" smtClean="0"/>
              <a:t>Oshestration</a:t>
            </a:r>
            <a:r>
              <a:rPr lang="en-US" dirty="0" smtClean="0"/>
              <a:t>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0" y="2165980"/>
            <a:ext cx="3245427" cy="14910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84256" y="285223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7826855" y="220802"/>
            <a:ext cx="3505200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884256" y="1737421"/>
            <a:ext cx="1263534" cy="3390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6079377" y="4669673"/>
            <a:ext cx="1263534" cy="42376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11" name="Rounded Rectangle 10"/>
          <p:cNvSpPr/>
          <p:nvPr/>
        </p:nvSpPr>
        <p:spPr>
          <a:xfrm>
            <a:off x="4021976" y="4605252"/>
            <a:ext cx="3505200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79377" y="6062241"/>
            <a:ext cx="1263534" cy="39867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225137" y="1946330"/>
            <a:ext cx="3505200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225137" y="1529553"/>
            <a:ext cx="3505200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Ship  </a:t>
            </a:r>
            <a:r>
              <a:rPr lang="en-US" sz="2000" b="1" dirty="0">
                <a:solidFill>
                  <a:srgbClr val="0070C0"/>
                </a:solidFill>
              </a:rPr>
              <a:t>~  Carries containers across the sea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79615" y="3991567"/>
            <a:ext cx="3337560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Ship.. </a:t>
            </a:r>
            <a:r>
              <a:rPr lang="en-US" sz="2000" dirty="0"/>
              <a:t>Host Application as Containers ~ Worker </a:t>
            </a:r>
            <a:r>
              <a:rPr lang="en-US" sz="2000" dirty="0" smtClean="0"/>
              <a:t>Nodes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52400" y="573614"/>
            <a:ext cx="6820593" cy="43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rgbClr val="FFC000"/>
                </a:solidFill>
              </a:rPr>
              <a:t>Let’s Start with an Analogy</a:t>
            </a:r>
            <a:endParaRPr lang="en-US" sz="4000" b="1" dirty="0">
              <a:solidFill>
                <a:srgbClr val="FFC000"/>
              </a:solidFill>
            </a:endParaRPr>
          </a:p>
        </p:txBody>
      </p:sp>
      <p:pic>
        <p:nvPicPr>
          <p:cNvPr id="1030" name="Picture 6" descr="واردات از چین با اهورا تجارت - اهورا تجارت"/>
          <p:cNvPicPr>
            <a:picLocks noChangeAspect="1" noChangeArrowheads="1" noCrop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14" y="2495467"/>
            <a:ext cx="1916083" cy="63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F de Moving Whale Gif | Teno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6" y="2358646"/>
            <a:ext cx="1127414" cy="112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GIF de Moving Whale Gif | Teno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27" y="4605252"/>
            <a:ext cx="3169748" cy="189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our shipping containers of different colors are stacked on top of each other and one of them says tall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15" y="4683586"/>
            <a:ext cx="788488" cy="70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Left-Right Arrow 20"/>
          <p:cNvSpPr/>
          <p:nvPr/>
        </p:nvSpPr>
        <p:spPr>
          <a:xfrm>
            <a:off x="3514206" y="5513735"/>
            <a:ext cx="643543" cy="332352"/>
          </a:xfrm>
          <a:prstGeom prst="leftRightArrow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3949241" y="1483752"/>
            <a:ext cx="3505200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Control Ships</a:t>
            </a:r>
          </a:p>
          <a:p>
            <a:pPr marL="342900" indent="-342900">
              <a:buFontTx/>
              <a:buChar char="-"/>
            </a:pPr>
            <a:r>
              <a:rPr lang="en-US" sz="2000" dirty="0" smtClean="0"/>
              <a:t>Managing </a:t>
            </a:r>
            <a:r>
              <a:rPr lang="en-US" sz="2000" dirty="0"/>
              <a:t>&amp; Monitoring of the cargo </a:t>
            </a:r>
            <a:r>
              <a:rPr lang="en-US" sz="2000" dirty="0" smtClean="0"/>
              <a:t>ships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Manage, Plan, Schedule, Monitor ~ </a:t>
            </a:r>
            <a:r>
              <a:rPr lang="en-US" sz="2000" b="1" dirty="0">
                <a:solidFill>
                  <a:srgbClr val="FFC000"/>
                </a:solidFill>
              </a:rPr>
              <a:t>Master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7749" y="5060823"/>
            <a:ext cx="1630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Master/Docker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51751" y="4376667"/>
            <a:ext cx="11911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Container/Nodes/Pods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8921448" y="113484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1040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139" y="433984"/>
            <a:ext cx="648690" cy="4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7995469" y="965258"/>
            <a:ext cx="863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Master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24" name="Can 23"/>
          <p:cNvSpPr/>
          <p:nvPr/>
        </p:nvSpPr>
        <p:spPr>
          <a:xfrm>
            <a:off x="7534411" y="0"/>
            <a:ext cx="113297" cy="6733309"/>
          </a:xfrm>
          <a:prstGeom prst="can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itle 1"/>
          <p:cNvSpPr txBox="1">
            <a:spLocks/>
          </p:cNvSpPr>
          <p:nvPr/>
        </p:nvSpPr>
        <p:spPr>
          <a:xfrm>
            <a:off x="7825332" y="2298560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Ships Profiles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HA database ~ Which containers on which ships? When was it loaded</a:t>
            </a:r>
            <a:r>
              <a:rPr lang="en-US" sz="2000" dirty="0" smtClean="0"/>
              <a:t>?</a:t>
            </a:r>
          </a:p>
          <a:p>
            <a:pPr marL="342900" indent="-342900">
              <a:buFontTx/>
              <a:buChar char="-"/>
            </a:pPr>
            <a:r>
              <a:rPr lang="en-US" sz="2000" dirty="0" smtClean="0"/>
              <a:t>HA </a:t>
            </a:r>
            <a:r>
              <a:rPr lang="en-US" sz="2000" dirty="0"/>
              <a:t>database ~ Which containers on which ships? When was it loaded? ~ </a:t>
            </a:r>
            <a:r>
              <a:rPr lang="en-US" sz="2000" b="1" dirty="0">
                <a:solidFill>
                  <a:srgbClr val="FFC000"/>
                </a:solidFill>
              </a:rPr>
              <a:t>The ETCD Cluster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04351" y="3148262"/>
            <a:ext cx="3505200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/>
          <p:cNvSpPr txBox="1">
            <a:spLocks/>
          </p:cNvSpPr>
          <p:nvPr/>
        </p:nvSpPr>
        <p:spPr>
          <a:xfrm>
            <a:off x="8998944" y="3040944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45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635" y="3361444"/>
            <a:ext cx="648690" cy="4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an 46"/>
          <p:cNvSpPr/>
          <p:nvPr/>
        </p:nvSpPr>
        <p:spPr>
          <a:xfrm>
            <a:off x="8137506" y="4205711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8165543" y="4366345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8" name="Title 1"/>
          <p:cNvSpPr txBox="1">
            <a:spLocks/>
          </p:cNvSpPr>
          <p:nvPr/>
        </p:nvSpPr>
        <p:spPr>
          <a:xfrm>
            <a:off x="7825332" y="5243516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Control </a:t>
            </a:r>
            <a:r>
              <a:rPr lang="en-US" sz="2000" b="1" dirty="0" err="1" smtClean="0">
                <a:solidFill>
                  <a:srgbClr val="0070C0"/>
                </a:solidFill>
              </a:rPr>
              <a:t>Manager</a:t>
            </a:r>
            <a:r>
              <a:rPr lang="en-US" sz="2000" dirty="0" err="1"/>
              <a:t>Node</a:t>
            </a:r>
            <a:r>
              <a:rPr lang="en-US" sz="2000" dirty="0"/>
              <a:t> Controllers – Takes care of Nodes | Responsible for onboarding new nodes in a cluster | Availability of Nodes - Replicas Controller – Ensures that desired number of containers are running at all times - Controller Manager - Manages all these controllers in place</a:t>
            </a:r>
            <a:endParaRPr lang="en-US" sz="2000" b="1" dirty="0">
              <a:solidFill>
                <a:srgbClr val="FFC000"/>
              </a:solidFill>
            </a:endParaRPr>
          </a:p>
        </p:txBody>
      </p:sp>
      <p:pic>
        <p:nvPicPr>
          <p:cNvPr id="1042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183" y="6023934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/>
        </p:nvSpPr>
        <p:spPr>
          <a:xfrm>
            <a:off x="8482227" y="6370884"/>
            <a:ext cx="14410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Controller Manager </a:t>
            </a:r>
          </a:p>
        </p:txBody>
      </p:sp>
      <p:pic>
        <p:nvPicPr>
          <p:cNvPr id="1044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035" y="2362238"/>
            <a:ext cx="1141468" cy="88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ounded Rectangle 26"/>
          <p:cNvSpPr/>
          <p:nvPr/>
        </p:nvSpPr>
        <p:spPr>
          <a:xfrm>
            <a:off x="6079377" y="5204729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9884256" y="906476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9998270" y="3210945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55" name="Rectangle 54"/>
          <p:cNvSpPr/>
          <p:nvPr/>
        </p:nvSpPr>
        <p:spPr>
          <a:xfrm>
            <a:off x="9998270" y="4663143"/>
            <a:ext cx="1263534" cy="3390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56" name="Rounded Rectangle 55"/>
          <p:cNvSpPr/>
          <p:nvPr/>
        </p:nvSpPr>
        <p:spPr>
          <a:xfrm>
            <a:off x="9998270" y="3832198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8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1975" y="248748"/>
            <a:ext cx="6604463" cy="100388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Minikube</a:t>
            </a:r>
            <a:r>
              <a:rPr lang="en-US" dirty="0" smtClean="0"/>
              <a:t> </a:t>
            </a:r>
            <a:r>
              <a:rPr lang="en-US" dirty="0" err="1" smtClean="0"/>
              <a:t>Oshestration</a:t>
            </a:r>
            <a:r>
              <a:rPr lang="en-US" dirty="0" smtClean="0"/>
              <a:t>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52400" y="573614"/>
            <a:ext cx="6820593" cy="43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smtClean="0">
                <a:solidFill>
                  <a:srgbClr val="FFC000"/>
                </a:solidFill>
              </a:rPr>
              <a:t>Let’s Start with an Analogy</a:t>
            </a:r>
            <a:endParaRPr lang="en-US" sz="4000" b="1" dirty="0">
              <a:solidFill>
                <a:srgbClr val="FFC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64926" y="1213289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50" name="Rounded Rectangle 49"/>
          <p:cNvSpPr/>
          <p:nvPr/>
        </p:nvSpPr>
        <p:spPr>
          <a:xfrm>
            <a:off x="318437" y="1203084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164926" y="1853211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Worker Node-2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3164926" y="2468037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Worker Node-N</a:t>
            </a:r>
            <a:endParaRPr lang="en-US" dirty="0"/>
          </a:p>
        </p:txBody>
      </p:sp>
      <p:sp>
        <p:nvSpPr>
          <p:cNvPr id="53" name="Title 1"/>
          <p:cNvSpPr txBox="1">
            <a:spLocks/>
          </p:cNvSpPr>
          <p:nvPr/>
        </p:nvSpPr>
        <p:spPr>
          <a:xfrm>
            <a:off x="1413030" y="1095766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54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721" y="1416266"/>
            <a:ext cx="648690" cy="4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Can 54"/>
          <p:cNvSpPr/>
          <p:nvPr/>
        </p:nvSpPr>
        <p:spPr>
          <a:xfrm>
            <a:off x="1460048" y="2199111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488085" y="2359745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8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96" y="1450220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Rectangle 58"/>
          <p:cNvSpPr/>
          <p:nvPr/>
        </p:nvSpPr>
        <p:spPr>
          <a:xfrm>
            <a:off x="651926" y="2793916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8437" y="3504492"/>
            <a:ext cx="49850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How does each of these services communicate </a:t>
            </a:r>
            <a:r>
              <a:rPr lang="en-US" sz="1400" dirty="0"/>
              <a:t>with each other?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80" y="3899941"/>
            <a:ext cx="4295775" cy="790575"/>
          </a:xfrm>
          <a:prstGeom prst="rect">
            <a:avLst/>
          </a:prstGeom>
        </p:spPr>
      </p:pic>
      <p:sp>
        <p:nvSpPr>
          <p:cNvPr id="60" name="Title 1"/>
          <p:cNvSpPr txBox="1">
            <a:spLocks/>
          </p:cNvSpPr>
          <p:nvPr/>
        </p:nvSpPr>
        <p:spPr>
          <a:xfrm>
            <a:off x="435042" y="4826995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600" b="1" dirty="0" err="1">
                <a:solidFill>
                  <a:srgbClr val="00B0F0"/>
                </a:solidFill>
              </a:rPr>
              <a:t>Kube</a:t>
            </a:r>
            <a:r>
              <a:rPr lang="en-US" sz="5600" b="1" dirty="0">
                <a:solidFill>
                  <a:srgbClr val="00B0F0"/>
                </a:solidFill>
              </a:rPr>
              <a:t> API </a:t>
            </a:r>
            <a:r>
              <a:rPr lang="en-US" sz="5600" b="1" dirty="0" smtClean="0">
                <a:solidFill>
                  <a:srgbClr val="00B0F0"/>
                </a:solidFill>
              </a:rPr>
              <a:t>Server</a:t>
            </a:r>
          </a:p>
          <a:p>
            <a:r>
              <a:rPr lang="en-US" sz="3200" dirty="0" smtClean="0"/>
              <a:t>- A </a:t>
            </a:r>
            <a:r>
              <a:rPr lang="en-US" sz="3200" dirty="0"/>
              <a:t>primary management component of k8s </a:t>
            </a:r>
            <a:endParaRPr lang="en-US" sz="3200" dirty="0" smtClean="0"/>
          </a:p>
          <a:p>
            <a:r>
              <a:rPr lang="en-US" sz="3200" dirty="0" smtClean="0"/>
              <a:t> - Responsible </a:t>
            </a:r>
            <a:r>
              <a:rPr lang="en-US" sz="3200" dirty="0"/>
              <a:t>for orchestrating all operations within a cluster </a:t>
            </a:r>
            <a:endParaRPr lang="en-US" sz="3200" dirty="0" smtClean="0"/>
          </a:p>
          <a:p>
            <a:r>
              <a:rPr lang="en-US" sz="3200" dirty="0" smtClean="0"/>
              <a:t> - Exposes </a:t>
            </a:r>
            <a:r>
              <a:rPr lang="en-US" sz="3200" dirty="0"/>
              <a:t>K8s API ,used by external users to perform management operation in the cluster and number of controller to monitor the state of the cluster</a:t>
            </a:r>
            <a:endParaRPr lang="en-US" sz="2000" b="1" dirty="0">
              <a:solidFill>
                <a:srgbClr val="FFC000"/>
              </a:solidFill>
            </a:endParaRPr>
          </a:p>
        </p:txBody>
      </p:sp>
      <p:cxnSp>
        <p:nvCxnSpPr>
          <p:cNvPr id="20" name="Straight Arrow Connector 19"/>
          <p:cNvCxnSpPr>
            <a:stCxn id="72" idx="1"/>
          </p:cNvCxnSpPr>
          <p:nvPr/>
        </p:nvCxnSpPr>
        <p:spPr>
          <a:xfrm flipH="1">
            <a:off x="3676650" y="4148732"/>
            <a:ext cx="1021624" cy="133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64" y="1484725"/>
            <a:ext cx="882163" cy="882163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3010060" y="3027847"/>
            <a:ext cx="1541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Worker </a:t>
            </a:r>
            <a:r>
              <a:rPr lang="en-US" dirty="0" err="1" smtClean="0"/>
              <a:t>NodeS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1537813" y="3041516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381580" y="1898674"/>
            <a:ext cx="9737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651579" y="995275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8746172" y="887957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82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863" y="1208457"/>
            <a:ext cx="648690" cy="41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Can 82"/>
          <p:cNvSpPr/>
          <p:nvPr/>
        </p:nvSpPr>
        <p:spPr>
          <a:xfrm>
            <a:off x="8793190" y="1991302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8821227" y="2151936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85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238" y="1242411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angle 85"/>
          <p:cNvSpPr/>
          <p:nvPr/>
        </p:nvSpPr>
        <p:spPr>
          <a:xfrm>
            <a:off x="7985068" y="2586107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0343202" y="2820038"/>
            <a:ext cx="1541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Worker </a:t>
            </a:r>
            <a:r>
              <a:rPr lang="en-US" dirty="0" err="1" smtClean="0"/>
              <a:t>NodeS</a:t>
            </a:r>
            <a:endParaRPr lang="en-US" dirty="0"/>
          </a:p>
        </p:txBody>
      </p:sp>
      <p:sp>
        <p:nvSpPr>
          <p:cNvPr id="88" name="Rectangle 87"/>
          <p:cNvSpPr/>
          <p:nvPr/>
        </p:nvSpPr>
        <p:spPr>
          <a:xfrm>
            <a:off x="8870955" y="2833707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7714722" y="1690865"/>
            <a:ext cx="9737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7210425" y="1898674"/>
            <a:ext cx="581813" cy="0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" name="Picture 9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662" y="4070068"/>
            <a:ext cx="882163" cy="882163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7704816" y="3766472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itle 1"/>
          <p:cNvSpPr txBox="1">
            <a:spLocks/>
          </p:cNvSpPr>
          <p:nvPr/>
        </p:nvSpPr>
        <p:spPr>
          <a:xfrm>
            <a:off x="8993837" y="3610634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98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228" y="3955797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Can 98"/>
          <p:cNvSpPr/>
          <p:nvPr/>
        </p:nvSpPr>
        <p:spPr>
          <a:xfrm>
            <a:off x="7803194" y="4876581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7831231" y="5037215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8041879" y="5434472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0396439" y="5591235"/>
            <a:ext cx="1541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Worker </a:t>
            </a:r>
            <a:r>
              <a:rPr lang="en-US" dirty="0" err="1" smtClean="0"/>
              <a:t>NodeS</a:t>
            </a:r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8924192" y="5604904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274" y="3812269"/>
            <a:ext cx="672925" cy="6729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629176" y="3781874"/>
            <a:ext cx="109837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err="1">
                <a:solidFill>
                  <a:srgbClr val="00B0F0"/>
                </a:solidFill>
              </a:rPr>
              <a:t>Kube</a:t>
            </a:r>
            <a:r>
              <a:rPr lang="en-US" sz="1100" dirty="0">
                <a:solidFill>
                  <a:srgbClr val="00B0F0"/>
                </a:solidFill>
              </a:rPr>
              <a:t> API Server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9931" y="4327631"/>
            <a:ext cx="672925" cy="672925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9065010" y="4295685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101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660" y="5074012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Rectangle 90"/>
          <p:cNvSpPr/>
          <p:nvPr/>
        </p:nvSpPr>
        <p:spPr>
          <a:xfrm>
            <a:off x="9026025" y="3776677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9026024" y="4338842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8992326" y="4907138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025438" y="4962947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Arrow Connector 116"/>
          <p:cNvCxnSpPr>
            <a:endCxn id="115" idx="1"/>
          </p:cNvCxnSpPr>
          <p:nvPr/>
        </p:nvCxnSpPr>
        <p:spPr>
          <a:xfrm>
            <a:off x="7651579" y="4597354"/>
            <a:ext cx="1374445" cy="29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7225934" y="4082664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V="1">
            <a:off x="7096125" y="4739061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itle 1"/>
          <p:cNvSpPr txBox="1">
            <a:spLocks/>
          </p:cNvSpPr>
          <p:nvPr/>
        </p:nvSpPr>
        <p:spPr>
          <a:xfrm>
            <a:off x="6839741" y="3766472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132" name="Title 1"/>
          <p:cNvSpPr txBox="1">
            <a:spLocks/>
          </p:cNvSpPr>
          <p:nvPr/>
        </p:nvSpPr>
        <p:spPr>
          <a:xfrm>
            <a:off x="6914661" y="4767782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125" name="Picture 1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364" y="4613892"/>
            <a:ext cx="118324" cy="118324"/>
          </a:xfrm>
          <a:prstGeom prst="rect">
            <a:avLst/>
          </a:prstGeom>
        </p:spPr>
      </p:pic>
      <p:pic>
        <p:nvPicPr>
          <p:cNvPr id="134" name="Picture 1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2452" y="4082664"/>
            <a:ext cx="118324" cy="118324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10461684" y="1020877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139" name="Rectangle 138"/>
          <p:cNvSpPr/>
          <p:nvPr/>
        </p:nvSpPr>
        <p:spPr>
          <a:xfrm>
            <a:off x="10461684" y="2473075"/>
            <a:ext cx="1263534" cy="3390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140" name="Rounded Rectangle 139"/>
          <p:cNvSpPr/>
          <p:nvPr/>
        </p:nvSpPr>
        <p:spPr>
          <a:xfrm>
            <a:off x="10461684" y="1642130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10493114" y="3790777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142" name="Rectangle 141"/>
          <p:cNvSpPr/>
          <p:nvPr/>
        </p:nvSpPr>
        <p:spPr>
          <a:xfrm>
            <a:off x="10493114" y="5242975"/>
            <a:ext cx="1263534" cy="3390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143" name="Rounded Rectangle 142"/>
          <p:cNvSpPr/>
          <p:nvPr/>
        </p:nvSpPr>
        <p:spPr>
          <a:xfrm>
            <a:off x="10493114" y="4412030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59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 nutshell…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473241" y="1843142"/>
            <a:ext cx="411497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 smtClean="0"/>
          </a:p>
          <a:p>
            <a:r>
              <a:rPr lang="en-US" dirty="0" err="1"/>
              <a:t>kubectl</a:t>
            </a:r>
            <a:r>
              <a:rPr lang="en-US" dirty="0"/>
              <a:t> [command] [TYPE] [NAME] [flags</a:t>
            </a:r>
            <a:r>
              <a:rPr lang="en-US" dirty="0" smtClean="0"/>
              <a:t>]</a:t>
            </a:r>
          </a:p>
          <a:p>
            <a:endParaRPr lang="en-US" dirty="0"/>
          </a:p>
          <a:p>
            <a:r>
              <a:rPr lang="en-US" dirty="0" smtClean="0"/>
              <a:t>$</a:t>
            </a:r>
            <a:r>
              <a:rPr lang="en-US" dirty="0" err="1"/>
              <a:t>kubectl</a:t>
            </a:r>
            <a:r>
              <a:rPr lang="en-US" dirty="0"/>
              <a:t> get </a:t>
            </a:r>
            <a:r>
              <a:rPr lang="en-US" dirty="0" err="1" smtClean="0"/>
              <a:t>componentstatus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[node1 install]$ </a:t>
            </a:r>
            <a:r>
              <a:rPr lang="en-US" dirty="0" err="1"/>
              <a:t>kubectl</a:t>
            </a:r>
            <a:r>
              <a:rPr lang="en-US" dirty="0"/>
              <a:t> get nodes -o 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73241" y="1004790"/>
            <a:ext cx="3787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Kubernetes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241" y="3912600"/>
            <a:ext cx="570919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When you finish using the debugging Pod, delete it:</a:t>
            </a:r>
          </a:p>
          <a:p>
            <a:endParaRPr lang="en-US" sz="1400" dirty="0"/>
          </a:p>
          <a:p>
            <a:r>
              <a:rPr lang="en-US" sz="1400" dirty="0" err="1">
                <a:solidFill>
                  <a:srgbClr val="002060"/>
                </a:solidFill>
              </a:rPr>
              <a:t>kubectl</a:t>
            </a:r>
            <a:r>
              <a:rPr lang="en-US" sz="1400" dirty="0">
                <a:solidFill>
                  <a:srgbClr val="002060"/>
                </a:solidFill>
              </a:rPr>
              <a:t> get pods</a:t>
            </a:r>
          </a:p>
          <a:p>
            <a:r>
              <a:rPr lang="en-US" sz="1400" dirty="0"/>
              <a:t>NAME                         </a:t>
            </a:r>
            <a:r>
              <a:rPr lang="en-US" sz="1400" dirty="0" smtClean="0"/>
              <a:t>                        READY   </a:t>
            </a:r>
            <a:r>
              <a:rPr lang="en-US" sz="1400" dirty="0"/>
              <a:t>STATUS       </a:t>
            </a:r>
            <a:r>
              <a:rPr lang="en-US" sz="1400" dirty="0" smtClean="0"/>
              <a:t>    RESTARTS   </a:t>
            </a:r>
            <a:r>
              <a:rPr lang="en-US" sz="1400" dirty="0"/>
              <a:t>AGE</a:t>
            </a:r>
          </a:p>
          <a:p>
            <a:r>
              <a:rPr lang="en-US" sz="1400" dirty="0"/>
              <a:t>node-debugger-mynode-pdx84    0/1    </a:t>
            </a:r>
            <a:r>
              <a:rPr lang="en-US" sz="1400" dirty="0" smtClean="0"/>
              <a:t>     </a:t>
            </a:r>
            <a:r>
              <a:rPr lang="en-US" sz="1400" dirty="0"/>
              <a:t>Completed    0         </a:t>
            </a:r>
            <a:r>
              <a:rPr lang="en-US" sz="1400" dirty="0" smtClean="0"/>
              <a:t>         8m1s</a:t>
            </a:r>
          </a:p>
          <a:p>
            <a:endParaRPr lang="en-US" sz="1400" dirty="0"/>
          </a:p>
          <a:p>
            <a:r>
              <a:rPr lang="en-US" sz="1400" dirty="0"/>
              <a:t># Change the pod name accordingly</a:t>
            </a:r>
          </a:p>
          <a:p>
            <a:r>
              <a:rPr lang="en-US" sz="1400" dirty="0" err="1">
                <a:solidFill>
                  <a:srgbClr val="002060"/>
                </a:solidFill>
              </a:rPr>
              <a:t>kubectl</a:t>
            </a:r>
            <a:r>
              <a:rPr lang="en-US" sz="1400" dirty="0">
                <a:solidFill>
                  <a:srgbClr val="002060"/>
                </a:solidFill>
              </a:rPr>
              <a:t> delete pod node-debugger-mynode-pdx84 </a:t>
            </a:r>
            <a:r>
              <a:rPr lang="en-US" sz="1400" dirty="0" smtClean="0">
                <a:solidFill>
                  <a:srgbClr val="002060"/>
                </a:solidFill>
              </a:rPr>
              <a:t>–now</a:t>
            </a:r>
          </a:p>
          <a:p>
            <a:endParaRPr lang="en-US" sz="1400" dirty="0">
              <a:solidFill>
                <a:srgbClr val="002060"/>
              </a:solidFill>
            </a:endParaRPr>
          </a:p>
          <a:p>
            <a:r>
              <a:rPr lang="en-US" sz="1400" dirty="0">
                <a:solidFill>
                  <a:srgbClr val="002060"/>
                </a:solidFill>
              </a:rPr>
              <a:t>pod "node-debugger-mynode-pdx84" deleted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1844" y="404625"/>
            <a:ext cx="60219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[node1 install]$ </a:t>
            </a:r>
            <a:r>
              <a:rPr lang="en-US" sz="800" dirty="0" err="1"/>
              <a:t>kubectl</a:t>
            </a:r>
            <a:r>
              <a:rPr lang="en-US" sz="800" dirty="0"/>
              <a:t> get nodes -o wide</a:t>
            </a:r>
          </a:p>
          <a:p>
            <a:r>
              <a:rPr lang="en-US" sz="800" dirty="0"/>
              <a:t>NAME STATUS ROLES AGE VERSION INTERNAL-IP EXTERNAL-IP OS-IMAGE KERNEL-VERSION CONTAINER-RUNTIME</a:t>
            </a:r>
          </a:p>
          <a:p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node1 Ready master 92s v1.14.2 192.168.0.18 &lt;none&gt; CentOS Linux 7 (Core) 4.4.0-141-generic docker://18.9.6</a:t>
            </a:r>
          </a:p>
          <a:p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node2 Ready &lt;none&gt; 57s v1.14.2 192.168.0.17 &lt;none&gt; CentOS Linux 7 (Core) 4.4.0-141-generic docker://18.9.6</a:t>
            </a:r>
          </a:p>
          <a:p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node3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</a:rPr>
              <a:t>NotReady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 &lt;none&gt; 39s v1.14.2 192.168.0.16 &lt;none&gt; CentOS Linux 7 (Core) 4.4.0-141-generic docker://18.9.6</a:t>
            </a:r>
          </a:p>
          <a:p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node4 </a:t>
            </a:r>
            <a:r>
              <a:rPr lang="en-US" sz="800" dirty="0" err="1">
                <a:solidFill>
                  <a:schemeClr val="accent2">
                    <a:lumMod val="75000"/>
                  </a:schemeClr>
                </a:solidFill>
              </a:rPr>
              <a:t>NotReady</a:t>
            </a:r>
            <a:r>
              <a:rPr lang="en-US" sz="800" dirty="0">
                <a:solidFill>
                  <a:schemeClr val="accent2">
                    <a:lumMod val="75000"/>
                  </a:schemeClr>
                </a:solidFill>
              </a:rPr>
              <a:t> &lt;none&gt; 32s v1.14.2 192.168.0.15 &lt;none&gt; CentOS Linux 7 (Core) 4.4.0-141-generic docker://18.9.6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4709" y="1539042"/>
            <a:ext cx="6096000" cy="8617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[node1 install]$ </a:t>
            </a:r>
            <a:r>
              <a:rPr lang="en-US" sz="1000" dirty="0" err="1"/>
              <a:t>kubectl</a:t>
            </a:r>
            <a:r>
              <a:rPr lang="en-US" sz="1000" dirty="0"/>
              <a:t> get </a:t>
            </a:r>
            <a:r>
              <a:rPr lang="en-US" sz="1000" dirty="0" err="1"/>
              <a:t>componentstatus</a:t>
            </a:r>
            <a:endParaRPr lang="en-US" sz="1000" dirty="0"/>
          </a:p>
          <a:p>
            <a:r>
              <a:rPr lang="en-US" sz="1000" dirty="0"/>
              <a:t>NAME </a:t>
            </a:r>
            <a:r>
              <a:rPr lang="en-US" sz="1000" dirty="0" smtClean="0"/>
              <a:t>                          STATUS     MESSAGE </a:t>
            </a:r>
            <a:r>
              <a:rPr lang="en-US" sz="1000" dirty="0"/>
              <a:t>ERROR</a:t>
            </a:r>
          </a:p>
          <a:p>
            <a:r>
              <a:rPr lang="en-US" sz="1000" dirty="0"/>
              <a:t>scheduler </a:t>
            </a:r>
            <a:r>
              <a:rPr lang="en-US" sz="1000" dirty="0" smtClean="0"/>
              <a:t>                    Healthy      ok</a:t>
            </a:r>
            <a:endParaRPr lang="en-US" sz="1000" dirty="0"/>
          </a:p>
          <a:p>
            <a:r>
              <a:rPr lang="en-US" sz="1000" dirty="0" smtClean="0"/>
              <a:t>controller-manager    Healthy      </a:t>
            </a:r>
            <a:r>
              <a:rPr lang="en-US" sz="1000" dirty="0"/>
              <a:t>ok</a:t>
            </a:r>
          </a:p>
          <a:p>
            <a:r>
              <a:rPr lang="en-US" sz="1000" dirty="0"/>
              <a:t>etcd-0 </a:t>
            </a:r>
            <a:r>
              <a:rPr lang="en-US" sz="1000" dirty="0" smtClean="0"/>
              <a:t>                          Healthy        </a:t>
            </a:r>
            <a:r>
              <a:rPr lang="en-US" sz="1000" dirty="0"/>
              <a:t>{"</a:t>
            </a:r>
            <a:r>
              <a:rPr lang="en-US" sz="1000" dirty="0" err="1"/>
              <a:t>health":"true</a:t>
            </a:r>
            <a:r>
              <a:rPr lang="en-US" sz="1000" dirty="0"/>
              <a:t>"}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5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12" y="459434"/>
            <a:ext cx="882163" cy="8821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8266" y="155838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307287" y="0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10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678" y="345163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n 10"/>
          <p:cNvSpPr/>
          <p:nvPr/>
        </p:nvSpPr>
        <p:spPr>
          <a:xfrm>
            <a:off x="1116644" y="1265947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44681" y="1426581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355329" y="1823838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09889" y="1980601"/>
            <a:ext cx="1541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Worker </a:t>
            </a:r>
            <a:r>
              <a:rPr lang="en-US" dirty="0" err="1" smtClean="0"/>
              <a:t>NodeS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237642" y="1994270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381" y="716997"/>
            <a:ext cx="672925" cy="6729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378460" y="685051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18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110" y="1463378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/>
        </p:nvSpPr>
        <p:spPr>
          <a:xfrm>
            <a:off x="2339475" y="166043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339474" y="728208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305776" y="1296504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8888" y="1352313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0" idx="1"/>
          </p:cNvCxnSpPr>
          <p:nvPr/>
        </p:nvCxnSpPr>
        <p:spPr>
          <a:xfrm>
            <a:off x="965029" y="986720"/>
            <a:ext cx="1374445" cy="29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39384" y="472030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09575" y="1128427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153191" y="155838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28111" y="1157148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8814" y="1003258"/>
            <a:ext cx="118324" cy="11832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415" y="683320"/>
            <a:ext cx="882163" cy="88216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952569" y="379724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8241590" y="223886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35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981" y="569049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n 35"/>
          <p:cNvSpPr/>
          <p:nvPr/>
        </p:nvSpPr>
        <p:spPr>
          <a:xfrm>
            <a:off x="7050947" y="1489833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078984" y="1650467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89632" y="2047724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982267" y="2218156"/>
            <a:ext cx="180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A Worker Node-1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171945" y="2218156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84" y="940883"/>
            <a:ext cx="672925" cy="672925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312763" y="908937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43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413" y="1687264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 43"/>
          <p:cNvSpPr/>
          <p:nvPr/>
        </p:nvSpPr>
        <p:spPr>
          <a:xfrm>
            <a:off x="8273778" y="389929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8273777" y="952094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8240079" y="1520390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3191" y="1576199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>
            <a:endCxn id="45" idx="1"/>
          </p:cNvCxnSpPr>
          <p:nvPr/>
        </p:nvCxnSpPr>
        <p:spPr>
          <a:xfrm>
            <a:off x="6899332" y="1210606"/>
            <a:ext cx="1374445" cy="2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6473687" y="695916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6343878" y="1352313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1"/>
          <p:cNvSpPr txBox="1">
            <a:spLocks/>
          </p:cNvSpPr>
          <p:nvPr/>
        </p:nvSpPr>
        <p:spPr>
          <a:xfrm>
            <a:off x="6087494" y="379724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52" name="Title 1"/>
          <p:cNvSpPr txBox="1">
            <a:spLocks/>
          </p:cNvSpPr>
          <p:nvPr/>
        </p:nvSpPr>
        <p:spPr>
          <a:xfrm>
            <a:off x="6162414" y="1381034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117" y="1227144"/>
            <a:ext cx="118324" cy="118324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9864651" y="372879"/>
            <a:ext cx="1683573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123" y="3589165"/>
            <a:ext cx="1760066" cy="790575"/>
          </a:xfrm>
          <a:prstGeom prst="rect">
            <a:avLst/>
          </a:prstGeom>
        </p:spPr>
      </p:pic>
      <p:sp>
        <p:nvSpPr>
          <p:cNvPr id="56" name="Title 1"/>
          <p:cNvSpPr txBox="1">
            <a:spLocks/>
          </p:cNvSpPr>
          <p:nvPr/>
        </p:nvSpPr>
        <p:spPr>
          <a:xfrm>
            <a:off x="6480482" y="2649790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accent2"/>
                </a:solidFill>
              </a:rPr>
              <a:t>Communication between Cargo </a:t>
            </a:r>
            <a:r>
              <a:rPr lang="en-US" sz="6000" b="1" dirty="0" smtClean="0">
                <a:solidFill>
                  <a:schemeClr val="accent2"/>
                </a:solidFill>
              </a:rPr>
              <a:t>Ships</a:t>
            </a:r>
          </a:p>
          <a:p>
            <a:r>
              <a:rPr lang="en-US" sz="3200" dirty="0"/>
              <a:t>How does two cargo ships communicate with each other?</a:t>
            </a:r>
            <a:endParaRPr lang="en-US" sz="2000" b="1" dirty="0">
              <a:solidFill>
                <a:srgbClr val="FFC000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2047743" y="3771888"/>
            <a:ext cx="526544" cy="145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189" y="3356931"/>
            <a:ext cx="672925" cy="672925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2454365" y="3311234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9613" y="3657721"/>
            <a:ext cx="118324" cy="118324"/>
          </a:xfrm>
          <a:prstGeom prst="rect">
            <a:avLst/>
          </a:prstGeom>
        </p:spPr>
      </p:pic>
      <p:sp>
        <p:nvSpPr>
          <p:cNvPr id="61" name="Title 1"/>
          <p:cNvSpPr txBox="1">
            <a:spLocks/>
          </p:cNvSpPr>
          <p:nvPr/>
        </p:nvSpPr>
        <p:spPr>
          <a:xfrm>
            <a:off x="745122" y="2886910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600" b="1" dirty="0" smtClean="0">
                <a:solidFill>
                  <a:srgbClr val="00B0F0"/>
                </a:solidFill>
              </a:rPr>
              <a:t>Captain of the Ship </a:t>
            </a:r>
            <a:r>
              <a:rPr lang="en-US" sz="6000" dirty="0"/>
              <a:t>~ </a:t>
            </a:r>
            <a:r>
              <a:rPr lang="en-US" sz="6000" dirty="0" err="1">
                <a:solidFill>
                  <a:srgbClr val="0000FF"/>
                </a:solidFill>
              </a:rPr>
              <a:t>Kubelet</a:t>
            </a:r>
            <a:endParaRPr lang="en-US" sz="5600" b="1" dirty="0" smtClean="0">
              <a:solidFill>
                <a:srgbClr val="0000FF"/>
              </a:solidFill>
            </a:endParaRPr>
          </a:p>
          <a:p>
            <a:r>
              <a:rPr lang="en-US" sz="3200" dirty="0"/>
              <a:t>Agent which runs on each nodes of the </a:t>
            </a:r>
            <a:r>
              <a:rPr lang="en-US" sz="3200" dirty="0" smtClean="0"/>
              <a:t>container</a:t>
            </a:r>
          </a:p>
          <a:p>
            <a:endParaRPr lang="en-US" sz="3200" dirty="0"/>
          </a:p>
          <a:p>
            <a:r>
              <a:rPr lang="en-US" sz="3200" dirty="0" smtClean="0"/>
              <a:t>Manages </a:t>
            </a:r>
            <a:r>
              <a:rPr lang="en-US" sz="3200" dirty="0"/>
              <a:t>all sort of activity on the </a:t>
            </a:r>
            <a:r>
              <a:rPr lang="en-US" sz="3200" dirty="0" smtClean="0"/>
              <a:t>ship</a:t>
            </a:r>
          </a:p>
          <a:p>
            <a:r>
              <a:rPr lang="en-US" sz="3200" dirty="0" smtClean="0"/>
              <a:t>Let </a:t>
            </a:r>
            <a:r>
              <a:rPr lang="en-US" sz="3200" dirty="0"/>
              <a:t>master ship knows they are interested to </a:t>
            </a:r>
            <a:r>
              <a:rPr lang="en-US" sz="3200" dirty="0" smtClean="0"/>
              <a:t>join</a:t>
            </a:r>
          </a:p>
          <a:p>
            <a:r>
              <a:rPr lang="en-US" sz="3200" dirty="0" smtClean="0"/>
              <a:t>Sending </a:t>
            </a:r>
            <a:r>
              <a:rPr lang="en-US" sz="3200" dirty="0"/>
              <a:t>reports back to master about the status of the </a:t>
            </a:r>
            <a:r>
              <a:rPr lang="en-US" sz="3200" dirty="0" smtClean="0"/>
              <a:t>ship</a:t>
            </a:r>
          </a:p>
          <a:p>
            <a:r>
              <a:rPr lang="en-US" sz="3200" dirty="0" smtClean="0"/>
              <a:t>Sending </a:t>
            </a:r>
            <a:r>
              <a:rPr lang="en-US" sz="3200" dirty="0"/>
              <a:t>reports about the status of the containers</a:t>
            </a:r>
            <a:endParaRPr lang="en-US" sz="2000" b="1" dirty="0">
              <a:solidFill>
                <a:srgbClr val="FFC000"/>
              </a:solidFill>
            </a:endParaRP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9143" y="3111416"/>
            <a:ext cx="1866036" cy="857292"/>
          </a:xfrm>
          <a:prstGeom prst="rect">
            <a:avLst/>
          </a:prstGeom>
        </p:spPr>
      </p:pic>
      <p:sp>
        <p:nvSpPr>
          <p:cNvPr id="64" name="Title 1"/>
          <p:cNvSpPr txBox="1">
            <a:spLocks/>
          </p:cNvSpPr>
          <p:nvPr/>
        </p:nvSpPr>
        <p:spPr>
          <a:xfrm>
            <a:off x="3944340" y="2661510"/>
            <a:ext cx="1905191" cy="59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</a:t>
            </a:r>
            <a:r>
              <a:rPr lang="en-US" sz="2000" b="1" dirty="0" err="1" smtClean="0">
                <a:solidFill>
                  <a:srgbClr val="0070C0"/>
                </a:solidFill>
              </a:rPr>
              <a:t>Ship_A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66" name="Picture 10" descr="GIF de Moving Whale Gif | Tenor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705" y="3196381"/>
            <a:ext cx="725789" cy="72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3495" y="4556644"/>
            <a:ext cx="1866036" cy="857292"/>
          </a:xfrm>
          <a:prstGeom prst="rect">
            <a:avLst/>
          </a:prstGeom>
        </p:spPr>
      </p:pic>
      <p:sp>
        <p:nvSpPr>
          <p:cNvPr id="68" name="Title 1"/>
          <p:cNvSpPr txBox="1">
            <a:spLocks/>
          </p:cNvSpPr>
          <p:nvPr/>
        </p:nvSpPr>
        <p:spPr>
          <a:xfrm>
            <a:off x="3978692" y="4106738"/>
            <a:ext cx="1905191" cy="59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</a:t>
            </a:r>
            <a:r>
              <a:rPr lang="en-US" sz="2000" b="1" dirty="0" err="1" smtClean="0">
                <a:solidFill>
                  <a:srgbClr val="0070C0"/>
                </a:solidFill>
              </a:rPr>
              <a:t>Ship_B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69" name="Picture 10" descr="GIF de Moving Whale Gif | Tenor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640" y="4624606"/>
            <a:ext cx="725789" cy="72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288" y="3245348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288" y="4640598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tangle 71"/>
          <p:cNvSpPr/>
          <p:nvPr/>
        </p:nvSpPr>
        <p:spPr>
          <a:xfrm>
            <a:off x="3856417" y="212243"/>
            <a:ext cx="1263534" cy="53649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Worker Node-1</a:t>
            </a:r>
            <a:endParaRPr lang="en-US" sz="1000" dirty="0"/>
          </a:p>
        </p:txBody>
      </p:sp>
      <p:sp>
        <p:nvSpPr>
          <p:cNvPr id="73" name="Rectangle 72"/>
          <p:cNvSpPr/>
          <p:nvPr/>
        </p:nvSpPr>
        <p:spPr>
          <a:xfrm>
            <a:off x="3856417" y="1664441"/>
            <a:ext cx="1263534" cy="3390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Worker Node-N</a:t>
            </a:r>
            <a:endParaRPr lang="en-US" sz="1200" dirty="0"/>
          </a:p>
        </p:txBody>
      </p:sp>
      <p:sp>
        <p:nvSpPr>
          <p:cNvPr id="74" name="Rounded Rectangle 73"/>
          <p:cNvSpPr/>
          <p:nvPr/>
        </p:nvSpPr>
        <p:spPr>
          <a:xfrm>
            <a:off x="3856417" y="833496"/>
            <a:ext cx="1263534" cy="71761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10317741" y="1520390"/>
            <a:ext cx="1126913" cy="70333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9968938" y="474640"/>
            <a:ext cx="1120253" cy="417360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78" name="Elbow Connector 77"/>
          <p:cNvCxnSpPr>
            <a:stCxn id="45" idx="3"/>
          </p:cNvCxnSpPr>
          <p:nvPr/>
        </p:nvCxnSpPr>
        <p:spPr>
          <a:xfrm flipV="1">
            <a:off x="9067440" y="682663"/>
            <a:ext cx="829730" cy="527972"/>
          </a:xfrm>
          <a:prstGeom prst="bentConnector3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81" name="Picture 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453" y="3290284"/>
            <a:ext cx="1866036" cy="857292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805" y="4735512"/>
            <a:ext cx="1866036" cy="857292"/>
          </a:xfrm>
          <a:prstGeom prst="rect">
            <a:avLst/>
          </a:prstGeom>
        </p:spPr>
      </p:pic>
      <p:sp>
        <p:nvSpPr>
          <p:cNvPr id="83" name="Title 1"/>
          <p:cNvSpPr txBox="1">
            <a:spLocks/>
          </p:cNvSpPr>
          <p:nvPr/>
        </p:nvSpPr>
        <p:spPr>
          <a:xfrm>
            <a:off x="7530002" y="4285606"/>
            <a:ext cx="1905191" cy="59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</a:t>
            </a:r>
            <a:r>
              <a:rPr lang="en-US" sz="2000" b="1" dirty="0" err="1" smtClean="0">
                <a:solidFill>
                  <a:srgbClr val="0070C0"/>
                </a:solidFill>
              </a:rPr>
              <a:t>Ship_B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84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598" y="3424216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598" y="4819466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Up Arrow 85"/>
          <p:cNvSpPr/>
          <p:nvPr/>
        </p:nvSpPr>
        <p:spPr>
          <a:xfrm>
            <a:off x="8506772" y="4065349"/>
            <a:ext cx="211004" cy="7896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Up Arrow 86"/>
          <p:cNvSpPr/>
          <p:nvPr/>
        </p:nvSpPr>
        <p:spPr>
          <a:xfrm flipH="1" flipV="1">
            <a:off x="7876521" y="4035558"/>
            <a:ext cx="295424" cy="844999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10074754" y="511250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2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53" y="397209"/>
            <a:ext cx="10515600" cy="30864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Kube</a:t>
            </a:r>
            <a:r>
              <a:rPr lang="en-US" dirty="0">
                <a:solidFill>
                  <a:schemeClr val="accent2"/>
                </a:solidFill>
              </a:rPr>
              <a:t>-proxy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853" y="9679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How will web server running on one worker node reach out to DB </a:t>
            </a:r>
            <a:r>
              <a:rPr lang="en-US" dirty="0" smtClean="0"/>
              <a:t>server on </a:t>
            </a:r>
            <a:r>
              <a:rPr lang="en-US" dirty="0"/>
              <a:t>another worker node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437" y="2430381"/>
            <a:ext cx="4178245" cy="566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accent2"/>
                </a:solidFill>
              </a:rPr>
              <a:t>Communication </a:t>
            </a:r>
            <a:r>
              <a:rPr lang="en-US" sz="3500" b="1" dirty="0">
                <a:solidFill>
                  <a:schemeClr val="accent2"/>
                </a:solidFill>
              </a:rPr>
              <a:t>between </a:t>
            </a:r>
            <a:r>
              <a:rPr lang="en-US" sz="3500" b="1" dirty="0" smtClean="0">
                <a:solidFill>
                  <a:schemeClr val="accent2"/>
                </a:solidFill>
              </a:rPr>
              <a:t> worker nodes</a:t>
            </a:r>
            <a:endParaRPr lang="en-US" sz="3500" b="1" dirty="0">
              <a:solidFill>
                <a:srgbClr val="FFC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190" y="1420699"/>
            <a:ext cx="1866036" cy="8572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542" y="2865927"/>
            <a:ext cx="1866036" cy="857292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000739" y="2416021"/>
            <a:ext cx="1905191" cy="59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A Cargo </a:t>
            </a:r>
            <a:r>
              <a:rPr lang="en-US" sz="2000" b="1" dirty="0" err="1" smtClean="0">
                <a:solidFill>
                  <a:srgbClr val="0070C0"/>
                </a:solidFill>
              </a:rPr>
              <a:t>Ship_B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9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335" y="1554631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0" descr="Ship Steering, ship , captain , pirate , navy , steering - GIF ..."/>
          <p:cNvPicPr>
            <a:picLocks noChangeAspect="1" noChangeArrowheads="1" noCrop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335" y="2949881"/>
            <a:ext cx="676980" cy="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Up Arrow 10"/>
          <p:cNvSpPr/>
          <p:nvPr/>
        </p:nvSpPr>
        <p:spPr>
          <a:xfrm>
            <a:off x="4977509" y="2195764"/>
            <a:ext cx="211004" cy="789610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 flipH="1" flipV="1">
            <a:off x="4347258" y="2165973"/>
            <a:ext cx="295424" cy="844999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242149" y="2916276"/>
            <a:ext cx="1925053" cy="465449"/>
          </a:xfrm>
          <a:prstGeom prst="roundRect">
            <a:avLst/>
          </a:prstGeom>
          <a:solidFill>
            <a:srgbClr val="0000FF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/>
                </a:solidFill>
              </a:rPr>
              <a:t>Kube</a:t>
            </a:r>
            <a:r>
              <a:rPr lang="en-US" dirty="0" smtClean="0">
                <a:ln>
                  <a:solidFill>
                    <a:srgbClr val="0000FF"/>
                  </a:solidFill>
                </a:ln>
                <a:solidFill>
                  <a:schemeClr val="bg1"/>
                </a:solidFill>
              </a:rPr>
              <a:t>-proxy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90624" y="3004502"/>
            <a:ext cx="125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Kube</a:t>
            </a:r>
            <a:r>
              <a:rPr lang="en-US" dirty="0">
                <a:solidFill>
                  <a:schemeClr val="accent2"/>
                </a:solidFill>
              </a:rPr>
              <a:t>-proxy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03" y="4953832"/>
            <a:ext cx="882163" cy="88216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88657" y="4650236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377678" y="4494398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18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069" y="4839561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n 18"/>
          <p:cNvSpPr/>
          <p:nvPr/>
        </p:nvSpPr>
        <p:spPr>
          <a:xfrm>
            <a:off x="1187035" y="5760345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215072" y="5920979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25720" y="6318236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18355" y="6488668"/>
            <a:ext cx="180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A Worker Node-1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308033" y="6488668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3772" y="5211395"/>
            <a:ext cx="672925" cy="67292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448851" y="5179449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26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501" y="5957776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2409866" y="4660441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09865" y="5222606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376167" y="5790902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09279" y="5846711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endCxn id="28" idx="1"/>
          </p:cNvCxnSpPr>
          <p:nvPr/>
        </p:nvCxnSpPr>
        <p:spPr>
          <a:xfrm>
            <a:off x="1035420" y="5481118"/>
            <a:ext cx="1374445" cy="2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09775" y="4966428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479966" y="5622825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>
            <a:spLocks/>
          </p:cNvSpPr>
          <p:nvPr/>
        </p:nvSpPr>
        <p:spPr>
          <a:xfrm>
            <a:off x="223582" y="4650236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298502" y="5651546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9205" y="5497656"/>
            <a:ext cx="118324" cy="11832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000738" y="4643391"/>
            <a:ext cx="3009661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4100704" y="5699000"/>
            <a:ext cx="2717191" cy="70333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Elbow Connector 39"/>
          <p:cNvCxnSpPr>
            <a:stCxn id="28" idx="3"/>
          </p:cNvCxnSpPr>
          <p:nvPr/>
        </p:nvCxnSpPr>
        <p:spPr>
          <a:xfrm flipV="1">
            <a:off x="3203528" y="4953175"/>
            <a:ext cx="829730" cy="527972"/>
          </a:xfrm>
          <a:prstGeom prst="bentConnector3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106138" y="4713136"/>
            <a:ext cx="1120253" cy="417360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211954" y="47497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300600" y="4724553"/>
            <a:ext cx="1355902" cy="405943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06416" y="4761164"/>
            <a:ext cx="125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Kube</a:t>
            </a:r>
            <a:r>
              <a:rPr lang="en-US" dirty="0">
                <a:solidFill>
                  <a:schemeClr val="accent2"/>
                </a:solidFill>
              </a:rPr>
              <a:t>-proxy</a:t>
            </a:r>
            <a:endParaRPr lang="en-US" dirty="0"/>
          </a:p>
        </p:txBody>
      </p:sp>
      <p:pic>
        <p:nvPicPr>
          <p:cNvPr id="4104" name="Picture 8" descr="Snow Animated Icon | Free weather Animated Ic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42" y="3339834"/>
            <a:ext cx="1164185" cy="116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/>
          <p:cNvSpPr/>
          <p:nvPr/>
        </p:nvSpPr>
        <p:spPr>
          <a:xfrm>
            <a:off x="6134740" y="3886303"/>
            <a:ext cx="945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Internet</a:t>
            </a:r>
            <a:endParaRPr lang="en-US" dirty="0"/>
          </a:p>
        </p:txBody>
      </p:sp>
      <p:cxnSp>
        <p:nvCxnSpPr>
          <p:cNvPr id="50" name="Straight Arrow Connector 49"/>
          <p:cNvCxnSpPr>
            <a:endCxn id="44" idx="0"/>
          </p:cNvCxnSpPr>
          <p:nvPr/>
        </p:nvCxnSpPr>
        <p:spPr>
          <a:xfrm flipH="1">
            <a:off x="6031459" y="4243177"/>
            <a:ext cx="580243" cy="517987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10879" y="3003703"/>
            <a:ext cx="51932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Let’s talk about Pods..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53" y="397209"/>
            <a:ext cx="10515600" cy="308643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Pods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1" y="1613998"/>
            <a:ext cx="882163" cy="88216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65075" y="1310402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154096" y="1154564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18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87" y="1499727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n 18"/>
          <p:cNvSpPr/>
          <p:nvPr/>
        </p:nvSpPr>
        <p:spPr>
          <a:xfrm>
            <a:off x="963453" y="2420511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91490" y="2581145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2138" y="2978402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94773" y="3148834"/>
            <a:ext cx="180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A Worker Node-1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084451" y="3148834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Master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90" y="1871561"/>
            <a:ext cx="672925" cy="67292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225269" y="1839615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26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19" y="2617942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2186284" y="1320607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6283" y="1882772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152585" y="2451068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85697" y="2506877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endCxn id="28" idx="1"/>
          </p:cNvCxnSpPr>
          <p:nvPr/>
        </p:nvCxnSpPr>
        <p:spPr>
          <a:xfrm>
            <a:off x="811838" y="2141284"/>
            <a:ext cx="1374445" cy="2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86193" y="1626594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56384" y="2282991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>
            <a:spLocks/>
          </p:cNvSpPr>
          <p:nvPr/>
        </p:nvSpPr>
        <p:spPr>
          <a:xfrm>
            <a:off x="0" y="1310402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74920" y="2311712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5623" y="2157822"/>
            <a:ext cx="118324" cy="11832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777156" y="1303557"/>
            <a:ext cx="3009661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3877122" y="2019036"/>
            <a:ext cx="2717191" cy="1043466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Elbow Connector 39"/>
          <p:cNvCxnSpPr>
            <a:stCxn id="28" idx="3"/>
          </p:cNvCxnSpPr>
          <p:nvPr/>
        </p:nvCxnSpPr>
        <p:spPr>
          <a:xfrm flipV="1">
            <a:off x="2979946" y="1613341"/>
            <a:ext cx="829730" cy="527972"/>
          </a:xfrm>
          <a:prstGeom prst="bentConnector3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882556" y="1373302"/>
            <a:ext cx="1120253" cy="417360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988372" y="1409912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77018" y="1384719"/>
            <a:ext cx="1355902" cy="405943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182834" y="1421330"/>
            <a:ext cx="125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Kube</a:t>
            </a:r>
            <a:r>
              <a:rPr lang="en-US" dirty="0">
                <a:solidFill>
                  <a:schemeClr val="accent2"/>
                </a:solidFill>
              </a:rPr>
              <a:t>-proxy</a:t>
            </a:r>
            <a:endParaRPr lang="en-US" dirty="0"/>
          </a:p>
        </p:txBody>
      </p:sp>
      <p:pic>
        <p:nvPicPr>
          <p:cNvPr id="4104" name="Picture 8" descr="Snow Animated Icon | Free weather Animated Ic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460" y="0"/>
            <a:ext cx="1164185" cy="116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ectangle 45"/>
          <p:cNvSpPr/>
          <p:nvPr/>
        </p:nvSpPr>
        <p:spPr>
          <a:xfrm>
            <a:off x="5911158" y="546469"/>
            <a:ext cx="945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Internet</a:t>
            </a:r>
            <a:endParaRPr lang="en-US" dirty="0"/>
          </a:p>
        </p:txBody>
      </p:sp>
      <p:cxnSp>
        <p:nvCxnSpPr>
          <p:cNvPr id="50" name="Straight Arrow Connector 49"/>
          <p:cNvCxnSpPr>
            <a:endCxn id="44" idx="0"/>
          </p:cNvCxnSpPr>
          <p:nvPr/>
        </p:nvCxnSpPr>
        <p:spPr>
          <a:xfrm flipH="1">
            <a:off x="5807877" y="903343"/>
            <a:ext cx="580243" cy="517987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988372" y="2157822"/>
            <a:ext cx="487375" cy="460120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489396" y="2526156"/>
            <a:ext cx="487375" cy="460120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5684450" y="2157822"/>
            <a:ext cx="487375" cy="460120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5018274" y="2169793"/>
            <a:ext cx="487375" cy="460120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069577" y="2519465"/>
            <a:ext cx="54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00B0F0"/>
                </a:solidFill>
              </a:rPr>
              <a:t>Pod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H="1" flipV="1">
            <a:off x="6149727" y="2447435"/>
            <a:ext cx="182889" cy="15418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38" y="4692232"/>
            <a:ext cx="882163" cy="882163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982692" y="4388636"/>
            <a:ext cx="2575019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itle 1"/>
          <p:cNvSpPr txBox="1">
            <a:spLocks/>
          </p:cNvSpPr>
          <p:nvPr/>
        </p:nvSpPr>
        <p:spPr>
          <a:xfrm>
            <a:off x="2271713" y="4232798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Scheluler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56" name="Picture 16" descr="Clipart Clouds Animated Gif - Management Control System Png, Transparent  Png - kind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104" y="4577961"/>
            <a:ext cx="526586" cy="25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Can 56"/>
          <p:cNvSpPr/>
          <p:nvPr/>
        </p:nvSpPr>
        <p:spPr>
          <a:xfrm>
            <a:off x="1081070" y="5498745"/>
            <a:ext cx="653204" cy="565765"/>
          </a:xfrm>
          <a:prstGeom prst="can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109107" y="5659379"/>
            <a:ext cx="673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ETCD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319755" y="6056636"/>
            <a:ext cx="12932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Control Plane</a:t>
            </a:r>
            <a:endParaRPr lang="en-US" sz="1200" b="1" dirty="0">
              <a:solidFill>
                <a:srgbClr val="00206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012390" y="6227068"/>
            <a:ext cx="180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A Worker Node-1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202068" y="6227068"/>
            <a:ext cx="849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Master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807" y="4949795"/>
            <a:ext cx="672925" cy="672925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2342886" y="4917849"/>
            <a:ext cx="77457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 smtClean="0">
                <a:solidFill>
                  <a:srgbClr val="00B0F0"/>
                </a:solidFill>
              </a:rPr>
              <a:t>API </a:t>
            </a:r>
            <a:r>
              <a:rPr lang="en-US" sz="1100" dirty="0">
                <a:solidFill>
                  <a:srgbClr val="00B0F0"/>
                </a:solidFill>
              </a:rPr>
              <a:t>Server</a:t>
            </a:r>
          </a:p>
        </p:txBody>
      </p:sp>
      <p:pic>
        <p:nvPicPr>
          <p:cNvPr id="64" name="Picture 18" descr="Task management Animated Icon | Free Animated Ic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536" y="5696176"/>
            <a:ext cx="623949" cy="62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64"/>
          <p:cNvSpPr/>
          <p:nvPr/>
        </p:nvSpPr>
        <p:spPr>
          <a:xfrm>
            <a:off x="2303901" y="4398841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2303900" y="4961006"/>
            <a:ext cx="793663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270202" y="5529302"/>
            <a:ext cx="847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Controller Manager 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03314" y="5585111"/>
            <a:ext cx="814144" cy="51708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endCxn id="66" idx="1"/>
          </p:cNvCxnSpPr>
          <p:nvPr/>
        </p:nvCxnSpPr>
        <p:spPr>
          <a:xfrm>
            <a:off x="929455" y="5219518"/>
            <a:ext cx="1374445" cy="29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03810" y="4704828"/>
            <a:ext cx="129809" cy="256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V="1">
            <a:off x="374001" y="5361225"/>
            <a:ext cx="266323" cy="21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/>
          <p:cNvSpPr txBox="1">
            <a:spLocks/>
          </p:cNvSpPr>
          <p:nvPr/>
        </p:nvSpPr>
        <p:spPr>
          <a:xfrm>
            <a:off x="117617" y="4388636"/>
            <a:ext cx="741368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err="1" smtClean="0">
                <a:solidFill>
                  <a:srgbClr val="0070C0"/>
                </a:solidFill>
              </a:rPr>
              <a:t>kubectl</a:t>
            </a:r>
            <a:endParaRPr lang="en-US" sz="1200" b="1" dirty="0">
              <a:solidFill>
                <a:srgbClr val="FFC000"/>
              </a:solidFill>
            </a:endParaRPr>
          </a:p>
        </p:txBody>
      </p:sp>
      <p:sp>
        <p:nvSpPr>
          <p:cNvPr id="73" name="Title 1"/>
          <p:cNvSpPr txBox="1">
            <a:spLocks/>
          </p:cNvSpPr>
          <p:nvPr/>
        </p:nvSpPr>
        <p:spPr>
          <a:xfrm>
            <a:off x="192537" y="5389946"/>
            <a:ext cx="621713" cy="527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 smtClean="0">
                <a:solidFill>
                  <a:srgbClr val="0070C0"/>
                </a:solidFill>
              </a:rPr>
              <a:t>UI</a:t>
            </a:r>
            <a:endParaRPr lang="en-US" sz="1200" b="1" dirty="0">
              <a:solidFill>
                <a:srgbClr val="FFC000"/>
              </a:solidFill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3240" y="5236056"/>
            <a:ext cx="118324" cy="118324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3894773" y="4381791"/>
            <a:ext cx="3009661" cy="194517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3994739" y="5097270"/>
            <a:ext cx="2717191" cy="112979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Elbow Connector 76"/>
          <p:cNvCxnSpPr>
            <a:stCxn id="66" idx="3"/>
          </p:cNvCxnSpPr>
          <p:nvPr/>
        </p:nvCxnSpPr>
        <p:spPr>
          <a:xfrm flipV="1">
            <a:off x="3097563" y="4691575"/>
            <a:ext cx="829730" cy="527972"/>
          </a:xfrm>
          <a:prstGeom prst="bentConnector3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000173" y="4451536"/>
            <a:ext cx="1120253" cy="417360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105989" y="44881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194635" y="4462953"/>
            <a:ext cx="1355902" cy="405943"/>
          </a:xfrm>
          <a:prstGeom prst="roundRect">
            <a:avLst/>
          </a:prstGeom>
          <a:solidFill>
            <a:srgbClr val="0000FF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n>
                  <a:solidFill>
                    <a:srgbClr val="0000FF"/>
                  </a:solidFill>
                </a:ln>
                <a:solidFill>
                  <a:schemeClr val="bg1">
                    <a:lumMod val="95000"/>
                  </a:schemeClr>
                </a:solidFill>
              </a:rPr>
              <a:t>Kubelet</a:t>
            </a:r>
            <a:endParaRPr lang="en-US" dirty="0">
              <a:ln>
                <a:solidFill>
                  <a:srgbClr val="0000FF"/>
                </a:solidFill>
              </a:ln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300451" y="4499564"/>
            <a:ext cx="125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Kube</a:t>
            </a:r>
            <a:r>
              <a:rPr lang="en-US" dirty="0">
                <a:solidFill>
                  <a:schemeClr val="accent2"/>
                </a:solidFill>
              </a:rPr>
              <a:t>-proxy</a:t>
            </a:r>
            <a:endParaRPr lang="en-US" dirty="0"/>
          </a:p>
        </p:txBody>
      </p:sp>
      <p:sp>
        <p:nvSpPr>
          <p:cNvPr id="82" name="Rectangle 81"/>
          <p:cNvSpPr/>
          <p:nvPr/>
        </p:nvSpPr>
        <p:spPr>
          <a:xfrm>
            <a:off x="6028775" y="3624703"/>
            <a:ext cx="945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Internet</a:t>
            </a:r>
            <a:endParaRPr lang="en-US" dirty="0"/>
          </a:p>
        </p:txBody>
      </p:sp>
      <p:cxnSp>
        <p:nvCxnSpPr>
          <p:cNvPr id="83" name="Straight Arrow Connector 82"/>
          <p:cNvCxnSpPr>
            <a:endCxn id="81" idx="0"/>
          </p:cNvCxnSpPr>
          <p:nvPr/>
        </p:nvCxnSpPr>
        <p:spPr>
          <a:xfrm flipH="1">
            <a:off x="5925494" y="3981577"/>
            <a:ext cx="580243" cy="517987"/>
          </a:xfrm>
          <a:prstGeom prst="straightConnector1">
            <a:avLst/>
          </a:pr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125333" y="5179459"/>
            <a:ext cx="611509" cy="553062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5" name="Oval 84"/>
          <p:cNvSpPr/>
          <p:nvPr/>
        </p:nvSpPr>
        <p:spPr>
          <a:xfrm>
            <a:off x="4688942" y="5544362"/>
            <a:ext cx="611509" cy="552492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6" name="Oval 85"/>
          <p:cNvSpPr/>
          <p:nvPr/>
        </p:nvSpPr>
        <p:spPr>
          <a:xfrm>
            <a:off x="5821411" y="5179459"/>
            <a:ext cx="611509" cy="553062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7" name="Oval 86"/>
          <p:cNvSpPr/>
          <p:nvPr/>
        </p:nvSpPr>
        <p:spPr>
          <a:xfrm>
            <a:off x="5155235" y="5191430"/>
            <a:ext cx="611509" cy="504746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187194" y="5597699"/>
            <a:ext cx="542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00B0F0"/>
                </a:solidFill>
              </a:rPr>
              <a:t>Pod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flipH="1" flipV="1">
            <a:off x="6267344" y="5525669"/>
            <a:ext cx="182889" cy="15418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301925" y="5329359"/>
            <a:ext cx="187471" cy="196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4916668" y="5712609"/>
            <a:ext cx="187471" cy="1963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234049" y="5345648"/>
            <a:ext cx="187471" cy="1963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6008490" y="5302435"/>
            <a:ext cx="187471" cy="1963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462980" y="5658078"/>
            <a:ext cx="611509" cy="553062"/>
          </a:xfrm>
          <a:prstGeom prst="ellips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666234" y="5834705"/>
            <a:ext cx="187471" cy="1963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489503" y="5355649"/>
            <a:ext cx="187471" cy="1963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H="1" flipV="1">
            <a:off x="5858141" y="6015517"/>
            <a:ext cx="182889" cy="15418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5729094" y="6063121"/>
            <a:ext cx="1104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00B0F0"/>
                </a:solidFill>
              </a:rPr>
              <a:t>Container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096" name="Rectangle 4095"/>
          <p:cNvSpPr/>
          <p:nvPr/>
        </p:nvSpPr>
        <p:spPr>
          <a:xfrm>
            <a:off x="7033481" y="4871801"/>
            <a:ext cx="49356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• Setting up a single Node K8s cluster on Docker Desktop </a:t>
            </a:r>
            <a:r>
              <a:rPr lang="en-US" sz="1400" dirty="0" smtClean="0"/>
              <a:t>for Windows</a:t>
            </a:r>
            <a:endParaRPr lang="en-US" sz="1400" dirty="0"/>
          </a:p>
          <a:p>
            <a:pPr algn="just"/>
            <a:r>
              <a:rPr lang="en-US" sz="1400" dirty="0"/>
              <a:t>• Setting up 5 Node Kubernetes Cluster on PWK</a:t>
            </a:r>
          </a:p>
          <a:p>
            <a:pPr algn="just"/>
            <a:r>
              <a:rPr lang="en-US" sz="1400" dirty="0"/>
              <a:t>• Setting up 3 Nodes K8s Cluster on Bare Metal or VM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0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10879" y="3003703"/>
            <a:ext cx="68718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Let’s </a:t>
            </a:r>
            <a:r>
              <a:rPr lang="en-US" sz="4400" dirty="0" smtClean="0">
                <a:solidFill>
                  <a:srgbClr val="FFC000"/>
                </a:solidFill>
              </a:rPr>
              <a:t>Deep Drive into Pods…..</a:t>
            </a:r>
            <a:endParaRPr lang="en-US" sz="4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79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POD Concepts: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Pod?</a:t>
            </a:r>
          </a:p>
          <a:p>
            <a:r>
              <a:rPr lang="en-US" dirty="0" smtClean="0"/>
              <a:t>Pod </a:t>
            </a:r>
            <a:r>
              <a:rPr lang="en-US" dirty="0"/>
              <a:t>Deployment</a:t>
            </a:r>
          </a:p>
          <a:p>
            <a:r>
              <a:rPr lang="en-US" dirty="0" smtClean="0"/>
              <a:t>Multi-Container</a:t>
            </a:r>
            <a:endParaRPr lang="en-US" dirty="0"/>
          </a:p>
          <a:p>
            <a:r>
              <a:rPr lang="en-US" dirty="0" smtClean="0"/>
              <a:t>Pod </a:t>
            </a:r>
            <a:r>
              <a:rPr lang="en-US" dirty="0"/>
              <a:t>Networking</a:t>
            </a:r>
          </a:p>
          <a:p>
            <a:r>
              <a:rPr lang="en-US" dirty="0" smtClean="0"/>
              <a:t>Inter-Pod </a:t>
            </a:r>
            <a:r>
              <a:rPr lang="en-US" dirty="0"/>
              <a:t>&amp; Intra-Pod Networking</a:t>
            </a:r>
          </a:p>
          <a:p>
            <a:r>
              <a:rPr lang="en-US" dirty="0" smtClean="0"/>
              <a:t>Pod </a:t>
            </a:r>
            <a:r>
              <a:rPr lang="en-US" dirty="0"/>
              <a:t>Lifecycle</a:t>
            </a:r>
          </a:p>
          <a:p>
            <a:r>
              <a:rPr lang="en-US" dirty="0" smtClean="0"/>
              <a:t>Pod </a:t>
            </a:r>
            <a:r>
              <a:rPr lang="en-US" dirty="0"/>
              <a:t>Manifest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320337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1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614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dirty="0">
                <a:hlinkClick r:id="rId3"/>
              </a:rPr>
              <a:t>Lab #1: Installing GIT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4"/>
              </a:rPr>
              <a:t>Lab #2: ADD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5"/>
              </a:rPr>
              <a:t>Lab #3: COPY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6"/>
              </a:rPr>
              <a:t>Lab #4: CMD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7"/>
              </a:rPr>
              <a:t>Lab #5: ENTRYPOINT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8"/>
              </a:rPr>
              <a:t>Lab #6: WORKDIR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9"/>
              </a:rPr>
              <a:t>Lab #7: RUN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0"/>
              </a:rPr>
              <a:t>Lab #8: ARG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9"/>
              </a:rPr>
              <a:t>Lab #9: EXPOSE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1"/>
              </a:rPr>
              <a:t>Lab #10: VOLUME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2"/>
              </a:rPr>
              <a:t>Lab #11: EXPOSE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3"/>
              </a:rPr>
              <a:t>Lab #12: LABEL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4"/>
              </a:rPr>
              <a:t>Lab #13: ONBUILD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5"/>
              </a:rPr>
              <a:t>Lab #14: HEALTHCHECK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6"/>
              </a:rPr>
              <a:t>Lab #15: SHELL instruction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7"/>
              </a:rPr>
              <a:t>Lab #16: </a:t>
            </a:r>
            <a:r>
              <a:rPr lang="en-US" dirty="0" err="1">
                <a:hlinkClick r:id="rId17"/>
              </a:rPr>
              <a:t>Entrypoint</a:t>
            </a:r>
            <a:r>
              <a:rPr lang="en-US" dirty="0">
                <a:hlinkClick r:id="rId17"/>
              </a:rPr>
              <a:t> Vs RUN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>
                <a:hlinkClick r:id="rId18"/>
              </a:rPr>
              <a:t>Lab #17: USER instruction</a:t>
            </a:r>
            <a:endParaRPr lang="en-US" dirty="0"/>
          </a:p>
          <a:p>
            <a:r>
              <a:rPr lang="en-US" dirty="0">
                <a:hlinkClick r:id="rId19"/>
              </a:rPr>
              <a:t>Writing </a:t>
            </a:r>
            <a:r>
              <a:rPr lang="en-US" dirty="0" err="1">
                <a:hlinkClick r:id="rId19"/>
              </a:rPr>
              <a:t>Dockerfile</a:t>
            </a:r>
            <a:r>
              <a:rPr lang="en-US" dirty="0">
                <a:hlinkClick r:id="rId19"/>
              </a:rPr>
              <a:t> with Hello Python Script Added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r>
              <a:rPr lang="en-US" dirty="0"/>
              <a:t>Let’s proceed:</a:t>
            </a:r>
          </a:p>
          <a:p>
            <a:r>
              <a:rPr lang="en-US" dirty="0">
                <a:hlinkClick r:id="rId3"/>
              </a:rPr>
              <a:t>Lab #1: Create an image with GIT installed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1299410"/>
            <a:ext cx="12320337" cy="555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4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99E535-EDD8-44E3-98DC-07DF9ECB62E5}"/>
              </a:ext>
            </a:extLst>
          </p:cNvPr>
          <p:cNvSpPr txBox="1">
            <a:spLocks/>
          </p:cNvSpPr>
          <p:nvPr/>
        </p:nvSpPr>
        <p:spPr>
          <a:xfrm>
            <a:off x="597748" y="3093606"/>
            <a:ext cx="6248442" cy="50852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4000" dirty="0"/>
              <a:t>Thank you.</a:t>
            </a:r>
          </a:p>
          <a:p>
            <a:endParaRPr lang="en-US" sz="4000" dirty="0"/>
          </a:p>
          <a:p>
            <a:r>
              <a:rPr lang="en-US" sz="3672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5401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4663</TotalTime>
  <Words>2754</Words>
  <Application>Microsoft Office PowerPoint</Application>
  <PresentationFormat>Widescreen</PresentationFormat>
  <Paragraphs>797</Paragraphs>
  <Slides>109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6" baseType="lpstr">
      <vt:lpstr>Malgun Gothic</vt:lpstr>
      <vt:lpstr>Arial</vt:lpstr>
      <vt:lpstr>Arial MT</vt:lpstr>
      <vt:lpstr>Calibri</vt:lpstr>
      <vt:lpstr>Calibri Light</vt:lpstr>
      <vt:lpstr>Segoe UI</vt:lpstr>
      <vt:lpstr>Office Theme</vt:lpstr>
      <vt:lpstr>PowerPoint Presentation</vt:lpstr>
      <vt:lpstr>Minikube Oshestration</vt:lpstr>
      <vt:lpstr>Let’s start with an analogy..</vt:lpstr>
      <vt:lpstr>A Cargo Ship… Carries containers across the sea</vt:lpstr>
      <vt:lpstr>A Cargo Ship… Host Application as Containers ~ Worker Nodes</vt:lpstr>
      <vt:lpstr>Container</vt:lpstr>
      <vt:lpstr>Control Ships.. Managing &amp; Monitoring of the cargo ships</vt:lpstr>
      <vt:lpstr>Control Ships.. Manage, Plan, Schedule, Monitor ~ Master</vt:lpstr>
      <vt:lpstr>PowerPoint Presentation</vt:lpstr>
      <vt:lpstr>Let’s talk about Master Components..</vt:lpstr>
      <vt:lpstr>Ship Cranes Identifies the placement of containers</vt:lpstr>
      <vt:lpstr>Ship Cranes Identifies the right node to place a containers ~ Kube-Scheduler</vt:lpstr>
      <vt:lpstr>PowerPoint Presentation</vt:lpstr>
      <vt:lpstr>Cargo Ship Profiles HA database ~ Which containers on which ships? When was it loaded?</vt:lpstr>
      <vt:lpstr>Cargo Ship Profiles HA database ~ Which containers on which ships? When was it loaded? ~ The ETCD Cluster</vt:lpstr>
      <vt:lpstr>PowerPoint Presentation</vt:lpstr>
      <vt:lpstr>Offices in Dock</vt:lpstr>
      <vt:lpstr>Controllers</vt:lpstr>
      <vt:lpstr>PowerPoint Presentation</vt:lpstr>
      <vt:lpstr>PowerPoint Presentation</vt:lpstr>
      <vt:lpstr>Kube API Server</vt:lpstr>
      <vt:lpstr>PowerPoint Presentation</vt:lpstr>
      <vt:lpstr>In nutshell…</vt:lpstr>
      <vt:lpstr>Let’s talk about Worker Components..</vt:lpstr>
      <vt:lpstr>PowerPoint Presentation</vt:lpstr>
      <vt:lpstr>Captain of the Ship</vt:lpstr>
      <vt:lpstr>Captain of the Ship ~ Kubelet Agent which runs on each nodes of the container</vt:lpstr>
      <vt:lpstr>PowerPoint Presentation</vt:lpstr>
      <vt:lpstr>Communication between Cargo Ships How does two cargo ships communicate with each other?</vt:lpstr>
      <vt:lpstr>Kube-proxy Service</vt:lpstr>
      <vt:lpstr>PowerPoint Presentation</vt:lpstr>
      <vt:lpstr>Let’s talk about Pods..</vt:lpstr>
      <vt:lpstr>PowerPoint Presentation</vt:lpstr>
      <vt:lpstr>PowerPoint Presentation</vt:lpstr>
      <vt:lpstr>Docker Containers A popular Container Runtime</vt:lpstr>
      <vt:lpstr>Overall Kubernetes Architecture</vt:lpstr>
      <vt:lpstr>Config</vt:lpstr>
      <vt:lpstr>Let’s Deep Dive into Pods…</vt:lpstr>
      <vt:lpstr>Pod - Concepts</vt:lpstr>
      <vt:lpstr>Atomic Unit of Scheduling</vt:lpstr>
      <vt:lpstr>How Pods are deployed?</vt:lpstr>
      <vt:lpstr>Scaling the Pods to accommodate increasing traffic</vt:lpstr>
      <vt:lpstr>What if node resources is getting insufficient?</vt:lpstr>
      <vt:lpstr>What if node resources is getting insufficient?</vt:lpstr>
      <vt:lpstr>What if node resources is getting insufficient?</vt:lpstr>
      <vt:lpstr>2 Containers in a same Pod</vt:lpstr>
      <vt:lpstr>Pod Networking</vt:lpstr>
      <vt:lpstr>How does these containers inside Pods communicate with External World?</vt:lpstr>
      <vt:lpstr>Network Namespace</vt:lpstr>
      <vt:lpstr>PowerPoint Presentation</vt:lpstr>
      <vt:lpstr>Pod Networking</vt:lpstr>
      <vt:lpstr>How does Intra-Pod communication take place?</vt:lpstr>
      <vt:lpstr>Intra-Pod Communication</vt:lpstr>
      <vt:lpstr>A Look at Pod Manifest</vt:lpstr>
      <vt:lpstr>Get a shell to a running Container</vt:lpstr>
      <vt:lpstr>Get a shell to a running Container</vt:lpstr>
      <vt:lpstr>Stages of Life Cycle of Pod</vt:lpstr>
      <vt:lpstr>Lifecycle of a Pod</vt:lpstr>
      <vt:lpstr>PowerPoint Presentation</vt:lpstr>
      <vt:lpstr>What is ReplicaSet all about? Maintain a stable set of replica Pods running at any given time</vt:lpstr>
      <vt:lpstr>Replication Controller Vs ReplicaSets</vt:lpstr>
      <vt:lpstr>Labels &amp; Selectors When Pods are scaled, how are these Pods Managed at such large scale?</vt:lpstr>
      <vt:lpstr>Equality-based Selectors</vt:lpstr>
      <vt:lpstr>PowerPoint Presentation</vt:lpstr>
      <vt:lpstr>Ex: ReplicaSet</vt:lpstr>
      <vt:lpstr>ReplicaSet Manifest File</vt:lpstr>
      <vt:lpstr>PowerPoint Presentation</vt:lpstr>
      <vt:lpstr>PowerPoint Presentation</vt:lpstr>
      <vt:lpstr>Scaling the Nginx Service</vt:lpstr>
      <vt:lpstr>Deployment</vt:lpstr>
      <vt:lpstr>Deployment</vt:lpstr>
      <vt:lpstr>A Single Deployment Manifest File</vt:lpstr>
      <vt:lpstr>Features of Deployment</vt:lpstr>
      <vt:lpstr>Deployment Types - Recreate</vt:lpstr>
      <vt:lpstr>Deployment Type – Rolling Updates</vt:lpstr>
      <vt:lpstr>Deployment Type - Canary</vt:lpstr>
      <vt:lpstr>Deployment Type – Blue Green</vt:lpstr>
      <vt:lpstr>Demo - Deployment</vt:lpstr>
      <vt:lpstr>Deployment Manifest File</vt:lpstr>
      <vt:lpstr>Deployment</vt:lpstr>
      <vt:lpstr>Deployment =&gt; Pods + ReplicaSet</vt:lpstr>
      <vt:lpstr>3 Instances of same Nginx Apps running in      the form of Pods</vt:lpstr>
      <vt:lpstr>PowerPoint Presentation</vt:lpstr>
      <vt:lpstr>3 Instances of same Nginx Apps running in the form of Pods</vt:lpstr>
      <vt:lpstr>Scaling up</vt:lpstr>
      <vt:lpstr>Listing Pods by Labels</vt:lpstr>
      <vt:lpstr>Services</vt:lpstr>
      <vt:lpstr>Services</vt:lpstr>
      <vt:lpstr>Scopes</vt:lpstr>
      <vt:lpstr>Services</vt:lpstr>
      <vt:lpstr>Types of Services</vt:lpstr>
      <vt:lpstr>Services: ClusterIP</vt:lpstr>
      <vt:lpstr>Services</vt:lpstr>
      <vt:lpstr>PowerPoint Presentation</vt:lpstr>
      <vt:lpstr>Guestbook</vt:lpstr>
      <vt:lpstr>PowerPoint Presentation</vt:lpstr>
      <vt:lpstr>PowerPoint Presentation</vt:lpstr>
      <vt:lpstr>The End</vt:lpstr>
      <vt:lpstr>Minikube Oshestration (Con’t)</vt:lpstr>
      <vt:lpstr>Minikube Oshestration (Con’t)</vt:lpstr>
      <vt:lpstr>In nutshell…</vt:lpstr>
      <vt:lpstr>PowerPoint Presentation</vt:lpstr>
      <vt:lpstr>Kube-proxy Service</vt:lpstr>
      <vt:lpstr>PowerPoint Presentation</vt:lpstr>
      <vt:lpstr>Pods</vt:lpstr>
      <vt:lpstr>PowerPoint Presentation</vt:lpstr>
      <vt:lpstr>POD Concepts:</vt:lpstr>
      <vt:lpstr>Dockerfile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Minikube OpenTofu</dc:title>
  <dc:creator>pds</dc:creator>
  <cp:lastModifiedBy>PDS</cp:lastModifiedBy>
  <cp:revision>207</cp:revision>
  <dcterms:created xsi:type="dcterms:W3CDTF">2024-10-22T01:59:15Z</dcterms:created>
  <dcterms:modified xsi:type="dcterms:W3CDTF">2026-09-18T01:28:19Z</dcterms:modified>
</cp:coreProperties>
</file>