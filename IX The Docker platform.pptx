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10"/>
  </p:notesMasterIdLst>
  <p:sldIdLst>
    <p:sldId id="290" r:id="rId2"/>
    <p:sldId id="304" r:id="rId3"/>
    <p:sldId id="303" r:id="rId4"/>
    <p:sldId id="306" r:id="rId5"/>
    <p:sldId id="307" r:id="rId6"/>
    <p:sldId id="305" r:id="rId7"/>
    <p:sldId id="308" r:id="rId8"/>
    <p:sldId id="27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117" autoAdjust="0"/>
  </p:normalViewPr>
  <p:slideViewPr>
    <p:cSldViewPr snapToGrid="0">
      <p:cViewPr varScale="1">
        <p:scale>
          <a:sx n="38" d="100"/>
          <a:sy n="38" d="100"/>
        </p:scale>
        <p:origin x="16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996F42-C182-47FE-839F-85C948B2F6F4}" type="datetimeFigureOut">
              <a:rPr lang="en-US" smtClean="0"/>
              <a:t>9/25/2025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EE49D0-5223-4533-A8BD-D85B89A25AD6}" type="slidenum">
              <a:rPr lang="en-US" smtClean="0"/>
              <a:t>‹#›</a:t>
            </a:fld>
            <a:endParaRPr lang="en-US"/>
          </a:p>
        </p:txBody>
      </p:sp>
    </p:spTree>
    <p:extLst>
      <p:ext uri="{BB962C8B-B14F-4D97-AF65-F5344CB8AC3E}">
        <p14:creationId xmlns:p14="http://schemas.microsoft.com/office/powerpoint/2010/main" val="3413938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https://docs.docker.com/get-started/docker-overview/</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2078280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https://docs.docker.com/get-started/workshop/04_sharing_app/</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2</a:t>
            </a:fld>
            <a:endParaRPr lang="en-US"/>
          </a:p>
        </p:txBody>
      </p:sp>
    </p:spTree>
    <p:extLst>
      <p:ext uri="{BB962C8B-B14F-4D97-AF65-F5344CB8AC3E}">
        <p14:creationId xmlns:p14="http://schemas.microsoft.com/office/powerpoint/2010/main" val="2830794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https://github.com/JotatD/med-ddpm-brats</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4</a:t>
            </a:fld>
            <a:endParaRPr lang="en-US"/>
          </a:p>
        </p:txBody>
      </p:sp>
    </p:spTree>
    <p:extLst>
      <p:ext uri="{BB962C8B-B14F-4D97-AF65-F5344CB8AC3E}">
        <p14:creationId xmlns:p14="http://schemas.microsoft.com/office/powerpoint/2010/main" val="923039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https://github.com/JotatD/med-ddpm-brats</a:t>
            </a:r>
          </a:p>
          <a:p>
            <a:r>
              <a:rPr lang="en-US" dirty="0" smtClean="0"/>
              <a:t>https://huggingface.co/blog/annotated-diffusion</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5</a:t>
            </a:fld>
            <a:endParaRPr lang="en-US"/>
          </a:p>
        </p:txBody>
      </p:sp>
    </p:spTree>
    <p:extLst>
      <p:ext uri="{BB962C8B-B14F-4D97-AF65-F5344CB8AC3E}">
        <p14:creationId xmlns:p14="http://schemas.microsoft.com/office/powerpoint/2010/main" val="3556754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https://docs.torchio.org/patches/index.html</a:t>
            </a:r>
          </a:p>
          <a:p>
            <a:r>
              <a:rPr lang="en-US" dirty="0" smtClean="0"/>
              <a:t>https://docs.torchio.org/patches/patch_training.html</a:t>
            </a:r>
          </a:p>
          <a:p>
            <a:endParaRPr lang="en-US" dirty="0" smtClean="0"/>
          </a:p>
          <a:p>
            <a:endParaRPr lang="en-US" dirty="0" smtClean="0"/>
          </a:p>
          <a:p>
            <a:r>
              <a:rPr lang="en-US" dirty="0" smtClean="0"/>
              <a:t>https://github.com/TorchIO-project/torchio</a:t>
            </a:r>
          </a:p>
          <a:p>
            <a:r>
              <a:rPr lang="en-US" dirty="0" smtClean="0"/>
              <a:t>https://github.com/TorchIO-project/torchio/blob/main/tutorials/README.md</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6</a:t>
            </a:fld>
            <a:endParaRPr lang="en-US"/>
          </a:p>
        </p:txBody>
      </p:sp>
    </p:spTree>
    <p:extLst>
      <p:ext uri="{BB962C8B-B14F-4D97-AF65-F5344CB8AC3E}">
        <p14:creationId xmlns:p14="http://schemas.microsoft.com/office/powerpoint/2010/main" val="769608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https://github.com/mlcommons/medperf</a:t>
            </a:r>
          </a:p>
          <a:p>
            <a:r>
              <a:rPr lang="en-US" dirty="0" smtClean="0"/>
              <a:t>https://github.com/mlcommons/medperf</a:t>
            </a:r>
          </a:p>
          <a:p>
            <a:r>
              <a:rPr lang="en-US" smtClean="0"/>
              <a:t>http://camma.u-strasbg.fr/</a:t>
            </a:r>
            <a:endParaRPr lang="en-US" dirty="0" smtClean="0"/>
          </a:p>
          <a:p>
            <a:r>
              <a:rPr lang="en-US" dirty="0" smtClean="0"/>
              <a:t>https://www.nature.com/articles/s42256-023-00652-2</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7</a:t>
            </a:fld>
            <a:endParaRPr lang="en-US"/>
          </a:p>
        </p:txBody>
      </p:sp>
    </p:spTree>
    <p:extLst>
      <p:ext uri="{BB962C8B-B14F-4D97-AF65-F5344CB8AC3E}">
        <p14:creationId xmlns:p14="http://schemas.microsoft.com/office/powerpoint/2010/main" val="3985616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C47E0D4-8527-4FEA-BD77-3D995E7E7FEC}" type="datetimeFigureOut">
              <a:rPr lang="en-ID" smtClean="0"/>
              <a:t>25/09/2025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3831544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47E0D4-8527-4FEA-BD77-3D995E7E7FEC}" type="datetimeFigureOut">
              <a:rPr lang="en-ID" smtClean="0"/>
              <a:t>25/09/2025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1683253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C47E0D4-8527-4FEA-BD77-3D995E7E7FEC}" type="datetimeFigureOut">
              <a:rPr lang="en-ID" smtClean="0"/>
              <a:t>25/09/2025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31133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C47E0D4-8527-4FEA-BD77-3D995E7E7FEC}" type="datetimeFigureOut">
              <a:rPr lang="en-ID" smtClean="0"/>
              <a:t>25/09/2025</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2083225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C47E0D4-8527-4FEA-BD77-3D995E7E7FEC}" type="datetimeFigureOut">
              <a:rPr lang="en-ID" smtClean="0"/>
              <a:t>25/09/2025</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814555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C47E0D4-8527-4FEA-BD77-3D995E7E7FEC}" type="datetimeFigureOut">
              <a:rPr lang="en-ID" smtClean="0"/>
              <a:t>25/09/2025</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1468594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47E0D4-8527-4FEA-BD77-3D995E7E7FEC}" type="datetimeFigureOut">
              <a:rPr lang="en-ID" smtClean="0"/>
              <a:t>25/09/2025</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1535644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C47E0D4-8527-4FEA-BD77-3D995E7E7FEC}" type="datetimeFigureOut">
              <a:rPr lang="en-ID" smtClean="0"/>
              <a:t>25/09/2025</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3272482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C47E0D4-8527-4FEA-BD77-3D995E7E7FEC}" type="datetimeFigureOut">
              <a:rPr lang="en-ID" smtClean="0"/>
              <a:t>25/09/2025</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1682897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47E0D4-8527-4FEA-BD77-3D995E7E7FEC}" type="datetimeFigureOut">
              <a:rPr lang="en-ID" smtClean="0"/>
              <a:t>25/09/2025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354104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47E0D4-8527-4FEA-BD77-3D995E7E7FEC}" type="datetimeFigureOut">
              <a:rPr lang="en-ID" smtClean="0"/>
              <a:t>25/09/2025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274615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47E0D4-8527-4FEA-BD77-3D995E7E7FEC}" type="datetimeFigureOut">
              <a:rPr lang="en-ID" smtClean="0"/>
              <a:t>25/09/2025</a:t>
            </a:fld>
            <a:endParaRPr lang="en-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6549EB-9E9D-493F-AC8F-3DE876F24758}" type="slidenum">
              <a:rPr lang="en-ID" smtClean="0"/>
              <a:t>‹#›</a:t>
            </a:fld>
            <a:endParaRPr lang="en-ID"/>
          </a:p>
        </p:txBody>
      </p:sp>
    </p:spTree>
    <p:extLst>
      <p:ext uri="{BB962C8B-B14F-4D97-AF65-F5344CB8AC3E}">
        <p14:creationId xmlns:p14="http://schemas.microsoft.com/office/powerpoint/2010/main" val="76152559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cs.docker.com/get-started/docker-overview/#the-docker-platform"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hyperlink" Target="https://openaipublic.blob.core.windows.net/diffusion/jul-2021/256x256_diffusion.pt" TargetMode="External"/><Relationship Id="rId13" Type="http://schemas.openxmlformats.org/officeDocument/2006/relationships/hyperlink" Target="https://openaipublic.blob.core.windows.net/diffusion/jul-2021/128_512_upsampler.pt" TargetMode="External"/><Relationship Id="rId3" Type="http://schemas.openxmlformats.org/officeDocument/2006/relationships/hyperlink" Target="https://openaipublic.blob.core.windows.net/diffusion/jul-2021/64x64_classifier.pt" TargetMode="External"/><Relationship Id="rId7" Type="http://schemas.openxmlformats.org/officeDocument/2006/relationships/hyperlink" Target="https://openaipublic.blob.core.windows.net/diffusion/jul-2021/256x256_classifier.pt" TargetMode="External"/><Relationship Id="rId12" Type="http://schemas.openxmlformats.org/officeDocument/2006/relationships/hyperlink" Target="https://openaipublic.blob.core.windows.net/diffusion/jul-2021/64_256_upsampler.pt" TargetMode="External"/><Relationship Id="rId17" Type="http://schemas.openxmlformats.org/officeDocument/2006/relationships/hyperlink" Target="https://openaipublic.blob.core.windows.net/diffusion/jul-2021/lsun_horse_nodropout.pt" TargetMode="External"/><Relationship Id="rId2" Type="http://schemas.openxmlformats.org/officeDocument/2006/relationships/notesSlide" Target="../notesSlides/notesSlide4.xml"/><Relationship Id="rId16" Type="http://schemas.openxmlformats.org/officeDocument/2006/relationships/hyperlink" Target="https://openaipublic.blob.core.windows.net/diffusion/jul-2021/lsun_horse.pt" TargetMode="External"/><Relationship Id="rId1" Type="http://schemas.openxmlformats.org/officeDocument/2006/relationships/slideLayout" Target="../slideLayouts/slideLayout6.xml"/><Relationship Id="rId6" Type="http://schemas.openxmlformats.org/officeDocument/2006/relationships/hyperlink" Target="https://openaipublic.blob.core.windows.net/diffusion/jul-2021/128x128_diffusion.pt" TargetMode="External"/><Relationship Id="rId11" Type="http://schemas.openxmlformats.org/officeDocument/2006/relationships/hyperlink" Target="https://openaipublic.blob.core.windows.net/diffusion/jul-2021/512x512_diffusion.pt" TargetMode="External"/><Relationship Id="rId5" Type="http://schemas.openxmlformats.org/officeDocument/2006/relationships/hyperlink" Target="https://openaipublic.blob.core.windows.net/diffusion/jul-2021/128x128_classifier.pt" TargetMode="External"/><Relationship Id="rId15" Type="http://schemas.openxmlformats.org/officeDocument/2006/relationships/hyperlink" Target="https://openaipublic.blob.core.windows.net/diffusion/jul-2021/lsun_cat.pt" TargetMode="External"/><Relationship Id="rId10" Type="http://schemas.openxmlformats.org/officeDocument/2006/relationships/hyperlink" Target="https://openaipublic.blob.core.windows.net/diffusion/jul-2021/512x512_classifier.pt" TargetMode="External"/><Relationship Id="rId4" Type="http://schemas.openxmlformats.org/officeDocument/2006/relationships/hyperlink" Target="https://openaipublic.blob.core.windows.net/diffusion/jul-2021/64x64_diffusion.pt" TargetMode="External"/><Relationship Id="rId9" Type="http://schemas.openxmlformats.org/officeDocument/2006/relationships/hyperlink" Target="https://openaipublic.blob.core.windows.net/diffusion/jul-2021/256x256_diffusion_uncond.pt" TargetMode="External"/><Relationship Id="rId14" Type="http://schemas.openxmlformats.org/officeDocument/2006/relationships/hyperlink" Target="https://openaipublic.blob.core.windows.net/diffusion/jul-2021/lsun_bedroom.p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gif"/></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sp>
        <p:nvSpPr>
          <p:cNvPr id="22" name="Rectangle 21"/>
          <p:cNvSpPr/>
          <p:nvPr/>
        </p:nvSpPr>
        <p:spPr>
          <a:xfrm>
            <a:off x="8911525" y="5781051"/>
            <a:ext cx="3485015" cy="276999"/>
          </a:xfrm>
          <a:prstGeom prst="rect">
            <a:avLst/>
          </a:prstGeom>
        </p:spPr>
        <p:txBody>
          <a:bodyPr wrap="square">
            <a:spAutoFit/>
          </a:bodyPr>
          <a:lstStyle/>
          <a:p>
            <a:r>
              <a:rPr lang="en-US" sz="1200" dirty="0"/>
              <a:t>https://www.youtube.com/@AmelOline/videos</a:t>
            </a:r>
          </a:p>
        </p:txBody>
      </p:sp>
      <p:sp>
        <p:nvSpPr>
          <p:cNvPr id="23" name="Rectangle 22"/>
          <p:cNvSpPr/>
          <p:nvPr/>
        </p:nvSpPr>
        <p:spPr>
          <a:xfrm>
            <a:off x="10027402" y="5596385"/>
            <a:ext cx="2164597" cy="276999"/>
          </a:xfrm>
          <a:prstGeom prst="rect">
            <a:avLst/>
          </a:prstGeom>
        </p:spPr>
        <p:txBody>
          <a:bodyPr wrap="square">
            <a:spAutoFit/>
          </a:bodyPr>
          <a:lstStyle/>
          <a:p>
            <a:r>
              <a:rPr lang="en-US" sz="1200" dirty="0"/>
              <a:t>https://github.com/siagianp</a:t>
            </a:r>
          </a:p>
        </p:txBody>
      </p:sp>
      <p:sp>
        <p:nvSpPr>
          <p:cNvPr id="2" name="Rectangle 1"/>
          <p:cNvSpPr/>
          <p:nvPr/>
        </p:nvSpPr>
        <p:spPr>
          <a:xfrm>
            <a:off x="7609668" y="5965717"/>
            <a:ext cx="4889592" cy="276999"/>
          </a:xfrm>
          <a:prstGeom prst="rect">
            <a:avLst/>
          </a:prstGeom>
        </p:spPr>
        <p:txBody>
          <a:bodyPr wrap="square">
            <a:spAutoFit/>
          </a:bodyPr>
          <a:lstStyle/>
          <a:p>
            <a:r>
              <a:rPr lang="en-US" sz="1200" dirty="0"/>
              <a:t>https</a:t>
            </a:r>
            <a:r>
              <a:rPr lang="en-US" sz="1200" dirty="0" smtClean="0"/>
              <a:t>://github.com/amelcharolinesgn2/IoT_simulator-mqtt-NodeRed</a:t>
            </a:r>
            <a:endParaRPr lang="en-US" sz="1200" dirty="0"/>
          </a:p>
        </p:txBody>
      </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2570754" y="3629722"/>
            <a:ext cx="9024615" cy="5210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400" dirty="0">
                <a:hlinkClick r:id="rId8"/>
              </a:rPr>
              <a:t>The Docker </a:t>
            </a:r>
            <a:r>
              <a:rPr lang="en-US" sz="4400" dirty="0" smtClean="0">
                <a:hlinkClick r:id="rId8"/>
              </a:rPr>
              <a:t>platform</a:t>
            </a:r>
            <a:endParaRPr lang="en-US" sz="4400" b="1" dirty="0"/>
          </a:p>
        </p:txBody>
      </p:sp>
      <p:sp>
        <p:nvSpPr>
          <p:cNvPr id="27" name="Title 1"/>
          <p:cNvSpPr txBox="1">
            <a:spLocks/>
          </p:cNvSpPr>
          <p:nvPr/>
        </p:nvSpPr>
        <p:spPr>
          <a:xfrm>
            <a:off x="344135" y="6042557"/>
            <a:ext cx="2012203" cy="670761"/>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hlinkClick r:id="rId8"/>
              </a:rPr>
              <a:t>The Docker platform</a:t>
            </a:r>
            <a:endParaRPr lang="en-US" b="1" dirty="0"/>
          </a:p>
        </p:txBody>
      </p:sp>
      <p:sp>
        <p:nvSpPr>
          <p:cNvPr id="3" name="Rectangle 2"/>
          <p:cNvSpPr/>
          <p:nvPr/>
        </p:nvSpPr>
        <p:spPr>
          <a:xfrm>
            <a:off x="8203920" y="6150383"/>
            <a:ext cx="3988079" cy="276999"/>
          </a:xfrm>
          <a:prstGeom prst="rect">
            <a:avLst/>
          </a:prstGeom>
        </p:spPr>
        <p:txBody>
          <a:bodyPr wrap="none">
            <a:spAutoFit/>
          </a:bodyPr>
          <a:lstStyle/>
          <a:p>
            <a:r>
              <a:rPr lang="en-US" sz="1200" dirty="0"/>
              <a:t>https://github.com/amelcharolinesgn2/Cloud-Infrastructures</a:t>
            </a:r>
          </a:p>
        </p:txBody>
      </p:sp>
      <p:sp>
        <p:nvSpPr>
          <p:cNvPr id="7" name="Rectangle 6"/>
          <p:cNvSpPr/>
          <p:nvPr/>
        </p:nvSpPr>
        <p:spPr>
          <a:xfrm>
            <a:off x="7494493" y="6367868"/>
            <a:ext cx="4697506" cy="276999"/>
          </a:xfrm>
          <a:prstGeom prst="rect">
            <a:avLst/>
          </a:prstGeom>
        </p:spPr>
        <p:txBody>
          <a:bodyPr wrap="square">
            <a:spAutoFit/>
          </a:bodyPr>
          <a:lstStyle/>
          <a:p>
            <a:r>
              <a:rPr lang="en-US" sz="1200" dirty="0"/>
              <a:t>https://github.com/amelcharolinesgn2/ClouD-Infrastructure-SISKA-2025</a:t>
            </a:r>
          </a:p>
        </p:txBody>
      </p:sp>
    </p:spTree>
    <p:extLst>
      <p:ext uri="{BB962C8B-B14F-4D97-AF65-F5344CB8AC3E}">
        <p14:creationId xmlns:p14="http://schemas.microsoft.com/office/powerpoint/2010/main" val="442367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55928"/>
            <a:ext cx="10515600" cy="1343958"/>
          </a:xfrm>
          <a:prstGeom prst="rect">
            <a:avLst/>
          </a:prstGeom>
        </p:spPr>
        <p:txBody>
          <a:bodyPr vert="horz" wrap="square" lIns="0" tIns="144780" rIns="0" bIns="0" rtlCol="0" anchor="ctr">
            <a:spAutoFit/>
          </a:bodyPr>
          <a:lstStyle/>
          <a:p>
            <a:pPr marL="16933">
              <a:lnSpc>
                <a:spcPct val="100000"/>
              </a:lnSpc>
              <a:spcBef>
                <a:spcPts val="1140"/>
              </a:spcBef>
            </a:pPr>
            <a:r>
              <a:rPr dirty="0">
                <a:solidFill>
                  <a:srgbClr val="C00000"/>
                </a:solidFill>
              </a:rPr>
              <a:t>A</a:t>
            </a:r>
            <a:r>
              <a:rPr spc="-233" dirty="0">
                <a:solidFill>
                  <a:srgbClr val="C00000"/>
                </a:solidFill>
              </a:rPr>
              <a:t> </a:t>
            </a:r>
            <a:r>
              <a:rPr dirty="0">
                <a:solidFill>
                  <a:srgbClr val="C00000"/>
                </a:solidFill>
              </a:rPr>
              <a:t>Cargo</a:t>
            </a:r>
            <a:r>
              <a:rPr spc="13" dirty="0">
                <a:solidFill>
                  <a:srgbClr val="C00000"/>
                </a:solidFill>
              </a:rPr>
              <a:t> </a:t>
            </a:r>
            <a:r>
              <a:rPr spc="-13" dirty="0">
                <a:solidFill>
                  <a:srgbClr val="C00000"/>
                </a:solidFill>
              </a:rPr>
              <a:t>Ship…</a:t>
            </a:r>
          </a:p>
          <a:p>
            <a:pPr marL="16933">
              <a:lnSpc>
                <a:spcPct val="100000"/>
              </a:lnSpc>
              <a:spcBef>
                <a:spcPts val="720"/>
              </a:spcBef>
            </a:pPr>
            <a:r>
              <a:rPr sz="2800" dirty="0">
                <a:solidFill>
                  <a:srgbClr val="595959"/>
                </a:solidFill>
              </a:rPr>
              <a:t>Carries</a:t>
            </a:r>
            <a:r>
              <a:rPr sz="2800" spc="-27" dirty="0">
                <a:solidFill>
                  <a:srgbClr val="595959"/>
                </a:solidFill>
              </a:rPr>
              <a:t> </a:t>
            </a:r>
            <a:r>
              <a:rPr sz="2800" dirty="0">
                <a:solidFill>
                  <a:srgbClr val="595959"/>
                </a:solidFill>
              </a:rPr>
              <a:t>containers</a:t>
            </a:r>
            <a:r>
              <a:rPr sz="2800" spc="-7" dirty="0">
                <a:solidFill>
                  <a:srgbClr val="595959"/>
                </a:solidFill>
              </a:rPr>
              <a:t> </a:t>
            </a:r>
            <a:r>
              <a:rPr sz="2800" dirty="0">
                <a:solidFill>
                  <a:srgbClr val="595959"/>
                </a:solidFill>
              </a:rPr>
              <a:t>across</a:t>
            </a:r>
            <a:r>
              <a:rPr sz="2800" spc="-13" dirty="0">
                <a:solidFill>
                  <a:srgbClr val="595959"/>
                </a:solidFill>
              </a:rPr>
              <a:t> </a:t>
            </a:r>
            <a:r>
              <a:rPr sz="2800" dirty="0">
                <a:solidFill>
                  <a:srgbClr val="595959"/>
                </a:solidFill>
              </a:rPr>
              <a:t>the</a:t>
            </a:r>
            <a:r>
              <a:rPr sz="2800" spc="-7" dirty="0">
                <a:solidFill>
                  <a:srgbClr val="595959"/>
                </a:solidFill>
              </a:rPr>
              <a:t> </a:t>
            </a:r>
            <a:r>
              <a:rPr sz="2800" spc="-33" dirty="0">
                <a:solidFill>
                  <a:srgbClr val="595959"/>
                </a:solidFill>
              </a:rPr>
              <a:t>sea</a:t>
            </a:r>
            <a:endParaRPr sz="2800" dirty="0"/>
          </a:p>
        </p:txBody>
      </p:sp>
      <p:pic>
        <p:nvPicPr>
          <p:cNvPr id="5" name="Picture 4"/>
          <p:cNvPicPr>
            <a:picLocks noChangeAspect="1"/>
          </p:cNvPicPr>
          <p:nvPr/>
        </p:nvPicPr>
        <p:blipFill>
          <a:blip r:embed="rId3"/>
          <a:stretch>
            <a:fillRect/>
          </a:stretch>
        </p:blipFill>
        <p:spPr>
          <a:xfrm>
            <a:off x="1351483" y="2298242"/>
            <a:ext cx="5975238" cy="3420170"/>
          </a:xfrm>
          <a:prstGeom prst="rect">
            <a:avLst/>
          </a:prstGeom>
        </p:spPr>
      </p:pic>
      <p:pic>
        <p:nvPicPr>
          <p:cNvPr id="6" name="Picture 5"/>
          <p:cNvPicPr>
            <a:picLocks noChangeAspect="1"/>
          </p:cNvPicPr>
          <p:nvPr/>
        </p:nvPicPr>
        <p:blipFill>
          <a:blip r:embed="rId4"/>
          <a:stretch>
            <a:fillRect/>
          </a:stretch>
        </p:blipFill>
        <p:spPr>
          <a:xfrm>
            <a:off x="8653462" y="2880986"/>
            <a:ext cx="2505075" cy="1828800"/>
          </a:xfrm>
          <a:prstGeom prst="rect">
            <a:avLst/>
          </a:prstGeom>
        </p:spPr>
      </p:pic>
      <p:pic>
        <p:nvPicPr>
          <p:cNvPr id="3" name="Picture 2"/>
          <p:cNvPicPr>
            <a:picLocks noChangeAspect="1"/>
          </p:cNvPicPr>
          <p:nvPr/>
        </p:nvPicPr>
        <p:blipFill>
          <a:blip r:embed="rId5"/>
          <a:stretch>
            <a:fillRect/>
          </a:stretch>
        </p:blipFill>
        <p:spPr>
          <a:xfrm>
            <a:off x="223837" y="328612"/>
            <a:ext cx="11744325" cy="6200775"/>
          </a:xfrm>
          <a:prstGeom prst="rect">
            <a:avLst/>
          </a:prstGeom>
        </p:spPr>
      </p:pic>
    </p:spTree>
    <p:extLst>
      <p:ext uri="{BB962C8B-B14F-4D97-AF65-F5344CB8AC3E}">
        <p14:creationId xmlns:p14="http://schemas.microsoft.com/office/powerpoint/2010/main" val="2555427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514928" y="1300199"/>
            <a:ext cx="8251613" cy="1845291"/>
          </a:xfrm>
          <a:prstGeom prst="rect">
            <a:avLst/>
          </a:prstGeom>
        </p:spPr>
        <p:txBody>
          <a:bodyPr vert="horz" wrap="square" lIns="0" tIns="16933" rIns="0" bIns="0" rtlCol="0" anchor="ctr">
            <a:spAutoFit/>
          </a:bodyPr>
          <a:lstStyle/>
          <a:p>
            <a:r>
              <a:rPr lang="en-US" b="1" dirty="0"/>
              <a:t>Optimizing Brain Tumor Segmentation with </a:t>
            </a:r>
            <a:r>
              <a:rPr lang="en-US" b="1" dirty="0" err="1"/>
              <a:t>MedNeXt</a:t>
            </a:r>
            <a:r>
              <a:rPr lang="en-US" b="1" dirty="0"/>
              <a:t>: </a:t>
            </a:r>
            <a:r>
              <a:rPr lang="en-US" b="1" dirty="0" err="1"/>
              <a:t>BraTS</a:t>
            </a:r>
            <a:r>
              <a:rPr lang="en-US" b="1" dirty="0"/>
              <a:t> 2024 SSA and Pediatrics</a:t>
            </a:r>
          </a:p>
        </p:txBody>
      </p:sp>
      <p:pic>
        <p:nvPicPr>
          <p:cNvPr id="2" name="Picture 1"/>
          <p:cNvPicPr>
            <a:picLocks noChangeAspect="1"/>
          </p:cNvPicPr>
          <p:nvPr/>
        </p:nvPicPr>
        <p:blipFill>
          <a:blip r:embed="rId2"/>
          <a:stretch>
            <a:fillRect/>
          </a:stretch>
        </p:blipFill>
        <p:spPr>
          <a:xfrm>
            <a:off x="0" y="188393"/>
            <a:ext cx="5588000" cy="3148928"/>
          </a:xfrm>
          <a:prstGeom prst="rect">
            <a:avLst/>
          </a:prstGeom>
        </p:spPr>
      </p:pic>
      <p:pic>
        <p:nvPicPr>
          <p:cNvPr id="3" name="Picture 2"/>
          <p:cNvPicPr>
            <a:picLocks noChangeAspect="1"/>
          </p:cNvPicPr>
          <p:nvPr/>
        </p:nvPicPr>
        <p:blipFill>
          <a:blip r:embed="rId3"/>
          <a:stretch>
            <a:fillRect/>
          </a:stretch>
        </p:blipFill>
        <p:spPr>
          <a:xfrm>
            <a:off x="0" y="3725790"/>
            <a:ext cx="5588000" cy="2371990"/>
          </a:xfrm>
          <a:prstGeom prst="rect">
            <a:avLst/>
          </a:prstGeom>
        </p:spPr>
      </p:pic>
      <p:pic>
        <p:nvPicPr>
          <p:cNvPr id="4" name="Picture 3"/>
          <p:cNvPicPr>
            <a:picLocks noChangeAspect="1"/>
          </p:cNvPicPr>
          <p:nvPr/>
        </p:nvPicPr>
        <p:blipFill>
          <a:blip r:embed="rId4"/>
          <a:stretch>
            <a:fillRect/>
          </a:stretch>
        </p:blipFill>
        <p:spPr>
          <a:xfrm>
            <a:off x="5640734" y="157815"/>
            <a:ext cx="7640481" cy="2987675"/>
          </a:xfrm>
          <a:prstGeom prst="rect">
            <a:avLst/>
          </a:prstGeom>
        </p:spPr>
      </p:pic>
    </p:spTree>
    <p:extLst>
      <p:ext uri="{BB962C8B-B14F-4D97-AF65-F5344CB8AC3E}">
        <p14:creationId xmlns:p14="http://schemas.microsoft.com/office/powerpoint/2010/main" val="41471753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778" y="263525"/>
            <a:ext cx="7118621" cy="523875"/>
          </a:xfrm>
        </p:spPr>
        <p:txBody>
          <a:bodyPr>
            <a:normAutofit/>
          </a:bodyPr>
          <a:lstStyle/>
          <a:p>
            <a:r>
              <a:rPr lang="en-US" sz="1400" dirty="0"/>
              <a:t>https://</a:t>
            </a:r>
            <a:r>
              <a:rPr lang="en-US" sz="2700" dirty="0"/>
              <a:t>github.com/JotatD/med-ddpm-brats</a:t>
            </a:r>
          </a:p>
        </p:txBody>
      </p:sp>
      <p:sp>
        <p:nvSpPr>
          <p:cNvPr id="3" name="Rectangle 2"/>
          <p:cNvSpPr/>
          <p:nvPr/>
        </p:nvSpPr>
        <p:spPr>
          <a:xfrm>
            <a:off x="209821" y="6165334"/>
            <a:ext cx="3949158" cy="369332"/>
          </a:xfrm>
          <a:prstGeom prst="rect">
            <a:avLst/>
          </a:prstGeom>
        </p:spPr>
        <p:txBody>
          <a:bodyPr wrap="none">
            <a:spAutoFit/>
          </a:bodyPr>
          <a:lstStyle/>
          <a:p>
            <a:r>
              <a:rPr lang="en-US" dirty="0"/>
              <a:t>https://editor.p5js.org/fepegar/sketches</a:t>
            </a:r>
          </a:p>
        </p:txBody>
      </p:sp>
      <p:sp>
        <p:nvSpPr>
          <p:cNvPr id="6" name="Rectangle 5"/>
          <p:cNvSpPr/>
          <p:nvPr/>
        </p:nvSpPr>
        <p:spPr>
          <a:xfrm>
            <a:off x="209821" y="787400"/>
            <a:ext cx="5733779" cy="1384995"/>
          </a:xfrm>
          <a:prstGeom prst="rect">
            <a:avLst/>
          </a:prstGeom>
        </p:spPr>
        <p:txBody>
          <a:bodyPr wrap="square">
            <a:spAutoFit/>
          </a:bodyPr>
          <a:lstStyle/>
          <a:p>
            <a:pPr algn="just"/>
            <a:r>
              <a:rPr lang="en-US" sz="1200" b="1" dirty="0">
                <a:solidFill>
                  <a:srgbClr val="1F2328"/>
                </a:solidFill>
                <a:latin typeface="-apple-system"/>
              </a:rPr>
              <a:t>🚀 Run on Your Own Dataset</a:t>
            </a:r>
          </a:p>
          <a:p>
            <a:pPr algn="just"/>
            <a:r>
              <a:rPr lang="en-US" sz="1200" dirty="0">
                <a:solidFill>
                  <a:srgbClr val="1F2328"/>
                </a:solidFill>
                <a:latin typeface="-apple-system"/>
              </a:rPr>
              <a:t>Med-DDPM is versatile. If you're working with image formats other than </a:t>
            </a:r>
            <a:r>
              <a:rPr lang="en-US" sz="1200" dirty="0" err="1">
                <a:solidFill>
                  <a:srgbClr val="1F2328"/>
                </a:solidFill>
                <a:latin typeface="-apple-system"/>
              </a:rPr>
              <a:t>NIfTI</a:t>
            </a:r>
            <a:r>
              <a:rPr lang="en-US" sz="1200" dirty="0">
                <a:solidFill>
                  <a:srgbClr val="1F2328"/>
                </a:solidFill>
                <a:latin typeface="-apple-system"/>
              </a:rPr>
              <a:t> (.nii.gz), modify the `</a:t>
            </a:r>
            <a:r>
              <a:rPr lang="en-US" sz="1200" dirty="0" err="1">
                <a:solidFill>
                  <a:srgbClr val="1F2328"/>
                </a:solidFill>
                <a:latin typeface="-apple-system"/>
              </a:rPr>
              <a:t>read_image</a:t>
            </a:r>
            <a:r>
              <a:rPr lang="en-US" sz="1200" dirty="0">
                <a:solidFill>
                  <a:srgbClr val="1F2328"/>
                </a:solidFill>
                <a:latin typeface="-apple-system"/>
              </a:rPr>
              <a:t>` function in `dataset.py`.</a:t>
            </a:r>
          </a:p>
          <a:p>
            <a:pPr algn="just">
              <a:buFont typeface="+mj-lt"/>
              <a:buAutoNum type="arabicPeriod"/>
            </a:pPr>
            <a:r>
              <a:rPr lang="en-US" sz="1200" dirty="0">
                <a:solidFill>
                  <a:srgbClr val="1F2328"/>
                </a:solidFill>
                <a:latin typeface="-apple-system"/>
              </a:rPr>
              <a:t>Specify the segmentation mask directory with `--</a:t>
            </a:r>
            <a:r>
              <a:rPr lang="en-US" sz="1200" dirty="0" err="1">
                <a:solidFill>
                  <a:srgbClr val="1F2328"/>
                </a:solidFill>
                <a:latin typeface="-apple-system"/>
              </a:rPr>
              <a:t>inputfolder</a:t>
            </a:r>
            <a:r>
              <a:rPr lang="en-US" sz="1200" dirty="0">
                <a:solidFill>
                  <a:srgbClr val="1F2328"/>
                </a:solidFill>
                <a:latin typeface="-apple-system"/>
              </a:rPr>
              <a:t>`.</a:t>
            </a:r>
          </a:p>
          <a:p>
            <a:pPr algn="just">
              <a:buFont typeface="+mj-lt"/>
              <a:buAutoNum type="arabicPeriod"/>
            </a:pPr>
            <a:r>
              <a:rPr lang="en-US" sz="1200" dirty="0">
                <a:solidFill>
                  <a:srgbClr val="1F2328"/>
                </a:solidFill>
                <a:latin typeface="-apple-system"/>
              </a:rPr>
              <a:t>Set the image directory using `--</a:t>
            </a:r>
            <a:r>
              <a:rPr lang="en-US" sz="1200" dirty="0" err="1">
                <a:solidFill>
                  <a:srgbClr val="1F2328"/>
                </a:solidFill>
                <a:latin typeface="-apple-system"/>
              </a:rPr>
              <a:t>targetfolder</a:t>
            </a:r>
            <a:r>
              <a:rPr lang="en-US" sz="1200" dirty="0">
                <a:solidFill>
                  <a:srgbClr val="1F2328"/>
                </a:solidFill>
                <a:latin typeface="-apple-system"/>
              </a:rPr>
              <a:t>`.</a:t>
            </a:r>
          </a:p>
          <a:p>
            <a:pPr algn="just">
              <a:buFont typeface="+mj-lt"/>
              <a:buAutoNum type="arabicPeriod"/>
            </a:pPr>
            <a:r>
              <a:rPr lang="en-US" sz="1200" dirty="0">
                <a:solidFill>
                  <a:srgbClr val="1F2328"/>
                </a:solidFill>
                <a:latin typeface="-apple-system"/>
              </a:rPr>
              <a:t>If you have more than 3 segmentation mask label classes, update channel configurations in `train.py`, `datasets.py`, and `</a:t>
            </a:r>
            <a:r>
              <a:rPr lang="en-US" sz="1200" dirty="0" err="1">
                <a:solidFill>
                  <a:srgbClr val="1F2328"/>
                </a:solidFill>
                <a:latin typeface="-apple-system"/>
              </a:rPr>
              <a:t>utils</a:t>
            </a:r>
            <a:r>
              <a:rPr lang="en-US" sz="1200" dirty="0">
                <a:solidFill>
                  <a:srgbClr val="1F2328"/>
                </a:solidFill>
                <a:latin typeface="-apple-system"/>
              </a:rPr>
              <a:t>/dtypes.py`.</a:t>
            </a:r>
            <a:endParaRPr lang="en-US" sz="1200" b="0" i="0" dirty="0">
              <a:solidFill>
                <a:srgbClr val="1F2328"/>
              </a:solidFill>
              <a:effectLst/>
              <a:latin typeface="-apple-system"/>
            </a:endParaRPr>
          </a:p>
        </p:txBody>
      </p:sp>
      <p:sp>
        <p:nvSpPr>
          <p:cNvPr id="7" name="Rectangle 6"/>
          <p:cNvSpPr/>
          <p:nvPr/>
        </p:nvSpPr>
        <p:spPr>
          <a:xfrm>
            <a:off x="209821" y="2438400"/>
            <a:ext cx="5733779" cy="1384995"/>
          </a:xfrm>
          <a:prstGeom prst="rect">
            <a:avLst/>
          </a:prstGeom>
        </p:spPr>
        <p:txBody>
          <a:bodyPr wrap="square">
            <a:spAutoFit/>
          </a:bodyPr>
          <a:lstStyle/>
          <a:p>
            <a:pPr algn="just"/>
            <a:r>
              <a:rPr lang="en-US" sz="1200" b="1" dirty="0">
                <a:solidFill>
                  <a:srgbClr val="1F2328"/>
                </a:solidFill>
                <a:latin typeface="-apple-system"/>
              </a:rPr>
              <a:t>🚀 Run on Your Own Dataset</a:t>
            </a:r>
          </a:p>
          <a:p>
            <a:pPr algn="just"/>
            <a:r>
              <a:rPr lang="en-US" sz="1200" dirty="0">
                <a:solidFill>
                  <a:srgbClr val="1F2328"/>
                </a:solidFill>
                <a:latin typeface="-apple-system"/>
              </a:rPr>
              <a:t>Med-DDPM is versatile. If you're working with image formats other than </a:t>
            </a:r>
            <a:r>
              <a:rPr lang="en-US" sz="1200" dirty="0" err="1">
                <a:solidFill>
                  <a:srgbClr val="1F2328"/>
                </a:solidFill>
                <a:latin typeface="-apple-system"/>
              </a:rPr>
              <a:t>NIfTI</a:t>
            </a:r>
            <a:r>
              <a:rPr lang="en-US" sz="1200" dirty="0">
                <a:solidFill>
                  <a:srgbClr val="1F2328"/>
                </a:solidFill>
                <a:latin typeface="-apple-system"/>
              </a:rPr>
              <a:t> (.nii.gz), modify the `</a:t>
            </a:r>
            <a:r>
              <a:rPr lang="en-US" sz="1200" dirty="0" err="1">
                <a:solidFill>
                  <a:srgbClr val="1F2328"/>
                </a:solidFill>
                <a:latin typeface="-apple-system"/>
              </a:rPr>
              <a:t>read_image</a:t>
            </a:r>
            <a:r>
              <a:rPr lang="en-US" sz="1200" dirty="0">
                <a:solidFill>
                  <a:srgbClr val="1F2328"/>
                </a:solidFill>
                <a:latin typeface="-apple-system"/>
              </a:rPr>
              <a:t>` function in `dataset.py`.</a:t>
            </a:r>
          </a:p>
          <a:p>
            <a:pPr algn="just">
              <a:buFont typeface="+mj-lt"/>
              <a:buAutoNum type="arabicPeriod"/>
            </a:pPr>
            <a:r>
              <a:rPr lang="en-US" sz="1200" dirty="0">
                <a:solidFill>
                  <a:srgbClr val="1F2328"/>
                </a:solidFill>
                <a:latin typeface="-apple-system"/>
              </a:rPr>
              <a:t>Specify the segmentation mask directory with `--</a:t>
            </a:r>
            <a:r>
              <a:rPr lang="en-US" sz="1200" dirty="0" err="1">
                <a:solidFill>
                  <a:srgbClr val="1F2328"/>
                </a:solidFill>
                <a:latin typeface="-apple-system"/>
              </a:rPr>
              <a:t>inputfolder</a:t>
            </a:r>
            <a:r>
              <a:rPr lang="en-US" sz="1200" dirty="0">
                <a:solidFill>
                  <a:srgbClr val="1F2328"/>
                </a:solidFill>
                <a:latin typeface="-apple-system"/>
              </a:rPr>
              <a:t>`.</a:t>
            </a:r>
          </a:p>
          <a:p>
            <a:pPr algn="just">
              <a:buFont typeface="+mj-lt"/>
              <a:buAutoNum type="arabicPeriod"/>
            </a:pPr>
            <a:r>
              <a:rPr lang="en-US" sz="1200" dirty="0">
                <a:solidFill>
                  <a:srgbClr val="1F2328"/>
                </a:solidFill>
                <a:latin typeface="-apple-system"/>
              </a:rPr>
              <a:t>Set the image directory using `--</a:t>
            </a:r>
            <a:r>
              <a:rPr lang="en-US" sz="1200" dirty="0" err="1">
                <a:solidFill>
                  <a:srgbClr val="1F2328"/>
                </a:solidFill>
                <a:latin typeface="-apple-system"/>
              </a:rPr>
              <a:t>targetfolder</a:t>
            </a:r>
            <a:r>
              <a:rPr lang="en-US" sz="1200" dirty="0">
                <a:solidFill>
                  <a:srgbClr val="1F2328"/>
                </a:solidFill>
                <a:latin typeface="-apple-system"/>
              </a:rPr>
              <a:t>`.</a:t>
            </a:r>
          </a:p>
          <a:p>
            <a:pPr algn="just">
              <a:buFont typeface="+mj-lt"/>
              <a:buAutoNum type="arabicPeriod"/>
            </a:pPr>
            <a:r>
              <a:rPr lang="en-US" sz="1200" dirty="0">
                <a:solidFill>
                  <a:srgbClr val="1F2328"/>
                </a:solidFill>
                <a:latin typeface="-apple-system"/>
              </a:rPr>
              <a:t>If you have more than 3 segmentation mask label classes, update channel configurations in `train.py`, `datasets.py`, and `</a:t>
            </a:r>
            <a:r>
              <a:rPr lang="en-US" sz="1200" dirty="0" err="1">
                <a:solidFill>
                  <a:srgbClr val="1F2328"/>
                </a:solidFill>
                <a:latin typeface="-apple-system"/>
              </a:rPr>
              <a:t>utils</a:t>
            </a:r>
            <a:r>
              <a:rPr lang="en-US" sz="1200" dirty="0">
                <a:solidFill>
                  <a:srgbClr val="1F2328"/>
                </a:solidFill>
                <a:latin typeface="-apple-system"/>
              </a:rPr>
              <a:t>/dtypes.py`.</a:t>
            </a:r>
            <a:endParaRPr lang="en-US" sz="1200" b="0" i="0" dirty="0">
              <a:solidFill>
                <a:srgbClr val="1F2328"/>
              </a:solidFill>
              <a:effectLst/>
              <a:latin typeface="-apple-system"/>
            </a:endParaRPr>
          </a:p>
        </p:txBody>
      </p:sp>
      <p:sp>
        <p:nvSpPr>
          <p:cNvPr id="9" name="Rectangle 8"/>
          <p:cNvSpPr/>
          <p:nvPr/>
        </p:nvSpPr>
        <p:spPr>
          <a:xfrm>
            <a:off x="209821" y="4140200"/>
            <a:ext cx="5733779" cy="1200329"/>
          </a:xfrm>
          <a:prstGeom prst="rect">
            <a:avLst/>
          </a:prstGeom>
        </p:spPr>
        <p:txBody>
          <a:bodyPr wrap="square">
            <a:spAutoFit/>
          </a:bodyPr>
          <a:lstStyle/>
          <a:p>
            <a:r>
              <a:rPr lang="en-US" b="1" dirty="0"/>
              <a:t>Image Dimensions</a:t>
            </a:r>
          </a:p>
          <a:p>
            <a:r>
              <a:rPr lang="en-US" dirty="0"/>
              <a:t>Whole-head MRI synthesis: 128x128x128</a:t>
            </a:r>
          </a:p>
          <a:p>
            <a:r>
              <a:rPr lang="en-US" dirty="0"/>
              <a:t>Brain-extracted 4 modalities (T1, T1ce, T2, Flair) synthesis (BraTS2021): 192x192x144</a:t>
            </a:r>
          </a:p>
        </p:txBody>
      </p:sp>
      <p:sp>
        <p:nvSpPr>
          <p:cNvPr id="10" name="Rectangle 9"/>
          <p:cNvSpPr/>
          <p:nvPr/>
        </p:nvSpPr>
        <p:spPr>
          <a:xfrm>
            <a:off x="6057357" y="787400"/>
            <a:ext cx="5733779" cy="2862322"/>
          </a:xfrm>
          <a:prstGeom prst="rect">
            <a:avLst/>
          </a:prstGeom>
        </p:spPr>
        <p:txBody>
          <a:bodyPr wrap="square">
            <a:spAutoFit/>
          </a:bodyPr>
          <a:lstStyle/>
          <a:p>
            <a:r>
              <a:rPr lang="en-US" b="1" dirty="0"/>
              <a:t>📋 </a:t>
            </a:r>
            <a:r>
              <a:rPr lang="en-US" b="1" dirty="0" err="1"/>
              <a:t>ToDo</a:t>
            </a:r>
            <a:r>
              <a:rPr lang="en-US" b="1" dirty="0"/>
              <a:t> List</a:t>
            </a:r>
          </a:p>
          <a:p>
            <a:r>
              <a:rPr lang="en-US" dirty="0"/>
              <a:t>Your contributions to Med-DDPM are valuable! Here's our ongoing task list:</a:t>
            </a:r>
          </a:p>
          <a:p>
            <a:pPr marL="285750" indent="-285750">
              <a:buFont typeface="Wingdings" panose="05000000000000000000" pitchFamily="2" charset="2"/>
              <a:buChar char="ü"/>
            </a:pPr>
            <a:r>
              <a:rPr lang="en-US" dirty="0"/>
              <a:t> Main model code release</a:t>
            </a:r>
          </a:p>
          <a:p>
            <a:pPr marL="285750" indent="-285750">
              <a:buFont typeface="Wingdings" panose="05000000000000000000" pitchFamily="2" charset="2"/>
              <a:buChar char="ü"/>
            </a:pPr>
            <a:r>
              <a:rPr lang="en-US" dirty="0"/>
              <a:t> Release model weights</a:t>
            </a:r>
          </a:p>
          <a:p>
            <a:pPr marL="285750" indent="-285750">
              <a:buFont typeface="Wingdings" panose="05000000000000000000" pitchFamily="2" charset="2"/>
              <a:buChar char="ü"/>
            </a:pPr>
            <a:r>
              <a:rPr lang="en-US" dirty="0"/>
              <a:t> Implement fast sampling feature</a:t>
            </a:r>
          </a:p>
          <a:p>
            <a:pPr marL="285750" indent="-285750">
              <a:buFont typeface="Wingdings" panose="05000000000000000000" pitchFamily="2" charset="2"/>
              <a:buChar char="ü"/>
            </a:pPr>
            <a:r>
              <a:rPr lang="en-US" dirty="0"/>
              <a:t> Release 4 modality model code &amp; weights</a:t>
            </a:r>
          </a:p>
          <a:p>
            <a:pPr marL="285750" indent="-285750">
              <a:buFont typeface="Wingdings" panose="05000000000000000000" pitchFamily="2" charset="2"/>
              <a:buChar char="ü"/>
            </a:pPr>
            <a:r>
              <a:rPr lang="en-US" dirty="0"/>
              <a:t> Deploy model on </a:t>
            </a:r>
            <a:r>
              <a:rPr lang="en-US" dirty="0" err="1"/>
              <a:t>HuggingFace</a:t>
            </a:r>
            <a:r>
              <a:rPr lang="en-US" dirty="0"/>
              <a:t> for broader reach</a:t>
            </a:r>
          </a:p>
          <a:p>
            <a:pPr marL="285750" indent="-285750">
              <a:buFont typeface="Wingdings" panose="05000000000000000000" pitchFamily="2" charset="2"/>
              <a:buChar char="ü"/>
            </a:pPr>
            <a:r>
              <a:rPr lang="en-US" dirty="0"/>
              <a:t> Draft &amp; release a comprehensive tutorial blog</a:t>
            </a:r>
          </a:p>
          <a:p>
            <a:pPr marL="285750" indent="-285750">
              <a:buFont typeface="Wingdings" panose="05000000000000000000" pitchFamily="2" charset="2"/>
              <a:buChar char="ü"/>
            </a:pPr>
            <a:r>
              <a:rPr lang="en-US" dirty="0"/>
              <a:t> Launch a Docker image</a:t>
            </a:r>
          </a:p>
        </p:txBody>
      </p:sp>
    </p:spTree>
    <p:extLst>
      <p:ext uri="{BB962C8B-B14F-4D97-AF65-F5344CB8AC3E}">
        <p14:creationId xmlns:p14="http://schemas.microsoft.com/office/powerpoint/2010/main" val="6520086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778" y="263525"/>
            <a:ext cx="7118621" cy="523875"/>
          </a:xfrm>
        </p:spPr>
        <p:txBody>
          <a:bodyPr>
            <a:normAutofit/>
          </a:bodyPr>
          <a:lstStyle/>
          <a:p>
            <a:r>
              <a:rPr lang="en-US" sz="1400" dirty="0"/>
              <a:t>https://github.com/openai/guided-diffusion</a:t>
            </a:r>
            <a:endParaRPr lang="en-US" sz="2700" dirty="0"/>
          </a:p>
        </p:txBody>
      </p:sp>
      <p:sp>
        <p:nvSpPr>
          <p:cNvPr id="6" name="Rectangle 5"/>
          <p:cNvSpPr/>
          <p:nvPr/>
        </p:nvSpPr>
        <p:spPr>
          <a:xfrm>
            <a:off x="209821" y="787400"/>
            <a:ext cx="5733779" cy="4801314"/>
          </a:xfrm>
          <a:prstGeom prst="rect">
            <a:avLst/>
          </a:prstGeom>
        </p:spPr>
        <p:txBody>
          <a:bodyPr wrap="square">
            <a:spAutoFit/>
          </a:bodyPr>
          <a:lstStyle/>
          <a:p>
            <a:r>
              <a:rPr lang="en-US" dirty="0"/>
              <a:t>Here are the download links for each model checkpoint:</a:t>
            </a:r>
          </a:p>
          <a:p>
            <a:r>
              <a:rPr lang="en-US" dirty="0"/>
              <a:t>64x64 classifier: </a:t>
            </a:r>
            <a:r>
              <a:rPr lang="en-US" u="sng" dirty="0">
                <a:hlinkClick r:id="rId3"/>
              </a:rPr>
              <a:t>64x64_classifier.pt</a:t>
            </a:r>
            <a:endParaRPr lang="en-US" dirty="0"/>
          </a:p>
          <a:p>
            <a:r>
              <a:rPr lang="en-US" dirty="0"/>
              <a:t>64x64 diffusion: </a:t>
            </a:r>
            <a:r>
              <a:rPr lang="en-US" u="sng" dirty="0">
                <a:hlinkClick r:id="rId4"/>
              </a:rPr>
              <a:t>64x64_diffusion.pt</a:t>
            </a:r>
            <a:endParaRPr lang="en-US" dirty="0"/>
          </a:p>
          <a:p>
            <a:r>
              <a:rPr lang="en-US" dirty="0"/>
              <a:t>128x128 classifier: </a:t>
            </a:r>
            <a:r>
              <a:rPr lang="en-US" u="sng" dirty="0">
                <a:hlinkClick r:id="rId5"/>
              </a:rPr>
              <a:t>128x128_classifier.pt</a:t>
            </a:r>
            <a:endParaRPr lang="en-US" dirty="0"/>
          </a:p>
          <a:p>
            <a:r>
              <a:rPr lang="en-US" dirty="0"/>
              <a:t>128x128 diffusion: </a:t>
            </a:r>
            <a:r>
              <a:rPr lang="en-US" u="sng" dirty="0">
                <a:hlinkClick r:id="rId6"/>
              </a:rPr>
              <a:t>128x128_diffusion.pt</a:t>
            </a:r>
            <a:endParaRPr lang="en-US" dirty="0"/>
          </a:p>
          <a:p>
            <a:r>
              <a:rPr lang="en-US" dirty="0"/>
              <a:t>256x256 classifier: </a:t>
            </a:r>
            <a:r>
              <a:rPr lang="en-US" u="sng" dirty="0">
                <a:hlinkClick r:id="rId7"/>
              </a:rPr>
              <a:t>256x256_classifier.pt</a:t>
            </a:r>
            <a:endParaRPr lang="en-US" dirty="0"/>
          </a:p>
          <a:p>
            <a:r>
              <a:rPr lang="en-US" dirty="0"/>
              <a:t>256x256 diffusion: </a:t>
            </a:r>
            <a:r>
              <a:rPr lang="en-US" u="sng" dirty="0">
                <a:hlinkClick r:id="rId8"/>
              </a:rPr>
              <a:t>256x256_diffusion.pt</a:t>
            </a:r>
            <a:endParaRPr lang="en-US" dirty="0"/>
          </a:p>
          <a:p>
            <a:r>
              <a:rPr lang="en-US" dirty="0"/>
              <a:t>256x256 diffusion (not class conditional): </a:t>
            </a:r>
            <a:r>
              <a:rPr lang="en-US" u="sng" dirty="0">
                <a:hlinkClick r:id="rId9"/>
              </a:rPr>
              <a:t>256x256_diffusion_uncond.pt</a:t>
            </a:r>
            <a:endParaRPr lang="en-US" dirty="0"/>
          </a:p>
          <a:p>
            <a:r>
              <a:rPr lang="en-US" dirty="0"/>
              <a:t>512x512 classifier: </a:t>
            </a:r>
            <a:r>
              <a:rPr lang="en-US" u="sng" dirty="0">
                <a:hlinkClick r:id="rId10"/>
              </a:rPr>
              <a:t>512x512_classifier.pt</a:t>
            </a:r>
            <a:endParaRPr lang="en-US" dirty="0"/>
          </a:p>
          <a:p>
            <a:r>
              <a:rPr lang="en-US" dirty="0"/>
              <a:t>512x512 diffusion: </a:t>
            </a:r>
            <a:r>
              <a:rPr lang="en-US" u="sng" dirty="0">
                <a:hlinkClick r:id="rId11"/>
              </a:rPr>
              <a:t>512x512_diffusion.pt</a:t>
            </a:r>
            <a:endParaRPr lang="en-US" dirty="0"/>
          </a:p>
          <a:p>
            <a:r>
              <a:rPr lang="en-US" dirty="0"/>
              <a:t>64x64 -&gt; 256x256 </a:t>
            </a:r>
            <a:r>
              <a:rPr lang="en-US" dirty="0" err="1"/>
              <a:t>upsampler</a:t>
            </a:r>
            <a:r>
              <a:rPr lang="en-US" dirty="0"/>
              <a:t>: </a:t>
            </a:r>
            <a:r>
              <a:rPr lang="en-US" u="sng" dirty="0">
                <a:hlinkClick r:id="rId12"/>
              </a:rPr>
              <a:t>64_256_upsampler.pt</a:t>
            </a:r>
            <a:endParaRPr lang="en-US" dirty="0"/>
          </a:p>
          <a:p>
            <a:r>
              <a:rPr lang="en-US" dirty="0"/>
              <a:t>128x128 -&gt; 512x512 </a:t>
            </a:r>
            <a:r>
              <a:rPr lang="en-US" dirty="0" err="1"/>
              <a:t>upsampler</a:t>
            </a:r>
            <a:r>
              <a:rPr lang="en-US" dirty="0"/>
              <a:t>: </a:t>
            </a:r>
            <a:r>
              <a:rPr lang="en-US" u="sng" dirty="0">
                <a:hlinkClick r:id="rId13"/>
              </a:rPr>
              <a:t>128_512_upsampler.pt</a:t>
            </a:r>
            <a:endParaRPr lang="en-US" dirty="0"/>
          </a:p>
          <a:p>
            <a:r>
              <a:rPr lang="en-US" dirty="0"/>
              <a:t>LSUN bedroom: </a:t>
            </a:r>
            <a:r>
              <a:rPr lang="en-US" u="sng" dirty="0">
                <a:hlinkClick r:id="rId14"/>
              </a:rPr>
              <a:t>lsun_bedroom.pt</a:t>
            </a:r>
            <a:endParaRPr lang="en-US" dirty="0"/>
          </a:p>
          <a:p>
            <a:r>
              <a:rPr lang="en-US" dirty="0"/>
              <a:t>LSUN cat: </a:t>
            </a:r>
            <a:r>
              <a:rPr lang="en-US" u="sng" dirty="0">
                <a:hlinkClick r:id="rId15"/>
              </a:rPr>
              <a:t>lsun_cat.pt</a:t>
            </a:r>
            <a:endParaRPr lang="en-US" dirty="0"/>
          </a:p>
          <a:p>
            <a:r>
              <a:rPr lang="en-US" dirty="0"/>
              <a:t>LSUN horse: </a:t>
            </a:r>
            <a:r>
              <a:rPr lang="en-US" u="sng" dirty="0">
                <a:hlinkClick r:id="rId16"/>
              </a:rPr>
              <a:t>lsun_horse.pt</a:t>
            </a:r>
            <a:endParaRPr lang="en-US" dirty="0"/>
          </a:p>
          <a:p>
            <a:r>
              <a:rPr lang="en-US" dirty="0"/>
              <a:t>LSUN horse (no dropout): </a:t>
            </a:r>
            <a:r>
              <a:rPr lang="en-US" u="sng" dirty="0">
                <a:hlinkClick r:id="rId17"/>
              </a:rPr>
              <a:t>lsun_horse_nodropout.pt</a:t>
            </a:r>
            <a:endParaRPr lang="en-US" dirty="0"/>
          </a:p>
        </p:txBody>
      </p:sp>
    </p:spTree>
    <p:extLst>
      <p:ext uri="{BB962C8B-B14F-4D97-AF65-F5344CB8AC3E}">
        <p14:creationId xmlns:p14="http://schemas.microsoft.com/office/powerpoint/2010/main" val="40201946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905"/>
            <a:ext cx="4521200" cy="367505"/>
          </a:xfrm>
        </p:spPr>
        <p:txBody>
          <a:bodyPr>
            <a:normAutofit/>
          </a:bodyPr>
          <a:lstStyle/>
          <a:p>
            <a:r>
              <a:rPr lang="en-US" sz="1800" dirty="0"/>
              <a:t>https://github.com/TorchIO-project/torchio</a:t>
            </a:r>
          </a:p>
        </p:txBody>
      </p:sp>
      <p:pic>
        <p:nvPicPr>
          <p:cNvPr id="1026" name="Picture 2" descr="Queue"/>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187777" y="313530"/>
            <a:ext cx="6456892" cy="24566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ogressive artifac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76" y="313530"/>
            <a:ext cx="5054601" cy="245665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33176" y="2910956"/>
            <a:ext cx="5905848" cy="369332"/>
          </a:xfrm>
          <a:prstGeom prst="rect">
            <a:avLst/>
          </a:prstGeom>
        </p:spPr>
        <p:txBody>
          <a:bodyPr wrap="none">
            <a:spAutoFit/>
          </a:bodyPr>
          <a:lstStyle/>
          <a:p>
            <a:r>
              <a:rPr lang="en-US" dirty="0"/>
              <a:t>https://docs.torchio.org/patches/patch_training.html#queue</a:t>
            </a:r>
          </a:p>
        </p:txBody>
      </p:sp>
      <p:sp>
        <p:nvSpPr>
          <p:cNvPr id="4" name="Rectangle 3"/>
          <p:cNvSpPr/>
          <p:nvPr/>
        </p:nvSpPr>
        <p:spPr>
          <a:xfrm>
            <a:off x="133176" y="3121854"/>
            <a:ext cx="1594283" cy="369332"/>
          </a:xfrm>
          <a:prstGeom prst="rect">
            <a:avLst/>
          </a:prstGeom>
        </p:spPr>
        <p:txBody>
          <a:bodyPr wrap="none">
            <a:spAutoFit/>
          </a:bodyPr>
          <a:lstStyle/>
          <a:p>
            <a:r>
              <a:rPr lang="en-US" dirty="0"/>
              <a:t>Patch samplers</a:t>
            </a:r>
          </a:p>
        </p:txBody>
      </p:sp>
      <p:pic>
        <p:nvPicPr>
          <p:cNvPr id="9" name="Picture 8"/>
          <p:cNvPicPr>
            <a:picLocks noChangeAspect="1"/>
          </p:cNvPicPr>
          <p:nvPr/>
        </p:nvPicPr>
        <p:blipFill>
          <a:blip r:embed="rId5"/>
          <a:stretch>
            <a:fillRect/>
          </a:stretch>
        </p:blipFill>
        <p:spPr>
          <a:xfrm>
            <a:off x="5765800" y="3306520"/>
            <a:ext cx="6096000" cy="3429000"/>
          </a:xfrm>
          <a:prstGeom prst="rect">
            <a:avLst/>
          </a:prstGeom>
        </p:spPr>
      </p:pic>
      <p:pic>
        <p:nvPicPr>
          <p:cNvPr id="11" name="Picture 10"/>
          <p:cNvPicPr>
            <a:picLocks noChangeAspect="1"/>
          </p:cNvPicPr>
          <p:nvPr/>
        </p:nvPicPr>
        <p:blipFill>
          <a:blip r:embed="rId6"/>
          <a:stretch>
            <a:fillRect/>
          </a:stretch>
        </p:blipFill>
        <p:spPr>
          <a:xfrm>
            <a:off x="41407" y="3816621"/>
            <a:ext cx="5724393" cy="2209800"/>
          </a:xfrm>
          <a:prstGeom prst="rect">
            <a:avLst/>
          </a:prstGeom>
        </p:spPr>
      </p:pic>
      <p:sp>
        <p:nvSpPr>
          <p:cNvPr id="12" name="Rectangle 11"/>
          <p:cNvSpPr/>
          <p:nvPr/>
        </p:nvSpPr>
        <p:spPr>
          <a:xfrm>
            <a:off x="133176" y="3391961"/>
            <a:ext cx="2228239" cy="369332"/>
          </a:xfrm>
          <a:prstGeom prst="rect">
            <a:avLst/>
          </a:prstGeom>
        </p:spPr>
        <p:txBody>
          <a:bodyPr wrap="none">
            <a:spAutoFit/>
          </a:bodyPr>
          <a:lstStyle/>
          <a:p>
            <a:r>
              <a:rPr lang="en-US" dirty="0"/>
              <a:t>Patch-based pipelines</a:t>
            </a:r>
          </a:p>
        </p:txBody>
      </p:sp>
      <p:sp>
        <p:nvSpPr>
          <p:cNvPr id="13" name="Rectangle 12"/>
          <p:cNvSpPr/>
          <p:nvPr/>
        </p:nvSpPr>
        <p:spPr>
          <a:xfrm>
            <a:off x="180075" y="3627182"/>
            <a:ext cx="4341125" cy="369332"/>
          </a:xfrm>
          <a:prstGeom prst="rect">
            <a:avLst/>
          </a:prstGeom>
        </p:spPr>
        <p:txBody>
          <a:bodyPr wrap="none">
            <a:spAutoFit/>
          </a:bodyPr>
          <a:lstStyle/>
          <a:p>
            <a:r>
              <a:rPr lang="en-US" dirty="0"/>
              <a:t>https://docs.torchio.org/patches/index.html</a:t>
            </a:r>
          </a:p>
        </p:txBody>
      </p:sp>
    </p:spTree>
    <p:extLst>
      <p:ext uri="{BB962C8B-B14F-4D97-AF65-F5344CB8AC3E}">
        <p14:creationId xmlns:p14="http://schemas.microsoft.com/office/powerpoint/2010/main" val="35160205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3075"/>
          </a:xfrm>
        </p:spPr>
        <p:txBody>
          <a:bodyPr>
            <a:normAutofit fontScale="90000"/>
          </a:bodyPr>
          <a:lstStyle/>
          <a:p>
            <a:r>
              <a:rPr lang="en-US" b="1" dirty="0" err="1"/>
              <a:t>MedPerf</a:t>
            </a:r>
            <a:r>
              <a:rPr lang="en-US" b="1" dirty="0"/>
              <a:t/>
            </a:r>
            <a:br>
              <a:rPr lang="en-US" b="1" dirty="0"/>
            </a:br>
            <a:endParaRPr lang="en-US" dirty="0"/>
          </a:p>
        </p:txBody>
      </p:sp>
      <p:pic>
        <p:nvPicPr>
          <p:cNvPr id="3074" name="Picture 2" descr="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00" y="3059284"/>
            <a:ext cx="8178800" cy="379871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84200" y="601662"/>
            <a:ext cx="10769600" cy="3970318"/>
          </a:xfrm>
          <a:prstGeom prst="rect">
            <a:avLst/>
          </a:prstGeom>
        </p:spPr>
        <p:txBody>
          <a:bodyPr wrap="square">
            <a:spAutoFit/>
          </a:bodyPr>
          <a:lstStyle/>
          <a:p>
            <a:pPr algn="just"/>
            <a:r>
              <a:rPr lang="en-US" dirty="0">
                <a:solidFill>
                  <a:srgbClr val="1F2328"/>
                </a:solidFill>
                <a:latin typeface="-apple-system"/>
              </a:rPr>
              <a:t>The figure below displays the data provider locations used in all pilot experiments. 🟢: Pilot 1 - Brain Tumor Segmentation Pilot Experiment; 🔴: Pilot 2 - Pancreas Segmentation Pilot Experiment. 🔵: Pilot 3 - Surgical Workflow Phase Recognition Pilot Experiment. Pilot 4 - Cloud Experiments, used data and processes from Pilot 1 and 2</a:t>
            </a:r>
            <a:r>
              <a:rPr lang="en-US" dirty="0" smtClean="0">
                <a:solidFill>
                  <a:srgbClr val="1F2328"/>
                </a:solidFill>
                <a:latin typeface="-apple-system"/>
              </a:rPr>
              <a:t>.</a:t>
            </a:r>
          </a:p>
          <a:p>
            <a:pPr algn="just"/>
            <a:r>
              <a:rPr lang="en-US" dirty="0"/>
              <a:t>Their radiological appearance is described by different sub-regions comprising 1) the “enhancing tumor” (ET), 2) the gross tumor, also known as the “tumor core” (TC), and 3) the complete tumor extent also referred to as the “whole tumor” (WT). ET is described by areas that show hyper-intensity in T1Gd when compared to T1, but also when compared to ”healthy” white matter in T1Gd. The TC describes the bulk of the tumor, which is what is typically resected. The TC entails the ET, as well as the necrotic (fluid-filled) parts of the tumor. The appearance of the necrotic (NCR) tumor core is typically hypo-intense in T1Gd when compared to T1. The WT describes the complete extent of the disease, as it entails the TC and the </a:t>
            </a:r>
            <a:r>
              <a:rPr lang="en-US" dirty="0" err="1"/>
              <a:t>peritumoral</a:t>
            </a:r>
            <a:r>
              <a:rPr lang="en-US" dirty="0"/>
              <a:t> edematous/invaded tissue (ED), which is typically depicted by hyper-intense signal in T2-FLAIR. These scans, with accompanying manually approved labels by expert </a:t>
            </a:r>
            <a:r>
              <a:rPr lang="en-US" dirty="0" err="1"/>
              <a:t>neuroradiologists</a:t>
            </a:r>
            <a:r>
              <a:rPr lang="en-US" dirty="0"/>
              <a:t> for these sub-regions, are provided in the International Brain Tumor Segmentation (</a:t>
            </a:r>
            <a:r>
              <a:rPr lang="en-US" dirty="0" err="1"/>
              <a:t>BraTS</a:t>
            </a:r>
            <a:r>
              <a:rPr lang="en-US" dirty="0"/>
              <a:t>) challenge data.</a:t>
            </a:r>
            <a:endParaRPr lang="en-US" dirty="0"/>
          </a:p>
        </p:txBody>
      </p:sp>
      <p:pic>
        <p:nvPicPr>
          <p:cNvPr id="4" name="Picture 3"/>
          <p:cNvPicPr>
            <a:picLocks noChangeAspect="1"/>
          </p:cNvPicPr>
          <p:nvPr/>
        </p:nvPicPr>
        <p:blipFill>
          <a:blip r:embed="rId4"/>
          <a:stretch>
            <a:fillRect/>
          </a:stretch>
        </p:blipFill>
        <p:spPr>
          <a:xfrm>
            <a:off x="12014108" y="0"/>
            <a:ext cx="3897404" cy="4739471"/>
          </a:xfrm>
          <a:prstGeom prst="rect">
            <a:avLst/>
          </a:prstGeom>
        </p:spPr>
      </p:pic>
      <p:pic>
        <p:nvPicPr>
          <p:cNvPr id="5" name="Picture 4"/>
          <p:cNvPicPr>
            <a:picLocks noChangeAspect="1"/>
          </p:cNvPicPr>
          <p:nvPr/>
        </p:nvPicPr>
        <p:blipFill>
          <a:blip r:embed="rId5"/>
          <a:stretch>
            <a:fillRect/>
          </a:stretch>
        </p:blipFill>
        <p:spPr>
          <a:xfrm>
            <a:off x="12014108" y="-142895"/>
            <a:ext cx="6524625" cy="9429750"/>
          </a:xfrm>
          <a:prstGeom prst="rect">
            <a:avLst/>
          </a:prstGeom>
        </p:spPr>
      </p:pic>
    </p:spTree>
    <p:extLst>
      <p:ext uri="{BB962C8B-B14F-4D97-AF65-F5344CB8AC3E}">
        <p14:creationId xmlns:p14="http://schemas.microsoft.com/office/powerpoint/2010/main" val="11518306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E99E535-EDD8-44E3-98DC-07DF9ECB62E5}"/>
              </a:ext>
            </a:extLst>
          </p:cNvPr>
          <p:cNvSpPr txBox="1">
            <a:spLocks/>
          </p:cNvSpPr>
          <p:nvPr/>
        </p:nvSpPr>
        <p:spPr>
          <a:xfrm>
            <a:off x="597748" y="3093606"/>
            <a:ext cx="6248442" cy="508524"/>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4000" dirty="0"/>
              <a:t>Thank you.</a:t>
            </a:r>
          </a:p>
          <a:p>
            <a:endParaRPr lang="en-US" sz="4000" dirty="0"/>
          </a:p>
          <a:p>
            <a:r>
              <a:rPr lang="en-US" sz="3672" dirty="0"/>
              <a:t>Q&amp;A</a:t>
            </a:r>
          </a:p>
        </p:txBody>
      </p:sp>
    </p:spTree>
    <p:extLst>
      <p:ext uri="{BB962C8B-B14F-4D97-AF65-F5344CB8AC3E}">
        <p14:creationId xmlns:p14="http://schemas.microsoft.com/office/powerpoint/2010/main" val="5540153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4786</TotalTime>
  <Words>586</Words>
  <Application>Microsoft Office PowerPoint</Application>
  <PresentationFormat>Widescreen</PresentationFormat>
  <Paragraphs>85</Paragraphs>
  <Slides>8</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Malgun Gothic</vt:lpstr>
      <vt:lpstr>-apple-system</vt:lpstr>
      <vt:lpstr>Arial</vt:lpstr>
      <vt:lpstr>Calibri</vt:lpstr>
      <vt:lpstr>Calibri Light</vt:lpstr>
      <vt:lpstr>Segoe UI</vt:lpstr>
      <vt:lpstr>Wingdings</vt:lpstr>
      <vt:lpstr>Office Theme</vt:lpstr>
      <vt:lpstr>PowerPoint Presentation</vt:lpstr>
      <vt:lpstr>A Cargo Ship… Carries containers across the sea</vt:lpstr>
      <vt:lpstr>Optimizing Brain Tumor Segmentation with MedNeXt: BraTS 2024 SSA and Pediatrics</vt:lpstr>
      <vt:lpstr>https://github.com/JotatD/med-ddpm-brats</vt:lpstr>
      <vt:lpstr>https://github.com/openai/guided-diffusion</vt:lpstr>
      <vt:lpstr>https://github.com/TorchIO-project/torchio</vt:lpstr>
      <vt:lpstr>MedPerf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Minikube OpenTofu</dc:title>
  <dc:creator>pds</dc:creator>
  <cp:lastModifiedBy>Gde</cp:lastModifiedBy>
  <cp:revision>228</cp:revision>
  <dcterms:created xsi:type="dcterms:W3CDTF">2024-10-22T01:59:15Z</dcterms:created>
  <dcterms:modified xsi:type="dcterms:W3CDTF">2025-09-25T03:16:33Z</dcterms:modified>
</cp:coreProperties>
</file>