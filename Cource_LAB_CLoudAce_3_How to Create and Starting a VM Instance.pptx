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9" r:id="rId1"/>
  </p:sldMasterIdLst>
  <p:notesMasterIdLst>
    <p:notesMasterId r:id="rId6"/>
  </p:notesMasterIdLst>
  <p:sldIdLst>
    <p:sldId id="348" r:id="rId2"/>
    <p:sldId id="349" r:id="rId3"/>
    <p:sldId id="351" r:id="rId4"/>
    <p:sldId id="350" r:id="rId5"/>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Mueller" initials="" lastIdx="9" clrIdx="0"/>
  <p:cmAuthor id="1" name="Chuck Erickson" initials="" lastIdx="6" clrIdx="1"/>
  <p:cmAuthor id="2" name="Adam Glic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7"/>
    <p:restoredTop sz="94218"/>
  </p:normalViewPr>
  <p:slideViewPr>
    <p:cSldViewPr snapToGrid="0" snapToObjects="1">
      <p:cViewPr>
        <p:scale>
          <a:sx n="90" d="100"/>
          <a:sy n="90" d="100"/>
        </p:scale>
        <p:origin x="678" y="59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7839" cy="46481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937" y="0"/>
            <a:ext cx="3037839" cy="46481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407181" y="696912"/>
            <a:ext cx="6195899" cy="34862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39" y="4415789"/>
            <a:ext cx="5608319" cy="418337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829967"/>
            <a:ext cx="3037839" cy="464818"/>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937" y="8829967"/>
            <a:ext cx="3037839" cy="464818"/>
          </a:xfrm>
          <a:prstGeom prst="rect">
            <a:avLst/>
          </a:prstGeom>
          <a:noFill/>
          <a:ln>
            <a:noFill/>
          </a:ln>
        </p:spPr>
        <p:txBody>
          <a:bodyPr lIns="91425" tIns="91425" rIns="91425" bIns="91425" anchor="b" anchorCtr="0">
            <a:noAutofit/>
          </a:bodyPr>
          <a:lstStyle/>
          <a:p>
            <a:pPr marL="0" marR="0" lvl="0" indent="0" algn="r" rtl="0">
              <a:lnSpc>
                <a:spcPct val="100000"/>
              </a:lnSpc>
              <a:spcBef>
                <a:spcPts val="0"/>
              </a:spcBef>
              <a:spcAft>
                <a:spcPts val="0"/>
              </a:spcAft>
              <a:buClr>
                <a:srgbClr val="000000"/>
              </a:buClr>
              <a:buFont typeface="Arial"/>
              <a:buNone/>
            </a:pPr>
            <a:endParaRPr sz="12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14118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14371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https://id.cloud-ace.com/resources/how-to-create-and-starting-a-vm-instance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825988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27904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070549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28955239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0062839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02337E-4703-49AB-8D81-EA2F8A6577FC}"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4302067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02337E-4703-49AB-8D81-EA2F8A6577FC}"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9466421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2337E-4703-49AB-8D81-EA2F8A6577FC}"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6318732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1266132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606108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41028492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7443086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A02337E-4703-49AB-8D81-EA2F8A6577FC}" type="datetimeFigureOut">
              <a:rPr lang="en-US" smtClean="0"/>
              <a:t>9/18/2026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5B63887-955A-4111-8FF6-299906ED7E11}" type="slidenum">
              <a:rPr lang="en-US" smtClean="0"/>
              <a:t>‹#›</a:t>
            </a:fld>
            <a:endParaRPr lang="en-US"/>
          </a:p>
        </p:txBody>
      </p:sp>
    </p:spTree>
    <p:extLst>
      <p:ext uri="{BB962C8B-B14F-4D97-AF65-F5344CB8AC3E}">
        <p14:creationId xmlns:p14="http://schemas.microsoft.com/office/powerpoint/2010/main" val="20166468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3" Type="http://schemas.openxmlformats.org/officeDocument/2006/relationships/hyperlink" Target="https://cloud.google.com/compute/docs/instances/reserving-zonal-resources" TargetMode="External"/><Relationship Id="rId18" Type="http://schemas.openxmlformats.org/officeDocument/2006/relationships/hyperlink" Target="https://cloud.google.com/compute/docs/instances/create-hpc-vm" TargetMode="External"/><Relationship Id="rId26" Type="http://schemas.openxmlformats.org/officeDocument/2006/relationships/hyperlink" Target="https://cloud.google.com/compute/docs/images/create-delete-deprecate-private-images" TargetMode="External"/><Relationship Id="rId39" Type="http://schemas.openxmlformats.org/officeDocument/2006/relationships/hyperlink" Target="https://cloud.google.com/compute/docs/naming-resources#resource-name-format" TargetMode="External"/><Relationship Id="rId21" Type="http://schemas.openxmlformats.org/officeDocument/2006/relationships/hyperlink" Target="https://cloud.google.com/compute/docs/instances/windows/bring-your-own-license/bringing-your-own-license-sole-tenant-nodes" TargetMode="External"/><Relationship Id="rId34" Type="http://schemas.openxmlformats.org/officeDocument/2006/relationships/hyperlink" Target="https://cloud.google.com/compute/docs/disks#localssds" TargetMode="External"/><Relationship Id="rId42" Type="http://schemas.openxmlformats.org/officeDocument/2006/relationships/hyperlink" Target="https://cloud.google.com/security/shielded-cloud/shielded-vm#integrity-monitoring" TargetMode="External"/><Relationship Id="rId47" Type="http://schemas.openxmlformats.org/officeDocument/2006/relationships/hyperlink" Target="https://console.cloud.google.com/compute/instancesAdd" TargetMode="External"/><Relationship Id="rId50" Type="http://schemas.openxmlformats.org/officeDocument/2006/relationships/hyperlink" Target="https://console.cloud.google.com/compute/disks" TargetMode="External"/><Relationship Id="rId55" Type="http://schemas.openxmlformats.org/officeDocument/2006/relationships/hyperlink" Target="https://cloud.google.com/compute/docs/access/create-enable-service-accounts-for-instances#using" TargetMode="External"/><Relationship Id="rId63" Type="http://schemas.openxmlformats.org/officeDocument/2006/relationships/hyperlink" Target="https://cloud.google.com/compute/docs/instances/connecting-to-instance" TargetMode="External"/><Relationship Id="rId7" Type="http://schemas.openxmlformats.org/officeDocument/2006/relationships/hyperlink" Target="https://cloud.google.com/vpc/docs/create-use-multiple-interfaces#creating_virtual_machine_instances_with_multiple_network_interfaces" TargetMode="External"/><Relationship Id="rId2" Type="http://schemas.openxmlformats.org/officeDocument/2006/relationships/notesSlide" Target="../notesSlides/notesSlide2.xml"/><Relationship Id="rId16" Type="http://schemas.openxmlformats.org/officeDocument/2006/relationships/hyperlink" Target="https://cloud.google.com/compute/docs/networking/configure-vm-with-high-bandwidth-configuration" TargetMode="External"/><Relationship Id="rId20" Type="http://schemas.openxmlformats.org/officeDocument/2006/relationships/hyperlink" Target="https://cloud.google.com/compute/docs/instances/schedule-instance-start-stop#attaching_to_a_new_VM" TargetMode="External"/><Relationship Id="rId29" Type="http://schemas.openxmlformats.org/officeDocument/2006/relationships/hyperlink" Target="https://cloud.google.com/compute/docs/instances/create-start-instance#gcloud" TargetMode="External"/><Relationship Id="rId41" Type="http://schemas.openxmlformats.org/officeDocument/2006/relationships/hyperlink" Target="https://cloud.google.com/security/shielded-cloud/shielded-vm#secure-boot" TargetMode="External"/><Relationship Id="rId54" Type="http://schemas.openxmlformats.org/officeDocument/2006/relationships/hyperlink" Target="https://cloud.google.com/compute/docs/access/create-enable-service-accounts-for-instances#createanewserviceaccount" TargetMode="External"/><Relationship Id="rId62" Type="http://schemas.openxmlformats.org/officeDocument/2006/relationships/hyperlink" Target="https://cloud.google.com/sdk/gcloud/reference/compute/instances/create" TargetMode="External"/><Relationship Id="rId1" Type="http://schemas.openxmlformats.org/officeDocument/2006/relationships/slideLayout" Target="../slideLayouts/slideLayout2.xml"/><Relationship Id="rId6" Type="http://schemas.openxmlformats.org/officeDocument/2006/relationships/hyperlink" Target="https://cloud.google.com/compute/docs/disks/add-persistent-disk" TargetMode="External"/><Relationship Id="rId11" Type="http://schemas.openxmlformats.org/officeDocument/2006/relationships/hyperlink" Target="https://cloud.google.com/compute/docs/nodes/create-nodes" TargetMode="External"/><Relationship Id="rId24" Type="http://schemas.openxmlformats.org/officeDocument/2006/relationships/hyperlink" Target="https://cloud.google.com/compute/docs/api/prereqs" TargetMode="External"/><Relationship Id="rId32" Type="http://schemas.openxmlformats.org/officeDocument/2006/relationships/hyperlink" Target="https://cloud.google.com/compute/docs/images#os-compute-support" TargetMode="External"/><Relationship Id="rId37" Type="http://schemas.openxmlformats.org/officeDocument/2006/relationships/hyperlink" Target="https://cloud.google.com/compute/docs/instances/create-start-instance#python" TargetMode="External"/><Relationship Id="rId40" Type="http://schemas.openxmlformats.org/officeDocument/2006/relationships/hyperlink" Target="https://cloud.google.com/vpc/docs/firewalls" TargetMode="External"/><Relationship Id="rId45" Type="http://schemas.openxmlformats.org/officeDocument/2006/relationships/hyperlink" Target="https://cloud.google.com/compute/docs/disks/add-persistent-disk#formatting" TargetMode="External"/><Relationship Id="rId53" Type="http://schemas.openxmlformats.org/officeDocument/2006/relationships/hyperlink" Target="https://cloud.google.com/compute/docs/containers/configuring-options-to-run-containers" TargetMode="External"/><Relationship Id="rId58" Type="http://schemas.openxmlformats.org/officeDocument/2006/relationships/hyperlink" Target="https://cloud.google.com/compute/docs/vpc/using-vpc#create-custom-network" TargetMode="External"/><Relationship Id="rId5" Type="http://schemas.openxmlformats.org/officeDocument/2006/relationships/hyperlink" Target="https://cloud.google.com/compute/docs/instances/modifying-shielded-vm" TargetMode="External"/><Relationship Id="rId15" Type="http://schemas.openxmlformats.org/officeDocument/2006/relationships/hyperlink" Target="https://cloud.google.com/compute/docs/instances/create-vm-with-gvnic" TargetMode="External"/><Relationship Id="rId23" Type="http://schemas.openxmlformats.org/officeDocument/2006/relationships/hyperlink" Target="https://cloud.google.com/compute/docs/gcloud-compute#set_default_zone_and_region_in_your_local_client" TargetMode="External"/><Relationship Id="rId28" Type="http://schemas.openxmlformats.org/officeDocument/2006/relationships/hyperlink" Target="https://cloud.google.com/compute/docs/instances/create-start-instance#console" TargetMode="External"/><Relationship Id="rId36" Type="http://schemas.openxmlformats.org/officeDocument/2006/relationships/hyperlink" Target="https://cloud.google.com/security/shielded-cloud/shielded-vm#vtpm" TargetMode="External"/><Relationship Id="rId49" Type="http://schemas.openxmlformats.org/officeDocument/2006/relationships/hyperlink" Target="https://cloud.google.com/compute/docs/instances/create-start-instance#creating_an_instance_from_a_custom_image" TargetMode="External"/><Relationship Id="rId57" Type="http://schemas.openxmlformats.org/officeDocument/2006/relationships/hyperlink" Target="https://cloud.google.com/compute/docs/vpc" TargetMode="External"/><Relationship Id="rId61" Type="http://schemas.openxmlformats.org/officeDocument/2006/relationships/hyperlink" Target="https://cloud.google.com/compute/docs/containers" TargetMode="External"/><Relationship Id="rId10" Type="http://schemas.openxmlformats.org/officeDocument/2006/relationships/hyperlink" Target="https://cloud.google.com/compute/docs/instances/sql-server/creating-sql-server-instances" TargetMode="External"/><Relationship Id="rId19" Type="http://schemas.openxmlformats.org/officeDocument/2006/relationships/hyperlink" Target="https://cloud.google.com/compute/docs/instances/using-bulk-api" TargetMode="External"/><Relationship Id="rId31" Type="http://schemas.openxmlformats.org/officeDocument/2006/relationships/hyperlink" Target="https://console.cloud.google.com/compute/images" TargetMode="External"/><Relationship Id="rId44" Type="http://schemas.openxmlformats.org/officeDocument/2006/relationships/hyperlink" Target="https://cloud.google.com/compute/docs/images/create-delete-deprecate-private-images#creating_a_custom_image" TargetMode="External"/><Relationship Id="rId52" Type="http://schemas.openxmlformats.org/officeDocument/2006/relationships/hyperlink" Target="https://cloud.google.com/compute/docs/containers/deploying-containers" TargetMode="External"/><Relationship Id="rId60" Type="http://schemas.openxmlformats.org/officeDocument/2006/relationships/hyperlink" Target="https://cloud.google.com/compute/docs/instances/checking-instance-status" TargetMode="External"/><Relationship Id="rId4" Type="http://schemas.openxmlformats.org/officeDocument/2006/relationships/hyperlink" Target="https://cloud.google.com/security/shielded-cloud/shielded-vm" TargetMode="External"/><Relationship Id="rId9" Type="http://schemas.openxmlformats.org/officeDocument/2006/relationships/hyperlink" Target="https://cloud.google.com/compute/docs/instances/windows/creating-managing-windows-instances" TargetMode="External"/><Relationship Id="rId14" Type="http://schemas.openxmlformats.org/officeDocument/2006/relationships/hyperlink" Target="https://cloud.google.com/compute/docs/instances/reserving-zonal-resources#consuming_reserved_instances" TargetMode="External"/><Relationship Id="rId22" Type="http://schemas.openxmlformats.org/officeDocument/2006/relationships/hyperlink" Target="https://cloud.google.com/compute/docs/gcloud-compute" TargetMode="External"/><Relationship Id="rId27" Type="http://schemas.openxmlformats.org/officeDocument/2006/relationships/hyperlink" Target="https://cloud.google.com/compute/docs/images/os-details" TargetMode="External"/><Relationship Id="rId30" Type="http://schemas.openxmlformats.org/officeDocument/2006/relationships/hyperlink" Target="https://cloud.google.com/compute/docs/instances/create-start-instance#api" TargetMode="External"/><Relationship Id="rId35" Type="http://schemas.openxmlformats.org/officeDocument/2006/relationships/hyperlink" Target="https://cloud.google.com/security/shielded-cloud/shielded-vm#integrity-%0Amonitoring" TargetMode="External"/><Relationship Id="rId43" Type="http://schemas.openxmlformats.org/officeDocument/2006/relationships/hyperlink" Target="https://cloud.google.com/security/shielded-cloud/shielded-vm#measured-boot" TargetMode="External"/><Relationship Id="rId48" Type="http://schemas.openxmlformats.org/officeDocument/2006/relationships/hyperlink" Target="https://cloud.google.com/compute/docs/disks/create-snapshots" TargetMode="External"/><Relationship Id="rId56" Type="http://schemas.openxmlformats.org/officeDocument/2006/relationships/hyperlink" Target="https://cloud.google.com/compute/docs/access/service-accounts" TargetMode="External"/><Relationship Id="rId8" Type="http://schemas.openxmlformats.org/officeDocument/2006/relationships/hyperlink" Target="https://cloud.google.com/nat/docs/overview" TargetMode="External"/><Relationship Id="rId51" Type="http://schemas.openxmlformats.org/officeDocument/2006/relationships/hyperlink" Target="https://cloud.google.com/container-optimized-os/docs" TargetMode="External"/><Relationship Id="rId3" Type="http://schemas.openxmlformats.org/officeDocument/2006/relationships/hyperlink" Target="https://cloud.google.com/compute/docs/images" TargetMode="External"/><Relationship Id="rId12" Type="http://schemas.openxmlformats.org/officeDocument/2006/relationships/hyperlink" Target="https://cloud.google.com/compute/docs/instances/custom-hostname-vm" TargetMode="External"/><Relationship Id="rId17" Type="http://schemas.openxmlformats.org/officeDocument/2006/relationships/hyperlink" Target="https://cloud.google.com/compute/docs/gpus/create-vm-with-gpus" TargetMode="External"/><Relationship Id="rId25" Type="http://schemas.openxmlformats.org/officeDocument/2006/relationships/hyperlink" Target="https://cloud.google.com/compute/quotas#requesting_additional_quota" TargetMode="External"/><Relationship Id="rId33" Type="http://schemas.openxmlformats.org/officeDocument/2006/relationships/hyperlink" Target="https://cloud.google.com/compute/docs/images/restricting-image-access" TargetMode="External"/><Relationship Id="rId38" Type="http://schemas.openxmlformats.org/officeDocument/2006/relationships/hyperlink" Target="https://console.cloud.google.com/compute/instances" TargetMode="External"/><Relationship Id="rId46" Type="http://schemas.openxmlformats.org/officeDocument/2006/relationships/hyperlink" Target="https://cloud.google.com/compute/docs/images/sharing-images-across-projects" TargetMode="External"/><Relationship Id="rId59" Type="http://schemas.openxmlformats.org/officeDocument/2006/relationships/hyperlink" Target="https://cloud.google.com/compute/docs/troubleshooting/troubleshooting-vm-creati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6" name="Subtitle 2"/>
          <p:cNvSpPr txBox="1">
            <a:spLocks/>
          </p:cNvSpPr>
          <p:nvPr/>
        </p:nvSpPr>
        <p:spPr>
          <a:xfrm>
            <a:off x="1928066" y="2722292"/>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How to Create and Starting a VM Instance</a:t>
            </a:r>
          </a:p>
        </p:txBody>
      </p:sp>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25" name="Rectangle 24"/>
          <p:cNvSpPr/>
          <p:nvPr/>
        </p:nvSpPr>
        <p:spPr>
          <a:xfrm>
            <a:off x="6293303" y="4334599"/>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6959886" y="3699685"/>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7372457" y="3637385"/>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6809154" y="3771284"/>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6543056" y="3835310"/>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6959886" y="3886253"/>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6959886" y="3947933"/>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6961008" y="4203821"/>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6961008" y="4261978"/>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6960447" y="4145292"/>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6959325" y="4008043"/>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6959325" y="4056977"/>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6842644" y="4104718"/>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2864224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524" y="887174"/>
            <a:ext cx="7886700" cy="994172"/>
          </a:xfrm>
        </p:spPr>
        <p:txBody>
          <a:bodyPr>
            <a:normAutofit fontScale="90000"/>
          </a:bodyPr>
          <a:lstStyle/>
          <a:p>
            <a:r>
              <a:rPr lang="en-US" sz="2200" dirty="0" smtClean="0"/>
              <a:t>Cource_LAB_CloudAce_3_</a:t>
            </a:r>
            <a:r>
              <a:rPr lang="en-US" sz="2200" dirty="0"/>
              <a:t>How to Create and Starting a VM Instance</a:t>
            </a:r>
            <a:r>
              <a:rPr lang="en-US" dirty="0"/>
              <a:t/>
            </a:r>
            <a:br>
              <a:rPr lang="en-US" dirty="0"/>
            </a:br>
            <a:r>
              <a:rPr lang="en-US" dirty="0"/>
              <a:t/>
            </a:r>
            <a:br>
              <a:rPr lang="en-US" dirty="0"/>
            </a:br>
            <a:endParaRPr lang="en-US" dirty="0"/>
          </a:p>
        </p:txBody>
      </p:sp>
      <p:sp>
        <p:nvSpPr>
          <p:cNvPr id="3" name="Content Placeholder 2"/>
          <p:cNvSpPr>
            <a:spLocks noGrp="1"/>
          </p:cNvSpPr>
          <p:nvPr>
            <p:ph idx="1"/>
          </p:nvPr>
        </p:nvSpPr>
        <p:spPr>
          <a:xfrm>
            <a:off x="1748457" y="2259072"/>
            <a:ext cx="6256500" cy="758567"/>
          </a:xfrm>
        </p:spPr>
        <p:txBody>
          <a:bodyPr/>
          <a:lstStyle/>
          <a:p>
            <a:pPr marL="0" indent="0">
              <a:buNone/>
            </a:pPr>
            <a:r>
              <a:rPr lang="en-US" dirty="0">
                <a:solidFill>
                  <a:srgbClr val="0070C0"/>
                </a:solidFill>
              </a:rPr>
              <a:t>How to Create and Starting a VM Instance</a:t>
            </a:r>
          </a:p>
        </p:txBody>
      </p:sp>
      <p:sp>
        <p:nvSpPr>
          <p:cNvPr id="4" name="Slide Number Placeholder 3"/>
          <p:cNvSpPr>
            <a:spLocks noGrp="1"/>
          </p:cNvSpPr>
          <p:nvPr>
            <p:ph type="sldNum" sz="quarter" idx="12"/>
          </p:nvPr>
        </p:nvSpPr>
        <p:spPr/>
        <p:txBody>
          <a:bodyPr/>
          <a:lstStyle/>
          <a:p>
            <a:fld id="{6D22F896-40B5-4ADD-8801-0D06FADFA095}" type="slidenum">
              <a:rPr lang="en-US" smtClean="0"/>
              <a:t>2</a:t>
            </a:fld>
            <a:endParaRPr lang="en-US" dirty="0"/>
          </a:p>
        </p:txBody>
      </p:sp>
      <p:sp>
        <p:nvSpPr>
          <p:cNvPr id="5" name="Rectangle 1"/>
          <p:cNvSpPr>
            <a:spLocks noChangeArrowheads="1"/>
          </p:cNvSpPr>
          <p:nvPr/>
        </p:nvSpPr>
        <p:spPr bwMode="auto">
          <a:xfrm>
            <a:off x="7902291" y="0"/>
            <a:ext cx="4748567" cy="1119845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This is explains how to create a virtual machine (VM) instance by using a boot disk image, a boot disk snapshot, or a container image. Some </a:t>
            </a:r>
            <a:r>
              <a:rPr kumimoji="0" lang="en-US" altLang="en-US" sz="1500" b="0" i="0" u="sng" strike="noStrike" cap="none" normalizeH="0" baseline="0" dirty="0" smtClean="0">
                <a:ln>
                  <a:noFill/>
                </a:ln>
                <a:solidFill>
                  <a:srgbClr val="0D6EFD"/>
                </a:solidFill>
                <a:effectLst/>
                <a:latin typeface="Roboto-Idcloud"/>
                <a:hlinkClick r:id="rId3"/>
              </a:rPr>
              <a:t>images</a:t>
            </a:r>
            <a:r>
              <a:rPr kumimoji="0" lang="en-US" altLang="en-US" sz="1500" b="0" i="0" u="none" strike="noStrike" cap="none" normalizeH="0" baseline="0" dirty="0" smtClean="0">
                <a:ln>
                  <a:noFill/>
                </a:ln>
                <a:solidFill>
                  <a:srgbClr val="5A6475"/>
                </a:solidFill>
                <a:effectLst/>
                <a:latin typeface="Roboto-Idcloud"/>
              </a:rPr>
              <a:t> support </a:t>
            </a:r>
            <a:r>
              <a:rPr kumimoji="0" lang="en-US" altLang="en-US" sz="1500" b="0" i="0" u="sng" strike="noStrike" cap="none" normalizeH="0" baseline="0" dirty="0" smtClean="0">
                <a:ln>
                  <a:noFill/>
                </a:ln>
                <a:solidFill>
                  <a:srgbClr val="0D6EFD"/>
                </a:solidFill>
                <a:effectLst/>
                <a:latin typeface="Roboto-Idcloud"/>
                <a:hlinkClick r:id="rId4"/>
              </a:rPr>
              <a:t>Shielded VM</a:t>
            </a:r>
            <a:r>
              <a:rPr kumimoji="0" lang="en-US" altLang="en-US" sz="1500" b="0" i="0" u="none" strike="noStrike" cap="none" normalizeH="0" baseline="0" dirty="0" smtClean="0">
                <a:ln>
                  <a:noFill/>
                </a:ln>
                <a:solidFill>
                  <a:srgbClr val="5A6475"/>
                </a:solidFill>
                <a:effectLst/>
                <a:latin typeface="Roboto-Idcloud"/>
              </a:rPr>
              <a:t> features, which offer security features such as UEFI-compliant firmware, Secure Boot, and </a:t>
            </a:r>
            <a:r>
              <a:rPr kumimoji="0" lang="en-US" altLang="en-US" sz="1500" b="0" i="0" u="none" strike="noStrike" cap="none" normalizeH="0" baseline="0" dirty="0" err="1" smtClean="0">
                <a:ln>
                  <a:noFill/>
                </a:ln>
                <a:solidFill>
                  <a:srgbClr val="5A6475"/>
                </a:solidFill>
                <a:effectLst/>
                <a:latin typeface="Roboto-Idcloud"/>
              </a:rPr>
              <a:t>vTPM</a:t>
            </a:r>
            <a:r>
              <a:rPr kumimoji="0" lang="en-US" altLang="en-US" sz="1500" b="0" i="0" u="none" strike="noStrike" cap="none" normalizeH="0" baseline="0" dirty="0" smtClean="0">
                <a:ln>
                  <a:noFill/>
                </a:ln>
                <a:solidFill>
                  <a:srgbClr val="5A6475"/>
                </a:solidFill>
                <a:effectLst/>
                <a:latin typeface="Roboto-Idcloud"/>
              </a:rPr>
              <a:t>-protected Measured Boot. On Shielded VMs, </a:t>
            </a:r>
            <a:r>
              <a:rPr kumimoji="0" lang="en-US" altLang="en-US" sz="1500" b="0" i="0" u="sng" strike="noStrike" cap="none" normalizeH="0" baseline="0" dirty="0" err="1" smtClean="0">
                <a:ln>
                  <a:noFill/>
                </a:ln>
                <a:solidFill>
                  <a:srgbClr val="0D6EFD"/>
                </a:solidFill>
                <a:effectLst/>
                <a:latin typeface="Roboto-Idcloud"/>
                <a:hlinkClick r:id="rId5"/>
              </a:rPr>
              <a:t>vTPM</a:t>
            </a:r>
            <a:r>
              <a:rPr kumimoji="0" lang="en-US" altLang="en-US" sz="1500" b="0" i="0" u="sng" strike="noStrike" cap="none" normalizeH="0" baseline="0" dirty="0" smtClean="0">
                <a:ln>
                  <a:noFill/>
                </a:ln>
                <a:solidFill>
                  <a:srgbClr val="0D6EFD"/>
                </a:solidFill>
                <a:effectLst/>
                <a:latin typeface="Roboto-Idcloud"/>
                <a:hlinkClick r:id="rId5"/>
              </a:rPr>
              <a:t> and integrity monitoring</a:t>
            </a:r>
            <a:r>
              <a:rPr kumimoji="0" lang="en-US" altLang="en-US" sz="1500" b="0" i="0" u="none" strike="noStrike" cap="none" normalizeH="0" baseline="0" dirty="0" smtClean="0">
                <a:ln>
                  <a:noFill/>
                </a:ln>
                <a:solidFill>
                  <a:srgbClr val="5A6475"/>
                </a:solidFill>
                <a:effectLst/>
                <a:latin typeface="Roboto-Idcloud"/>
              </a:rPr>
              <a:t> are enabled by default.</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While creating your VM, you can create one or more disks for it. You can also </a:t>
            </a:r>
            <a:r>
              <a:rPr kumimoji="0" lang="en-US" altLang="en-US" sz="1500" b="0" i="0" u="sng" strike="noStrike" cap="none" normalizeH="0" baseline="0" dirty="0" smtClean="0">
                <a:ln>
                  <a:noFill/>
                </a:ln>
                <a:solidFill>
                  <a:srgbClr val="0D6EFD"/>
                </a:solidFill>
                <a:effectLst/>
                <a:latin typeface="Roboto-Idcloud"/>
                <a:hlinkClick r:id="rId6"/>
              </a:rPr>
              <a:t>add more disks</a:t>
            </a:r>
            <a:r>
              <a:rPr kumimoji="0" lang="en-US" altLang="en-US" sz="1500" b="0" i="0" u="none" strike="noStrike" cap="none" normalizeH="0" baseline="0" dirty="0" smtClean="0">
                <a:ln>
                  <a:noFill/>
                </a:ln>
                <a:solidFill>
                  <a:srgbClr val="5A6475"/>
                </a:solidFill>
                <a:effectLst/>
                <a:latin typeface="Roboto-Idcloud"/>
              </a:rPr>
              <a:t> to the VM after it's created. Compute Engine automatically starts the VM instance after you create it.</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While creating a VM, you can also </a:t>
            </a:r>
            <a:r>
              <a:rPr kumimoji="0" lang="en-US" altLang="en-US" sz="1500" b="0" i="0" u="sng" strike="noStrike" cap="none" normalizeH="0" baseline="0" dirty="0" smtClean="0">
                <a:ln>
                  <a:noFill/>
                </a:ln>
                <a:solidFill>
                  <a:srgbClr val="0D6EFD"/>
                </a:solidFill>
                <a:effectLst/>
                <a:latin typeface="Roboto-Idcloud"/>
                <a:hlinkClick r:id="rId7"/>
              </a:rPr>
              <a:t>add multiple network interfaces</a:t>
            </a:r>
            <a:r>
              <a:rPr kumimoji="0" lang="en-US" altLang="en-US" sz="1500" b="0" i="0" u="none" strike="noStrike" cap="none" normalizeH="0" baseline="0" dirty="0" smtClean="0">
                <a:ln>
                  <a:noFill/>
                </a:ln>
                <a:solidFill>
                  <a:srgbClr val="5A6475"/>
                </a:solidFill>
                <a:effectLst/>
                <a:latin typeface="Roboto-Idcloud"/>
              </a:rPr>
              <a:t>. To mitigate your VM's exposure to threats on the internet, you can omit the external IP address when you add a network interface to the instance. In such cases, the VM is accessible only from other VMs in the same VPC network or a linked network unless you configure </a:t>
            </a:r>
            <a:r>
              <a:rPr kumimoji="0" lang="en-US" altLang="en-US" sz="1500" b="0" i="0" u="sng" strike="noStrike" cap="none" normalizeH="0" baseline="0" dirty="0" smtClean="0">
                <a:ln>
                  <a:noFill/>
                </a:ln>
                <a:solidFill>
                  <a:srgbClr val="0D6EFD"/>
                </a:solidFill>
                <a:effectLst/>
                <a:latin typeface="Roboto-Idcloud"/>
                <a:hlinkClick r:id="rId8"/>
              </a:rPr>
              <a:t>Cloud NAT</a:t>
            </a:r>
            <a:r>
              <a:rPr kumimoji="0" lang="en-US" altLang="en-US" sz="1500" b="0" i="0" u="none" strike="noStrike" cap="none" normalizeH="0" baseline="0" dirty="0" smtClean="0">
                <a:ln>
                  <a:noFill/>
                </a:ln>
                <a:solidFill>
                  <a:srgbClr val="5A6475"/>
                </a:solidFill>
                <a:effectLst/>
                <a:latin typeface="Roboto-Idcloud"/>
              </a:rPr>
              <a:t>.</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For more specific or complicated VM creation, see the following resources:</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9"/>
              </a:rPr>
              <a:t>Creating Windows Server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0"/>
              </a:rPr>
              <a:t>Creating SQL Server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1"/>
              </a:rPr>
              <a:t>Creating instances on sole-tenant nodes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2"/>
              </a:rPr>
              <a:t>Creating a VM instance with a custom hostname</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3"/>
              </a:rPr>
              <a:t>Reserving instances</a:t>
            </a:r>
            <a:r>
              <a:rPr kumimoji="0" lang="en-US" altLang="en-US" sz="1500" b="0" i="0" u="none" strike="noStrike" cap="none" normalizeH="0" baseline="0" dirty="0" smtClean="0">
                <a:ln>
                  <a:noFill/>
                </a:ln>
                <a:solidFill>
                  <a:srgbClr val="5A6475"/>
                </a:solidFill>
                <a:effectLst/>
                <a:latin typeface="Roboto-Idcloud"/>
              </a:rPr>
              <a:t> and </a:t>
            </a:r>
            <a:r>
              <a:rPr kumimoji="0" lang="en-US" altLang="en-US" sz="1500" b="0" i="0" u="sng" strike="noStrike" cap="none" normalizeH="0" baseline="0" dirty="0" smtClean="0">
                <a:ln>
                  <a:noFill/>
                </a:ln>
                <a:solidFill>
                  <a:srgbClr val="0D6EFD"/>
                </a:solidFill>
                <a:effectLst/>
                <a:latin typeface="Roboto-Idcloud"/>
                <a:hlinkClick r:id="rId14"/>
              </a:rPr>
              <a:t>consuming reserved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5"/>
              </a:rPr>
              <a:t>Creating VM instances that use the </a:t>
            </a:r>
            <a:r>
              <a:rPr kumimoji="0" lang="en-US" altLang="en-US" sz="1500" b="0" i="0" u="sng" strike="noStrike" cap="none" normalizeH="0" baseline="0" dirty="0" err="1" smtClean="0">
                <a:ln>
                  <a:noFill/>
                </a:ln>
                <a:solidFill>
                  <a:srgbClr val="0D6EFD"/>
                </a:solidFill>
                <a:effectLst/>
                <a:latin typeface="Roboto-Idcloud"/>
                <a:hlinkClick r:id="rId15"/>
              </a:rPr>
              <a:t>gVNIC</a:t>
            </a:r>
            <a:r>
              <a:rPr kumimoji="0" lang="en-US" altLang="en-US" sz="1500" b="0" i="0" u="sng" strike="noStrike" cap="none" normalizeH="0" baseline="0" dirty="0" smtClean="0">
                <a:ln>
                  <a:noFill/>
                </a:ln>
                <a:solidFill>
                  <a:srgbClr val="0D6EFD"/>
                </a:solidFill>
                <a:effectLst/>
                <a:latin typeface="Roboto-Idcloud"/>
                <a:hlinkClick r:id="rId15"/>
              </a:rPr>
              <a:t> network interface</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6"/>
              </a:rPr>
              <a:t>Configuring a VM instance with higher bandwidth</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7"/>
              </a:rPr>
              <a:t>Creating a VM instance with attached GPUs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8"/>
              </a:rPr>
              <a:t>Creating a VM instance with a high-performance computing (HPC) image</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19"/>
              </a:rPr>
              <a:t>Using the bulk instance API</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20"/>
              </a:rPr>
              <a:t>Creating a VM instance with an attached instance schedule</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If you are bringing an existing license, see </a:t>
            </a:r>
            <a:r>
              <a:rPr kumimoji="0" lang="en-US" altLang="en-US" sz="1500" b="0" i="0" u="sng" strike="noStrike" cap="none" normalizeH="0" baseline="0" dirty="0" smtClean="0">
                <a:ln>
                  <a:noFill/>
                </a:ln>
                <a:solidFill>
                  <a:srgbClr val="0D6EFD"/>
                </a:solidFill>
                <a:effectLst/>
                <a:latin typeface="Roboto-Idcloud"/>
                <a:hlinkClick r:id="rId21"/>
              </a:rPr>
              <a:t>Bringing your own license with sole-tenant nodes</a:t>
            </a:r>
            <a:r>
              <a:rPr kumimoji="0" lang="en-US" altLang="en-US" sz="1500" b="0" i="0" u="none" strike="noStrike" cap="none" normalizeH="0" baseline="0" dirty="0" smtClean="0">
                <a:ln>
                  <a:noFill/>
                </a:ln>
                <a:solidFill>
                  <a:srgbClr val="5A6475"/>
                </a:solidFill>
                <a:effectLst/>
                <a:latin typeface="Roboto-Idcloud"/>
              </a:rPr>
              <a:t>.</a:t>
            </a: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Before you begin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If you want to use the command-line examples in this guide,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Install or update to the latest version of the </a:t>
            </a:r>
            <a:r>
              <a:rPr kumimoji="0" lang="en-US" altLang="en-US" sz="1500" b="0" i="0" u="sng" strike="noStrike" cap="none" normalizeH="0" baseline="0" dirty="0" err="1" smtClean="0">
                <a:ln>
                  <a:noFill/>
                </a:ln>
                <a:solidFill>
                  <a:srgbClr val="0D6EFD"/>
                </a:solidFill>
                <a:effectLst/>
                <a:latin typeface="Roboto-Idcloud"/>
                <a:hlinkClick r:id="rId22"/>
              </a:rPr>
              <a:t>gcloud</a:t>
            </a:r>
            <a:r>
              <a:rPr kumimoji="0" lang="en-US" altLang="en-US" sz="1500" b="0" i="0" u="sng" strike="noStrike" cap="none" normalizeH="0" baseline="0" dirty="0" smtClean="0">
                <a:ln>
                  <a:noFill/>
                </a:ln>
                <a:solidFill>
                  <a:srgbClr val="0D6EFD"/>
                </a:solidFill>
                <a:effectLst/>
                <a:latin typeface="Roboto-Idcloud"/>
                <a:hlinkClick r:id="rId22"/>
              </a:rPr>
              <a:t> command-line tool</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sng" strike="noStrike" cap="none" normalizeH="0" baseline="0" dirty="0" smtClean="0">
                <a:ln>
                  <a:noFill/>
                </a:ln>
                <a:solidFill>
                  <a:srgbClr val="0D6EFD"/>
                </a:solidFill>
                <a:effectLst/>
                <a:latin typeface="Roboto-Idcloud"/>
                <a:hlinkClick r:id="rId23"/>
              </a:rPr>
              <a:t>Set a default region and zone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If you want to use the API examples in this guide, </a:t>
            </a:r>
            <a:r>
              <a:rPr kumimoji="0" lang="en-US" altLang="en-US" sz="1500" b="0" i="0" u="sng" strike="noStrike" cap="none" normalizeH="0" baseline="0" dirty="0" smtClean="0">
                <a:ln>
                  <a:noFill/>
                </a:ln>
                <a:solidFill>
                  <a:srgbClr val="0D6EFD"/>
                </a:solidFill>
                <a:effectLst/>
                <a:latin typeface="Roboto-Idcloud"/>
                <a:hlinkClick r:id="rId24"/>
              </a:rPr>
              <a:t>set up API access</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When creating VMs from images or disks by using the </a:t>
            </a:r>
            <a:r>
              <a:rPr kumimoji="0" lang="en-US" altLang="en-US" b="0" i="0" u="none" strike="noStrike" cap="none" normalizeH="0" baseline="0" dirty="0" err="1" smtClean="0">
                <a:ln>
                  <a:noFill/>
                </a:ln>
                <a:solidFill>
                  <a:srgbClr val="D63384"/>
                </a:solidFill>
                <a:effectLst/>
                <a:latin typeface="SFMono-Regular"/>
              </a:rPr>
              <a:t>gcloud</a:t>
            </a:r>
            <a:r>
              <a:rPr kumimoji="0" lang="en-US" altLang="en-US" sz="1500" b="0" i="0" u="none" strike="noStrike" cap="none" normalizeH="0" baseline="0" dirty="0" smtClean="0">
                <a:ln>
                  <a:noFill/>
                </a:ln>
                <a:solidFill>
                  <a:srgbClr val="5A6475"/>
                </a:solidFill>
                <a:effectLst/>
                <a:latin typeface="Roboto-Idcloud"/>
              </a:rPr>
              <a:t> command-line tool or the Compute Engine API, there's a limit of 20 VM instances per second. If you need to create a higher number of VMs per second, </a:t>
            </a:r>
            <a:r>
              <a:rPr kumimoji="0" lang="en-US" altLang="en-US" sz="1500" b="0" i="0" u="sng" strike="noStrike" cap="none" normalizeH="0" baseline="0" dirty="0" smtClean="0">
                <a:ln>
                  <a:noFill/>
                </a:ln>
                <a:solidFill>
                  <a:srgbClr val="0D6EFD"/>
                </a:solidFill>
                <a:effectLst/>
                <a:latin typeface="Roboto-Idcloud"/>
                <a:hlinkClick r:id="rId25"/>
              </a:rPr>
              <a:t>request a higher quota limit</a:t>
            </a:r>
            <a:r>
              <a:rPr kumimoji="0" lang="en-US" altLang="en-US" sz="1500" b="0" i="0" u="none" strike="noStrike" cap="none" normalizeH="0" baseline="0" dirty="0" smtClean="0">
                <a:ln>
                  <a:noFill/>
                </a:ln>
                <a:solidFill>
                  <a:srgbClr val="5A6475"/>
                </a:solidFill>
                <a:effectLst/>
                <a:latin typeface="Roboto-Idcloud"/>
              </a:rPr>
              <a:t> for the </a:t>
            </a:r>
            <a:r>
              <a:rPr kumimoji="0" lang="en-US" altLang="en-US" sz="1500" b="1" i="0" u="none" strike="noStrike" cap="none" normalizeH="0" baseline="0" dirty="0" smtClean="0">
                <a:ln>
                  <a:noFill/>
                </a:ln>
                <a:solidFill>
                  <a:srgbClr val="5A6475"/>
                </a:solidFill>
                <a:effectLst/>
                <a:latin typeface="Roboto-Idcloud"/>
              </a:rPr>
              <a:t>Images</a:t>
            </a:r>
            <a:r>
              <a:rPr kumimoji="0" lang="en-US" altLang="en-US" sz="1500" b="0" i="0" u="none" strike="noStrike" cap="none" normalizeH="0" baseline="0" dirty="0" smtClean="0">
                <a:ln>
                  <a:noFill/>
                </a:ln>
                <a:solidFill>
                  <a:srgbClr val="5A6475"/>
                </a:solidFill>
                <a:effectLst/>
                <a:latin typeface="Roboto-Idcloud"/>
              </a:rPr>
              <a:t> resource.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Create a VM instance from an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This section explains how to create a VM from a </a:t>
            </a:r>
            <a:r>
              <a:rPr kumimoji="0" lang="en-US" altLang="en-US" sz="1500" b="0" i="0" u="sng" strike="noStrike" cap="none" normalizeH="0" baseline="0" dirty="0" smtClean="0">
                <a:ln>
                  <a:noFill/>
                </a:ln>
                <a:solidFill>
                  <a:srgbClr val="0D6EFD"/>
                </a:solidFill>
                <a:effectLst/>
                <a:latin typeface="Roboto-Idcloud"/>
                <a:hlinkClick r:id="rId3"/>
              </a:rPr>
              <a:t>public OS image</a:t>
            </a:r>
            <a:r>
              <a:rPr kumimoji="0" lang="en-US" altLang="en-US" sz="1500" b="0" i="0" u="none" strike="noStrike" cap="none" normalizeH="0" baseline="0" dirty="0" smtClean="0">
                <a:ln>
                  <a:noFill/>
                </a:ln>
                <a:solidFill>
                  <a:srgbClr val="5A6475"/>
                </a:solidFill>
                <a:effectLst/>
                <a:latin typeface="Roboto-Idcloud"/>
              </a:rPr>
              <a:t> or a </a:t>
            </a:r>
            <a:r>
              <a:rPr kumimoji="0" lang="en-US" altLang="en-US" sz="1500" b="0" i="0" u="sng" strike="noStrike" cap="none" normalizeH="0" baseline="0" dirty="0" smtClean="0">
                <a:ln>
                  <a:noFill/>
                </a:ln>
                <a:solidFill>
                  <a:srgbClr val="0D6EFD"/>
                </a:solidFill>
                <a:effectLst/>
                <a:latin typeface="Roboto-Idcloud"/>
                <a:hlinkClick r:id="rId26"/>
              </a:rPr>
              <a:t>custom image</a:t>
            </a:r>
            <a:r>
              <a:rPr kumimoji="0" lang="en-US" altLang="en-US" sz="1500" b="0" i="0" u="none" strike="noStrike" cap="none" normalizeH="0" baseline="0" dirty="0" smtClean="0">
                <a:ln>
                  <a:noFill/>
                </a:ln>
                <a:solidFill>
                  <a:srgbClr val="5A6475"/>
                </a:solidFill>
                <a:effectLst/>
                <a:latin typeface="Roboto-Idcloud"/>
              </a:rPr>
              <a:t>. A VM contains a bootloader, a boot file system, and an OS image.</a:t>
            </a: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View a list of public images available on Compute Engine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Before you create a VM by using a public image, review the list of public images that are available on Compute Engine.</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For more information about the features available with each public image, see </a:t>
            </a:r>
            <a:r>
              <a:rPr kumimoji="0" lang="en-US" altLang="en-US" sz="1500" b="0" i="0" u="sng" strike="noStrike" cap="none" normalizeH="0" baseline="0" dirty="0" smtClean="0">
                <a:ln>
                  <a:noFill/>
                </a:ln>
                <a:solidFill>
                  <a:srgbClr val="0D6EFD"/>
                </a:solidFill>
                <a:effectLst/>
                <a:latin typeface="Roboto-Idcloud"/>
                <a:hlinkClick r:id="rId27"/>
              </a:rPr>
              <a:t>Feature support by operating </a:t>
            </a:r>
            <a:r>
              <a:rPr kumimoji="0" lang="en-US" altLang="en-US" sz="1500" b="0" i="0" u="sng" strike="noStrike" cap="none" normalizeH="0" baseline="0" dirty="0" err="1" smtClean="0">
                <a:ln>
                  <a:noFill/>
                </a:ln>
                <a:solidFill>
                  <a:srgbClr val="0D6EFD"/>
                </a:solidFill>
                <a:effectLst/>
                <a:latin typeface="Roboto-Idcloud"/>
                <a:hlinkClick r:id="rId27"/>
              </a:rPr>
              <a:t>system</a:t>
            </a:r>
            <a:r>
              <a:rPr kumimoji="0" lang="en-US" altLang="en-US" sz="1500" b="0" i="0" u="none" strike="noStrike" cap="none" normalizeH="0" baseline="0" dirty="0" err="1" smtClean="0">
                <a:ln>
                  <a:noFill/>
                </a:ln>
                <a:solidFill>
                  <a:srgbClr val="5A6475"/>
                </a:solidFill>
                <a:effectLst/>
                <a:latin typeface="Roboto-Idcloud"/>
              </a:rPr>
              <a:t>.</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Images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1"/>
              </a:rPr>
              <a:t>Go</a:t>
            </a:r>
            <a:r>
              <a:rPr kumimoji="0" lang="en-US" altLang="en-US" sz="1500" b="0" i="0" u="sng" strike="noStrike" cap="none" normalizeH="0" baseline="0" dirty="0" smtClean="0">
                <a:ln>
                  <a:noFill/>
                </a:ln>
                <a:solidFill>
                  <a:srgbClr val="0D6EFD"/>
                </a:solidFill>
                <a:effectLst/>
                <a:latin typeface="Roboto-Idcloud"/>
                <a:hlinkClick r:id="rId31"/>
              </a:rPr>
              <a:t> to Images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Create a VM instance from a public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Google, open source communities, and third-party vendors provide and maintain </a:t>
            </a:r>
            <a:r>
              <a:rPr kumimoji="0" lang="en-US" altLang="en-US" sz="1500" b="0" i="0" u="sng" strike="noStrike" cap="none" normalizeH="0" baseline="0" dirty="0" smtClean="0">
                <a:ln>
                  <a:noFill/>
                </a:ln>
                <a:solidFill>
                  <a:srgbClr val="0D6EFD"/>
                </a:solidFill>
                <a:effectLst/>
                <a:latin typeface="Roboto-Idcloud"/>
                <a:hlinkClick r:id="rId32"/>
              </a:rPr>
              <a:t>public OS images</a:t>
            </a:r>
            <a:r>
              <a:rPr kumimoji="0" lang="en-US" altLang="en-US" sz="1500" b="0" i="0" u="none" strike="noStrike" cap="none" normalizeH="0" baseline="0" dirty="0" smtClean="0">
                <a:ln>
                  <a:noFill/>
                </a:ln>
                <a:solidFill>
                  <a:srgbClr val="5A6475"/>
                </a:solidFill>
                <a:effectLst/>
                <a:latin typeface="Roboto-Idcloud"/>
              </a:rPr>
              <a:t>. By default, all Google Cloud projects can create VMs from public OS images. However, if your Cloud project has a defined list of </a:t>
            </a:r>
            <a:r>
              <a:rPr kumimoji="0" lang="en-US" altLang="en-US" sz="1500" b="0" i="0" u="sng" strike="noStrike" cap="none" normalizeH="0" baseline="0" dirty="0" smtClean="0">
                <a:ln>
                  <a:noFill/>
                </a:ln>
                <a:solidFill>
                  <a:srgbClr val="0D6EFD"/>
                </a:solidFill>
                <a:effectLst/>
                <a:latin typeface="Roboto-Idcloud"/>
                <a:hlinkClick r:id="rId33"/>
              </a:rPr>
              <a:t>trusted images</a:t>
            </a:r>
            <a:r>
              <a:rPr kumimoji="0" lang="en-US" altLang="en-US" sz="1500" b="0" i="0" u="none" strike="noStrike" cap="none" normalizeH="0" baseline="0" dirty="0" smtClean="0">
                <a:ln>
                  <a:noFill/>
                </a:ln>
                <a:solidFill>
                  <a:srgbClr val="5A6475"/>
                </a:solidFill>
                <a:effectLst/>
                <a:latin typeface="Roboto-Idcloud"/>
              </a:rPr>
              <a:t>, you can use only the images on that list to create a VM.</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If you create a </a:t>
            </a:r>
            <a:r>
              <a:rPr kumimoji="0" lang="en-US" altLang="en-US" sz="1500" b="0" i="0" u="sng" strike="noStrike" cap="none" normalizeH="0" baseline="0" dirty="0" smtClean="0">
                <a:ln>
                  <a:noFill/>
                </a:ln>
                <a:solidFill>
                  <a:srgbClr val="0D6EFD"/>
                </a:solidFill>
                <a:effectLst/>
                <a:latin typeface="Roboto-Idcloud"/>
                <a:hlinkClick r:id="rId4"/>
              </a:rPr>
              <a:t>Shielded VM</a:t>
            </a:r>
            <a:r>
              <a:rPr kumimoji="0" lang="en-US" altLang="en-US" sz="1500" b="0" i="0" u="none" strike="noStrike" cap="none" normalizeH="0" baseline="0" dirty="0" smtClean="0">
                <a:ln>
                  <a:noFill/>
                </a:ln>
                <a:solidFill>
                  <a:srgbClr val="5A6475"/>
                </a:solidFill>
                <a:effectLst/>
                <a:latin typeface="Roboto-Idcloud"/>
              </a:rPr>
              <a:t> image with a </a:t>
            </a:r>
            <a:r>
              <a:rPr kumimoji="0" lang="en-US" altLang="en-US" sz="1500" b="0" i="0" u="sng" strike="noStrike" cap="none" normalizeH="0" baseline="0" dirty="0" smtClean="0">
                <a:ln>
                  <a:noFill/>
                </a:ln>
                <a:solidFill>
                  <a:srgbClr val="0D6EFD"/>
                </a:solidFill>
                <a:effectLst/>
                <a:latin typeface="Roboto-Idcloud"/>
                <a:hlinkClick r:id="rId34"/>
              </a:rPr>
              <a:t>local SSD</a:t>
            </a:r>
            <a:r>
              <a:rPr kumimoji="0" lang="en-US" altLang="en-US" sz="1500" b="0" i="0" u="none" strike="noStrike" cap="none" normalizeH="0" baseline="0" dirty="0" smtClean="0">
                <a:ln>
                  <a:noFill/>
                </a:ln>
                <a:solidFill>
                  <a:srgbClr val="5A6475"/>
                </a:solidFill>
                <a:effectLst/>
                <a:latin typeface="Roboto-Idcloud"/>
              </a:rPr>
              <a:t>, you can't shield data with </a:t>
            </a:r>
            <a:r>
              <a:rPr kumimoji="0" lang="en-US" altLang="en-US" sz="1500" b="0" i="0" u="sng" strike="noStrike" cap="none" normalizeH="0" baseline="0" dirty="0" smtClean="0">
                <a:ln>
                  <a:noFill/>
                </a:ln>
                <a:solidFill>
                  <a:srgbClr val="0D6EFD"/>
                </a:solidFill>
                <a:effectLst/>
                <a:latin typeface="Roboto-Idcloud"/>
                <a:hlinkClick r:id="rId35"/>
              </a:rPr>
              <a:t>integrity monitoring</a:t>
            </a:r>
            <a:r>
              <a:rPr kumimoji="0" lang="en-US" altLang="en-US" sz="1500" b="0" i="0" u="none" strike="noStrike" cap="none" normalizeH="0" baseline="0" dirty="0" smtClean="0">
                <a:ln>
                  <a:noFill/>
                </a:ln>
                <a:solidFill>
                  <a:srgbClr val="5A6475"/>
                </a:solidFill>
                <a:effectLst/>
                <a:latin typeface="Roboto-Idcloud"/>
              </a:rPr>
              <a:t> or the </a:t>
            </a:r>
            <a:r>
              <a:rPr kumimoji="0" lang="en-US" altLang="en-US" sz="1500" b="0" i="0" u="sng" strike="noStrike" cap="none" normalizeH="0" baseline="0" dirty="0" smtClean="0">
                <a:ln>
                  <a:noFill/>
                </a:ln>
                <a:solidFill>
                  <a:srgbClr val="0D6EFD"/>
                </a:solidFill>
                <a:effectLst/>
                <a:latin typeface="Roboto-Idcloud"/>
                <a:hlinkClick r:id="rId36"/>
              </a:rPr>
              <a:t>virtual platform trusted module (</a:t>
            </a:r>
            <a:r>
              <a:rPr kumimoji="0" lang="en-US" altLang="en-US" sz="1500" b="0" i="0" u="sng" strike="noStrike" cap="none" normalizeH="0" baseline="0" dirty="0" err="1" smtClean="0">
                <a:ln>
                  <a:noFill/>
                </a:ln>
                <a:solidFill>
                  <a:srgbClr val="0D6EFD"/>
                </a:solidFill>
                <a:effectLst/>
                <a:latin typeface="Roboto-Idcloud"/>
                <a:hlinkClick r:id="rId36"/>
              </a:rPr>
              <a:t>vTPM</a:t>
            </a:r>
            <a:r>
              <a:rPr kumimoji="0" lang="en-US" altLang="en-US" sz="1500" b="0" i="0" u="sng" strike="noStrike" cap="none" normalizeH="0" baseline="0" dirty="0" smtClean="0">
                <a:ln>
                  <a:noFill/>
                </a:ln>
                <a:solidFill>
                  <a:srgbClr val="0D6EFD"/>
                </a:solidFill>
                <a:effectLst/>
                <a:latin typeface="Roboto-Idcloud"/>
                <a:hlinkClick r:id="rId36"/>
              </a:rPr>
              <a:t>)</a:t>
            </a:r>
            <a:r>
              <a:rPr kumimoji="0" lang="en-US" altLang="en-US" sz="1500" b="0" i="0" u="none" strike="noStrike" cap="none" normalizeH="0" baseline="0" dirty="0" smtClean="0">
                <a:ln>
                  <a:noFill/>
                </a:ln>
                <a:solidFill>
                  <a:srgbClr val="5A6475"/>
                </a:solidFill>
                <a:effectLst/>
                <a:latin typeface="Roboto-Idcloud"/>
              </a:rPr>
              <a:t>.Permissions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r>
              <a:rPr kumimoji="0" lang="en-US" altLang="en-US" sz="1500" b="0" i="0" u="sng" strike="noStrike" cap="none" normalizeH="0" baseline="0" dirty="0" err="1" smtClean="0">
                <a:ln>
                  <a:noFill/>
                </a:ln>
                <a:solidFill>
                  <a:srgbClr val="0D6EFD"/>
                </a:solidFill>
                <a:effectLst/>
                <a:latin typeface="Roboto-Idcloud"/>
                <a:hlinkClick r:id="rId37"/>
              </a:rPr>
              <a:t>Python</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configuration</a:t>
            </a:r>
            <a:r>
              <a:rPr kumimoji="0" lang="en-US" altLang="en-US" sz="1500" b="0" i="0" u="none" strike="noStrike" cap="none" normalizeH="0" baseline="0" dirty="0" smtClean="0">
                <a:ln>
                  <a:noFill/>
                </a:ln>
                <a:solidFill>
                  <a:srgbClr val="5A6475"/>
                </a:solidFill>
                <a:effectLst/>
                <a:latin typeface="Roboto-Idcloud"/>
              </a:rPr>
              <a:t> for your VM.</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Boot disk</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Change</a:t>
            </a:r>
            <a:r>
              <a:rPr kumimoji="0" lang="en-US" altLang="en-US" sz="1500" b="0" i="0" u="none" strike="noStrike" cap="none" normalizeH="0" baseline="0" dirty="0" smtClean="0">
                <a:ln>
                  <a:noFill/>
                </a:ln>
                <a:solidFill>
                  <a:srgbClr val="5A6475"/>
                </a:solidFill>
                <a:effectLst/>
                <a:latin typeface="Roboto-Idcloud"/>
              </a:rPr>
              <a:t>,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On the </a:t>
            </a:r>
            <a:r>
              <a:rPr kumimoji="0" lang="en-US" altLang="en-US" sz="1500" b="1" i="0" u="none" strike="noStrike" cap="none" normalizeH="0" baseline="0" dirty="0" smtClean="0">
                <a:ln>
                  <a:noFill/>
                </a:ln>
                <a:solidFill>
                  <a:srgbClr val="5A6475"/>
                </a:solidFill>
                <a:effectLst/>
                <a:latin typeface="Roboto-Idcloud"/>
              </a:rPr>
              <a:t>Public images</a:t>
            </a:r>
            <a:r>
              <a:rPr kumimoji="0" lang="en-US" altLang="en-US" sz="1500" b="0" i="0" u="none" strike="noStrike" cap="none" normalizeH="0" baseline="0" dirty="0" smtClean="0">
                <a:ln>
                  <a:noFill/>
                </a:ln>
                <a:solidFill>
                  <a:srgbClr val="5A6475"/>
                </a:solidFill>
                <a:effectLst/>
                <a:latin typeface="Roboto-Idcloud"/>
              </a:rPr>
              <a:t> tab, choose the following: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Operating system</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OS version</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Boot disk type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Boot disk size</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Optional: For advanced configuration options, click </a:t>
            </a:r>
            <a:r>
              <a:rPr kumimoji="0" lang="en-US" altLang="en-US" sz="1500" b="1" i="0" u="none" strike="noStrike" cap="none" normalizeH="0" baseline="0" dirty="0" smtClean="0">
                <a:ln>
                  <a:noFill/>
                </a:ln>
                <a:solidFill>
                  <a:srgbClr val="5A6475"/>
                </a:solidFill>
                <a:effectLst/>
                <a:latin typeface="Roboto-Idcloud"/>
              </a:rPr>
              <a:t>Show advanced configuration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To confirm your boot disk options, click </a:t>
            </a:r>
            <a:r>
              <a:rPr kumimoji="0" lang="en-US" altLang="en-US" sz="1500" b="1" i="0" u="none" strike="noStrike" cap="none" normalizeH="0" baseline="0" dirty="0" smtClean="0">
                <a:ln>
                  <a:noFill/>
                </a:ln>
                <a:solidFill>
                  <a:srgbClr val="5A6475"/>
                </a:solidFill>
                <a:effectLst/>
                <a:latin typeface="Roboto-Idcloud"/>
              </a:rPr>
              <a:t>Select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5A6475"/>
                </a:solidFill>
                <a:effectLst/>
                <a:latin typeface="Roboto-Idcloud"/>
              </a:rPr>
              <a:t>Note:</a:t>
            </a:r>
            <a:r>
              <a:rPr kumimoji="0" lang="en-US" altLang="en-US" sz="1500" b="0" i="0" u="none" strike="noStrike" cap="none" normalizeH="0" baseline="0" dirty="0" smtClean="0">
                <a:ln>
                  <a:noFill/>
                </a:ln>
                <a:solidFill>
                  <a:srgbClr val="5A6475"/>
                </a:solidFill>
                <a:effectLst/>
                <a:latin typeface="Roboto-Idcloud"/>
              </a:rPr>
              <a:t> Unless you explicitly choose a different boot disk, if the name of the new VM matches the name of an existing persistent disk, then the existing persistent disk automatically attaches to the new VM as the boot disk.</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to permit HTTP or HTTPS traffic to the VM,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traffic</a:t>
            </a:r>
            <a:r>
              <a:rPr kumimoji="0" lang="en-US" altLang="en-US" sz="1500" b="0" i="0" u="none" strike="noStrike" cap="none" normalizeH="0" baseline="0" dirty="0" smtClean="0">
                <a:ln>
                  <a:noFill/>
                </a:ln>
                <a:solidFill>
                  <a:srgbClr val="5A6475"/>
                </a:solidFill>
                <a:effectLst/>
                <a:latin typeface="Roboto-Idcloud"/>
              </a:rPr>
              <a:t>. When you select one of these, Compute Engine adds a network tag to your VM, which associates the firewall rule with the VM. Then, Compute Engine creates the corresponding ingress </a:t>
            </a:r>
            <a:r>
              <a:rPr kumimoji="0" lang="en-US" altLang="en-US" sz="1500" b="0" i="0" u="sng" strike="noStrike" cap="none" normalizeH="0" baseline="0" dirty="0" smtClean="0">
                <a:ln>
                  <a:noFill/>
                </a:ln>
                <a:solidFill>
                  <a:srgbClr val="0D6EFD"/>
                </a:solidFill>
                <a:effectLst/>
                <a:latin typeface="Roboto-Idcloud"/>
                <a:hlinkClick r:id="rId40"/>
              </a:rPr>
              <a:t>firewall rule</a:t>
            </a:r>
            <a:r>
              <a:rPr kumimoji="0" lang="en-US" altLang="en-US" sz="1500" b="0" i="0" u="none" strike="noStrike" cap="none" normalizeH="0" baseline="0" dirty="0" smtClean="0">
                <a:ln>
                  <a:noFill/>
                </a:ln>
                <a:solidFill>
                  <a:srgbClr val="5A6475"/>
                </a:solidFill>
                <a:effectLst/>
                <a:latin typeface="Roboto-Idcloud"/>
              </a:rPr>
              <a:t>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500" b="0" i="0" u="none" strike="noStrike" cap="none" normalizeH="0" baseline="0" dirty="0" smtClean="0">
                <a:ln>
                  <a:noFill/>
                </a:ln>
                <a:solidFill>
                  <a:srgbClr val="5A6475"/>
                </a:solidFill>
                <a:effectLst/>
                <a:latin typeface="Roboto-Idcloud"/>
              </a:rPr>
              <a:t>Optional: If you chose an OS image that supports Shielded VM features, you can modify the </a:t>
            </a:r>
            <a:r>
              <a:rPr kumimoji="0" lang="en-US" altLang="en-US" sz="1500" b="0" i="0" u="sng" strike="noStrike" cap="none" normalizeH="0" baseline="0" dirty="0" smtClean="0">
                <a:ln>
                  <a:noFill/>
                </a:ln>
                <a:solidFill>
                  <a:srgbClr val="0D6EFD"/>
                </a:solidFill>
                <a:effectLst/>
                <a:latin typeface="Roboto-Idcloud"/>
                <a:hlinkClick r:id="rId4"/>
              </a:rPr>
              <a:t>Shielded VM</a:t>
            </a:r>
            <a:r>
              <a:rPr kumimoji="0" lang="en-US" altLang="en-US" sz="1500" b="0" i="0" u="none" strike="noStrike" cap="none" normalizeH="0" baseline="0" dirty="0" smtClean="0">
                <a:ln>
                  <a:noFill/>
                </a:ln>
                <a:solidFill>
                  <a:srgbClr val="5A6475"/>
                </a:solidFill>
                <a:effectLst/>
                <a:latin typeface="Roboto-Idcloud"/>
              </a:rPr>
              <a:t> settings. To modify shielded VM settings, expand the </a:t>
            </a:r>
            <a:r>
              <a:rPr kumimoji="0" lang="en-US" altLang="en-US" sz="1500" b="1" i="0" u="none" strike="noStrike" cap="none" normalizeH="0" baseline="0" dirty="0" smtClean="0">
                <a:ln>
                  <a:noFill/>
                </a:ln>
                <a:solidFill>
                  <a:srgbClr val="5A6475"/>
                </a:solidFill>
                <a:effectLst/>
                <a:latin typeface="Roboto-Idcloud"/>
              </a:rPr>
              <a:t>Security</a:t>
            </a:r>
            <a:r>
              <a:rPr kumimoji="0" lang="en-US" altLang="en-US" sz="1500" b="0" i="0" u="none" strike="noStrike" cap="none" normalizeH="0" baseline="0" dirty="0" smtClean="0">
                <a:ln>
                  <a:noFill/>
                </a:ln>
                <a:solidFill>
                  <a:srgbClr val="5A6475"/>
                </a:solidFill>
                <a:effectLst/>
                <a:latin typeface="Roboto-Idcloud"/>
              </a:rPr>
              <a:t> section in the </a:t>
            </a:r>
            <a:r>
              <a:rPr kumimoji="0" lang="en-US" altLang="en-US" sz="1500" b="1" i="0" u="none" strike="noStrike" cap="none" normalizeH="0" baseline="0" dirty="0" smtClean="0">
                <a:ln>
                  <a:noFill/>
                </a:ln>
                <a:solidFill>
                  <a:srgbClr val="5A6475"/>
                </a:solidFill>
                <a:effectLst/>
                <a:latin typeface="Roboto-Idcloud"/>
              </a:rPr>
              <a:t>Networking, disks, security, management, sole tenancy</a:t>
            </a:r>
            <a:r>
              <a:rPr kumimoji="0" lang="en-US" altLang="en-US" sz="1500" b="0" i="0" u="none" strike="noStrike" cap="none" normalizeH="0" baseline="0" dirty="0" smtClean="0">
                <a:ln>
                  <a:noFill/>
                </a:ln>
                <a:solidFill>
                  <a:srgbClr val="5A6475"/>
                </a:solidFill>
                <a:effectLst/>
                <a:latin typeface="Roboto-Idcloud"/>
              </a:rPr>
              <a:t> section and do the following, as required: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To turn on </a:t>
            </a:r>
            <a:r>
              <a:rPr kumimoji="0" lang="en-US" altLang="en-US" sz="1500" b="0" i="0" u="sng" strike="noStrike" cap="none" normalizeH="0" baseline="0" dirty="0" smtClean="0">
                <a:ln>
                  <a:noFill/>
                </a:ln>
                <a:solidFill>
                  <a:srgbClr val="0D6EFD"/>
                </a:solidFill>
                <a:effectLst/>
                <a:latin typeface="Roboto-Idcloud"/>
                <a:hlinkClick r:id="rId41"/>
              </a:rPr>
              <a:t>Secure Boot</a:t>
            </a:r>
            <a:r>
              <a:rPr kumimoji="0" lang="en-US" altLang="en-US" sz="1500" b="0" i="0" u="none" strike="noStrike" cap="none" normalizeH="0" baseline="0" dirty="0" smtClean="0">
                <a:ln>
                  <a:noFill/>
                </a:ln>
                <a:solidFill>
                  <a:srgbClr val="5A6475"/>
                </a:solidFill>
                <a:effectLst/>
                <a:latin typeface="Roboto-Idcloud"/>
              </a:rPr>
              <a:t>, select </a:t>
            </a:r>
            <a:r>
              <a:rPr kumimoji="0" lang="en-US" altLang="en-US" sz="1500" b="1" i="0" u="none" strike="noStrike" cap="none" normalizeH="0" baseline="0" dirty="0" smtClean="0">
                <a:ln>
                  <a:noFill/>
                </a:ln>
                <a:solidFill>
                  <a:srgbClr val="5A6475"/>
                </a:solidFill>
                <a:effectLst/>
                <a:latin typeface="Roboto-Idcloud"/>
              </a:rPr>
              <a:t>Turn on Secure Boot</a:t>
            </a:r>
            <a:r>
              <a:rPr kumimoji="0" lang="en-US" altLang="en-US" sz="1500" b="0" i="0" u="none" strike="noStrike" cap="none" normalizeH="0" baseline="0" dirty="0" smtClean="0">
                <a:ln>
                  <a:noFill/>
                </a:ln>
                <a:solidFill>
                  <a:srgbClr val="5A6475"/>
                </a:solidFill>
                <a:effectLst/>
                <a:latin typeface="Roboto-Idcloud"/>
              </a:rPr>
              <a:t>. Secure Boot is </a:t>
            </a:r>
            <a:r>
              <a:rPr kumimoji="0" lang="en-US" altLang="en-US" sz="1500" b="0" i="0" u="sng" strike="noStrike" cap="none" normalizeH="0" baseline="0" dirty="0" smtClean="0">
                <a:ln>
                  <a:noFill/>
                </a:ln>
                <a:solidFill>
                  <a:srgbClr val="0D6EFD"/>
                </a:solidFill>
                <a:effectLst/>
                <a:latin typeface="Roboto-Idcloud"/>
                <a:hlinkClick r:id="rId5"/>
              </a:rPr>
              <a:t>disabled by default</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To turn off </a:t>
            </a:r>
            <a:r>
              <a:rPr kumimoji="0" lang="en-US" altLang="en-US" sz="1500" b="0" i="0" u="sng" strike="noStrike" cap="none" normalizeH="0" baseline="0" dirty="0" err="1" smtClean="0">
                <a:ln>
                  <a:noFill/>
                </a:ln>
                <a:solidFill>
                  <a:srgbClr val="0D6EFD"/>
                </a:solidFill>
                <a:effectLst/>
                <a:latin typeface="Roboto-Idcloud"/>
                <a:hlinkClick r:id="rId36"/>
              </a:rPr>
              <a:t>vTPM</a:t>
            </a:r>
            <a:r>
              <a:rPr kumimoji="0" lang="en-US" altLang="en-US" sz="1500" b="0" i="0" u="none" strike="noStrike" cap="none" normalizeH="0" baseline="0" dirty="0" smtClean="0">
                <a:ln>
                  <a:noFill/>
                </a:ln>
                <a:solidFill>
                  <a:srgbClr val="5A6475"/>
                </a:solidFill>
                <a:effectLst/>
                <a:latin typeface="Roboto-Idcloud"/>
              </a:rPr>
              <a:t>, clear the </a:t>
            </a:r>
            <a:r>
              <a:rPr kumimoji="0" lang="en-US" altLang="en-US" sz="1500" b="1" i="0" u="none" strike="noStrike" cap="none" normalizeH="0" baseline="0" dirty="0" smtClean="0">
                <a:ln>
                  <a:noFill/>
                </a:ln>
                <a:solidFill>
                  <a:srgbClr val="5A6475"/>
                </a:solidFill>
                <a:effectLst/>
                <a:latin typeface="Roboto-Idcloud"/>
              </a:rPr>
              <a:t>Turn on </a:t>
            </a:r>
            <a:r>
              <a:rPr kumimoji="0" lang="en-US" altLang="en-US" sz="1500" b="1" i="0" u="none" strike="noStrike" cap="none" normalizeH="0" baseline="0" dirty="0" err="1" smtClean="0">
                <a:ln>
                  <a:noFill/>
                </a:ln>
                <a:solidFill>
                  <a:srgbClr val="5A6475"/>
                </a:solidFill>
                <a:effectLst/>
                <a:latin typeface="Roboto-Idcloud"/>
              </a:rPr>
              <a:t>vTPM</a:t>
            </a:r>
            <a:r>
              <a:rPr kumimoji="0" lang="en-US" altLang="en-US" sz="1500" b="0" i="0" u="none" strike="noStrike" cap="none" normalizeH="0" baseline="0" dirty="0" smtClean="0">
                <a:ln>
                  <a:noFill/>
                </a:ln>
                <a:solidFill>
                  <a:srgbClr val="5A6475"/>
                </a:solidFill>
                <a:effectLst/>
                <a:latin typeface="Roboto-Idcloud"/>
              </a:rPr>
              <a:t> checkbox. </a:t>
            </a:r>
            <a:r>
              <a:rPr kumimoji="0" lang="en-US" altLang="en-US" sz="1500" b="0" i="0" u="none" strike="noStrike" cap="none" normalizeH="0" baseline="0" dirty="0" err="1" smtClean="0">
                <a:ln>
                  <a:noFill/>
                </a:ln>
                <a:solidFill>
                  <a:srgbClr val="5A6475"/>
                </a:solidFill>
                <a:effectLst/>
                <a:latin typeface="Roboto-Idcloud"/>
              </a:rPr>
              <a:t>vTPM</a:t>
            </a:r>
            <a:r>
              <a:rPr kumimoji="0" lang="en-US" altLang="en-US" sz="1500" b="0" i="0" u="none" strike="noStrike" cap="none" normalizeH="0" baseline="0" dirty="0" smtClean="0">
                <a:ln>
                  <a:noFill/>
                </a:ln>
                <a:solidFill>
                  <a:srgbClr val="5A6475"/>
                </a:solidFill>
                <a:effectLst/>
                <a:latin typeface="Roboto-Idcloud"/>
              </a:rPr>
              <a:t> is </a:t>
            </a:r>
            <a:r>
              <a:rPr kumimoji="0" lang="en-US" altLang="en-US" sz="1500" b="0" i="0" u="sng" strike="noStrike" cap="none" normalizeH="0" baseline="0" dirty="0" smtClean="0">
                <a:ln>
                  <a:noFill/>
                </a:ln>
                <a:solidFill>
                  <a:srgbClr val="0D6EFD"/>
                </a:solidFill>
                <a:effectLst/>
                <a:latin typeface="Roboto-Idcloud"/>
                <a:hlinkClick r:id="rId5"/>
              </a:rPr>
              <a:t>enabled by default</a:t>
            </a:r>
            <a:r>
              <a:rPr kumimoji="0" lang="en-US" altLang="en-US" sz="1500" b="0" i="0" u="none" strike="noStrike" cap="none" normalizeH="0" baseline="0" dirty="0" smtClean="0">
                <a:ln>
                  <a:noFill/>
                </a:ln>
                <a:solidFill>
                  <a:srgbClr val="5A6475"/>
                </a:solidFill>
                <a:effectLst/>
                <a:latin typeface="Roboto-Idcloud"/>
              </a:rPr>
              <a:t>. Disabling </a:t>
            </a:r>
            <a:r>
              <a:rPr kumimoji="0" lang="en-US" altLang="en-US" sz="1500" b="0" i="0" u="none" strike="noStrike" cap="none" normalizeH="0" baseline="0" dirty="0" err="1" smtClean="0">
                <a:ln>
                  <a:noFill/>
                </a:ln>
                <a:solidFill>
                  <a:srgbClr val="5A6475"/>
                </a:solidFill>
                <a:effectLst/>
                <a:latin typeface="Roboto-Idcloud"/>
              </a:rPr>
              <a:t>vTPM</a:t>
            </a:r>
            <a:r>
              <a:rPr kumimoji="0" lang="en-US" altLang="en-US" sz="1500" b="0" i="0" u="none" strike="noStrike" cap="none" normalizeH="0" baseline="0" dirty="0" smtClean="0">
                <a:ln>
                  <a:noFill/>
                </a:ln>
                <a:solidFill>
                  <a:srgbClr val="5A6475"/>
                </a:solidFill>
                <a:effectLst/>
                <a:latin typeface="Roboto-Idcloud"/>
              </a:rPr>
              <a:t> also disables </a:t>
            </a:r>
            <a:r>
              <a:rPr kumimoji="0" lang="en-US" altLang="en-US" sz="1500" b="0" i="0" u="sng" strike="noStrike" cap="none" normalizeH="0" baseline="0" dirty="0" smtClean="0">
                <a:ln>
                  <a:noFill/>
                </a:ln>
                <a:solidFill>
                  <a:srgbClr val="0D6EFD"/>
                </a:solidFill>
                <a:effectLst/>
                <a:latin typeface="Roboto-Idcloud"/>
                <a:hlinkClick r:id="rId42"/>
              </a:rPr>
              <a:t>integrity monitoring</a:t>
            </a:r>
            <a:r>
              <a:rPr kumimoji="0" lang="en-US" altLang="en-US" sz="1500" b="0" i="0" u="none" strike="noStrike" cap="none" normalizeH="0" baseline="0" dirty="0" smtClean="0">
                <a:ln>
                  <a:noFill/>
                </a:ln>
                <a:solidFill>
                  <a:srgbClr val="5A6475"/>
                </a:solidFill>
                <a:effectLst/>
                <a:latin typeface="Roboto-Idcloud"/>
              </a:rPr>
              <a:t> because integrity monitoring relies on data gathered by </a:t>
            </a:r>
            <a:r>
              <a:rPr kumimoji="0" lang="en-US" altLang="en-US" sz="1500" b="0" i="0" u="sng" strike="noStrike" cap="none" normalizeH="0" baseline="0" dirty="0" smtClean="0">
                <a:ln>
                  <a:noFill/>
                </a:ln>
                <a:solidFill>
                  <a:srgbClr val="0D6EFD"/>
                </a:solidFill>
                <a:effectLst/>
                <a:latin typeface="Roboto-Idcloud"/>
                <a:hlinkClick r:id="rId43"/>
              </a:rPr>
              <a:t>Measured Boot</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To turn off </a:t>
            </a:r>
            <a:r>
              <a:rPr kumimoji="0" lang="en-US" altLang="en-US" sz="1500" b="0" i="0" u="sng" strike="noStrike" cap="none" normalizeH="0" baseline="0" dirty="0" smtClean="0">
                <a:ln>
                  <a:noFill/>
                </a:ln>
                <a:solidFill>
                  <a:srgbClr val="0D6EFD"/>
                </a:solidFill>
                <a:effectLst/>
                <a:latin typeface="Roboto-Idcloud"/>
                <a:hlinkClick r:id="rId42"/>
              </a:rPr>
              <a:t>integrity monitoring</a:t>
            </a:r>
            <a:r>
              <a:rPr kumimoji="0" lang="en-US" altLang="en-US" sz="1500" b="0" i="0" u="none" strike="noStrike" cap="none" normalizeH="0" baseline="0" dirty="0" smtClean="0">
                <a:ln>
                  <a:noFill/>
                </a:ln>
                <a:solidFill>
                  <a:srgbClr val="5A6475"/>
                </a:solidFill>
                <a:effectLst/>
                <a:latin typeface="Roboto-Idcloud"/>
              </a:rPr>
              <a:t>, clear the </a:t>
            </a:r>
            <a:r>
              <a:rPr kumimoji="0" lang="en-US" altLang="en-US" sz="1500" b="1" i="0" u="none" strike="noStrike" cap="none" normalizeH="0" baseline="0" dirty="0" smtClean="0">
                <a:ln>
                  <a:noFill/>
                </a:ln>
                <a:solidFill>
                  <a:srgbClr val="5A6475"/>
                </a:solidFill>
                <a:effectLst/>
                <a:latin typeface="Roboto-Idcloud"/>
              </a:rPr>
              <a:t>Turn on Integrity Monitoring</a:t>
            </a:r>
            <a:r>
              <a:rPr kumimoji="0" lang="en-US" altLang="en-US" sz="1500" b="0" i="0" u="none" strike="noStrike" cap="none" normalizeH="0" baseline="0" dirty="0" smtClean="0">
                <a:ln>
                  <a:noFill/>
                </a:ln>
                <a:solidFill>
                  <a:srgbClr val="5A6475"/>
                </a:solidFill>
                <a:effectLst/>
                <a:latin typeface="Roboto-Idcloud"/>
              </a:rPr>
              <a:t> checkbox. Integrity monitoring is </a:t>
            </a:r>
            <a:r>
              <a:rPr kumimoji="0" lang="en-US" altLang="en-US" sz="1500" b="0" i="0" u="sng" strike="noStrike" cap="none" normalizeH="0" baseline="0" dirty="0" smtClean="0">
                <a:ln>
                  <a:noFill/>
                </a:ln>
                <a:solidFill>
                  <a:srgbClr val="0D6EFD"/>
                </a:solidFill>
                <a:effectLst/>
                <a:latin typeface="Roboto-Idcloud"/>
                <a:hlinkClick r:id="rId5"/>
              </a:rPr>
              <a:t>enabled by default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Create a VM from a custom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A custom image belongs only to your project. To create a VM with a custom image, you must first </a:t>
            </a:r>
            <a:r>
              <a:rPr kumimoji="0" lang="en-US" altLang="en-US" sz="1500" b="0" i="0" u="sng" strike="noStrike" cap="none" normalizeH="0" baseline="0" dirty="0" smtClean="0">
                <a:ln>
                  <a:noFill/>
                </a:ln>
                <a:solidFill>
                  <a:srgbClr val="0D6EFD"/>
                </a:solidFill>
                <a:effectLst/>
                <a:latin typeface="Roboto-Idcloud"/>
                <a:hlinkClick r:id="rId44"/>
              </a:rPr>
              <a:t>create a custom image</a:t>
            </a:r>
            <a:r>
              <a:rPr kumimoji="0" lang="en-US" altLang="en-US" sz="1500" b="0" i="0" u="none" strike="noStrike" cap="none" normalizeH="0" baseline="0" dirty="0" smtClean="0">
                <a:ln>
                  <a:noFill/>
                </a:ln>
                <a:solidFill>
                  <a:srgbClr val="5A6475"/>
                </a:solidFill>
                <a:effectLst/>
                <a:latin typeface="Roboto-Idcloud"/>
              </a:rPr>
              <a:t> if you don't already have </a:t>
            </a:r>
            <a:r>
              <a:rPr kumimoji="0" lang="en-US" altLang="en-US" sz="1500" b="0" i="0" u="none" strike="noStrike" cap="none" normalizeH="0" baseline="0" dirty="0" err="1" smtClean="0">
                <a:ln>
                  <a:noFill/>
                </a:ln>
                <a:solidFill>
                  <a:srgbClr val="5A6475"/>
                </a:solidFill>
                <a:effectLst/>
                <a:latin typeface="Roboto-Idcloud"/>
              </a:rPr>
              <a:t>one.</a:t>
            </a:r>
            <a:r>
              <a:rPr kumimoji="0" lang="en-US" altLang="en-US" sz="1500" b="1" i="0" u="none" strike="noStrike" cap="none" normalizeH="0" baseline="0" dirty="0" err="1" smtClean="0">
                <a:ln>
                  <a:noFill/>
                </a:ln>
                <a:solidFill>
                  <a:srgbClr val="5A6475"/>
                </a:solidFill>
                <a:effectLst/>
                <a:latin typeface="Roboto-Idcloud"/>
              </a:rPr>
              <a:t>Note</a:t>
            </a:r>
            <a:r>
              <a:rPr kumimoji="0" lang="en-US" altLang="en-US" sz="1500" b="1" i="0" u="none" strike="noStrike" cap="none" normalizeH="0" baseline="0" dirty="0" smtClean="0">
                <a:ln>
                  <a:noFill/>
                </a:ln>
                <a:solidFill>
                  <a:srgbClr val="5A6475"/>
                </a:solidFill>
                <a:effectLst/>
                <a:latin typeface="Roboto-Idcloud"/>
              </a:rPr>
              <a:t>:</a:t>
            </a:r>
            <a:r>
              <a:rPr kumimoji="0" lang="en-US" altLang="en-US" sz="1500" b="0" i="0" u="none" strike="noStrike" cap="none" normalizeH="0" baseline="0" dirty="0" smtClean="0">
                <a:ln>
                  <a:noFill/>
                </a:ln>
                <a:solidFill>
                  <a:srgbClr val="5A6475"/>
                </a:solidFill>
                <a:effectLst/>
                <a:latin typeface="Roboto-Idcloud"/>
              </a:rPr>
              <a:t> You must have access to the custom image to use it when you create a VM. By default, you have access to all custom images in your project. However, if your project has a defined list of </a:t>
            </a:r>
            <a:r>
              <a:rPr kumimoji="0" lang="en-US" altLang="en-US" sz="1500" b="0" i="0" u="sng" strike="noStrike" cap="none" normalizeH="0" baseline="0" dirty="0" smtClean="0">
                <a:ln>
                  <a:noFill/>
                </a:ln>
                <a:solidFill>
                  <a:srgbClr val="0D6EFD"/>
                </a:solidFill>
                <a:effectLst/>
                <a:latin typeface="Roboto-Idcloud"/>
                <a:hlinkClick r:id="rId33"/>
              </a:rPr>
              <a:t>trusted images</a:t>
            </a:r>
            <a:r>
              <a:rPr kumimoji="0" lang="en-US" altLang="en-US" sz="1500" b="0" i="0" u="none" strike="noStrike" cap="none" normalizeH="0" baseline="0" dirty="0" smtClean="0">
                <a:ln>
                  <a:noFill/>
                </a:ln>
                <a:solidFill>
                  <a:srgbClr val="5A6475"/>
                </a:solidFill>
                <a:effectLst/>
                <a:latin typeface="Roboto-Idcloud"/>
              </a:rPr>
              <a:t>, you can use only the images on that list to create a </a:t>
            </a:r>
            <a:r>
              <a:rPr kumimoji="0" lang="en-US" altLang="en-US" sz="1500" b="0" i="0" u="none" strike="noStrike" cap="none" normalizeH="0" baseline="0" dirty="0" err="1" smtClean="0">
                <a:ln>
                  <a:noFill/>
                </a:ln>
                <a:solidFill>
                  <a:srgbClr val="5A6475"/>
                </a:solidFill>
                <a:effectLst/>
                <a:latin typeface="Roboto-Idcloud"/>
              </a:rPr>
              <a:t>VM.Permissions</a:t>
            </a:r>
            <a:r>
              <a:rPr kumimoji="0" lang="en-US" altLang="en-US" sz="1500" b="0" i="0" u="none" strike="noStrike" cap="none" normalizeH="0" baseline="0" dirty="0" smtClean="0">
                <a:ln>
                  <a:noFill/>
                </a:ln>
                <a:solidFill>
                  <a:srgbClr val="5A6475"/>
                </a:solidFill>
                <a:effectLst/>
                <a:latin typeface="Roboto-Idcloud"/>
              </a:rPr>
              <a:t>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configuration</a:t>
            </a:r>
            <a:r>
              <a:rPr kumimoji="0" lang="en-US" altLang="en-US" sz="1500" b="0" i="0" u="none" strike="noStrike" cap="none" normalizeH="0" baseline="0" dirty="0" smtClean="0">
                <a:ln>
                  <a:noFill/>
                </a:ln>
                <a:solidFill>
                  <a:srgbClr val="5A6475"/>
                </a:solidFill>
                <a:effectLst/>
                <a:latin typeface="Roboto-Idcloud"/>
              </a:rPr>
              <a:t> for your VM.</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Boot disk</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Change</a:t>
            </a:r>
            <a:r>
              <a:rPr kumimoji="0" lang="en-US" altLang="en-US" sz="1500" b="0" i="0" u="none" strike="noStrike" cap="none" normalizeH="0" baseline="0" dirty="0" smtClean="0">
                <a:ln>
                  <a:noFill/>
                </a:ln>
                <a:solidFill>
                  <a:srgbClr val="5A6475"/>
                </a:solidFill>
                <a:effectLst/>
                <a:latin typeface="Roboto-Idcloud"/>
              </a:rPr>
              <a:t>,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Select the </a:t>
            </a:r>
            <a:r>
              <a:rPr kumimoji="0" lang="en-US" altLang="en-US" sz="1500" b="1" i="0" u="none" strike="noStrike" cap="none" normalizeH="0" baseline="0" dirty="0" smtClean="0">
                <a:ln>
                  <a:noFill/>
                </a:ln>
                <a:solidFill>
                  <a:srgbClr val="5A6475"/>
                </a:solidFill>
                <a:effectLst/>
                <a:latin typeface="Roboto-Idcloud"/>
              </a:rPr>
              <a:t>Custom Images</a:t>
            </a:r>
            <a:r>
              <a:rPr kumimoji="0" lang="en-US" altLang="en-US" sz="1500" b="0" i="0" u="none" strike="noStrike" cap="none" normalizeH="0" baseline="0" dirty="0" smtClean="0">
                <a:ln>
                  <a:noFill/>
                </a:ln>
                <a:solidFill>
                  <a:srgbClr val="5A6475"/>
                </a:solidFill>
                <a:effectLst/>
                <a:latin typeface="Roboto-Idcloud"/>
              </a:rPr>
              <a:t> tab.</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To select the image project, click </a:t>
            </a:r>
            <a:r>
              <a:rPr kumimoji="0" lang="en-US" altLang="en-US" sz="1500" b="1" i="0" u="none" strike="noStrike" cap="none" normalizeH="0" baseline="0" dirty="0" smtClean="0">
                <a:ln>
                  <a:noFill/>
                </a:ln>
                <a:solidFill>
                  <a:srgbClr val="5A6475"/>
                </a:solidFill>
                <a:effectLst/>
                <a:latin typeface="Roboto-Idcloud"/>
              </a:rPr>
              <a:t>Select a project</a:t>
            </a:r>
            <a:r>
              <a:rPr kumimoji="0" lang="en-US" altLang="en-US" sz="1500" b="0" i="0" u="none" strike="noStrike" cap="none" normalizeH="0" baseline="0" dirty="0" smtClean="0">
                <a:ln>
                  <a:noFill/>
                </a:ln>
                <a:solidFill>
                  <a:srgbClr val="5A6475"/>
                </a:solidFill>
                <a:effectLst/>
                <a:latin typeface="Roboto-Idcloud"/>
              </a:rPr>
              <a:t>, and then do the following:</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Select the project that contains the image.</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Open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Image</a:t>
            </a:r>
            <a:r>
              <a:rPr kumimoji="0" lang="en-US" altLang="en-US" sz="1500" b="0" i="0" u="none" strike="noStrike" cap="none" normalizeH="0" baseline="0" dirty="0" smtClean="0">
                <a:ln>
                  <a:noFill/>
                </a:ln>
                <a:solidFill>
                  <a:srgbClr val="5A6475"/>
                </a:solidFill>
                <a:effectLst/>
                <a:latin typeface="Roboto-Idcloud"/>
              </a:rPr>
              <a:t> list, click the image that you want to import.</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Select the type and size of your boot disk.</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For advanced configuration options, click </a:t>
            </a:r>
            <a:r>
              <a:rPr kumimoji="0" lang="en-US" altLang="en-US" sz="1500" b="1" i="0" u="none" strike="noStrike" cap="none" normalizeH="0" baseline="0" dirty="0" smtClean="0">
                <a:ln>
                  <a:noFill/>
                </a:ln>
                <a:solidFill>
                  <a:srgbClr val="5A6475"/>
                </a:solidFill>
                <a:effectLst/>
                <a:latin typeface="Roboto-Idcloud"/>
              </a:rPr>
              <a:t>Show advanced configuration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To confirm your boot disk options, click </a:t>
            </a:r>
            <a:r>
              <a:rPr kumimoji="0" lang="en-US" altLang="en-US" sz="1500" b="1" i="0" u="none" strike="noStrike" cap="none" normalizeH="0" baseline="0" dirty="0" smtClean="0">
                <a:ln>
                  <a:noFill/>
                </a:ln>
                <a:solidFill>
                  <a:srgbClr val="5A6475"/>
                </a:solidFill>
                <a:effectLst/>
                <a:latin typeface="Roboto-Idcloud"/>
              </a:rPr>
              <a:t>Select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to permit HTTP or HTTPS traffic to the VM,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a:t>
            </a:r>
            <a:r>
              <a:rPr kumimoji="0" lang="en-US" altLang="en-US" sz="1500" b="1" i="0" u="none" strike="noStrike" cap="none" normalizeH="0" baseline="0" dirty="0" err="1" smtClean="0">
                <a:ln>
                  <a:noFill/>
                </a:ln>
                <a:solidFill>
                  <a:srgbClr val="5A6475"/>
                </a:solidFill>
                <a:effectLst/>
                <a:latin typeface="Roboto-Idcloud"/>
              </a:rPr>
              <a:t>traffic</a:t>
            </a:r>
            <a:r>
              <a:rPr kumimoji="0" lang="en-US" altLang="en-US" sz="1500" b="0" i="0" u="none" strike="noStrike" cap="none" normalizeH="0" baseline="0" dirty="0" err="1" smtClean="0">
                <a:ln>
                  <a:noFill/>
                </a:ln>
                <a:solidFill>
                  <a:srgbClr val="5A6475"/>
                </a:solidFill>
                <a:effectLst/>
                <a:latin typeface="Roboto-Idcloud"/>
              </a:rPr>
              <a:t>.The</a:t>
            </a:r>
            <a:r>
              <a:rPr kumimoji="0" lang="en-US" altLang="en-US" sz="1500" b="0" i="0" u="none" strike="noStrike" cap="none" normalizeH="0" baseline="0" dirty="0" smtClean="0">
                <a:ln>
                  <a:noFill/>
                </a:ln>
                <a:solidFill>
                  <a:srgbClr val="5A6475"/>
                </a:solidFill>
                <a:effectLst/>
                <a:latin typeface="Roboto-Idcloud"/>
              </a:rPr>
              <a:t> Cloud Console adds a network tag to your VM and creates the corresponding ingress firewall rule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 The network tag associates the firewall rule with the VM. For more information, see </a:t>
            </a:r>
            <a:r>
              <a:rPr kumimoji="0" lang="en-US" altLang="en-US" sz="1500" b="0" i="0" u="sng" strike="noStrike" cap="none" normalizeH="0" baseline="0" dirty="0" smtClean="0">
                <a:ln>
                  <a:noFill/>
                </a:ln>
                <a:solidFill>
                  <a:srgbClr val="0D6EFD"/>
                </a:solidFill>
                <a:effectLst/>
                <a:latin typeface="Roboto-Idcloud"/>
                <a:hlinkClick r:id="rId40"/>
              </a:rPr>
              <a:t>Firewall rules overview</a:t>
            </a:r>
            <a:r>
              <a:rPr kumimoji="0" lang="en-US" altLang="en-US" sz="1500" b="0" i="0" u="none" strike="noStrike" cap="none" normalizeH="0" baseline="0" dirty="0" smtClean="0">
                <a:ln>
                  <a:noFill/>
                </a:ln>
                <a:solidFill>
                  <a:srgbClr val="5A6475"/>
                </a:solidFill>
                <a:effectLst/>
                <a:latin typeface="Roboto-Idcloud"/>
              </a:rPr>
              <a:t> in the Virtual Private Cloud documentation.</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Create a VM instance with additional non-boot disks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configuration</a:t>
            </a:r>
            <a:r>
              <a:rPr kumimoji="0" lang="en-US" altLang="en-US" sz="1500" b="0" i="0" u="none" strike="noStrike" cap="none" normalizeH="0" baseline="0" dirty="0" smtClean="0">
                <a:ln>
                  <a:noFill/>
                </a:ln>
                <a:solidFill>
                  <a:srgbClr val="5A6475"/>
                </a:solidFill>
                <a:effectLst/>
                <a:latin typeface="Roboto-Idcloud"/>
              </a:rPr>
              <a:t> for your VM.</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Boot disk</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Change</a:t>
            </a:r>
            <a:r>
              <a:rPr kumimoji="0" lang="en-US" altLang="en-US" sz="1500" b="0" i="0" u="none" strike="noStrike" cap="none" normalizeH="0" baseline="0" dirty="0" smtClean="0">
                <a:ln>
                  <a:noFill/>
                </a:ln>
                <a:solidFill>
                  <a:srgbClr val="5A6475"/>
                </a:solidFill>
                <a:effectLst/>
                <a:latin typeface="Roboto-Idcloud"/>
              </a:rPr>
              <a:t>,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Public images</a:t>
            </a:r>
            <a:r>
              <a:rPr kumimoji="0" lang="en-US" altLang="en-US" sz="1500" b="0" i="0" u="none" strike="noStrike" cap="none" normalizeH="0" baseline="0" dirty="0" smtClean="0">
                <a:ln>
                  <a:noFill/>
                </a:ln>
                <a:solidFill>
                  <a:srgbClr val="5A6475"/>
                </a:solidFill>
                <a:effectLst/>
                <a:latin typeface="Roboto-Idcloud"/>
              </a:rPr>
              <a:t> tab, choose the following:</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Operating system</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OS version</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Boot disk type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Boot disk size</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Optional: For advanced configuration options, click </a:t>
            </a:r>
            <a:r>
              <a:rPr kumimoji="0" lang="en-US" altLang="en-US" sz="1500" b="1" i="0" u="none" strike="noStrike" cap="none" normalizeH="0" baseline="0" dirty="0" smtClean="0">
                <a:ln>
                  <a:noFill/>
                </a:ln>
                <a:solidFill>
                  <a:srgbClr val="5A6475"/>
                </a:solidFill>
                <a:effectLst/>
                <a:latin typeface="Roboto-Idcloud"/>
              </a:rPr>
              <a:t>Show advanced configuration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To confirm your boot disk options, click </a:t>
            </a:r>
            <a:r>
              <a:rPr kumimoji="0" lang="en-US" altLang="en-US" sz="1500" b="1" i="0" u="none" strike="noStrike" cap="none" normalizeH="0" baseline="0" dirty="0" smtClean="0">
                <a:ln>
                  <a:noFill/>
                </a:ln>
                <a:solidFill>
                  <a:srgbClr val="5A6475"/>
                </a:solidFill>
                <a:effectLst/>
                <a:latin typeface="Roboto-Idcloud"/>
              </a:rPr>
              <a:t>Select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5A6475"/>
                </a:solidFill>
                <a:effectLst/>
                <a:latin typeface="Roboto-Idcloud"/>
              </a:rPr>
              <a:t>Note:</a:t>
            </a:r>
            <a:r>
              <a:rPr kumimoji="0" lang="en-US" altLang="en-US" sz="1500" b="0" i="0" u="none" strike="noStrike" cap="none" normalizeH="0" baseline="0" dirty="0" smtClean="0">
                <a:ln>
                  <a:noFill/>
                </a:ln>
                <a:solidFill>
                  <a:srgbClr val="5A6475"/>
                </a:solidFill>
                <a:effectLst/>
                <a:latin typeface="Roboto-Idcloud"/>
              </a:rPr>
              <a:t> Unless you explicitly choose a different boot disk, if the name of the new VM matches the name of an existing persistent disk, then the existing persistent disk automatically attaches to the new VM as the boot disk.</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to permit HTTP or HTTPS traffic to the VM,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traffic</a:t>
            </a:r>
            <a:r>
              <a:rPr kumimoji="0" lang="en-US" altLang="en-US" sz="1500" b="0" i="0" u="none" strike="noStrike" cap="none" normalizeH="0" baseline="0" dirty="0" smtClean="0">
                <a:ln>
                  <a:noFill/>
                </a:ln>
                <a:solidFill>
                  <a:srgbClr val="5A6475"/>
                </a:solidFill>
                <a:effectLst/>
                <a:latin typeface="Roboto-Idcloud"/>
              </a:rPr>
              <a:t>. When you select one of these, Compute Engine adds a network tag to your VM, which associates the firewall rule with the VM. Then, Compute Engine creates the corresponding ingress </a:t>
            </a:r>
            <a:r>
              <a:rPr kumimoji="0" lang="en-US" altLang="en-US" sz="1500" b="0" i="0" u="sng" strike="noStrike" cap="none" normalizeH="0" baseline="0" dirty="0" smtClean="0">
                <a:ln>
                  <a:noFill/>
                </a:ln>
                <a:solidFill>
                  <a:srgbClr val="0D6EFD"/>
                </a:solidFill>
                <a:effectLst/>
                <a:latin typeface="Roboto-Idcloud"/>
                <a:hlinkClick r:id="rId40"/>
              </a:rPr>
              <a:t>firewall rule</a:t>
            </a:r>
            <a:r>
              <a:rPr kumimoji="0" lang="en-US" altLang="en-US" sz="1500" b="0" i="0" u="none" strike="noStrike" cap="none" normalizeH="0" baseline="0" dirty="0" smtClean="0">
                <a:ln>
                  <a:noFill/>
                </a:ln>
                <a:solidFill>
                  <a:srgbClr val="5A6475"/>
                </a:solidFill>
                <a:effectLst/>
                <a:latin typeface="Roboto-Idcloud"/>
              </a:rPr>
              <a:t>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500" b="0" i="0" u="none" strike="noStrike" cap="none" normalizeH="0" baseline="0" dirty="0" smtClean="0">
                <a:ln>
                  <a:noFill/>
                </a:ln>
                <a:solidFill>
                  <a:srgbClr val="5A6475"/>
                </a:solidFill>
                <a:effectLst/>
                <a:latin typeface="Roboto-Idcloud"/>
              </a:rPr>
              <a:t>To add non-boot disks to your VM, expand the </a:t>
            </a:r>
            <a:r>
              <a:rPr kumimoji="0" lang="en-US" altLang="en-US" sz="1500" b="1" i="0" u="none" strike="noStrike" cap="none" normalizeH="0" baseline="0" dirty="0" smtClean="0">
                <a:ln>
                  <a:noFill/>
                </a:ln>
                <a:solidFill>
                  <a:srgbClr val="5A6475"/>
                </a:solidFill>
                <a:effectLst/>
                <a:latin typeface="Roboto-Idcloud"/>
              </a:rPr>
              <a:t>Networking, disks, security, management, sole tenancy</a:t>
            </a:r>
            <a:r>
              <a:rPr kumimoji="0" lang="en-US" altLang="en-US" sz="1500" b="0" i="0" u="none" strike="noStrike" cap="none" normalizeH="0" baseline="0" dirty="0" smtClean="0">
                <a:ln>
                  <a:noFill/>
                </a:ln>
                <a:solidFill>
                  <a:srgbClr val="5A6475"/>
                </a:solidFill>
                <a:effectLst/>
                <a:latin typeface="Roboto-Idcloud"/>
              </a:rPr>
              <a:t> section,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Expand the </a:t>
            </a:r>
            <a:r>
              <a:rPr kumimoji="0" lang="en-US" altLang="en-US" sz="1500" b="1" i="0" u="none" strike="noStrike" cap="none" normalizeH="0" baseline="0" dirty="0" smtClean="0">
                <a:ln>
                  <a:noFill/>
                </a:ln>
                <a:solidFill>
                  <a:srgbClr val="5A6475"/>
                </a:solidFill>
                <a:effectLst/>
                <a:latin typeface="Roboto-Idcloud"/>
              </a:rPr>
              <a:t>Disks</a:t>
            </a:r>
            <a:r>
              <a:rPr kumimoji="0" lang="en-US" altLang="en-US" sz="1500" b="0" i="0" u="none" strike="noStrike" cap="none" normalizeH="0" baseline="0" dirty="0" smtClean="0">
                <a:ln>
                  <a:noFill/>
                </a:ln>
                <a:solidFill>
                  <a:srgbClr val="5A6475"/>
                </a:solidFill>
                <a:effectLst/>
                <a:latin typeface="Roboto-Idcloud"/>
              </a:rPr>
              <a:t> section.</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Add new disk</a:t>
            </a:r>
            <a:r>
              <a:rPr kumimoji="0" lang="en-US" altLang="en-US" sz="1500" b="0" i="0" u="none" strike="noStrike" cap="none" normalizeH="0" baseline="0" dirty="0" smtClean="0">
                <a:ln>
                  <a:noFill/>
                </a:ln>
                <a:solidFill>
                  <a:srgbClr val="5A6475"/>
                </a:solidFill>
                <a:effectLst/>
                <a:latin typeface="Roboto-Idcloud"/>
              </a:rPr>
              <a:t>, and then do the following:</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Specify a disk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1" i="0" u="none" strike="noStrike" cap="none" normalizeH="0" baseline="0" dirty="0" smtClean="0">
                <a:ln>
                  <a:noFill/>
                </a:ln>
                <a:solidFill>
                  <a:srgbClr val="5A6475"/>
                </a:solidFill>
                <a:effectLst/>
                <a:latin typeface="Roboto-Idcloud"/>
              </a:rPr>
              <a:t>Type</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1" i="0" u="none" strike="noStrike" cap="none" normalizeH="0" baseline="0" dirty="0" smtClean="0">
                <a:ln>
                  <a:noFill/>
                </a:ln>
                <a:solidFill>
                  <a:srgbClr val="5A6475"/>
                </a:solidFill>
                <a:effectLst/>
                <a:latin typeface="Roboto-Idcloud"/>
              </a:rPr>
              <a:t>Source type</a:t>
            </a:r>
            <a:r>
              <a:rPr kumimoji="0" lang="en-US" altLang="en-US" sz="1500" b="0" i="0" u="none" strike="noStrike" cap="none" normalizeH="0" baseline="0" dirty="0" smtClean="0">
                <a:ln>
                  <a:noFill/>
                </a:ln>
                <a:solidFill>
                  <a:srgbClr val="5A6475"/>
                </a:solidFill>
                <a:effectLst/>
                <a:latin typeface="Roboto-Idcloud"/>
              </a:rPr>
              <a:t>, and </a:t>
            </a:r>
            <a:r>
              <a:rPr kumimoji="0" lang="en-US" altLang="en-US" sz="1500" b="1" i="0" u="none" strike="noStrike" cap="none" normalizeH="0" baseline="0" dirty="0" smtClean="0">
                <a:ln>
                  <a:noFill/>
                </a:ln>
                <a:solidFill>
                  <a:srgbClr val="5A6475"/>
                </a:solidFill>
                <a:effectLst/>
                <a:latin typeface="Roboto-Idcloud"/>
              </a:rPr>
              <a:t>Size</a:t>
            </a:r>
            <a:r>
              <a:rPr kumimoji="0" lang="en-US" altLang="en-US" sz="1500" b="0" i="0" u="none" strike="noStrike" cap="none" normalizeH="0" baseline="0" dirty="0" smtClean="0">
                <a:ln>
                  <a:noFill/>
                </a:ln>
                <a:solidFill>
                  <a:srgbClr val="5A6475"/>
                </a:solidFill>
                <a:effectLst/>
                <a:latin typeface="Roboto-Idcloud"/>
              </a:rPr>
              <a:t>.</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Attachment settings</a:t>
            </a:r>
            <a:r>
              <a:rPr kumimoji="0" lang="en-US" altLang="en-US" sz="1500" b="0" i="0" u="none" strike="noStrike" cap="none" normalizeH="0" baseline="0" dirty="0" smtClean="0">
                <a:ln>
                  <a:noFill/>
                </a:ln>
                <a:solidFill>
                  <a:srgbClr val="5A6475"/>
                </a:solidFill>
                <a:effectLst/>
                <a:latin typeface="Roboto-Idcloud"/>
              </a:rPr>
              <a:t> section, select disk's attachment </a:t>
            </a:r>
            <a:r>
              <a:rPr kumimoji="0" lang="en-US" altLang="en-US" sz="1500" b="1" i="0" u="none" strike="noStrike" cap="none" normalizeH="0" baseline="0" dirty="0" smtClean="0">
                <a:ln>
                  <a:noFill/>
                </a:ln>
                <a:solidFill>
                  <a:srgbClr val="5A6475"/>
                </a:solidFill>
                <a:effectLst/>
                <a:latin typeface="Roboto-Idcloud"/>
              </a:rPr>
              <a:t>Mode</a:t>
            </a:r>
            <a:r>
              <a:rPr kumimoji="0" lang="en-US" altLang="en-US" sz="1500" b="0" i="0" u="none" strike="noStrike" cap="none" normalizeH="0" baseline="0" dirty="0" smtClean="0">
                <a:ln>
                  <a:noFill/>
                </a:ln>
                <a:solidFill>
                  <a:srgbClr val="5A6475"/>
                </a:solidFill>
                <a:effectLst/>
                <a:latin typeface="Roboto-Idcloud"/>
              </a:rPr>
              <a:t> and the </a:t>
            </a:r>
            <a:r>
              <a:rPr kumimoji="0" lang="en-US" altLang="en-US" sz="1500" b="1" i="0" u="none" strike="noStrike" cap="none" normalizeH="0" baseline="0" dirty="0" smtClean="0">
                <a:ln>
                  <a:noFill/>
                </a:ln>
                <a:solidFill>
                  <a:srgbClr val="5A6475"/>
                </a:solidFill>
                <a:effectLst/>
                <a:latin typeface="Roboto-Idcloud"/>
              </a:rPr>
              <a:t>Deletion rule</a:t>
            </a:r>
            <a:r>
              <a:rPr kumimoji="0" lang="en-US" altLang="en-US" sz="1500" b="0" i="0" u="none" strike="noStrike" cap="none" normalizeH="0" baseline="0" dirty="0" smtClean="0">
                <a:ln>
                  <a:noFill/>
                </a:ln>
                <a:solidFill>
                  <a:srgbClr val="5A6475"/>
                </a:solidFill>
                <a:effectLst/>
                <a:latin typeface="Roboto-Idcloud"/>
              </a:rPr>
              <a:t>. For more information about adding new disks, see </a:t>
            </a:r>
            <a:r>
              <a:rPr kumimoji="0" lang="en-US" altLang="en-US" sz="1500" b="0" i="0" u="sng" strike="noStrike" cap="none" normalizeH="0" baseline="0" dirty="0" smtClean="0">
                <a:ln>
                  <a:noFill/>
                </a:ln>
                <a:solidFill>
                  <a:srgbClr val="0D6EFD"/>
                </a:solidFill>
                <a:effectLst/>
                <a:latin typeface="Roboto-Idcloud"/>
                <a:hlinkClick r:id="rId6"/>
              </a:rPr>
              <a:t>Creating and attaching a disk</a:t>
            </a:r>
            <a:r>
              <a:rPr kumimoji="0" lang="en-US" altLang="en-US" sz="1500" b="0" i="0" u="none" strike="noStrike" cap="none" normalizeH="0" baseline="0" dirty="0" smtClean="0">
                <a:ln>
                  <a:noFill/>
                </a:ln>
                <a:solidFill>
                  <a:srgbClr val="5A6475"/>
                </a:solidFill>
                <a:effectLst/>
                <a:latin typeface="Roboto-Idcloud"/>
              </a:rPr>
              <a:t>.</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Save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sng" strike="noStrike" cap="none" normalizeH="0" baseline="0" dirty="0" smtClean="0">
                <a:ln>
                  <a:noFill/>
                </a:ln>
                <a:solidFill>
                  <a:srgbClr val="0D6EFD"/>
                </a:solidFill>
                <a:effectLst/>
                <a:latin typeface="Roboto-Idcloud"/>
                <a:hlinkClick r:id="rId45"/>
              </a:rPr>
              <a:t>Format and mount</a:t>
            </a:r>
            <a:r>
              <a:rPr kumimoji="0" lang="en-US" altLang="en-US" sz="1500" b="0" i="0" u="none" strike="noStrike" cap="none" normalizeH="0" baseline="0" dirty="0" smtClean="0">
                <a:ln>
                  <a:noFill/>
                </a:ln>
                <a:solidFill>
                  <a:srgbClr val="5A6475"/>
                </a:solidFill>
                <a:effectLst/>
                <a:latin typeface="Roboto-Idcloud"/>
              </a:rPr>
              <a:t> the disks before using them.</a:t>
            </a: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Create a VM instance from a shared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If another user has </a:t>
            </a:r>
            <a:r>
              <a:rPr kumimoji="0" lang="en-US" altLang="en-US" sz="1500" b="0" i="0" u="sng" strike="noStrike" cap="none" normalizeH="0" baseline="0" dirty="0" smtClean="0">
                <a:ln>
                  <a:noFill/>
                </a:ln>
                <a:solidFill>
                  <a:srgbClr val="0D6EFD"/>
                </a:solidFill>
                <a:effectLst/>
                <a:latin typeface="Roboto-Idcloud"/>
                <a:hlinkClick r:id="rId46"/>
              </a:rPr>
              <a:t>shared an image with you</a:t>
            </a:r>
            <a:r>
              <a:rPr kumimoji="0" lang="en-US" altLang="en-US" sz="1500" b="0" i="0" u="none" strike="noStrike" cap="none" normalizeH="0" baseline="0" dirty="0" smtClean="0">
                <a:ln>
                  <a:noFill/>
                </a:ln>
                <a:solidFill>
                  <a:srgbClr val="5A6475"/>
                </a:solidFill>
                <a:effectLst/>
                <a:latin typeface="Roboto-Idcloud"/>
              </a:rPr>
              <a:t>, you can use the image to create a </a:t>
            </a:r>
            <a:r>
              <a:rPr kumimoji="0" lang="en-US" altLang="en-US" sz="1500" b="0" i="0" u="none" strike="noStrike" cap="none" normalizeH="0" baseline="0" dirty="0" err="1" smtClean="0">
                <a:ln>
                  <a:noFill/>
                </a:ln>
                <a:solidFill>
                  <a:srgbClr val="5A6475"/>
                </a:solidFill>
                <a:effectLst/>
                <a:latin typeface="Roboto-Idcloud"/>
              </a:rPr>
              <a:t>VM.Permissions</a:t>
            </a:r>
            <a:r>
              <a:rPr kumimoji="0" lang="en-US" altLang="en-US" sz="1500" b="0" i="0" u="none" strike="noStrike" cap="none" normalizeH="0" baseline="0" dirty="0" smtClean="0">
                <a:ln>
                  <a:noFill/>
                </a:ln>
                <a:solidFill>
                  <a:srgbClr val="5A6475"/>
                </a:solidFill>
                <a:effectLst/>
                <a:latin typeface="Roboto-Idcloud"/>
              </a:rPr>
              <a:t>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Create an instance</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47"/>
              </a:rPr>
              <a:t>Go</a:t>
            </a:r>
            <a:r>
              <a:rPr kumimoji="0" lang="en-US" altLang="en-US" sz="1500" b="0" i="0" u="sng" strike="noStrike" cap="none" normalizeH="0" baseline="0" dirty="0" smtClean="0">
                <a:ln>
                  <a:noFill/>
                </a:ln>
                <a:solidFill>
                  <a:srgbClr val="0D6EFD"/>
                </a:solidFill>
                <a:effectLst/>
                <a:latin typeface="Roboto-Idcloud"/>
                <a:hlinkClick r:id="rId47"/>
              </a:rPr>
              <a:t> to Create an instance</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configuration</a:t>
            </a:r>
            <a:r>
              <a:rPr kumimoji="0" lang="en-US" altLang="en-US" sz="1500" b="0" i="0" u="none" strike="noStrike" cap="none" normalizeH="0" baseline="0" dirty="0" smtClean="0">
                <a:ln>
                  <a:noFill/>
                </a:ln>
                <a:solidFill>
                  <a:srgbClr val="5A6475"/>
                </a:solidFill>
                <a:effectLst/>
                <a:latin typeface="Roboto-Idcloud"/>
              </a:rPr>
              <a:t> for your VM.</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Boot disk</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Change</a:t>
            </a:r>
            <a:r>
              <a:rPr kumimoji="0" lang="en-US" altLang="en-US" sz="1500" b="0" i="0" u="none" strike="noStrike" cap="none" normalizeH="0" baseline="0" dirty="0" smtClean="0">
                <a:ln>
                  <a:noFill/>
                </a:ln>
                <a:solidFill>
                  <a:srgbClr val="5A6475"/>
                </a:solidFill>
                <a:effectLst/>
                <a:latin typeface="Roboto-Idcloud"/>
              </a:rPr>
              <a:t> to configure your boot disk,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Select the </a:t>
            </a:r>
            <a:r>
              <a:rPr kumimoji="0" lang="en-US" altLang="en-US" sz="1500" b="1" i="0" u="none" strike="noStrike" cap="none" normalizeH="0" baseline="0" dirty="0" smtClean="0">
                <a:ln>
                  <a:noFill/>
                </a:ln>
                <a:solidFill>
                  <a:srgbClr val="5A6475"/>
                </a:solidFill>
                <a:effectLst/>
                <a:latin typeface="Roboto-Idcloud"/>
              </a:rPr>
              <a:t>Custom Images</a:t>
            </a:r>
            <a:r>
              <a:rPr kumimoji="0" lang="en-US" altLang="en-US" sz="1500" b="0" i="0" u="none" strike="noStrike" cap="none" normalizeH="0" baseline="0" dirty="0" smtClean="0">
                <a:ln>
                  <a:noFill/>
                </a:ln>
                <a:solidFill>
                  <a:srgbClr val="5A6475"/>
                </a:solidFill>
                <a:effectLst/>
                <a:latin typeface="Roboto-Idcloud"/>
              </a:rPr>
              <a:t> tab.</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To select the image project, click </a:t>
            </a:r>
            <a:r>
              <a:rPr kumimoji="0" lang="en-US" altLang="en-US" sz="1500" b="1" i="0" u="none" strike="noStrike" cap="none" normalizeH="0" baseline="0" dirty="0" smtClean="0">
                <a:ln>
                  <a:noFill/>
                </a:ln>
                <a:solidFill>
                  <a:srgbClr val="5A6475"/>
                </a:solidFill>
                <a:effectLst/>
                <a:latin typeface="Roboto-Idcloud"/>
              </a:rPr>
              <a:t>Select a project</a:t>
            </a:r>
            <a:r>
              <a:rPr kumimoji="0" lang="en-US" altLang="en-US" sz="1500" b="0" i="0" u="none" strike="noStrike" cap="none" normalizeH="0" baseline="0" dirty="0" smtClean="0">
                <a:ln>
                  <a:noFill/>
                </a:ln>
                <a:solidFill>
                  <a:srgbClr val="5A6475"/>
                </a:solidFill>
                <a:effectLst/>
                <a:latin typeface="Roboto-Idcloud"/>
              </a:rPr>
              <a:t>, and then do the following:</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Select the project that contains the image.</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Open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Image</a:t>
            </a:r>
            <a:r>
              <a:rPr kumimoji="0" lang="en-US" altLang="en-US" sz="1500" b="0" i="0" u="none" strike="noStrike" cap="none" normalizeH="0" baseline="0" dirty="0" smtClean="0">
                <a:ln>
                  <a:noFill/>
                </a:ln>
                <a:solidFill>
                  <a:srgbClr val="5A6475"/>
                </a:solidFill>
                <a:effectLst/>
                <a:latin typeface="Roboto-Idcloud"/>
              </a:rPr>
              <a:t> list, click the image that you want to import.</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Select the type and size of your boot disk.</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To confirm your boot disk options, click </a:t>
            </a:r>
            <a:r>
              <a:rPr kumimoji="0" lang="en-US" altLang="en-US" sz="1500" b="1" i="0" u="none" strike="noStrike" cap="none" normalizeH="0" baseline="0" dirty="0" smtClean="0">
                <a:ln>
                  <a:noFill/>
                </a:ln>
                <a:solidFill>
                  <a:srgbClr val="5A6475"/>
                </a:solidFill>
                <a:effectLst/>
                <a:latin typeface="Roboto-Idcloud"/>
              </a:rPr>
              <a:t>Select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To permit HTTP or HTTPS traffic to the VM, 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a:t>
            </a:r>
            <a:r>
              <a:rPr kumimoji="0" lang="en-US" altLang="en-US" sz="1500" b="1" i="0" u="none" strike="noStrike" cap="none" normalizeH="0" baseline="0" dirty="0" err="1" smtClean="0">
                <a:ln>
                  <a:noFill/>
                </a:ln>
                <a:solidFill>
                  <a:srgbClr val="5A6475"/>
                </a:solidFill>
                <a:effectLst/>
                <a:latin typeface="Roboto-Idcloud"/>
              </a:rPr>
              <a:t>traffic</a:t>
            </a:r>
            <a:r>
              <a:rPr kumimoji="0" lang="en-US" altLang="en-US" sz="1500" b="0" i="0" u="none" strike="noStrike" cap="none" normalizeH="0" baseline="0" dirty="0" err="1" smtClean="0">
                <a:ln>
                  <a:noFill/>
                </a:ln>
                <a:solidFill>
                  <a:srgbClr val="5A6475"/>
                </a:solidFill>
                <a:effectLst/>
                <a:latin typeface="Roboto-Idcloud"/>
              </a:rPr>
              <a:t>.The</a:t>
            </a:r>
            <a:r>
              <a:rPr kumimoji="0" lang="en-US" altLang="en-US" sz="1500" b="0" i="0" u="none" strike="noStrike" cap="none" normalizeH="0" baseline="0" dirty="0" smtClean="0">
                <a:ln>
                  <a:noFill/>
                </a:ln>
                <a:solidFill>
                  <a:srgbClr val="5A6475"/>
                </a:solidFill>
                <a:effectLst/>
                <a:latin typeface="Roboto-Idcloud"/>
              </a:rPr>
              <a:t> Cloud Console adds a network tag to your VM and creates the corresponding ingress firewall rule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 The network tag associates the firewall rule with the VM. For more information, see </a:t>
            </a:r>
            <a:r>
              <a:rPr kumimoji="0" lang="en-US" altLang="en-US" sz="1500" b="0" i="0" u="sng" strike="noStrike" cap="none" normalizeH="0" baseline="0" dirty="0" smtClean="0">
                <a:ln>
                  <a:noFill/>
                </a:ln>
                <a:solidFill>
                  <a:srgbClr val="0D6EFD"/>
                </a:solidFill>
                <a:effectLst/>
                <a:latin typeface="Roboto-Idcloud"/>
                <a:hlinkClick r:id="rId40"/>
              </a:rPr>
              <a:t>Firewall rules overview</a:t>
            </a:r>
            <a:r>
              <a:rPr kumimoji="0" lang="en-US" altLang="en-US" sz="1500" b="0" i="0" u="none" strike="noStrike" cap="none" normalizeH="0" baseline="0" dirty="0" smtClean="0">
                <a:ln>
                  <a:noFill/>
                </a:ln>
                <a:solidFill>
                  <a:srgbClr val="5A6475"/>
                </a:solidFill>
                <a:effectLst/>
                <a:latin typeface="Roboto-Idcloud"/>
              </a:rPr>
              <a:t> in the Virtual Private Cloud documentation.</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To start and create a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Create a VM instance from a snapshot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If you backed up a boot persistent disk with a </a:t>
            </a:r>
            <a:r>
              <a:rPr kumimoji="0" lang="en-US" altLang="en-US" sz="1500" b="0" i="0" u="sng" strike="noStrike" cap="none" normalizeH="0" baseline="0" dirty="0" smtClean="0">
                <a:ln>
                  <a:noFill/>
                </a:ln>
                <a:solidFill>
                  <a:srgbClr val="0D6EFD"/>
                </a:solidFill>
                <a:effectLst/>
                <a:latin typeface="Roboto-Idcloud"/>
                <a:hlinkClick r:id="rId48"/>
              </a:rPr>
              <a:t>snapshot</a:t>
            </a:r>
            <a:r>
              <a:rPr kumimoji="0" lang="en-US" altLang="en-US" sz="1500" b="0" i="0" u="none" strike="noStrike" cap="none" normalizeH="0" baseline="0" dirty="0" smtClean="0">
                <a:ln>
                  <a:noFill/>
                </a:ln>
                <a:solidFill>
                  <a:srgbClr val="5A6475"/>
                </a:solidFill>
                <a:effectLst/>
                <a:latin typeface="Roboto-Idcloud"/>
              </a:rPr>
              <a:t>, you can use that snapshot to create a VM.</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To quickly create more than one VM with the same boot disk, </a:t>
            </a:r>
            <a:r>
              <a:rPr kumimoji="0" lang="en-US" altLang="en-US" sz="1500" b="0" i="0" u="sng" strike="noStrike" cap="none" normalizeH="0" baseline="0" dirty="0" smtClean="0">
                <a:ln>
                  <a:noFill/>
                </a:ln>
                <a:solidFill>
                  <a:srgbClr val="0D6EFD"/>
                </a:solidFill>
                <a:effectLst/>
                <a:latin typeface="Roboto-Idcloud"/>
                <a:hlinkClick r:id="rId26"/>
              </a:rPr>
              <a:t>create a custom image</a:t>
            </a:r>
            <a:r>
              <a:rPr kumimoji="0" lang="en-US" altLang="en-US" sz="1500" b="0" i="0" u="none" strike="noStrike" cap="none" normalizeH="0" baseline="0" dirty="0" smtClean="0">
                <a:ln>
                  <a:noFill/>
                </a:ln>
                <a:solidFill>
                  <a:srgbClr val="5A6475"/>
                </a:solidFill>
                <a:effectLst/>
                <a:latin typeface="Roboto-Idcloud"/>
              </a:rPr>
              <a:t> and, then </a:t>
            </a:r>
            <a:r>
              <a:rPr kumimoji="0" lang="en-US" altLang="en-US" sz="1500" b="0" i="0" u="sng" strike="noStrike" cap="none" normalizeH="0" baseline="0" dirty="0" smtClean="0">
                <a:ln>
                  <a:noFill/>
                </a:ln>
                <a:solidFill>
                  <a:srgbClr val="0D6EFD"/>
                </a:solidFill>
                <a:effectLst/>
                <a:latin typeface="Roboto-Idcloud"/>
                <a:hlinkClick r:id="rId49"/>
              </a:rPr>
              <a:t>create VMs from that image</a:t>
            </a:r>
            <a:r>
              <a:rPr kumimoji="0" lang="en-US" altLang="en-US" sz="1500" b="0" i="0" u="none" strike="noStrike" cap="none" normalizeH="0" baseline="0" dirty="0" smtClean="0">
                <a:ln>
                  <a:noFill/>
                </a:ln>
                <a:solidFill>
                  <a:srgbClr val="5A6475"/>
                </a:solidFill>
                <a:effectLst/>
                <a:latin typeface="Roboto-Idcloud"/>
              </a:rPr>
              <a:t> rather than from the </a:t>
            </a:r>
            <a:r>
              <a:rPr kumimoji="0" lang="en-US" altLang="en-US" sz="1500" b="0" i="0" u="none" strike="noStrike" cap="none" normalizeH="0" baseline="0" dirty="0" err="1" smtClean="0">
                <a:ln>
                  <a:noFill/>
                </a:ln>
                <a:solidFill>
                  <a:srgbClr val="5A6475"/>
                </a:solidFill>
                <a:effectLst/>
                <a:latin typeface="Roboto-Idcloud"/>
              </a:rPr>
              <a:t>snapshot.</a:t>
            </a:r>
            <a:r>
              <a:rPr kumimoji="0" lang="en-US" altLang="en-US" sz="1500" b="1" i="0" u="none" strike="noStrike" cap="none" normalizeH="0" baseline="0" dirty="0" err="1" smtClean="0">
                <a:ln>
                  <a:noFill/>
                </a:ln>
                <a:solidFill>
                  <a:srgbClr val="5A6475"/>
                </a:solidFill>
                <a:effectLst/>
                <a:latin typeface="Roboto-Idcloud"/>
              </a:rPr>
              <a:t>Important</a:t>
            </a:r>
            <a:r>
              <a:rPr kumimoji="0" lang="en-US" altLang="en-US" sz="1500" b="1" i="0" u="none" strike="noStrike" cap="none" normalizeH="0" baseline="0" dirty="0" smtClean="0">
                <a:ln>
                  <a:noFill/>
                </a:ln>
                <a:solidFill>
                  <a:srgbClr val="5A6475"/>
                </a:solidFill>
                <a:effectLst/>
                <a:latin typeface="Roboto-Idcloud"/>
              </a:rPr>
              <a:t>:</a:t>
            </a:r>
            <a:r>
              <a:rPr kumimoji="0" lang="en-US" altLang="en-US" sz="1500" b="0" i="0" u="none" strike="noStrike" cap="none" normalizeH="0" baseline="0" dirty="0" smtClean="0">
                <a:ln>
                  <a:noFill/>
                </a:ln>
                <a:solidFill>
                  <a:srgbClr val="5A6475"/>
                </a:solidFill>
                <a:effectLst/>
                <a:latin typeface="Roboto-Idcloud"/>
              </a:rPr>
              <a:t> If you create a VM from a disk snapshot based on a </a:t>
            </a:r>
            <a:r>
              <a:rPr kumimoji="0" lang="en-US" altLang="en-US" sz="1500" b="0" i="0" u="sng" strike="noStrike" cap="none" normalizeH="0" baseline="0" dirty="0" smtClean="0">
                <a:ln>
                  <a:noFill/>
                </a:ln>
                <a:solidFill>
                  <a:srgbClr val="0D6EFD"/>
                </a:solidFill>
                <a:effectLst/>
                <a:latin typeface="Roboto-Idcloud"/>
                <a:hlinkClick r:id="rId4"/>
              </a:rPr>
              <a:t>Shielded VM</a:t>
            </a:r>
            <a:r>
              <a:rPr kumimoji="0" lang="en-US" altLang="en-US" sz="1500" b="0" i="0" u="none" strike="noStrike" cap="none" normalizeH="0" baseline="0" dirty="0" smtClean="0">
                <a:ln>
                  <a:noFill/>
                </a:ln>
                <a:solidFill>
                  <a:srgbClr val="5A6475"/>
                </a:solidFill>
                <a:effectLst/>
                <a:latin typeface="Roboto-Idcloud"/>
              </a:rPr>
              <a:t> image, the original integrity policy baseline is lost and the first set of boot sequence measurements on the new VM is used as the new baseline. Because this new set of measurements is not verified, you must validate the boot integrity of the VM after you restore from a snapshot. You can do this by manually examining the boot log and verifying that the proper keys are loaded into the </a:t>
            </a:r>
            <a:r>
              <a:rPr kumimoji="0" lang="en-US" altLang="en-US" sz="1500" b="0" i="0" u="none" strike="noStrike" cap="none" normalizeH="0" baseline="0" dirty="0" err="1" smtClean="0">
                <a:ln>
                  <a:noFill/>
                </a:ln>
                <a:solidFill>
                  <a:srgbClr val="5A6475"/>
                </a:solidFill>
                <a:effectLst/>
                <a:latin typeface="Roboto-Idcloud"/>
              </a:rPr>
              <a:t>SecureBoot</a:t>
            </a:r>
            <a:r>
              <a:rPr kumimoji="0" lang="en-US" altLang="en-US" sz="1500" b="0" i="0" u="none" strike="noStrike" cap="none" normalizeH="0" baseline="0" dirty="0" smtClean="0">
                <a:ln>
                  <a:noFill/>
                </a:ln>
                <a:solidFill>
                  <a:srgbClr val="5A6475"/>
                </a:solidFill>
                <a:effectLst/>
                <a:latin typeface="Roboto-Idcloud"/>
              </a:rPr>
              <a:t> database, and that the expected kernel version is running. Also, secrets saved in the </a:t>
            </a:r>
            <a:r>
              <a:rPr kumimoji="0" lang="en-US" altLang="en-US" sz="1500" b="0" i="0" u="none" strike="noStrike" cap="none" normalizeH="0" baseline="0" dirty="0" err="1" smtClean="0">
                <a:ln>
                  <a:noFill/>
                </a:ln>
                <a:solidFill>
                  <a:srgbClr val="5A6475"/>
                </a:solidFill>
                <a:effectLst/>
                <a:latin typeface="Roboto-Idcloud"/>
              </a:rPr>
              <a:t>vTPM</a:t>
            </a:r>
            <a:r>
              <a:rPr kumimoji="0" lang="en-US" altLang="en-US" sz="1500" b="0" i="0" u="none" strike="noStrike" cap="none" normalizeH="0" baseline="0" dirty="0" smtClean="0">
                <a:ln>
                  <a:noFill/>
                </a:ln>
                <a:solidFill>
                  <a:srgbClr val="5A6475"/>
                </a:solidFill>
                <a:effectLst/>
                <a:latin typeface="Roboto-Idcloud"/>
              </a:rPr>
              <a:t> on the originating VM are not accessible on VMs restored from a snapshot of that VM.</a:t>
            </a: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Create a VM instance boot disk from a snapshot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You can restore a snapshot of a boot disk to a new boot disk when you create a </a:t>
            </a:r>
            <a:r>
              <a:rPr kumimoji="0" lang="en-US" altLang="en-US" sz="1500" b="0" i="0" u="none" strike="noStrike" cap="none" normalizeH="0" baseline="0" dirty="0" err="1" smtClean="0">
                <a:ln>
                  <a:noFill/>
                </a:ln>
                <a:solidFill>
                  <a:srgbClr val="5A6475"/>
                </a:solidFill>
                <a:effectLst/>
                <a:latin typeface="Roboto-Idcloud"/>
              </a:rPr>
              <a:t>VM.Permissions</a:t>
            </a:r>
            <a:r>
              <a:rPr kumimoji="0" lang="en-US" altLang="en-US" sz="1500" b="0" i="0" u="none" strike="noStrike" cap="none" normalizeH="0" baseline="0" dirty="0" smtClean="0">
                <a:ln>
                  <a:noFill/>
                </a:ln>
                <a:solidFill>
                  <a:srgbClr val="5A6475"/>
                </a:solidFill>
                <a:effectLst/>
                <a:latin typeface="Roboto-Idcloud"/>
              </a:rPr>
              <a:t>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configuration</a:t>
            </a:r>
            <a:r>
              <a:rPr kumimoji="0" lang="en-US" altLang="en-US" sz="1500" b="0" i="0" u="none" strike="noStrike" cap="none" normalizeH="0" baseline="0" dirty="0" smtClean="0">
                <a:ln>
                  <a:noFill/>
                </a:ln>
                <a:solidFill>
                  <a:srgbClr val="5A6475"/>
                </a:solidFill>
                <a:effectLst/>
                <a:latin typeface="Roboto-Idcloud"/>
              </a:rPr>
              <a:t> for your VM.</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Boot disk</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Change</a:t>
            </a:r>
            <a:r>
              <a:rPr kumimoji="0" lang="en-US" altLang="en-US" sz="1500" b="0" i="0" u="none" strike="noStrike" cap="none" normalizeH="0" baseline="0" dirty="0" smtClean="0">
                <a:ln>
                  <a:noFill/>
                </a:ln>
                <a:solidFill>
                  <a:srgbClr val="5A6475"/>
                </a:solidFill>
                <a:effectLst/>
                <a:latin typeface="Roboto-Idcloud"/>
              </a:rPr>
              <a:t>, and then do the following:</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Click the </a:t>
            </a:r>
            <a:r>
              <a:rPr kumimoji="0" lang="en-US" altLang="en-US" sz="1500" b="1" i="0" u="none" strike="noStrike" cap="none" normalizeH="0" baseline="0" dirty="0" smtClean="0">
                <a:ln>
                  <a:noFill/>
                </a:ln>
                <a:solidFill>
                  <a:srgbClr val="5A6475"/>
                </a:solidFill>
                <a:effectLst/>
                <a:latin typeface="Roboto-Idcloud"/>
              </a:rPr>
              <a:t>Snapshots</a:t>
            </a:r>
            <a:r>
              <a:rPr kumimoji="0" lang="en-US" altLang="en-US" sz="1500" b="0" i="0" u="none" strike="noStrike" cap="none" normalizeH="0" baseline="0" dirty="0" smtClean="0">
                <a:ln>
                  <a:noFill/>
                </a:ln>
                <a:solidFill>
                  <a:srgbClr val="5A6475"/>
                </a:solidFill>
                <a:effectLst/>
                <a:latin typeface="Roboto-Idcloud"/>
              </a:rPr>
              <a:t> tab.</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Snapshot</a:t>
            </a:r>
            <a:r>
              <a:rPr kumimoji="0" lang="en-US" altLang="en-US" sz="1500" b="0" i="0" u="none" strike="noStrike" cap="none" normalizeH="0" baseline="0" dirty="0" smtClean="0">
                <a:ln>
                  <a:noFill/>
                </a:ln>
                <a:solidFill>
                  <a:srgbClr val="5A6475"/>
                </a:solidFill>
                <a:effectLst/>
                <a:latin typeface="Roboto-Idcloud"/>
              </a:rPr>
              <a:t> list, click a snapshot.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Specify the boot disk type and size.</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Optional: For advanced configuration options, click </a:t>
            </a:r>
            <a:r>
              <a:rPr kumimoji="0" lang="en-US" altLang="en-US" sz="1500" b="1" i="0" u="none" strike="noStrike" cap="none" normalizeH="0" baseline="0" dirty="0" smtClean="0">
                <a:ln>
                  <a:noFill/>
                </a:ln>
                <a:solidFill>
                  <a:srgbClr val="5A6475"/>
                </a:solidFill>
                <a:effectLst/>
                <a:latin typeface="Roboto-Idcloud"/>
              </a:rPr>
              <a:t>Show advanced configurations</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To confirm your boot disk options, click </a:t>
            </a:r>
            <a:r>
              <a:rPr kumimoji="0" lang="en-US" altLang="en-US" sz="1500" b="1" i="0" u="none" strike="noStrike" cap="none" normalizeH="0" baseline="0" dirty="0" smtClean="0">
                <a:ln>
                  <a:noFill/>
                </a:ln>
                <a:solidFill>
                  <a:srgbClr val="5A6475"/>
                </a:solidFill>
                <a:effectLst/>
                <a:latin typeface="Roboto-Idcloud"/>
              </a:rPr>
              <a:t>Select</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to permit HTTP or HTTPS traffic to the VM,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a:t>
            </a:r>
            <a:r>
              <a:rPr kumimoji="0" lang="en-US" altLang="en-US" sz="1500" b="1" i="0" u="none" strike="noStrike" cap="none" normalizeH="0" baseline="0" dirty="0" err="1" smtClean="0">
                <a:ln>
                  <a:noFill/>
                </a:ln>
                <a:solidFill>
                  <a:srgbClr val="5A6475"/>
                </a:solidFill>
                <a:effectLst/>
                <a:latin typeface="Roboto-Idcloud"/>
              </a:rPr>
              <a:t>traffic</a:t>
            </a:r>
            <a:r>
              <a:rPr kumimoji="0" lang="en-US" altLang="en-US" sz="1500" b="0" i="0" u="none" strike="noStrike" cap="none" normalizeH="0" baseline="0" dirty="0" err="1" smtClean="0">
                <a:ln>
                  <a:noFill/>
                </a:ln>
                <a:solidFill>
                  <a:srgbClr val="5A6475"/>
                </a:solidFill>
                <a:effectLst/>
                <a:latin typeface="Roboto-Idcloud"/>
              </a:rPr>
              <a:t>.The</a:t>
            </a:r>
            <a:r>
              <a:rPr kumimoji="0" lang="en-US" altLang="en-US" sz="1500" b="0" i="0" u="none" strike="noStrike" cap="none" normalizeH="0" baseline="0" dirty="0" smtClean="0">
                <a:ln>
                  <a:noFill/>
                </a:ln>
                <a:solidFill>
                  <a:srgbClr val="5A6475"/>
                </a:solidFill>
                <a:effectLst/>
                <a:latin typeface="Roboto-Idcloud"/>
              </a:rPr>
              <a:t> Cloud Console adds a network tag to your VM and creates the corresponding ingress firewall rule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 The network tag associates the firewall rule with the VM. For more information, see </a:t>
            </a:r>
            <a:r>
              <a:rPr kumimoji="0" lang="en-US" altLang="en-US" sz="1500" b="0" i="0" u="sng" strike="noStrike" cap="none" normalizeH="0" baseline="0" dirty="0" smtClean="0">
                <a:ln>
                  <a:noFill/>
                </a:ln>
                <a:solidFill>
                  <a:srgbClr val="0D6EFD"/>
                </a:solidFill>
                <a:effectLst/>
                <a:latin typeface="Roboto-Idcloud"/>
                <a:hlinkClick r:id="rId40"/>
              </a:rPr>
              <a:t>Firewall rules overview</a:t>
            </a:r>
            <a:r>
              <a:rPr kumimoji="0" lang="en-US" altLang="en-US" sz="1500" b="0" i="0" u="none" strike="noStrike" cap="none" normalizeH="0" baseline="0" dirty="0" smtClean="0">
                <a:ln>
                  <a:noFill/>
                </a:ln>
                <a:solidFill>
                  <a:srgbClr val="5A6475"/>
                </a:solidFill>
                <a:effectLst/>
                <a:latin typeface="Roboto-Idcloud"/>
              </a:rPr>
              <a:t> in the Virtual Private Cloud documentation.</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0" i="0" u="none" strike="noStrike" cap="none" normalizeH="0" baseline="0" dirty="0" smtClean="0">
                <a:ln>
                  <a:noFill/>
                </a:ln>
                <a:solidFill>
                  <a:srgbClr val="5A6475"/>
                </a:solidFill>
                <a:effectLst/>
                <a:latin typeface="Roboto-Idcloud"/>
              </a:rPr>
              <a:t>Restore non-boot snapshots to a new VM instance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Non-boot snapshots are backups of secondary persistent disks that your VM uses only for data storage. You can restore non-boot snapshots to new disks whenever you create a VM. Alternatively, you can also restore non-boot snapshots to an existing VM.</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To restore non-boot snapshots to a new VM, follow these additional steps when you create a </a:t>
            </a:r>
            <a:r>
              <a:rPr kumimoji="0" lang="en-US" altLang="en-US" sz="1500" b="0" i="0" u="none" strike="noStrike" cap="none" normalizeH="0" baseline="0" dirty="0" err="1" smtClean="0">
                <a:ln>
                  <a:noFill/>
                </a:ln>
                <a:solidFill>
                  <a:srgbClr val="5A6475"/>
                </a:solidFill>
                <a:effectLst/>
                <a:latin typeface="Roboto-Idcloud"/>
              </a:rPr>
              <a:t>VM.Permissions</a:t>
            </a:r>
            <a:r>
              <a:rPr kumimoji="0" lang="en-US" altLang="en-US" sz="1500" b="0" i="0" u="none" strike="noStrike" cap="none" normalizeH="0" baseline="0" dirty="0" smtClean="0">
                <a:ln>
                  <a:noFill/>
                </a:ln>
                <a:solidFill>
                  <a:srgbClr val="5A6475"/>
                </a:solidFill>
                <a:effectLst/>
                <a:latin typeface="Roboto-Idcloud"/>
              </a:rPr>
              <a:t>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When restoring non-boot snapshots to a new VM from the console, first create a disk from each snapshot. Then, attach the new disks when you create the VM.</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Restore each non-boot snapshot to a new disk.</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Disks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50"/>
              </a:rPr>
              <a:t>Go</a:t>
            </a:r>
            <a:r>
              <a:rPr kumimoji="0" lang="en-US" altLang="en-US" sz="1500" b="0" i="0" u="sng" strike="noStrike" cap="none" normalizeH="0" baseline="0" dirty="0" smtClean="0">
                <a:ln>
                  <a:noFill/>
                </a:ln>
                <a:solidFill>
                  <a:srgbClr val="0D6EFD"/>
                </a:solidFill>
                <a:effectLst/>
                <a:latin typeface="Roboto-Idcloud"/>
                <a:hlinkClick r:id="rId50"/>
              </a:rPr>
              <a:t> to Disks</a:t>
            </a:r>
            <a:endParaRPr kumimoji="0" lang="en-US" altLang="en-US" sz="1500" b="0" i="0" u="none" strike="noStrike" cap="none" normalizeH="0" baseline="0" dirty="0" smtClean="0">
              <a:ln>
                <a:noFill/>
              </a:ln>
              <a:solidFill>
                <a:srgbClr val="5A6475"/>
              </a:solidFill>
              <a:effectLst/>
              <a:latin typeface="Roboto-Idcloud"/>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disk</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disk.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Select the </a:t>
            </a:r>
            <a:r>
              <a:rPr kumimoji="0" lang="en-US" altLang="en-US" sz="1500" b="1" i="0" u="none" strike="noStrike" cap="none" normalizeH="0" baseline="0" dirty="0" smtClean="0">
                <a:ln>
                  <a:noFill/>
                </a:ln>
                <a:solidFill>
                  <a:srgbClr val="5A6475"/>
                </a:solidFill>
                <a:effectLst/>
                <a:latin typeface="Roboto-Idcloud"/>
              </a:rPr>
              <a:t>Region</a:t>
            </a:r>
            <a:r>
              <a:rPr kumimoji="0" lang="en-US" altLang="en-US" sz="1500" b="0" i="0" u="none" strike="noStrike" cap="none" normalizeH="0" baseline="0" dirty="0" smtClean="0">
                <a:ln>
                  <a:noFill/>
                </a:ln>
                <a:solidFill>
                  <a:srgbClr val="5A6475"/>
                </a:solidFill>
                <a:effectLst/>
                <a:latin typeface="Roboto-Idcloud"/>
              </a:rPr>
              <a:t> and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disk. The disk and VM must be in the same zone.</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Select a disk </a:t>
            </a:r>
            <a:r>
              <a:rPr kumimoji="0" lang="en-US" altLang="en-US" sz="1500" b="1" i="0" u="none" strike="noStrike" cap="none" normalizeH="0" baseline="0" dirty="0" smtClean="0">
                <a:ln>
                  <a:noFill/>
                </a:ln>
                <a:solidFill>
                  <a:srgbClr val="5A6475"/>
                </a:solidFill>
                <a:effectLst/>
                <a:latin typeface="Roboto-Idcloud"/>
              </a:rPr>
              <a:t>Type</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Under </a:t>
            </a:r>
            <a:r>
              <a:rPr kumimoji="0" lang="en-US" altLang="en-US" sz="1500" b="1" i="0" u="none" strike="noStrike" cap="none" normalizeH="0" baseline="0" dirty="0" smtClean="0">
                <a:ln>
                  <a:noFill/>
                </a:ln>
                <a:solidFill>
                  <a:srgbClr val="5A6475"/>
                </a:solidFill>
                <a:effectLst/>
                <a:latin typeface="Roboto-Idcloud"/>
              </a:rPr>
              <a:t>Source type</a:t>
            </a:r>
            <a:r>
              <a:rPr kumimoji="0" lang="en-US" altLang="en-US" sz="1500" b="0" i="0" u="none" strike="noStrike" cap="none" normalizeH="0" baseline="0" dirty="0" smtClean="0">
                <a:ln>
                  <a:noFill/>
                </a:ln>
                <a:solidFill>
                  <a:srgbClr val="5A6475"/>
                </a:solidFill>
                <a:effectLst/>
                <a:latin typeface="Roboto-Idcloud"/>
              </a:rPr>
              <a:t>, select </a:t>
            </a:r>
            <a:r>
              <a:rPr kumimoji="0" lang="en-US" altLang="en-US" sz="1500" b="1" i="0" u="none" strike="noStrike" cap="none" normalizeH="0" baseline="0" dirty="0" smtClean="0">
                <a:ln>
                  <a:noFill/>
                </a:ln>
                <a:solidFill>
                  <a:srgbClr val="5A6475"/>
                </a:solidFill>
                <a:effectLst/>
                <a:latin typeface="Roboto-Idcloud"/>
              </a:rPr>
              <a:t>Snapshot</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Under the new </a:t>
            </a:r>
            <a:r>
              <a:rPr kumimoji="0" lang="en-US" altLang="en-US" sz="1500" b="1" i="0" u="none" strike="noStrike" cap="none" normalizeH="0" baseline="0" dirty="0" smtClean="0">
                <a:ln>
                  <a:noFill/>
                </a:ln>
                <a:solidFill>
                  <a:srgbClr val="5A6475"/>
                </a:solidFill>
                <a:effectLst/>
                <a:latin typeface="Roboto-Idcloud"/>
              </a:rPr>
              <a:t>Source snapshot</a:t>
            </a:r>
            <a:r>
              <a:rPr kumimoji="0" lang="en-US" altLang="en-US" sz="1500" b="0" i="0" u="none" strike="noStrike" cap="none" normalizeH="0" baseline="0" dirty="0" smtClean="0">
                <a:ln>
                  <a:noFill/>
                </a:ln>
                <a:solidFill>
                  <a:srgbClr val="5A6475"/>
                </a:solidFill>
                <a:effectLst/>
                <a:latin typeface="Roboto-Idcloud"/>
              </a:rPr>
              <a:t> field, select a non-boot snapshot that you want to restore to the new disk.</a:t>
            </a:r>
          </a:p>
          <a:p>
            <a:pPr marL="457200" marR="0" lvl="1"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To create the disk,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Repeat these steps to create a disk from each snapshot that you want to restore. When creating a VM, you can add up to 15 non-boot disks.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the </a:t>
            </a:r>
            <a:r>
              <a:rPr kumimoji="0" lang="en-US" altLang="en-US" sz="1500" b="1" i="0" u="none" strike="noStrike" cap="none" normalizeH="0" baseline="0" dirty="0" smtClean="0">
                <a:ln>
                  <a:noFill/>
                </a:ln>
                <a:solidFill>
                  <a:srgbClr val="5A6475"/>
                </a:solidFill>
                <a:effectLst/>
                <a:latin typeface="Roboto-Idcloud"/>
              </a:rPr>
              <a:t>Region</a:t>
            </a:r>
            <a:r>
              <a:rPr kumimoji="0" lang="en-US" altLang="en-US" sz="1500" b="0" i="0" u="none" strike="noStrike" cap="none" normalizeH="0" baseline="0" dirty="0" smtClean="0">
                <a:ln>
                  <a:noFill/>
                </a:ln>
                <a:solidFill>
                  <a:srgbClr val="5A6475"/>
                </a:solidFill>
                <a:effectLst/>
                <a:latin typeface="Roboto-Idcloud"/>
              </a:rPr>
              <a:t> and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The disk and VM must be in the same zone.</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Select a </a:t>
            </a:r>
            <a:r>
              <a:rPr kumimoji="0" lang="en-US" altLang="en-US" sz="1500" b="1" i="0" u="none" strike="noStrike" cap="none" normalizeH="0" baseline="0" dirty="0" smtClean="0">
                <a:ln>
                  <a:noFill/>
                </a:ln>
                <a:solidFill>
                  <a:srgbClr val="5A6475"/>
                </a:solidFill>
                <a:effectLst/>
                <a:latin typeface="Roboto-Idcloud"/>
              </a:rPr>
              <a:t>Machine type</a:t>
            </a:r>
            <a:r>
              <a:rPr kumimoji="0" lang="en-US" altLang="en-US" sz="1500" b="0" i="0" u="none" strike="noStrike" cap="none" normalizeH="0" baseline="0" dirty="0" smtClean="0">
                <a:ln>
                  <a:noFill/>
                </a:ln>
                <a:solidFill>
                  <a:srgbClr val="5A6475"/>
                </a:solidFill>
                <a:effectLst/>
                <a:latin typeface="Roboto-Idcloud"/>
              </a:rPr>
              <a:t> for your VM.</a:t>
            </a:r>
          </a:p>
          <a:p>
            <a:pPr marL="457200" marR="0" lvl="1"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If you want to allow incoming external traffic, change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rules for the VM.</a:t>
            </a:r>
          </a:p>
          <a:p>
            <a:pPr marL="457200" marR="0" lvl="1"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To attach disks to the VM, expand the </a:t>
            </a:r>
            <a:r>
              <a:rPr kumimoji="0" lang="en-US" altLang="en-US" sz="1500" b="1" i="0" u="none" strike="noStrike" cap="none" normalizeH="0" baseline="0" dirty="0" smtClean="0">
                <a:ln>
                  <a:noFill/>
                </a:ln>
                <a:solidFill>
                  <a:srgbClr val="5A6475"/>
                </a:solidFill>
                <a:effectLst/>
                <a:latin typeface="Roboto-Idcloud"/>
              </a:rPr>
              <a:t>Networking, disks, security, management, sole tenancy</a:t>
            </a:r>
            <a:r>
              <a:rPr kumimoji="0" lang="en-US" altLang="en-US" sz="1500" b="0" i="0" u="none" strike="noStrike" cap="none" normalizeH="0" baseline="0" dirty="0" smtClean="0">
                <a:ln>
                  <a:noFill/>
                </a:ln>
                <a:solidFill>
                  <a:srgbClr val="5A6475"/>
                </a:solidFill>
                <a:effectLst/>
                <a:latin typeface="Roboto-Idcloud"/>
              </a:rPr>
              <a:t> section, and then do the following:</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Expand the </a:t>
            </a:r>
            <a:r>
              <a:rPr kumimoji="0" lang="en-US" altLang="en-US" sz="1500" b="1" i="0" u="none" strike="noStrike" cap="none" normalizeH="0" baseline="0" dirty="0" smtClean="0">
                <a:ln>
                  <a:noFill/>
                </a:ln>
                <a:solidFill>
                  <a:srgbClr val="5A6475"/>
                </a:solidFill>
                <a:effectLst/>
                <a:latin typeface="Roboto-Idcloud"/>
              </a:rPr>
              <a:t>Disks</a:t>
            </a:r>
            <a:r>
              <a:rPr kumimoji="0" lang="en-US" altLang="en-US" sz="1500" b="0" i="0" u="none" strike="noStrike" cap="none" normalizeH="0" baseline="0" dirty="0" smtClean="0">
                <a:ln>
                  <a:noFill/>
                </a:ln>
                <a:solidFill>
                  <a:srgbClr val="5A6475"/>
                </a:solidFill>
                <a:effectLst/>
                <a:latin typeface="Roboto-Idcloud"/>
              </a:rPr>
              <a:t> section.</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Attach existing disk</a:t>
            </a:r>
            <a:r>
              <a:rPr kumimoji="0" lang="en-US" altLang="en-US" sz="1500" b="0" i="0" u="none" strike="noStrike" cap="none" normalizeH="0" baseline="0" dirty="0" smtClean="0">
                <a:ln>
                  <a:noFill/>
                </a:ln>
                <a:solidFill>
                  <a:srgbClr val="5A6475"/>
                </a:solidFill>
                <a:effectLst/>
                <a:latin typeface="Roboto-Idcloud"/>
              </a:rPr>
              <a:t>.</a:t>
            </a:r>
          </a:p>
          <a:p>
            <a:pPr marL="1371600" marR="0" lvl="3"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Disk</a:t>
            </a:r>
            <a:r>
              <a:rPr kumimoji="0" lang="en-US" altLang="en-US" sz="1500" b="0" i="0" u="none" strike="noStrike" cap="none" normalizeH="0" baseline="0" dirty="0" smtClean="0">
                <a:ln>
                  <a:noFill/>
                </a:ln>
                <a:solidFill>
                  <a:srgbClr val="5A6475"/>
                </a:solidFill>
                <a:effectLst/>
                <a:latin typeface="Roboto-Idcloud"/>
              </a:rPr>
              <a:t> list, select a disk to attach to this VM.</a:t>
            </a:r>
          </a:p>
          <a:p>
            <a:pPr marL="1371600" marR="0" lvl="3"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Attachment Setting</a:t>
            </a:r>
            <a:r>
              <a:rPr kumimoji="0" lang="en-US" altLang="en-US" sz="1500" b="0" i="0" u="none" strike="noStrike" cap="none" normalizeH="0" baseline="0" dirty="0" smtClean="0">
                <a:ln>
                  <a:noFill/>
                </a:ln>
                <a:solidFill>
                  <a:srgbClr val="5A6475"/>
                </a:solidFill>
                <a:effectLst/>
                <a:latin typeface="Roboto-Idcloud"/>
              </a:rPr>
              <a:t> section, select disk's attachment </a:t>
            </a:r>
            <a:r>
              <a:rPr kumimoji="0" lang="en-US" altLang="en-US" sz="1500" b="1" i="0" u="none" strike="noStrike" cap="none" normalizeH="0" baseline="0" dirty="0" smtClean="0">
                <a:ln>
                  <a:noFill/>
                </a:ln>
                <a:solidFill>
                  <a:srgbClr val="5A6475"/>
                </a:solidFill>
                <a:effectLst/>
                <a:latin typeface="Roboto-Idcloud"/>
              </a:rPr>
              <a:t>Mode</a:t>
            </a:r>
            <a:r>
              <a:rPr kumimoji="0" lang="en-US" altLang="en-US" sz="1500" b="0" i="0" u="none" strike="noStrike" cap="none" normalizeH="0" baseline="0" dirty="0" smtClean="0">
                <a:ln>
                  <a:noFill/>
                </a:ln>
                <a:solidFill>
                  <a:srgbClr val="5A6475"/>
                </a:solidFill>
                <a:effectLst/>
                <a:latin typeface="Roboto-Idcloud"/>
              </a:rPr>
              <a:t> and the </a:t>
            </a:r>
            <a:r>
              <a:rPr kumimoji="0" lang="en-US" altLang="en-US" sz="1500" b="1" i="0" u="none" strike="noStrike" cap="none" normalizeH="0" baseline="0" dirty="0" smtClean="0">
                <a:ln>
                  <a:noFill/>
                </a:ln>
                <a:solidFill>
                  <a:srgbClr val="5A6475"/>
                </a:solidFill>
                <a:effectLst/>
                <a:latin typeface="Roboto-Idcloud"/>
              </a:rPr>
              <a:t>Deletion rule</a:t>
            </a:r>
            <a:r>
              <a:rPr kumimoji="0" lang="en-US" altLang="en-US" sz="1500" b="0" i="0" u="none" strike="noStrike" cap="none" normalizeH="0" baseline="0" dirty="0" smtClean="0">
                <a:ln>
                  <a:noFill/>
                </a:ln>
                <a:solidFill>
                  <a:srgbClr val="5A6475"/>
                </a:solidFill>
                <a:effectLst/>
                <a:latin typeface="Roboto-Idcloud"/>
              </a:rPr>
              <a:t>. For more information about adding new disks, see </a:t>
            </a:r>
            <a:r>
              <a:rPr kumimoji="0" lang="en-US" altLang="en-US" sz="1500" b="0" i="0" u="sng" strike="noStrike" cap="none" normalizeH="0" baseline="0" dirty="0" smtClean="0">
                <a:ln>
                  <a:noFill/>
                </a:ln>
                <a:solidFill>
                  <a:srgbClr val="0D6EFD"/>
                </a:solidFill>
                <a:effectLst/>
                <a:latin typeface="Roboto-Idcloud"/>
                <a:hlinkClick r:id="rId6"/>
              </a:rPr>
              <a:t>Creating and attaching a disk</a:t>
            </a:r>
            <a:r>
              <a:rPr kumimoji="0" lang="en-US" altLang="en-US" sz="1500" b="0" i="0" u="none" strike="noStrike" cap="none" normalizeH="0" baseline="0" dirty="0" smtClean="0">
                <a:ln>
                  <a:noFill/>
                </a:ln>
                <a:solidFill>
                  <a:srgbClr val="5A6475"/>
                </a:solidFill>
                <a:effectLst/>
                <a:latin typeface="Roboto-Idcloud"/>
              </a:rPr>
              <a:t>.</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Save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Repeat these steps for each disk that you want to attach. When creating a VM, you can add up to 15 non-boot disks.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Create a VM instance from a container image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To deploy and launch a container on a Compute Engine VM, specify a container image name and optional configuration parameters when you create the VM. Compute Engine creates the VM by using the latest version of the </a:t>
            </a:r>
            <a:r>
              <a:rPr kumimoji="0" lang="en-US" altLang="en-US" sz="1500" b="0" i="0" u="sng" strike="noStrike" cap="none" normalizeH="0" baseline="0" dirty="0" smtClean="0">
                <a:ln>
                  <a:noFill/>
                </a:ln>
                <a:solidFill>
                  <a:srgbClr val="0D6EFD"/>
                </a:solidFill>
                <a:effectLst/>
                <a:latin typeface="Roboto-Idcloud"/>
                <a:hlinkClick r:id="rId51"/>
              </a:rPr>
              <a:t>Container-optimized OS public image</a:t>
            </a:r>
            <a:r>
              <a:rPr kumimoji="0" lang="en-US" altLang="en-US" sz="1500" b="0" i="0" u="none" strike="noStrike" cap="none" normalizeH="0" baseline="0" dirty="0" smtClean="0">
                <a:ln>
                  <a:noFill/>
                </a:ln>
                <a:solidFill>
                  <a:srgbClr val="5A6475"/>
                </a:solidFill>
                <a:effectLst/>
                <a:latin typeface="Roboto-Idcloud"/>
              </a:rPr>
              <a:t>, which has Docker installed. Then, Compute Engine launches the container when the VM starts. For more information, see </a:t>
            </a:r>
            <a:r>
              <a:rPr kumimoji="0" lang="en-US" altLang="en-US" sz="1500" b="0" i="0" u="sng" strike="noStrike" cap="none" normalizeH="0" baseline="0" dirty="0" smtClean="0">
                <a:ln>
                  <a:noFill/>
                </a:ln>
                <a:solidFill>
                  <a:srgbClr val="0D6EFD"/>
                </a:solidFill>
                <a:effectLst/>
                <a:latin typeface="Roboto-Idcloud"/>
                <a:hlinkClick r:id="rId52"/>
              </a:rPr>
              <a:t>Deploying containers on VMs</a:t>
            </a:r>
            <a:r>
              <a:rPr kumimoji="0" lang="en-US" altLang="en-US" sz="1500" b="0" i="0" u="none" strike="noStrike" cap="none" normalizeH="0" baseline="0" dirty="0" smtClean="0">
                <a:ln>
                  <a:noFill/>
                </a:ln>
                <a:solidFill>
                  <a:srgbClr val="5A6475"/>
                </a:solidFill>
                <a:effectLst/>
                <a:latin typeface="Roboto-Idcloud"/>
              </a:rPr>
              <a:t>.</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To create a VM from a container image, you must use the Cloud Console or </a:t>
            </a:r>
            <a:r>
              <a:rPr kumimoji="0" lang="en-US" altLang="en-US" b="0" i="0" u="none" strike="noStrike" cap="none" normalizeH="0" baseline="0" dirty="0" err="1" smtClean="0">
                <a:ln>
                  <a:noFill/>
                </a:ln>
                <a:solidFill>
                  <a:srgbClr val="D63384"/>
                </a:solidFill>
                <a:effectLst/>
                <a:latin typeface="SFMono-Regular"/>
              </a:rPr>
              <a:t>gcloud</a:t>
            </a:r>
            <a:r>
              <a:rPr kumimoji="0" lang="en-US" altLang="en-US" sz="1500" b="0" i="0" u="none" strike="noStrike" cap="none" normalizeH="0" baseline="0" dirty="0" err="1" smtClean="0">
                <a:ln>
                  <a:noFill/>
                </a:ln>
                <a:solidFill>
                  <a:srgbClr val="5A6475"/>
                </a:solidFill>
                <a:effectLst/>
                <a:latin typeface="Roboto-Idcloud"/>
              </a:rPr>
              <a:t>.Permissions</a:t>
            </a:r>
            <a:r>
              <a:rPr kumimoji="0" lang="en-US" altLang="en-US" sz="1500" b="0" i="0" u="none" strike="noStrike" cap="none" normalizeH="0" baseline="0" dirty="0" smtClean="0">
                <a:ln>
                  <a:noFill/>
                </a:ln>
                <a:solidFill>
                  <a:srgbClr val="5A6475"/>
                </a:solidFill>
                <a:effectLst/>
                <a:latin typeface="Roboto-Idcloud"/>
              </a:rPr>
              <a:t> required for this </a:t>
            </a:r>
            <a:r>
              <a:rPr kumimoji="0" lang="en-US" altLang="en-US" sz="1500" b="0" i="0" u="none" strike="noStrike" cap="none" normalizeH="0" baseline="0" dirty="0" err="1" smtClean="0">
                <a:ln>
                  <a:noFill/>
                </a:ln>
                <a:solidFill>
                  <a:srgbClr val="5A6475"/>
                </a:solidFill>
                <a:effectLst/>
                <a:latin typeface="Roboto-Idcloud"/>
              </a:rPr>
              <a:t>task</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Container</a:t>
            </a:r>
            <a:r>
              <a:rPr kumimoji="0" lang="en-US" altLang="en-US" sz="1500" b="0" i="0" u="none" strike="noStrike" cap="none" normalizeH="0" baseline="0" dirty="0" smtClean="0">
                <a:ln>
                  <a:noFill/>
                </a:ln>
                <a:solidFill>
                  <a:srgbClr val="5A6475"/>
                </a:solidFill>
                <a:effectLst/>
                <a:latin typeface="Roboto-Idcloud"/>
              </a:rPr>
              <a:t> section, click </a:t>
            </a:r>
            <a:r>
              <a:rPr kumimoji="0" lang="en-US" altLang="en-US" sz="1500" b="1" i="0" u="none" strike="noStrike" cap="none" normalizeH="0" baseline="0" dirty="0" smtClean="0">
                <a:ln>
                  <a:noFill/>
                </a:ln>
                <a:solidFill>
                  <a:srgbClr val="5A6475"/>
                </a:solidFill>
                <a:effectLst/>
                <a:latin typeface="Roboto-Idcloud"/>
              </a:rPr>
              <a:t>Deploy container</a:t>
            </a:r>
            <a:r>
              <a:rPr kumimoji="0" lang="en-US" altLang="en-US" sz="1500" b="0" i="0" u="none" strike="noStrike" cap="none" normalizeH="0" baseline="0" dirty="0" smtClean="0">
                <a:ln>
                  <a:noFill/>
                </a:ln>
                <a:solidFill>
                  <a:srgbClr val="5A6475"/>
                </a:solidFill>
                <a:effectLst/>
                <a:latin typeface="Roboto-Idcloud"/>
              </a:rPr>
              <a:t>.</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Specify the </a:t>
            </a:r>
            <a:r>
              <a:rPr kumimoji="0" lang="en-US" altLang="en-US" sz="1500" b="1" i="0" u="none" strike="noStrike" cap="none" normalizeH="0" baseline="0" dirty="0" smtClean="0">
                <a:ln>
                  <a:noFill/>
                </a:ln>
                <a:solidFill>
                  <a:srgbClr val="5A6475"/>
                </a:solidFill>
                <a:effectLst/>
                <a:latin typeface="Roboto-Idcloud"/>
              </a:rPr>
              <a:t>Container image</a:t>
            </a:r>
            <a:r>
              <a:rPr kumimoji="0" lang="en-US" altLang="en-US" sz="1500" b="0" i="0" u="none" strike="noStrike" cap="none" normalizeH="0" baseline="0" dirty="0" smtClean="0">
                <a:ln>
                  <a:noFill/>
                </a:ln>
                <a:solidFill>
                  <a:srgbClr val="5A6475"/>
                </a:solidFill>
                <a:effectLst/>
                <a:latin typeface="Roboto-Idcloud"/>
              </a:rPr>
              <a:t> to use. For example:</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To select an NGINX 1.12 container image from Cloud </a:t>
            </a:r>
            <a:r>
              <a:rPr kumimoji="0" lang="en-US" altLang="en-US" sz="1500" b="0" i="0" u="none" strike="noStrike" cap="none" normalizeH="0" baseline="0" dirty="0" err="1" smtClean="0">
                <a:ln>
                  <a:noFill/>
                </a:ln>
                <a:solidFill>
                  <a:srgbClr val="5A6475"/>
                </a:solidFill>
                <a:effectLst/>
                <a:latin typeface="Roboto-Idcloud"/>
              </a:rPr>
              <a:t>Launcher:</a:t>
            </a:r>
            <a:r>
              <a:rPr kumimoji="0" lang="en-US" altLang="en-US" b="0" i="0" u="none" strike="noStrike" cap="none" normalizeH="0" baseline="0" dirty="0" err="1" smtClean="0">
                <a:ln>
                  <a:noFill/>
                </a:ln>
                <a:solidFill>
                  <a:srgbClr val="D63384"/>
                </a:solidFill>
                <a:effectLst/>
                <a:latin typeface="SFMono-Regular"/>
              </a:rPr>
              <a:t>gcr.io</a:t>
            </a:r>
            <a:r>
              <a:rPr kumimoji="0" lang="en-US" altLang="en-US" b="0" i="0" u="none" strike="noStrike" cap="none" normalizeH="0" baseline="0" dirty="0" smtClean="0">
                <a:ln>
                  <a:noFill/>
                </a:ln>
                <a:solidFill>
                  <a:srgbClr val="D63384"/>
                </a:solidFill>
                <a:effectLst/>
                <a:latin typeface="SFMono-Regular"/>
              </a:rPr>
              <a:t>/cloud-marketplace/google/nginx1:1.12</a:t>
            </a:r>
            <a:endParaRPr kumimoji="0" lang="en-US" altLang="en-US" sz="1500" b="0" i="0" u="none" strike="noStrike" cap="none" normalizeH="0" baseline="0" dirty="0" smtClean="0">
              <a:ln>
                <a:noFill/>
              </a:ln>
              <a:solidFill>
                <a:srgbClr val="5A6475"/>
              </a:solidFill>
              <a:effectLst/>
              <a:latin typeface="Roboto-Idcloud"/>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To deploy an Apache container image from Docker Hub, always specify the full Docker image </a:t>
            </a:r>
            <a:r>
              <a:rPr kumimoji="0" lang="en-US" altLang="en-US" sz="1500" b="0" i="0" u="none" strike="noStrike" cap="none" normalizeH="0" baseline="0" dirty="0" err="1" smtClean="0">
                <a:ln>
                  <a:noFill/>
                </a:ln>
                <a:solidFill>
                  <a:srgbClr val="5A6475"/>
                </a:solidFill>
                <a:effectLst/>
                <a:latin typeface="Roboto-Idcloud"/>
              </a:rPr>
              <a:t>name:</a:t>
            </a:r>
            <a:r>
              <a:rPr kumimoji="0" lang="en-US" altLang="en-US" b="0" i="0" u="none" strike="noStrike" cap="none" normalizeH="0" baseline="0" dirty="0" err="1" smtClean="0">
                <a:ln>
                  <a:noFill/>
                </a:ln>
                <a:solidFill>
                  <a:srgbClr val="D63384"/>
                </a:solidFill>
                <a:effectLst/>
                <a:latin typeface="SFMono-Regular"/>
              </a:rPr>
              <a:t>docker.io</a:t>
            </a:r>
            <a:r>
              <a:rPr kumimoji="0" lang="en-US" altLang="en-US" b="0" i="0" u="none" strike="noStrike" cap="none" normalizeH="0" baseline="0" dirty="0" smtClean="0">
                <a:ln>
                  <a:noFill/>
                </a:ln>
                <a:solidFill>
                  <a:srgbClr val="D63384"/>
                </a:solidFill>
                <a:effectLst/>
                <a:latin typeface="SFMono-Regular"/>
              </a:rPr>
              <a:t>/httpd:2.4</a:t>
            </a:r>
            <a:endParaRPr kumimoji="0" lang="en-US" altLang="en-US" sz="1500" b="0" i="0" u="none" strike="noStrike" cap="none" normalizeH="0" baseline="0" dirty="0" smtClean="0">
              <a:ln>
                <a:noFill/>
              </a:ln>
              <a:solidFill>
                <a:srgbClr val="5A6475"/>
              </a:solidFill>
              <a:effectLst/>
              <a:latin typeface="Roboto-Idcloud"/>
            </a:endParaRP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Optional: Click </a:t>
            </a:r>
            <a:r>
              <a:rPr kumimoji="0" lang="en-US" altLang="en-US" sz="1500" b="1" i="0" u="none" strike="noStrike" cap="none" normalizeH="0" baseline="0" dirty="0" smtClean="0">
                <a:ln>
                  <a:noFill/>
                </a:ln>
                <a:solidFill>
                  <a:srgbClr val="5A6475"/>
                </a:solidFill>
                <a:effectLst/>
                <a:latin typeface="Roboto-Idcloud"/>
              </a:rPr>
              <a:t>Advanced container options</a:t>
            </a:r>
            <a:r>
              <a:rPr kumimoji="0" lang="en-US" altLang="en-US" sz="1500" b="0" i="0" u="none" strike="noStrike" cap="none" normalizeH="0" baseline="0" dirty="0" smtClean="0">
                <a:ln>
                  <a:noFill/>
                </a:ln>
                <a:solidFill>
                  <a:srgbClr val="5A6475"/>
                </a:solidFill>
                <a:effectLst/>
                <a:latin typeface="Roboto-Idcloud"/>
              </a:rPr>
              <a:t>. For more information, see </a:t>
            </a:r>
            <a:r>
              <a:rPr kumimoji="0" lang="en-US" altLang="en-US" sz="1500" b="0" i="0" u="sng" strike="noStrike" cap="none" normalizeH="0" baseline="0" dirty="0" smtClean="0">
                <a:ln>
                  <a:noFill/>
                </a:ln>
                <a:solidFill>
                  <a:srgbClr val="0D6EFD"/>
                </a:solidFill>
                <a:effectLst/>
                <a:latin typeface="Roboto-Idcloud"/>
                <a:hlinkClick r:id="rId53"/>
              </a:rPr>
              <a:t>Configuring options to run your container</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To create the VM, boot the VM, and launch the container,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Create a VM instance with access to other Google Cloud Services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If you plan to run an application on your VM that needs access to other Google Cloud services, </a:t>
            </a:r>
            <a:r>
              <a:rPr kumimoji="0" lang="en-US" altLang="en-US" sz="1500" b="0" i="0" u="sng" strike="noStrike" cap="none" normalizeH="0" baseline="0" dirty="0" smtClean="0">
                <a:ln>
                  <a:noFill/>
                </a:ln>
                <a:solidFill>
                  <a:srgbClr val="0D6EFD"/>
                </a:solidFill>
                <a:effectLst/>
                <a:latin typeface="Roboto-Idcloud"/>
                <a:hlinkClick r:id="rId54"/>
              </a:rPr>
              <a:t>create a service account</a:t>
            </a:r>
            <a:r>
              <a:rPr kumimoji="0" lang="en-US" altLang="en-US" sz="1500" b="0" i="0" u="none" strike="noStrike" cap="none" normalizeH="0" baseline="0" dirty="0" smtClean="0">
                <a:ln>
                  <a:noFill/>
                </a:ln>
                <a:solidFill>
                  <a:srgbClr val="5A6475"/>
                </a:solidFill>
                <a:effectLst/>
                <a:latin typeface="Roboto-Idcloud"/>
              </a:rPr>
              <a:t> before creating the VM, and then </a:t>
            </a:r>
            <a:r>
              <a:rPr kumimoji="0" lang="en-US" altLang="en-US" sz="1500" b="0" i="0" u="sng" strike="noStrike" cap="none" normalizeH="0" baseline="0" dirty="0" smtClean="0">
                <a:ln>
                  <a:noFill/>
                </a:ln>
                <a:solidFill>
                  <a:srgbClr val="0D6EFD"/>
                </a:solidFill>
                <a:effectLst/>
                <a:latin typeface="Roboto-Idcloud"/>
                <a:hlinkClick r:id="rId55"/>
              </a:rPr>
              <a:t>set up the VM to run as a service account</a:t>
            </a:r>
            <a:r>
              <a:rPr kumimoji="0" lang="en-US" altLang="en-US" sz="1500" b="0" i="0" u="none" strike="noStrike" cap="none" normalizeH="0" baseline="0" dirty="0" smtClean="0">
                <a:ln>
                  <a:noFill/>
                </a:ln>
                <a:solidFill>
                  <a:srgbClr val="5A6475"/>
                </a:solidFill>
                <a:effectLst/>
                <a:latin typeface="Roboto-Idcloud"/>
              </a:rPr>
              <a:t>. A service account is a special account whose credentials you can use in your application code to access other Google Cloud services.</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For more information, see </a:t>
            </a:r>
            <a:r>
              <a:rPr kumimoji="0" lang="en-US" altLang="en-US" sz="1500" b="0" i="0" u="sng" strike="noStrike" cap="none" normalizeH="0" baseline="0" dirty="0" smtClean="0">
                <a:ln>
                  <a:noFill/>
                </a:ln>
                <a:solidFill>
                  <a:srgbClr val="0D6EFD"/>
                </a:solidFill>
                <a:effectLst/>
                <a:latin typeface="Roboto-Idcloud"/>
                <a:hlinkClick r:id="rId56"/>
              </a:rPr>
              <a:t>Service accounts</a:t>
            </a:r>
            <a:r>
              <a:rPr kumimoji="0" lang="en-US" altLang="en-US" sz="1500" b="0" i="0" u="none" strike="noStrike" cap="none" normalizeH="0" baseline="0" dirty="0" smtClean="0">
                <a:ln>
                  <a:noFill/>
                </a:ln>
                <a:solidFill>
                  <a:srgbClr val="5A6475"/>
                </a:solidFill>
                <a:effectLst/>
                <a:latin typeface="Roboto-Idcloud"/>
              </a:rPr>
              <a:t>.</a:t>
            </a: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Create a VM instance in a specific subnet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Permissions required for this task</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By default, Google Cloud creates an </a:t>
            </a:r>
            <a:r>
              <a:rPr kumimoji="0" lang="en-US" altLang="en-US" sz="1500" b="0" i="0" u="sng" strike="noStrike" cap="none" normalizeH="0" baseline="0" dirty="0" smtClean="0">
                <a:ln>
                  <a:noFill/>
                </a:ln>
                <a:solidFill>
                  <a:srgbClr val="0D6EFD"/>
                </a:solidFill>
                <a:effectLst/>
                <a:latin typeface="Roboto-Idcloud"/>
                <a:hlinkClick r:id="rId57"/>
              </a:rPr>
              <a:t>auto mode VPC network</a:t>
            </a:r>
            <a:r>
              <a:rPr kumimoji="0" lang="en-US" altLang="en-US" sz="1500" b="0" i="0" u="none" strike="noStrike" cap="none" normalizeH="0" baseline="0" dirty="0" smtClean="0">
                <a:ln>
                  <a:noFill/>
                </a:ln>
                <a:solidFill>
                  <a:srgbClr val="5A6475"/>
                </a:solidFill>
                <a:effectLst/>
                <a:latin typeface="Roboto-Idcloud"/>
              </a:rPr>
              <a:t> called </a:t>
            </a:r>
            <a:r>
              <a:rPr kumimoji="0" lang="en-US" altLang="en-US" b="0" i="0" u="none" strike="noStrike" cap="none" normalizeH="0" baseline="0" dirty="0" smtClean="0">
                <a:ln>
                  <a:noFill/>
                </a:ln>
                <a:solidFill>
                  <a:srgbClr val="D63384"/>
                </a:solidFill>
                <a:effectLst/>
                <a:latin typeface="SFMono-Regular"/>
              </a:rPr>
              <a:t>default</a:t>
            </a:r>
            <a:r>
              <a:rPr kumimoji="0" lang="en-US" altLang="en-US" sz="1500" b="0" i="0" u="none" strike="noStrike" cap="none" normalizeH="0" baseline="0" dirty="0" smtClean="0">
                <a:ln>
                  <a:noFill/>
                </a:ln>
                <a:solidFill>
                  <a:srgbClr val="5A6475"/>
                </a:solidFill>
                <a:effectLst/>
                <a:latin typeface="Roboto-Idcloud"/>
              </a:rPr>
              <a:t> for each project. To use a different network or a subnet that you manually created in an auto mode or custom mode VPC network, you must specify the subnet when you create the VM.</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While creating a VM in a subnet, consider these rules:</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If you don't specify a network or subnet, Compute Engine uses the default VPC network and the auto subnet that's in the same region as the VM.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If you don't specify a network, Compute Engine infers the network from the subnet specified.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If you specify a network, you must specify a subnet and it must belong to the same network. Otherwise, VM creation fails.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rgbClr val="5A6475"/>
                </a:solidFill>
                <a:effectLst/>
                <a:latin typeface="Roboto-Idcloud"/>
              </a:rPr>
              <a:t>Note:</a:t>
            </a:r>
            <a:r>
              <a:rPr kumimoji="0" lang="en-US" altLang="en-US" sz="1500" b="0" i="0" u="none" strike="noStrike" cap="none" normalizeH="0" baseline="0" dirty="0" smtClean="0">
                <a:ln>
                  <a:noFill/>
                </a:ln>
                <a:solidFill>
                  <a:srgbClr val="5A6475"/>
                </a:solidFill>
                <a:effectLst/>
                <a:latin typeface="Roboto-Idcloud"/>
              </a:rPr>
              <a:t> You must create the subnet that you want to use before you create the VM. For more information, see </a:t>
            </a:r>
            <a:r>
              <a:rPr kumimoji="0" lang="en-US" altLang="en-US" sz="1500" b="0" i="0" u="sng" strike="noStrike" cap="none" normalizeH="0" baseline="0" dirty="0" smtClean="0">
                <a:ln>
                  <a:noFill/>
                </a:ln>
                <a:solidFill>
                  <a:srgbClr val="0D6EFD"/>
                </a:solidFill>
                <a:effectLst/>
                <a:latin typeface="Roboto-Idcloud"/>
                <a:hlinkClick r:id="rId58"/>
              </a:rPr>
              <a:t>Adding a new subnet to an existing VPC </a:t>
            </a:r>
            <a:r>
              <a:rPr kumimoji="0" lang="en-US" altLang="en-US" sz="1500" b="0" i="0" u="sng" strike="noStrike" cap="none" normalizeH="0" baseline="0" dirty="0" err="1" smtClean="0">
                <a:ln>
                  <a:noFill/>
                </a:ln>
                <a:solidFill>
                  <a:srgbClr val="0D6EFD"/>
                </a:solidFill>
                <a:effectLst/>
                <a:latin typeface="Roboto-Idcloud"/>
                <a:hlinkClick r:id="rId58"/>
              </a:rPr>
              <a:t>network</a:t>
            </a:r>
            <a:r>
              <a:rPr kumimoji="0" lang="en-US" altLang="en-US" sz="1500" b="0" i="0" u="none" strike="noStrike" cap="none" normalizeH="0" baseline="0" dirty="0" err="1" smtClean="0">
                <a:ln>
                  <a:noFill/>
                </a:ln>
                <a:solidFill>
                  <a:srgbClr val="5A6475"/>
                </a:solidFill>
                <a:effectLst/>
                <a:latin typeface="Roboto-Idcloud"/>
              </a:rPr>
              <a:t>.</a:t>
            </a:r>
            <a:r>
              <a:rPr kumimoji="0" lang="en-US" altLang="en-US" sz="1500" b="0" i="0" u="sng" strike="noStrike" cap="none" normalizeH="0" baseline="0" dirty="0" err="1" smtClean="0">
                <a:ln>
                  <a:noFill/>
                </a:ln>
                <a:solidFill>
                  <a:srgbClr val="0D6EFD"/>
                </a:solidFill>
                <a:effectLst/>
                <a:latin typeface="Roboto-Idcloud"/>
                <a:hlinkClick r:id="rId28"/>
              </a:rPr>
              <a:t>Console</a:t>
            </a:r>
            <a:r>
              <a:rPr kumimoji="0" lang="en-US" altLang="en-US" sz="1500" b="0" i="0" u="sng" strike="noStrike" cap="none" normalizeH="0" baseline="0" dirty="0" err="1" smtClean="0">
                <a:ln>
                  <a:noFill/>
                </a:ln>
                <a:solidFill>
                  <a:srgbClr val="0D6EFD"/>
                </a:solidFill>
                <a:effectLst/>
                <a:latin typeface="Roboto-Idcloud"/>
                <a:hlinkClick r:id="rId29"/>
              </a:rPr>
              <a:t>gcloud</a:t>
            </a:r>
            <a:r>
              <a:rPr kumimoji="0" lang="en-US" altLang="en-US" sz="1500" b="0" i="0" u="sng" strike="noStrike" cap="none" normalizeH="0" baseline="0" dirty="0" err="1" smtClean="0">
                <a:ln>
                  <a:noFill/>
                </a:ln>
                <a:solidFill>
                  <a:srgbClr val="0D6EFD"/>
                </a:solidFill>
                <a:effectLst/>
                <a:latin typeface="Roboto-Idcloud"/>
                <a:hlinkClick r:id="rId30"/>
              </a:rPr>
              <a:t>API</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Google Cloud Console, go to the </a:t>
            </a:r>
            <a:r>
              <a:rPr kumimoji="0" lang="en-US" altLang="en-US" sz="1500" b="1" i="0" u="none" strike="noStrike" cap="none" normalizeH="0" baseline="0" dirty="0" smtClean="0">
                <a:ln>
                  <a:noFill/>
                </a:ln>
                <a:solidFill>
                  <a:srgbClr val="5A6475"/>
                </a:solidFill>
                <a:effectLst/>
                <a:latin typeface="Roboto-Idcloud"/>
              </a:rPr>
              <a:t>VM instances</a:t>
            </a:r>
            <a:r>
              <a:rPr kumimoji="0" lang="en-US" altLang="en-US" sz="1500" b="0" i="0" u="none" strike="noStrike" cap="none" normalizeH="0" baseline="0" dirty="0" smtClean="0">
                <a:ln>
                  <a:noFill/>
                </a:ln>
                <a:solidFill>
                  <a:srgbClr val="5A6475"/>
                </a:solidFill>
                <a:effectLst/>
                <a:latin typeface="Roboto-Idcloud"/>
              </a:rPr>
              <a:t> </a:t>
            </a:r>
            <a:r>
              <a:rPr kumimoji="0" lang="en-US" altLang="en-US" sz="1500" b="0" i="0" u="none" strike="noStrike" cap="none" normalizeH="0" baseline="0" dirty="0" err="1" smtClean="0">
                <a:ln>
                  <a:noFill/>
                </a:ln>
                <a:solidFill>
                  <a:srgbClr val="5A6475"/>
                </a:solidFill>
                <a:effectLst/>
                <a:latin typeface="Roboto-Idcloud"/>
              </a:rPr>
              <a:t>page.</a:t>
            </a:r>
            <a:r>
              <a:rPr kumimoji="0" lang="en-US" altLang="en-US" sz="1500" b="0" i="0" u="sng" strike="noStrike" cap="none" normalizeH="0" baseline="0" dirty="0" err="1" smtClean="0">
                <a:ln>
                  <a:noFill/>
                </a:ln>
                <a:solidFill>
                  <a:srgbClr val="0D6EFD"/>
                </a:solidFill>
                <a:effectLst/>
                <a:latin typeface="Roboto-Idcloud"/>
                <a:hlinkClick r:id="rId38"/>
              </a:rPr>
              <a:t>Go</a:t>
            </a:r>
            <a:r>
              <a:rPr kumimoji="0" lang="en-US" altLang="en-US" sz="1500" b="0" i="0" u="sng" strike="noStrike" cap="none" normalizeH="0" baseline="0" dirty="0" smtClean="0">
                <a:ln>
                  <a:noFill/>
                </a:ln>
                <a:solidFill>
                  <a:srgbClr val="0D6EFD"/>
                </a:solidFill>
                <a:effectLst/>
                <a:latin typeface="Roboto-Idcloud"/>
                <a:hlinkClick r:id="rId38"/>
              </a:rPr>
              <a:t> to VM instances</a:t>
            </a:r>
            <a:endParaRPr kumimoji="0" lang="en-US" altLang="en-US" sz="15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Select your project and click </a:t>
            </a:r>
            <a:r>
              <a:rPr kumimoji="0" lang="en-US" altLang="en-US" sz="1500" b="1" i="0" u="none" strike="noStrike" cap="none" normalizeH="0" baseline="0" dirty="0" smtClean="0">
                <a:ln>
                  <a:noFill/>
                </a:ln>
                <a:solidFill>
                  <a:srgbClr val="5A6475"/>
                </a:solidFill>
                <a:effectLst/>
                <a:latin typeface="Roboto-Idcloud"/>
              </a:rPr>
              <a:t>Continue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Create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500" b="0" i="0" u="none" strike="noStrike" cap="none" normalizeH="0" baseline="0" dirty="0" smtClean="0">
                <a:ln>
                  <a:noFill/>
                </a:ln>
                <a:solidFill>
                  <a:srgbClr val="5A6475"/>
                </a:solidFill>
                <a:effectLst/>
                <a:latin typeface="Roboto-Idcloud"/>
              </a:rPr>
              <a:t>Specify a </a:t>
            </a:r>
            <a:r>
              <a:rPr kumimoji="0" lang="en-US" altLang="en-US" sz="1500" b="1" i="0" u="none" strike="noStrike" cap="none" normalizeH="0" baseline="0" dirty="0" smtClean="0">
                <a:ln>
                  <a:noFill/>
                </a:ln>
                <a:solidFill>
                  <a:srgbClr val="5A6475"/>
                </a:solidFill>
                <a:effectLst/>
                <a:latin typeface="Roboto-Idcloud"/>
              </a:rPr>
              <a:t>Name</a:t>
            </a:r>
            <a:r>
              <a:rPr kumimoji="0" lang="en-US" altLang="en-US" sz="1500" b="0" i="0" u="none" strike="noStrike" cap="none" normalizeH="0" baseline="0" dirty="0" smtClean="0">
                <a:ln>
                  <a:noFill/>
                </a:ln>
                <a:solidFill>
                  <a:srgbClr val="5A6475"/>
                </a:solidFill>
                <a:effectLst/>
                <a:latin typeface="Roboto-Idcloud"/>
              </a:rPr>
              <a:t> for your VM. For more information, see </a:t>
            </a:r>
            <a:r>
              <a:rPr kumimoji="0" lang="en-US" altLang="en-US" sz="1500" b="0" i="0" u="sng" strike="noStrike" cap="none" normalizeH="0" baseline="0" dirty="0" smtClean="0">
                <a:ln>
                  <a:noFill/>
                </a:ln>
                <a:solidFill>
                  <a:srgbClr val="0D6EFD"/>
                </a:solidFill>
                <a:effectLst/>
                <a:latin typeface="Roboto-Idcloud"/>
                <a:hlinkClick r:id="rId39"/>
              </a:rPr>
              <a:t>Resource naming convention</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500" b="0" i="0" u="none" strike="noStrike" cap="none" normalizeH="0" baseline="0" dirty="0" smtClean="0">
                <a:ln>
                  <a:noFill/>
                </a:ln>
                <a:solidFill>
                  <a:srgbClr val="5A6475"/>
                </a:solidFill>
                <a:effectLst/>
                <a:latin typeface="Roboto-Idcloud"/>
              </a:rPr>
              <a:t>Optional: Change the </a:t>
            </a:r>
            <a:r>
              <a:rPr kumimoji="0" lang="en-US" altLang="en-US" sz="1500" b="1" i="0" u="none" strike="noStrike" cap="none" normalizeH="0" baseline="0" dirty="0" smtClean="0">
                <a:ln>
                  <a:noFill/>
                </a:ln>
                <a:solidFill>
                  <a:srgbClr val="5A6475"/>
                </a:solidFill>
                <a:effectLst/>
                <a:latin typeface="Roboto-Idcloud"/>
              </a:rPr>
              <a:t>Zone</a:t>
            </a:r>
            <a:r>
              <a:rPr kumimoji="0" lang="en-US" altLang="en-US" sz="1500" b="0" i="0" u="none" strike="noStrike" cap="none" normalizeH="0" baseline="0" dirty="0" smtClean="0">
                <a:ln>
                  <a:noFill/>
                </a:ln>
                <a:solidFill>
                  <a:srgbClr val="5A6475"/>
                </a:solidFill>
                <a:effectLst/>
                <a:latin typeface="Roboto-Idcloud"/>
              </a:rPr>
              <a:t> for this VM. Compute Engine randomizes the list of zones within each region to encourage use across multiple zones.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Firewall</a:t>
            </a:r>
            <a:r>
              <a:rPr kumimoji="0" lang="en-US" altLang="en-US" sz="1500" b="0" i="0" u="none" strike="noStrike" cap="none" normalizeH="0" baseline="0" dirty="0" smtClean="0">
                <a:ln>
                  <a:noFill/>
                </a:ln>
                <a:solidFill>
                  <a:srgbClr val="5A6475"/>
                </a:solidFill>
                <a:effectLst/>
                <a:latin typeface="Roboto-Idcloud"/>
              </a:rPr>
              <a:t> section, to permit HTTP or HTTPS traffic to the VM, select </a:t>
            </a:r>
            <a:r>
              <a:rPr kumimoji="0" lang="en-US" altLang="en-US" sz="1500" b="1" i="0" u="none" strike="noStrike" cap="none" normalizeH="0" baseline="0" dirty="0" smtClean="0">
                <a:ln>
                  <a:noFill/>
                </a:ln>
                <a:solidFill>
                  <a:srgbClr val="5A6475"/>
                </a:solidFill>
                <a:effectLst/>
                <a:latin typeface="Roboto-Idcloud"/>
              </a:rPr>
              <a:t>Allow HTTP traffic</a:t>
            </a:r>
            <a:r>
              <a:rPr kumimoji="0" lang="en-US" altLang="en-US" sz="1500" b="0" i="0" u="none" strike="noStrike" cap="none" normalizeH="0" baseline="0" dirty="0" smtClean="0">
                <a:ln>
                  <a:noFill/>
                </a:ln>
                <a:solidFill>
                  <a:srgbClr val="5A6475"/>
                </a:solidFill>
                <a:effectLst/>
                <a:latin typeface="Roboto-Idcloud"/>
              </a:rPr>
              <a:t> or </a:t>
            </a:r>
            <a:r>
              <a:rPr kumimoji="0" lang="en-US" altLang="en-US" sz="1500" b="1" i="0" u="none" strike="noStrike" cap="none" normalizeH="0" baseline="0" dirty="0" smtClean="0">
                <a:ln>
                  <a:noFill/>
                </a:ln>
                <a:solidFill>
                  <a:srgbClr val="5A6475"/>
                </a:solidFill>
                <a:effectLst/>
                <a:latin typeface="Roboto-Idcloud"/>
              </a:rPr>
              <a:t>Allow HTTPS </a:t>
            </a:r>
            <a:r>
              <a:rPr kumimoji="0" lang="en-US" altLang="en-US" sz="1500" b="1" i="0" u="none" strike="noStrike" cap="none" normalizeH="0" baseline="0" dirty="0" err="1" smtClean="0">
                <a:ln>
                  <a:noFill/>
                </a:ln>
                <a:solidFill>
                  <a:srgbClr val="5A6475"/>
                </a:solidFill>
                <a:effectLst/>
                <a:latin typeface="Roboto-Idcloud"/>
              </a:rPr>
              <a:t>traffic</a:t>
            </a:r>
            <a:r>
              <a:rPr kumimoji="0" lang="en-US" altLang="en-US" sz="1500" b="0" i="0" u="none" strike="noStrike" cap="none" normalizeH="0" baseline="0" dirty="0" err="1" smtClean="0">
                <a:ln>
                  <a:noFill/>
                </a:ln>
                <a:solidFill>
                  <a:srgbClr val="5A6475"/>
                </a:solidFill>
                <a:effectLst/>
                <a:latin typeface="Roboto-Idcloud"/>
              </a:rPr>
              <a:t>.The</a:t>
            </a:r>
            <a:r>
              <a:rPr kumimoji="0" lang="en-US" altLang="en-US" sz="1500" b="0" i="0" u="none" strike="noStrike" cap="none" normalizeH="0" baseline="0" dirty="0" smtClean="0">
                <a:ln>
                  <a:noFill/>
                </a:ln>
                <a:solidFill>
                  <a:srgbClr val="5A6475"/>
                </a:solidFill>
                <a:effectLst/>
                <a:latin typeface="Roboto-Idcloud"/>
              </a:rPr>
              <a:t> Cloud Console adds a network tag to your VM and creates the corresponding ingress firewall rule that allows all incoming traffic on </a:t>
            </a:r>
            <a:r>
              <a:rPr kumimoji="0" lang="en-US" altLang="en-US" b="0" i="0" u="none" strike="noStrike" cap="none" normalizeH="0" baseline="0" dirty="0" smtClean="0">
                <a:ln>
                  <a:noFill/>
                </a:ln>
                <a:solidFill>
                  <a:srgbClr val="D63384"/>
                </a:solidFill>
                <a:effectLst/>
                <a:latin typeface="SFMono-Regular"/>
              </a:rPr>
              <a:t>tcp:80</a:t>
            </a:r>
            <a:r>
              <a:rPr kumimoji="0" lang="en-US" altLang="en-US" sz="1500" b="0" i="0" u="none" strike="noStrike" cap="none" normalizeH="0" baseline="0" dirty="0" smtClean="0">
                <a:ln>
                  <a:noFill/>
                </a:ln>
                <a:solidFill>
                  <a:srgbClr val="5A6475"/>
                </a:solidFill>
                <a:effectLst/>
                <a:latin typeface="Roboto-Idcloud"/>
              </a:rPr>
              <a:t> (HTTP) or </a:t>
            </a:r>
            <a:r>
              <a:rPr kumimoji="0" lang="en-US" altLang="en-US" b="0" i="0" u="none" strike="noStrike" cap="none" normalizeH="0" baseline="0" dirty="0" smtClean="0">
                <a:ln>
                  <a:noFill/>
                </a:ln>
                <a:solidFill>
                  <a:srgbClr val="D63384"/>
                </a:solidFill>
                <a:effectLst/>
                <a:latin typeface="SFMono-Regular"/>
              </a:rPr>
              <a:t>tcp:443</a:t>
            </a:r>
            <a:r>
              <a:rPr kumimoji="0" lang="en-US" altLang="en-US" sz="1500" b="0" i="0" u="none" strike="noStrike" cap="none" normalizeH="0" baseline="0" dirty="0" smtClean="0">
                <a:ln>
                  <a:noFill/>
                </a:ln>
                <a:solidFill>
                  <a:srgbClr val="5A6475"/>
                </a:solidFill>
                <a:effectLst/>
                <a:latin typeface="Roboto-Idcloud"/>
              </a:rPr>
              <a:t> (HTTPS). The network tag associates the firewall rule with the VM. For more information, see </a:t>
            </a:r>
            <a:r>
              <a:rPr kumimoji="0" lang="en-US" altLang="en-US" sz="1500" b="0" i="0" u="sng" strike="noStrike" cap="none" normalizeH="0" baseline="0" dirty="0" smtClean="0">
                <a:ln>
                  <a:noFill/>
                </a:ln>
                <a:solidFill>
                  <a:srgbClr val="0D6EFD"/>
                </a:solidFill>
                <a:effectLst/>
                <a:latin typeface="Roboto-Idcloud"/>
                <a:hlinkClick r:id="rId40"/>
              </a:rPr>
              <a:t>Firewall rules overview</a:t>
            </a:r>
            <a:r>
              <a:rPr kumimoji="0" lang="en-US" altLang="en-US" sz="1500" b="0" i="0" u="none" strike="noStrike" cap="none" normalizeH="0" baseline="0" dirty="0" smtClean="0">
                <a:ln>
                  <a:noFill/>
                </a:ln>
                <a:solidFill>
                  <a:srgbClr val="5A6475"/>
                </a:solidFill>
                <a:effectLst/>
                <a:latin typeface="Roboto-Idcloud"/>
              </a:rPr>
              <a:t> in the Virtual Private Cloud documentation.</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500" b="0" i="0" u="none" strike="noStrike" cap="none" normalizeH="0" baseline="0" dirty="0" smtClean="0">
                <a:ln>
                  <a:noFill/>
                </a:ln>
                <a:solidFill>
                  <a:srgbClr val="5A6475"/>
                </a:solidFill>
                <a:effectLst/>
                <a:latin typeface="Roboto-Idcloud"/>
              </a:rPr>
              <a:t>Expand the </a:t>
            </a:r>
            <a:r>
              <a:rPr kumimoji="0" lang="en-US" altLang="en-US" sz="1500" b="1" i="0" u="none" strike="noStrike" cap="none" normalizeH="0" baseline="0" dirty="0" smtClean="0">
                <a:ln>
                  <a:noFill/>
                </a:ln>
                <a:solidFill>
                  <a:srgbClr val="5A6475"/>
                </a:solidFill>
                <a:effectLst/>
                <a:latin typeface="Roboto-Idcloud"/>
              </a:rPr>
              <a:t>Networking, disks, security, management, sole tenancy</a:t>
            </a:r>
            <a:r>
              <a:rPr kumimoji="0" lang="en-US" altLang="en-US" sz="1500" b="0" i="0" u="none" strike="noStrike" cap="none" normalizeH="0" baseline="0" dirty="0" smtClean="0">
                <a:ln>
                  <a:noFill/>
                </a:ln>
                <a:solidFill>
                  <a:srgbClr val="5A6475"/>
                </a:solidFill>
                <a:effectLst/>
                <a:latin typeface="Roboto-Idcloud"/>
              </a:rPr>
              <a:t> section.</a:t>
            </a: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Expand the </a:t>
            </a:r>
            <a:r>
              <a:rPr kumimoji="0" lang="en-US" altLang="en-US" sz="1500" b="1" i="0" u="none" strike="noStrike" cap="none" normalizeH="0" baseline="0" dirty="0" smtClean="0">
                <a:ln>
                  <a:noFill/>
                </a:ln>
                <a:solidFill>
                  <a:srgbClr val="5A6475"/>
                </a:solidFill>
                <a:effectLst/>
                <a:latin typeface="Roboto-Idcloud"/>
              </a:rPr>
              <a:t>Networking</a:t>
            </a:r>
            <a:r>
              <a:rPr kumimoji="0" lang="en-US" altLang="en-US" sz="1500" b="0" i="0" u="none" strike="noStrike" cap="none" normalizeH="0" baseline="0" dirty="0" smtClean="0">
                <a:ln>
                  <a:noFill/>
                </a:ln>
                <a:solidFill>
                  <a:srgbClr val="5A6475"/>
                </a:solidFill>
                <a:effectLst/>
                <a:latin typeface="Roboto-Idcloud"/>
              </a:rPr>
              <a:t> section.</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For </a:t>
            </a:r>
            <a:r>
              <a:rPr kumimoji="0" lang="en-US" altLang="en-US" sz="1500" b="1" i="0" u="none" strike="noStrike" cap="none" normalizeH="0" baseline="0" dirty="0" smtClean="0">
                <a:ln>
                  <a:noFill/>
                </a:ln>
                <a:solidFill>
                  <a:srgbClr val="5A6475"/>
                </a:solidFill>
                <a:effectLst/>
                <a:latin typeface="Roboto-Idcloud"/>
              </a:rPr>
              <a:t>Network interfaces</a:t>
            </a:r>
            <a:r>
              <a:rPr kumimoji="0" lang="en-US" altLang="en-US" sz="1500" b="0" i="0" u="none" strike="noStrike" cap="none" normalizeH="0" baseline="0" dirty="0" smtClean="0">
                <a:ln>
                  <a:noFill/>
                </a:ln>
                <a:solidFill>
                  <a:srgbClr val="5A6475"/>
                </a:solidFill>
                <a:effectLst/>
                <a:latin typeface="Roboto-Idcloud"/>
              </a:rPr>
              <a:t>, specify the network details:</a:t>
            </a:r>
          </a:p>
          <a:p>
            <a:pPr marL="914400" marR="0" lvl="2"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Network</a:t>
            </a:r>
            <a:r>
              <a:rPr kumimoji="0" lang="en-US" altLang="en-US" sz="1500" b="0" i="0" u="none" strike="noStrike" cap="none" normalizeH="0" baseline="0" dirty="0" smtClean="0">
                <a:ln>
                  <a:noFill/>
                </a:ln>
                <a:solidFill>
                  <a:srgbClr val="5A6475"/>
                </a:solidFill>
                <a:effectLst/>
                <a:latin typeface="Roboto-Idcloud"/>
              </a:rPr>
              <a:t> field, select the VPC network that contains the subnet you created.</a:t>
            </a:r>
          </a:p>
          <a:p>
            <a:pPr marL="914400" marR="0" lvl="2"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500" b="0" i="0" u="none" strike="noStrike" cap="none" normalizeH="0" baseline="0" dirty="0" smtClean="0">
                <a:ln>
                  <a:noFill/>
                </a:ln>
                <a:solidFill>
                  <a:srgbClr val="5A6475"/>
                </a:solidFill>
                <a:effectLst/>
                <a:latin typeface="Roboto-Idcloud"/>
              </a:rPr>
              <a:t>In the </a:t>
            </a:r>
            <a:r>
              <a:rPr kumimoji="0" lang="en-US" altLang="en-US" sz="1500" b="1" i="0" u="none" strike="noStrike" cap="none" normalizeH="0" baseline="0" dirty="0" smtClean="0">
                <a:ln>
                  <a:noFill/>
                </a:ln>
                <a:solidFill>
                  <a:srgbClr val="5A6475"/>
                </a:solidFill>
                <a:effectLst/>
                <a:latin typeface="Roboto-Idcloud"/>
              </a:rPr>
              <a:t>Subnet</a:t>
            </a:r>
            <a:r>
              <a:rPr kumimoji="0" lang="en-US" altLang="en-US" sz="1500" b="0" i="0" u="none" strike="noStrike" cap="none" normalizeH="0" baseline="0" dirty="0" smtClean="0">
                <a:ln>
                  <a:noFill/>
                </a:ln>
                <a:solidFill>
                  <a:srgbClr val="5A6475"/>
                </a:solidFill>
                <a:effectLst/>
                <a:latin typeface="Roboto-Idcloud"/>
              </a:rPr>
              <a:t> field, select the subnet for the VM to use.</a:t>
            </a:r>
          </a:p>
          <a:p>
            <a:pPr marL="914400" marR="0" lvl="2"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500" b="0" i="0" u="none" strike="noStrike" cap="none" normalizeH="0" baseline="0" dirty="0" smtClean="0">
                <a:ln>
                  <a:noFill/>
                </a:ln>
                <a:solidFill>
                  <a:srgbClr val="5A6475"/>
                </a:solidFill>
                <a:effectLst/>
                <a:latin typeface="Roboto-Idcloud"/>
              </a:rPr>
              <a:t>Click </a:t>
            </a:r>
            <a:r>
              <a:rPr kumimoji="0" lang="en-US" altLang="en-US" sz="1500" b="1" i="0" u="none" strike="noStrike" cap="none" normalizeH="0" baseline="0" dirty="0" smtClean="0">
                <a:ln>
                  <a:noFill/>
                </a:ln>
                <a:solidFill>
                  <a:srgbClr val="5A6475"/>
                </a:solidFill>
                <a:effectLst/>
                <a:latin typeface="Roboto-Idcloud"/>
              </a:rPr>
              <a:t>Done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1500" b="0" i="0" u="none" strike="noStrike" cap="none" normalizeH="0" baseline="0" dirty="0" smtClean="0">
                <a:ln>
                  <a:noFill/>
                </a:ln>
                <a:solidFill>
                  <a:srgbClr val="5A6475"/>
                </a:solidFill>
                <a:effectLst/>
                <a:latin typeface="Roboto-Idcloud"/>
              </a:rPr>
              <a:t>To create and start the VM, click </a:t>
            </a:r>
            <a:r>
              <a:rPr kumimoji="0" lang="en-US" altLang="en-US" sz="1500" b="1" i="0" u="none" strike="noStrike" cap="none" normalizeH="0" baseline="0" dirty="0" smtClean="0">
                <a:ln>
                  <a:noFill/>
                </a:ln>
                <a:solidFill>
                  <a:srgbClr val="5A6475"/>
                </a:solidFill>
                <a:effectLst/>
                <a:latin typeface="Roboto-Idcloud"/>
              </a:rPr>
              <a:t>Create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Troubleshooting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5A6475"/>
                </a:solidFill>
                <a:effectLst/>
                <a:latin typeface="Roboto-Idcloud"/>
              </a:rPr>
              <a:t>To find methods for resolving common VM creation errors, see </a:t>
            </a:r>
            <a:r>
              <a:rPr kumimoji="0" lang="en-US" altLang="en-US" sz="1500" b="0" i="0" u="sng" strike="noStrike" cap="none" normalizeH="0" baseline="0" dirty="0" smtClean="0">
                <a:ln>
                  <a:noFill/>
                </a:ln>
                <a:solidFill>
                  <a:srgbClr val="0D6EFD"/>
                </a:solidFill>
                <a:effectLst/>
                <a:latin typeface="Roboto-Idcloud"/>
                <a:hlinkClick r:id="rId59"/>
              </a:rPr>
              <a:t>Troubleshooting VM creation</a:t>
            </a:r>
            <a:r>
              <a:rPr kumimoji="0" lang="en-US" altLang="en-US" sz="1500" b="0" i="0" u="none" strike="noStrike" cap="none" normalizeH="0" baseline="0" dirty="0" smtClean="0">
                <a:ln>
                  <a:noFill/>
                </a:ln>
                <a:solidFill>
                  <a:srgbClr val="5A6475"/>
                </a:solidFill>
                <a:effectLst/>
                <a:latin typeface="Roboto-Idcloud"/>
              </a:rPr>
              <a:t>.</a:t>
            </a:r>
            <a:endParaRPr kumimoji="0" lang="en-US" altLang="en-US" sz="900" b="0" i="0" u="none" strike="noStrike" cap="none" normalizeH="0" baseline="0" dirty="0" smtClean="0">
              <a:ln>
                <a:noFill/>
              </a:ln>
              <a:solidFill>
                <a:srgbClr val="5A6475"/>
              </a:solidFill>
              <a:effectLst/>
              <a:latin typeface="Roboto-Idcloud"/>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smtClean="0">
                <a:ln>
                  <a:noFill/>
                </a:ln>
                <a:solidFill>
                  <a:srgbClr val="5A6475"/>
                </a:solidFill>
                <a:effectLst/>
                <a:latin typeface="Roboto-Idcloud"/>
              </a:rPr>
              <a:t>What's next?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Check the </a:t>
            </a:r>
            <a:r>
              <a:rPr kumimoji="0" lang="en-US" altLang="en-US" sz="1500" b="0" i="0" u="sng" strike="noStrike" cap="none" normalizeH="0" baseline="0" dirty="0" smtClean="0">
                <a:ln>
                  <a:noFill/>
                </a:ln>
                <a:solidFill>
                  <a:srgbClr val="0D6EFD"/>
                </a:solidFill>
                <a:effectLst/>
                <a:latin typeface="Roboto-Idcloud"/>
                <a:hlinkClick r:id="rId60"/>
              </a:rPr>
              <a:t>status</a:t>
            </a:r>
            <a:r>
              <a:rPr kumimoji="0" lang="en-US" altLang="en-US" sz="1500" b="0" i="0" u="none" strike="noStrike" cap="none" normalizeH="0" baseline="0" dirty="0" smtClean="0">
                <a:ln>
                  <a:noFill/>
                </a:ln>
                <a:solidFill>
                  <a:srgbClr val="5A6475"/>
                </a:solidFill>
                <a:effectLst/>
                <a:latin typeface="Roboto-Idcloud"/>
              </a:rPr>
              <a:t> of the VM to see when it's ready to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Learn how to use </a:t>
            </a:r>
            <a:r>
              <a:rPr kumimoji="0" lang="en-US" altLang="en-US" sz="1500" b="0" i="0" u="sng" strike="noStrike" cap="none" normalizeH="0" baseline="0" dirty="0" smtClean="0">
                <a:ln>
                  <a:noFill/>
                </a:ln>
                <a:solidFill>
                  <a:srgbClr val="0D6EFD"/>
                </a:solidFill>
                <a:effectLst/>
                <a:latin typeface="Roboto-Idcloud"/>
                <a:hlinkClick r:id="rId48"/>
              </a:rPr>
              <a:t>snapshots</a:t>
            </a:r>
            <a:r>
              <a:rPr kumimoji="0" lang="en-US" altLang="en-US" sz="1500" b="0" i="0" u="none" strike="noStrike" cap="none" normalizeH="0" baseline="0" dirty="0" smtClean="0">
                <a:ln>
                  <a:noFill/>
                </a:ln>
                <a:solidFill>
                  <a:srgbClr val="5A6475"/>
                </a:solidFill>
                <a:effectLst/>
                <a:latin typeface="Roboto-Idcloud"/>
              </a:rPr>
              <a:t> to back up your persistent disks.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Learn more about </a:t>
            </a:r>
            <a:r>
              <a:rPr kumimoji="0" lang="en-US" altLang="en-US" sz="1500" b="0" i="0" u="sng" strike="noStrike" cap="none" normalizeH="0" baseline="0" dirty="0" smtClean="0">
                <a:ln>
                  <a:noFill/>
                </a:ln>
                <a:solidFill>
                  <a:srgbClr val="0D6EFD"/>
                </a:solidFill>
                <a:effectLst/>
                <a:latin typeface="Roboto-Idcloud"/>
                <a:hlinkClick r:id="rId3"/>
              </a:rPr>
              <a:t>images</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Learn more about </a:t>
            </a:r>
            <a:r>
              <a:rPr kumimoji="0" lang="en-US" altLang="en-US" sz="1500" b="0" i="0" u="sng" strike="noStrike" cap="none" normalizeH="0" baseline="0" dirty="0" smtClean="0">
                <a:ln>
                  <a:noFill/>
                </a:ln>
                <a:solidFill>
                  <a:srgbClr val="0D6EFD"/>
                </a:solidFill>
                <a:effectLst/>
                <a:latin typeface="Roboto-Idcloud"/>
                <a:hlinkClick r:id="rId61"/>
              </a:rPr>
              <a:t>containers</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6"/>
              </a:rPr>
              <a:t>Create and attach a non-boot storage disk</a:t>
            </a:r>
            <a:r>
              <a:rPr kumimoji="0" lang="en-US" altLang="en-US" sz="1500" b="0" i="0" u="none" strike="noStrike" cap="none" normalizeH="0" baseline="0" dirty="0" smtClean="0">
                <a:ln>
                  <a:noFill/>
                </a:ln>
                <a:solidFill>
                  <a:srgbClr val="5A6475"/>
                </a:solidFill>
                <a:effectLst/>
                <a:latin typeface="Roboto-Idcloud"/>
              </a:rPr>
              <a:t> to your VM to store your data separately from the boot disk.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9"/>
              </a:rPr>
              <a:t>Create and start Windows Server or SQL Server instances</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Refer to the </a:t>
            </a:r>
            <a:r>
              <a:rPr kumimoji="0" lang="en-US" altLang="en-US" b="0" i="0" u="sng" strike="noStrike" cap="none" normalizeH="0" baseline="0" dirty="0" err="1" smtClean="0">
                <a:ln>
                  <a:noFill/>
                </a:ln>
                <a:solidFill>
                  <a:srgbClr val="0D6EFD"/>
                </a:solidFill>
                <a:effectLst/>
                <a:latin typeface="SFMono-Regular"/>
                <a:hlinkClick r:id="rId62"/>
              </a:rPr>
              <a:t>gcloud</a:t>
            </a:r>
            <a:r>
              <a:rPr kumimoji="0" lang="en-US" altLang="en-US" b="0" i="0" u="sng" strike="noStrike" cap="none" normalizeH="0" baseline="0" dirty="0" smtClean="0">
                <a:ln>
                  <a:noFill/>
                </a:ln>
                <a:solidFill>
                  <a:srgbClr val="0D6EFD"/>
                </a:solidFill>
                <a:effectLst/>
                <a:latin typeface="SFMono-Regular"/>
                <a:hlinkClick r:id="rId62"/>
              </a:rPr>
              <a:t> compute instances create</a:t>
            </a:r>
            <a:r>
              <a:rPr kumimoji="0" lang="en-US" altLang="en-US" sz="1500" b="0" i="0" u="none" strike="noStrike" cap="none" normalizeH="0" baseline="0" dirty="0" smtClean="0">
                <a:ln>
                  <a:noFill/>
                </a:ln>
                <a:solidFill>
                  <a:srgbClr val="5A6475"/>
                </a:solidFill>
                <a:effectLst/>
                <a:latin typeface="Roboto-Idcloud"/>
              </a:rPr>
              <a:t> command.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none" strike="noStrike" cap="none" normalizeH="0" baseline="0" dirty="0" smtClean="0">
                <a:ln>
                  <a:noFill/>
                </a:ln>
                <a:solidFill>
                  <a:srgbClr val="5A6475"/>
                </a:solidFill>
                <a:effectLst/>
                <a:latin typeface="Roboto-Idcloud"/>
              </a:rPr>
              <a:t>Learn how to </a:t>
            </a:r>
            <a:r>
              <a:rPr kumimoji="0" lang="en-US" altLang="en-US" sz="1500" b="0" i="0" u="sng" strike="noStrike" cap="none" normalizeH="0" baseline="0" dirty="0" smtClean="0">
                <a:ln>
                  <a:noFill/>
                </a:ln>
                <a:solidFill>
                  <a:srgbClr val="0D6EFD"/>
                </a:solidFill>
                <a:effectLst/>
                <a:latin typeface="Roboto-Idcloud"/>
                <a:hlinkClick r:id="rId13"/>
              </a:rPr>
              <a:t>reserve resources</a:t>
            </a:r>
            <a:r>
              <a:rPr kumimoji="0" lang="en-US" altLang="en-US" sz="1500" b="0" i="0" u="none" strike="noStrike" cap="none" normalizeH="0" baseline="0" dirty="0" smtClean="0">
                <a:ln>
                  <a:noFill/>
                </a:ln>
                <a:solidFill>
                  <a:srgbClr val="5A6475"/>
                </a:solidFill>
                <a:effectLst/>
                <a:latin typeface="Roboto-Idcloud"/>
              </a:rPr>
              <a:t> in a specific zone.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500" b="0" i="0" u="sng" strike="noStrike" cap="none" normalizeH="0" baseline="0" dirty="0" smtClean="0">
                <a:ln>
                  <a:noFill/>
                </a:ln>
                <a:solidFill>
                  <a:srgbClr val="0D6EFD"/>
                </a:solidFill>
                <a:effectLst/>
                <a:latin typeface="Roboto-Idcloud"/>
                <a:hlinkClick r:id="rId63"/>
              </a:rPr>
              <a:t>Connect to your VM instance</a:t>
            </a:r>
            <a:r>
              <a:rPr kumimoji="0" lang="en-US" altLang="en-US" sz="1500" b="0" i="0" u="none" strike="noStrike" cap="none" normalizeH="0" baseline="0" dirty="0" smtClean="0">
                <a:ln>
                  <a:noFill/>
                </a:ln>
                <a:solidFill>
                  <a:srgbClr val="5A6475"/>
                </a:solidFill>
                <a:effectLst/>
                <a:latin typeface="Roboto-Idcloud"/>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8394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184" y="737593"/>
            <a:ext cx="7886700" cy="994172"/>
          </a:xfrm>
        </p:spPr>
        <p:txBody>
          <a:bodyPr>
            <a:normAutofit fontScale="90000"/>
          </a:bodyPr>
          <a:lstStyle/>
          <a:p>
            <a:r>
              <a:rPr lang="en-US" dirty="0"/>
              <a:t>Cloud Infrastructure for Virtual </a:t>
            </a:r>
            <a:r>
              <a:rPr lang="en-US" dirty="0" smtClean="0"/>
              <a:t>Machines</a:t>
            </a:r>
            <a:br>
              <a:rPr lang="en-US" dirty="0" smtClean="0"/>
            </a:br>
            <a:r>
              <a:rPr lang="en-US" dirty="0" smtClean="0"/>
              <a:t>compute, storage, network Infrastructure </a:t>
            </a:r>
            <a:r>
              <a:rPr lang="en-US" dirty="0"/>
              <a:t>for Virtual Machines</a:t>
            </a:r>
            <a:br>
              <a:rPr lang="en-US" dirty="0"/>
            </a:br>
            <a:r>
              <a:rPr lang="en-US" dirty="0"/>
              <a:t/>
            </a:r>
            <a:br>
              <a:rPr lang="en-US" dirty="0"/>
            </a:b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16562938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19619320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601</TotalTime>
  <Words>116</Words>
  <Application>Microsoft Office PowerPoint</Application>
  <PresentationFormat>On-screen Show (16:9)</PresentationFormat>
  <Paragraphs>259</Paragraphs>
  <Slides>4</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Malgun Gothic</vt:lpstr>
      <vt:lpstr>Arial</vt:lpstr>
      <vt:lpstr>Calibri</vt:lpstr>
      <vt:lpstr>Calibri Light</vt:lpstr>
      <vt:lpstr>Roboto-Idcloud</vt:lpstr>
      <vt:lpstr>SFMono-Regular</vt:lpstr>
      <vt:lpstr>Office Theme</vt:lpstr>
      <vt:lpstr>PowerPoint Presentation</vt:lpstr>
      <vt:lpstr>Cource_LAB_CloudAce_3_How to Create and Starting a VM Instance  </vt:lpstr>
      <vt:lpstr>Cloud Infrastructure for Virtual Machines compute, storage, network Infrastructure for Virtual Machines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Cource_LAB_CLoudAce_3_How to Create and Starting a VM Instance</dc:title>
  <dc:subject/>
  <dc:creator>pds</dc:creator>
  <cp:keywords/>
  <dc:description/>
  <cp:lastModifiedBy>PDS</cp:lastModifiedBy>
  <cp:revision>36</cp:revision>
  <dcterms:modified xsi:type="dcterms:W3CDTF">2026-09-18T01:27:38Z</dcterms:modified>
  <cp:category/>
</cp:coreProperties>
</file>