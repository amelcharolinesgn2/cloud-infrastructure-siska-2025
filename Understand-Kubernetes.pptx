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65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8A847-9CFC-4E88-9620-3D5D1654F5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D7B0F-AF99-4710-AA23-21D79840A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2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1625" y="249500"/>
            <a:ext cx="5618480" cy="46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39403" y="4791125"/>
            <a:ext cx="875996" cy="228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1625" y="118931"/>
            <a:ext cx="8540750" cy="951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9734" y="1360075"/>
            <a:ext cx="7621905" cy="162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6225" y="4823475"/>
            <a:ext cx="2305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jp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3" y="0"/>
              <a:ext cx="9141290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0664" y="3860713"/>
              <a:ext cx="1274736" cy="106939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4" y="1538898"/>
            <a:ext cx="671512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</a:rPr>
              <a:t>Demystifying</a:t>
            </a:r>
            <a:r>
              <a:rPr sz="4000" spc="-190" dirty="0">
                <a:solidFill>
                  <a:srgbClr val="FFFFFF"/>
                </a:solidFill>
              </a:rPr>
              <a:t> </a:t>
            </a:r>
            <a:r>
              <a:rPr sz="4000" dirty="0" smtClean="0">
                <a:solidFill>
                  <a:srgbClr val="FFFFFF"/>
                </a:solidFill>
              </a:rPr>
              <a:t>Kubernetes</a:t>
            </a:r>
            <a:endParaRPr sz="4000" dirty="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90878" y="4196277"/>
            <a:ext cx="2629569" cy="5679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36196" y="1319152"/>
            <a:ext cx="61887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400" spc="-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44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44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44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analogy..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A</a:t>
            </a:r>
            <a:r>
              <a:rPr spc="-175" dirty="0"/>
              <a:t> </a:t>
            </a:r>
            <a:r>
              <a:rPr dirty="0"/>
              <a:t>Cargo</a:t>
            </a:r>
            <a:r>
              <a:rPr spc="10" dirty="0"/>
              <a:t> </a:t>
            </a:r>
            <a:r>
              <a:rPr spc="-10" dirty="0"/>
              <a:t>Ship…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Carries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containers</a:t>
            </a:r>
            <a:r>
              <a:rPr sz="2100" spc="-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across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5" dirty="0">
                <a:solidFill>
                  <a:srgbClr val="595959"/>
                </a:solidFill>
              </a:rPr>
              <a:t> </a:t>
            </a:r>
            <a:r>
              <a:rPr sz="2100" spc="-25" dirty="0">
                <a:solidFill>
                  <a:srgbClr val="595959"/>
                </a:solidFill>
              </a:rPr>
              <a:t>sea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8599" y="2167127"/>
            <a:ext cx="1676215" cy="12061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391" y="1591055"/>
            <a:ext cx="5834378" cy="2860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A</a:t>
            </a:r>
            <a:r>
              <a:rPr spc="-175" dirty="0"/>
              <a:t> </a:t>
            </a:r>
            <a:r>
              <a:rPr dirty="0"/>
              <a:t>Cargo</a:t>
            </a:r>
            <a:r>
              <a:rPr spc="10" dirty="0"/>
              <a:t> </a:t>
            </a:r>
            <a:r>
              <a:rPr spc="-10" dirty="0"/>
              <a:t>Ship…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Host</a:t>
            </a:r>
            <a:r>
              <a:rPr sz="2100" spc="-14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Application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as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Containers</a:t>
            </a:r>
            <a:r>
              <a:rPr sz="2100" spc="-3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~</a:t>
            </a:r>
            <a:r>
              <a:rPr sz="2100" spc="-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0097A7"/>
                </a:solidFill>
              </a:rPr>
              <a:t>Worker</a:t>
            </a:r>
            <a:r>
              <a:rPr sz="2100" spc="-25" dirty="0">
                <a:solidFill>
                  <a:srgbClr val="0097A7"/>
                </a:solidFill>
              </a:rPr>
              <a:t> </a:t>
            </a:r>
            <a:r>
              <a:rPr sz="2100" spc="-10" dirty="0">
                <a:solidFill>
                  <a:srgbClr val="0097A7"/>
                </a:solidFill>
              </a:rPr>
              <a:t>Nodes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892" y="1533305"/>
            <a:ext cx="5834377" cy="2860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Control</a:t>
            </a:r>
            <a:r>
              <a:rPr spc="-25" dirty="0"/>
              <a:t> </a:t>
            </a:r>
            <a:r>
              <a:rPr spc="-10" dirty="0"/>
              <a:t>Ships..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Managing</a:t>
            </a:r>
            <a:r>
              <a:rPr sz="2100" spc="-3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&amp;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Monitoring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of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cargo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spc="-10" dirty="0">
                <a:solidFill>
                  <a:srgbClr val="595959"/>
                </a:solidFill>
              </a:rPr>
              <a:t>ships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905" y="1348226"/>
            <a:ext cx="5074189" cy="30984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Control</a:t>
            </a:r>
            <a:r>
              <a:rPr spc="-25" dirty="0"/>
              <a:t> </a:t>
            </a:r>
            <a:r>
              <a:rPr spc="-10" dirty="0"/>
              <a:t>Ships..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Manage,</a:t>
            </a:r>
            <a:r>
              <a:rPr sz="2100" spc="-3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Plan,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Schedule,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Monitor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~</a:t>
            </a:r>
            <a:r>
              <a:rPr sz="2100" spc="25" dirty="0">
                <a:solidFill>
                  <a:srgbClr val="595959"/>
                </a:solidFill>
              </a:rPr>
              <a:t> </a:t>
            </a:r>
            <a:r>
              <a:rPr sz="2100" spc="-10" dirty="0">
                <a:solidFill>
                  <a:srgbClr val="7030A0"/>
                </a:solidFill>
              </a:rPr>
              <a:t>Master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905" y="1348226"/>
            <a:ext cx="5074189" cy="30984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5" name="object 15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36196" y="1319152"/>
            <a:ext cx="5217160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9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talk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Master Components..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Ship</a:t>
            </a:r>
            <a:r>
              <a:rPr spc="-10" dirty="0"/>
              <a:t> Cranes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Identifies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placement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of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spc="-10" dirty="0">
                <a:solidFill>
                  <a:srgbClr val="595959"/>
                </a:solidFill>
              </a:rPr>
              <a:t>containers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0123" y="1369219"/>
            <a:ext cx="5526141" cy="33992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Ship</a:t>
            </a:r>
            <a:r>
              <a:rPr spc="-10" dirty="0"/>
              <a:t> Cranes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Identifies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right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node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to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place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containers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~</a:t>
            </a:r>
            <a:r>
              <a:rPr sz="2100" spc="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00B050"/>
                </a:solidFill>
              </a:rPr>
              <a:t>Kube-</a:t>
            </a:r>
            <a:r>
              <a:rPr sz="2100" spc="-10" dirty="0">
                <a:solidFill>
                  <a:srgbClr val="00B050"/>
                </a:solidFill>
              </a:rPr>
              <a:t>Scheduler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152" y="1369219"/>
            <a:ext cx="5526141" cy="33992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52913" y="1483432"/>
              <a:ext cx="1030605" cy="403860"/>
            </a:xfrm>
            <a:custGeom>
              <a:avLst/>
              <a:gdLst/>
              <a:ahLst/>
              <a:cxnLst/>
              <a:rect l="l" t="t" r="r" b="b"/>
              <a:pathLst>
                <a:path w="1030604" h="403860">
                  <a:moveTo>
                    <a:pt x="963276" y="403422"/>
                  </a:moveTo>
                  <a:lnTo>
                    <a:pt x="67238" y="403422"/>
                  </a:lnTo>
                  <a:lnTo>
                    <a:pt x="41066" y="398139"/>
                  </a:lnTo>
                  <a:lnTo>
                    <a:pt x="19693" y="383729"/>
                  </a:lnTo>
                  <a:lnTo>
                    <a:pt x="5283" y="362356"/>
                  </a:lnTo>
                  <a:lnTo>
                    <a:pt x="0" y="336184"/>
                  </a:lnTo>
                  <a:lnTo>
                    <a:pt x="0" y="67238"/>
                  </a:lnTo>
                  <a:lnTo>
                    <a:pt x="5194" y="41507"/>
                  </a:lnTo>
                  <a:lnTo>
                    <a:pt x="5283" y="41066"/>
                  </a:lnTo>
                  <a:lnTo>
                    <a:pt x="19693" y="19693"/>
                  </a:lnTo>
                  <a:lnTo>
                    <a:pt x="41066" y="5283"/>
                  </a:lnTo>
                  <a:lnTo>
                    <a:pt x="67238" y="0"/>
                  </a:lnTo>
                  <a:lnTo>
                    <a:pt x="963276" y="0"/>
                  </a:lnTo>
                  <a:lnTo>
                    <a:pt x="1000580" y="11296"/>
                  </a:lnTo>
                  <a:lnTo>
                    <a:pt x="1025396" y="41507"/>
                  </a:lnTo>
                  <a:lnTo>
                    <a:pt x="1030514" y="67238"/>
                  </a:lnTo>
                  <a:lnTo>
                    <a:pt x="1030514" y="336184"/>
                  </a:lnTo>
                  <a:lnTo>
                    <a:pt x="1025231" y="362356"/>
                  </a:lnTo>
                  <a:lnTo>
                    <a:pt x="1010821" y="383729"/>
                  </a:lnTo>
                  <a:lnTo>
                    <a:pt x="989448" y="398139"/>
                  </a:lnTo>
                  <a:lnTo>
                    <a:pt x="963276" y="40342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52913" y="1483432"/>
              <a:ext cx="1030605" cy="403860"/>
            </a:xfrm>
            <a:custGeom>
              <a:avLst/>
              <a:gdLst/>
              <a:ahLst/>
              <a:cxnLst/>
              <a:rect l="l" t="t" r="r" b="b"/>
              <a:pathLst>
                <a:path w="1030604" h="403860">
                  <a:moveTo>
                    <a:pt x="0" y="67238"/>
                  </a:moveTo>
                  <a:lnTo>
                    <a:pt x="5283" y="41066"/>
                  </a:lnTo>
                  <a:lnTo>
                    <a:pt x="19693" y="19693"/>
                  </a:lnTo>
                  <a:lnTo>
                    <a:pt x="41066" y="5283"/>
                  </a:lnTo>
                  <a:lnTo>
                    <a:pt x="67238" y="0"/>
                  </a:lnTo>
                  <a:lnTo>
                    <a:pt x="963276" y="0"/>
                  </a:lnTo>
                  <a:lnTo>
                    <a:pt x="1000580" y="11296"/>
                  </a:lnTo>
                  <a:lnTo>
                    <a:pt x="1025396" y="41507"/>
                  </a:lnTo>
                  <a:lnTo>
                    <a:pt x="1030514" y="67238"/>
                  </a:lnTo>
                  <a:lnTo>
                    <a:pt x="1030514" y="336184"/>
                  </a:lnTo>
                  <a:lnTo>
                    <a:pt x="1025231" y="362356"/>
                  </a:lnTo>
                  <a:lnTo>
                    <a:pt x="1010821" y="383729"/>
                  </a:lnTo>
                  <a:lnTo>
                    <a:pt x="989448" y="398139"/>
                  </a:lnTo>
                  <a:lnTo>
                    <a:pt x="963276" y="403422"/>
                  </a:lnTo>
                  <a:lnTo>
                    <a:pt x="67238" y="403422"/>
                  </a:lnTo>
                  <a:lnTo>
                    <a:pt x="41066" y="398139"/>
                  </a:lnTo>
                  <a:lnTo>
                    <a:pt x="19693" y="383729"/>
                  </a:lnTo>
                  <a:lnTo>
                    <a:pt x="5283" y="362356"/>
                  </a:lnTo>
                  <a:lnTo>
                    <a:pt x="0" y="336184"/>
                  </a:lnTo>
                  <a:lnTo>
                    <a:pt x="0" y="6723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7" name="object 17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2555384" y="1560557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/>
              <a:t>Cargo</a:t>
            </a:r>
            <a:r>
              <a:rPr spc="-15" dirty="0"/>
              <a:t> </a:t>
            </a:r>
            <a:r>
              <a:rPr dirty="0"/>
              <a:t>Ship</a:t>
            </a:r>
            <a:r>
              <a:rPr spc="-10" dirty="0"/>
              <a:t> Profiles</a:t>
            </a: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400" spc="-10" dirty="0">
                <a:solidFill>
                  <a:srgbClr val="595959"/>
                </a:solidFill>
              </a:rPr>
              <a:t>HA</a:t>
            </a:r>
            <a:r>
              <a:rPr sz="1400" spc="-9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database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~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Which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containers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on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which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ships?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When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was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it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spc="-10" dirty="0">
                <a:solidFill>
                  <a:srgbClr val="595959"/>
                </a:solidFill>
              </a:rPr>
              <a:t>loaded?</a:t>
            </a:r>
            <a:endParaRPr sz="1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480" y="1369219"/>
            <a:ext cx="6840514" cy="26528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Cargo</a:t>
            </a:r>
            <a:r>
              <a:rPr spc="-15" dirty="0"/>
              <a:t> </a:t>
            </a:r>
            <a:r>
              <a:rPr dirty="0"/>
              <a:t>Ship</a:t>
            </a:r>
            <a:r>
              <a:rPr spc="-10" dirty="0"/>
              <a:t> Profiles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HA</a:t>
            </a:r>
            <a:r>
              <a:rPr sz="1600" spc="-11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database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~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Which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containers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on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which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ships?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When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was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it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loaded?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~ </a:t>
            </a:r>
            <a:r>
              <a:rPr sz="1600" dirty="0">
                <a:solidFill>
                  <a:srgbClr val="FF0000"/>
                </a:solidFill>
              </a:rPr>
              <a:t>The</a:t>
            </a:r>
            <a:r>
              <a:rPr sz="1600" spc="-15" dirty="0">
                <a:solidFill>
                  <a:srgbClr val="FF0000"/>
                </a:solidFill>
              </a:rPr>
              <a:t> </a:t>
            </a:r>
            <a:r>
              <a:rPr sz="1600" dirty="0">
                <a:solidFill>
                  <a:srgbClr val="FF0000"/>
                </a:solidFill>
              </a:rPr>
              <a:t>ETCD</a:t>
            </a:r>
            <a:r>
              <a:rPr sz="1600" spc="-20" dirty="0">
                <a:solidFill>
                  <a:srgbClr val="FF0000"/>
                </a:solidFill>
              </a:rPr>
              <a:t> </a:t>
            </a:r>
            <a:r>
              <a:rPr sz="1600" spc="-10" dirty="0">
                <a:solidFill>
                  <a:srgbClr val="FF0000"/>
                </a:solidFill>
              </a:rPr>
              <a:t>Cluster</a:t>
            </a:r>
            <a:endParaRPr sz="1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759" y="1303905"/>
            <a:ext cx="8030193" cy="311427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7" name="object 17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23" name="object 2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47713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Offices</a:t>
            </a:r>
            <a:r>
              <a:rPr spc="5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spc="-20" dirty="0"/>
              <a:t>Dock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486" y="1248076"/>
            <a:ext cx="7651343" cy="3384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1625" y="694042"/>
            <a:ext cx="8682990" cy="9683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97815" indent="-251460">
              <a:lnSpc>
                <a:spcPct val="100000"/>
              </a:lnSpc>
              <a:spcBef>
                <a:spcPts val="655"/>
              </a:spcBef>
              <a:buChar char="-"/>
              <a:tabLst>
                <a:tab pos="297815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Operation</a:t>
            </a:r>
            <a:r>
              <a:rPr sz="16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Team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Office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~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Ship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Handling,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  <a:p>
            <a:pPr marL="297815" indent="-251460">
              <a:lnSpc>
                <a:spcPct val="100000"/>
              </a:lnSpc>
              <a:spcBef>
                <a:spcPts val="555"/>
              </a:spcBef>
              <a:buChar char="-"/>
              <a:tabLst>
                <a:tab pos="297815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Cargo</a:t>
            </a:r>
            <a:r>
              <a:rPr sz="16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Team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Office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~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verify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damaged,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ensure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600" spc="4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rebuilt</a:t>
            </a:r>
            <a:endParaRPr sz="1600">
              <a:latin typeface="Arial"/>
              <a:cs typeface="Arial"/>
            </a:endParaRPr>
          </a:p>
          <a:p>
            <a:pPr marL="305435" indent="-292735">
              <a:lnSpc>
                <a:spcPct val="100000"/>
              </a:lnSpc>
              <a:spcBef>
                <a:spcPts val="555"/>
              </a:spcBef>
              <a:buChar char="-"/>
              <a:tabLst>
                <a:tab pos="305435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6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Office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various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ships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80353" y="2426804"/>
            <a:ext cx="1443355" cy="1034415"/>
            <a:chOff x="3480353" y="2426804"/>
            <a:chExt cx="1443355" cy="1034415"/>
          </a:xfrm>
        </p:grpSpPr>
        <p:sp>
          <p:nvSpPr>
            <p:cNvPr id="6" name="object 6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7938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Controllers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486" y="1248076"/>
            <a:ext cx="7651343" cy="3384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5574" y="764526"/>
            <a:ext cx="8213090" cy="11169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64160" marR="270510" indent="-252095">
              <a:lnSpc>
                <a:spcPts val="1730"/>
              </a:lnSpc>
              <a:spcBef>
                <a:spcPts val="315"/>
              </a:spcBef>
              <a:buClr>
                <a:srgbClr val="EEFF41"/>
              </a:buClr>
              <a:buChar char="-"/>
              <a:tabLst>
                <a:tab pos="264160" algn="l"/>
              </a:tabLst>
            </a:pPr>
            <a:r>
              <a:rPr sz="1600" dirty="0">
                <a:solidFill>
                  <a:srgbClr val="BE9000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BE9000"/>
                </a:solidFill>
                <a:latin typeface="Arial"/>
                <a:cs typeface="Arial"/>
              </a:rPr>
              <a:t>Controllers</a:t>
            </a:r>
            <a:r>
              <a:rPr sz="1600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16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Takes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care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onboarding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r>
              <a:rPr sz="16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Availability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525"/>
              </a:spcBef>
              <a:buChar char="-"/>
              <a:tabLst>
                <a:tab pos="264160" algn="l"/>
              </a:tabLst>
            </a:pPr>
            <a:r>
              <a:rPr sz="1600" dirty="0">
                <a:solidFill>
                  <a:srgbClr val="212121"/>
                </a:solidFill>
                <a:latin typeface="Arial"/>
                <a:cs typeface="Arial"/>
              </a:rPr>
              <a:t>Replicas</a:t>
            </a:r>
            <a:r>
              <a:rPr sz="16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12121"/>
                </a:solidFill>
                <a:latin typeface="Arial"/>
                <a:cs typeface="Arial"/>
              </a:rPr>
              <a:t>Controller</a:t>
            </a:r>
            <a:r>
              <a:rPr sz="16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Ensures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desired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number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running</a:t>
            </a:r>
            <a:r>
              <a:rPr sz="1600" spc="4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times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555"/>
              </a:spcBef>
              <a:buChar char="-"/>
              <a:tabLst>
                <a:tab pos="264160" algn="l"/>
              </a:tabLst>
            </a:pPr>
            <a:r>
              <a:rPr sz="1600" dirty="0">
                <a:solidFill>
                  <a:srgbClr val="C00000"/>
                </a:solidFill>
                <a:latin typeface="Arial"/>
                <a:cs typeface="Arial"/>
              </a:rPr>
              <a:t>Controller</a:t>
            </a:r>
            <a:r>
              <a:rPr sz="16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C00000"/>
                </a:solidFill>
                <a:latin typeface="Arial"/>
                <a:cs typeface="Arial"/>
              </a:rPr>
              <a:t>Manager</a:t>
            </a:r>
            <a:r>
              <a:rPr sz="16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600" spc="43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Manages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these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controllers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place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80353" y="2426804"/>
            <a:ext cx="2012950" cy="1034415"/>
            <a:chOff x="3480353" y="2426804"/>
            <a:chExt cx="2012950" cy="1034415"/>
          </a:xfrm>
        </p:grpSpPr>
        <p:sp>
          <p:nvSpPr>
            <p:cNvPr id="6" name="object 6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5297" y="2686707"/>
              <a:ext cx="379730" cy="534035"/>
            </a:xfrm>
            <a:custGeom>
              <a:avLst/>
              <a:gdLst/>
              <a:ahLst/>
              <a:cxnLst/>
              <a:rect l="l" t="t" r="r" b="b"/>
              <a:pathLst>
                <a:path w="379729" h="534035">
                  <a:moveTo>
                    <a:pt x="379341" y="533569"/>
                  </a:moveTo>
                  <a:lnTo>
                    <a:pt x="0" y="533569"/>
                  </a:lnTo>
                  <a:lnTo>
                    <a:pt x="0" y="0"/>
                  </a:lnTo>
                  <a:lnTo>
                    <a:pt x="379341" y="0"/>
                  </a:lnTo>
                  <a:lnTo>
                    <a:pt x="379341" y="533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5297" y="2686707"/>
              <a:ext cx="379730" cy="534035"/>
            </a:xfrm>
            <a:custGeom>
              <a:avLst/>
              <a:gdLst/>
              <a:ahLst/>
              <a:cxnLst/>
              <a:rect l="l" t="t" r="r" b="b"/>
              <a:pathLst>
                <a:path w="379729" h="534035">
                  <a:moveTo>
                    <a:pt x="0" y="0"/>
                  </a:moveTo>
                  <a:lnTo>
                    <a:pt x="379341" y="0"/>
                  </a:lnTo>
                  <a:lnTo>
                    <a:pt x="379341" y="533569"/>
                  </a:lnTo>
                  <a:lnTo>
                    <a:pt x="0" y="53356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0593" y="2643561"/>
              <a:ext cx="189451" cy="174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8813" y="2948730"/>
              <a:ext cx="191246" cy="246278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7" name="object 17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23" name="object 2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7" name="object 2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486" y="1248076"/>
            <a:ext cx="7651750" cy="3384550"/>
            <a:chOff x="608486" y="1248076"/>
            <a:chExt cx="7651750" cy="3384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486" y="1248076"/>
              <a:ext cx="7651343" cy="33842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1625" y="764527"/>
            <a:ext cx="5816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does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these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communicate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other?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72796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92D050"/>
                </a:solidFill>
              </a:rPr>
              <a:t>Kube</a:t>
            </a:r>
            <a:r>
              <a:rPr spc="-150" dirty="0">
                <a:solidFill>
                  <a:srgbClr val="92D050"/>
                </a:solidFill>
              </a:rPr>
              <a:t> </a:t>
            </a:r>
            <a:r>
              <a:rPr dirty="0">
                <a:solidFill>
                  <a:srgbClr val="92D050"/>
                </a:solidFill>
              </a:rPr>
              <a:t>API</a:t>
            </a:r>
            <a:r>
              <a:rPr spc="15" dirty="0">
                <a:solidFill>
                  <a:srgbClr val="92D050"/>
                </a:solidFill>
              </a:rPr>
              <a:t> </a:t>
            </a:r>
            <a:r>
              <a:rPr spc="-10" dirty="0">
                <a:solidFill>
                  <a:srgbClr val="92D050"/>
                </a:solidFill>
              </a:rPr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8486" y="1248076"/>
            <a:ext cx="7651750" cy="3384550"/>
            <a:chOff x="608486" y="1248076"/>
            <a:chExt cx="7651750" cy="3384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486" y="1248076"/>
              <a:ext cx="7651343" cy="33842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31864" y="2306904"/>
              <a:ext cx="733425" cy="334645"/>
            </a:xfrm>
            <a:custGeom>
              <a:avLst/>
              <a:gdLst/>
              <a:ahLst/>
              <a:cxnLst/>
              <a:rect l="l" t="t" r="r" b="b"/>
              <a:pathLst>
                <a:path w="733425" h="334644">
                  <a:moveTo>
                    <a:pt x="733186" y="0"/>
                  </a:moveTo>
                  <a:lnTo>
                    <a:pt x="0" y="33411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2530" y="2626698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0" y="32240"/>
                  </a:moveTo>
                  <a:lnTo>
                    <a:pt x="32809" y="0"/>
                  </a:lnTo>
                  <a:lnTo>
                    <a:pt x="45857" y="28632"/>
                  </a:lnTo>
                  <a:lnTo>
                    <a:pt x="0" y="3224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2530" y="2626698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32809" y="0"/>
                  </a:moveTo>
                  <a:lnTo>
                    <a:pt x="0" y="32240"/>
                  </a:lnTo>
                  <a:lnTo>
                    <a:pt x="45857" y="28632"/>
                  </a:lnTo>
                  <a:lnTo>
                    <a:pt x="3280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4478" y="862098"/>
            <a:ext cx="7665720" cy="142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100"/>
              </a:spcBef>
              <a:buChar char="-"/>
              <a:tabLst>
                <a:tab pos="264160" algn="l"/>
              </a:tabLst>
            </a:pPr>
            <a:r>
              <a:rPr sz="1600" dirty="0">
                <a:latin typeface="Arial"/>
                <a:cs typeface="Arial"/>
              </a:rPr>
              <a:t>A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primary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management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component</a:t>
            </a:r>
            <a:r>
              <a:rPr sz="1600" spc="3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k8s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30"/>
              </a:spcBef>
              <a:buChar char="-"/>
              <a:tabLst>
                <a:tab pos="264160" algn="l"/>
              </a:tabLst>
            </a:pPr>
            <a:r>
              <a:rPr sz="1600" dirty="0">
                <a:latin typeface="Arial"/>
                <a:cs typeface="Arial"/>
              </a:rPr>
              <a:t>Responsible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orchestrating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cluster</a:t>
            </a:r>
            <a:endParaRPr sz="1600">
              <a:latin typeface="Arial"/>
              <a:cs typeface="Arial"/>
            </a:endParaRPr>
          </a:p>
          <a:p>
            <a:pPr marL="264160" marR="338455" indent="-252095">
              <a:lnSpc>
                <a:spcPct val="101600"/>
              </a:lnSpc>
              <a:buChar char="-"/>
              <a:tabLst>
                <a:tab pos="264160" algn="l"/>
              </a:tabLst>
            </a:pPr>
            <a:r>
              <a:rPr sz="1600" dirty="0">
                <a:latin typeface="Arial"/>
                <a:cs typeface="Arial"/>
              </a:rPr>
              <a:t>Exposes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K8s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,used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external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users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perform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management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</a:t>
            </a:r>
            <a:r>
              <a:rPr sz="1600" spc="-25" dirty="0">
                <a:latin typeface="Arial"/>
                <a:cs typeface="Arial"/>
              </a:rPr>
              <a:t> in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cluster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controller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monitor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cluster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Arial"/>
                <a:cs typeface="Arial"/>
              </a:rPr>
              <a:t>API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10653" y="4247715"/>
            <a:ext cx="115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8" name="object 8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46132" y="421619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5" name="object 15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19" name="object 19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24" name="object 24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98434" y="2516781"/>
            <a:ext cx="1336675" cy="41275"/>
            <a:chOff x="1098434" y="2516781"/>
            <a:chExt cx="1336675" cy="41275"/>
          </a:xfrm>
        </p:grpSpPr>
        <p:sp>
          <p:nvSpPr>
            <p:cNvPr id="31" name="object 31"/>
            <p:cNvSpPr/>
            <p:nvPr/>
          </p:nvSpPr>
          <p:spPr>
            <a:xfrm>
              <a:off x="1098434" y="2537276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35" name="object 35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9" name="object 39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nutshell…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625" y="1360075"/>
            <a:ext cx="339915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$kubectl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get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componentstatus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0625" y="2014077"/>
            <a:ext cx="3236595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[node1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install]$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kubectl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o</a:t>
            </a:r>
            <a:r>
              <a:rPr sz="900" spc="-20" dirty="0">
                <a:latin typeface="Arial"/>
                <a:cs typeface="Arial"/>
              </a:rPr>
              <a:t> wide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1060450" algn="l"/>
              </a:tabLst>
            </a:pPr>
            <a:r>
              <a:rPr sz="900" dirty="0">
                <a:latin typeface="Arial"/>
                <a:cs typeface="Arial"/>
              </a:rPr>
              <a:t>NAME</a:t>
            </a:r>
            <a:r>
              <a:rPr sz="900" spc="240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STATUS</a:t>
            </a:r>
            <a:r>
              <a:rPr sz="900" dirty="0">
                <a:latin typeface="Arial"/>
                <a:cs typeface="Arial"/>
              </a:rPr>
              <a:t>	ROLES</a:t>
            </a:r>
            <a:r>
              <a:rPr sz="900" spc="21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AGE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INTERNAL-</a:t>
            </a:r>
            <a:r>
              <a:rPr sz="900" spc="-25" dirty="0">
                <a:latin typeface="Arial"/>
                <a:cs typeface="Arial"/>
              </a:rPr>
              <a:t>IP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913" y="2280777"/>
            <a:ext cx="14376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EXTERNAL-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OS-IMAGE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4298" y="2280777"/>
            <a:ext cx="1035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KERNEL-VERSION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3887" y="2280777"/>
            <a:ext cx="1247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CONTAINER-</a:t>
            </a:r>
            <a:r>
              <a:rPr sz="900" spc="-10" dirty="0">
                <a:latin typeface="Arial"/>
                <a:cs typeface="Arial"/>
              </a:rPr>
              <a:t>RUNTIME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625" y="2547477"/>
            <a:ext cx="343535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node1 node2 node3 node4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3362" y="2547477"/>
            <a:ext cx="534035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Ready Ready NotReady NotReady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6612" y="2547477"/>
            <a:ext cx="42481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ts val="1065"/>
              </a:lnSpc>
              <a:spcBef>
                <a:spcPts val="10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master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ts val="1050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3675" y="2547477"/>
            <a:ext cx="692150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ts val="1065"/>
              </a:lnSpc>
              <a:spcBef>
                <a:spcPts val="10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92s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57s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39s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32s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2742" y="2547477"/>
            <a:ext cx="118681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ts val="1065"/>
              </a:lnSpc>
              <a:spcBef>
                <a:spcPts val="10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192.168.0.18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192.168.0.17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192.168.0.16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192.168.0.15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0301" y="2547477"/>
            <a:ext cx="1199515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715" algn="just">
              <a:lnSpc>
                <a:spcPts val="1050"/>
              </a:lnSpc>
              <a:spcBef>
                <a:spcPts val="16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06829" y="2547477"/>
            <a:ext cx="93345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715" algn="just">
              <a:lnSpc>
                <a:spcPts val="1050"/>
              </a:lnSpc>
              <a:spcBef>
                <a:spcPts val="16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7739" y="2547477"/>
            <a:ext cx="79375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715" algn="just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docker://18.9.6 docker://18.9.6 docker://18.9.6 docker://18.9.6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625" y="3347577"/>
            <a:ext cx="2280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[node1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install]$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kubectl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componentstatus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625" y="3614277"/>
            <a:ext cx="98488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spc="-20" dirty="0">
                <a:solidFill>
                  <a:srgbClr val="C00000"/>
                </a:solidFill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1050"/>
              </a:lnSpc>
              <a:spcBef>
                <a:spcPts val="45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scheduler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controller-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manager etcd-</a:t>
            </a:r>
            <a:r>
              <a:rPr sz="900" spc="-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8607" y="3614277"/>
            <a:ext cx="1149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STATUS</a:t>
            </a:r>
            <a:r>
              <a:rPr sz="900" spc="170" dirty="0">
                <a:solidFill>
                  <a:srgbClr val="C00000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4689" y="3614277"/>
            <a:ext cx="438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ERROR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6399" y="3747627"/>
            <a:ext cx="433070" cy="42925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19685" algn="just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Healthy Healthy Healthy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8931" y="3747627"/>
            <a:ext cx="802640" cy="42925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0955" marR="641350" indent="10795">
              <a:lnSpc>
                <a:spcPts val="1050"/>
              </a:lnSpc>
              <a:spcBef>
                <a:spcPts val="160"/>
              </a:spcBef>
            </a:pPr>
            <a:r>
              <a:rPr sz="900" spc="-25" dirty="0">
                <a:solidFill>
                  <a:srgbClr val="C00000"/>
                </a:solidFill>
                <a:latin typeface="Arial"/>
                <a:cs typeface="Arial"/>
              </a:rPr>
              <a:t>ok ok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19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{"health":"true"}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36196" y="1319152"/>
            <a:ext cx="5276850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9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talk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40" dirty="0">
                <a:solidFill>
                  <a:srgbClr val="FFFFFF"/>
                </a:solidFill>
                <a:latin typeface="Calibri"/>
                <a:cs typeface="Calibri"/>
              </a:rPr>
              <a:t>Worker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Components..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9197" y="4363320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Worker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20347" y="1139370"/>
            <a:ext cx="2957195" cy="3128010"/>
          </a:xfrm>
          <a:custGeom>
            <a:avLst/>
            <a:gdLst/>
            <a:ahLst/>
            <a:cxnLst/>
            <a:rect l="l" t="t" r="r" b="b"/>
            <a:pathLst>
              <a:path w="2957195" h="3128010">
                <a:moveTo>
                  <a:pt x="0" y="492818"/>
                </a:moveTo>
                <a:lnTo>
                  <a:pt x="2255" y="445356"/>
                </a:lnTo>
                <a:lnTo>
                  <a:pt x="8886" y="399171"/>
                </a:lnTo>
                <a:lnTo>
                  <a:pt x="19684" y="354469"/>
                </a:lnTo>
                <a:lnTo>
                  <a:pt x="34443" y="311456"/>
                </a:lnTo>
                <a:lnTo>
                  <a:pt x="52957" y="270339"/>
                </a:lnTo>
                <a:lnTo>
                  <a:pt x="75019" y="231325"/>
                </a:lnTo>
                <a:lnTo>
                  <a:pt x="100423" y="194619"/>
                </a:lnTo>
                <a:lnTo>
                  <a:pt x="128962" y="160430"/>
                </a:lnTo>
                <a:lnTo>
                  <a:pt x="160430" y="128962"/>
                </a:lnTo>
                <a:lnTo>
                  <a:pt x="194619" y="100423"/>
                </a:lnTo>
                <a:lnTo>
                  <a:pt x="231325" y="75019"/>
                </a:lnTo>
                <a:lnTo>
                  <a:pt x="270339" y="52957"/>
                </a:lnTo>
                <a:lnTo>
                  <a:pt x="311456" y="34443"/>
                </a:lnTo>
                <a:lnTo>
                  <a:pt x="354469" y="19684"/>
                </a:lnTo>
                <a:lnTo>
                  <a:pt x="399171" y="8886"/>
                </a:lnTo>
                <a:lnTo>
                  <a:pt x="445356" y="2255"/>
                </a:lnTo>
                <a:lnTo>
                  <a:pt x="492818" y="0"/>
                </a:lnTo>
                <a:lnTo>
                  <a:pt x="2464034" y="0"/>
                </a:lnTo>
                <a:lnTo>
                  <a:pt x="2512743" y="2411"/>
                </a:lnTo>
                <a:lnTo>
                  <a:pt x="2560627" y="9556"/>
                </a:lnTo>
                <a:lnTo>
                  <a:pt x="2607362" y="21302"/>
                </a:lnTo>
                <a:lnTo>
                  <a:pt x="2652627" y="37513"/>
                </a:lnTo>
                <a:lnTo>
                  <a:pt x="2696097" y="58057"/>
                </a:lnTo>
                <a:lnTo>
                  <a:pt x="2737449" y="82799"/>
                </a:lnTo>
                <a:lnTo>
                  <a:pt x="2776361" y="111605"/>
                </a:lnTo>
                <a:lnTo>
                  <a:pt x="2812509" y="144343"/>
                </a:lnTo>
                <a:lnTo>
                  <a:pt x="2845246" y="180490"/>
                </a:lnTo>
                <a:lnTo>
                  <a:pt x="2874053" y="219402"/>
                </a:lnTo>
                <a:lnTo>
                  <a:pt x="2898795" y="260755"/>
                </a:lnTo>
                <a:lnTo>
                  <a:pt x="2919339" y="304225"/>
                </a:lnTo>
                <a:lnTo>
                  <a:pt x="2935550" y="349489"/>
                </a:lnTo>
                <a:lnTo>
                  <a:pt x="2947296" y="396225"/>
                </a:lnTo>
                <a:lnTo>
                  <a:pt x="2954441" y="444109"/>
                </a:lnTo>
                <a:lnTo>
                  <a:pt x="2956852" y="492818"/>
                </a:lnTo>
                <a:lnTo>
                  <a:pt x="2956852" y="2635010"/>
                </a:lnTo>
                <a:lnTo>
                  <a:pt x="2954596" y="2682472"/>
                </a:lnTo>
                <a:lnTo>
                  <a:pt x="2947966" y="2728657"/>
                </a:lnTo>
                <a:lnTo>
                  <a:pt x="2937168" y="2773359"/>
                </a:lnTo>
                <a:lnTo>
                  <a:pt x="2922409" y="2816372"/>
                </a:lnTo>
                <a:lnTo>
                  <a:pt x="2903895" y="2857489"/>
                </a:lnTo>
                <a:lnTo>
                  <a:pt x="2881833" y="2896503"/>
                </a:lnTo>
                <a:lnTo>
                  <a:pt x="2856429" y="2933209"/>
                </a:lnTo>
                <a:lnTo>
                  <a:pt x="2827890" y="2967398"/>
                </a:lnTo>
                <a:lnTo>
                  <a:pt x="2796422" y="2998866"/>
                </a:lnTo>
                <a:lnTo>
                  <a:pt x="2762232" y="3027405"/>
                </a:lnTo>
                <a:lnTo>
                  <a:pt x="2725527" y="3052809"/>
                </a:lnTo>
                <a:lnTo>
                  <a:pt x="2686513" y="3074871"/>
                </a:lnTo>
                <a:lnTo>
                  <a:pt x="2645396" y="3093385"/>
                </a:lnTo>
                <a:lnTo>
                  <a:pt x="2602383" y="3108144"/>
                </a:lnTo>
                <a:lnTo>
                  <a:pt x="2557681" y="3118942"/>
                </a:lnTo>
                <a:lnTo>
                  <a:pt x="2511495" y="3125573"/>
                </a:lnTo>
                <a:lnTo>
                  <a:pt x="2464034" y="3127828"/>
                </a:lnTo>
                <a:lnTo>
                  <a:pt x="492818" y="3127828"/>
                </a:lnTo>
                <a:lnTo>
                  <a:pt x="445356" y="3125573"/>
                </a:lnTo>
                <a:lnTo>
                  <a:pt x="399171" y="3118942"/>
                </a:lnTo>
                <a:lnTo>
                  <a:pt x="354469" y="3108144"/>
                </a:lnTo>
                <a:lnTo>
                  <a:pt x="311456" y="3093385"/>
                </a:lnTo>
                <a:lnTo>
                  <a:pt x="270339" y="3074871"/>
                </a:lnTo>
                <a:lnTo>
                  <a:pt x="231325" y="3052809"/>
                </a:lnTo>
                <a:lnTo>
                  <a:pt x="194619" y="3027405"/>
                </a:lnTo>
                <a:lnTo>
                  <a:pt x="160430" y="2998866"/>
                </a:lnTo>
                <a:lnTo>
                  <a:pt x="128962" y="2967398"/>
                </a:lnTo>
                <a:lnTo>
                  <a:pt x="100423" y="2933209"/>
                </a:lnTo>
                <a:lnTo>
                  <a:pt x="75019" y="2896503"/>
                </a:lnTo>
                <a:lnTo>
                  <a:pt x="52957" y="2857489"/>
                </a:lnTo>
                <a:lnTo>
                  <a:pt x="34443" y="2816372"/>
                </a:lnTo>
                <a:lnTo>
                  <a:pt x="19684" y="2773359"/>
                </a:lnTo>
                <a:lnTo>
                  <a:pt x="8886" y="2728657"/>
                </a:lnTo>
                <a:lnTo>
                  <a:pt x="2255" y="2682472"/>
                </a:lnTo>
                <a:lnTo>
                  <a:pt x="0" y="2635010"/>
                </a:lnTo>
                <a:lnTo>
                  <a:pt x="0" y="49281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99775" y="426736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3" name="object 1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17" name="object 1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22" name="object 22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98434" y="2516781"/>
            <a:ext cx="1336675" cy="41275"/>
            <a:chOff x="1098434" y="2516781"/>
            <a:chExt cx="1336675" cy="41275"/>
          </a:xfrm>
        </p:grpSpPr>
        <p:sp>
          <p:nvSpPr>
            <p:cNvPr id="29" name="object 29"/>
            <p:cNvSpPr/>
            <p:nvPr/>
          </p:nvSpPr>
          <p:spPr>
            <a:xfrm>
              <a:off x="1098434" y="2537276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33" name="object 33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72571" y="1469915"/>
            <a:ext cx="3349625" cy="1287145"/>
            <a:chOff x="5272571" y="1469915"/>
            <a:chExt cx="3349625" cy="1287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1469915"/>
              <a:ext cx="2625063" cy="12869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571" y="1791642"/>
              <a:ext cx="724037" cy="72403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313436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Captain of</a:t>
            </a:r>
            <a:r>
              <a:rPr spc="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0" dirty="0"/>
              <a:t>Ship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5574" y="694042"/>
            <a:ext cx="5651500" cy="12827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21310" indent="-308610">
              <a:lnSpc>
                <a:spcPct val="100000"/>
              </a:lnSpc>
              <a:spcBef>
                <a:spcPts val="6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Manages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sort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activity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ship</a:t>
            </a:r>
            <a:endParaRPr sz="16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Let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master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ship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knows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interested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join</a:t>
            </a:r>
            <a:endParaRPr sz="16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Sending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reports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back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master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status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ship</a:t>
            </a:r>
            <a:endParaRPr sz="16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Sending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reports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status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72571" y="2991668"/>
            <a:ext cx="3349625" cy="1287145"/>
            <a:chOff x="5272571" y="2991668"/>
            <a:chExt cx="3349625" cy="128714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1668"/>
              <a:ext cx="2625063" cy="12869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571" y="3233110"/>
              <a:ext cx="724037" cy="72403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471" y="2528713"/>
            <a:ext cx="4086851" cy="92751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89745" y="1473215"/>
            <a:ext cx="3349625" cy="1287145"/>
            <a:chOff x="5189745" y="1473215"/>
            <a:chExt cx="3349625" cy="1287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3783" y="1473215"/>
              <a:ext cx="2625064" cy="12869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9745" y="1769165"/>
              <a:ext cx="724037" cy="72403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Captain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Ship</a:t>
            </a:r>
            <a:r>
              <a:rPr spc="10" dirty="0"/>
              <a:t> </a:t>
            </a:r>
            <a:r>
              <a:rPr dirty="0"/>
              <a:t>~</a:t>
            </a:r>
            <a:r>
              <a:rPr spc="25" dirty="0"/>
              <a:t> </a:t>
            </a:r>
            <a:r>
              <a:rPr spc="-10" dirty="0">
                <a:solidFill>
                  <a:srgbClr val="4008FF"/>
                </a:solidFill>
              </a:rPr>
              <a:t>Kubelet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Agent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which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runs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on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each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nodes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of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the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spc="-10" dirty="0">
                <a:solidFill>
                  <a:srgbClr val="595959"/>
                </a:solidFill>
              </a:rPr>
              <a:t>container</a:t>
            </a:r>
            <a:endParaRPr sz="1600"/>
          </a:p>
        </p:txBody>
      </p:sp>
      <p:grpSp>
        <p:nvGrpSpPr>
          <p:cNvPr id="6" name="object 6"/>
          <p:cNvGrpSpPr/>
          <p:nvPr/>
        </p:nvGrpSpPr>
        <p:grpSpPr>
          <a:xfrm>
            <a:off x="5272571" y="2998271"/>
            <a:ext cx="3349625" cy="1287145"/>
            <a:chOff x="5272571" y="2998271"/>
            <a:chExt cx="3349625" cy="12871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8271"/>
              <a:ext cx="2625063" cy="12869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571" y="3233111"/>
              <a:ext cx="724037" cy="72403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471" y="2528713"/>
            <a:ext cx="4086851" cy="92751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7510" y="4085495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133020"/>
            <a:ext cx="6751955" cy="3035300"/>
            <a:chOff x="1303129" y="1133020"/>
            <a:chExt cx="6751955" cy="303530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27985" cy="2881630"/>
            </a:xfrm>
            <a:custGeom>
              <a:avLst/>
              <a:gdLst/>
              <a:ahLst/>
              <a:cxnLst/>
              <a:rect l="l" t="t" r="r" b="b"/>
              <a:pathLst>
                <a:path w="2927984" h="2881629">
                  <a:moveTo>
                    <a:pt x="0" y="480190"/>
                  </a:moveTo>
                  <a:lnTo>
                    <a:pt x="2479" y="431093"/>
                  </a:lnTo>
                  <a:lnTo>
                    <a:pt x="9755" y="383415"/>
                  </a:lnTo>
                  <a:lnTo>
                    <a:pt x="21588" y="337396"/>
                  </a:lnTo>
                  <a:lnTo>
                    <a:pt x="37735" y="293278"/>
                  </a:lnTo>
                  <a:lnTo>
                    <a:pt x="57956" y="251303"/>
                  </a:lnTo>
                  <a:lnTo>
                    <a:pt x="82008" y="211711"/>
                  </a:lnTo>
                  <a:lnTo>
                    <a:pt x="109652" y="174744"/>
                  </a:lnTo>
                  <a:lnTo>
                    <a:pt x="140644" y="140644"/>
                  </a:lnTo>
                  <a:lnTo>
                    <a:pt x="174744" y="109652"/>
                  </a:lnTo>
                  <a:lnTo>
                    <a:pt x="211711" y="82008"/>
                  </a:lnTo>
                  <a:lnTo>
                    <a:pt x="251303" y="57956"/>
                  </a:lnTo>
                  <a:lnTo>
                    <a:pt x="293278" y="37735"/>
                  </a:lnTo>
                  <a:lnTo>
                    <a:pt x="337396" y="21588"/>
                  </a:lnTo>
                  <a:lnTo>
                    <a:pt x="383415" y="9755"/>
                  </a:lnTo>
                  <a:lnTo>
                    <a:pt x="431093" y="2479"/>
                  </a:lnTo>
                  <a:lnTo>
                    <a:pt x="480190" y="0"/>
                  </a:lnTo>
                  <a:lnTo>
                    <a:pt x="2447632" y="0"/>
                  </a:lnTo>
                  <a:lnTo>
                    <a:pt x="2495093" y="2349"/>
                  </a:lnTo>
                  <a:lnTo>
                    <a:pt x="2541750" y="9311"/>
                  </a:lnTo>
                  <a:lnTo>
                    <a:pt x="2587288" y="20756"/>
                  </a:lnTo>
                  <a:lnTo>
                    <a:pt x="2631393" y="36552"/>
                  </a:lnTo>
                  <a:lnTo>
                    <a:pt x="2673749" y="56569"/>
                  </a:lnTo>
                  <a:lnTo>
                    <a:pt x="2714042" y="80677"/>
                  </a:lnTo>
                  <a:lnTo>
                    <a:pt x="2751956" y="108746"/>
                  </a:lnTo>
                  <a:lnTo>
                    <a:pt x="2787177" y="140644"/>
                  </a:lnTo>
                  <a:lnTo>
                    <a:pt x="2819076" y="175865"/>
                  </a:lnTo>
                  <a:lnTo>
                    <a:pt x="2847145" y="213780"/>
                  </a:lnTo>
                  <a:lnTo>
                    <a:pt x="2871253" y="254073"/>
                  </a:lnTo>
                  <a:lnTo>
                    <a:pt x="2891270" y="296429"/>
                  </a:lnTo>
                  <a:lnTo>
                    <a:pt x="2907066" y="340534"/>
                  </a:lnTo>
                  <a:lnTo>
                    <a:pt x="2918510" y="386072"/>
                  </a:lnTo>
                  <a:lnTo>
                    <a:pt x="2925472" y="432729"/>
                  </a:lnTo>
                  <a:lnTo>
                    <a:pt x="2927822" y="480190"/>
                  </a:lnTo>
                  <a:lnTo>
                    <a:pt x="2927822" y="2400894"/>
                  </a:lnTo>
                  <a:lnTo>
                    <a:pt x="2925343" y="2449991"/>
                  </a:lnTo>
                  <a:lnTo>
                    <a:pt x="2918066" y="2497669"/>
                  </a:lnTo>
                  <a:lnTo>
                    <a:pt x="2906234" y="2543688"/>
                  </a:lnTo>
                  <a:lnTo>
                    <a:pt x="2890086" y="2587806"/>
                  </a:lnTo>
                  <a:lnTo>
                    <a:pt x="2869866" y="2629781"/>
                  </a:lnTo>
                  <a:lnTo>
                    <a:pt x="2845813" y="2669373"/>
                  </a:lnTo>
                  <a:lnTo>
                    <a:pt x="2818170" y="2706340"/>
                  </a:lnTo>
                  <a:lnTo>
                    <a:pt x="2787178" y="2740440"/>
                  </a:lnTo>
                  <a:lnTo>
                    <a:pt x="2753078" y="2771432"/>
                  </a:lnTo>
                  <a:lnTo>
                    <a:pt x="2716111" y="2799075"/>
                  </a:lnTo>
                  <a:lnTo>
                    <a:pt x="2676519" y="2823128"/>
                  </a:lnTo>
                  <a:lnTo>
                    <a:pt x="2634544" y="2843349"/>
                  </a:lnTo>
                  <a:lnTo>
                    <a:pt x="2590426" y="2859496"/>
                  </a:lnTo>
                  <a:lnTo>
                    <a:pt x="2544407" y="2871328"/>
                  </a:lnTo>
                  <a:lnTo>
                    <a:pt x="2496729" y="2878605"/>
                  </a:lnTo>
                  <a:lnTo>
                    <a:pt x="2447632" y="2881084"/>
                  </a:lnTo>
                  <a:lnTo>
                    <a:pt x="480190" y="2881084"/>
                  </a:lnTo>
                  <a:lnTo>
                    <a:pt x="431093" y="2878605"/>
                  </a:lnTo>
                  <a:lnTo>
                    <a:pt x="383415" y="2871328"/>
                  </a:lnTo>
                  <a:lnTo>
                    <a:pt x="337396" y="2859496"/>
                  </a:lnTo>
                  <a:lnTo>
                    <a:pt x="293278" y="2843349"/>
                  </a:lnTo>
                  <a:lnTo>
                    <a:pt x="251303" y="2823128"/>
                  </a:lnTo>
                  <a:lnTo>
                    <a:pt x="211711" y="2799075"/>
                  </a:lnTo>
                  <a:lnTo>
                    <a:pt x="174744" y="2771432"/>
                  </a:lnTo>
                  <a:lnTo>
                    <a:pt x="140644" y="2740440"/>
                  </a:lnTo>
                  <a:lnTo>
                    <a:pt x="109652" y="2706340"/>
                  </a:lnTo>
                  <a:lnTo>
                    <a:pt x="82008" y="2669373"/>
                  </a:lnTo>
                  <a:lnTo>
                    <a:pt x="57956" y="2629781"/>
                  </a:lnTo>
                  <a:lnTo>
                    <a:pt x="37735" y="2587806"/>
                  </a:lnTo>
                  <a:lnTo>
                    <a:pt x="21588" y="2543688"/>
                  </a:lnTo>
                  <a:lnTo>
                    <a:pt x="9755" y="2497669"/>
                  </a:lnTo>
                  <a:lnTo>
                    <a:pt x="2479" y="2449991"/>
                  </a:lnTo>
                  <a:lnTo>
                    <a:pt x="0" y="2400894"/>
                  </a:lnTo>
                  <a:lnTo>
                    <a:pt x="0" y="48019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15483" y="4249203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3" name="object 1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17" name="object 1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2" name="object 22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98434" y="1629904"/>
            <a:ext cx="6774815" cy="2295525"/>
            <a:chOff x="1098434" y="1629904"/>
            <a:chExt cx="6774815" cy="2295525"/>
          </a:xfrm>
        </p:grpSpPr>
        <p:sp>
          <p:nvSpPr>
            <p:cNvPr id="26" name="object 26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18879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18879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35599" y="2579913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34" name="object 34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41" name="object 41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45" name="object 45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Communication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30" dirty="0"/>
              <a:t> </a:t>
            </a:r>
            <a:r>
              <a:rPr dirty="0"/>
              <a:t>Cargo</a:t>
            </a:r>
            <a:r>
              <a:rPr spc="-30" dirty="0"/>
              <a:t> </a:t>
            </a:r>
            <a:r>
              <a:rPr spc="-10" dirty="0"/>
              <a:t>Ships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How</a:t>
            </a:r>
            <a:r>
              <a:rPr sz="1600" spc="-3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does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two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cargo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ships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communicate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with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each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spc="-10" dirty="0">
                <a:solidFill>
                  <a:srgbClr val="595959"/>
                </a:solidFill>
              </a:rPr>
              <a:t>other?</a:t>
            </a:r>
            <a:endParaRPr sz="1600"/>
          </a:p>
        </p:txBody>
      </p:sp>
      <p:grpSp>
        <p:nvGrpSpPr>
          <p:cNvPr id="3" name="object 3"/>
          <p:cNvGrpSpPr/>
          <p:nvPr/>
        </p:nvGrpSpPr>
        <p:grpSpPr>
          <a:xfrm>
            <a:off x="5996609" y="1478667"/>
            <a:ext cx="2625090" cy="2806700"/>
            <a:chOff x="5996609" y="1478667"/>
            <a:chExt cx="2625090" cy="2806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1478667"/>
              <a:ext cx="2625063" cy="12869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8271"/>
              <a:ext cx="2625063" cy="12869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313082" y="854764"/>
                  </a:moveTo>
                  <a:lnTo>
                    <a:pt x="0" y="541682"/>
                  </a:ln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0" y="541682"/>
                  </a:move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lnTo>
                    <a:pt x="0" y="5416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469623" y="854764"/>
                  </a:move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lnTo>
                    <a:pt x="469623" y="313082"/>
                  </a:lnTo>
                  <a:lnTo>
                    <a:pt x="469623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626164" y="313082"/>
                  </a:moveTo>
                  <a:lnTo>
                    <a:pt x="469623" y="313082"/>
                  </a:lnTo>
                  <a:lnTo>
                    <a:pt x="469623" y="854764"/>
                  </a:ln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321691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Kube-proxy</a:t>
            </a:r>
            <a:r>
              <a:rPr spc="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625" y="855691"/>
            <a:ext cx="8514080" cy="6311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400"/>
              </a:spcBef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1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running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worker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reach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DB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another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worker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node?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625" y="2284441"/>
            <a:ext cx="46348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worker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96609" y="1478667"/>
            <a:ext cx="2625090" cy="2806700"/>
            <a:chOff x="5996609" y="1478667"/>
            <a:chExt cx="2625090" cy="2806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1478667"/>
              <a:ext cx="2625063" cy="12869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8271"/>
              <a:ext cx="2625063" cy="128691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313082" y="854764"/>
                  </a:moveTo>
                  <a:lnTo>
                    <a:pt x="0" y="541682"/>
                  </a:ln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0" y="541682"/>
                  </a:move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lnTo>
                    <a:pt x="0" y="5416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469623" y="854764"/>
                  </a:move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lnTo>
                    <a:pt x="469623" y="313082"/>
                  </a:lnTo>
                  <a:lnTo>
                    <a:pt x="469623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626164" y="313082"/>
                  </a:moveTo>
                  <a:lnTo>
                    <a:pt x="469623" y="313082"/>
                  </a:lnTo>
                  <a:lnTo>
                    <a:pt x="469623" y="854764"/>
                  </a:ln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42437" y="2796401"/>
            <a:ext cx="1828800" cy="369570"/>
          </a:xfrm>
          <a:prstGeom prst="rect">
            <a:avLst/>
          </a:prstGeom>
          <a:ln w="57149">
            <a:solidFill>
              <a:srgbClr val="00B0F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latin typeface="Arial"/>
                <a:cs typeface="Arial"/>
              </a:rPr>
              <a:t>Kube-</a:t>
            </a:r>
            <a:r>
              <a:rPr sz="1800" spc="-10" dirty="0">
                <a:latin typeface="Arial"/>
                <a:cs typeface="Arial"/>
              </a:rPr>
              <a:t>proxy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5494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3655" y="544917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133020"/>
            <a:ext cx="6780530" cy="3140710"/>
            <a:chOff x="1303129" y="1133020"/>
            <a:chExt cx="678053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6686" y="1475963"/>
            <a:ext cx="397510" cy="41275"/>
            <a:chOff x="696686" y="1475963"/>
            <a:chExt cx="397510" cy="41275"/>
          </a:xfrm>
        </p:grpSpPr>
        <p:sp>
          <p:nvSpPr>
            <p:cNvPr id="11" name="object 11"/>
            <p:cNvSpPr/>
            <p:nvPr/>
          </p:nvSpPr>
          <p:spPr>
            <a:xfrm>
              <a:off x="696686" y="149645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026" y="136085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81866" y="1471315"/>
            <a:ext cx="4075429" cy="1022985"/>
            <a:chOff x="3681866" y="1471315"/>
            <a:chExt cx="4075429" cy="1022985"/>
          </a:xfrm>
        </p:grpSpPr>
        <p:sp>
          <p:nvSpPr>
            <p:cNvPr id="30" name="object 30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29250" y="748999"/>
            <a:ext cx="2444115" cy="3176270"/>
            <a:chOff x="5429250" y="748999"/>
            <a:chExt cx="2444115" cy="3176270"/>
          </a:xfrm>
        </p:grpSpPr>
        <p:sp>
          <p:nvSpPr>
            <p:cNvPr id="37" name="object 37"/>
            <p:cNvSpPr/>
            <p:nvPr/>
          </p:nvSpPr>
          <p:spPr>
            <a:xfrm>
              <a:off x="5435600" y="2579912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20114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965857" y="169622"/>
            <a:ext cx="1797685" cy="859155"/>
            <a:chOff x="5965857" y="169622"/>
            <a:chExt cx="1797685" cy="859155"/>
          </a:xfrm>
        </p:grpSpPr>
        <p:sp>
          <p:nvSpPr>
            <p:cNvPr id="42" name="object 42"/>
            <p:cNvSpPr/>
            <p:nvPr/>
          </p:nvSpPr>
          <p:spPr>
            <a:xfrm>
              <a:off x="7409542" y="681659"/>
              <a:ext cx="306070" cy="6350"/>
            </a:xfrm>
            <a:custGeom>
              <a:avLst/>
              <a:gdLst/>
              <a:ahLst/>
              <a:cxnLst/>
              <a:rect l="l" t="t" r="r" b="b"/>
              <a:pathLst>
                <a:path w="306070" h="6350">
                  <a:moveTo>
                    <a:pt x="0" y="6114"/>
                  </a:moveTo>
                  <a:lnTo>
                    <a:pt x="305718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43530" y="14865"/>
                  </a:lnTo>
                  <a:lnTo>
                    <a:pt x="0" y="0"/>
                  </a:lnTo>
                  <a:lnTo>
                    <a:pt x="628" y="31459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09542" y="680516"/>
              <a:ext cx="7620" cy="343535"/>
            </a:xfrm>
            <a:custGeom>
              <a:avLst/>
              <a:gdLst/>
              <a:ahLst/>
              <a:cxnLst/>
              <a:rect l="l" t="t" r="r" b="b"/>
              <a:pathLst>
                <a:path w="7620" h="343534">
                  <a:moveTo>
                    <a:pt x="0" y="0"/>
                  </a:moveTo>
                  <a:lnTo>
                    <a:pt x="7256" y="3430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056039" y="1486283"/>
            <a:ext cx="45212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talk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Pods..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5494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3655" y="544917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133020"/>
            <a:ext cx="6780530" cy="3140710"/>
            <a:chOff x="1303129" y="1133020"/>
            <a:chExt cx="678053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6686" y="1475963"/>
            <a:ext cx="397510" cy="41275"/>
            <a:chOff x="696686" y="1475963"/>
            <a:chExt cx="397510" cy="41275"/>
          </a:xfrm>
        </p:grpSpPr>
        <p:sp>
          <p:nvSpPr>
            <p:cNvPr id="11" name="object 11"/>
            <p:cNvSpPr/>
            <p:nvPr/>
          </p:nvSpPr>
          <p:spPr>
            <a:xfrm>
              <a:off x="696686" y="149645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026" y="136085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81866" y="1471315"/>
            <a:ext cx="4075429" cy="1022985"/>
            <a:chOff x="3681866" y="1471315"/>
            <a:chExt cx="4075429" cy="1022985"/>
          </a:xfrm>
        </p:grpSpPr>
        <p:sp>
          <p:nvSpPr>
            <p:cNvPr id="30" name="object 30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65857" y="169622"/>
            <a:ext cx="1797685" cy="859155"/>
            <a:chOff x="5965857" y="169622"/>
            <a:chExt cx="1797685" cy="859155"/>
          </a:xfrm>
        </p:grpSpPr>
        <p:sp>
          <p:nvSpPr>
            <p:cNvPr id="37" name="object 37"/>
            <p:cNvSpPr/>
            <p:nvPr/>
          </p:nvSpPr>
          <p:spPr>
            <a:xfrm>
              <a:off x="7409542" y="681659"/>
              <a:ext cx="306070" cy="6350"/>
            </a:xfrm>
            <a:custGeom>
              <a:avLst/>
              <a:gdLst/>
              <a:ahLst/>
              <a:cxnLst/>
              <a:rect l="l" t="t" r="r" b="b"/>
              <a:pathLst>
                <a:path w="306070" h="6350">
                  <a:moveTo>
                    <a:pt x="0" y="6114"/>
                  </a:moveTo>
                  <a:lnTo>
                    <a:pt x="305718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43530" y="14865"/>
                  </a:lnTo>
                  <a:lnTo>
                    <a:pt x="0" y="0"/>
                  </a:lnTo>
                  <a:lnTo>
                    <a:pt x="628" y="31459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9542" y="680516"/>
              <a:ext cx="7620" cy="343535"/>
            </a:xfrm>
            <a:custGeom>
              <a:avLst/>
              <a:gdLst/>
              <a:ahLst/>
              <a:cxnLst/>
              <a:rect l="l" t="t" r="r" b="b"/>
              <a:pathLst>
                <a:path w="7620" h="343534">
                  <a:moveTo>
                    <a:pt x="0" y="0"/>
                  </a:moveTo>
                  <a:lnTo>
                    <a:pt x="7256" y="3430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5429250" y="748999"/>
            <a:ext cx="2808605" cy="3176270"/>
            <a:chOff x="5429250" y="748999"/>
            <a:chExt cx="2808605" cy="3176270"/>
          </a:xfrm>
        </p:grpSpPr>
        <p:sp>
          <p:nvSpPr>
            <p:cNvPr id="44" name="object 44"/>
            <p:cNvSpPr/>
            <p:nvPr/>
          </p:nvSpPr>
          <p:spPr>
            <a:xfrm>
              <a:off x="5435600" y="2579912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20114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41520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749250" y="293897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49250" y="293897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60380" y="346313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60380" y="346313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195131" y="30937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5131" y="30937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62" name="object 62"/>
          <p:cNvSpPr txBox="1"/>
          <p:nvPr/>
        </p:nvSpPr>
        <p:spPr>
          <a:xfrm>
            <a:off x="8239662" y="2901642"/>
            <a:ext cx="3422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5494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3655" y="544917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5" name="object 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96686" y="1475963"/>
            <a:ext cx="397510" cy="41275"/>
            <a:chOff x="696686" y="1475963"/>
            <a:chExt cx="397510" cy="41275"/>
          </a:xfrm>
        </p:grpSpPr>
        <p:sp>
          <p:nvSpPr>
            <p:cNvPr id="10" name="object 10"/>
            <p:cNvSpPr/>
            <p:nvPr/>
          </p:nvSpPr>
          <p:spPr>
            <a:xfrm>
              <a:off x="696686" y="149645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026" y="136085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6" name="object 16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0" name="object 20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5" name="object 25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81866" y="1629904"/>
            <a:ext cx="1585595" cy="864235"/>
            <a:chOff x="3681866" y="1629904"/>
            <a:chExt cx="1585595" cy="864235"/>
          </a:xfrm>
        </p:grpSpPr>
        <p:sp>
          <p:nvSpPr>
            <p:cNvPr id="29" name="object 29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371080" y="1471315"/>
            <a:ext cx="1386205" cy="406400"/>
            <a:chOff x="6371080" y="1471315"/>
            <a:chExt cx="1386205" cy="406400"/>
          </a:xfrm>
        </p:grpSpPr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65857" y="169622"/>
            <a:ext cx="1797685" cy="859155"/>
            <a:chOff x="5965857" y="169622"/>
            <a:chExt cx="1797685" cy="859155"/>
          </a:xfrm>
        </p:grpSpPr>
        <p:sp>
          <p:nvSpPr>
            <p:cNvPr id="37" name="object 37"/>
            <p:cNvSpPr/>
            <p:nvPr/>
          </p:nvSpPr>
          <p:spPr>
            <a:xfrm>
              <a:off x="7409542" y="681659"/>
              <a:ext cx="306070" cy="6350"/>
            </a:xfrm>
            <a:custGeom>
              <a:avLst/>
              <a:gdLst/>
              <a:ahLst/>
              <a:cxnLst/>
              <a:rect l="l" t="t" r="r" b="b"/>
              <a:pathLst>
                <a:path w="306070" h="6350">
                  <a:moveTo>
                    <a:pt x="0" y="6114"/>
                  </a:moveTo>
                  <a:lnTo>
                    <a:pt x="305718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43530" y="14865"/>
                  </a:lnTo>
                  <a:lnTo>
                    <a:pt x="0" y="0"/>
                  </a:lnTo>
                  <a:lnTo>
                    <a:pt x="628" y="31459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9542" y="680516"/>
              <a:ext cx="7620" cy="343535"/>
            </a:xfrm>
            <a:custGeom>
              <a:avLst/>
              <a:gdLst/>
              <a:ahLst/>
              <a:cxnLst/>
              <a:rect l="l" t="t" r="r" b="b"/>
              <a:pathLst>
                <a:path w="7620" h="343534">
                  <a:moveTo>
                    <a:pt x="0" y="0"/>
                  </a:moveTo>
                  <a:lnTo>
                    <a:pt x="7256" y="3430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5429250" y="2573563"/>
            <a:ext cx="2808605" cy="1351915"/>
            <a:chOff x="5429250" y="2573563"/>
            <a:chExt cx="2808605" cy="1351915"/>
          </a:xfrm>
        </p:grpSpPr>
        <p:sp>
          <p:nvSpPr>
            <p:cNvPr id="44" name="object 44"/>
            <p:cNvSpPr/>
            <p:nvPr/>
          </p:nvSpPr>
          <p:spPr>
            <a:xfrm>
              <a:off x="5435600" y="2579913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41520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41655" y="3044146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741655" y="3044146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63561" y="341894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763561" y="341894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58432" y="3322864"/>
              <a:ext cx="140335" cy="125095"/>
            </a:xfrm>
            <a:custGeom>
              <a:avLst/>
              <a:gdLst/>
              <a:ahLst/>
              <a:cxnLst/>
              <a:rect l="l" t="t" r="r" b="b"/>
              <a:pathLst>
                <a:path w="140335" h="125095">
                  <a:moveTo>
                    <a:pt x="140317" y="124603"/>
                  </a:moveTo>
                  <a:lnTo>
                    <a:pt x="0" y="124603"/>
                  </a:lnTo>
                  <a:lnTo>
                    <a:pt x="0" y="0"/>
                  </a:lnTo>
                  <a:lnTo>
                    <a:pt x="140317" y="0"/>
                  </a:lnTo>
                  <a:lnTo>
                    <a:pt x="140317" y="12460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58432" y="3322864"/>
              <a:ext cx="140335" cy="125095"/>
            </a:xfrm>
            <a:custGeom>
              <a:avLst/>
              <a:gdLst/>
              <a:ahLst/>
              <a:cxnLst/>
              <a:rect l="l" t="t" r="r" b="b"/>
              <a:pathLst>
                <a:path w="140335" h="125095">
                  <a:moveTo>
                    <a:pt x="0" y="0"/>
                  </a:moveTo>
                  <a:lnTo>
                    <a:pt x="140317" y="0"/>
                  </a:lnTo>
                  <a:lnTo>
                    <a:pt x="140317" y="124603"/>
                  </a:lnTo>
                  <a:lnTo>
                    <a:pt x="0" y="12460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52785" y="3322864"/>
              <a:ext cx="136525" cy="102870"/>
            </a:xfrm>
            <a:custGeom>
              <a:avLst/>
              <a:gdLst/>
              <a:ahLst/>
              <a:cxnLst/>
              <a:rect l="l" t="t" r="r" b="b"/>
              <a:pathLst>
                <a:path w="136525" h="102870">
                  <a:moveTo>
                    <a:pt x="136388" y="102633"/>
                  </a:moveTo>
                  <a:lnTo>
                    <a:pt x="0" y="102633"/>
                  </a:lnTo>
                  <a:lnTo>
                    <a:pt x="0" y="0"/>
                  </a:lnTo>
                  <a:lnTo>
                    <a:pt x="136388" y="0"/>
                  </a:lnTo>
                  <a:lnTo>
                    <a:pt x="136388" y="102633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52785" y="3322864"/>
              <a:ext cx="136525" cy="102870"/>
            </a:xfrm>
            <a:custGeom>
              <a:avLst/>
              <a:gdLst/>
              <a:ahLst/>
              <a:cxnLst/>
              <a:rect l="l" t="t" r="r" b="b"/>
              <a:pathLst>
                <a:path w="136525" h="102870">
                  <a:moveTo>
                    <a:pt x="0" y="0"/>
                  </a:moveTo>
                  <a:lnTo>
                    <a:pt x="136388" y="0"/>
                  </a:lnTo>
                  <a:lnTo>
                    <a:pt x="136388" y="102633"/>
                  </a:lnTo>
                  <a:lnTo>
                    <a:pt x="0" y="10263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88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238357" y="3109520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195131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195131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119842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6715351" y="748999"/>
            <a:ext cx="45720" cy="642620"/>
            <a:chOff x="6715351" y="748999"/>
            <a:chExt cx="45720" cy="642620"/>
          </a:xfrm>
        </p:grpSpPr>
        <p:sp>
          <p:nvSpPr>
            <p:cNvPr id="70" name="object 70"/>
            <p:cNvSpPr/>
            <p:nvPr/>
          </p:nvSpPr>
          <p:spPr>
            <a:xfrm>
              <a:off x="6720113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75" name="object 75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78" name="object 78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8239662" y="2901642"/>
            <a:ext cx="3422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81" name="object 81"/>
          <p:cNvSpPr txBox="1"/>
          <p:nvPr/>
        </p:nvSpPr>
        <p:spPr>
          <a:xfrm>
            <a:off x="8230221" y="3473115"/>
            <a:ext cx="796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Docker</a:t>
            </a:r>
            <a:r>
              <a:rPr spc="5" dirty="0"/>
              <a:t> </a:t>
            </a:r>
            <a:r>
              <a:rPr spc="-10" dirty="0"/>
              <a:t>Containers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A</a:t>
            </a:r>
            <a:r>
              <a:rPr sz="1600" spc="-9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popular</a:t>
            </a:r>
            <a:r>
              <a:rPr sz="1600" spc="-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Container</a:t>
            </a:r>
            <a:r>
              <a:rPr sz="1600" spc="-5" dirty="0">
                <a:solidFill>
                  <a:srgbClr val="595959"/>
                </a:solidFill>
              </a:rPr>
              <a:t> </a:t>
            </a:r>
            <a:r>
              <a:rPr sz="1600" spc="-10" dirty="0">
                <a:solidFill>
                  <a:srgbClr val="595959"/>
                </a:solidFill>
              </a:rPr>
              <a:t>Runtime</a:t>
            </a:r>
            <a:endParaRPr sz="1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8232" y="2094556"/>
            <a:ext cx="1909953" cy="13743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134" y="1431399"/>
            <a:ext cx="5834377" cy="28602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518795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Overall</a:t>
            </a:r>
            <a:r>
              <a:rPr spc="-15" dirty="0"/>
              <a:t> </a:t>
            </a:r>
            <a:r>
              <a:rPr dirty="0"/>
              <a:t>Kubernetes</a:t>
            </a:r>
            <a:r>
              <a:rPr spc="-16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10693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434" y="169622"/>
            <a:ext cx="7139329" cy="41039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2666" y="2440812"/>
            <a:ext cx="884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9662" y="2901642"/>
            <a:ext cx="3422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30221" y="3473115"/>
            <a:ext cx="796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16" name="object 16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23" name="object 23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Demo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360075"/>
            <a:ext cx="7539355" cy="13493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44145" marR="5080" indent="-132080">
              <a:lnSpc>
                <a:spcPts val="2180"/>
              </a:lnSpc>
              <a:spcBef>
                <a:spcPts val="355"/>
              </a:spcBef>
              <a:buClr>
                <a:srgbClr val="FFAB40"/>
              </a:buClr>
              <a:buChar char="•"/>
              <a:tabLst>
                <a:tab pos="14541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Setting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single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K8s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Docker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Desktop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Mac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/ 	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Windows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484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Setting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5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Kubernetes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PWK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Setting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20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K8s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Bare</a:t>
            </a:r>
            <a:r>
              <a:rPr sz="20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Metal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VM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6367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Let’s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Deep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Dive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into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Pods…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Pod</a:t>
            </a:r>
            <a:r>
              <a:rPr spc="-10" dirty="0"/>
              <a:t> </a:t>
            </a:r>
            <a:r>
              <a:rPr dirty="0"/>
              <a:t>- </a:t>
            </a:r>
            <a:r>
              <a:rPr spc="-10" dirty="0"/>
              <a:t>Concepts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293400"/>
            <a:ext cx="3898265" cy="26257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6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Pod?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Deployment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Multi-Container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Networking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Inter-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 &amp;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Intra-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Networking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Lifecycle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Manifest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Atomic</a:t>
            </a:r>
            <a:r>
              <a:rPr spc="35" dirty="0"/>
              <a:t> </a:t>
            </a:r>
            <a:r>
              <a:rPr dirty="0"/>
              <a:t>Unit</a:t>
            </a:r>
            <a:r>
              <a:rPr spc="30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/>
          <p:nvPr/>
        </p:nvSpPr>
        <p:spPr>
          <a:xfrm>
            <a:off x="554803" y="1294543"/>
            <a:ext cx="2096135" cy="2867025"/>
          </a:xfrm>
          <a:custGeom>
            <a:avLst/>
            <a:gdLst/>
            <a:ahLst/>
            <a:cxnLst/>
            <a:rect l="l" t="t" r="r" b="b"/>
            <a:pathLst>
              <a:path w="2096135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1" y="213354"/>
                </a:lnTo>
                <a:lnTo>
                  <a:pt x="47693" y="173015"/>
                </a:lnTo>
                <a:lnTo>
                  <a:pt x="72786" y="135864"/>
                </a:lnTo>
                <a:lnTo>
                  <a:pt x="102315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4" y="27451"/>
                </a:lnTo>
                <a:lnTo>
                  <a:pt x="256463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3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8" y="215646"/>
                </a:lnTo>
                <a:lnTo>
                  <a:pt x="2083960" y="258669"/>
                </a:lnTo>
                <a:lnTo>
                  <a:pt x="2092899" y="303411"/>
                </a:lnTo>
                <a:lnTo>
                  <a:pt x="2095928" y="349328"/>
                </a:lnTo>
                <a:lnTo>
                  <a:pt x="2095928" y="2517161"/>
                </a:lnTo>
                <a:lnTo>
                  <a:pt x="2092740" y="2564563"/>
                </a:lnTo>
                <a:lnTo>
                  <a:pt x="2083450" y="2610026"/>
                </a:lnTo>
                <a:lnTo>
                  <a:pt x="2068477" y="2653135"/>
                </a:lnTo>
                <a:lnTo>
                  <a:pt x="2048235" y="2693474"/>
                </a:lnTo>
                <a:lnTo>
                  <a:pt x="2023142" y="2730625"/>
                </a:lnTo>
                <a:lnTo>
                  <a:pt x="1993613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4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3" y="2854011"/>
                </a:lnTo>
                <a:lnTo>
                  <a:pt x="213354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5" y="2764174"/>
                </a:lnTo>
                <a:lnTo>
                  <a:pt x="72786" y="2730625"/>
                </a:lnTo>
                <a:lnTo>
                  <a:pt x="47693" y="2693474"/>
                </a:lnTo>
                <a:lnTo>
                  <a:pt x="27451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24371" y="1294543"/>
            <a:ext cx="2096135" cy="2867025"/>
          </a:xfrm>
          <a:custGeom>
            <a:avLst/>
            <a:gdLst/>
            <a:ahLst/>
            <a:cxnLst/>
            <a:rect l="l" t="t" r="r" b="b"/>
            <a:pathLst>
              <a:path w="2096135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2" y="213354"/>
                </a:lnTo>
                <a:lnTo>
                  <a:pt x="47693" y="173015"/>
                </a:lnTo>
                <a:lnTo>
                  <a:pt x="72787" y="135864"/>
                </a:lnTo>
                <a:lnTo>
                  <a:pt x="102316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4" y="27451"/>
                </a:lnTo>
                <a:lnTo>
                  <a:pt x="256463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2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8" y="215646"/>
                </a:lnTo>
                <a:lnTo>
                  <a:pt x="2083961" y="258669"/>
                </a:lnTo>
                <a:lnTo>
                  <a:pt x="2092899" y="303411"/>
                </a:lnTo>
                <a:lnTo>
                  <a:pt x="2095929" y="349328"/>
                </a:lnTo>
                <a:lnTo>
                  <a:pt x="2095929" y="2517161"/>
                </a:lnTo>
                <a:lnTo>
                  <a:pt x="2092740" y="2564563"/>
                </a:lnTo>
                <a:lnTo>
                  <a:pt x="2083450" y="2610026"/>
                </a:lnTo>
                <a:lnTo>
                  <a:pt x="2068477" y="2653135"/>
                </a:lnTo>
                <a:lnTo>
                  <a:pt x="2048235" y="2693474"/>
                </a:lnTo>
                <a:lnTo>
                  <a:pt x="2023142" y="2730625"/>
                </a:lnTo>
                <a:lnTo>
                  <a:pt x="1993613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5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3" y="2854011"/>
                </a:lnTo>
                <a:lnTo>
                  <a:pt x="213354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6" y="2764174"/>
                </a:lnTo>
                <a:lnTo>
                  <a:pt x="72787" y="2730625"/>
                </a:lnTo>
                <a:lnTo>
                  <a:pt x="47693" y="2693474"/>
                </a:lnTo>
                <a:lnTo>
                  <a:pt x="27452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93939" y="1327886"/>
            <a:ext cx="2096135" cy="2867025"/>
          </a:xfrm>
          <a:custGeom>
            <a:avLst/>
            <a:gdLst/>
            <a:ahLst/>
            <a:cxnLst/>
            <a:rect l="l" t="t" r="r" b="b"/>
            <a:pathLst>
              <a:path w="2096134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1" y="213354"/>
                </a:lnTo>
                <a:lnTo>
                  <a:pt x="47693" y="173015"/>
                </a:lnTo>
                <a:lnTo>
                  <a:pt x="72786" y="135864"/>
                </a:lnTo>
                <a:lnTo>
                  <a:pt x="102315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3" y="27451"/>
                </a:lnTo>
                <a:lnTo>
                  <a:pt x="256462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2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7" y="215646"/>
                </a:lnTo>
                <a:lnTo>
                  <a:pt x="2083960" y="258669"/>
                </a:lnTo>
                <a:lnTo>
                  <a:pt x="2092899" y="303411"/>
                </a:lnTo>
                <a:lnTo>
                  <a:pt x="2095928" y="349328"/>
                </a:lnTo>
                <a:lnTo>
                  <a:pt x="2095928" y="2517161"/>
                </a:lnTo>
                <a:lnTo>
                  <a:pt x="2092739" y="2564563"/>
                </a:lnTo>
                <a:lnTo>
                  <a:pt x="2083450" y="2610026"/>
                </a:lnTo>
                <a:lnTo>
                  <a:pt x="2068476" y="2653135"/>
                </a:lnTo>
                <a:lnTo>
                  <a:pt x="2048235" y="2693474"/>
                </a:lnTo>
                <a:lnTo>
                  <a:pt x="2023141" y="2730625"/>
                </a:lnTo>
                <a:lnTo>
                  <a:pt x="1993612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4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2" y="2854011"/>
                </a:lnTo>
                <a:lnTo>
                  <a:pt x="213353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5" y="2764174"/>
                </a:lnTo>
                <a:lnTo>
                  <a:pt x="72786" y="2730625"/>
                </a:lnTo>
                <a:lnTo>
                  <a:pt x="47693" y="2693474"/>
                </a:lnTo>
                <a:lnTo>
                  <a:pt x="27451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1867" y="1690944"/>
            <a:ext cx="1329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Virtualization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7594" y="1711224"/>
            <a:ext cx="749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Docker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44588" y="1690944"/>
            <a:ext cx="119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Kubernetes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31339" y="2754782"/>
            <a:ext cx="1172845" cy="991869"/>
            <a:chOff x="1031339" y="2754782"/>
            <a:chExt cx="1172845" cy="991869"/>
          </a:xfrm>
        </p:grpSpPr>
        <p:sp>
          <p:nvSpPr>
            <p:cNvPr id="10" name="object 10"/>
            <p:cNvSpPr/>
            <p:nvPr/>
          </p:nvSpPr>
          <p:spPr>
            <a:xfrm>
              <a:off x="1037689" y="2761132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2" y="978660"/>
                  </a:move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2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2" y="978660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689" y="2761132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2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2" y="978660"/>
                  </a:ln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90752" y="3141179"/>
            <a:ext cx="25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VM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8167" y="2792049"/>
            <a:ext cx="1172845" cy="991869"/>
            <a:chOff x="3598167" y="2792049"/>
            <a:chExt cx="1172845" cy="991869"/>
          </a:xfrm>
        </p:grpSpPr>
        <p:sp>
          <p:nvSpPr>
            <p:cNvPr id="14" name="object 14"/>
            <p:cNvSpPr/>
            <p:nvPr/>
          </p:nvSpPr>
          <p:spPr>
            <a:xfrm>
              <a:off x="3604517" y="2798399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1" y="978660"/>
                  </a:move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517" y="2798399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69229" y="3183717"/>
            <a:ext cx="631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55492" y="2703410"/>
            <a:ext cx="1172845" cy="991869"/>
            <a:chOff x="6355492" y="2703410"/>
            <a:chExt cx="1172845" cy="991869"/>
          </a:xfrm>
        </p:grpSpPr>
        <p:sp>
          <p:nvSpPr>
            <p:cNvPr id="18" name="object 18"/>
            <p:cNvSpPr/>
            <p:nvPr/>
          </p:nvSpPr>
          <p:spPr>
            <a:xfrm>
              <a:off x="6361842" y="2709760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1" y="978660"/>
                  </a:moveTo>
                  <a:lnTo>
                    <a:pt x="527264" y="976661"/>
                  </a:lnTo>
                  <a:lnTo>
                    <a:pt x="475794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2" y="931546"/>
                  </a:lnTo>
                  <a:lnTo>
                    <a:pt x="287293" y="911852"/>
                  </a:lnTo>
                  <a:lnTo>
                    <a:pt x="245535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5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5" y="89522"/>
                  </a:lnTo>
                  <a:lnTo>
                    <a:pt x="287293" y="66807"/>
                  </a:lnTo>
                  <a:lnTo>
                    <a:pt x="331402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4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5"/>
                  </a:lnTo>
                  <a:lnTo>
                    <a:pt x="1104274" y="279565"/>
                  </a:lnTo>
                  <a:lnTo>
                    <a:pt x="1123834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4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4" y="660073"/>
                  </a:lnTo>
                  <a:lnTo>
                    <a:pt x="1104274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61842" y="2709760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5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5" y="89522"/>
                  </a:lnTo>
                  <a:lnTo>
                    <a:pt x="287293" y="66807"/>
                  </a:lnTo>
                  <a:lnTo>
                    <a:pt x="331402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4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5"/>
                  </a:lnTo>
                  <a:lnTo>
                    <a:pt x="1104274" y="279565"/>
                  </a:lnTo>
                  <a:lnTo>
                    <a:pt x="1123834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4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4" y="660073"/>
                  </a:lnTo>
                  <a:lnTo>
                    <a:pt x="1104274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lnTo>
                    <a:pt x="527264" y="976661"/>
                  </a:lnTo>
                  <a:lnTo>
                    <a:pt x="475794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2" y="931546"/>
                  </a:lnTo>
                  <a:lnTo>
                    <a:pt x="287293" y="911852"/>
                  </a:lnTo>
                  <a:lnTo>
                    <a:pt x="245535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25830" y="3039135"/>
            <a:ext cx="4324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How</a:t>
            </a:r>
            <a:r>
              <a:rPr spc="-5" dirty="0"/>
              <a:t> </a:t>
            </a:r>
            <a:r>
              <a:rPr dirty="0"/>
              <a:t>Pods are </a:t>
            </a:r>
            <a:r>
              <a:rPr spc="-10" dirty="0"/>
              <a:t>deployed?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4200" cy="3140710"/>
            <a:chOff x="5113997" y="1133020"/>
            <a:chExt cx="312420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Scaling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Pods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accommodate</a:t>
            </a:r>
            <a:r>
              <a:rPr spc="-5" dirty="0"/>
              <a:t> </a:t>
            </a:r>
            <a:r>
              <a:rPr dirty="0"/>
              <a:t>increasing</a:t>
            </a:r>
            <a:r>
              <a:rPr spc="-10" dirty="0"/>
              <a:t> traffic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10693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103517" y="2653339"/>
            <a:ext cx="501650" cy="833755"/>
            <a:chOff x="6103517" y="2653339"/>
            <a:chExt cx="501650" cy="833755"/>
          </a:xfrm>
        </p:grpSpPr>
        <p:sp>
          <p:nvSpPr>
            <p:cNvPr id="51" name="object 51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4"/>
                  </a:lnTo>
                  <a:lnTo>
                    <a:pt x="0" y="21748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spc="5" dirty="0"/>
              <a:t> </a:t>
            </a:r>
            <a:r>
              <a:rPr dirty="0"/>
              <a:t>if node</a:t>
            </a:r>
            <a:r>
              <a:rPr spc="10" dirty="0"/>
              <a:t> </a:t>
            </a:r>
            <a:r>
              <a:rPr dirty="0"/>
              <a:t>resources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getting</a:t>
            </a:r>
            <a:r>
              <a:rPr spc="5" dirty="0"/>
              <a:t> </a:t>
            </a:r>
            <a:r>
              <a:rPr spc="-10" dirty="0"/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10693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103517" y="2653339"/>
            <a:ext cx="501650" cy="833755"/>
            <a:chOff x="6103517" y="2653339"/>
            <a:chExt cx="501650" cy="833755"/>
          </a:xfrm>
        </p:grpSpPr>
        <p:sp>
          <p:nvSpPr>
            <p:cNvPr id="51" name="object 51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4"/>
                  </a:lnTo>
                  <a:lnTo>
                    <a:pt x="0" y="21748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spc="5" dirty="0"/>
              <a:t> </a:t>
            </a:r>
            <a:r>
              <a:rPr dirty="0"/>
              <a:t>if node</a:t>
            </a:r>
            <a:r>
              <a:rPr spc="10" dirty="0"/>
              <a:t> </a:t>
            </a:r>
            <a:r>
              <a:rPr dirty="0"/>
              <a:t>resources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getting</a:t>
            </a:r>
            <a:r>
              <a:rPr spc="5" dirty="0"/>
              <a:t> </a:t>
            </a:r>
            <a:r>
              <a:rPr spc="-10" dirty="0"/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98267" y="1645561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48" y="521099"/>
                  </a:moveTo>
                  <a:lnTo>
                    <a:pt x="86851" y="521099"/>
                  </a:lnTo>
                  <a:lnTo>
                    <a:pt x="53045" y="514274"/>
                  </a:lnTo>
                  <a:lnTo>
                    <a:pt x="25438" y="495661"/>
                  </a:lnTo>
                  <a:lnTo>
                    <a:pt x="6825" y="468054"/>
                  </a:lnTo>
                  <a:lnTo>
                    <a:pt x="0" y="434248"/>
                  </a:lnTo>
                  <a:lnTo>
                    <a:pt x="0" y="86851"/>
                  </a:lnTo>
                  <a:lnTo>
                    <a:pt x="6825" y="53045"/>
                  </a:lnTo>
                  <a:lnTo>
                    <a:pt x="25438" y="25438"/>
                  </a:lnTo>
                  <a:lnTo>
                    <a:pt x="53045" y="6825"/>
                  </a:lnTo>
                  <a:lnTo>
                    <a:pt x="86851" y="0"/>
                  </a:lnTo>
                  <a:lnTo>
                    <a:pt x="994948" y="0"/>
                  </a:lnTo>
                  <a:lnTo>
                    <a:pt x="1043133" y="14592"/>
                  </a:lnTo>
                  <a:lnTo>
                    <a:pt x="1075188" y="53615"/>
                  </a:lnTo>
                  <a:lnTo>
                    <a:pt x="1081799" y="86851"/>
                  </a:lnTo>
                  <a:lnTo>
                    <a:pt x="1081799" y="434248"/>
                  </a:lnTo>
                  <a:lnTo>
                    <a:pt x="1074974" y="468054"/>
                  </a:lnTo>
                  <a:lnTo>
                    <a:pt x="1056361" y="495661"/>
                  </a:lnTo>
                  <a:lnTo>
                    <a:pt x="1028755" y="514274"/>
                  </a:lnTo>
                  <a:lnTo>
                    <a:pt x="994948" y="5210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98267" y="1645561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51"/>
                  </a:moveTo>
                  <a:lnTo>
                    <a:pt x="6825" y="53045"/>
                  </a:lnTo>
                  <a:lnTo>
                    <a:pt x="25438" y="25438"/>
                  </a:lnTo>
                  <a:lnTo>
                    <a:pt x="53045" y="6825"/>
                  </a:lnTo>
                  <a:lnTo>
                    <a:pt x="86851" y="0"/>
                  </a:lnTo>
                  <a:lnTo>
                    <a:pt x="994948" y="0"/>
                  </a:lnTo>
                  <a:lnTo>
                    <a:pt x="1043133" y="14592"/>
                  </a:lnTo>
                  <a:lnTo>
                    <a:pt x="1075188" y="53615"/>
                  </a:lnTo>
                  <a:lnTo>
                    <a:pt x="1081799" y="86851"/>
                  </a:lnTo>
                  <a:lnTo>
                    <a:pt x="1081799" y="434248"/>
                  </a:lnTo>
                  <a:lnTo>
                    <a:pt x="1074974" y="468054"/>
                  </a:lnTo>
                  <a:lnTo>
                    <a:pt x="1056361" y="495661"/>
                  </a:lnTo>
                  <a:lnTo>
                    <a:pt x="1028755" y="514274"/>
                  </a:lnTo>
                  <a:lnTo>
                    <a:pt x="994948" y="521099"/>
                  </a:lnTo>
                  <a:lnTo>
                    <a:pt x="86851" y="521099"/>
                  </a:lnTo>
                  <a:lnTo>
                    <a:pt x="53045" y="514274"/>
                  </a:lnTo>
                  <a:lnTo>
                    <a:pt x="25438" y="495661"/>
                  </a:lnTo>
                  <a:lnTo>
                    <a:pt x="6825" y="468054"/>
                  </a:lnTo>
                  <a:lnTo>
                    <a:pt x="0" y="434248"/>
                  </a:lnTo>
                  <a:lnTo>
                    <a:pt x="0" y="8685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26380" y="178152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203334" y="2715142"/>
            <a:ext cx="227965" cy="230504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5414952" y="1374721"/>
            <a:ext cx="2907030" cy="2112645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394696" y="1291128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64" name="object 64"/>
          <p:cNvSpPr txBox="1"/>
          <p:nvPr/>
        </p:nvSpPr>
        <p:spPr>
          <a:xfrm>
            <a:off x="8145990" y="2625531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spc="5" dirty="0"/>
              <a:t> </a:t>
            </a:r>
            <a:r>
              <a:rPr dirty="0"/>
              <a:t>if node</a:t>
            </a:r>
            <a:r>
              <a:rPr spc="10" dirty="0"/>
              <a:t> </a:t>
            </a:r>
            <a:r>
              <a:rPr dirty="0"/>
              <a:t>resources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getting</a:t>
            </a:r>
            <a:r>
              <a:rPr spc="5" dirty="0"/>
              <a:t> </a:t>
            </a:r>
            <a:r>
              <a:rPr spc="-10" dirty="0"/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796560" y="2919951"/>
            <a:ext cx="227965" cy="230504"/>
            <a:chOff x="6796560" y="2919951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02910" y="29263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02910" y="29263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203334" y="2715142"/>
            <a:ext cx="227965" cy="230504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5414952" y="1374721"/>
            <a:ext cx="2907030" cy="2112645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394696" y="1291128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145990" y="2625531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5732946" y="1651437"/>
            <a:ext cx="227965" cy="230504"/>
            <a:chOff x="5732946" y="1651437"/>
            <a:chExt cx="227965" cy="230504"/>
          </a:xfrm>
        </p:grpSpPr>
        <p:sp>
          <p:nvSpPr>
            <p:cNvPr id="72" name="object 72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2 Containers in</a:t>
            </a:r>
            <a:r>
              <a:rPr spc="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same</a:t>
            </a:r>
            <a:r>
              <a:rPr spc="5" dirty="0"/>
              <a:t> </a:t>
            </a:r>
            <a:r>
              <a:rPr spc="-25" dirty="0"/>
              <a:t>Pod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784471" y="3004404"/>
            <a:ext cx="116839" cy="146050"/>
            <a:chOff x="6784471" y="3004404"/>
            <a:chExt cx="116839" cy="146050"/>
          </a:xfrm>
        </p:grpSpPr>
        <p:sp>
          <p:nvSpPr>
            <p:cNvPr id="33" name="object 33"/>
            <p:cNvSpPr/>
            <p:nvPr/>
          </p:nvSpPr>
          <p:spPr>
            <a:xfrm>
              <a:off x="6790821" y="3010754"/>
              <a:ext cx="104139" cy="133350"/>
            </a:xfrm>
            <a:custGeom>
              <a:avLst/>
              <a:gdLst/>
              <a:ahLst/>
              <a:cxnLst/>
              <a:rect l="l" t="t" r="r" b="b"/>
              <a:pathLst>
                <a:path w="104140" h="133350">
                  <a:moveTo>
                    <a:pt x="103885" y="133030"/>
                  </a:moveTo>
                  <a:lnTo>
                    <a:pt x="0" y="133030"/>
                  </a:lnTo>
                  <a:lnTo>
                    <a:pt x="0" y="0"/>
                  </a:lnTo>
                  <a:lnTo>
                    <a:pt x="103885" y="0"/>
                  </a:lnTo>
                  <a:lnTo>
                    <a:pt x="103885" y="13303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90821" y="3010754"/>
              <a:ext cx="104139" cy="133350"/>
            </a:xfrm>
            <a:custGeom>
              <a:avLst/>
              <a:gdLst/>
              <a:ahLst/>
              <a:cxnLst/>
              <a:rect l="l" t="t" r="r" b="b"/>
              <a:pathLst>
                <a:path w="104140" h="133350">
                  <a:moveTo>
                    <a:pt x="0" y="0"/>
                  </a:moveTo>
                  <a:lnTo>
                    <a:pt x="103885" y="0"/>
                  </a:lnTo>
                  <a:lnTo>
                    <a:pt x="103885" y="133030"/>
                  </a:lnTo>
                  <a:lnTo>
                    <a:pt x="0" y="13303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203334" y="2715142"/>
            <a:ext cx="227965" cy="230504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5414952" y="1374721"/>
            <a:ext cx="2907030" cy="2112645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394696" y="1291128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145990" y="2625531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5732946" y="1651437"/>
            <a:ext cx="227965" cy="230504"/>
            <a:chOff x="5732946" y="1651437"/>
            <a:chExt cx="227965" cy="230504"/>
          </a:xfrm>
        </p:grpSpPr>
        <p:sp>
          <p:nvSpPr>
            <p:cNvPr id="72" name="object 72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6922109" y="2941528"/>
            <a:ext cx="100965" cy="131445"/>
            <a:chOff x="6922109" y="2941528"/>
            <a:chExt cx="100965" cy="131445"/>
          </a:xfrm>
        </p:grpSpPr>
        <p:sp>
          <p:nvSpPr>
            <p:cNvPr id="75" name="object 75"/>
            <p:cNvSpPr/>
            <p:nvPr/>
          </p:nvSpPr>
          <p:spPr>
            <a:xfrm>
              <a:off x="6928459" y="2947878"/>
              <a:ext cx="88265" cy="118745"/>
            </a:xfrm>
            <a:custGeom>
              <a:avLst/>
              <a:gdLst/>
              <a:ahLst/>
              <a:cxnLst/>
              <a:rect l="l" t="t" r="r" b="b"/>
              <a:pathLst>
                <a:path w="88265" h="118744">
                  <a:moveTo>
                    <a:pt x="87849" y="118574"/>
                  </a:moveTo>
                  <a:lnTo>
                    <a:pt x="0" y="118574"/>
                  </a:lnTo>
                  <a:lnTo>
                    <a:pt x="0" y="0"/>
                  </a:lnTo>
                  <a:lnTo>
                    <a:pt x="87849" y="0"/>
                  </a:lnTo>
                  <a:lnTo>
                    <a:pt x="87849" y="1185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28459" y="2947878"/>
              <a:ext cx="88265" cy="118745"/>
            </a:xfrm>
            <a:custGeom>
              <a:avLst/>
              <a:gdLst/>
              <a:ahLst/>
              <a:cxnLst/>
              <a:rect l="l" t="t" r="r" b="b"/>
              <a:pathLst>
                <a:path w="88265" h="118744">
                  <a:moveTo>
                    <a:pt x="0" y="0"/>
                  </a:moveTo>
                  <a:lnTo>
                    <a:pt x="87849" y="0"/>
                  </a:lnTo>
                  <a:lnTo>
                    <a:pt x="87849" y="118574"/>
                  </a:lnTo>
                  <a:lnTo>
                    <a:pt x="0" y="11857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6066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Pod</a:t>
            </a:r>
            <a:r>
              <a:rPr spc="-15" dirty="0"/>
              <a:t> </a:t>
            </a:r>
            <a:r>
              <a:rPr spc="-10" dirty="0"/>
              <a:t>Networking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4382" y="1216477"/>
            <a:ext cx="2753360" cy="227076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96399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8615" y="1933524"/>
            <a:ext cx="603885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44145">
              <a:lnSpc>
                <a:spcPct val="101200"/>
              </a:lnSpc>
              <a:spcBef>
                <a:spcPts val="85"/>
              </a:spcBef>
            </a:pPr>
            <a:r>
              <a:rPr sz="1050" spc="-20" dirty="0">
                <a:latin typeface="Arial"/>
                <a:cs typeface="Arial"/>
              </a:rPr>
              <a:t>Main </a:t>
            </a:r>
            <a:r>
              <a:rPr sz="1050" spc="-10" dirty="0">
                <a:latin typeface="Arial"/>
                <a:cs typeface="Arial"/>
              </a:rPr>
              <a:t>Controller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527" y="2324670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5891" y="3308115"/>
            <a:ext cx="1010285" cy="323215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8059" y="3360323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9185" y="1216477"/>
            <a:ext cx="2753360" cy="227076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61203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8955" y="1979674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0803" y="2453518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:7777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35194" y="3289512"/>
            <a:ext cx="1010285" cy="323215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67362" y="3341721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10.0.30.60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42238" y="1865040"/>
            <a:ext cx="1252220" cy="497205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6983" y="1913712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2759794" y="2314292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33484" y="1225699"/>
            <a:ext cx="6855459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How</a:t>
            </a:r>
            <a:r>
              <a:rPr sz="4000" spc="-8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does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these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containers </a:t>
            </a:r>
            <a:r>
              <a:rPr sz="4000" dirty="0">
                <a:solidFill>
                  <a:srgbClr val="FFFFFF"/>
                </a:solidFill>
              </a:rPr>
              <a:t>inside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Pods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communicate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spc="-20" dirty="0">
                <a:solidFill>
                  <a:srgbClr val="FFFFFF"/>
                </a:solidFill>
              </a:rPr>
              <a:t>with </a:t>
            </a:r>
            <a:r>
              <a:rPr sz="4000" dirty="0">
                <a:solidFill>
                  <a:srgbClr val="FFFFFF"/>
                </a:solidFill>
              </a:rPr>
              <a:t>External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World?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106495"/>
            <a:ext cx="34194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Network</a:t>
            </a:r>
            <a:r>
              <a:rPr spc="5" dirty="0"/>
              <a:t> </a:t>
            </a:r>
            <a:r>
              <a:rPr spc="-10" dirty="0"/>
              <a:t>Namespace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4382" y="1216477"/>
            <a:ext cx="2753360" cy="227076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96399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8615" y="1933524"/>
            <a:ext cx="603885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44145">
              <a:lnSpc>
                <a:spcPct val="101200"/>
              </a:lnSpc>
              <a:spcBef>
                <a:spcPts val="85"/>
              </a:spcBef>
            </a:pPr>
            <a:r>
              <a:rPr sz="1050" spc="-20" dirty="0">
                <a:latin typeface="Arial"/>
                <a:cs typeface="Arial"/>
              </a:rPr>
              <a:t>Main </a:t>
            </a:r>
            <a:r>
              <a:rPr sz="1050" spc="-10" dirty="0">
                <a:latin typeface="Arial"/>
                <a:cs typeface="Arial"/>
              </a:rPr>
              <a:t>Controller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527" y="2324670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5891" y="3308115"/>
            <a:ext cx="1010285" cy="323215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8059" y="3360323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9185" y="1216477"/>
            <a:ext cx="2753360" cy="227076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61203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8955" y="1979674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0803" y="2453518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:7777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35194" y="3289512"/>
            <a:ext cx="1010285" cy="323215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67362" y="3341721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10.0.30.60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42238" y="1865040"/>
            <a:ext cx="1252220" cy="497205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6983" y="1913712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59794" y="2314292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280" y="2522325"/>
            <a:ext cx="3086100" cy="1885950"/>
            <a:chOff x="694280" y="2522325"/>
            <a:chExt cx="3086100" cy="1885950"/>
          </a:xfrm>
        </p:grpSpPr>
        <p:sp>
          <p:nvSpPr>
            <p:cNvPr id="33" name="object 33"/>
            <p:cNvSpPr/>
            <p:nvPr/>
          </p:nvSpPr>
          <p:spPr>
            <a:xfrm>
              <a:off x="981319" y="2537466"/>
              <a:ext cx="765810" cy="1511300"/>
            </a:xfrm>
            <a:custGeom>
              <a:avLst/>
              <a:gdLst/>
              <a:ahLst/>
              <a:cxnLst/>
              <a:rect l="l" t="t" r="r" b="b"/>
              <a:pathLst>
                <a:path w="765810" h="1511300">
                  <a:moveTo>
                    <a:pt x="765287" y="0"/>
                  </a:moveTo>
                  <a:lnTo>
                    <a:pt x="0" y="151093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1788" y="404129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5" h="45720">
                  <a:moveTo>
                    <a:pt x="0" y="45669"/>
                  </a:moveTo>
                  <a:lnTo>
                    <a:pt x="5495" y="0"/>
                  </a:lnTo>
                  <a:lnTo>
                    <a:pt x="33566" y="14217"/>
                  </a:lnTo>
                  <a:lnTo>
                    <a:pt x="0" y="4566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61788" y="404129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5" h="45720">
                  <a:moveTo>
                    <a:pt x="5495" y="0"/>
                  </a:moveTo>
                  <a:lnTo>
                    <a:pt x="0" y="45669"/>
                  </a:lnTo>
                  <a:lnTo>
                    <a:pt x="33566" y="14217"/>
                  </a:lnTo>
                  <a:lnTo>
                    <a:pt x="5495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59218" y="2527087"/>
              <a:ext cx="697230" cy="1459230"/>
            </a:xfrm>
            <a:custGeom>
              <a:avLst/>
              <a:gdLst/>
              <a:ahLst/>
              <a:cxnLst/>
              <a:rect l="l" t="t" r="r" b="b"/>
              <a:pathLst>
                <a:path w="697229" h="1459229">
                  <a:moveTo>
                    <a:pt x="0" y="0"/>
                  </a:moveTo>
                  <a:lnTo>
                    <a:pt x="697163" y="145923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42186" y="397953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4">
                  <a:moveTo>
                    <a:pt x="32829" y="45784"/>
                  </a:moveTo>
                  <a:lnTo>
                    <a:pt x="0" y="13564"/>
                  </a:lnTo>
                  <a:lnTo>
                    <a:pt x="28391" y="0"/>
                  </a:lnTo>
                  <a:lnTo>
                    <a:pt x="32829" y="4578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42186" y="397953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4">
                  <a:moveTo>
                    <a:pt x="0" y="13564"/>
                  </a:moveTo>
                  <a:lnTo>
                    <a:pt x="32829" y="45784"/>
                  </a:lnTo>
                  <a:lnTo>
                    <a:pt x="28391" y="0"/>
                  </a:lnTo>
                  <a:lnTo>
                    <a:pt x="0" y="13564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0630" y="4141447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1379359" y="260301"/>
                  </a:moveTo>
                  <a:lnTo>
                    <a:pt x="43384" y="260301"/>
                  </a:lnTo>
                  <a:lnTo>
                    <a:pt x="26497" y="256892"/>
                  </a:lnTo>
                  <a:lnTo>
                    <a:pt x="12707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lnTo>
                    <a:pt x="3409" y="26497"/>
                  </a:lnTo>
                  <a:lnTo>
                    <a:pt x="12707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0630" y="4141447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0" y="43384"/>
                  </a:moveTo>
                  <a:lnTo>
                    <a:pt x="3409" y="26497"/>
                  </a:lnTo>
                  <a:lnTo>
                    <a:pt x="12707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lnTo>
                    <a:pt x="43384" y="260301"/>
                  </a:lnTo>
                  <a:lnTo>
                    <a:pt x="26497" y="256892"/>
                  </a:lnTo>
                  <a:lnTo>
                    <a:pt x="12707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48451" y="4162314"/>
            <a:ext cx="1127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052867" y="4114050"/>
            <a:ext cx="1435735" cy="273050"/>
            <a:chOff x="3052867" y="4114050"/>
            <a:chExt cx="1435735" cy="273050"/>
          </a:xfrm>
        </p:grpSpPr>
        <p:sp>
          <p:nvSpPr>
            <p:cNvPr id="43" name="object 43"/>
            <p:cNvSpPr/>
            <p:nvPr/>
          </p:nvSpPr>
          <p:spPr>
            <a:xfrm>
              <a:off x="3059217" y="4120400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1379359" y="260301"/>
                  </a:moveTo>
                  <a:lnTo>
                    <a:pt x="43384" y="260301"/>
                  </a:lnTo>
                  <a:lnTo>
                    <a:pt x="26497" y="256892"/>
                  </a:lnTo>
                  <a:lnTo>
                    <a:pt x="12706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lnTo>
                    <a:pt x="3409" y="26497"/>
                  </a:lnTo>
                  <a:lnTo>
                    <a:pt x="12706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59217" y="4120400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0" y="43384"/>
                  </a:moveTo>
                  <a:lnTo>
                    <a:pt x="3409" y="26497"/>
                  </a:lnTo>
                  <a:lnTo>
                    <a:pt x="12706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lnTo>
                    <a:pt x="43384" y="260301"/>
                  </a:lnTo>
                  <a:lnTo>
                    <a:pt x="26497" y="256892"/>
                  </a:lnTo>
                  <a:lnTo>
                    <a:pt x="12706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07039" y="4141267"/>
            <a:ext cx="1127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10.0.30.50:3000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1625" y="4823475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solidFill>
                  <a:srgbClr val="FFAB40"/>
                </a:solidFill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/>
          <p:nvPr/>
        </p:nvSpPr>
        <p:spPr>
          <a:xfrm>
            <a:off x="758825" y="1328441"/>
            <a:ext cx="581215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4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sz="4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4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r>
              <a:rPr sz="4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talk</a:t>
            </a:r>
            <a:r>
              <a:rPr sz="4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sz="4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Arial"/>
                <a:cs typeface="Arial"/>
              </a:rPr>
              <a:t>Pod?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825" y="2732550"/>
            <a:ext cx="4448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Welcome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Inter-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Communication..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6066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Pod</a:t>
            </a:r>
            <a:r>
              <a:rPr spc="-15" dirty="0"/>
              <a:t> </a:t>
            </a:r>
            <a:r>
              <a:rPr spc="-10" dirty="0"/>
              <a:t>Networking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4382" y="1216477"/>
            <a:ext cx="2753360" cy="227076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96399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8615" y="1933524"/>
            <a:ext cx="603885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44145">
              <a:lnSpc>
                <a:spcPct val="101200"/>
              </a:lnSpc>
              <a:spcBef>
                <a:spcPts val="85"/>
              </a:spcBef>
            </a:pPr>
            <a:r>
              <a:rPr sz="1050" spc="-20" dirty="0">
                <a:latin typeface="Arial"/>
                <a:cs typeface="Arial"/>
              </a:rPr>
              <a:t>Main </a:t>
            </a:r>
            <a:r>
              <a:rPr sz="1050" spc="-10" dirty="0">
                <a:latin typeface="Arial"/>
                <a:cs typeface="Arial"/>
              </a:rPr>
              <a:t>Controller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527" y="2324670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5891" y="3308115"/>
            <a:ext cx="1010285" cy="323215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8059" y="3360323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9185" y="1216477"/>
            <a:ext cx="2753360" cy="227076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61203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8955" y="1979674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0803" y="2453518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:7777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35194" y="3289512"/>
            <a:ext cx="1010285" cy="323215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67362" y="3341721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10.0.30.60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42238" y="1865040"/>
            <a:ext cx="1252220" cy="497205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6983" y="1913712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59794" y="2314292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9479" y="4257390"/>
            <a:ext cx="6946900" cy="266065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45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90428" y="3624750"/>
            <a:ext cx="41275" cy="623570"/>
            <a:chOff x="2390428" y="3624750"/>
            <a:chExt cx="41275" cy="623570"/>
          </a:xfrm>
        </p:grpSpPr>
        <p:sp>
          <p:nvSpPr>
            <p:cNvPr id="34" name="object 34"/>
            <p:cNvSpPr/>
            <p:nvPr/>
          </p:nvSpPr>
          <p:spPr>
            <a:xfrm>
              <a:off x="2410923" y="3624750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5">
                  <a:moveTo>
                    <a:pt x="0" y="0"/>
                  </a:moveTo>
                  <a:lnTo>
                    <a:pt x="0" y="5755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95190" y="4200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95190" y="4200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919731" y="3552571"/>
            <a:ext cx="41275" cy="623570"/>
            <a:chOff x="6919731" y="3552571"/>
            <a:chExt cx="41275" cy="623570"/>
          </a:xfrm>
        </p:grpSpPr>
        <p:sp>
          <p:nvSpPr>
            <p:cNvPr id="38" name="object 38"/>
            <p:cNvSpPr/>
            <p:nvPr/>
          </p:nvSpPr>
          <p:spPr>
            <a:xfrm>
              <a:off x="6940226" y="3552571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5">
                  <a:moveTo>
                    <a:pt x="0" y="0"/>
                  </a:moveTo>
                  <a:lnTo>
                    <a:pt x="0" y="57549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24493" y="41280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24493" y="41280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01625" y="4823475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solidFill>
                  <a:srgbClr val="FFAB40"/>
                </a:solidFill>
                <a:latin typeface="Arial"/>
                <a:cs typeface="Arial"/>
              </a:rPr>
              <a:t>52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61785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How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does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spc="-30" dirty="0">
                <a:solidFill>
                  <a:srgbClr val="FFFFFF"/>
                </a:solidFill>
              </a:rPr>
              <a:t>Intra-</a:t>
            </a:r>
            <a:r>
              <a:rPr sz="4000" spc="-25" dirty="0">
                <a:solidFill>
                  <a:srgbClr val="FFFFFF"/>
                </a:solidFill>
              </a:rPr>
              <a:t>Pod </a:t>
            </a:r>
            <a:r>
              <a:rPr sz="4000" spc="-10" dirty="0">
                <a:solidFill>
                  <a:srgbClr val="FFFFFF"/>
                </a:solidFill>
              </a:rPr>
              <a:t>communication</a:t>
            </a:r>
            <a:r>
              <a:rPr sz="4000" spc="-15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take</a:t>
            </a:r>
            <a:r>
              <a:rPr sz="4000" spc="-15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place?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417131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Intra-Pod</a:t>
            </a:r>
            <a:r>
              <a:rPr spc="80" dirty="0"/>
              <a:t> </a:t>
            </a:r>
            <a:r>
              <a:rPr spc="-10" dirty="0"/>
              <a:t>Communication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3709" y="1039650"/>
            <a:ext cx="4683760" cy="2425700"/>
            <a:chOff x="2813709" y="1039650"/>
            <a:chExt cx="4683760" cy="2425700"/>
          </a:xfrm>
        </p:grpSpPr>
        <p:sp>
          <p:nvSpPr>
            <p:cNvPr id="4" name="object 4"/>
            <p:cNvSpPr/>
            <p:nvPr/>
          </p:nvSpPr>
          <p:spPr>
            <a:xfrm>
              <a:off x="2820059" y="1046000"/>
              <a:ext cx="4671060" cy="2413000"/>
            </a:xfrm>
            <a:custGeom>
              <a:avLst/>
              <a:gdLst/>
              <a:ahLst/>
              <a:cxnLst/>
              <a:rect l="l" t="t" r="r" b="b"/>
              <a:pathLst>
                <a:path w="4671059" h="2413000">
                  <a:moveTo>
                    <a:pt x="4268463" y="2413001"/>
                  </a:moveTo>
                  <a:lnTo>
                    <a:pt x="402174" y="2413001"/>
                  </a:lnTo>
                  <a:lnTo>
                    <a:pt x="355272" y="2410295"/>
                  </a:lnTo>
                  <a:lnTo>
                    <a:pt x="309959" y="2402379"/>
                  </a:lnTo>
                  <a:lnTo>
                    <a:pt x="266537" y="2389555"/>
                  </a:lnTo>
                  <a:lnTo>
                    <a:pt x="225308" y="2372123"/>
                  </a:lnTo>
                  <a:lnTo>
                    <a:pt x="186573" y="2350387"/>
                  </a:lnTo>
                  <a:lnTo>
                    <a:pt x="150634" y="2324647"/>
                  </a:lnTo>
                  <a:lnTo>
                    <a:pt x="117794" y="2295206"/>
                  </a:lnTo>
                  <a:lnTo>
                    <a:pt x="88353" y="2262366"/>
                  </a:lnTo>
                  <a:lnTo>
                    <a:pt x="62613" y="2226427"/>
                  </a:lnTo>
                  <a:lnTo>
                    <a:pt x="40877" y="2187692"/>
                  </a:lnTo>
                  <a:lnTo>
                    <a:pt x="23446" y="2146463"/>
                  </a:lnTo>
                  <a:lnTo>
                    <a:pt x="10621" y="2103041"/>
                  </a:lnTo>
                  <a:lnTo>
                    <a:pt x="2705" y="2057728"/>
                  </a:lnTo>
                  <a:lnTo>
                    <a:pt x="0" y="2010826"/>
                  </a:lnTo>
                  <a:lnTo>
                    <a:pt x="0" y="402174"/>
                  </a:lnTo>
                  <a:lnTo>
                    <a:pt x="2705" y="355272"/>
                  </a:lnTo>
                  <a:lnTo>
                    <a:pt x="10621" y="309959"/>
                  </a:lnTo>
                  <a:lnTo>
                    <a:pt x="23446" y="266537"/>
                  </a:lnTo>
                  <a:lnTo>
                    <a:pt x="40877" y="225308"/>
                  </a:lnTo>
                  <a:lnTo>
                    <a:pt x="62613" y="186573"/>
                  </a:lnTo>
                  <a:lnTo>
                    <a:pt x="88353" y="150635"/>
                  </a:lnTo>
                  <a:lnTo>
                    <a:pt x="117794" y="117794"/>
                  </a:lnTo>
                  <a:lnTo>
                    <a:pt x="150634" y="88353"/>
                  </a:lnTo>
                  <a:lnTo>
                    <a:pt x="186573" y="62613"/>
                  </a:lnTo>
                  <a:lnTo>
                    <a:pt x="225308" y="40877"/>
                  </a:lnTo>
                  <a:lnTo>
                    <a:pt x="266537" y="23446"/>
                  </a:lnTo>
                  <a:lnTo>
                    <a:pt x="309959" y="10621"/>
                  </a:lnTo>
                  <a:lnTo>
                    <a:pt x="355272" y="2705"/>
                  </a:lnTo>
                  <a:lnTo>
                    <a:pt x="402174" y="0"/>
                  </a:lnTo>
                  <a:lnTo>
                    <a:pt x="4268463" y="0"/>
                  </a:lnTo>
                  <a:lnTo>
                    <a:pt x="4321327" y="3487"/>
                  </a:lnTo>
                  <a:lnTo>
                    <a:pt x="4372837" y="13778"/>
                  </a:lnTo>
                  <a:lnTo>
                    <a:pt x="4422369" y="30613"/>
                  </a:lnTo>
                  <a:lnTo>
                    <a:pt x="4469298" y="53733"/>
                  </a:lnTo>
                  <a:lnTo>
                    <a:pt x="4512998" y="82880"/>
                  </a:lnTo>
                  <a:lnTo>
                    <a:pt x="4552844" y="117794"/>
                  </a:lnTo>
                  <a:lnTo>
                    <a:pt x="4587758" y="157640"/>
                  </a:lnTo>
                  <a:lnTo>
                    <a:pt x="4616904" y="201340"/>
                  </a:lnTo>
                  <a:lnTo>
                    <a:pt x="4640024" y="248269"/>
                  </a:lnTo>
                  <a:lnTo>
                    <a:pt x="4656859" y="297801"/>
                  </a:lnTo>
                  <a:lnTo>
                    <a:pt x="4667150" y="349311"/>
                  </a:lnTo>
                  <a:lnTo>
                    <a:pt x="4670638" y="402174"/>
                  </a:lnTo>
                  <a:lnTo>
                    <a:pt x="4670638" y="2010826"/>
                  </a:lnTo>
                  <a:lnTo>
                    <a:pt x="4667932" y="2057728"/>
                  </a:lnTo>
                  <a:lnTo>
                    <a:pt x="4660016" y="2103041"/>
                  </a:lnTo>
                  <a:lnTo>
                    <a:pt x="4647192" y="2146463"/>
                  </a:lnTo>
                  <a:lnTo>
                    <a:pt x="4629761" y="2187692"/>
                  </a:lnTo>
                  <a:lnTo>
                    <a:pt x="4608024" y="2226427"/>
                  </a:lnTo>
                  <a:lnTo>
                    <a:pt x="4582285" y="2262366"/>
                  </a:lnTo>
                  <a:lnTo>
                    <a:pt x="4552844" y="2295206"/>
                  </a:lnTo>
                  <a:lnTo>
                    <a:pt x="4520003" y="2324647"/>
                  </a:lnTo>
                  <a:lnTo>
                    <a:pt x="4484065" y="2350387"/>
                  </a:lnTo>
                  <a:lnTo>
                    <a:pt x="4445330" y="2372123"/>
                  </a:lnTo>
                  <a:lnTo>
                    <a:pt x="4404100" y="2389555"/>
                  </a:lnTo>
                  <a:lnTo>
                    <a:pt x="4360678" y="2402379"/>
                  </a:lnTo>
                  <a:lnTo>
                    <a:pt x="4315365" y="2410295"/>
                  </a:lnTo>
                  <a:lnTo>
                    <a:pt x="4268463" y="241300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20059" y="1046000"/>
              <a:ext cx="4671060" cy="2413000"/>
            </a:xfrm>
            <a:custGeom>
              <a:avLst/>
              <a:gdLst/>
              <a:ahLst/>
              <a:cxnLst/>
              <a:rect l="l" t="t" r="r" b="b"/>
              <a:pathLst>
                <a:path w="4671059" h="2413000">
                  <a:moveTo>
                    <a:pt x="0" y="402174"/>
                  </a:moveTo>
                  <a:lnTo>
                    <a:pt x="2705" y="355272"/>
                  </a:lnTo>
                  <a:lnTo>
                    <a:pt x="10621" y="309959"/>
                  </a:lnTo>
                  <a:lnTo>
                    <a:pt x="23446" y="266537"/>
                  </a:lnTo>
                  <a:lnTo>
                    <a:pt x="40877" y="225308"/>
                  </a:lnTo>
                  <a:lnTo>
                    <a:pt x="62613" y="186573"/>
                  </a:lnTo>
                  <a:lnTo>
                    <a:pt x="88353" y="150635"/>
                  </a:lnTo>
                  <a:lnTo>
                    <a:pt x="117794" y="117794"/>
                  </a:lnTo>
                  <a:lnTo>
                    <a:pt x="150634" y="88353"/>
                  </a:lnTo>
                  <a:lnTo>
                    <a:pt x="186573" y="62613"/>
                  </a:lnTo>
                  <a:lnTo>
                    <a:pt x="225308" y="40877"/>
                  </a:lnTo>
                  <a:lnTo>
                    <a:pt x="266537" y="23446"/>
                  </a:lnTo>
                  <a:lnTo>
                    <a:pt x="309959" y="10621"/>
                  </a:lnTo>
                  <a:lnTo>
                    <a:pt x="355272" y="2705"/>
                  </a:lnTo>
                  <a:lnTo>
                    <a:pt x="402174" y="0"/>
                  </a:lnTo>
                  <a:lnTo>
                    <a:pt x="4268463" y="0"/>
                  </a:lnTo>
                  <a:lnTo>
                    <a:pt x="4321327" y="3487"/>
                  </a:lnTo>
                  <a:lnTo>
                    <a:pt x="4372837" y="13778"/>
                  </a:lnTo>
                  <a:lnTo>
                    <a:pt x="4422369" y="30613"/>
                  </a:lnTo>
                  <a:lnTo>
                    <a:pt x="4469298" y="53733"/>
                  </a:lnTo>
                  <a:lnTo>
                    <a:pt x="4512998" y="82880"/>
                  </a:lnTo>
                  <a:lnTo>
                    <a:pt x="4552844" y="117794"/>
                  </a:lnTo>
                  <a:lnTo>
                    <a:pt x="4587758" y="157640"/>
                  </a:lnTo>
                  <a:lnTo>
                    <a:pt x="4616904" y="201340"/>
                  </a:lnTo>
                  <a:lnTo>
                    <a:pt x="4640024" y="248269"/>
                  </a:lnTo>
                  <a:lnTo>
                    <a:pt x="4656859" y="297801"/>
                  </a:lnTo>
                  <a:lnTo>
                    <a:pt x="4667150" y="349311"/>
                  </a:lnTo>
                  <a:lnTo>
                    <a:pt x="4670638" y="402174"/>
                  </a:lnTo>
                  <a:lnTo>
                    <a:pt x="4670638" y="2010826"/>
                  </a:lnTo>
                  <a:lnTo>
                    <a:pt x="4667932" y="2057728"/>
                  </a:lnTo>
                  <a:lnTo>
                    <a:pt x="4660016" y="2103041"/>
                  </a:lnTo>
                  <a:lnTo>
                    <a:pt x="4647192" y="2146463"/>
                  </a:lnTo>
                  <a:lnTo>
                    <a:pt x="4629761" y="2187692"/>
                  </a:lnTo>
                  <a:lnTo>
                    <a:pt x="4608024" y="2226427"/>
                  </a:lnTo>
                  <a:lnTo>
                    <a:pt x="4582285" y="2262366"/>
                  </a:lnTo>
                  <a:lnTo>
                    <a:pt x="4552844" y="2295206"/>
                  </a:lnTo>
                  <a:lnTo>
                    <a:pt x="4520003" y="2324647"/>
                  </a:lnTo>
                  <a:lnTo>
                    <a:pt x="4484065" y="2350387"/>
                  </a:lnTo>
                  <a:lnTo>
                    <a:pt x="4445330" y="2372123"/>
                  </a:lnTo>
                  <a:lnTo>
                    <a:pt x="4404100" y="2389555"/>
                  </a:lnTo>
                  <a:lnTo>
                    <a:pt x="4360678" y="2402379"/>
                  </a:lnTo>
                  <a:lnTo>
                    <a:pt x="4315365" y="2410295"/>
                  </a:lnTo>
                  <a:lnTo>
                    <a:pt x="4268463" y="2413001"/>
                  </a:lnTo>
                  <a:lnTo>
                    <a:pt x="402174" y="2413001"/>
                  </a:lnTo>
                  <a:lnTo>
                    <a:pt x="355272" y="2410295"/>
                  </a:lnTo>
                  <a:lnTo>
                    <a:pt x="309959" y="2402379"/>
                  </a:lnTo>
                  <a:lnTo>
                    <a:pt x="266537" y="2389555"/>
                  </a:lnTo>
                  <a:lnTo>
                    <a:pt x="225308" y="2372123"/>
                  </a:lnTo>
                  <a:lnTo>
                    <a:pt x="186573" y="2350387"/>
                  </a:lnTo>
                  <a:lnTo>
                    <a:pt x="150634" y="2324647"/>
                  </a:lnTo>
                  <a:lnTo>
                    <a:pt x="117794" y="2295206"/>
                  </a:lnTo>
                  <a:lnTo>
                    <a:pt x="88353" y="2262366"/>
                  </a:lnTo>
                  <a:lnTo>
                    <a:pt x="62613" y="2226427"/>
                  </a:lnTo>
                  <a:lnTo>
                    <a:pt x="40877" y="2187692"/>
                  </a:lnTo>
                  <a:lnTo>
                    <a:pt x="23446" y="2146463"/>
                  </a:lnTo>
                  <a:lnTo>
                    <a:pt x="10621" y="2103041"/>
                  </a:lnTo>
                  <a:lnTo>
                    <a:pt x="2705" y="2057728"/>
                  </a:lnTo>
                  <a:lnTo>
                    <a:pt x="0" y="2010826"/>
                  </a:lnTo>
                  <a:lnTo>
                    <a:pt x="0" y="4021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18397" y="1607847"/>
              <a:ext cx="1348105" cy="477520"/>
            </a:xfrm>
            <a:custGeom>
              <a:avLst/>
              <a:gdLst/>
              <a:ahLst/>
              <a:cxnLst/>
              <a:rect l="l" t="t" r="r" b="b"/>
              <a:pathLst>
                <a:path w="1348104" h="477519">
                  <a:moveTo>
                    <a:pt x="1268401" y="477253"/>
                  </a:moveTo>
                  <a:lnTo>
                    <a:pt x="79543" y="477253"/>
                  </a:lnTo>
                  <a:lnTo>
                    <a:pt x="48581" y="471003"/>
                  </a:lnTo>
                  <a:lnTo>
                    <a:pt x="23297" y="453956"/>
                  </a:lnTo>
                  <a:lnTo>
                    <a:pt x="6250" y="428672"/>
                  </a:lnTo>
                  <a:lnTo>
                    <a:pt x="0" y="397709"/>
                  </a:lnTo>
                  <a:lnTo>
                    <a:pt x="0" y="79543"/>
                  </a:lnTo>
                  <a:lnTo>
                    <a:pt x="6250" y="48581"/>
                  </a:lnTo>
                  <a:lnTo>
                    <a:pt x="23297" y="23297"/>
                  </a:lnTo>
                  <a:lnTo>
                    <a:pt x="48581" y="6250"/>
                  </a:lnTo>
                  <a:lnTo>
                    <a:pt x="79543" y="0"/>
                  </a:lnTo>
                  <a:lnTo>
                    <a:pt x="1268401" y="0"/>
                  </a:lnTo>
                  <a:lnTo>
                    <a:pt x="1312532" y="13364"/>
                  </a:lnTo>
                  <a:lnTo>
                    <a:pt x="1341891" y="49103"/>
                  </a:lnTo>
                  <a:lnTo>
                    <a:pt x="1347945" y="79543"/>
                  </a:lnTo>
                  <a:lnTo>
                    <a:pt x="1347945" y="397709"/>
                  </a:lnTo>
                  <a:lnTo>
                    <a:pt x="1341695" y="428672"/>
                  </a:lnTo>
                  <a:lnTo>
                    <a:pt x="1324647" y="453956"/>
                  </a:lnTo>
                  <a:lnTo>
                    <a:pt x="1299363" y="471003"/>
                  </a:lnTo>
                  <a:lnTo>
                    <a:pt x="1268401" y="47725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18397" y="1607847"/>
              <a:ext cx="1348105" cy="477520"/>
            </a:xfrm>
            <a:custGeom>
              <a:avLst/>
              <a:gdLst/>
              <a:ahLst/>
              <a:cxnLst/>
              <a:rect l="l" t="t" r="r" b="b"/>
              <a:pathLst>
                <a:path w="1348104" h="477519">
                  <a:moveTo>
                    <a:pt x="0" y="79543"/>
                  </a:moveTo>
                  <a:lnTo>
                    <a:pt x="6250" y="48581"/>
                  </a:lnTo>
                  <a:lnTo>
                    <a:pt x="23297" y="23297"/>
                  </a:lnTo>
                  <a:lnTo>
                    <a:pt x="48581" y="6250"/>
                  </a:lnTo>
                  <a:lnTo>
                    <a:pt x="79543" y="0"/>
                  </a:lnTo>
                  <a:lnTo>
                    <a:pt x="1268401" y="0"/>
                  </a:lnTo>
                  <a:lnTo>
                    <a:pt x="1312532" y="13364"/>
                  </a:lnTo>
                  <a:lnTo>
                    <a:pt x="1341891" y="49103"/>
                  </a:lnTo>
                  <a:lnTo>
                    <a:pt x="1347945" y="79543"/>
                  </a:lnTo>
                  <a:lnTo>
                    <a:pt x="1347945" y="397709"/>
                  </a:lnTo>
                  <a:lnTo>
                    <a:pt x="1341695" y="428672"/>
                  </a:lnTo>
                  <a:lnTo>
                    <a:pt x="1324647" y="453956"/>
                  </a:lnTo>
                  <a:lnTo>
                    <a:pt x="1299363" y="471003"/>
                  </a:lnTo>
                  <a:lnTo>
                    <a:pt x="1268401" y="477253"/>
                  </a:lnTo>
                  <a:lnTo>
                    <a:pt x="79543" y="477253"/>
                  </a:lnTo>
                  <a:lnTo>
                    <a:pt x="48581" y="471003"/>
                  </a:lnTo>
                  <a:lnTo>
                    <a:pt x="23297" y="453956"/>
                  </a:lnTo>
                  <a:lnTo>
                    <a:pt x="6250" y="428672"/>
                  </a:lnTo>
                  <a:lnTo>
                    <a:pt x="0" y="397709"/>
                  </a:lnTo>
                  <a:lnTo>
                    <a:pt x="0" y="7954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7681" y="739545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7530" y="1747477"/>
            <a:ext cx="9296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"/>
                <a:cs typeface="Arial"/>
              </a:rPr>
              <a:t>Main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Container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12010" y="1594564"/>
            <a:ext cx="1252220" cy="497205"/>
            <a:chOff x="5512010" y="1594564"/>
            <a:chExt cx="1252220" cy="497205"/>
          </a:xfrm>
        </p:grpSpPr>
        <p:sp>
          <p:nvSpPr>
            <p:cNvPr id="11" name="object 11"/>
            <p:cNvSpPr/>
            <p:nvPr/>
          </p:nvSpPr>
          <p:spPr>
            <a:xfrm>
              <a:off x="5518360" y="1600914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3" y="484185"/>
                  </a:moveTo>
                  <a:lnTo>
                    <a:pt x="80698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8" y="0"/>
                  </a:lnTo>
                  <a:lnTo>
                    <a:pt x="1158633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3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8360" y="1600914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8" y="0"/>
                  </a:lnTo>
                  <a:lnTo>
                    <a:pt x="1158633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3" y="484185"/>
                  </a:lnTo>
                  <a:lnTo>
                    <a:pt x="80698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56755" y="1643236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Container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87885" y="2021494"/>
            <a:ext cx="612140" cy="226060"/>
            <a:chOff x="3787885" y="2021494"/>
            <a:chExt cx="612140" cy="226060"/>
          </a:xfrm>
        </p:grpSpPr>
        <p:sp>
          <p:nvSpPr>
            <p:cNvPr id="15" name="object 15"/>
            <p:cNvSpPr/>
            <p:nvPr/>
          </p:nvSpPr>
          <p:spPr>
            <a:xfrm>
              <a:off x="3794235" y="2027844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39" h="213360">
                  <a:moveTo>
                    <a:pt x="598846" y="212795"/>
                  </a:moveTo>
                  <a:lnTo>
                    <a:pt x="0" y="212795"/>
                  </a:lnTo>
                  <a:lnTo>
                    <a:pt x="0" y="0"/>
                  </a:lnTo>
                  <a:lnTo>
                    <a:pt x="598846" y="0"/>
                  </a:lnTo>
                  <a:lnTo>
                    <a:pt x="598846" y="212795"/>
                  </a:lnTo>
                  <a:close/>
                </a:path>
              </a:pathLst>
            </a:custGeom>
            <a:solidFill>
              <a:srgbClr val="B4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235" y="2027844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39" h="213360">
                  <a:moveTo>
                    <a:pt x="0" y="0"/>
                  </a:moveTo>
                  <a:lnTo>
                    <a:pt x="598846" y="0"/>
                  </a:lnTo>
                  <a:lnTo>
                    <a:pt x="598846" y="212795"/>
                  </a:lnTo>
                  <a:lnTo>
                    <a:pt x="0" y="21279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00585" y="2024958"/>
            <a:ext cx="586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09376" y="2033353"/>
            <a:ext cx="612140" cy="226060"/>
            <a:chOff x="5909376" y="2033353"/>
            <a:chExt cx="612140" cy="226060"/>
          </a:xfrm>
        </p:grpSpPr>
        <p:sp>
          <p:nvSpPr>
            <p:cNvPr id="19" name="object 19"/>
            <p:cNvSpPr/>
            <p:nvPr/>
          </p:nvSpPr>
          <p:spPr>
            <a:xfrm>
              <a:off x="5915726" y="2039703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40" h="213360">
                  <a:moveTo>
                    <a:pt x="598846" y="212795"/>
                  </a:moveTo>
                  <a:lnTo>
                    <a:pt x="0" y="212795"/>
                  </a:lnTo>
                  <a:lnTo>
                    <a:pt x="0" y="0"/>
                  </a:lnTo>
                  <a:lnTo>
                    <a:pt x="598846" y="0"/>
                  </a:lnTo>
                  <a:lnTo>
                    <a:pt x="598846" y="212795"/>
                  </a:lnTo>
                  <a:close/>
                </a:path>
              </a:pathLst>
            </a:custGeom>
            <a:solidFill>
              <a:srgbClr val="B4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15726" y="2039703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40" h="213360">
                  <a:moveTo>
                    <a:pt x="0" y="0"/>
                  </a:moveTo>
                  <a:lnTo>
                    <a:pt x="598846" y="0"/>
                  </a:lnTo>
                  <a:lnTo>
                    <a:pt x="598846" y="212795"/>
                  </a:lnTo>
                  <a:lnTo>
                    <a:pt x="0" y="21279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11764" y="2036818"/>
            <a:ext cx="4070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88896" y="2235877"/>
            <a:ext cx="2192655" cy="1648460"/>
            <a:chOff x="4088896" y="2235877"/>
            <a:chExt cx="2192655" cy="1648460"/>
          </a:xfrm>
        </p:grpSpPr>
        <p:sp>
          <p:nvSpPr>
            <p:cNvPr id="23" name="object 23"/>
            <p:cNvSpPr/>
            <p:nvPr/>
          </p:nvSpPr>
          <p:spPr>
            <a:xfrm>
              <a:off x="4836871" y="3303857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5"/>
                  </a:moveTo>
                  <a:lnTo>
                    <a:pt x="51715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6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36871" y="3303857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6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5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93658" y="2240639"/>
              <a:ext cx="1061720" cy="1595755"/>
            </a:xfrm>
            <a:custGeom>
              <a:avLst/>
              <a:gdLst/>
              <a:ahLst/>
              <a:cxnLst/>
              <a:rect l="l" t="t" r="r" b="b"/>
              <a:pathLst>
                <a:path w="1061720" h="1595754">
                  <a:moveTo>
                    <a:pt x="0" y="0"/>
                  </a:moveTo>
                  <a:lnTo>
                    <a:pt x="0" y="826366"/>
                  </a:lnTo>
                  <a:lnTo>
                    <a:pt x="1061699" y="826366"/>
                  </a:lnTo>
                  <a:lnTo>
                    <a:pt x="1061699" y="15955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39625" y="383618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39625" y="383618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98642" y="2252499"/>
              <a:ext cx="878205" cy="1584325"/>
            </a:xfrm>
            <a:custGeom>
              <a:avLst/>
              <a:gdLst/>
              <a:ahLst/>
              <a:cxnLst/>
              <a:rect l="l" t="t" r="r" b="b"/>
              <a:pathLst>
                <a:path w="878204" h="1584325">
                  <a:moveTo>
                    <a:pt x="877799" y="0"/>
                  </a:moveTo>
                  <a:lnTo>
                    <a:pt x="877799" y="820499"/>
                  </a:lnTo>
                  <a:lnTo>
                    <a:pt x="0" y="820499"/>
                  </a:lnTo>
                  <a:lnTo>
                    <a:pt x="0" y="15838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82909" y="38363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82909" y="38363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03138" y="3349716"/>
            <a:ext cx="80518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:8080</a:t>
            </a:r>
            <a:r>
              <a:rPr sz="1100" spc="2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:3000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267315" y="2155956"/>
            <a:ext cx="1732914" cy="624205"/>
            <a:chOff x="4267315" y="2155956"/>
            <a:chExt cx="1732914" cy="624205"/>
          </a:xfrm>
        </p:grpSpPr>
        <p:sp>
          <p:nvSpPr>
            <p:cNvPr id="33" name="object 33"/>
            <p:cNvSpPr/>
            <p:nvPr/>
          </p:nvSpPr>
          <p:spPr>
            <a:xfrm>
              <a:off x="4272077" y="2160719"/>
              <a:ext cx="1723389" cy="513715"/>
            </a:xfrm>
            <a:custGeom>
              <a:avLst/>
              <a:gdLst/>
              <a:ahLst/>
              <a:cxnLst/>
              <a:rect l="l" t="t" r="r" b="b"/>
              <a:pathLst>
                <a:path w="1723389" h="513714">
                  <a:moveTo>
                    <a:pt x="0" y="0"/>
                  </a:moveTo>
                  <a:lnTo>
                    <a:pt x="287399" y="0"/>
                  </a:lnTo>
                  <a:lnTo>
                    <a:pt x="287399" y="513299"/>
                  </a:lnTo>
                  <a:lnTo>
                    <a:pt x="517649" y="513299"/>
                  </a:lnTo>
                </a:path>
                <a:path w="1723389" h="513714">
                  <a:moveTo>
                    <a:pt x="1723259" y="23924"/>
                  </a:moveTo>
                  <a:lnTo>
                    <a:pt x="1442759" y="23924"/>
                  </a:lnTo>
                  <a:lnTo>
                    <a:pt x="1442759" y="494324"/>
                  </a:lnTo>
                  <a:lnTo>
                    <a:pt x="1219409" y="49432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24109" y="2545690"/>
              <a:ext cx="803275" cy="227965"/>
            </a:xfrm>
            <a:custGeom>
              <a:avLst/>
              <a:gdLst/>
              <a:ahLst/>
              <a:cxnLst/>
              <a:rect l="l" t="t" r="r" b="b"/>
              <a:pathLst>
                <a:path w="803275" h="227964">
                  <a:moveTo>
                    <a:pt x="803107" y="227764"/>
                  </a:moveTo>
                  <a:lnTo>
                    <a:pt x="0" y="227764"/>
                  </a:lnTo>
                  <a:lnTo>
                    <a:pt x="0" y="0"/>
                  </a:lnTo>
                  <a:lnTo>
                    <a:pt x="803107" y="0"/>
                  </a:lnTo>
                  <a:lnTo>
                    <a:pt x="803107" y="227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24109" y="2545690"/>
              <a:ext cx="803275" cy="227965"/>
            </a:xfrm>
            <a:custGeom>
              <a:avLst/>
              <a:gdLst/>
              <a:ahLst/>
              <a:cxnLst/>
              <a:rect l="l" t="t" r="r" b="b"/>
              <a:pathLst>
                <a:path w="803275" h="227964">
                  <a:moveTo>
                    <a:pt x="0" y="0"/>
                  </a:moveTo>
                  <a:lnTo>
                    <a:pt x="803107" y="0"/>
                  </a:lnTo>
                  <a:lnTo>
                    <a:pt x="803107" y="227764"/>
                  </a:lnTo>
                  <a:lnTo>
                    <a:pt x="0" y="22776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68318" y="2575625"/>
            <a:ext cx="5143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Localhost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</a:t>
            </a:r>
            <a:r>
              <a:rPr spc="-165" dirty="0"/>
              <a:t> </a:t>
            </a:r>
            <a:r>
              <a:rPr dirty="0"/>
              <a:t>Look</a:t>
            </a:r>
            <a:r>
              <a:rPr spc="15" dirty="0"/>
              <a:t> </a:t>
            </a:r>
            <a:r>
              <a:rPr dirty="0"/>
              <a:t>at</a:t>
            </a:r>
            <a:r>
              <a:rPr spc="5" dirty="0"/>
              <a:t> </a:t>
            </a:r>
            <a:r>
              <a:rPr dirty="0"/>
              <a:t>Pod</a:t>
            </a:r>
            <a:r>
              <a:rPr spc="15" dirty="0"/>
              <a:t> </a:t>
            </a:r>
            <a:r>
              <a:rPr spc="-10" dirty="0"/>
              <a:t>Manifest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72" y="1200934"/>
            <a:ext cx="3401047" cy="27461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0187" y="1557321"/>
            <a:ext cx="4391932" cy="23620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Get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shell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running</a:t>
            </a:r>
            <a:r>
              <a:rPr spc="5" dirty="0"/>
              <a:t> </a:t>
            </a:r>
            <a:r>
              <a:rPr spc="-10" dirty="0"/>
              <a:t>Container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847" y="1276086"/>
            <a:ext cx="8686799" cy="8295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4196" y="2382976"/>
            <a:ext cx="3700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Verifying</a:t>
            </a:r>
            <a:r>
              <a:rPr sz="21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1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Operating</a:t>
            </a:r>
            <a:r>
              <a:rPr sz="21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600" y="2930701"/>
            <a:ext cx="8345713" cy="165079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Get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shell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running</a:t>
            </a:r>
            <a:r>
              <a:rPr spc="5" dirty="0"/>
              <a:t> </a:t>
            </a:r>
            <a:r>
              <a:rPr spc="-10" dirty="0"/>
              <a:t>Container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453" y="1894179"/>
            <a:ext cx="38195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AB40"/>
                </a:solidFill>
                <a:latin typeface="Arial"/>
                <a:cs typeface="Arial"/>
              </a:rPr>
              <a:t>Verifying</a:t>
            </a:r>
            <a:r>
              <a:rPr sz="2800" spc="-8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AB40"/>
                </a:solidFill>
                <a:latin typeface="Arial"/>
                <a:cs typeface="Arial"/>
              </a:rPr>
              <a:t>the</a:t>
            </a:r>
            <a:r>
              <a:rPr sz="2800" spc="-8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AB40"/>
                </a:solidFill>
                <a:latin typeface="Arial"/>
                <a:cs typeface="Arial"/>
              </a:rPr>
              <a:t>index</a:t>
            </a:r>
            <a:r>
              <a:rPr sz="2800" spc="-8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AB40"/>
                </a:solidFill>
                <a:latin typeface="Arial"/>
                <a:cs typeface="Arial"/>
              </a:rPr>
              <a:t>page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393" y="1314029"/>
            <a:ext cx="7511415" cy="277495"/>
          </a:xfrm>
          <a:prstGeom prst="rect">
            <a:avLst/>
          </a:prstGeom>
          <a:solidFill>
            <a:srgbClr val="12212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root@nginx-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pod:/#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echo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Hello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/usr/share/nginx/html/index.html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393" y="2754408"/>
            <a:ext cx="7931375" cy="13158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61487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Stages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of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Life</a:t>
            </a:r>
            <a:r>
              <a:rPr sz="4000" spc="-4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Cycle</a:t>
            </a:r>
            <a:r>
              <a:rPr sz="4000" spc="-4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of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spc="-25" dirty="0">
                <a:solidFill>
                  <a:srgbClr val="FFFFFF"/>
                </a:solidFill>
              </a:rPr>
              <a:t>Pod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Lifecycle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25" dirty="0"/>
              <a:t>Pod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01" y="1810226"/>
            <a:ext cx="412744" cy="5079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30630" y="1687353"/>
            <a:ext cx="1121410" cy="554355"/>
            <a:chOff x="1230630" y="1687353"/>
            <a:chExt cx="1121410" cy="5543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0630" y="1821180"/>
              <a:ext cx="420051" cy="4200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0682" y="1687353"/>
              <a:ext cx="267651" cy="267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11189" y="1994057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39" h="210185">
                  <a:moveTo>
                    <a:pt x="329326" y="210025"/>
                  </a:move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2"/>
                  </a:lnTo>
                  <a:lnTo>
                    <a:pt x="329326" y="2100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1189" y="1994057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39" h="210185">
                  <a:moveTo>
                    <a:pt x="0" y="52506"/>
                  </a:move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2"/>
                  </a:lnTo>
                  <a:lnTo>
                    <a:pt x="329326" y="210025"/>
                  </a:ln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09930" y="2024856"/>
            <a:ext cx="447040" cy="222885"/>
            <a:chOff x="709930" y="2024856"/>
            <a:chExt cx="447040" cy="222885"/>
          </a:xfrm>
        </p:grpSpPr>
        <p:sp>
          <p:nvSpPr>
            <p:cNvPr id="10" name="object 10"/>
            <p:cNvSpPr/>
            <p:nvPr/>
          </p:nvSpPr>
          <p:spPr>
            <a:xfrm>
              <a:off x="716280" y="2031206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40" h="210185">
                  <a:moveTo>
                    <a:pt x="329326" y="210025"/>
                  </a:move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3"/>
                  </a:lnTo>
                  <a:lnTo>
                    <a:pt x="329326" y="2100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6280" y="2031206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40" h="210185">
                  <a:moveTo>
                    <a:pt x="0" y="52506"/>
                  </a:move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3"/>
                  </a:lnTo>
                  <a:lnTo>
                    <a:pt x="329326" y="210025"/>
                  </a:ln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125470" y="1681003"/>
            <a:ext cx="1452880" cy="832485"/>
            <a:chOff x="3125470" y="1681003"/>
            <a:chExt cx="1452880" cy="832485"/>
          </a:xfrm>
        </p:grpSpPr>
        <p:sp>
          <p:nvSpPr>
            <p:cNvPr id="13" name="object 13"/>
            <p:cNvSpPr/>
            <p:nvPr/>
          </p:nvSpPr>
          <p:spPr>
            <a:xfrm>
              <a:off x="31318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18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106670" y="1681003"/>
            <a:ext cx="1452880" cy="832485"/>
            <a:chOff x="5106670" y="1681003"/>
            <a:chExt cx="1452880" cy="832485"/>
          </a:xfrm>
        </p:grpSpPr>
        <p:sp>
          <p:nvSpPr>
            <p:cNvPr id="16" name="object 16"/>
            <p:cNvSpPr/>
            <p:nvPr/>
          </p:nvSpPr>
          <p:spPr>
            <a:xfrm>
              <a:off x="51130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130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061200" y="1681003"/>
            <a:ext cx="1452880" cy="832485"/>
            <a:chOff x="7061200" y="1681003"/>
            <a:chExt cx="1452880" cy="832485"/>
          </a:xfrm>
        </p:grpSpPr>
        <p:sp>
          <p:nvSpPr>
            <p:cNvPr id="19" name="object 19"/>
            <p:cNvSpPr/>
            <p:nvPr/>
          </p:nvSpPr>
          <p:spPr>
            <a:xfrm>
              <a:off x="706755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6755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99471" y="2377439"/>
            <a:ext cx="927735" cy="243840"/>
          </a:xfrm>
          <a:prstGeom prst="rect">
            <a:avLst/>
          </a:prstGeom>
          <a:solidFill>
            <a:srgbClr val="5C95B8"/>
          </a:solidFill>
          <a:ln w="12699">
            <a:solidFill>
              <a:srgbClr val="127BB4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Pending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19487" y="2377439"/>
            <a:ext cx="927735" cy="243840"/>
          </a:xfrm>
          <a:prstGeom prst="rect">
            <a:avLst/>
          </a:prstGeom>
          <a:solidFill>
            <a:srgbClr val="0097A7"/>
          </a:solidFill>
          <a:ln w="12699">
            <a:solidFill>
              <a:srgbClr val="127BB4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Running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81505" y="2366010"/>
            <a:ext cx="1127760" cy="266700"/>
          </a:xfrm>
          <a:prstGeom prst="rect">
            <a:avLst/>
          </a:prstGeom>
          <a:solidFill>
            <a:srgbClr val="FF880A"/>
          </a:solidFill>
          <a:ln w="12699">
            <a:solidFill>
              <a:srgbClr val="127BB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7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Succeeding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9558" y="3434195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45031" y="1406144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49554" y="1406142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88117" y="2746057"/>
            <a:ext cx="430530" cy="866140"/>
            <a:chOff x="3988117" y="2746057"/>
            <a:chExt cx="430530" cy="866140"/>
          </a:xfrm>
        </p:grpSpPr>
        <p:sp>
          <p:nvSpPr>
            <p:cNvPr id="28" name="object 28"/>
            <p:cNvSpPr/>
            <p:nvPr/>
          </p:nvSpPr>
          <p:spPr>
            <a:xfrm>
              <a:off x="3992879" y="2750820"/>
              <a:ext cx="401955" cy="817880"/>
            </a:xfrm>
            <a:custGeom>
              <a:avLst/>
              <a:gdLst/>
              <a:ahLst/>
              <a:cxnLst/>
              <a:rect l="l" t="t" r="r" b="b"/>
              <a:pathLst>
                <a:path w="401954" h="817879">
                  <a:moveTo>
                    <a:pt x="0" y="0"/>
                  </a:moveTo>
                  <a:lnTo>
                    <a:pt x="401522" y="81738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0281" y="3561268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33179" y="45733"/>
                  </a:moveTo>
                  <a:lnTo>
                    <a:pt x="0" y="13873"/>
                  </a:lnTo>
                  <a:lnTo>
                    <a:pt x="28242" y="0"/>
                  </a:lnTo>
                  <a:lnTo>
                    <a:pt x="33179" y="4573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80281" y="3561268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0" y="13873"/>
                  </a:moveTo>
                  <a:lnTo>
                    <a:pt x="33179" y="45733"/>
                  </a:lnTo>
                  <a:lnTo>
                    <a:pt x="28242" y="0"/>
                  </a:lnTo>
                  <a:lnTo>
                    <a:pt x="0" y="13873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307698" y="2738437"/>
            <a:ext cx="747395" cy="890905"/>
            <a:chOff x="5307698" y="2738437"/>
            <a:chExt cx="747395" cy="890905"/>
          </a:xfrm>
        </p:grpSpPr>
        <p:sp>
          <p:nvSpPr>
            <p:cNvPr id="32" name="object 32"/>
            <p:cNvSpPr/>
            <p:nvPr/>
          </p:nvSpPr>
          <p:spPr>
            <a:xfrm>
              <a:off x="5340216" y="2743200"/>
              <a:ext cx="710565" cy="847725"/>
            </a:xfrm>
            <a:custGeom>
              <a:avLst/>
              <a:gdLst/>
              <a:ahLst/>
              <a:cxnLst/>
              <a:rect l="l" t="t" r="r" b="b"/>
              <a:pathLst>
                <a:path w="710564" h="847725">
                  <a:moveTo>
                    <a:pt x="710063" y="0"/>
                  </a:moveTo>
                  <a:lnTo>
                    <a:pt x="0" y="84772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12461" y="3580825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0" y="43239"/>
                  </a:moveTo>
                  <a:lnTo>
                    <a:pt x="15694" y="0"/>
                  </a:lnTo>
                  <a:lnTo>
                    <a:pt x="39816" y="20204"/>
                  </a:lnTo>
                  <a:lnTo>
                    <a:pt x="0" y="432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12461" y="3580825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15694" y="0"/>
                  </a:moveTo>
                  <a:lnTo>
                    <a:pt x="0" y="43239"/>
                  </a:lnTo>
                  <a:lnTo>
                    <a:pt x="39816" y="20204"/>
                  </a:lnTo>
                  <a:lnTo>
                    <a:pt x="1569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4231204" y="3742690"/>
            <a:ext cx="1452880" cy="832485"/>
            <a:chOff x="4231204" y="3742690"/>
            <a:chExt cx="1452880" cy="832485"/>
          </a:xfrm>
        </p:grpSpPr>
        <p:sp>
          <p:nvSpPr>
            <p:cNvPr id="36" name="object 36"/>
            <p:cNvSpPr/>
            <p:nvPr/>
          </p:nvSpPr>
          <p:spPr>
            <a:xfrm>
              <a:off x="4237554" y="3749040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37554" y="3749040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444843" y="4405312"/>
            <a:ext cx="1127760" cy="266700"/>
          </a:xfrm>
          <a:prstGeom prst="rect">
            <a:avLst/>
          </a:prstGeom>
          <a:solidFill>
            <a:srgbClr val="FF880A"/>
          </a:solidFill>
          <a:ln w="12699">
            <a:solidFill>
              <a:srgbClr val="127BB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17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Failed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88357" y="1401084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14356" y="2379482"/>
            <a:ext cx="700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API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0816" y="2416122"/>
            <a:ext cx="600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Manifest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0940" y="2787126"/>
            <a:ext cx="24784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ReplicaSet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/>
          <p:nvPr/>
        </p:nvSpPr>
        <p:spPr>
          <a:xfrm>
            <a:off x="1477054" y="1724339"/>
            <a:ext cx="6742430" cy="46545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>
              <a:lnSpc>
                <a:spcPct val="69900"/>
              </a:lnSpc>
              <a:spcBef>
                <a:spcPts val="715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Pods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instances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always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available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running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point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time?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9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ReplicaSet</a:t>
            </a:r>
            <a:r>
              <a:rPr spc="-5" dirty="0"/>
              <a:t> </a:t>
            </a:r>
            <a:r>
              <a:rPr dirty="0"/>
              <a:t>all</a:t>
            </a:r>
            <a:r>
              <a:rPr spc="5" dirty="0"/>
              <a:t> </a:t>
            </a:r>
            <a:r>
              <a:rPr spc="-10" dirty="0"/>
              <a:t>about?</a:t>
            </a:r>
          </a:p>
          <a:p>
            <a:pPr marL="63500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rgbClr val="000000"/>
                </a:solidFill>
              </a:rPr>
              <a:t>Maintain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stable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set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of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replica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Pods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running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at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any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given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spc="-20" dirty="0">
                <a:solidFill>
                  <a:srgbClr val="000000"/>
                </a:solidFill>
              </a:rPr>
              <a:t>time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450396" y="1416885"/>
            <a:ext cx="7833995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47015">
              <a:lnSpc>
                <a:spcPct val="100000"/>
              </a:lnSpc>
              <a:spcBef>
                <a:spcPts val="10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Ensures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specified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number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running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455295" lvl="1" indent="-252729">
              <a:lnSpc>
                <a:spcPct val="100000"/>
              </a:lnSpc>
              <a:buAutoNum type="alphaLcPeriod"/>
              <a:tabLst>
                <a:tab pos="455295" algn="l"/>
              </a:tabLst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access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killed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versa</a:t>
            </a:r>
            <a:endParaRPr sz="1800">
              <a:latin typeface="Arial"/>
              <a:cs typeface="Arial"/>
            </a:endParaRPr>
          </a:p>
          <a:p>
            <a:pPr marL="455295" lvl="1" indent="-252729">
              <a:lnSpc>
                <a:spcPct val="100000"/>
              </a:lnSpc>
              <a:spcBef>
                <a:spcPts val="15"/>
              </a:spcBef>
              <a:buAutoNum type="alphaLcPeriod"/>
              <a:tabLst>
                <a:tab pos="455295" algn="l"/>
              </a:tabLst>
            </a:pPr>
            <a:r>
              <a:rPr sz="1800" dirty="0">
                <a:latin typeface="Arial"/>
                <a:cs typeface="Arial"/>
              </a:rPr>
              <a:t>New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launched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failed,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deleted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terminated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AutoNum type="alphaLcPeriod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25"/>
              </a:spcBef>
              <a:buFont typeface="Arial"/>
              <a:buAutoNum type="alphaLcPeriod"/>
            </a:pP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-"/>
              <a:tabLst>
                <a:tab pos="151130" algn="l"/>
              </a:tabLst>
            </a:pPr>
            <a:r>
              <a:rPr sz="1800" dirty="0">
                <a:latin typeface="Arial"/>
                <a:cs typeface="Arial"/>
              </a:rPr>
              <a:t>ReplicaSet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associated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“labels”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Replication</a:t>
            </a:r>
            <a:r>
              <a:rPr spc="-5" dirty="0"/>
              <a:t> </a:t>
            </a:r>
            <a:r>
              <a:rPr dirty="0"/>
              <a:t>Controller</a:t>
            </a:r>
            <a:r>
              <a:rPr spc="5" dirty="0"/>
              <a:t> </a:t>
            </a:r>
            <a:r>
              <a:rPr dirty="0"/>
              <a:t>Vs</a:t>
            </a:r>
            <a:r>
              <a:rPr spc="-5" dirty="0"/>
              <a:t> </a:t>
            </a:r>
            <a:r>
              <a:rPr spc="-10" dirty="0"/>
              <a:t>ReplicaSets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485" y="1315285"/>
            <a:ext cx="612584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-"/>
              <a:tabLst>
                <a:tab pos="259715" algn="l"/>
              </a:tabLst>
            </a:pPr>
            <a:r>
              <a:rPr sz="1800" dirty="0">
                <a:latin typeface="Arial"/>
                <a:cs typeface="Arial"/>
              </a:rPr>
              <a:t>ReplicaSet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next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generation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Replication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Controller</a:t>
            </a:r>
            <a:endParaRPr sz="1800">
              <a:latin typeface="Arial"/>
              <a:cs typeface="Arial"/>
            </a:endParaRPr>
          </a:p>
          <a:p>
            <a:pPr marL="259715" indent="-247015">
              <a:lnSpc>
                <a:spcPct val="100000"/>
              </a:lnSpc>
              <a:spcBef>
                <a:spcPts val="15"/>
              </a:spcBef>
              <a:buChar char="-"/>
              <a:tabLst>
                <a:tab pos="259715" algn="l"/>
              </a:tabLst>
            </a:pPr>
            <a:r>
              <a:rPr sz="1800" dirty="0">
                <a:latin typeface="Arial"/>
                <a:cs typeface="Arial"/>
              </a:rPr>
              <a:t>Both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purpose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1482" y="2414550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ReplicaSet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4841" y="2414550"/>
            <a:ext cx="2210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Replication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Controller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78010" y="2818266"/>
            <a:ext cx="41275" cy="714375"/>
            <a:chOff x="2678010" y="2818266"/>
            <a:chExt cx="41275" cy="714375"/>
          </a:xfrm>
        </p:grpSpPr>
        <p:sp>
          <p:nvSpPr>
            <p:cNvPr id="7" name="object 7"/>
            <p:cNvSpPr/>
            <p:nvPr/>
          </p:nvSpPr>
          <p:spPr>
            <a:xfrm>
              <a:off x="2685143" y="2823029"/>
              <a:ext cx="13970" cy="661670"/>
            </a:xfrm>
            <a:custGeom>
              <a:avLst/>
              <a:gdLst/>
              <a:ahLst/>
              <a:cxnLst/>
              <a:rect l="l" t="t" r="r" b="b"/>
              <a:pathLst>
                <a:path w="13969" h="661670">
                  <a:moveTo>
                    <a:pt x="0" y="0"/>
                  </a:moveTo>
                  <a:lnTo>
                    <a:pt x="13359" y="66131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82773" y="348402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02" y="43534"/>
                  </a:moveTo>
                  <a:lnTo>
                    <a:pt x="0" y="635"/>
                  </a:lnTo>
                  <a:lnTo>
                    <a:pt x="31458" y="0"/>
                  </a:lnTo>
                  <a:lnTo>
                    <a:pt x="16602" y="4353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2773" y="348402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35"/>
                  </a:moveTo>
                  <a:lnTo>
                    <a:pt x="16602" y="43534"/>
                  </a:lnTo>
                  <a:lnTo>
                    <a:pt x="31458" y="0"/>
                  </a:lnTo>
                  <a:lnTo>
                    <a:pt x="0" y="63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566352" y="2762863"/>
            <a:ext cx="41275" cy="714375"/>
            <a:chOff x="5566352" y="2762863"/>
            <a:chExt cx="41275" cy="714375"/>
          </a:xfrm>
        </p:grpSpPr>
        <p:sp>
          <p:nvSpPr>
            <p:cNvPr id="11" name="object 11"/>
            <p:cNvSpPr/>
            <p:nvPr/>
          </p:nvSpPr>
          <p:spPr>
            <a:xfrm>
              <a:off x="5573485" y="2767626"/>
              <a:ext cx="13970" cy="661670"/>
            </a:xfrm>
            <a:custGeom>
              <a:avLst/>
              <a:gdLst/>
              <a:ahLst/>
              <a:cxnLst/>
              <a:rect l="l" t="t" r="r" b="b"/>
              <a:pathLst>
                <a:path w="13970" h="661670">
                  <a:moveTo>
                    <a:pt x="0" y="0"/>
                  </a:moveTo>
                  <a:lnTo>
                    <a:pt x="13359" y="66131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71115" y="34286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02" y="43534"/>
                  </a:moveTo>
                  <a:lnTo>
                    <a:pt x="0" y="635"/>
                  </a:lnTo>
                  <a:lnTo>
                    <a:pt x="31459" y="0"/>
                  </a:lnTo>
                  <a:lnTo>
                    <a:pt x="16602" y="4353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71115" y="34286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35"/>
                  </a:moveTo>
                  <a:lnTo>
                    <a:pt x="16602" y="43534"/>
                  </a:lnTo>
                  <a:lnTo>
                    <a:pt x="31459" y="0"/>
                  </a:lnTo>
                  <a:lnTo>
                    <a:pt x="0" y="63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52625" y="3702886"/>
            <a:ext cx="208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Set-</a:t>
            </a:r>
            <a:r>
              <a:rPr sz="1800" dirty="0">
                <a:latin typeface="Arial"/>
                <a:cs typeface="Arial"/>
              </a:rPr>
              <a:t>based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8396" y="3687005"/>
            <a:ext cx="2553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Equality-</a:t>
            </a:r>
            <a:r>
              <a:rPr sz="1800" dirty="0">
                <a:latin typeface="Arial"/>
                <a:cs typeface="Arial"/>
              </a:rPr>
              <a:t>based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Selectors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/>
              <a:t>Labels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Selectors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dirty="0">
                <a:solidFill>
                  <a:srgbClr val="000000"/>
                </a:solidFill>
              </a:rPr>
              <a:t>When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Pods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are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scaled,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how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are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these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Pods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Managed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at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such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large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scale?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2796494" y="1850931"/>
            <a:ext cx="1868170" cy="2609850"/>
            <a:chOff x="2796494" y="1850931"/>
            <a:chExt cx="1868170" cy="2609850"/>
          </a:xfrm>
        </p:grpSpPr>
        <p:sp>
          <p:nvSpPr>
            <p:cNvPr id="4" name="object 4"/>
            <p:cNvSpPr/>
            <p:nvPr/>
          </p:nvSpPr>
          <p:spPr>
            <a:xfrm>
              <a:off x="3720352" y="1855693"/>
              <a:ext cx="518159" cy="2600325"/>
            </a:xfrm>
            <a:custGeom>
              <a:avLst/>
              <a:gdLst/>
              <a:ahLst/>
              <a:cxnLst/>
              <a:rect l="l" t="t" r="r" b="b"/>
              <a:pathLst>
                <a:path w="518160" h="2600325">
                  <a:moveTo>
                    <a:pt x="0" y="0"/>
                  </a:moveTo>
                  <a:lnTo>
                    <a:pt x="68828" y="1541"/>
                  </a:lnTo>
                  <a:lnTo>
                    <a:pt x="130676" y="5891"/>
                  </a:lnTo>
                  <a:lnTo>
                    <a:pt x="183076" y="12638"/>
                  </a:lnTo>
                  <a:lnTo>
                    <a:pt x="223560" y="21371"/>
                  </a:lnTo>
                  <a:lnTo>
                    <a:pt x="249660" y="31678"/>
                  </a:lnTo>
                  <a:lnTo>
                    <a:pt x="258908" y="43149"/>
                  </a:lnTo>
                  <a:lnTo>
                    <a:pt x="258908" y="1256732"/>
                  </a:lnTo>
                  <a:lnTo>
                    <a:pt x="268157" y="1268203"/>
                  </a:lnTo>
                  <a:lnTo>
                    <a:pt x="334741" y="1287244"/>
                  </a:lnTo>
                  <a:lnTo>
                    <a:pt x="387141" y="1293991"/>
                  </a:lnTo>
                  <a:lnTo>
                    <a:pt x="448989" y="1298341"/>
                  </a:lnTo>
                  <a:lnTo>
                    <a:pt x="517817" y="1299882"/>
                  </a:lnTo>
                  <a:lnTo>
                    <a:pt x="448989" y="1301423"/>
                  </a:lnTo>
                  <a:lnTo>
                    <a:pt x="387141" y="1305773"/>
                  </a:lnTo>
                  <a:lnTo>
                    <a:pt x="334741" y="1312520"/>
                  </a:lnTo>
                  <a:lnTo>
                    <a:pt x="294257" y="1321253"/>
                  </a:lnTo>
                  <a:lnTo>
                    <a:pt x="258908" y="1343032"/>
                  </a:lnTo>
                  <a:lnTo>
                    <a:pt x="258908" y="2556615"/>
                  </a:lnTo>
                  <a:lnTo>
                    <a:pt x="249660" y="2568086"/>
                  </a:lnTo>
                  <a:lnTo>
                    <a:pt x="223560" y="2578393"/>
                  </a:lnTo>
                  <a:lnTo>
                    <a:pt x="183076" y="2587126"/>
                  </a:lnTo>
                  <a:lnTo>
                    <a:pt x="130676" y="2593873"/>
                  </a:lnTo>
                  <a:lnTo>
                    <a:pt x="68828" y="2598223"/>
                  </a:lnTo>
                  <a:lnTo>
                    <a:pt x="0" y="25997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01256" y="2185970"/>
              <a:ext cx="1815464" cy="1341120"/>
            </a:xfrm>
            <a:custGeom>
              <a:avLst/>
              <a:gdLst/>
              <a:ahLst/>
              <a:cxnLst/>
              <a:rect l="l" t="t" r="r" b="b"/>
              <a:pathLst>
                <a:path w="1815464" h="1341120">
                  <a:moveTo>
                    <a:pt x="0" y="1340999"/>
                  </a:moveTo>
                  <a:lnTo>
                    <a:pt x="936149" y="1340999"/>
                  </a:lnTo>
                  <a:lnTo>
                    <a:pt x="936149" y="0"/>
                  </a:lnTo>
                  <a:lnTo>
                    <a:pt x="18151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6406" y="21702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6406" y="21702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89449" y="1318841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2908" y="1363664"/>
            <a:ext cx="228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Controllers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835" y="1749399"/>
            <a:ext cx="1309370" cy="247459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spc="-10" dirty="0">
                <a:latin typeface="Arial"/>
                <a:cs typeface="Arial"/>
              </a:rPr>
              <a:t>Labels</a:t>
            </a:r>
            <a:endParaRPr sz="1800">
              <a:latin typeface="Arial"/>
              <a:cs typeface="Arial"/>
            </a:endParaRPr>
          </a:p>
          <a:p>
            <a:pPr marL="60325" marR="284480">
              <a:lnSpc>
                <a:spcPts val="1430"/>
              </a:lnSpc>
              <a:spcBef>
                <a:spcPts val="630"/>
              </a:spcBef>
            </a:pPr>
            <a:r>
              <a:rPr sz="1200" dirty="0">
                <a:latin typeface="Arial"/>
                <a:cs typeface="Arial"/>
              </a:rPr>
              <a:t>#Pod-</a:t>
            </a:r>
            <a:r>
              <a:rPr sz="1200" spc="-20" dirty="0">
                <a:latin typeface="Arial"/>
                <a:cs typeface="Arial"/>
              </a:rPr>
              <a:t>Spec </a:t>
            </a:r>
            <a:r>
              <a:rPr sz="1200" spc="-10" dirty="0">
                <a:latin typeface="Arial"/>
                <a:cs typeface="Arial"/>
              </a:rPr>
              <a:t>apiVersion: </a:t>
            </a:r>
            <a:r>
              <a:rPr sz="1200" spc="-25" dirty="0">
                <a:latin typeface="Arial"/>
                <a:cs typeface="Arial"/>
              </a:rPr>
              <a:t>v1 </a:t>
            </a:r>
            <a:r>
              <a:rPr sz="1200" dirty="0">
                <a:latin typeface="Arial"/>
                <a:cs typeface="Arial"/>
              </a:rPr>
              <a:t>kind:</a:t>
            </a:r>
            <a:r>
              <a:rPr sz="1200" spc="-25" dirty="0">
                <a:latin typeface="Arial"/>
                <a:cs typeface="Arial"/>
              </a:rPr>
              <a:t> pod </a:t>
            </a:r>
            <a:r>
              <a:rPr sz="1200" spc="-10" dirty="0">
                <a:latin typeface="Arial"/>
                <a:cs typeface="Arial"/>
              </a:rPr>
              <a:t>metadata: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ts val="1355"/>
              </a:lnSpc>
            </a:pPr>
            <a:r>
              <a:rPr sz="1200" dirty="0">
                <a:latin typeface="Arial"/>
                <a:cs typeface="Arial"/>
              </a:rPr>
              <a:t>name: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nginx-</a:t>
            </a: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ts val="1425"/>
              </a:lnSpc>
            </a:pPr>
            <a:r>
              <a:rPr sz="1200" spc="-10" dirty="0">
                <a:latin typeface="Arial"/>
                <a:cs typeface="Arial"/>
              </a:rPr>
              <a:t>labels:</a:t>
            </a:r>
            <a:endParaRPr sz="1200">
              <a:latin typeface="Arial"/>
              <a:cs typeface="Arial"/>
            </a:endParaRPr>
          </a:p>
          <a:p>
            <a:pPr marL="229235" marR="2984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Arial"/>
                <a:cs typeface="Arial"/>
              </a:rPr>
              <a:t>app: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guestbook </a:t>
            </a:r>
            <a:r>
              <a:rPr sz="1200" dirty="0">
                <a:latin typeface="Arial"/>
                <a:cs typeface="Arial"/>
              </a:rPr>
              <a:t>tier: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frontend </a:t>
            </a:r>
            <a:r>
              <a:rPr sz="1200" dirty="0">
                <a:latin typeface="Arial"/>
                <a:cs typeface="Arial"/>
              </a:rPr>
              <a:t>env: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dev</a:t>
            </a:r>
            <a:endParaRPr sz="1200">
              <a:latin typeface="Arial"/>
              <a:cs typeface="Arial"/>
            </a:endParaRPr>
          </a:p>
          <a:p>
            <a:pPr marL="60325">
              <a:lnSpc>
                <a:spcPts val="1360"/>
              </a:lnSpc>
            </a:pPr>
            <a:r>
              <a:rPr sz="1200" spc="-10" dirty="0">
                <a:latin typeface="Arial"/>
                <a:cs typeface="Arial"/>
              </a:rPr>
              <a:t>spec: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ts val="1435"/>
              </a:lnSpc>
            </a:pPr>
            <a:r>
              <a:rPr sz="1200" dirty="0">
                <a:latin typeface="Arial"/>
                <a:cs typeface="Arial"/>
              </a:rPr>
              <a:t>replicas: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5..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94437" y="2018558"/>
            <a:ext cx="978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Selectors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92187" y="3247908"/>
            <a:ext cx="251460" cy="711200"/>
          </a:xfrm>
          <a:custGeom>
            <a:avLst/>
            <a:gdLst/>
            <a:ahLst/>
            <a:cxnLst/>
            <a:rect l="l" t="t" r="r" b="b"/>
            <a:pathLst>
              <a:path w="251460" h="711200">
                <a:moveTo>
                  <a:pt x="0" y="0"/>
                </a:moveTo>
                <a:lnTo>
                  <a:pt x="48935" y="1646"/>
                </a:lnTo>
                <a:lnTo>
                  <a:pt x="88897" y="6136"/>
                </a:lnTo>
                <a:lnTo>
                  <a:pt x="115839" y="12796"/>
                </a:lnTo>
                <a:lnTo>
                  <a:pt x="125719" y="20952"/>
                </a:lnTo>
                <a:lnTo>
                  <a:pt x="125719" y="334647"/>
                </a:lnTo>
                <a:lnTo>
                  <a:pt x="135599" y="342803"/>
                </a:lnTo>
                <a:lnTo>
                  <a:pt x="162542" y="349463"/>
                </a:lnTo>
                <a:lnTo>
                  <a:pt x="202503" y="353953"/>
                </a:lnTo>
                <a:lnTo>
                  <a:pt x="251439" y="355599"/>
                </a:lnTo>
                <a:lnTo>
                  <a:pt x="202503" y="357246"/>
                </a:lnTo>
                <a:lnTo>
                  <a:pt x="162542" y="361736"/>
                </a:lnTo>
                <a:lnTo>
                  <a:pt x="135599" y="368396"/>
                </a:lnTo>
                <a:lnTo>
                  <a:pt x="125719" y="376552"/>
                </a:lnTo>
                <a:lnTo>
                  <a:pt x="125719" y="690247"/>
                </a:lnTo>
                <a:lnTo>
                  <a:pt x="115839" y="698403"/>
                </a:lnTo>
                <a:lnTo>
                  <a:pt x="88897" y="705063"/>
                </a:lnTo>
                <a:lnTo>
                  <a:pt x="48935" y="709553"/>
                </a:lnTo>
                <a:lnTo>
                  <a:pt x="0" y="711199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407035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Equality-</a:t>
            </a:r>
            <a:r>
              <a:rPr dirty="0"/>
              <a:t>based</a:t>
            </a:r>
            <a:r>
              <a:rPr spc="30" dirty="0"/>
              <a:t> </a:t>
            </a:r>
            <a:r>
              <a:rPr spc="-10" dirty="0"/>
              <a:t>Selectors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5612" y="249500"/>
            <a:ext cx="331851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10" dirty="0">
                <a:solidFill>
                  <a:srgbClr val="FFAB40"/>
                </a:solidFill>
                <a:latin typeface="Arial"/>
                <a:cs typeface="Arial"/>
              </a:rPr>
              <a:t>Set-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based</a:t>
            </a:r>
            <a:r>
              <a:rPr sz="2850" spc="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FFAB40"/>
                </a:solidFill>
                <a:latin typeface="Arial"/>
                <a:cs typeface="Arial"/>
              </a:rPr>
              <a:t>Selectors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7313" y="537028"/>
            <a:ext cx="94615" cy="3788410"/>
          </a:xfrm>
          <a:custGeom>
            <a:avLst/>
            <a:gdLst/>
            <a:ahLst/>
            <a:cxnLst/>
            <a:rect l="l" t="t" r="r" b="b"/>
            <a:pathLst>
              <a:path w="94614" h="3788410">
                <a:moveTo>
                  <a:pt x="0" y="0"/>
                </a:moveTo>
                <a:lnTo>
                  <a:pt x="94342" y="3788227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0396" y="1050307"/>
            <a:ext cx="6248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Operators: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50396" y="1355107"/>
            <a:ext cx="530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==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396" y="1659907"/>
            <a:ext cx="617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Examples: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0396" y="1964707"/>
            <a:ext cx="14605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production </a:t>
            </a:r>
            <a:r>
              <a:rPr sz="1000" dirty="0">
                <a:latin typeface="Arial"/>
                <a:cs typeface="Arial"/>
              </a:rPr>
              <a:t>tier!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frontend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396" y="2421907"/>
            <a:ext cx="843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Commandline: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396" y="2726707"/>
            <a:ext cx="25273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$kubectl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pods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l</a:t>
            </a:r>
            <a:r>
              <a:rPr sz="1000" spc="-10" dirty="0">
                <a:latin typeface="Arial"/>
                <a:cs typeface="Arial"/>
              </a:rPr>
              <a:t> environment=production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0396" y="3183907"/>
            <a:ext cx="681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78909B"/>
                </a:solidFill>
                <a:latin typeface="Arial"/>
                <a:cs typeface="Arial"/>
              </a:rPr>
              <a:t>In</a:t>
            </a:r>
            <a:r>
              <a:rPr sz="1000" spc="-5" dirty="0">
                <a:solidFill>
                  <a:srgbClr val="78909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Manifest: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396" y="3488707"/>
            <a:ext cx="3326129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selector:</a:t>
            </a:r>
            <a:endParaRPr sz="1000">
              <a:latin typeface="Arial"/>
              <a:cs typeface="Arial"/>
            </a:endParaRPr>
          </a:p>
          <a:p>
            <a:pPr marL="82550" marR="1873885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production </a:t>
            </a:r>
            <a:r>
              <a:rPr sz="1000" dirty="0">
                <a:latin typeface="Arial"/>
                <a:cs typeface="Arial"/>
              </a:rPr>
              <a:t>tier: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frontend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494665">
              <a:lnSpc>
                <a:spcPct val="100000"/>
              </a:lnSpc>
              <a:spcBef>
                <a:spcPts val="505"/>
              </a:spcBef>
            </a:pPr>
            <a:r>
              <a:rPr sz="1200" dirty="0">
                <a:latin typeface="Arial"/>
                <a:cs typeface="Arial"/>
              </a:rPr>
              <a:t>Supports: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Services,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Replication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75010" y="1070643"/>
            <a:ext cx="6248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Operators: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75010" y="1375443"/>
            <a:ext cx="795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exists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75010" y="1680243"/>
            <a:ext cx="617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Examples: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5010" y="1985044"/>
            <a:ext cx="178053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(production,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qa) </a:t>
            </a:r>
            <a:r>
              <a:rPr sz="1000" dirty="0">
                <a:latin typeface="Arial"/>
                <a:cs typeface="Arial"/>
              </a:rPr>
              <a:t>tier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notin(frontend,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backend)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75010" y="2442244"/>
            <a:ext cx="843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Commandline: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75010" y="2747044"/>
            <a:ext cx="27127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$kubectl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pods</a:t>
            </a:r>
            <a:r>
              <a:rPr sz="1000" spc="-20" dirty="0">
                <a:latin typeface="Arial"/>
                <a:cs typeface="Arial"/>
              </a:rPr>
              <a:t> -</a:t>
            </a:r>
            <a:r>
              <a:rPr sz="1000" dirty="0">
                <a:latin typeface="Arial"/>
                <a:cs typeface="Arial"/>
              </a:rPr>
              <a:t>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`enviornment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in(production)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5010" y="3204244"/>
            <a:ext cx="681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78909B"/>
                </a:solidFill>
                <a:latin typeface="Arial"/>
                <a:cs typeface="Arial"/>
              </a:rPr>
              <a:t>In</a:t>
            </a:r>
            <a:r>
              <a:rPr sz="1000" spc="-5" dirty="0">
                <a:solidFill>
                  <a:srgbClr val="78909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Manifest: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5010" y="3509043"/>
            <a:ext cx="3872229" cy="108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selector:</a:t>
            </a:r>
            <a:endParaRPr sz="1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matchExpressions:</a:t>
            </a:r>
            <a:endParaRPr sz="1000">
              <a:latin typeface="Arial"/>
              <a:cs typeface="Arial"/>
            </a:endParaRPr>
          </a:p>
          <a:p>
            <a:pPr marL="229235" indent="-76200">
              <a:lnSpc>
                <a:spcPct val="100000"/>
              </a:lnSpc>
              <a:buChar char="-"/>
              <a:tabLst>
                <a:tab pos="229235" algn="l"/>
              </a:tabLst>
            </a:pPr>
            <a:r>
              <a:rPr sz="1000" spc="-10" dirty="0">
                <a:latin typeface="Arial"/>
                <a:cs typeface="Arial"/>
              </a:rPr>
              <a:t>{key:environment,operator:in,values:[prod,qa]}</a:t>
            </a:r>
            <a:endParaRPr sz="1000">
              <a:latin typeface="Arial"/>
              <a:cs typeface="Arial"/>
            </a:endParaRPr>
          </a:p>
          <a:p>
            <a:pPr marL="229235" indent="-76200">
              <a:lnSpc>
                <a:spcPct val="100000"/>
              </a:lnSpc>
              <a:buChar char="-"/>
              <a:tabLst>
                <a:tab pos="229235" algn="l"/>
              </a:tabLst>
            </a:pPr>
            <a:r>
              <a:rPr sz="1000" spc="-10" dirty="0">
                <a:latin typeface="Arial"/>
                <a:cs typeface="Arial"/>
              </a:rPr>
              <a:t>{key:tier,operator:Notin,values:[frontend,backend]}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060"/>
              </a:lnSpc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315595">
              <a:lnSpc>
                <a:spcPts val="1300"/>
              </a:lnSpc>
            </a:pPr>
            <a:r>
              <a:rPr sz="1200" dirty="0">
                <a:latin typeface="Arial"/>
                <a:cs typeface="Arial"/>
              </a:rPr>
              <a:t>Supports: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Job,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Deployment,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ReplicaSet,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DaemonSet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478" y="696686"/>
            <a:ext cx="7974691" cy="36494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Demo</a:t>
            </a:r>
            <a:r>
              <a:rPr spc="-5" dirty="0"/>
              <a:t> </a:t>
            </a:r>
            <a:r>
              <a:rPr dirty="0"/>
              <a:t>- </a:t>
            </a:r>
            <a:r>
              <a:rPr spc="-10" dirty="0"/>
              <a:t>ReplicaSet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293400"/>
            <a:ext cx="2854325" cy="215900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6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Manifest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44145" marR="5080" indent="-132080">
              <a:lnSpc>
                <a:spcPts val="2180"/>
              </a:lnSpc>
              <a:spcBef>
                <a:spcPts val="780"/>
              </a:spcBef>
              <a:buClr>
                <a:srgbClr val="FFAB40"/>
              </a:buClr>
              <a:buChar char="•"/>
              <a:tabLst>
                <a:tab pos="14541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Deploy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RS 	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Display</a:t>
            </a:r>
            <a:r>
              <a:rPr sz="2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validate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RS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484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Test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Fails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Down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2706" y="988382"/>
            <a:ext cx="1905249" cy="39107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ReplicaSet</a:t>
            </a:r>
            <a:r>
              <a:rPr spc="5" dirty="0"/>
              <a:t> </a:t>
            </a:r>
            <a:r>
              <a:rPr dirty="0"/>
              <a:t>Manifest</a:t>
            </a:r>
            <a:r>
              <a:rPr spc="15" dirty="0"/>
              <a:t> </a:t>
            </a:r>
            <a:r>
              <a:rPr spc="-20" dirty="0"/>
              <a:t>File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01625" y="83134"/>
            <a:ext cx="3805554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Creating</a:t>
            </a:r>
            <a:r>
              <a:rPr sz="2850" spc="-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Nginx-rs</a:t>
            </a:r>
            <a:r>
              <a:rPr sz="2850" spc="-1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20" dirty="0">
                <a:solidFill>
                  <a:srgbClr val="FFAB40"/>
                </a:solidFill>
                <a:latin typeface="Arial"/>
                <a:cs typeface="Arial"/>
              </a:rPr>
              <a:t>Pods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023" y="1102706"/>
            <a:ext cx="5693662" cy="10397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1625" y="623522"/>
            <a:ext cx="37884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$kubectl</a:t>
            </a:r>
            <a:r>
              <a:rPr sz="21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f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nginx-rs.yaml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023" y="2282854"/>
            <a:ext cx="7351936" cy="9175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023" y="3513121"/>
            <a:ext cx="7974846" cy="109516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369" y="1370855"/>
            <a:ext cx="6734630" cy="31758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Scaling</a:t>
            </a:r>
            <a:r>
              <a:rPr spc="-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Nginx</a:t>
            </a:r>
            <a:r>
              <a:rPr spc="5" dirty="0"/>
              <a:t> </a:t>
            </a:r>
            <a:r>
              <a:rPr spc="-10" dirty="0"/>
              <a:t>Service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087" y="933295"/>
            <a:ext cx="8395901" cy="6632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27324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</a:rPr>
              <a:t>Deployment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974214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311" y="1039512"/>
            <a:ext cx="8164830" cy="278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1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controller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provides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declarative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updates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Pods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ReplicaSets.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You</a:t>
            </a:r>
            <a:r>
              <a:rPr sz="1800" spc="-4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describe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desired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state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Deployment,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controller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changes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actual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state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desired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state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controlled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rate.</a:t>
            </a:r>
            <a:r>
              <a:rPr sz="1800" spc="-6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You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can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define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Deployments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create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new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ReplicaSets,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or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remove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existing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adopt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all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their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resources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with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new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 Deployments.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How</a:t>
            </a: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different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Replicaset?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ReplicaSet</a:t>
            </a: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doesn’t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provide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features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like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updates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&amp;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roll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backs.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558863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</a:t>
            </a:r>
            <a:r>
              <a:rPr spc="-160" dirty="0"/>
              <a:t> </a:t>
            </a:r>
            <a:r>
              <a:rPr dirty="0"/>
              <a:t>Single</a:t>
            </a:r>
            <a:r>
              <a:rPr spc="15" dirty="0"/>
              <a:t> </a:t>
            </a:r>
            <a:r>
              <a:rPr dirty="0"/>
              <a:t>Deployment</a:t>
            </a:r>
            <a:r>
              <a:rPr spc="5" dirty="0"/>
              <a:t> </a:t>
            </a:r>
            <a:r>
              <a:rPr dirty="0"/>
              <a:t>Manifest</a:t>
            </a:r>
            <a:r>
              <a:rPr spc="5" dirty="0"/>
              <a:t> </a:t>
            </a:r>
            <a:r>
              <a:rPr spc="-2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3023" y="1011330"/>
            <a:ext cx="2890886" cy="25889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28899" y="1950262"/>
            <a:ext cx="373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Pods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80304" y="875713"/>
            <a:ext cx="837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Deployment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2173" y="1338291"/>
            <a:ext cx="761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ReplicaSet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595" y="1463497"/>
            <a:ext cx="331406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Do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create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 different </a:t>
            </a:r>
            <a:r>
              <a:rPr sz="1800" dirty="0">
                <a:latin typeface="Arial"/>
                <a:cs typeface="Arial"/>
              </a:rPr>
              <a:t>manifest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these?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595" y="2568398"/>
            <a:ext cx="360108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Answer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“No”.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create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3 </a:t>
            </a:r>
            <a:r>
              <a:rPr sz="1800" dirty="0">
                <a:latin typeface="Arial"/>
                <a:cs typeface="Arial"/>
              </a:rPr>
              <a:t>different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objects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single </a:t>
            </a:r>
            <a:r>
              <a:rPr sz="1800" dirty="0">
                <a:latin typeface="Arial"/>
                <a:cs typeface="Arial"/>
              </a:rPr>
              <a:t>Deployment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manifest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625" y="1360075"/>
            <a:ext cx="2242820" cy="362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indent="-132080">
              <a:lnSpc>
                <a:spcPct val="100000"/>
              </a:lnSpc>
              <a:spcBef>
                <a:spcPts val="100"/>
              </a:spcBef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20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Replicas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52729" indent="-201930">
              <a:lnSpc>
                <a:spcPct val="100000"/>
              </a:lnSpc>
              <a:buClr>
                <a:srgbClr val="FFAB40"/>
              </a:buClr>
              <a:buChar char="•"/>
              <a:tabLst>
                <a:tab pos="252729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Upgrade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828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Rollback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828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Down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828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Pause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Resume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000" spc="-25" dirty="0">
                <a:solidFill>
                  <a:srgbClr val="FFAB40"/>
                </a:solidFill>
                <a:latin typeface="Arial"/>
                <a:cs typeface="Arial"/>
              </a:rPr>
              <a:t>74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Features</a:t>
            </a:r>
            <a:r>
              <a:rPr spc="7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Deployment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10" dirty="0"/>
              <a:t> </a:t>
            </a:r>
            <a:r>
              <a:rPr dirty="0"/>
              <a:t>Types</a:t>
            </a:r>
            <a:r>
              <a:rPr spc="-55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Recreate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625" y="1170142"/>
            <a:ext cx="144716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51460">
              <a:lnSpc>
                <a:spcPct val="100000"/>
              </a:lnSpc>
              <a:spcBef>
                <a:spcPts val="100"/>
              </a:spcBef>
              <a:buChar char="•"/>
              <a:tabLst>
                <a:tab pos="297815" algn="l"/>
              </a:tabLst>
            </a:pPr>
            <a:r>
              <a:rPr sz="1800" spc="-10" dirty="0">
                <a:latin typeface="Arial"/>
                <a:cs typeface="Arial"/>
              </a:rPr>
              <a:t>Recreate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625" y="2278090"/>
            <a:ext cx="4822190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Arial"/>
                <a:cs typeface="Arial"/>
              </a:rPr>
              <a:t>Shutting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down</a:t>
            </a:r>
            <a:r>
              <a:rPr sz="1200" spc="-10" dirty="0">
                <a:latin typeface="Arial"/>
                <a:cs typeface="Arial"/>
              </a:rPr>
              <a:t> 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making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sure,</a:t>
            </a:r>
            <a:r>
              <a:rPr sz="1200" spc="-10" dirty="0">
                <a:latin typeface="Arial"/>
                <a:cs typeface="Arial"/>
              </a:rPr>
              <a:t> 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turned</a:t>
            </a:r>
            <a:r>
              <a:rPr sz="1200" spc="-10" dirty="0">
                <a:latin typeface="Arial"/>
                <a:cs typeface="Arial"/>
              </a:rPr>
              <a:t> off...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bringing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5" dirty="0">
                <a:latin typeface="Arial"/>
                <a:cs typeface="Arial"/>
              </a:rPr>
              <a:t> B.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625" y="2913217"/>
            <a:ext cx="3460750" cy="1033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Demerits: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00"/>
              </a:lnSpc>
              <a:spcBef>
                <a:spcPts val="1810"/>
              </a:spcBef>
            </a:pPr>
            <a:r>
              <a:rPr sz="1200" dirty="0">
                <a:latin typeface="Arial"/>
                <a:cs typeface="Arial"/>
              </a:rPr>
              <a:t>During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downtime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service. </a:t>
            </a:r>
            <a:r>
              <a:rPr sz="1200" dirty="0">
                <a:latin typeface="Arial"/>
                <a:cs typeface="Arial"/>
              </a:rPr>
              <a:t>Easy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setup</a:t>
            </a:r>
            <a:r>
              <a:rPr sz="1800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892" y="4751542"/>
            <a:ext cx="143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spc="-10" dirty="0">
                <a:latin typeface="Arial"/>
                <a:cs typeface="Arial"/>
              </a:rPr>
              <a:t>Blue/Green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05" dirty="0"/>
              <a:t> </a:t>
            </a:r>
            <a:r>
              <a:rPr dirty="0"/>
              <a:t>Type</a:t>
            </a:r>
            <a:r>
              <a:rPr spc="-5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Rolling</a:t>
            </a:r>
            <a:r>
              <a:rPr spc="-50" dirty="0"/>
              <a:t> </a:t>
            </a:r>
            <a:r>
              <a:rPr spc="-10" dirty="0"/>
              <a:t>Updates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892" y="1170142"/>
            <a:ext cx="425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dirty="0">
                <a:latin typeface="Arial"/>
                <a:cs typeface="Arial"/>
              </a:rPr>
              <a:t>RollingUpdate(Ramped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Incremental)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074" y="2001865"/>
            <a:ext cx="378269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indent="-259715">
              <a:lnSpc>
                <a:spcPts val="1430"/>
              </a:lnSpc>
              <a:spcBef>
                <a:spcPts val="100"/>
              </a:spcBef>
              <a:buChar char="-"/>
              <a:tabLst>
                <a:tab pos="272415" algn="l"/>
              </a:tabLst>
            </a:pPr>
            <a:r>
              <a:rPr sz="1200" dirty="0">
                <a:latin typeface="Arial"/>
                <a:cs typeface="Arial"/>
              </a:rPr>
              <a:t>Default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updating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strategy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Kubernetes.</a:t>
            </a:r>
            <a:endParaRPr sz="1200">
              <a:latin typeface="Arial"/>
              <a:cs typeface="Arial"/>
            </a:endParaRPr>
          </a:p>
          <a:p>
            <a:pPr marL="272415" indent="-259715">
              <a:lnSpc>
                <a:spcPts val="1435"/>
              </a:lnSpc>
              <a:buChar char="-"/>
              <a:tabLst>
                <a:tab pos="272415" algn="l"/>
              </a:tabLst>
            </a:pPr>
            <a:r>
              <a:rPr sz="1200" dirty="0">
                <a:latin typeface="Arial"/>
                <a:cs typeface="Arial"/>
              </a:rPr>
              <a:t>It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take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sometime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complete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update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625" y="2636992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625" y="3192490"/>
            <a:ext cx="7616825" cy="93218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154305">
              <a:lnSpc>
                <a:spcPts val="1420"/>
              </a:lnSpc>
              <a:spcBef>
                <a:spcPts val="165"/>
              </a:spcBef>
            </a:pPr>
            <a:r>
              <a:rPr sz="1200" dirty="0">
                <a:latin typeface="Arial"/>
                <a:cs typeface="Arial"/>
              </a:rPr>
              <a:t>Slowly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rollout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app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replacing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after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other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until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successfully </a:t>
            </a:r>
            <a:r>
              <a:rPr sz="1200" dirty="0">
                <a:latin typeface="Arial"/>
                <a:cs typeface="Arial"/>
              </a:rPr>
              <a:t>rolled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out.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</a:pPr>
            <a:r>
              <a:rPr sz="1200" dirty="0">
                <a:latin typeface="Arial"/>
                <a:cs typeface="Arial"/>
              </a:rPr>
              <a:t>Assume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10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which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running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behind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LB.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update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strategy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starts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with </a:t>
            </a:r>
            <a:r>
              <a:rPr sz="1200" dirty="0">
                <a:latin typeface="Arial"/>
                <a:cs typeface="Arial"/>
              </a:rPr>
              <a:t>one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deployed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When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ready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accept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traffic,</a:t>
            </a:r>
            <a:r>
              <a:rPr sz="1200" spc="3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is </a:t>
            </a:r>
            <a:r>
              <a:rPr sz="1200" dirty="0">
                <a:latin typeface="Arial"/>
                <a:cs typeface="Arial"/>
              </a:rPr>
              <a:t>removed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pool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10" dirty="0"/>
              <a:t> </a:t>
            </a:r>
            <a:r>
              <a:rPr dirty="0"/>
              <a:t>Type</a:t>
            </a:r>
            <a:r>
              <a:rPr spc="-6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spc="-10" dirty="0"/>
              <a:t>Canary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205" y="1170140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spc="-10" dirty="0">
                <a:latin typeface="Arial"/>
                <a:cs typeface="Arial"/>
              </a:rPr>
              <a:t>Canary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387" y="2001864"/>
            <a:ext cx="689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sz="1200" spc="-50" dirty="0">
                <a:latin typeface="Arial"/>
                <a:cs typeface="Arial"/>
              </a:rPr>
              <a:t>-</a:t>
            </a:r>
            <a:r>
              <a:rPr sz="1200" dirty="0">
                <a:latin typeface="Arial"/>
                <a:cs typeface="Arial"/>
              </a:rPr>
              <a:t>	Ideal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deployment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method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someone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want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newer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before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100%.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937" y="2456015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937" y="3011514"/>
            <a:ext cx="7731759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This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method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about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gradually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shifting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production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traffic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</a:pPr>
            <a:r>
              <a:rPr sz="1200" dirty="0">
                <a:latin typeface="Arial"/>
                <a:cs typeface="Arial"/>
              </a:rPr>
              <a:t>Lets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imagine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about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10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app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running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inside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cluster.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You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Canary </a:t>
            </a:r>
            <a:r>
              <a:rPr sz="1200" dirty="0">
                <a:latin typeface="Arial"/>
                <a:cs typeface="Arial"/>
              </a:rPr>
              <a:t>deployment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dont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want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upgrade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instances.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Let's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say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upgraded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some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testing.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results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good,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upgrade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remaining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8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B. </a:t>
            </a:r>
            <a:r>
              <a:rPr sz="1200" spc="-10" dirty="0">
                <a:latin typeface="Arial"/>
                <a:cs typeface="Arial"/>
              </a:rPr>
              <a:t>Say,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ready,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completely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shut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down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00" dirty="0"/>
              <a:t> </a:t>
            </a:r>
            <a:r>
              <a:rPr dirty="0"/>
              <a:t>Type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Blue</a:t>
            </a:r>
            <a:r>
              <a:rPr spc="-45" dirty="0"/>
              <a:t> </a:t>
            </a:r>
            <a:r>
              <a:rPr spc="-10" dirty="0"/>
              <a:t>Green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892" y="1170142"/>
            <a:ext cx="143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dirty="0">
                <a:latin typeface="Arial"/>
                <a:cs typeface="Arial"/>
              </a:rPr>
              <a:t>Blue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Green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074" y="1725640"/>
            <a:ext cx="2308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sz="1200" spc="-50" dirty="0">
                <a:latin typeface="Arial"/>
                <a:cs typeface="Arial"/>
              </a:rPr>
              <a:t>-</a:t>
            </a:r>
            <a:r>
              <a:rPr sz="1200" dirty="0">
                <a:latin typeface="Arial"/>
                <a:cs typeface="Arial"/>
              </a:rPr>
              <a:t>	Instance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out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back.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625" y="2456017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625" y="3011515"/>
            <a:ext cx="7322820" cy="7512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Arial"/>
                <a:cs typeface="Arial"/>
              </a:rPr>
              <a:t>Using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method,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B(which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GREEN)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along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A(which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BLUE)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exactly </a:t>
            </a:r>
            <a:r>
              <a:rPr sz="1200" dirty="0">
                <a:latin typeface="Arial"/>
                <a:cs typeface="Arial"/>
              </a:rPr>
              <a:t>same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amount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instances.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65"/>
              </a:lnSpc>
            </a:pPr>
            <a:r>
              <a:rPr sz="1200" dirty="0">
                <a:latin typeface="Arial"/>
                <a:cs typeface="Arial"/>
              </a:rPr>
              <a:t>After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new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requirement,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traffic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switched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LB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latin typeface="Arial"/>
                <a:cs typeface="Arial"/>
              </a:rPr>
              <a:t>level.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Demo</a:t>
            </a:r>
            <a:r>
              <a:rPr spc="-5" dirty="0"/>
              <a:t> </a:t>
            </a:r>
            <a:r>
              <a:rPr dirty="0"/>
              <a:t>- </a:t>
            </a:r>
            <a:r>
              <a:rPr spc="-1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423" y="1123014"/>
            <a:ext cx="2590800" cy="306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Manifest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Deploy</a:t>
            </a:r>
            <a:r>
              <a:rPr sz="1800" spc="-1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app</a:t>
            </a:r>
            <a:r>
              <a:rPr sz="1800" spc="-1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3636C"/>
                </a:solidFill>
                <a:latin typeface="Arial"/>
                <a:cs typeface="Arial"/>
              </a:rPr>
              <a:t>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Display</a:t>
            </a:r>
            <a:r>
              <a:rPr sz="1800" spc="-3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validate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3636C"/>
                </a:solidFill>
                <a:latin typeface="Arial"/>
                <a:cs typeface="Arial"/>
              </a:rPr>
              <a:t>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47320" indent="-134620">
              <a:lnSpc>
                <a:spcPct val="100000"/>
              </a:lnSpc>
              <a:buChar char="-"/>
              <a:tabLst>
                <a:tab pos="147320" algn="l"/>
              </a:tabLst>
            </a:pP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Test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–</a:t>
            </a: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Node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3636C"/>
                </a:solidFill>
                <a:latin typeface="Arial"/>
                <a:cs typeface="Arial"/>
              </a:rPr>
              <a:t>Fails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297815" indent="-2470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Test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–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Scale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3636C"/>
                </a:solidFill>
                <a:latin typeface="Arial"/>
                <a:cs typeface="Arial"/>
              </a:rPr>
              <a:t>Up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47320" indent="-134620">
              <a:lnSpc>
                <a:spcPct val="100000"/>
              </a:lnSpc>
              <a:buChar char="-"/>
              <a:tabLst>
                <a:tab pos="147320" algn="l"/>
              </a:tabLst>
            </a:pP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Test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–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Scale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Down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5" dirty="0"/>
              <a:t> </a:t>
            </a:r>
            <a:r>
              <a:rPr dirty="0"/>
              <a:t>Manifest</a:t>
            </a:r>
            <a:r>
              <a:rPr spc="15" dirty="0"/>
              <a:t> </a:t>
            </a:r>
            <a:r>
              <a:rPr spc="-2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979" y="880488"/>
            <a:ext cx="2531320" cy="38527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67461" y="2083633"/>
            <a:ext cx="584835" cy="1402080"/>
          </a:xfrm>
          <a:custGeom>
            <a:avLst/>
            <a:gdLst/>
            <a:ahLst/>
            <a:cxnLst/>
            <a:rect l="l" t="t" r="r" b="b"/>
            <a:pathLst>
              <a:path w="584835" h="1402079">
                <a:moveTo>
                  <a:pt x="0" y="0"/>
                </a:moveTo>
                <a:lnTo>
                  <a:pt x="77707" y="1740"/>
                </a:lnTo>
                <a:lnTo>
                  <a:pt x="147533" y="6651"/>
                </a:lnTo>
                <a:lnTo>
                  <a:pt x="206693" y="14268"/>
                </a:lnTo>
                <a:lnTo>
                  <a:pt x="252399" y="24128"/>
                </a:lnTo>
                <a:lnTo>
                  <a:pt x="281867" y="35765"/>
                </a:lnTo>
                <a:lnTo>
                  <a:pt x="292308" y="48716"/>
                </a:lnTo>
                <a:lnTo>
                  <a:pt x="292308" y="652073"/>
                </a:lnTo>
                <a:lnTo>
                  <a:pt x="302750" y="665024"/>
                </a:lnTo>
                <a:lnTo>
                  <a:pt x="377923" y="686521"/>
                </a:lnTo>
                <a:lnTo>
                  <a:pt x="437083" y="694138"/>
                </a:lnTo>
                <a:lnTo>
                  <a:pt x="506909" y="699049"/>
                </a:lnTo>
                <a:lnTo>
                  <a:pt x="584617" y="700789"/>
                </a:lnTo>
                <a:lnTo>
                  <a:pt x="506909" y="702530"/>
                </a:lnTo>
                <a:lnTo>
                  <a:pt x="437083" y="707441"/>
                </a:lnTo>
                <a:lnTo>
                  <a:pt x="377923" y="715058"/>
                </a:lnTo>
                <a:lnTo>
                  <a:pt x="332217" y="724918"/>
                </a:lnTo>
                <a:lnTo>
                  <a:pt x="292308" y="749505"/>
                </a:lnTo>
                <a:lnTo>
                  <a:pt x="292308" y="1352863"/>
                </a:lnTo>
                <a:lnTo>
                  <a:pt x="281867" y="1365814"/>
                </a:lnTo>
                <a:lnTo>
                  <a:pt x="252399" y="1377451"/>
                </a:lnTo>
                <a:lnTo>
                  <a:pt x="206693" y="1387311"/>
                </a:lnTo>
                <a:lnTo>
                  <a:pt x="147533" y="1394928"/>
                </a:lnTo>
                <a:lnTo>
                  <a:pt x="77707" y="1399839"/>
                </a:lnTo>
                <a:lnTo>
                  <a:pt x="0" y="1401579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67461" y="3570156"/>
            <a:ext cx="584835" cy="1198880"/>
          </a:xfrm>
          <a:custGeom>
            <a:avLst/>
            <a:gdLst/>
            <a:ahLst/>
            <a:cxnLst/>
            <a:rect l="l" t="t" r="r" b="b"/>
            <a:pathLst>
              <a:path w="584835" h="1198879">
                <a:moveTo>
                  <a:pt x="0" y="0"/>
                </a:moveTo>
                <a:lnTo>
                  <a:pt x="77707" y="1740"/>
                </a:lnTo>
                <a:lnTo>
                  <a:pt x="147533" y="6651"/>
                </a:lnTo>
                <a:lnTo>
                  <a:pt x="206693" y="14268"/>
                </a:lnTo>
                <a:lnTo>
                  <a:pt x="252399" y="24128"/>
                </a:lnTo>
                <a:lnTo>
                  <a:pt x="281867" y="35765"/>
                </a:lnTo>
                <a:lnTo>
                  <a:pt x="292308" y="48715"/>
                </a:lnTo>
                <a:lnTo>
                  <a:pt x="292308" y="550456"/>
                </a:lnTo>
                <a:lnTo>
                  <a:pt x="302750" y="563407"/>
                </a:lnTo>
                <a:lnTo>
                  <a:pt x="377923" y="584904"/>
                </a:lnTo>
                <a:lnTo>
                  <a:pt x="437083" y="592521"/>
                </a:lnTo>
                <a:lnTo>
                  <a:pt x="506909" y="597432"/>
                </a:lnTo>
                <a:lnTo>
                  <a:pt x="584617" y="599172"/>
                </a:lnTo>
                <a:lnTo>
                  <a:pt x="506909" y="600913"/>
                </a:lnTo>
                <a:lnTo>
                  <a:pt x="437083" y="605824"/>
                </a:lnTo>
                <a:lnTo>
                  <a:pt x="377923" y="613441"/>
                </a:lnTo>
                <a:lnTo>
                  <a:pt x="332217" y="623301"/>
                </a:lnTo>
                <a:lnTo>
                  <a:pt x="292308" y="647888"/>
                </a:lnTo>
                <a:lnTo>
                  <a:pt x="292308" y="1149629"/>
                </a:lnTo>
                <a:lnTo>
                  <a:pt x="281867" y="1162580"/>
                </a:lnTo>
                <a:lnTo>
                  <a:pt x="252399" y="1174217"/>
                </a:lnTo>
                <a:lnTo>
                  <a:pt x="206693" y="1184077"/>
                </a:lnTo>
                <a:lnTo>
                  <a:pt x="147533" y="1191694"/>
                </a:lnTo>
                <a:lnTo>
                  <a:pt x="77707" y="1196605"/>
                </a:lnTo>
                <a:lnTo>
                  <a:pt x="0" y="1198345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62382" y="2534603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ReplicaSet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998267" y="3999386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Pods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27" y="1064903"/>
            <a:ext cx="8309429" cy="1268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26" y="2514007"/>
            <a:ext cx="8309429" cy="10231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 =&gt;</a:t>
            </a:r>
            <a:r>
              <a:rPr spc="-5" dirty="0"/>
              <a:t> </a:t>
            </a:r>
            <a:r>
              <a:rPr dirty="0"/>
              <a:t>Pods</a:t>
            </a:r>
            <a:r>
              <a:rPr spc="10" dirty="0"/>
              <a:t> </a:t>
            </a:r>
            <a:r>
              <a:rPr dirty="0"/>
              <a:t>+</a:t>
            </a:r>
            <a:r>
              <a:rPr spc="-5" dirty="0"/>
              <a:t> </a:t>
            </a:r>
            <a:r>
              <a:rPr spc="-10" dirty="0"/>
              <a:t>ReplicaSet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796" y="1443436"/>
            <a:ext cx="4373307" cy="14176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3023" y="1011330"/>
            <a:ext cx="2890886" cy="25889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80304" y="875713"/>
            <a:ext cx="83756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Deployment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2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ReplicaSet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</a:pPr>
            <a:r>
              <a:rPr sz="1200" spc="-20" dirty="0">
                <a:latin typeface="Arial"/>
                <a:cs typeface="Arial"/>
              </a:rPr>
              <a:t>Pods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973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515"/>
              </a:spcBef>
            </a:pPr>
            <a:r>
              <a:rPr dirty="0"/>
              <a:t>3</a:t>
            </a:r>
            <a:r>
              <a:rPr spc="20" dirty="0"/>
              <a:t> </a:t>
            </a:r>
            <a:r>
              <a:rPr dirty="0"/>
              <a:t>Instances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same</a:t>
            </a:r>
            <a:r>
              <a:rPr spc="20" dirty="0"/>
              <a:t> </a:t>
            </a:r>
            <a:r>
              <a:rPr dirty="0"/>
              <a:t>Nginx</a:t>
            </a:r>
            <a:r>
              <a:rPr spc="-145" dirty="0"/>
              <a:t> </a:t>
            </a:r>
            <a:r>
              <a:rPr dirty="0"/>
              <a:t>Apps</a:t>
            </a:r>
            <a:r>
              <a:rPr spc="20" dirty="0"/>
              <a:t> </a:t>
            </a:r>
            <a:r>
              <a:rPr dirty="0"/>
              <a:t>running</a:t>
            </a:r>
            <a:r>
              <a:rPr spc="2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form </a:t>
            </a:r>
            <a:r>
              <a:rPr dirty="0"/>
              <a:t>of</a:t>
            </a:r>
            <a:r>
              <a:rPr spc="10" dirty="0"/>
              <a:t> </a:t>
            </a:r>
            <a:r>
              <a:rPr spc="-20" dirty="0"/>
              <a:t>Pods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914" y="1342506"/>
            <a:ext cx="8795461" cy="20756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913" y="3859047"/>
            <a:ext cx="8690429" cy="7332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01625" y="249500"/>
            <a:ext cx="8397875" cy="855344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515"/>
              </a:spcBef>
            </a:pP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3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Instances</a:t>
            </a:r>
            <a:r>
              <a:rPr sz="2850" spc="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of</a:t>
            </a:r>
            <a:r>
              <a:rPr sz="2850" spc="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same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Nginx</a:t>
            </a:r>
            <a:r>
              <a:rPr sz="2850" spc="-14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Apps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running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in</a:t>
            </a:r>
            <a:r>
              <a:rPr sz="2850" spc="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the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20" dirty="0">
                <a:solidFill>
                  <a:srgbClr val="FFAB40"/>
                </a:solidFill>
                <a:latin typeface="Arial"/>
                <a:cs typeface="Arial"/>
              </a:rPr>
              <a:t>form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of</a:t>
            </a:r>
            <a:r>
              <a:rPr sz="2850" spc="1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20" dirty="0">
                <a:solidFill>
                  <a:srgbClr val="FFAB40"/>
                </a:solidFill>
                <a:latin typeface="Arial"/>
                <a:cs typeface="Arial"/>
              </a:rPr>
              <a:t>Pods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913" y="1450428"/>
            <a:ext cx="8160656" cy="5658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913" y="2856152"/>
            <a:ext cx="8538029" cy="483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653" y="2294999"/>
            <a:ext cx="20440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Update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228" y="3487914"/>
            <a:ext cx="5341256" cy="165558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973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515"/>
              </a:spcBef>
            </a:pPr>
            <a:r>
              <a:rPr dirty="0"/>
              <a:t>3</a:t>
            </a:r>
            <a:r>
              <a:rPr spc="20" dirty="0"/>
              <a:t> </a:t>
            </a:r>
            <a:r>
              <a:rPr dirty="0"/>
              <a:t>Instances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same</a:t>
            </a:r>
            <a:r>
              <a:rPr spc="20" dirty="0"/>
              <a:t> </a:t>
            </a:r>
            <a:r>
              <a:rPr dirty="0"/>
              <a:t>Nginx</a:t>
            </a:r>
            <a:r>
              <a:rPr spc="-145" dirty="0"/>
              <a:t> </a:t>
            </a:r>
            <a:r>
              <a:rPr dirty="0"/>
              <a:t>Apps</a:t>
            </a:r>
            <a:r>
              <a:rPr spc="20" dirty="0"/>
              <a:t> </a:t>
            </a:r>
            <a:r>
              <a:rPr dirty="0"/>
              <a:t>running</a:t>
            </a:r>
            <a:r>
              <a:rPr spc="2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form </a:t>
            </a:r>
            <a:r>
              <a:rPr dirty="0"/>
              <a:t>of</a:t>
            </a:r>
            <a:r>
              <a:rPr spc="10" dirty="0"/>
              <a:t> </a:t>
            </a:r>
            <a:r>
              <a:rPr spc="-20" dirty="0"/>
              <a:t>Pods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884" y="1194656"/>
            <a:ext cx="6567715" cy="25734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884" y="4058071"/>
            <a:ext cx="7910285" cy="6223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Scaling</a:t>
            </a:r>
            <a:r>
              <a:rPr spc="-25" dirty="0"/>
              <a:t> 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085" y="1418177"/>
            <a:ext cx="8135257" cy="1009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99" y="2944776"/>
            <a:ext cx="8019143" cy="17656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Listing</a:t>
            </a:r>
            <a:r>
              <a:rPr spc="-5" dirty="0"/>
              <a:t> </a:t>
            </a:r>
            <a:r>
              <a:rPr dirty="0"/>
              <a:t>Pods</a:t>
            </a:r>
            <a:r>
              <a:rPr spc="-5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spc="-10" dirty="0"/>
              <a:t>Labels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313" y="1420311"/>
            <a:ext cx="8033656" cy="1947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1973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</a:rPr>
              <a:t>Services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Services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360075"/>
            <a:ext cx="6876415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100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Imagine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that,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been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asked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deploy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44780" algn="l"/>
                <a:tab pos="288353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does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frontend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	web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exposed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outside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world?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front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end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connected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backend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database?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  <a:tab pos="435800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resolve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IP</a:t>
            </a:r>
            <a:r>
              <a:rPr sz="2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changes,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	when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die?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Agenda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360075"/>
            <a:ext cx="3192780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100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Why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services?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Service?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Type</a:t>
            </a:r>
            <a:r>
              <a:rPr sz="20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68422" y="1055104"/>
            <a:ext cx="2969895" cy="3140710"/>
            <a:chOff x="5068422" y="1055104"/>
            <a:chExt cx="2969895" cy="3140710"/>
          </a:xfrm>
        </p:grpSpPr>
        <p:sp>
          <p:nvSpPr>
            <p:cNvPr id="3" name="object 3"/>
            <p:cNvSpPr/>
            <p:nvPr/>
          </p:nvSpPr>
          <p:spPr>
            <a:xfrm>
              <a:off x="5689599" y="2071914"/>
              <a:ext cx="1828800" cy="403225"/>
            </a:xfrm>
            <a:custGeom>
              <a:avLst/>
              <a:gdLst/>
              <a:ahLst/>
              <a:cxnLst/>
              <a:rect l="l" t="t" r="r" b="b"/>
              <a:pathLst>
                <a:path w="1828800" h="403225">
                  <a:moveTo>
                    <a:pt x="1828799" y="402772"/>
                  </a:moveTo>
                  <a:lnTo>
                    <a:pt x="0" y="402772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40277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89599" y="2071914"/>
              <a:ext cx="1828800" cy="403225"/>
            </a:xfrm>
            <a:custGeom>
              <a:avLst/>
              <a:gdLst/>
              <a:ahLst/>
              <a:cxnLst/>
              <a:rect l="l" t="t" r="r" b="b"/>
              <a:pathLst>
                <a:path w="1828800" h="403225">
                  <a:moveTo>
                    <a:pt x="0" y="0"/>
                  </a:moveTo>
                  <a:lnTo>
                    <a:pt x="1828799" y="0"/>
                  </a:lnTo>
                  <a:lnTo>
                    <a:pt x="1828799" y="402772"/>
                  </a:lnTo>
                  <a:lnTo>
                    <a:pt x="0" y="402772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74772" y="1061454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2464033" y="3127829"/>
                  </a:moveTo>
                  <a:lnTo>
                    <a:pt x="492818" y="3127829"/>
                  </a:lnTo>
                  <a:lnTo>
                    <a:pt x="445357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7" y="2255"/>
                  </a:lnTo>
                  <a:lnTo>
                    <a:pt x="492818" y="0"/>
                  </a:lnTo>
                  <a:lnTo>
                    <a:pt x="2464033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3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50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5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3" y="31278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74772" y="1061454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7" y="2255"/>
                  </a:lnTo>
                  <a:lnTo>
                    <a:pt x="492818" y="0"/>
                  </a:lnTo>
                  <a:lnTo>
                    <a:pt x="2464033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3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50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5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3" y="3127829"/>
                  </a:lnTo>
                  <a:lnTo>
                    <a:pt x="492818" y="3127829"/>
                  </a:lnTo>
                  <a:lnTo>
                    <a:pt x="445357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42811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Services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05713" y="1001485"/>
            <a:ext cx="1495425" cy="268605"/>
          </a:xfrm>
          <a:prstGeom prst="rect">
            <a:avLst/>
          </a:prstGeom>
          <a:solidFill>
            <a:srgbClr val="7030A0"/>
          </a:solidFill>
          <a:ln w="12699">
            <a:solidFill>
              <a:srgbClr val="127BB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29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192.168.1.1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93598" y="3423998"/>
            <a:ext cx="1553845" cy="516255"/>
            <a:chOff x="5893598" y="3423998"/>
            <a:chExt cx="1553845" cy="516255"/>
          </a:xfrm>
        </p:grpSpPr>
        <p:sp>
          <p:nvSpPr>
            <p:cNvPr id="10" name="object 10"/>
            <p:cNvSpPr/>
            <p:nvPr/>
          </p:nvSpPr>
          <p:spPr>
            <a:xfrm>
              <a:off x="5899948" y="3541361"/>
              <a:ext cx="1541145" cy="392430"/>
            </a:xfrm>
            <a:custGeom>
              <a:avLst/>
              <a:gdLst/>
              <a:ahLst/>
              <a:cxnLst/>
              <a:rect l="l" t="t" r="r" b="b"/>
              <a:pathLst>
                <a:path w="1541145" h="392429">
                  <a:moveTo>
                    <a:pt x="1540651" y="392009"/>
                  </a:moveTo>
                  <a:lnTo>
                    <a:pt x="0" y="392009"/>
                  </a:lnTo>
                  <a:lnTo>
                    <a:pt x="0" y="0"/>
                  </a:lnTo>
                  <a:lnTo>
                    <a:pt x="1540651" y="0"/>
                  </a:lnTo>
                  <a:lnTo>
                    <a:pt x="1540651" y="39200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99948" y="3541361"/>
              <a:ext cx="1541145" cy="392430"/>
            </a:xfrm>
            <a:custGeom>
              <a:avLst/>
              <a:gdLst/>
              <a:ahLst/>
              <a:cxnLst/>
              <a:rect l="l" t="t" r="r" b="b"/>
              <a:pathLst>
                <a:path w="1541145" h="392429">
                  <a:moveTo>
                    <a:pt x="0" y="0"/>
                  </a:moveTo>
                  <a:lnTo>
                    <a:pt x="1540651" y="0"/>
                  </a:lnTo>
                  <a:lnTo>
                    <a:pt x="1540651" y="392009"/>
                  </a:lnTo>
                  <a:lnTo>
                    <a:pt x="0" y="39200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36463" y="3430348"/>
              <a:ext cx="1149350" cy="189865"/>
            </a:xfrm>
            <a:custGeom>
              <a:avLst/>
              <a:gdLst/>
              <a:ahLst/>
              <a:cxnLst/>
              <a:rect l="l" t="t" r="r" b="b"/>
              <a:pathLst>
                <a:path w="1149350" h="189864">
                  <a:moveTo>
                    <a:pt x="1149218" y="189639"/>
                  </a:moveTo>
                  <a:lnTo>
                    <a:pt x="0" y="189639"/>
                  </a:lnTo>
                  <a:lnTo>
                    <a:pt x="0" y="0"/>
                  </a:lnTo>
                  <a:lnTo>
                    <a:pt x="1149218" y="0"/>
                  </a:lnTo>
                  <a:lnTo>
                    <a:pt x="1149218" y="1896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36463" y="3430348"/>
              <a:ext cx="1149350" cy="189865"/>
            </a:xfrm>
            <a:custGeom>
              <a:avLst/>
              <a:gdLst/>
              <a:ahLst/>
              <a:cxnLst/>
              <a:rect l="l" t="t" r="r" b="b"/>
              <a:pathLst>
                <a:path w="1149350" h="189864">
                  <a:moveTo>
                    <a:pt x="0" y="0"/>
                  </a:moveTo>
                  <a:lnTo>
                    <a:pt x="1149218" y="0"/>
                  </a:lnTo>
                  <a:lnTo>
                    <a:pt x="1149218" y="189639"/>
                  </a:lnTo>
                  <a:lnTo>
                    <a:pt x="0" y="1896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36463" y="3430348"/>
            <a:ext cx="1149350" cy="111125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0995">
              <a:lnSpc>
                <a:spcPts val="87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app:db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13451" y="3669877"/>
            <a:ext cx="2369820" cy="234315"/>
            <a:chOff x="6013451" y="3669877"/>
            <a:chExt cx="2369820" cy="234315"/>
          </a:xfrm>
        </p:grpSpPr>
        <p:sp>
          <p:nvSpPr>
            <p:cNvPr id="16" name="object 16"/>
            <p:cNvSpPr/>
            <p:nvPr/>
          </p:nvSpPr>
          <p:spPr>
            <a:xfrm>
              <a:off x="7522777" y="3737366"/>
              <a:ext cx="855344" cy="6985"/>
            </a:xfrm>
            <a:custGeom>
              <a:avLst/>
              <a:gdLst/>
              <a:ahLst/>
              <a:cxnLst/>
              <a:rect l="l" t="t" r="r" b="b"/>
              <a:pathLst>
                <a:path w="855345" h="6985">
                  <a:moveTo>
                    <a:pt x="855221" y="0"/>
                  </a:moveTo>
                  <a:lnTo>
                    <a:pt x="0" y="680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9552" y="37284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49" y="31464"/>
                  </a:moveTo>
                  <a:lnTo>
                    <a:pt x="0" y="16075"/>
                  </a:lnTo>
                  <a:lnTo>
                    <a:pt x="43099" y="0"/>
                  </a:lnTo>
                  <a:lnTo>
                    <a:pt x="43349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79552" y="37284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99" y="0"/>
                  </a:moveTo>
                  <a:lnTo>
                    <a:pt x="0" y="16075"/>
                  </a:lnTo>
                  <a:lnTo>
                    <a:pt x="43349" y="31464"/>
                  </a:lnTo>
                  <a:lnTo>
                    <a:pt x="430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801" y="3698807"/>
              <a:ext cx="253451" cy="1842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19801" y="3698807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6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1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6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81301" y="3733866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10" h="114300">
                  <a:moveTo>
                    <a:pt x="130451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1" y="0"/>
                  </a:lnTo>
                  <a:lnTo>
                    <a:pt x="130451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81301" y="3733866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10" h="114300">
                  <a:moveTo>
                    <a:pt x="0" y="0"/>
                  </a:moveTo>
                  <a:lnTo>
                    <a:pt x="130451" y="0"/>
                  </a:lnTo>
                  <a:lnTo>
                    <a:pt x="130451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9038" y="3713323"/>
              <a:ext cx="253452" cy="184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19038" y="3713323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6" y="0"/>
                  </a:lnTo>
                  <a:lnTo>
                    <a:pt x="176053" y="7240"/>
                  </a:lnTo>
                  <a:lnTo>
                    <a:pt x="216335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5" y="157288"/>
                  </a:lnTo>
                  <a:lnTo>
                    <a:pt x="176053" y="177034"/>
                  </a:lnTo>
                  <a:lnTo>
                    <a:pt x="126726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80538" y="3748380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1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1" y="0"/>
                  </a:lnTo>
                  <a:lnTo>
                    <a:pt x="130451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0538" y="3748380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1" y="0"/>
                  </a:lnTo>
                  <a:lnTo>
                    <a:pt x="130451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3600" y="3694396"/>
              <a:ext cx="253452" cy="1842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623600" y="3694396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5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5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5100" y="3729454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0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0" y="0"/>
                  </a:lnTo>
                  <a:lnTo>
                    <a:pt x="130450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5100" y="3729454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0" y="0"/>
                  </a:lnTo>
                  <a:lnTo>
                    <a:pt x="130450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0081" y="3676227"/>
              <a:ext cx="253452" cy="1842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30081" y="3676227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5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5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1581" y="3711285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0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0" y="0"/>
                  </a:lnTo>
                  <a:lnTo>
                    <a:pt x="130450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91581" y="3711285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0" y="0"/>
                  </a:lnTo>
                  <a:lnTo>
                    <a:pt x="130450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409391" y="3618170"/>
            <a:ext cx="618490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Backend </a:t>
            </a: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98210" y="4318267"/>
            <a:ext cx="57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52884" y="2892061"/>
            <a:ext cx="1502410" cy="201930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Service(backend)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7612" y="1918311"/>
            <a:ext cx="1489755" cy="728613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852883" y="1622596"/>
            <a:ext cx="1502410" cy="201930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Service(frontend)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532703" y="1279162"/>
            <a:ext cx="1639570" cy="2142490"/>
            <a:chOff x="6532703" y="1279162"/>
            <a:chExt cx="1639570" cy="2142490"/>
          </a:xfrm>
        </p:grpSpPr>
        <p:sp>
          <p:nvSpPr>
            <p:cNvPr id="41" name="object 41"/>
            <p:cNvSpPr/>
            <p:nvPr/>
          </p:nvSpPr>
          <p:spPr>
            <a:xfrm>
              <a:off x="7312027" y="2341930"/>
              <a:ext cx="855344" cy="6985"/>
            </a:xfrm>
            <a:custGeom>
              <a:avLst/>
              <a:gdLst/>
              <a:ahLst/>
              <a:cxnLst/>
              <a:rect l="l" t="t" r="r" b="b"/>
              <a:pathLst>
                <a:path w="855345" h="6985">
                  <a:moveTo>
                    <a:pt x="855221" y="0"/>
                  </a:moveTo>
                  <a:lnTo>
                    <a:pt x="0" y="680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68803" y="23330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49" y="31464"/>
                  </a:moveTo>
                  <a:lnTo>
                    <a:pt x="0" y="16075"/>
                  </a:lnTo>
                  <a:lnTo>
                    <a:pt x="43099" y="0"/>
                  </a:lnTo>
                  <a:lnTo>
                    <a:pt x="43349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68803" y="23330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99" y="0"/>
                  </a:moveTo>
                  <a:lnTo>
                    <a:pt x="0" y="16075"/>
                  </a:lnTo>
                  <a:lnTo>
                    <a:pt x="43349" y="31464"/>
                  </a:lnTo>
                  <a:lnTo>
                    <a:pt x="430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13733" y="3172136"/>
              <a:ext cx="9525" cy="201295"/>
            </a:xfrm>
            <a:custGeom>
              <a:avLst/>
              <a:gdLst/>
              <a:ahLst/>
              <a:cxnLst/>
              <a:rect l="l" t="t" r="r" b="b"/>
              <a:pathLst>
                <a:path w="9525" h="201295">
                  <a:moveTo>
                    <a:pt x="9376" y="0"/>
                  </a:moveTo>
                  <a:lnTo>
                    <a:pt x="0" y="20112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07394" y="312895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1" y="43911"/>
                  </a:moveTo>
                  <a:lnTo>
                    <a:pt x="0" y="42445"/>
                  </a:lnTo>
                  <a:lnTo>
                    <a:pt x="17728" y="0"/>
                  </a:lnTo>
                  <a:lnTo>
                    <a:pt x="31431" y="4391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07394" y="312895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1" y="43911"/>
                  </a:moveTo>
                  <a:lnTo>
                    <a:pt x="17728" y="0"/>
                  </a:lnTo>
                  <a:lnTo>
                    <a:pt x="0" y="42445"/>
                  </a:lnTo>
                  <a:lnTo>
                    <a:pt x="31431" y="4391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98018" y="3372527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3701" y="43911"/>
                  </a:moveTo>
                  <a:lnTo>
                    <a:pt x="0" y="0"/>
                  </a:lnTo>
                  <a:lnTo>
                    <a:pt x="31431" y="1465"/>
                  </a:lnTo>
                  <a:lnTo>
                    <a:pt x="13701" y="4391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98018" y="3372527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3701" y="43911"/>
                  </a:lnTo>
                  <a:lnTo>
                    <a:pt x="31431" y="146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99215" y="2613240"/>
              <a:ext cx="8890" cy="201295"/>
            </a:xfrm>
            <a:custGeom>
              <a:avLst/>
              <a:gdLst/>
              <a:ahLst/>
              <a:cxnLst/>
              <a:rect l="l" t="t" r="r" b="b"/>
              <a:pathLst>
                <a:path w="8890" h="201294">
                  <a:moveTo>
                    <a:pt x="0" y="0"/>
                  </a:moveTo>
                  <a:lnTo>
                    <a:pt x="8328" y="20112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83496" y="2570051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3839"/>
                  </a:moveTo>
                  <a:lnTo>
                    <a:pt x="13930" y="0"/>
                  </a:lnTo>
                  <a:lnTo>
                    <a:pt x="31438" y="42537"/>
                  </a:lnTo>
                  <a:lnTo>
                    <a:pt x="0" y="438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83496" y="2570051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8" y="42537"/>
                  </a:moveTo>
                  <a:lnTo>
                    <a:pt x="13930" y="0"/>
                  </a:lnTo>
                  <a:lnTo>
                    <a:pt x="0" y="43839"/>
                  </a:lnTo>
                  <a:lnTo>
                    <a:pt x="31438" y="42537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91824" y="28137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7507" y="43839"/>
                  </a:moveTo>
                  <a:lnTo>
                    <a:pt x="0" y="1301"/>
                  </a:lnTo>
                  <a:lnTo>
                    <a:pt x="31438" y="0"/>
                  </a:lnTo>
                  <a:lnTo>
                    <a:pt x="17507" y="438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91824" y="28137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1301"/>
                  </a:moveTo>
                  <a:lnTo>
                    <a:pt x="17507" y="43839"/>
                  </a:lnTo>
                  <a:lnTo>
                    <a:pt x="31438" y="0"/>
                  </a:lnTo>
                  <a:lnTo>
                    <a:pt x="0" y="130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72490" y="1883982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19">
                  <a:moveTo>
                    <a:pt x="0" y="0"/>
                  </a:moveTo>
                  <a:lnTo>
                    <a:pt x="0" y="146765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56757" y="184075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56757" y="184075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56757" y="203074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56757" y="203074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53198" y="1327150"/>
              <a:ext cx="0" cy="238760"/>
            </a:xfrm>
            <a:custGeom>
              <a:avLst/>
              <a:gdLst/>
              <a:ahLst/>
              <a:cxnLst/>
              <a:rect l="l" t="t" r="r" b="b"/>
              <a:pathLst>
                <a:path h="238759">
                  <a:moveTo>
                    <a:pt x="0" y="0"/>
                  </a:moveTo>
                  <a:lnTo>
                    <a:pt x="0" y="238295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37466" y="1283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537466" y="1283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37466" y="156544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537466" y="156544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249211" y="2189546"/>
            <a:ext cx="635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Frontend </a:t>
            </a: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895186" y="520292"/>
            <a:ext cx="2040889" cy="484505"/>
            <a:chOff x="5895186" y="520292"/>
            <a:chExt cx="2040889" cy="484505"/>
          </a:xfrm>
        </p:grpSpPr>
        <p:sp>
          <p:nvSpPr>
            <p:cNvPr id="66" name="object 66"/>
            <p:cNvSpPr/>
            <p:nvPr/>
          </p:nvSpPr>
          <p:spPr>
            <a:xfrm>
              <a:off x="5899948" y="644526"/>
              <a:ext cx="1549400" cy="355600"/>
            </a:xfrm>
            <a:custGeom>
              <a:avLst/>
              <a:gdLst/>
              <a:ahLst/>
              <a:cxnLst/>
              <a:rect l="l" t="t" r="r" b="b"/>
              <a:pathLst>
                <a:path w="1549400" h="355600">
                  <a:moveTo>
                    <a:pt x="0" y="355499"/>
                  </a:moveTo>
                  <a:lnTo>
                    <a:pt x="803249" y="355499"/>
                  </a:lnTo>
                  <a:lnTo>
                    <a:pt x="803249" y="0"/>
                  </a:lnTo>
                  <a:lnTo>
                    <a:pt x="15493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49298" y="6287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449298" y="6287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526442" y="526642"/>
              <a:ext cx="403860" cy="236854"/>
            </a:xfrm>
            <a:custGeom>
              <a:avLst/>
              <a:gdLst/>
              <a:ahLst/>
              <a:cxnLst/>
              <a:rect l="l" t="t" r="r" b="b"/>
              <a:pathLst>
                <a:path w="403859" h="236854">
                  <a:moveTo>
                    <a:pt x="36537" y="78079"/>
                  </a:moveTo>
                  <a:lnTo>
                    <a:pt x="36639" y="63888"/>
                  </a:lnTo>
                  <a:lnTo>
                    <a:pt x="41540" y="50524"/>
                  </a:lnTo>
                  <a:lnTo>
                    <a:pt x="50817" y="38739"/>
                  </a:lnTo>
                  <a:lnTo>
                    <a:pt x="64043" y="29286"/>
                  </a:lnTo>
                  <a:lnTo>
                    <a:pt x="80032" y="23151"/>
                  </a:lnTo>
                  <a:lnTo>
                    <a:pt x="97194" y="20832"/>
                  </a:lnTo>
                  <a:lnTo>
                    <a:pt x="114494" y="22351"/>
                  </a:lnTo>
                  <a:lnTo>
                    <a:pt x="130901" y="27734"/>
                  </a:lnTo>
                  <a:lnTo>
                    <a:pt x="167317" y="7011"/>
                  </a:lnTo>
                  <a:lnTo>
                    <a:pt x="178938" y="6680"/>
                  </a:lnTo>
                  <a:lnTo>
                    <a:pt x="190193" y="8480"/>
                  </a:lnTo>
                  <a:lnTo>
                    <a:pt x="200636" y="12297"/>
                  </a:lnTo>
                  <a:lnTo>
                    <a:pt x="209818" y="18014"/>
                  </a:lnTo>
                  <a:lnTo>
                    <a:pt x="215597" y="11106"/>
                  </a:lnTo>
                  <a:lnTo>
                    <a:pt x="223236" y="5665"/>
                  </a:lnTo>
                  <a:lnTo>
                    <a:pt x="232325" y="1916"/>
                  </a:lnTo>
                  <a:lnTo>
                    <a:pt x="242452" y="85"/>
                  </a:lnTo>
                  <a:lnTo>
                    <a:pt x="252828" y="362"/>
                  </a:lnTo>
                  <a:lnTo>
                    <a:pt x="262633" y="2678"/>
                  </a:lnTo>
                  <a:lnTo>
                    <a:pt x="271411" y="6874"/>
                  </a:lnTo>
                  <a:lnTo>
                    <a:pt x="278706" y="12790"/>
                  </a:lnTo>
                  <a:lnTo>
                    <a:pt x="288355" y="5962"/>
                  </a:lnTo>
                  <a:lnTo>
                    <a:pt x="299788" y="1637"/>
                  </a:lnTo>
                  <a:lnTo>
                    <a:pt x="312271" y="0"/>
                  </a:lnTo>
                  <a:lnTo>
                    <a:pt x="325072" y="1231"/>
                  </a:lnTo>
                  <a:lnTo>
                    <a:pt x="336923" y="5288"/>
                  </a:lnTo>
                  <a:lnTo>
                    <a:pt x="346699" y="11700"/>
                  </a:lnTo>
                  <a:lnTo>
                    <a:pt x="353878" y="20017"/>
                  </a:lnTo>
                  <a:lnTo>
                    <a:pt x="357943" y="29787"/>
                  </a:lnTo>
                  <a:lnTo>
                    <a:pt x="389704" y="50953"/>
                  </a:lnTo>
                  <a:lnTo>
                    <a:pt x="394647" y="67428"/>
                  </a:lnTo>
                  <a:lnTo>
                    <a:pt x="393763" y="75872"/>
                  </a:lnTo>
                  <a:lnTo>
                    <a:pt x="390629" y="84063"/>
                  </a:lnTo>
                  <a:lnTo>
                    <a:pt x="398915" y="95544"/>
                  </a:lnTo>
                  <a:lnTo>
                    <a:pt x="403154" y="108138"/>
                  </a:lnTo>
                  <a:lnTo>
                    <a:pt x="403235" y="121182"/>
                  </a:lnTo>
                  <a:lnTo>
                    <a:pt x="399045" y="134008"/>
                  </a:lnTo>
                  <a:lnTo>
                    <a:pt x="390840" y="145526"/>
                  </a:lnTo>
                  <a:lnTo>
                    <a:pt x="379392" y="154810"/>
                  </a:lnTo>
                  <a:lnTo>
                    <a:pt x="365362" y="161448"/>
                  </a:lnTo>
                  <a:lnTo>
                    <a:pt x="349410" y="165026"/>
                  </a:lnTo>
                  <a:lnTo>
                    <a:pt x="347378" y="176426"/>
                  </a:lnTo>
                  <a:lnTo>
                    <a:pt x="307968" y="206694"/>
                  </a:lnTo>
                  <a:lnTo>
                    <a:pt x="293885" y="207863"/>
                  </a:lnTo>
                  <a:lnTo>
                    <a:pt x="279904" y="206068"/>
                  </a:lnTo>
                  <a:lnTo>
                    <a:pt x="266782" y="201325"/>
                  </a:lnTo>
                  <a:lnTo>
                    <a:pt x="232871" y="232604"/>
                  </a:lnTo>
                  <a:lnTo>
                    <a:pt x="197801" y="236790"/>
                  </a:lnTo>
                  <a:lnTo>
                    <a:pt x="180901" y="232930"/>
                  </a:lnTo>
                  <a:lnTo>
                    <a:pt x="165982" y="225479"/>
                  </a:lnTo>
                  <a:lnTo>
                    <a:pt x="154017" y="214784"/>
                  </a:lnTo>
                  <a:lnTo>
                    <a:pt x="141006" y="219720"/>
                  </a:lnTo>
                  <a:lnTo>
                    <a:pt x="127172" y="222466"/>
                  </a:lnTo>
                  <a:lnTo>
                    <a:pt x="112936" y="222973"/>
                  </a:lnTo>
                  <a:lnTo>
                    <a:pt x="98718" y="221193"/>
                  </a:lnTo>
                  <a:lnTo>
                    <a:pt x="85225" y="217182"/>
                  </a:lnTo>
                  <a:lnTo>
                    <a:pt x="73102" y="211165"/>
                  </a:lnTo>
                  <a:lnTo>
                    <a:pt x="62690" y="203352"/>
                  </a:lnTo>
                  <a:lnTo>
                    <a:pt x="54325" y="193949"/>
                  </a:lnTo>
                  <a:lnTo>
                    <a:pt x="13237" y="176322"/>
                  </a:lnTo>
                  <a:lnTo>
                    <a:pt x="9277" y="157061"/>
                  </a:lnTo>
                  <a:lnTo>
                    <a:pt x="12810" y="147712"/>
                  </a:lnTo>
                  <a:lnTo>
                    <a:pt x="19854" y="139464"/>
                  </a:lnTo>
                  <a:lnTo>
                    <a:pt x="9952" y="132912"/>
                  </a:lnTo>
                  <a:lnTo>
                    <a:pt x="3208" y="124418"/>
                  </a:lnTo>
                  <a:lnTo>
                    <a:pt x="0" y="114675"/>
                  </a:lnTo>
                  <a:lnTo>
                    <a:pt x="705" y="104375"/>
                  </a:lnTo>
                  <a:lnTo>
                    <a:pt x="5365" y="94764"/>
                  </a:lnTo>
                  <a:lnTo>
                    <a:pt x="13300" y="86965"/>
                  </a:lnTo>
                  <a:lnTo>
                    <a:pt x="23811" y="81482"/>
                  </a:lnTo>
                  <a:lnTo>
                    <a:pt x="36197" y="78818"/>
                  </a:lnTo>
                  <a:lnTo>
                    <a:pt x="36537" y="78079"/>
                  </a:lnTo>
                  <a:close/>
                </a:path>
                <a:path w="403859" h="236854">
                  <a:moveTo>
                    <a:pt x="19859" y="139462"/>
                  </a:moveTo>
                  <a:lnTo>
                    <a:pt x="27004" y="142829"/>
                  </a:lnTo>
                  <a:lnTo>
                    <a:pt x="35258" y="144357"/>
                  </a:lnTo>
                  <a:lnTo>
                    <a:pt x="43514" y="143839"/>
                  </a:lnTo>
                </a:path>
                <a:path w="403859" h="236854">
                  <a:moveTo>
                    <a:pt x="54326" y="193949"/>
                  </a:moveTo>
                  <a:lnTo>
                    <a:pt x="57876" y="193616"/>
                  </a:lnTo>
                  <a:lnTo>
                    <a:pt x="61356" y="192912"/>
                  </a:lnTo>
                  <a:lnTo>
                    <a:pt x="64676" y="191854"/>
                  </a:lnTo>
                </a:path>
                <a:path w="403859" h="236854">
                  <a:moveTo>
                    <a:pt x="154013" y="214783"/>
                  </a:moveTo>
                  <a:lnTo>
                    <a:pt x="151516" y="211786"/>
                  </a:lnTo>
                  <a:lnTo>
                    <a:pt x="149425" y="208582"/>
                  </a:lnTo>
                  <a:lnTo>
                    <a:pt x="147777" y="205228"/>
                  </a:lnTo>
                </a:path>
                <a:path w="403859" h="236854">
                  <a:moveTo>
                    <a:pt x="266782" y="201324"/>
                  </a:moveTo>
                  <a:lnTo>
                    <a:pt x="268070" y="197909"/>
                  </a:lnTo>
                  <a:lnTo>
                    <a:pt x="268904" y="194395"/>
                  </a:lnTo>
                  <a:lnTo>
                    <a:pt x="269272" y="190839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9137" y="604357"/>
              <a:ext cx="84281" cy="8897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562980" y="539434"/>
              <a:ext cx="322580" cy="73660"/>
            </a:xfrm>
            <a:custGeom>
              <a:avLst/>
              <a:gdLst/>
              <a:ahLst/>
              <a:cxnLst/>
              <a:rect l="l" t="t" r="r" b="b"/>
              <a:pathLst>
                <a:path w="322579" h="73659">
                  <a:moveTo>
                    <a:pt x="321404" y="16996"/>
                  </a:moveTo>
                  <a:lnTo>
                    <a:pt x="321920" y="19285"/>
                  </a:lnTo>
                  <a:lnTo>
                    <a:pt x="322159" y="21609"/>
                  </a:lnTo>
                  <a:lnTo>
                    <a:pt x="322118" y="23935"/>
                  </a:lnTo>
                </a:path>
                <a:path w="322579" h="73659">
                  <a:moveTo>
                    <a:pt x="242169" y="0"/>
                  </a:moveTo>
                  <a:lnTo>
                    <a:pt x="239338" y="2667"/>
                  </a:lnTo>
                  <a:lnTo>
                    <a:pt x="237005" y="5648"/>
                  </a:lnTo>
                  <a:lnTo>
                    <a:pt x="235243" y="8849"/>
                  </a:lnTo>
                </a:path>
                <a:path w="322579" h="73659">
                  <a:moveTo>
                    <a:pt x="173281" y="5222"/>
                  </a:moveTo>
                  <a:lnTo>
                    <a:pt x="171771" y="7645"/>
                  </a:lnTo>
                  <a:lnTo>
                    <a:pt x="170645" y="10208"/>
                  </a:lnTo>
                  <a:lnTo>
                    <a:pt x="169926" y="12854"/>
                  </a:lnTo>
                </a:path>
                <a:path w="322579" h="73659">
                  <a:moveTo>
                    <a:pt x="94363" y="14942"/>
                  </a:moveTo>
                  <a:lnTo>
                    <a:pt x="98768" y="17008"/>
                  </a:lnTo>
                  <a:lnTo>
                    <a:pt x="102845" y="19494"/>
                  </a:lnTo>
                  <a:lnTo>
                    <a:pt x="106501" y="22346"/>
                  </a:lnTo>
                </a:path>
                <a:path w="322579" h="73659">
                  <a:moveTo>
                    <a:pt x="0" y="65287"/>
                  </a:moveTo>
                  <a:lnTo>
                    <a:pt x="448" y="67925"/>
                  </a:lnTo>
                  <a:lnTo>
                    <a:pt x="1156" y="70530"/>
                  </a:lnTo>
                  <a:lnTo>
                    <a:pt x="2117" y="7307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8031626" y="623930"/>
            <a:ext cx="472440" cy="41275"/>
            <a:chOff x="8031626" y="623930"/>
            <a:chExt cx="472440" cy="41275"/>
          </a:xfrm>
        </p:grpSpPr>
        <p:sp>
          <p:nvSpPr>
            <p:cNvPr id="73" name="object 73"/>
            <p:cNvSpPr/>
            <p:nvPr/>
          </p:nvSpPr>
          <p:spPr>
            <a:xfrm>
              <a:off x="8031626" y="644425"/>
              <a:ext cx="424180" cy="0"/>
            </a:xfrm>
            <a:custGeom>
              <a:avLst/>
              <a:gdLst/>
              <a:ahLst/>
              <a:cxnLst/>
              <a:rect l="l" t="t" r="r" b="b"/>
              <a:pathLst>
                <a:path w="424179">
                  <a:moveTo>
                    <a:pt x="0" y="0"/>
                  </a:moveTo>
                  <a:lnTo>
                    <a:pt x="423853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455479" y="6286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455479" y="6286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8555318" y="514687"/>
            <a:ext cx="347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  <p:sp>
        <p:nvSpPr>
          <p:cNvPr id="77" name="object 77"/>
          <p:cNvSpPr txBox="1"/>
          <p:nvPr/>
        </p:nvSpPr>
        <p:spPr>
          <a:xfrm>
            <a:off x="520064" y="1286255"/>
            <a:ext cx="18281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Frontend</a:t>
            </a:r>
            <a:r>
              <a:rPr sz="1800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Service: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0064" y="1838705"/>
            <a:ext cx="411543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frontend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pod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20064" y="2667380"/>
            <a:ext cx="1802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Backend</a:t>
            </a:r>
            <a:r>
              <a:rPr sz="1800" u="heavy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Service: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0064" y="3219830"/>
            <a:ext cx="398780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communicate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dirty="0">
                <a:latin typeface="Arial"/>
                <a:cs typeface="Arial"/>
              </a:rPr>
              <a:t>frontend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backend</a:t>
            </a:r>
            <a:r>
              <a:rPr sz="1800" spc="-25" dirty="0">
                <a:latin typeface="Arial"/>
                <a:cs typeface="Arial"/>
              </a:rPr>
              <a:t> end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31573" y="930742"/>
            <a:ext cx="2360295" cy="609600"/>
          </a:xfrm>
          <a:custGeom>
            <a:avLst/>
            <a:gdLst/>
            <a:ahLst/>
            <a:cxnLst/>
            <a:rect l="l" t="t" r="r" b="b"/>
            <a:pathLst>
              <a:path w="2360295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3" y="7984"/>
                </a:lnTo>
                <a:lnTo>
                  <a:pt x="101601" y="0"/>
                </a:lnTo>
                <a:lnTo>
                  <a:pt x="2258139" y="0"/>
                </a:lnTo>
                <a:lnTo>
                  <a:pt x="2297021" y="7734"/>
                </a:lnTo>
                <a:lnTo>
                  <a:pt x="2329983" y="29758"/>
                </a:lnTo>
                <a:lnTo>
                  <a:pt x="2352008" y="62720"/>
                </a:lnTo>
                <a:lnTo>
                  <a:pt x="2359741" y="101601"/>
                </a:lnTo>
                <a:lnTo>
                  <a:pt x="2359741" y="507997"/>
                </a:lnTo>
                <a:lnTo>
                  <a:pt x="2351757" y="547546"/>
                </a:lnTo>
                <a:lnTo>
                  <a:pt x="2329983" y="579841"/>
                </a:lnTo>
                <a:lnTo>
                  <a:pt x="2297688" y="601615"/>
                </a:lnTo>
                <a:lnTo>
                  <a:pt x="2258139" y="609599"/>
                </a:lnTo>
                <a:lnTo>
                  <a:pt x="101601" y="609599"/>
                </a:lnTo>
                <a:lnTo>
                  <a:pt x="62053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96679" y="1075586"/>
            <a:ext cx="182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</a:rPr>
              <a:t>Types</a:t>
            </a:r>
            <a:r>
              <a:rPr sz="1800" spc="-7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of</a:t>
            </a:r>
            <a:r>
              <a:rPr sz="1800" spc="-6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Services</a:t>
            </a:r>
            <a:endParaRPr sz="1800"/>
          </a:p>
        </p:txBody>
      </p:sp>
      <p:grpSp>
        <p:nvGrpSpPr>
          <p:cNvPr id="4" name="object 4"/>
          <p:cNvGrpSpPr/>
          <p:nvPr/>
        </p:nvGrpSpPr>
        <p:grpSpPr>
          <a:xfrm>
            <a:off x="1514321" y="1597895"/>
            <a:ext cx="5594350" cy="2073910"/>
            <a:chOff x="1514321" y="1597895"/>
            <a:chExt cx="5594350" cy="2073910"/>
          </a:xfrm>
        </p:grpSpPr>
        <p:sp>
          <p:nvSpPr>
            <p:cNvPr id="5" name="object 5"/>
            <p:cNvSpPr/>
            <p:nvPr/>
          </p:nvSpPr>
          <p:spPr>
            <a:xfrm>
              <a:off x="1519084" y="1602657"/>
              <a:ext cx="5584825" cy="1258570"/>
            </a:xfrm>
            <a:custGeom>
              <a:avLst/>
              <a:gdLst/>
              <a:ahLst/>
              <a:cxnLst/>
              <a:rect l="l" t="t" r="r" b="b"/>
              <a:pathLst>
                <a:path w="5584825" h="1258570">
                  <a:moveTo>
                    <a:pt x="2649792" y="0"/>
                  </a:moveTo>
                  <a:lnTo>
                    <a:pt x="2649792" y="481780"/>
                  </a:lnTo>
                </a:path>
                <a:path w="5584825" h="1258570">
                  <a:moveTo>
                    <a:pt x="0" y="481780"/>
                  </a:moveTo>
                  <a:lnTo>
                    <a:pt x="5584722" y="481780"/>
                  </a:lnTo>
                </a:path>
                <a:path w="5584825" h="1258570">
                  <a:moveTo>
                    <a:pt x="0" y="481780"/>
                  </a:moveTo>
                  <a:lnTo>
                    <a:pt x="0" y="1258529"/>
                  </a:lnTo>
                </a:path>
                <a:path w="5584825" h="1258570">
                  <a:moveTo>
                    <a:pt x="2649792" y="481780"/>
                  </a:moveTo>
                  <a:lnTo>
                    <a:pt x="2649792" y="1258529"/>
                  </a:lnTo>
                </a:path>
                <a:path w="5584825" h="1258570">
                  <a:moveTo>
                    <a:pt x="5584722" y="481780"/>
                  </a:moveTo>
                  <a:lnTo>
                    <a:pt x="5584722" y="125852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3771" y="2858657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1387662" y="660400"/>
                  </a:moveTo>
                  <a:lnTo>
                    <a:pt x="110068" y="660400"/>
                  </a:lnTo>
                  <a:lnTo>
                    <a:pt x="67224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lnTo>
                    <a:pt x="8649" y="67225"/>
                  </a:lnTo>
                  <a:lnTo>
                    <a:pt x="32238" y="32238"/>
                  </a:lnTo>
                  <a:lnTo>
                    <a:pt x="67224" y="8649"/>
                  </a:lnTo>
                  <a:lnTo>
                    <a:pt x="110068" y="0"/>
                  </a:lnTo>
                  <a:lnTo>
                    <a:pt x="1387662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2" y="660400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23771" y="2858657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0" y="110068"/>
                  </a:moveTo>
                  <a:lnTo>
                    <a:pt x="8649" y="67225"/>
                  </a:lnTo>
                  <a:lnTo>
                    <a:pt x="32238" y="32238"/>
                  </a:lnTo>
                  <a:lnTo>
                    <a:pt x="67224" y="8649"/>
                  </a:lnTo>
                  <a:lnTo>
                    <a:pt x="110068" y="0"/>
                  </a:lnTo>
                  <a:lnTo>
                    <a:pt x="1387662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2" y="660400"/>
                  </a:lnTo>
                  <a:lnTo>
                    <a:pt x="110068" y="660400"/>
                  </a:lnTo>
                  <a:lnTo>
                    <a:pt x="67224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01994" y="3415115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4" h="250189">
                  <a:moveTo>
                    <a:pt x="887290" y="249739"/>
                  </a:moveTo>
                  <a:lnTo>
                    <a:pt x="41623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4"/>
                  </a:ln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3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4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01994" y="3415115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4" h="250189">
                  <a:moveTo>
                    <a:pt x="0" y="41624"/>
                  </a:move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3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4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lnTo>
                    <a:pt x="41623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86279" y="2918279"/>
            <a:ext cx="1510665" cy="789940"/>
            <a:chOff x="886279" y="2918279"/>
            <a:chExt cx="1510665" cy="789940"/>
          </a:xfrm>
        </p:grpSpPr>
        <p:sp>
          <p:nvSpPr>
            <p:cNvPr id="11" name="object 11"/>
            <p:cNvSpPr/>
            <p:nvPr/>
          </p:nvSpPr>
          <p:spPr>
            <a:xfrm>
              <a:off x="892629" y="2924629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1387663" y="660399"/>
                  </a:moveTo>
                  <a:lnTo>
                    <a:pt x="110068" y="660399"/>
                  </a:lnTo>
                  <a:lnTo>
                    <a:pt x="67225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lnTo>
                    <a:pt x="8649" y="67225"/>
                  </a:lnTo>
                  <a:lnTo>
                    <a:pt x="32238" y="32238"/>
                  </a:lnTo>
                  <a:lnTo>
                    <a:pt x="67225" y="8649"/>
                  </a:lnTo>
                  <a:lnTo>
                    <a:pt x="110068" y="0"/>
                  </a:lnTo>
                  <a:lnTo>
                    <a:pt x="1387663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3" y="6603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2629" y="2924629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0" y="110068"/>
                  </a:moveTo>
                  <a:lnTo>
                    <a:pt x="8649" y="67225"/>
                  </a:lnTo>
                  <a:lnTo>
                    <a:pt x="32238" y="32238"/>
                  </a:lnTo>
                  <a:lnTo>
                    <a:pt x="67225" y="8649"/>
                  </a:lnTo>
                  <a:lnTo>
                    <a:pt x="110068" y="0"/>
                  </a:lnTo>
                  <a:lnTo>
                    <a:pt x="1387663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3" y="660399"/>
                  </a:lnTo>
                  <a:lnTo>
                    <a:pt x="110068" y="660399"/>
                  </a:lnTo>
                  <a:lnTo>
                    <a:pt x="67225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8851" y="3451636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5" h="250189">
                  <a:moveTo>
                    <a:pt x="887290" y="249739"/>
                  </a:moveTo>
                  <a:lnTo>
                    <a:pt x="41624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3"/>
                  </a:ln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4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3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78851" y="3451636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5" h="250189">
                  <a:moveTo>
                    <a:pt x="0" y="41623"/>
                  </a:move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4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3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lnTo>
                    <a:pt x="41624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57533" y="3063057"/>
            <a:ext cx="859790" cy="602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ClusterIP</a:t>
            </a:r>
            <a:endParaRPr sz="1600">
              <a:latin typeface="Arial"/>
              <a:cs typeface="Arial"/>
            </a:endParaRPr>
          </a:p>
          <a:p>
            <a:pPr marL="256540">
              <a:lnSpc>
                <a:spcPct val="100000"/>
              </a:lnSpc>
              <a:spcBef>
                <a:spcPts val="1300"/>
              </a:spcBef>
            </a:pP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0822" y="3044205"/>
            <a:ext cx="882650" cy="58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NodePort</a:t>
            </a:r>
            <a:endParaRPr sz="1600">
              <a:latin typeface="Arial"/>
              <a:cs typeface="Arial"/>
            </a:endParaRPr>
          </a:p>
          <a:p>
            <a:pPr marL="306070">
              <a:lnSpc>
                <a:spcPct val="100000"/>
              </a:lnSpc>
              <a:spcBef>
                <a:spcPts val="1165"/>
              </a:spcBef>
            </a:pP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05763" y="2808469"/>
            <a:ext cx="2226310" cy="243840"/>
            <a:chOff x="6205763" y="2808469"/>
            <a:chExt cx="2226310" cy="243840"/>
          </a:xfrm>
        </p:grpSpPr>
        <p:sp>
          <p:nvSpPr>
            <p:cNvPr id="18" name="object 18"/>
            <p:cNvSpPr/>
            <p:nvPr/>
          </p:nvSpPr>
          <p:spPr>
            <a:xfrm>
              <a:off x="6212113" y="2814819"/>
              <a:ext cx="2213610" cy="231140"/>
            </a:xfrm>
            <a:custGeom>
              <a:avLst/>
              <a:gdLst/>
              <a:ahLst/>
              <a:cxnLst/>
              <a:rect l="l" t="t" r="r" b="b"/>
              <a:pathLst>
                <a:path w="2213609" h="231139">
                  <a:moveTo>
                    <a:pt x="2174934" y="230965"/>
                  </a:moveTo>
                  <a:lnTo>
                    <a:pt x="38494" y="230965"/>
                  </a:lnTo>
                  <a:lnTo>
                    <a:pt x="23510" y="227940"/>
                  </a:lnTo>
                  <a:lnTo>
                    <a:pt x="11274" y="219691"/>
                  </a:lnTo>
                  <a:lnTo>
                    <a:pt x="3025" y="207454"/>
                  </a:lnTo>
                  <a:lnTo>
                    <a:pt x="0" y="192470"/>
                  </a:lnTo>
                  <a:lnTo>
                    <a:pt x="0" y="38494"/>
                  </a:lnTo>
                  <a:lnTo>
                    <a:pt x="3025" y="23510"/>
                  </a:lnTo>
                  <a:lnTo>
                    <a:pt x="11274" y="11274"/>
                  </a:lnTo>
                  <a:lnTo>
                    <a:pt x="23510" y="3025"/>
                  </a:lnTo>
                  <a:lnTo>
                    <a:pt x="38494" y="0"/>
                  </a:lnTo>
                  <a:lnTo>
                    <a:pt x="2174934" y="0"/>
                  </a:lnTo>
                  <a:lnTo>
                    <a:pt x="2210499" y="23763"/>
                  </a:lnTo>
                  <a:lnTo>
                    <a:pt x="2213429" y="38494"/>
                  </a:lnTo>
                  <a:lnTo>
                    <a:pt x="2213429" y="192470"/>
                  </a:lnTo>
                  <a:lnTo>
                    <a:pt x="2210404" y="207454"/>
                  </a:lnTo>
                  <a:lnTo>
                    <a:pt x="2202154" y="219691"/>
                  </a:lnTo>
                  <a:lnTo>
                    <a:pt x="2189918" y="227940"/>
                  </a:lnTo>
                  <a:lnTo>
                    <a:pt x="2174934" y="2309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2113" y="2814819"/>
              <a:ext cx="2213610" cy="231140"/>
            </a:xfrm>
            <a:custGeom>
              <a:avLst/>
              <a:gdLst/>
              <a:ahLst/>
              <a:cxnLst/>
              <a:rect l="l" t="t" r="r" b="b"/>
              <a:pathLst>
                <a:path w="2213609" h="231139">
                  <a:moveTo>
                    <a:pt x="0" y="38494"/>
                  </a:moveTo>
                  <a:lnTo>
                    <a:pt x="3025" y="23510"/>
                  </a:lnTo>
                  <a:lnTo>
                    <a:pt x="11274" y="11274"/>
                  </a:lnTo>
                  <a:lnTo>
                    <a:pt x="23510" y="3025"/>
                  </a:lnTo>
                  <a:lnTo>
                    <a:pt x="38494" y="0"/>
                  </a:lnTo>
                  <a:lnTo>
                    <a:pt x="2174934" y="0"/>
                  </a:lnTo>
                  <a:lnTo>
                    <a:pt x="2210499" y="23763"/>
                  </a:lnTo>
                  <a:lnTo>
                    <a:pt x="2213429" y="38494"/>
                  </a:lnTo>
                  <a:lnTo>
                    <a:pt x="2213429" y="192470"/>
                  </a:lnTo>
                  <a:lnTo>
                    <a:pt x="2210404" y="207454"/>
                  </a:lnTo>
                  <a:lnTo>
                    <a:pt x="2202154" y="219691"/>
                  </a:lnTo>
                  <a:lnTo>
                    <a:pt x="2189918" y="227940"/>
                  </a:lnTo>
                  <a:lnTo>
                    <a:pt x="2174934" y="230965"/>
                  </a:lnTo>
                  <a:lnTo>
                    <a:pt x="38494" y="230965"/>
                  </a:lnTo>
                  <a:lnTo>
                    <a:pt x="23510" y="227940"/>
                  </a:lnTo>
                  <a:lnTo>
                    <a:pt x="11274" y="219691"/>
                  </a:lnTo>
                  <a:lnTo>
                    <a:pt x="3025" y="207454"/>
                  </a:lnTo>
                  <a:lnTo>
                    <a:pt x="0" y="192470"/>
                  </a:lnTo>
                  <a:lnTo>
                    <a:pt x="0" y="3849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79267" y="2785648"/>
            <a:ext cx="1279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LoadBalancer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38959" y="3658505"/>
            <a:ext cx="753745" cy="551815"/>
            <a:chOff x="6138959" y="3658505"/>
            <a:chExt cx="753745" cy="551815"/>
          </a:xfrm>
        </p:grpSpPr>
        <p:sp>
          <p:nvSpPr>
            <p:cNvPr id="22" name="object 22"/>
            <p:cNvSpPr/>
            <p:nvPr/>
          </p:nvSpPr>
          <p:spPr>
            <a:xfrm>
              <a:off x="6145309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7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8"/>
                  </a:lnTo>
                  <a:lnTo>
                    <a:pt x="21838" y="21838"/>
                  </a:lnTo>
                  <a:lnTo>
                    <a:pt x="45537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45309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8"/>
                  </a:lnTo>
                  <a:lnTo>
                    <a:pt x="21838" y="21838"/>
                  </a:lnTo>
                  <a:lnTo>
                    <a:pt x="45537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7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18390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3"/>
                  </a:moveTo>
                  <a:lnTo>
                    <a:pt x="91651" y="183303"/>
                  </a:lnTo>
                  <a:lnTo>
                    <a:pt x="55976" y="176100"/>
                  </a:lnTo>
                  <a:lnTo>
                    <a:pt x="26843" y="156459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0" y="56578"/>
                  </a:lnTo>
                  <a:lnTo>
                    <a:pt x="7202" y="55976"/>
                  </a:lnTo>
                  <a:lnTo>
                    <a:pt x="26843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4" y="15398"/>
                  </a:lnTo>
                  <a:lnTo>
                    <a:pt x="587641" y="56578"/>
                  </a:lnTo>
                  <a:lnTo>
                    <a:pt x="594618" y="91651"/>
                  </a:lnTo>
                  <a:lnTo>
                    <a:pt x="587415" y="127326"/>
                  </a:lnTo>
                  <a:lnTo>
                    <a:pt x="567774" y="156459"/>
                  </a:lnTo>
                  <a:lnTo>
                    <a:pt x="538641" y="176100"/>
                  </a:lnTo>
                  <a:lnTo>
                    <a:pt x="502966" y="18330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8391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3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4" y="15398"/>
                  </a:lnTo>
                  <a:lnTo>
                    <a:pt x="587641" y="56578"/>
                  </a:lnTo>
                  <a:lnTo>
                    <a:pt x="594618" y="91651"/>
                  </a:lnTo>
                  <a:lnTo>
                    <a:pt x="587415" y="127326"/>
                  </a:lnTo>
                  <a:lnTo>
                    <a:pt x="567774" y="156459"/>
                  </a:lnTo>
                  <a:lnTo>
                    <a:pt x="538641" y="176100"/>
                  </a:lnTo>
                  <a:lnTo>
                    <a:pt x="502966" y="183303"/>
                  </a:lnTo>
                  <a:lnTo>
                    <a:pt x="91651" y="183303"/>
                  </a:lnTo>
                  <a:lnTo>
                    <a:pt x="55976" y="176100"/>
                  </a:lnTo>
                  <a:lnTo>
                    <a:pt x="26843" y="156459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336549" y="4033530"/>
            <a:ext cx="358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03495" y="3658505"/>
            <a:ext cx="753745" cy="551815"/>
            <a:chOff x="7003495" y="3658505"/>
            <a:chExt cx="753745" cy="551815"/>
          </a:xfrm>
        </p:grpSpPr>
        <p:sp>
          <p:nvSpPr>
            <p:cNvPr id="28" name="object 28"/>
            <p:cNvSpPr/>
            <p:nvPr/>
          </p:nvSpPr>
          <p:spPr>
            <a:xfrm>
              <a:off x="7009845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8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09845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8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82927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3"/>
                  </a:moveTo>
                  <a:lnTo>
                    <a:pt x="91651" y="183303"/>
                  </a:lnTo>
                  <a:lnTo>
                    <a:pt x="55976" y="176100"/>
                  </a:lnTo>
                  <a:lnTo>
                    <a:pt x="26844" y="156459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0" y="56578"/>
                  </a:lnTo>
                  <a:lnTo>
                    <a:pt x="7202" y="55976"/>
                  </a:lnTo>
                  <a:lnTo>
                    <a:pt x="26844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8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9"/>
                  </a:lnTo>
                  <a:lnTo>
                    <a:pt x="538641" y="176100"/>
                  </a:lnTo>
                  <a:lnTo>
                    <a:pt x="502966" y="18330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82927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4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8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9"/>
                  </a:lnTo>
                  <a:lnTo>
                    <a:pt x="538641" y="176100"/>
                  </a:lnTo>
                  <a:lnTo>
                    <a:pt x="502966" y="183303"/>
                  </a:lnTo>
                  <a:lnTo>
                    <a:pt x="91651" y="183303"/>
                  </a:lnTo>
                  <a:lnTo>
                    <a:pt x="55976" y="176100"/>
                  </a:lnTo>
                  <a:lnTo>
                    <a:pt x="26844" y="156459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201086" y="4033530"/>
            <a:ext cx="358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877640" y="3657208"/>
            <a:ext cx="753745" cy="551815"/>
            <a:chOff x="7877640" y="3657208"/>
            <a:chExt cx="753745" cy="551815"/>
          </a:xfrm>
        </p:grpSpPr>
        <p:sp>
          <p:nvSpPr>
            <p:cNvPr id="34" name="object 34"/>
            <p:cNvSpPr/>
            <p:nvPr/>
          </p:nvSpPr>
          <p:spPr>
            <a:xfrm>
              <a:off x="7883990" y="3663558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3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7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3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83990" y="3663558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7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3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3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957072" y="4019258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2"/>
                  </a:moveTo>
                  <a:lnTo>
                    <a:pt x="91651" y="183302"/>
                  </a:lnTo>
                  <a:lnTo>
                    <a:pt x="55976" y="176100"/>
                  </a:lnTo>
                  <a:lnTo>
                    <a:pt x="26844" y="156458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1" y="56577"/>
                  </a:lnTo>
                  <a:lnTo>
                    <a:pt x="7202" y="55976"/>
                  </a:lnTo>
                  <a:lnTo>
                    <a:pt x="26844" y="26843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7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8"/>
                  </a:lnTo>
                  <a:lnTo>
                    <a:pt x="538641" y="176100"/>
                  </a:lnTo>
                  <a:lnTo>
                    <a:pt x="502966" y="183302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957072" y="4019258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4" y="26843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7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8"/>
                  </a:lnTo>
                  <a:lnTo>
                    <a:pt x="538641" y="176100"/>
                  </a:lnTo>
                  <a:lnTo>
                    <a:pt x="502966" y="183302"/>
                  </a:lnTo>
                  <a:lnTo>
                    <a:pt x="91651" y="183302"/>
                  </a:lnTo>
                  <a:lnTo>
                    <a:pt x="55976" y="176100"/>
                  </a:lnTo>
                  <a:lnTo>
                    <a:pt x="26844" y="156458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075231" y="4032234"/>
            <a:ext cx="358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95236" y="3045785"/>
            <a:ext cx="1981835" cy="544195"/>
            <a:chOff x="6395236" y="3045785"/>
            <a:chExt cx="1981835" cy="544195"/>
          </a:xfrm>
        </p:grpSpPr>
        <p:sp>
          <p:nvSpPr>
            <p:cNvPr id="40" name="object 40"/>
            <p:cNvSpPr/>
            <p:nvPr/>
          </p:nvSpPr>
          <p:spPr>
            <a:xfrm>
              <a:off x="6415732" y="3384339"/>
              <a:ext cx="1941195" cy="144145"/>
            </a:xfrm>
            <a:custGeom>
              <a:avLst/>
              <a:gdLst/>
              <a:ahLst/>
              <a:cxnLst/>
              <a:rect l="l" t="t" r="r" b="b"/>
              <a:pathLst>
                <a:path w="1941195" h="144145">
                  <a:moveTo>
                    <a:pt x="0" y="0"/>
                  </a:moveTo>
                  <a:lnTo>
                    <a:pt x="1940667" y="0"/>
                  </a:lnTo>
                </a:path>
                <a:path w="1941195" h="144145">
                  <a:moveTo>
                    <a:pt x="0" y="10608"/>
                  </a:moveTo>
                  <a:lnTo>
                    <a:pt x="0" y="14353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99999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99999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11989" y="3394948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h="133350">
                  <a:moveTo>
                    <a:pt x="0" y="0"/>
                  </a:moveTo>
                  <a:lnTo>
                    <a:pt x="0" y="13293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96256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96256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356400" y="341511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62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40667" y="35417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40667" y="35417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18827" y="3045785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39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55033" y="4037547"/>
            <a:ext cx="208026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8605" marR="153035" indent="-256540">
              <a:lnSpc>
                <a:spcPts val="1650"/>
              </a:lnSpc>
              <a:spcBef>
                <a:spcPts val="180"/>
              </a:spcBef>
              <a:buChar char="-"/>
              <a:tabLst>
                <a:tab pos="268605" algn="l"/>
              </a:tabLst>
            </a:pPr>
            <a:r>
              <a:rPr sz="1400" dirty="0">
                <a:latin typeface="Arial"/>
                <a:cs typeface="Arial"/>
              </a:rPr>
              <a:t>Reachable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within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spc="-10" dirty="0">
                <a:latin typeface="Arial"/>
                <a:cs typeface="Arial"/>
              </a:rPr>
              <a:t>cluster.</a:t>
            </a:r>
            <a:endParaRPr sz="1400">
              <a:latin typeface="Arial"/>
              <a:cs typeface="Arial"/>
            </a:endParaRPr>
          </a:p>
          <a:p>
            <a:pPr marL="268605" marR="5080" indent="-256540">
              <a:lnSpc>
                <a:spcPts val="1650"/>
              </a:lnSpc>
              <a:buChar char="-"/>
              <a:tabLst>
                <a:tab pos="268605" algn="l"/>
              </a:tabLst>
            </a:pPr>
            <a:r>
              <a:rPr sz="1400" dirty="0">
                <a:latin typeface="Arial"/>
                <a:cs typeface="Arial"/>
              </a:rPr>
              <a:t>Connects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Frontend </a:t>
            </a:r>
            <a:r>
              <a:rPr sz="1400" dirty="0">
                <a:latin typeface="Arial"/>
                <a:cs typeface="Arial"/>
              </a:rPr>
              <a:t>Pods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Backend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Pods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51" name="object 51"/>
          <p:cNvSpPr txBox="1"/>
          <p:nvPr/>
        </p:nvSpPr>
        <p:spPr>
          <a:xfrm>
            <a:off x="3140401" y="3969606"/>
            <a:ext cx="211963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8605" marR="5080" indent="-256540">
              <a:lnSpc>
                <a:spcPts val="1650"/>
              </a:lnSpc>
              <a:spcBef>
                <a:spcPts val="180"/>
              </a:spcBef>
              <a:tabLst>
                <a:tab pos="268605" algn="l"/>
              </a:tabLst>
            </a:pPr>
            <a:r>
              <a:rPr sz="1400" spc="-50" dirty="0">
                <a:latin typeface="Arial"/>
                <a:cs typeface="Arial"/>
              </a:rPr>
              <a:t>-</a:t>
            </a:r>
            <a:r>
              <a:rPr sz="1400" dirty="0">
                <a:latin typeface="Arial"/>
                <a:cs typeface="Arial"/>
              </a:rPr>
              <a:t>	Exposing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Frontend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app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external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world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09557" y="4408418"/>
            <a:ext cx="2406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400" spc="-50" dirty="0">
                <a:latin typeface="Arial"/>
                <a:cs typeface="Arial"/>
              </a:rPr>
              <a:t>-</a:t>
            </a:r>
            <a:r>
              <a:rPr sz="1400" dirty="0">
                <a:latin typeface="Arial"/>
                <a:cs typeface="Arial"/>
              </a:rPr>
              <a:t>	Equally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distribute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loads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4336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Services:</a:t>
            </a:r>
            <a:r>
              <a:rPr sz="4000" spc="-229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ClusterIP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Services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44145" marR="213995" indent="-132080">
              <a:lnSpc>
                <a:spcPts val="2180"/>
              </a:lnSpc>
              <a:spcBef>
                <a:spcPts val="355"/>
              </a:spcBef>
              <a:buClr>
                <a:srgbClr val="FFAB40"/>
              </a:buClr>
              <a:buChar char="•"/>
              <a:tabLst>
                <a:tab pos="145415" algn="l"/>
                <a:tab pos="1711960" algn="l"/>
              </a:tabLst>
            </a:pPr>
            <a:r>
              <a:rPr dirty="0"/>
              <a:t>Imagine</a:t>
            </a:r>
            <a:r>
              <a:rPr spc="-50" dirty="0"/>
              <a:t> </a:t>
            </a:r>
            <a:r>
              <a:rPr dirty="0"/>
              <a:t>you</a:t>
            </a:r>
            <a:r>
              <a:rPr spc="-50" dirty="0"/>
              <a:t> </a:t>
            </a:r>
            <a:r>
              <a:rPr dirty="0"/>
              <a:t>need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deploy</a:t>
            </a:r>
            <a:r>
              <a:rPr spc="-50" dirty="0"/>
              <a:t> </a:t>
            </a:r>
            <a:r>
              <a:rPr dirty="0"/>
              <a:t>one</a:t>
            </a:r>
            <a:r>
              <a:rPr spc="-45" dirty="0"/>
              <a:t> </a:t>
            </a:r>
            <a:r>
              <a:rPr dirty="0"/>
              <a:t>full</a:t>
            </a:r>
            <a:r>
              <a:rPr spc="-50" dirty="0"/>
              <a:t> </a:t>
            </a:r>
            <a:r>
              <a:rPr dirty="0"/>
              <a:t>fledge</a:t>
            </a:r>
            <a:r>
              <a:rPr spc="-45" dirty="0"/>
              <a:t> </a:t>
            </a:r>
            <a:r>
              <a:rPr dirty="0"/>
              <a:t>app</a:t>
            </a:r>
            <a:r>
              <a:rPr spc="-50" dirty="0"/>
              <a:t> </a:t>
            </a:r>
            <a:r>
              <a:rPr dirty="0"/>
              <a:t>which</a:t>
            </a:r>
            <a:r>
              <a:rPr spc="-50" dirty="0"/>
              <a:t> </a:t>
            </a:r>
            <a:r>
              <a:rPr dirty="0"/>
              <a:t>consists</a:t>
            </a:r>
            <a:r>
              <a:rPr spc="-45" dirty="0"/>
              <a:t> </a:t>
            </a:r>
            <a:r>
              <a:rPr spc="-25" dirty="0"/>
              <a:t>of 	</a:t>
            </a:r>
            <a:r>
              <a:rPr dirty="0"/>
              <a:t>frontend</a:t>
            </a:r>
            <a:r>
              <a:rPr spc="-40" dirty="0"/>
              <a:t> </a:t>
            </a:r>
            <a:r>
              <a:rPr spc="-25" dirty="0"/>
              <a:t>app</a:t>
            </a:r>
            <a:r>
              <a:rPr dirty="0"/>
              <a:t>	&amp;</a:t>
            </a:r>
            <a:r>
              <a:rPr spc="-65" dirty="0"/>
              <a:t> </a:t>
            </a:r>
            <a:r>
              <a:rPr dirty="0"/>
              <a:t>backend</a:t>
            </a:r>
            <a:r>
              <a:rPr spc="-65" dirty="0"/>
              <a:t> </a:t>
            </a:r>
            <a:r>
              <a:rPr spc="-25" dirty="0"/>
              <a:t>app</a:t>
            </a:r>
          </a:p>
          <a:p>
            <a:pPr>
              <a:lnSpc>
                <a:spcPct val="100000"/>
              </a:lnSpc>
              <a:spcBef>
                <a:spcPts val="1365"/>
              </a:spcBef>
              <a:buClr>
                <a:srgbClr val="FFAB40"/>
              </a:buClr>
              <a:buFont typeface="Arial"/>
              <a:buChar char="•"/>
            </a:pPr>
            <a:endParaRPr spc="-25" dirty="0"/>
          </a:p>
          <a:p>
            <a:pPr marL="144145" marR="5080" indent="-132080">
              <a:lnSpc>
                <a:spcPts val="2180"/>
              </a:lnSpc>
              <a:buClr>
                <a:srgbClr val="FFAB40"/>
              </a:buClr>
              <a:buChar char="•"/>
              <a:tabLst>
                <a:tab pos="145415" algn="l"/>
              </a:tabLst>
            </a:pPr>
            <a:r>
              <a:rPr dirty="0"/>
              <a:t>How</a:t>
            </a:r>
            <a:r>
              <a:rPr spc="-4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we</a:t>
            </a:r>
            <a:r>
              <a:rPr spc="-40" dirty="0"/>
              <a:t> </a:t>
            </a:r>
            <a:r>
              <a:rPr dirty="0"/>
              <a:t>restrict</a:t>
            </a:r>
            <a:r>
              <a:rPr spc="-45" dirty="0"/>
              <a:t> </a:t>
            </a:r>
            <a:r>
              <a:rPr dirty="0"/>
              <a:t>access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backend</a:t>
            </a:r>
            <a:r>
              <a:rPr spc="-45" dirty="0"/>
              <a:t> </a:t>
            </a:r>
            <a:r>
              <a:rPr dirty="0"/>
              <a:t>database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only</a:t>
            </a:r>
            <a:r>
              <a:rPr spc="-45" dirty="0"/>
              <a:t> </a:t>
            </a:r>
            <a:r>
              <a:rPr dirty="0"/>
              <a:t>within</a:t>
            </a:r>
            <a:r>
              <a:rPr spc="-45" dirty="0"/>
              <a:t> </a:t>
            </a:r>
            <a:r>
              <a:rPr spc="-25" dirty="0"/>
              <a:t>the 	</a:t>
            </a:r>
            <a:r>
              <a:rPr dirty="0"/>
              <a:t>kubernetes</a:t>
            </a:r>
            <a:r>
              <a:rPr spc="-5" dirty="0"/>
              <a:t> </a:t>
            </a:r>
            <a:r>
              <a:rPr spc="-10" dirty="0"/>
              <a:t>cluster?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5621" y="288617"/>
            <a:ext cx="7790180" cy="4355465"/>
            <a:chOff x="795621" y="288617"/>
            <a:chExt cx="7790180" cy="4355465"/>
          </a:xfrm>
        </p:grpSpPr>
        <p:sp>
          <p:nvSpPr>
            <p:cNvPr id="3" name="object 3"/>
            <p:cNvSpPr/>
            <p:nvPr/>
          </p:nvSpPr>
          <p:spPr>
            <a:xfrm>
              <a:off x="801971" y="439032"/>
              <a:ext cx="7777480" cy="4198620"/>
            </a:xfrm>
            <a:custGeom>
              <a:avLst/>
              <a:gdLst/>
              <a:ahLst/>
              <a:cxnLst/>
              <a:rect l="l" t="t" r="r" b="b"/>
              <a:pathLst>
                <a:path w="7777480" h="4198620">
                  <a:moveTo>
                    <a:pt x="0" y="699743"/>
                  </a:moveTo>
                  <a:lnTo>
                    <a:pt x="1614" y="651834"/>
                  </a:lnTo>
                  <a:lnTo>
                    <a:pt x="6387" y="604792"/>
                  </a:lnTo>
                  <a:lnTo>
                    <a:pt x="14216" y="558720"/>
                  </a:lnTo>
                  <a:lnTo>
                    <a:pt x="24995" y="513723"/>
                  </a:lnTo>
                  <a:lnTo>
                    <a:pt x="38621" y="469905"/>
                  </a:lnTo>
                  <a:lnTo>
                    <a:pt x="54989" y="427371"/>
                  </a:lnTo>
                  <a:lnTo>
                    <a:pt x="73995" y="386224"/>
                  </a:lnTo>
                  <a:lnTo>
                    <a:pt x="95535" y="346569"/>
                  </a:lnTo>
                  <a:lnTo>
                    <a:pt x="119505" y="308510"/>
                  </a:lnTo>
                  <a:lnTo>
                    <a:pt x="145800" y="272150"/>
                  </a:lnTo>
                  <a:lnTo>
                    <a:pt x="174316" y="237596"/>
                  </a:lnTo>
                  <a:lnTo>
                    <a:pt x="204950" y="204950"/>
                  </a:lnTo>
                  <a:lnTo>
                    <a:pt x="237596" y="174316"/>
                  </a:lnTo>
                  <a:lnTo>
                    <a:pt x="272150" y="145800"/>
                  </a:lnTo>
                  <a:lnTo>
                    <a:pt x="308510" y="119505"/>
                  </a:lnTo>
                  <a:lnTo>
                    <a:pt x="346569" y="95535"/>
                  </a:lnTo>
                  <a:lnTo>
                    <a:pt x="386224" y="73995"/>
                  </a:lnTo>
                  <a:lnTo>
                    <a:pt x="427371" y="54989"/>
                  </a:lnTo>
                  <a:lnTo>
                    <a:pt x="469905" y="38621"/>
                  </a:lnTo>
                  <a:lnTo>
                    <a:pt x="513723" y="24995"/>
                  </a:lnTo>
                  <a:lnTo>
                    <a:pt x="558720" y="14216"/>
                  </a:lnTo>
                  <a:lnTo>
                    <a:pt x="604792" y="6387"/>
                  </a:lnTo>
                  <a:lnTo>
                    <a:pt x="651834" y="1614"/>
                  </a:lnTo>
                  <a:lnTo>
                    <a:pt x="699743" y="0"/>
                  </a:lnTo>
                  <a:lnTo>
                    <a:pt x="7077572" y="0"/>
                  </a:lnTo>
                  <a:lnTo>
                    <a:pt x="7127968" y="1815"/>
                  </a:lnTo>
                  <a:lnTo>
                    <a:pt x="7177810" y="7213"/>
                  </a:lnTo>
                  <a:lnTo>
                    <a:pt x="7226923" y="16121"/>
                  </a:lnTo>
                  <a:lnTo>
                    <a:pt x="7275129" y="28465"/>
                  </a:lnTo>
                  <a:lnTo>
                    <a:pt x="7322252" y="44172"/>
                  </a:lnTo>
                  <a:lnTo>
                    <a:pt x="7368116" y="63170"/>
                  </a:lnTo>
                  <a:lnTo>
                    <a:pt x="7412544" y="85384"/>
                  </a:lnTo>
                  <a:lnTo>
                    <a:pt x="7455359" y="110742"/>
                  </a:lnTo>
                  <a:lnTo>
                    <a:pt x="7496386" y="139171"/>
                  </a:lnTo>
                  <a:lnTo>
                    <a:pt x="7535447" y="170598"/>
                  </a:lnTo>
                  <a:lnTo>
                    <a:pt x="7572366" y="204949"/>
                  </a:lnTo>
                  <a:lnTo>
                    <a:pt x="7606717" y="241869"/>
                  </a:lnTo>
                  <a:lnTo>
                    <a:pt x="7638144" y="280930"/>
                  </a:lnTo>
                  <a:lnTo>
                    <a:pt x="7666573" y="321956"/>
                  </a:lnTo>
                  <a:lnTo>
                    <a:pt x="7691931" y="364771"/>
                  </a:lnTo>
                  <a:lnTo>
                    <a:pt x="7714146" y="409199"/>
                  </a:lnTo>
                  <a:lnTo>
                    <a:pt x="7733143" y="455063"/>
                  </a:lnTo>
                  <a:lnTo>
                    <a:pt x="7748850" y="502186"/>
                  </a:lnTo>
                  <a:lnTo>
                    <a:pt x="7761194" y="550392"/>
                  </a:lnTo>
                  <a:lnTo>
                    <a:pt x="7770102" y="599505"/>
                  </a:lnTo>
                  <a:lnTo>
                    <a:pt x="7775500" y="649347"/>
                  </a:lnTo>
                  <a:lnTo>
                    <a:pt x="7777316" y="699743"/>
                  </a:lnTo>
                  <a:lnTo>
                    <a:pt x="7777316" y="3498631"/>
                  </a:lnTo>
                  <a:lnTo>
                    <a:pt x="7775701" y="3546540"/>
                  </a:lnTo>
                  <a:lnTo>
                    <a:pt x="7770928" y="3593582"/>
                  </a:lnTo>
                  <a:lnTo>
                    <a:pt x="7763099" y="3639654"/>
                  </a:lnTo>
                  <a:lnTo>
                    <a:pt x="7752320" y="3684651"/>
                  </a:lnTo>
                  <a:lnTo>
                    <a:pt x="7738694" y="3728469"/>
                  </a:lnTo>
                  <a:lnTo>
                    <a:pt x="7722326" y="3771003"/>
                  </a:lnTo>
                  <a:lnTo>
                    <a:pt x="7703320" y="3812150"/>
                  </a:lnTo>
                  <a:lnTo>
                    <a:pt x="7681780" y="3851805"/>
                  </a:lnTo>
                  <a:lnTo>
                    <a:pt x="7657811" y="3889864"/>
                  </a:lnTo>
                  <a:lnTo>
                    <a:pt x="7631515" y="3926223"/>
                  </a:lnTo>
                  <a:lnTo>
                    <a:pt x="7602999" y="3960778"/>
                  </a:lnTo>
                  <a:lnTo>
                    <a:pt x="7572366" y="3993424"/>
                  </a:lnTo>
                  <a:lnTo>
                    <a:pt x="7539719" y="4024058"/>
                  </a:lnTo>
                  <a:lnTo>
                    <a:pt x="7505165" y="4052574"/>
                  </a:lnTo>
                  <a:lnTo>
                    <a:pt x="7468806" y="4078869"/>
                  </a:lnTo>
                  <a:lnTo>
                    <a:pt x="7430746" y="4102839"/>
                  </a:lnTo>
                  <a:lnTo>
                    <a:pt x="7391091" y="4124379"/>
                  </a:lnTo>
                  <a:lnTo>
                    <a:pt x="7349944" y="4143385"/>
                  </a:lnTo>
                  <a:lnTo>
                    <a:pt x="7307410" y="4159753"/>
                  </a:lnTo>
                  <a:lnTo>
                    <a:pt x="7263592" y="4173379"/>
                  </a:lnTo>
                  <a:lnTo>
                    <a:pt x="7218595" y="4184158"/>
                  </a:lnTo>
                  <a:lnTo>
                    <a:pt x="7172523" y="4191986"/>
                  </a:lnTo>
                  <a:lnTo>
                    <a:pt x="7125481" y="4196760"/>
                  </a:lnTo>
                  <a:lnTo>
                    <a:pt x="7077572" y="4198374"/>
                  </a:lnTo>
                  <a:lnTo>
                    <a:pt x="699743" y="4198374"/>
                  </a:lnTo>
                  <a:lnTo>
                    <a:pt x="651834" y="4196760"/>
                  </a:lnTo>
                  <a:lnTo>
                    <a:pt x="604792" y="4191986"/>
                  </a:lnTo>
                  <a:lnTo>
                    <a:pt x="558720" y="4184158"/>
                  </a:lnTo>
                  <a:lnTo>
                    <a:pt x="513723" y="4173379"/>
                  </a:lnTo>
                  <a:lnTo>
                    <a:pt x="469905" y="4159753"/>
                  </a:lnTo>
                  <a:lnTo>
                    <a:pt x="427371" y="4143385"/>
                  </a:lnTo>
                  <a:lnTo>
                    <a:pt x="386224" y="4124379"/>
                  </a:lnTo>
                  <a:lnTo>
                    <a:pt x="346569" y="4102839"/>
                  </a:lnTo>
                  <a:lnTo>
                    <a:pt x="308510" y="4078869"/>
                  </a:lnTo>
                  <a:lnTo>
                    <a:pt x="272150" y="4052574"/>
                  </a:lnTo>
                  <a:lnTo>
                    <a:pt x="237596" y="4024058"/>
                  </a:lnTo>
                  <a:lnTo>
                    <a:pt x="204950" y="3993424"/>
                  </a:lnTo>
                  <a:lnTo>
                    <a:pt x="174316" y="3960778"/>
                  </a:lnTo>
                  <a:lnTo>
                    <a:pt x="145800" y="3926223"/>
                  </a:lnTo>
                  <a:lnTo>
                    <a:pt x="119505" y="3889864"/>
                  </a:lnTo>
                  <a:lnTo>
                    <a:pt x="95535" y="3851805"/>
                  </a:lnTo>
                  <a:lnTo>
                    <a:pt x="73995" y="3812150"/>
                  </a:lnTo>
                  <a:lnTo>
                    <a:pt x="54989" y="3771003"/>
                  </a:lnTo>
                  <a:lnTo>
                    <a:pt x="38621" y="3728469"/>
                  </a:lnTo>
                  <a:lnTo>
                    <a:pt x="24995" y="3684651"/>
                  </a:lnTo>
                  <a:lnTo>
                    <a:pt x="14216" y="3639654"/>
                  </a:lnTo>
                  <a:lnTo>
                    <a:pt x="6387" y="3593582"/>
                  </a:lnTo>
                  <a:lnTo>
                    <a:pt x="1614" y="3546540"/>
                  </a:lnTo>
                  <a:lnTo>
                    <a:pt x="0" y="3498631"/>
                  </a:lnTo>
                  <a:lnTo>
                    <a:pt x="0" y="69974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60955" y="294967"/>
              <a:ext cx="2773045" cy="304800"/>
            </a:xfrm>
            <a:custGeom>
              <a:avLst/>
              <a:gdLst/>
              <a:ahLst/>
              <a:cxnLst/>
              <a:rect l="l" t="t" r="r" b="b"/>
              <a:pathLst>
                <a:path w="2773045" h="304800">
                  <a:moveTo>
                    <a:pt x="2721895" y="304799"/>
                  </a:moveTo>
                  <a:lnTo>
                    <a:pt x="50801" y="304799"/>
                  </a:lnTo>
                  <a:lnTo>
                    <a:pt x="31027" y="300807"/>
                  </a:lnTo>
                  <a:lnTo>
                    <a:pt x="14879" y="289920"/>
                  </a:lnTo>
                  <a:lnTo>
                    <a:pt x="3992" y="273773"/>
                  </a:lnTo>
                  <a:lnTo>
                    <a:pt x="0" y="253998"/>
                  </a:lnTo>
                  <a:lnTo>
                    <a:pt x="0" y="50801"/>
                  </a:lnTo>
                  <a:lnTo>
                    <a:pt x="3992" y="31026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1" y="0"/>
                  </a:lnTo>
                  <a:lnTo>
                    <a:pt x="2721895" y="0"/>
                  </a:lnTo>
                  <a:lnTo>
                    <a:pt x="2757817" y="14879"/>
                  </a:lnTo>
                  <a:lnTo>
                    <a:pt x="2772696" y="50801"/>
                  </a:lnTo>
                  <a:lnTo>
                    <a:pt x="2772696" y="253998"/>
                  </a:lnTo>
                  <a:lnTo>
                    <a:pt x="2768704" y="273773"/>
                  </a:lnTo>
                  <a:lnTo>
                    <a:pt x="2757817" y="289920"/>
                  </a:lnTo>
                  <a:lnTo>
                    <a:pt x="2741669" y="300807"/>
                  </a:lnTo>
                  <a:lnTo>
                    <a:pt x="2721895" y="3047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60955" y="294967"/>
              <a:ext cx="2773045" cy="304800"/>
            </a:xfrm>
            <a:custGeom>
              <a:avLst/>
              <a:gdLst/>
              <a:ahLst/>
              <a:cxnLst/>
              <a:rect l="l" t="t" r="r" b="b"/>
              <a:pathLst>
                <a:path w="2773045" h="304800">
                  <a:moveTo>
                    <a:pt x="0" y="50801"/>
                  </a:moveTo>
                  <a:lnTo>
                    <a:pt x="3992" y="31026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1" y="0"/>
                  </a:lnTo>
                  <a:lnTo>
                    <a:pt x="2721895" y="0"/>
                  </a:lnTo>
                  <a:lnTo>
                    <a:pt x="2757817" y="14879"/>
                  </a:lnTo>
                  <a:lnTo>
                    <a:pt x="2772696" y="50801"/>
                  </a:lnTo>
                  <a:lnTo>
                    <a:pt x="2772696" y="253998"/>
                  </a:lnTo>
                  <a:lnTo>
                    <a:pt x="2768704" y="273773"/>
                  </a:lnTo>
                  <a:lnTo>
                    <a:pt x="2757817" y="289920"/>
                  </a:lnTo>
                  <a:lnTo>
                    <a:pt x="2741669" y="300807"/>
                  </a:lnTo>
                  <a:lnTo>
                    <a:pt x="2721895" y="304799"/>
                  </a:lnTo>
                  <a:lnTo>
                    <a:pt x="50801" y="304799"/>
                  </a:lnTo>
                  <a:lnTo>
                    <a:pt x="31027" y="300807"/>
                  </a:lnTo>
                  <a:lnTo>
                    <a:pt x="14879" y="289920"/>
                  </a:lnTo>
                  <a:lnTo>
                    <a:pt x="3992" y="273773"/>
                  </a:lnTo>
                  <a:lnTo>
                    <a:pt x="0" y="253998"/>
                  </a:lnTo>
                  <a:lnTo>
                    <a:pt x="0" y="5080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98995" y="338084"/>
            <a:ext cx="1296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192.168.1.1:31000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24026" y="929390"/>
            <a:ext cx="4825365" cy="3158490"/>
            <a:chOff x="2324026" y="929390"/>
            <a:chExt cx="4825365" cy="31584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038" y="929390"/>
              <a:ext cx="4601742" cy="13259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026" y="3431868"/>
              <a:ext cx="4825290" cy="65566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20269" y="2771332"/>
              <a:ext cx="1391285" cy="394335"/>
            </a:xfrm>
            <a:custGeom>
              <a:avLst/>
              <a:gdLst/>
              <a:ahLst/>
              <a:cxnLst/>
              <a:rect l="l" t="t" r="r" b="b"/>
              <a:pathLst>
                <a:path w="1391285" h="394335">
                  <a:moveTo>
                    <a:pt x="1325518" y="393963"/>
                  </a:moveTo>
                  <a:lnTo>
                    <a:pt x="65661" y="393963"/>
                  </a:lnTo>
                  <a:lnTo>
                    <a:pt x="40103" y="388803"/>
                  </a:lnTo>
                  <a:lnTo>
                    <a:pt x="19231" y="374731"/>
                  </a:lnTo>
                  <a:lnTo>
                    <a:pt x="5159" y="353859"/>
                  </a:lnTo>
                  <a:lnTo>
                    <a:pt x="0" y="328301"/>
                  </a:lnTo>
                  <a:lnTo>
                    <a:pt x="0" y="65661"/>
                  </a:lnTo>
                  <a:lnTo>
                    <a:pt x="5159" y="40103"/>
                  </a:lnTo>
                  <a:lnTo>
                    <a:pt x="19231" y="19231"/>
                  </a:lnTo>
                  <a:lnTo>
                    <a:pt x="40103" y="5160"/>
                  </a:lnTo>
                  <a:lnTo>
                    <a:pt x="65661" y="0"/>
                  </a:lnTo>
                  <a:lnTo>
                    <a:pt x="1325518" y="0"/>
                  </a:lnTo>
                  <a:lnTo>
                    <a:pt x="1371947" y="19231"/>
                  </a:lnTo>
                  <a:lnTo>
                    <a:pt x="1391179" y="65661"/>
                  </a:lnTo>
                  <a:lnTo>
                    <a:pt x="1391179" y="328301"/>
                  </a:lnTo>
                  <a:lnTo>
                    <a:pt x="1386019" y="353859"/>
                  </a:lnTo>
                  <a:lnTo>
                    <a:pt x="1371948" y="374731"/>
                  </a:lnTo>
                  <a:lnTo>
                    <a:pt x="1351076" y="388803"/>
                  </a:lnTo>
                  <a:lnTo>
                    <a:pt x="1325518" y="39396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20269" y="2771332"/>
              <a:ext cx="1391285" cy="394335"/>
            </a:xfrm>
            <a:custGeom>
              <a:avLst/>
              <a:gdLst/>
              <a:ahLst/>
              <a:cxnLst/>
              <a:rect l="l" t="t" r="r" b="b"/>
              <a:pathLst>
                <a:path w="1391285" h="394335">
                  <a:moveTo>
                    <a:pt x="0" y="65661"/>
                  </a:moveTo>
                  <a:lnTo>
                    <a:pt x="5159" y="40103"/>
                  </a:lnTo>
                  <a:lnTo>
                    <a:pt x="19231" y="19231"/>
                  </a:lnTo>
                  <a:lnTo>
                    <a:pt x="40103" y="5160"/>
                  </a:lnTo>
                  <a:lnTo>
                    <a:pt x="65661" y="0"/>
                  </a:lnTo>
                  <a:lnTo>
                    <a:pt x="1325518" y="0"/>
                  </a:lnTo>
                  <a:lnTo>
                    <a:pt x="1371947" y="19231"/>
                  </a:lnTo>
                  <a:lnTo>
                    <a:pt x="1391179" y="65661"/>
                  </a:lnTo>
                  <a:lnTo>
                    <a:pt x="1391179" y="328301"/>
                  </a:lnTo>
                  <a:lnTo>
                    <a:pt x="1386019" y="353859"/>
                  </a:lnTo>
                  <a:lnTo>
                    <a:pt x="1371948" y="374731"/>
                  </a:lnTo>
                  <a:lnTo>
                    <a:pt x="1351076" y="388803"/>
                  </a:lnTo>
                  <a:lnTo>
                    <a:pt x="1325518" y="393963"/>
                  </a:lnTo>
                  <a:lnTo>
                    <a:pt x="65661" y="393963"/>
                  </a:lnTo>
                  <a:lnTo>
                    <a:pt x="40103" y="388803"/>
                  </a:lnTo>
                  <a:lnTo>
                    <a:pt x="19231" y="374731"/>
                  </a:lnTo>
                  <a:lnTo>
                    <a:pt x="5159" y="353859"/>
                  </a:lnTo>
                  <a:lnTo>
                    <a:pt x="0" y="328301"/>
                  </a:lnTo>
                  <a:lnTo>
                    <a:pt x="0" y="656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0190" y="2573422"/>
              <a:ext cx="1151890" cy="286385"/>
            </a:xfrm>
            <a:custGeom>
              <a:avLst/>
              <a:gdLst/>
              <a:ahLst/>
              <a:cxnLst/>
              <a:rect l="l" t="t" r="r" b="b"/>
              <a:pathLst>
                <a:path w="1151889" h="286385">
                  <a:moveTo>
                    <a:pt x="1008401" y="285872"/>
                  </a:moveTo>
                  <a:lnTo>
                    <a:pt x="142935" y="285872"/>
                  </a:lnTo>
                  <a:lnTo>
                    <a:pt x="97756" y="278585"/>
                  </a:lnTo>
                  <a:lnTo>
                    <a:pt x="58519" y="258293"/>
                  </a:lnTo>
                  <a:lnTo>
                    <a:pt x="27578" y="227352"/>
                  </a:lnTo>
                  <a:lnTo>
                    <a:pt x="7286" y="188114"/>
                  </a:lnTo>
                  <a:lnTo>
                    <a:pt x="0" y="142935"/>
                  </a:lnTo>
                  <a:lnTo>
                    <a:pt x="7286" y="97757"/>
                  </a:lnTo>
                  <a:lnTo>
                    <a:pt x="27578" y="58519"/>
                  </a:lnTo>
                  <a:lnTo>
                    <a:pt x="58519" y="27578"/>
                  </a:lnTo>
                  <a:lnTo>
                    <a:pt x="97756" y="7286"/>
                  </a:lnTo>
                  <a:lnTo>
                    <a:pt x="142935" y="0"/>
                  </a:lnTo>
                  <a:lnTo>
                    <a:pt x="1008401" y="0"/>
                  </a:lnTo>
                  <a:lnTo>
                    <a:pt x="1063100" y="10880"/>
                  </a:lnTo>
                  <a:lnTo>
                    <a:pt x="1109472" y="41864"/>
                  </a:lnTo>
                  <a:lnTo>
                    <a:pt x="1140457" y="88236"/>
                  </a:lnTo>
                  <a:lnTo>
                    <a:pt x="1151337" y="142935"/>
                  </a:lnTo>
                  <a:lnTo>
                    <a:pt x="1144050" y="188114"/>
                  </a:lnTo>
                  <a:lnTo>
                    <a:pt x="1123759" y="227352"/>
                  </a:lnTo>
                  <a:lnTo>
                    <a:pt x="1092817" y="258293"/>
                  </a:lnTo>
                  <a:lnTo>
                    <a:pt x="1053580" y="278585"/>
                  </a:lnTo>
                  <a:lnTo>
                    <a:pt x="1008401" y="285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40190" y="2573422"/>
              <a:ext cx="1151890" cy="286385"/>
            </a:xfrm>
            <a:custGeom>
              <a:avLst/>
              <a:gdLst/>
              <a:ahLst/>
              <a:cxnLst/>
              <a:rect l="l" t="t" r="r" b="b"/>
              <a:pathLst>
                <a:path w="1151889" h="286385">
                  <a:moveTo>
                    <a:pt x="0" y="142935"/>
                  </a:moveTo>
                  <a:lnTo>
                    <a:pt x="7286" y="97757"/>
                  </a:lnTo>
                  <a:lnTo>
                    <a:pt x="27578" y="58519"/>
                  </a:lnTo>
                  <a:lnTo>
                    <a:pt x="58519" y="27578"/>
                  </a:lnTo>
                  <a:lnTo>
                    <a:pt x="97756" y="7286"/>
                  </a:lnTo>
                  <a:lnTo>
                    <a:pt x="142935" y="0"/>
                  </a:lnTo>
                  <a:lnTo>
                    <a:pt x="1008401" y="0"/>
                  </a:lnTo>
                  <a:lnTo>
                    <a:pt x="1063100" y="10880"/>
                  </a:lnTo>
                  <a:lnTo>
                    <a:pt x="1109472" y="41864"/>
                  </a:lnTo>
                  <a:lnTo>
                    <a:pt x="1140457" y="88236"/>
                  </a:lnTo>
                  <a:lnTo>
                    <a:pt x="1151337" y="142935"/>
                  </a:lnTo>
                  <a:lnTo>
                    <a:pt x="1144050" y="188114"/>
                  </a:lnTo>
                  <a:lnTo>
                    <a:pt x="1123759" y="227352"/>
                  </a:lnTo>
                  <a:lnTo>
                    <a:pt x="1092817" y="258293"/>
                  </a:lnTo>
                  <a:lnTo>
                    <a:pt x="1053580" y="278585"/>
                  </a:lnTo>
                  <a:lnTo>
                    <a:pt x="1008401" y="285872"/>
                  </a:lnTo>
                  <a:lnTo>
                    <a:pt x="142935" y="285872"/>
                  </a:lnTo>
                  <a:lnTo>
                    <a:pt x="97756" y="278585"/>
                  </a:lnTo>
                  <a:lnTo>
                    <a:pt x="58519" y="258293"/>
                  </a:lnTo>
                  <a:lnTo>
                    <a:pt x="27578" y="227352"/>
                  </a:lnTo>
                  <a:lnTo>
                    <a:pt x="7286" y="188114"/>
                  </a:lnTo>
                  <a:lnTo>
                    <a:pt x="0" y="14293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90021" y="2584741"/>
            <a:ext cx="851535" cy="4978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latin typeface="Arial"/>
                <a:cs typeface="Arial"/>
              </a:rPr>
              <a:t>10.210.1.1:8080</a:t>
            </a:r>
            <a:endParaRPr sz="9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585"/>
              </a:spcBef>
            </a:pPr>
            <a:r>
              <a:rPr sz="1400" spc="-10" dirty="0"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53404" y="6548"/>
            <a:ext cx="4542790" cy="3495675"/>
            <a:chOff x="3153404" y="6548"/>
            <a:chExt cx="4542790" cy="3495675"/>
          </a:xfrm>
        </p:grpSpPr>
        <p:sp>
          <p:nvSpPr>
            <p:cNvPr id="16" name="object 16"/>
            <p:cNvSpPr/>
            <p:nvPr/>
          </p:nvSpPr>
          <p:spPr>
            <a:xfrm>
              <a:off x="4694862" y="2288718"/>
              <a:ext cx="17145" cy="227965"/>
            </a:xfrm>
            <a:custGeom>
              <a:avLst/>
              <a:gdLst/>
              <a:ahLst/>
              <a:cxnLst/>
              <a:rect l="l" t="t" r="r" b="b"/>
              <a:pathLst>
                <a:path w="17145" h="227964">
                  <a:moveTo>
                    <a:pt x="0" y="0"/>
                  </a:moveTo>
                  <a:lnTo>
                    <a:pt x="16792" y="22770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79172" y="22456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4265"/>
                  </a:moveTo>
                  <a:lnTo>
                    <a:pt x="12510" y="0"/>
                  </a:lnTo>
                  <a:lnTo>
                    <a:pt x="31380" y="41951"/>
                  </a:lnTo>
                  <a:lnTo>
                    <a:pt x="0" y="442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79172" y="22456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80" y="41951"/>
                  </a:moveTo>
                  <a:lnTo>
                    <a:pt x="12510" y="0"/>
                  </a:lnTo>
                  <a:lnTo>
                    <a:pt x="0" y="44265"/>
                  </a:lnTo>
                  <a:lnTo>
                    <a:pt x="31380" y="4195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5965" y="251527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8869" y="44265"/>
                  </a:moveTo>
                  <a:lnTo>
                    <a:pt x="0" y="2314"/>
                  </a:lnTo>
                  <a:lnTo>
                    <a:pt x="31380" y="0"/>
                  </a:lnTo>
                  <a:lnTo>
                    <a:pt x="18869" y="442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5965" y="251527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2314"/>
                  </a:moveTo>
                  <a:lnTo>
                    <a:pt x="18869" y="44265"/>
                  </a:lnTo>
                  <a:lnTo>
                    <a:pt x="31380" y="0"/>
                  </a:lnTo>
                  <a:lnTo>
                    <a:pt x="0" y="2314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67904" y="2311979"/>
              <a:ext cx="1087120" cy="215265"/>
            </a:xfrm>
            <a:custGeom>
              <a:avLst/>
              <a:gdLst/>
              <a:ahLst/>
              <a:cxnLst/>
              <a:rect l="l" t="t" r="r" b="b"/>
              <a:pathLst>
                <a:path w="1087120" h="215264">
                  <a:moveTo>
                    <a:pt x="0" y="215145"/>
                  </a:moveTo>
                  <a:lnTo>
                    <a:pt x="1087087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25501" y="25116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57" y="30866"/>
                  </a:moveTo>
                  <a:lnTo>
                    <a:pt x="0" y="23825"/>
                  </a:lnTo>
                  <a:lnTo>
                    <a:pt x="39348" y="0"/>
                  </a:lnTo>
                  <a:lnTo>
                    <a:pt x="45457" y="3086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25501" y="25116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348" y="0"/>
                  </a:moveTo>
                  <a:lnTo>
                    <a:pt x="0" y="23825"/>
                  </a:lnTo>
                  <a:lnTo>
                    <a:pt x="45457" y="30866"/>
                  </a:lnTo>
                  <a:lnTo>
                    <a:pt x="39348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51938" y="229654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108" y="30866"/>
                  </a:moveTo>
                  <a:lnTo>
                    <a:pt x="0" y="0"/>
                  </a:lnTo>
                  <a:lnTo>
                    <a:pt x="45457" y="7041"/>
                  </a:lnTo>
                  <a:lnTo>
                    <a:pt x="6108" y="3086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51938" y="229654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108" y="30866"/>
                  </a:moveTo>
                  <a:lnTo>
                    <a:pt x="45457" y="7041"/>
                  </a:lnTo>
                  <a:lnTo>
                    <a:pt x="0" y="0"/>
                  </a:lnTo>
                  <a:lnTo>
                    <a:pt x="6108" y="30866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86663" y="2316766"/>
              <a:ext cx="1289050" cy="227329"/>
            </a:xfrm>
            <a:custGeom>
              <a:avLst/>
              <a:gdLst/>
              <a:ahLst/>
              <a:cxnLst/>
              <a:rect l="l" t="t" r="r" b="b"/>
              <a:pathLst>
                <a:path w="1289050" h="227330">
                  <a:moveTo>
                    <a:pt x="0" y="0"/>
                  </a:moveTo>
                  <a:lnTo>
                    <a:pt x="1288525" y="227026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4093" y="23012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839" y="30988"/>
                  </a:moveTo>
                  <a:lnTo>
                    <a:pt x="0" y="7993"/>
                  </a:lnTo>
                  <a:lnTo>
                    <a:pt x="45299" y="0"/>
                  </a:lnTo>
                  <a:lnTo>
                    <a:pt x="39839" y="30988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44093" y="23012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299" y="0"/>
                  </a:moveTo>
                  <a:lnTo>
                    <a:pt x="0" y="7993"/>
                  </a:lnTo>
                  <a:lnTo>
                    <a:pt x="39839" y="30988"/>
                  </a:lnTo>
                  <a:lnTo>
                    <a:pt x="452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459" y="252829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88"/>
                  </a:moveTo>
                  <a:lnTo>
                    <a:pt x="5459" y="0"/>
                  </a:lnTo>
                  <a:lnTo>
                    <a:pt x="45299" y="22994"/>
                  </a:lnTo>
                  <a:lnTo>
                    <a:pt x="0" y="30988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2459" y="252829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88"/>
                  </a:moveTo>
                  <a:lnTo>
                    <a:pt x="45299" y="22994"/>
                  </a:lnTo>
                  <a:lnTo>
                    <a:pt x="5459" y="0"/>
                  </a:lnTo>
                  <a:lnTo>
                    <a:pt x="0" y="3098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00675" y="3185515"/>
              <a:ext cx="1280160" cy="236220"/>
            </a:xfrm>
            <a:custGeom>
              <a:avLst/>
              <a:gdLst/>
              <a:ahLst/>
              <a:cxnLst/>
              <a:rect l="l" t="t" r="r" b="b"/>
              <a:pathLst>
                <a:path w="1280160" h="236220">
                  <a:moveTo>
                    <a:pt x="0" y="235987"/>
                  </a:moveTo>
                  <a:lnTo>
                    <a:pt x="1279621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58166" y="340603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5361" y="30943"/>
                  </a:moveTo>
                  <a:lnTo>
                    <a:pt x="0" y="23311"/>
                  </a:lnTo>
                  <a:lnTo>
                    <a:pt x="39655" y="0"/>
                  </a:lnTo>
                  <a:lnTo>
                    <a:pt x="45361" y="3094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58166" y="340603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39655" y="0"/>
                  </a:moveTo>
                  <a:lnTo>
                    <a:pt x="0" y="23311"/>
                  </a:lnTo>
                  <a:lnTo>
                    <a:pt x="45361" y="30943"/>
                  </a:lnTo>
                  <a:lnTo>
                    <a:pt x="39655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77443" y="31700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706" y="30943"/>
                  </a:moveTo>
                  <a:lnTo>
                    <a:pt x="0" y="0"/>
                  </a:lnTo>
                  <a:lnTo>
                    <a:pt x="45361" y="7632"/>
                  </a:lnTo>
                  <a:lnTo>
                    <a:pt x="5706" y="3094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7443" y="31700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706" y="30943"/>
                  </a:moveTo>
                  <a:lnTo>
                    <a:pt x="45361" y="7632"/>
                  </a:lnTo>
                  <a:lnTo>
                    <a:pt x="0" y="0"/>
                  </a:lnTo>
                  <a:lnTo>
                    <a:pt x="5706" y="30943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71941" y="3176290"/>
              <a:ext cx="1558290" cy="305435"/>
            </a:xfrm>
            <a:custGeom>
              <a:avLst/>
              <a:gdLst/>
              <a:ahLst/>
              <a:cxnLst/>
              <a:rect l="l" t="t" r="r" b="b"/>
              <a:pathLst>
                <a:path w="1558289" h="305435">
                  <a:moveTo>
                    <a:pt x="0" y="0"/>
                  </a:moveTo>
                  <a:lnTo>
                    <a:pt x="1557786" y="305421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29523" y="316085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390" y="30877"/>
                  </a:moveTo>
                  <a:lnTo>
                    <a:pt x="0" y="7122"/>
                  </a:lnTo>
                  <a:lnTo>
                    <a:pt x="45444" y="0"/>
                  </a:lnTo>
                  <a:lnTo>
                    <a:pt x="39390" y="30877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29523" y="316085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44" y="0"/>
                  </a:moveTo>
                  <a:lnTo>
                    <a:pt x="0" y="7122"/>
                  </a:lnTo>
                  <a:lnTo>
                    <a:pt x="39390" y="30877"/>
                  </a:lnTo>
                  <a:lnTo>
                    <a:pt x="4544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6700" y="346627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877"/>
                  </a:moveTo>
                  <a:lnTo>
                    <a:pt x="6053" y="0"/>
                  </a:lnTo>
                  <a:lnTo>
                    <a:pt x="45444" y="23755"/>
                  </a:lnTo>
                  <a:lnTo>
                    <a:pt x="0" y="30877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26700" y="346627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877"/>
                  </a:moveTo>
                  <a:lnTo>
                    <a:pt x="45444" y="23755"/>
                  </a:lnTo>
                  <a:lnTo>
                    <a:pt x="6053" y="0"/>
                  </a:lnTo>
                  <a:lnTo>
                    <a:pt x="0" y="30877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45973" y="322244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27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30240" y="31792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30240" y="31792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30240" y="34047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30240" y="34047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31471" y="1511196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49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15738" y="146797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15738" y="146797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15738" y="171168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15738" y="171168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31471" y="656918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h="275590">
                  <a:moveTo>
                    <a:pt x="0" y="0"/>
                  </a:moveTo>
                  <a:lnTo>
                    <a:pt x="0" y="2752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15738" y="6136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615738" y="6136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15738" y="93220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15738" y="93220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31471" y="67209"/>
              <a:ext cx="1704339" cy="8890"/>
            </a:xfrm>
            <a:custGeom>
              <a:avLst/>
              <a:gdLst/>
              <a:ahLst/>
              <a:cxnLst/>
              <a:rect l="l" t="t" r="r" b="b"/>
              <a:pathLst>
                <a:path w="1704339" h="8890">
                  <a:moveTo>
                    <a:pt x="0" y="0"/>
                  </a:moveTo>
                  <a:lnTo>
                    <a:pt x="1703878" y="834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35273" y="598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153" y="0"/>
                  </a:lnTo>
                  <a:lnTo>
                    <a:pt x="43301" y="15944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335273" y="598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301" y="15944"/>
                  </a:lnTo>
                  <a:lnTo>
                    <a:pt x="153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60600" y="12898"/>
              <a:ext cx="547370" cy="302260"/>
            </a:xfrm>
            <a:custGeom>
              <a:avLst/>
              <a:gdLst/>
              <a:ahLst/>
              <a:cxnLst/>
              <a:rect l="l" t="t" r="r" b="b"/>
              <a:pathLst>
                <a:path w="547370" h="302260">
                  <a:moveTo>
                    <a:pt x="49554" y="99466"/>
                  </a:moveTo>
                  <a:lnTo>
                    <a:pt x="49693" y="81388"/>
                  </a:lnTo>
                  <a:lnTo>
                    <a:pt x="56340" y="64363"/>
                  </a:lnTo>
                  <a:lnTo>
                    <a:pt x="68921" y="49350"/>
                  </a:lnTo>
                  <a:lnTo>
                    <a:pt x="86860" y="37308"/>
                  </a:lnTo>
                  <a:lnTo>
                    <a:pt x="108546" y="29493"/>
                  </a:lnTo>
                  <a:lnTo>
                    <a:pt x="131822" y="26538"/>
                  </a:lnTo>
                  <a:lnTo>
                    <a:pt x="155286" y="28473"/>
                  </a:lnTo>
                  <a:lnTo>
                    <a:pt x="177539" y="35330"/>
                  </a:lnTo>
                  <a:lnTo>
                    <a:pt x="211727" y="12091"/>
                  </a:lnTo>
                  <a:lnTo>
                    <a:pt x="242690" y="8509"/>
                  </a:lnTo>
                  <a:lnTo>
                    <a:pt x="257955" y="10803"/>
                  </a:lnTo>
                  <a:lnTo>
                    <a:pt x="272117" y="15665"/>
                  </a:lnTo>
                  <a:lnTo>
                    <a:pt x="284571" y="22948"/>
                  </a:lnTo>
                  <a:lnTo>
                    <a:pt x="292410" y="14148"/>
                  </a:lnTo>
                  <a:lnTo>
                    <a:pt x="302770" y="7217"/>
                  </a:lnTo>
                  <a:lnTo>
                    <a:pt x="315096" y="2441"/>
                  </a:lnTo>
                  <a:lnTo>
                    <a:pt x="328831" y="109"/>
                  </a:lnTo>
                  <a:lnTo>
                    <a:pt x="342905" y="461"/>
                  </a:lnTo>
                  <a:lnTo>
                    <a:pt x="356203" y="3411"/>
                  </a:lnTo>
                  <a:lnTo>
                    <a:pt x="368109" y="8757"/>
                  </a:lnTo>
                  <a:lnTo>
                    <a:pt x="378003" y="16294"/>
                  </a:lnTo>
                  <a:lnTo>
                    <a:pt x="391090" y="7595"/>
                  </a:lnTo>
                  <a:lnTo>
                    <a:pt x="406596" y="2086"/>
                  </a:lnTo>
                  <a:lnTo>
                    <a:pt x="423527" y="0"/>
                  </a:lnTo>
                  <a:lnTo>
                    <a:pt x="440889" y="1569"/>
                  </a:lnTo>
                  <a:lnTo>
                    <a:pt x="456962" y="6736"/>
                  </a:lnTo>
                  <a:lnTo>
                    <a:pt x="470220" y="14904"/>
                  </a:lnTo>
                  <a:lnTo>
                    <a:pt x="479957" y="25499"/>
                  </a:lnTo>
                  <a:lnTo>
                    <a:pt x="485470" y="37946"/>
                  </a:lnTo>
                  <a:lnTo>
                    <a:pt x="520881" y="55647"/>
                  </a:lnTo>
                  <a:lnTo>
                    <a:pt x="535251" y="85897"/>
                  </a:lnTo>
                  <a:lnTo>
                    <a:pt x="534052" y="96654"/>
                  </a:lnTo>
                  <a:lnTo>
                    <a:pt x="529802" y="107089"/>
                  </a:lnTo>
                  <a:lnTo>
                    <a:pt x="541039" y="121714"/>
                  </a:lnTo>
                  <a:lnTo>
                    <a:pt x="546789" y="137759"/>
                  </a:lnTo>
                  <a:lnTo>
                    <a:pt x="546898" y="154375"/>
                  </a:lnTo>
                  <a:lnTo>
                    <a:pt x="541215" y="170715"/>
                  </a:lnTo>
                  <a:lnTo>
                    <a:pt x="530088" y="185387"/>
                  </a:lnTo>
                  <a:lnTo>
                    <a:pt x="514561" y="197215"/>
                  </a:lnTo>
                  <a:lnTo>
                    <a:pt x="495532" y="205670"/>
                  </a:lnTo>
                  <a:lnTo>
                    <a:pt x="473897" y="210228"/>
                  </a:lnTo>
                  <a:lnTo>
                    <a:pt x="471140" y="224751"/>
                  </a:lnTo>
                  <a:lnTo>
                    <a:pt x="435908" y="258022"/>
                  </a:lnTo>
                  <a:lnTo>
                    <a:pt x="398589" y="264800"/>
                  </a:lnTo>
                  <a:lnTo>
                    <a:pt x="379628" y="262513"/>
                  </a:lnTo>
                  <a:lnTo>
                    <a:pt x="361830" y="256471"/>
                  </a:lnTo>
                  <a:lnTo>
                    <a:pt x="335869" y="286584"/>
                  </a:lnTo>
                  <a:lnTo>
                    <a:pt x="292563" y="301553"/>
                  </a:lnTo>
                  <a:lnTo>
                    <a:pt x="268273" y="301649"/>
                  </a:lnTo>
                  <a:lnTo>
                    <a:pt x="245352" y="296732"/>
                  </a:lnTo>
                  <a:lnTo>
                    <a:pt x="225118" y="287240"/>
                  </a:lnTo>
                  <a:lnTo>
                    <a:pt x="208890" y="273616"/>
                  </a:lnTo>
                  <a:lnTo>
                    <a:pt x="191244" y="279904"/>
                  </a:lnTo>
                  <a:lnTo>
                    <a:pt x="172481" y="283402"/>
                  </a:lnTo>
                  <a:lnTo>
                    <a:pt x="153173" y="284048"/>
                  </a:lnTo>
                  <a:lnTo>
                    <a:pt x="133890" y="281781"/>
                  </a:lnTo>
                  <a:lnTo>
                    <a:pt x="115589" y="276670"/>
                  </a:lnTo>
                  <a:lnTo>
                    <a:pt x="99147" y="269006"/>
                  </a:lnTo>
                  <a:lnTo>
                    <a:pt x="85025" y="259052"/>
                  </a:lnTo>
                  <a:lnTo>
                    <a:pt x="73681" y="247074"/>
                  </a:lnTo>
                  <a:lnTo>
                    <a:pt x="27830" y="234956"/>
                  </a:lnTo>
                  <a:lnTo>
                    <a:pt x="12582" y="200082"/>
                  </a:lnTo>
                  <a:lnTo>
                    <a:pt x="17374" y="188172"/>
                  </a:lnTo>
                  <a:lnTo>
                    <a:pt x="26929" y="177665"/>
                  </a:lnTo>
                  <a:lnTo>
                    <a:pt x="13498" y="169318"/>
                  </a:lnTo>
                  <a:lnTo>
                    <a:pt x="4351" y="158497"/>
                  </a:lnTo>
                  <a:lnTo>
                    <a:pt x="0" y="146086"/>
                  </a:lnTo>
                  <a:lnTo>
                    <a:pt x="957" y="132964"/>
                  </a:lnTo>
                  <a:lnTo>
                    <a:pt x="7277" y="120721"/>
                  </a:lnTo>
                  <a:lnTo>
                    <a:pt x="18039" y="110786"/>
                  </a:lnTo>
                  <a:lnTo>
                    <a:pt x="32295" y="103801"/>
                  </a:lnTo>
                  <a:lnTo>
                    <a:pt x="49094" y="100407"/>
                  </a:lnTo>
                  <a:lnTo>
                    <a:pt x="49554" y="99466"/>
                  </a:lnTo>
                  <a:close/>
                </a:path>
                <a:path w="547370" h="302260">
                  <a:moveTo>
                    <a:pt x="26934" y="177663"/>
                  </a:moveTo>
                  <a:lnTo>
                    <a:pt x="34461" y="180436"/>
                  </a:lnTo>
                  <a:lnTo>
                    <a:pt x="42411" y="182306"/>
                  </a:lnTo>
                  <a:lnTo>
                    <a:pt x="50643" y="183248"/>
                  </a:lnTo>
                  <a:lnTo>
                    <a:pt x="59017" y="183238"/>
                  </a:lnTo>
                </a:path>
                <a:path w="547370" h="302260">
                  <a:moveTo>
                    <a:pt x="73682" y="247073"/>
                  </a:moveTo>
                  <a:lnTo>
                    <a:pt x="78497" y="246650"/>
                  </a:lnTo>
                  <a:lnTo>
                    <a:pt x="83216" y="245753"/>
                  </a:lnTo>
                  <a:lnTo>
                    <a:pt x="87719" y="244405"/>
                  </a:lnTo>
                </a:path>
                <a:path w="547370" h="302260">
                  <a:moveTo>
                    <a:pt x="208884" y="273615"/>
                  </a:moveTo>
                  <a:lnTo>
                    <a:pt x="205497" y="269796"/>
                  </a:lnTo>
                  <a:lnTo>
                    <a:pt x="202662" y="265715"/>
                  </a:lnTo>
                  <a:lnTo>
                    <a:pt x="200426" y="261442"/>
                  </a:lnTo>
                </a:path>
                <a:path w="547370" h="302260">
                  <a:moveTo>
                    <a:pt x="361830" y="256469"/>
                  </a:moveTo>
                  <a:lnTo>
                    <a:pt x="363577" y="252119"/>
                  </a:lnTo>
                  <a:lnTo>
                    <a:pt x="364709" y="247642"/>
                  </a:lnTo>
                  <a:lnTo>
                    <a:pt x="365207" y="243112"/>
                  </a:lnTo>
                </a:path>
                <a:path w="547370" h="302260">
                  <a:moveTo>
                    <a:pt x="473893" y="210227"/>
                  </a:moveTo>
                  <a:lnTo>
                    <a:pt x="471124" y="194786"/>
                  </a:lnTo>
                  <a:lnTo>
                    <a:pt x="462907" y="180798"/>
                  </a:lnTo>
                  <a:lnTo>
                    <a:pt x="449889" y="169045"/>
                  </a:lnTo>
                  <a:lnTo>
                    <a:pt x="432713" y="160309"/>
                  </a:lnTo>
                </a:path>
                <a:path w="547370" h="302260">
                  <a:moveTo>
                    <a:pt x="529797" y="107091"/>
                  </a:moveTo>
                  <a:lnTo>
                    <a:pt x="526316" y="112347"/>
                  </a:lnTo>
                  <a:lnTo>
                    <a:pt x="522068" y="117250"/>
                  </a:lnTo>
                  <a:lnTo>
                    <a:pt x="517101" y="121753"/>
                  </a:lnTo>
                  <a:lnTo>
                    <a:pt x="511461" y="125809"/>
                  </a:lnTo>
                </a:path>
                <a:path w="547370" h="302260">
                  <a:moveTo>
                    <a:pt x="485469" y="37946"/>
                  </a:moveTo>
                  <a:lnTo>
                    <a:pt x="486169" y="40863"/>
                  </a:lnTo>
                  <a:lnTo>
                    <a:pt x="486493" y="43823"/>
                  </a:lnTo>
                  <a:lnTo>
                    <a:pt x="486437" y="46786"/>
                  </a:lnTo>
                </a:path>
                <a:path w="547370" h="302260">
                  <a:moveTo>
                    <a:pt x="378004" y="16295"/>
                  </a:moveTo>
                  <a:lnTo>
                    <a:pt x="374163" y="19693"/>
                  </a:lnTo>
                  <a:lnTo>
                    <a:pt x="371000" y="23490"/>
                  </a:lnTo>
                  <a:lnTo>
                    <a:pt x="368610" y="27569"/>
                  </a:lnTo>
                </a:path>
                <a:path w="547370" h="302260">
                  <a:moveTo>
                    <a:pt x="284571" y="22948"/>
                  </a:moveTo>
                  <a:lnTo>
                    <a:pt x="282525" y="26034"/>
                  </a:lnTo>
                  <a:lnTo>
                    <a:pt x="280996" y="29300"/>
                  </a:lnTo>
                  <a:lnTo>
                    <a:pt x="280022" y="32670"/>
                  </a:lnTo>
                </a:path>
                <a:path w="547370" h="302260">
                  <a:moveTo>
                    <a:pt x="177537" y="35330"/>
                  </a:moveTo>
                  <a:lnTo>
                    <a:pt x="183513" y="37961"/>
                  </a:lnTo>
                  <a:lnTo>
                    <a:pt x="189041" y="41129"/>
                  </a:lnTo>
                  <a:lnTo>
                    <a:pt x="194000" y="44763"/>
                  </a:lnTo>
                </a:path>
                <a:path w="547370" h="302260">
                  <a:moveTo>
                    <a:pt x="49554" y="99466"/>
                  </a:moveTo>
                  <a:lnTo>
                    <a:pt x="50163" y="102826"/>
                  </a:lnTo>
                  <a:lnTo>
                    <a:pt x="51123" y="106144"/>
                  </a:lnTo>
                  <a:lnTo>
                    <a:pt x="52427" y="109390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57802" y="162943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20">
                  <a:moveTo>
                    <a:pt x="0" y="0"/>
                  </a:moveTo>
                  <a:lnTo>
                    <a:pt x="48999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47793" y="14721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647793" y="14721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15190" y="75832"/>
              <a:ext cx="2280285" cy="1186180"/>
            </a:xfrm>
            <a:custGeom>
              <a:avLst/>
              <a:gdLst/>
              <a:ahLst/>
              <a:cxnLst/>
              <a:rect l="l" t="t" r="r" b="b"/>
              <a:pathLst>
                <a:path w="2280284" h="1186180">
                  <a:moveTo>
                    <a:pt x="16280" y="219135"/>
                  </a:moveTo>
                  <a:lnTo>
                    <a:pt x="0" y="0"/>
                  </a:lnTo>
                </a:path>
                <a:path w="2280284" h="1186180">
                  <a:moveTo>
                    <a:pt x="2280283" y="1185669"/>
                  </a:moveTo>
                  <a:lnTo>
                    <a:pt x="899621" y="117487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71588" y="12349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01" y="31464"/>
                  </a:moveTo>
                  <a:lnTo>
                    <a:pt x="0" y="15394"/>
                  </a:lnTo>
                  <a:lnTo>
                    <a:pt x="43346" y="0"/>
                  </a:lnTo>
                  <a:lnTo>
                    <a:pt x="43101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471588" y="12349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46" y="0"/>
                  </a:moveTo>
                  <a:lnTo>
                    <a:pt x="0" y="15394"/>
                  </a:lnTo>
                  <a:lnTo>
                    <a:pt x="43101" y="31464"/>
                  </a:lnTo>
                  <a:lnTo>
                    <a:pt x="43346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514812" y="2990648"/>
              <a:ext cx="1635125" cy="15875"/>
            </a:xfrm>
            <a:custGeom>
              <a:avLst/>
              <a:gdLst/>
              <a:ahLst/>
              <a:cxnLst/>
              <a:rect l="l" t="t" r="r" b="b"/>
              <a:pathLst>
                <a:path w="1635125" h="15875">
                  <a:moveTo>
                    <a:pt x="1634504" y="0"/>
                  </a:moveTo>
                  <a:lnTo>
                    <a:pt x="0" y="1548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71588" y="29904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72" y="31464"/>
                  </a:moveTo>
                  <a:lnTo>
                    <a:pt x="0" y="16141"/>
                  </a:lnTo>
                  <a:lnTo>
                    <a:pt x="43074" y="0"/>
                  </a:lnTo>
                  <a:lnTo>
                    <a:pt x="43372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71588" y="29904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074" y="0"/>
                  </a:moveTo>
                  <a:lnTo>
                    <a:pt x="0" y="16141"/>
                  </a:lnTo>
                  <a:lnTo>
                    <a:pt x="43372" y="31464"/>
                  </a:lnTo>
                  <a:lnTo>
                    <a:pt x="4307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777968" y="-5465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User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70" name="object 70"/>
          <p:cNvSpPr txBox="1"/>
          <p:nvPr/>
        </p:nvSpPr>
        <p:spPr>
          <a:xfrm>
            <a:off x="6968500" y="1114659"/>
            <a:ext cx="7759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683C7"/>
                </a:solidFill>
                <a:latin typeface="Arial"/>
                <a:cs typeface="Arial"/>
              </a:rPr>
              <a:t>NodePort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222342" y="2849027"/>
            <a:ext cx="755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683C7"/>
                </a:solidFill>
                <a:latin typeface="Arial"/>
                <a:cs typeface="Arial"/>
              </a:rPr>
              <a:t>ClusterIP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Guestbook</a:t>
            </a:r>
            <a:r>
              <a:rPr spc="135" dirty="0"/>
              <a:t> </a:t>
            </a:r>
            <a:r>
              <a:rPr spc="-20" dirty="0"/>
              <a:t>Demo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293400"/>
            <a:ext cx="2444750" cy="7683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6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Frontend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Backend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DB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Redis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24263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Thank</a:t>
            </a:r>
            <a:r>
              <a:rPr sz="4000" spc="-80" dirty="0">
                <a:solidFill>
                  <a:srgbClr val="FFFFFF"/>
                </a:solidFill>
              </a:rPr>
              <a:t> </a:t>
            </a:r>
            <a:r>
              <a:rPr sz="4000" spc="-110" dirty="0">
                <a:solidFill>
                  <a:srgbClr val="FFFFFF"/>
                </a:solidFill>
              </a:rPr>
              <a:t>You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1952</Words>
  <Application>Microsoft Office PowerPoint</Application>
  <PresentationFormat>On-screen Show (16:9)</PresentationFormat>
  <Paragraphs>596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Arial</vt:lpstr>
      <vt:lpstr>Calibri</vt:lpstr>
      <vt:lpstr>Office Theme</vt:lpstr>
      <vt:lpstr>Demystifying Kubernetes</vt:lpstr>
      <vt:lpstr>Let’s start with an analogy..</vt:lpstr>
      <vt:lpstr>A Cargo Ship… Carries containers across the sea</vt:lpstr>
      <vt:lpstr>A Cargo Ship… Host Application as Containers ~ Worker Nodes</vt:lpstr>
      <vt:lpstr>Overview</vt:lpstr>
      <vt:lpstr>Control Ships.. Managing &amp; Monitoring of the cargo ships</vt:lpstr>
      <vt:lpstr>Control Ships.. Manage, Plan, Schedule, Monitor ~ Master</vt:lpstr>
      <vt:lpstr>Overview</vt:lpstr>
      <vt:lpstr>Let’s talk about Master Components..</vt:lpstr>
      <vt:lpstr>Ship Cranes Identifies the placement of containers</vt:lpstr>
      <vt:lpstr>Ship Cranes Identifies the right node to place a containers ~ Kube-Scheduler</vt:lpstr>
      <vt:lpstr>PowerPoint Presentation</vt:lpstr>
      <vt:lpstr>Overview</vt:lpstr>
      <vt:lpstr>Cargo Ship Profiles HA database ~ Which containers on which ships? When was it loaded?</vt:lpstr>
      <vt:lpstr>Cargo Ship Profiles HA database ~ Which containers on which ships? When was it loaded? ~ The ETCD Cluster</vt:lpstr>
      <vt:lpstr>Overview</vt:lpstr>
      <vt:lpstr>Offices in Dock</vt:lpstr>
      <vt:lpstr>Controllers</vt:lpstr>
      <vt:lpstr>Overview</vt:lpstr>
      <vt:lpstr>PowerPoint Presentation</vt:lpstr>
      <vt:lpstr>Kube API Server</vt:lpstr>
      <vt:lpstr>Overview</vt:lpstr>
      <vt:lpstr>In nutshell…</vt:lpstr>
      <vt:lpstr>Let’s talk about Worker Components..</vt:lpstr>
      <vt:lpstr>Overview</vt:lpstr>
      <vt:lpstr>Captain of the Ship</vt:lpstr>
      <vt:lpstr>Captain of the Ship ~ Kubelet Agent which runs on each nodes of the container</vt:lpstr>
      <vt:lpstr>Overview</vt:lpstr>
      <vt:lpstr>Communication between Cargo Ships How does two cargo ships communicate with each other?</vt:lpstr>
      <vt:lpstr>Kube-proxy Service</vt:lpstr>
      <vt:lpstr>Overview</vt:lpstr>
      <vt:lpstr>Let’s talk about Pods..</vt:lpstr>
      <vt:lpstr>Overview</vt:lpstr>
      <vt:lpstr>Overview</vt:lpstr>
      <vt:lpstr>Docker Containers A popular Container Runtime</vt:lpstr>
      <vt:lpstr>Overall Kubernetes Architecture</vt:lpstr>
      <vt:lpstr>Demo</vt:lpstr>
      <vt:lpstr>Let’s Deep Dive into Pods…</vt:lpstr>
      <vt:lpstr>Pod - Concepts</vt:lpstr>
      <vt:lpstr>Atomic Unit of Scheduling</vt:lpstr>
      <vt:lpstr>How Pods are deployed?</vt:lpstr>
      <vt:lpstr>Scaling the Pods to accommodate increasing traffic</vt:lpstr>
      <vt:lpstr>What if node resources is getting insufficient?</vt:lpstr>
      <vt:lpstr>What if node resources is getting insufficient?</vt:lpstr>
      <vt:lpstr>What if node resources is getting insufficient?</vt:lpstr>
      <vt:lpstr>2 Containers in a same Pod</vt:lpstr>
      <vt:lpstr>Pod Networking</vt:lpstr>
      <vt:lpstr>How does these containers inside Pods communicate with External World?</vt:lpstr>
      <vt:lpstr>Network Namespace</vt:lpstr>
      <vt:lpstr>PowerPoint Presentation</vt:lpstr>
      <vt:lpstr>Pod Networking</vt:lpstr>
      <vt:lpstr>How does Intra-Pod communication take place?</vt:lpstr>
      <vt:lpstr>Intra-Pod Communication</vt:lpstr>
      <vt:lpstr>A Look at Pod Manifest</vt:lpstr>
      <vt:lpstr>Get a shell to a running Container</vt:lpstr>
      <vt:lpstr>Get a shell to a running Container</vt:lpstr>
      <vt:lpstr>Stages of Life Cycle of Pod</vt:lpstr>
      <vt:lpstr>Lifecycle of a Pod</vt:lpstr>
      <vt:lpstr>PowerPoint Presentation</vt:lpstr>
      <vt:lpstr>What is ReplicaSet all about? Maintain a stable set of replica Pods running at any given time</vt:lpstr>
      <vt:lpstr>Replication Controller Vs ReplicaSets</vt:lpstr>
      <vt:lpstr>Labels &amp; Selectors When Pods are scaled, how are these Pods Managed at such large scale?</vt:lpstr>
      <vt:lpstr>Equality-based Selectors</vt:lpstr>
      <vt:lpstr>PowerPoint Presentation</vt:lpstr>
      <vt:lpstr>Demo - ReplicaSet</vt:lpstr>
      <vt:lpstr>ReplicaSet Manifest File</vt:lpstr>
      <vt:lpstr>PowerPoint Presentation</vt:lpstr>
      <vt:lpstr>PowerPoint Presentation</vt:lpstr>
      <vt:lpstr>Scaling the Nginx Service</vt:lpstr>
      <vt:lpstr>Deployment</vt:lpstr>
      <vt:lpstr>Deployment</vt:lpstr>
      <vt:lpstr>A Single Deployment Manifest File</vt:lpstr>
      <vt:lpstr>Features of Deployment</vt:lpstr>
      <vt:lpstr>Deployment Types - Recreate</vt:lpstr>
      <vt:lpstr>Deployment Type – Rolling Updates</vt:lpstr>
      <vt:lpstr>Deployment Type - Canary</vt:lpstr>
      <vt:lpstr>Deployment Type – Blue Green</vt:lpstr>
      <vt:lpstr>Demo - Deployment</vt:lpstr>
      <vt:lpstr>Deployment Manifest File</vt:lpstr>
      <vt:lpstr>Deployment</vt:lpstr>
      <vt:lpstr>Deployment =&gt; Pods + ReplicaSet</vt:lpstr>
      <vt:lpstr>3 Instances of same Nginx Apps running in the form of Pods</vt:lpstr>
      <vt:lpstr>PowerPoint Presentation</vt:lpstr>
      <vt:lpstr>3 Instances of same Nginx Apps running in the form of Pods</vt:lpstr>
      <vt:lpstr>Scaling up</vt:lpstr>
      <vt:lpstr>Listing Pods by Labels</vt:lpstr>
      <vt:lpstr>Services</vt:lpstr>
      <vt:lpstr>Services</vt:lpstr>
      <vt:lpstr>Agenda</vt:lpstr>
      <vt:lpstr>Services</vt:lpstr>
      <vt:lpstr>Types of Services</vt:lpstr>
      <vt:lpstr>Services: ClusterIP</vt:lpstr>
      <vt:lpstr>Services</vt:lpstr>
      <vt:lpstr>PowerPoint Presentation</vt:lpstr>
      <vt:lpstr>Guestbook 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 Kubernetes </dc:title>
  <dc:creator>pds</dc:creator>
  <cp:lastModifiedBy>PDS</cp:lastModifiedBy>
  <cp:revision>1</cp:revision>
  <dcterms:created xsi:type="dcterms:W3CDTF">2026-09-18T07:05:07Z</dcterms:created>
  <dcterms:modified xsi:type="dcterms:W3CDTF">2026-09-18T07:09:14Z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2026-09-18T00:00:00Z</vt:filetime>
  </property>
  <property fmtid="{D5CDD505-2E9C-101B-9397-08002B2CF9AE}" pid="3" name="Creator">
    <vt:lpwstr>Google</vt:lpwstr>
  </property>
  <property fmtid="{D5CDD505-2E9C-101B-9397-08002B2CF9AE}" pid="4" name="LastSaved">
    <vt:filetime>2026-09-18T00:00:00Z</vt:filetime>
  </property>
</Properties>
</file>