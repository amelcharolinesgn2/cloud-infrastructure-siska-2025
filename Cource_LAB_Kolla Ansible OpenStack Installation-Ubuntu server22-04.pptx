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89" r:id="rId1"/>
  </p:sldMasterIdLst>
  <p:notesMasterIdLst>
    <p:notesMasterId r:id="rId49"/>
  </p:notesMasterIdLst>
  <p:sldIdLst>
    <p:sldId id="348" r:id="rId2"/>
    <p:sldId id="456" r:id="rId3"/>
    <p:sldId id="457" r:id="rId4"/>
    <p:sldId id="420" r:id="rId5"/>
    <p:sldId id="421" r:id="rId6"/>
    <p:sldId id="422" r:id="rId7"/>
    <p:sldId id="452" r:id="rId8"/>
    <p:sldId id="453" r:id="rId9"/>
    <p:sldId id="423" r:id="rId10"/>
    <p:sldId id="424" r:id="rId11"/>
    <p:sldId id="454" r:id="rId12"/>
    <p:sldId id="455" r:id="rId13"/>
    <p:sldId id="471" r:id="rId14"/>
    <p:sldId id="468" r:id="rId15"/>
    <p:sldId id="460" r:id="rId16"/>
    <p:sldId id="472" r:id="rId17"/>
    <p:sldId id="473" r:id="rId18"/>
    <p:sldId id="470" r:id="rId19"/>
    <p:sldId id="469" r:id="rId20"/>
    <p:sldId id="467" r:id="rId21"/>
    <p:sldId id="474" r:id="rId22"/>
    <p:sldId id="476" r:id="rId23"/>
    <p:sldId id="477" r:id="rId24"/>
    <p:sldId id="478" r:id="rId25"/>
    <p:sldId id="475" r:id="rId26"/>
    <p:sldId id="479" r:id="rId27"/>
    <p:sldId id="480" r:id="rId28"/>
    <p:sldId id="481" r:id="rId29"/>
    <p:sldId id="482" r:id="rId30"/>
    <p:sldId id="498" r:id="rId31"/>
    <p:sldId id="483" r:id="rId32"/>
    <p:sldId id="484" r:id="rId33"/>
    <p:sldId id="499" r:id="rId34"/>
    <p:sldId id="485" r:id="rId35"/>
    <p:sldId id="486" r:id="rId36"/>
    <p:sldId id="487" r:id="rId37"/>
    <p:sldId id="459" r:id="rId38"/>
    <p:sldId id="461" r:id="rId39"/>
    <p:sldId id="462" r:id="rId40"/>
    <p:sldId id="458" r:id="rId41"/>
    <p:sldId id="394" r:id="rId42"/>
    <p:sldId id="463" r:id="rId43"/>
    <p:sldId id="464" r:id="rId44"/>
    <p:sldId id="465" r:id="rId45"/>
    <p:sldId id="466" r:id="rId46"/>
    <p:sldId id="395" r:id="rId47"/>
    <p:sldId id="350" r:id="rId48"/>
  </p:sldIdLst>
  <p:sldSz cx="9144000" cy="5143500" type="screen16x9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Neal Mueller" initials="" lastIdx="9" clrIdx="0"/>
  <p:cmAuthor id="1" name="Chuck Erickson" initials="" lastIdx="6" clrIdx="1"/>
  <p:cmAuthor id="2" name="Adam Glick" initials="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4B1B"/>
    <a:srgbClr val="75757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57"/>
    <p:restoredTop sz="85698" autoAdjust="0"/>
  </p:normalViewPr>
  <p:slideViewPr>
    <p:cSldViewPr snapToGrid="0" snapToObjects="1">
      <p:cViewPr>
        <p:scale>
          <a:sx n="80" d="100"/>
          <a:sy n="80" d="100"/>
        </p:scale>
        <p:origin x="852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37839" cy="46481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970937" y="0"/>
            <a:ext cx="3037839" cy="46481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407181" y="696912"/>
            <a:ext cx="6195899" cy="3486299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701039" y="4415789"/>
            <a:ext cx="5608319" cy="418337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8829967"/>
            <a:ext cx="3037839" cy="46481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970937" y="8829967"/>
            <a:ext cx="3037839" cy="46481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41411827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stack.org/kolla-ansible/latest/user/quickstart.html" TargetMode="External"/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achchusnulchikam.medium.com/deploy-production-ready-openstack-using-kolla-ansible-9cd1d1f210f1" TargetMode="External"/><Relationship Id="rId5" Type="http://schemas.openxmlformats.org/officeDocument/2006/relationships/hyperlink" Target="https://github.com/openstack/kolla-ansible/blob/master/etc/kolla/globals.yml" TargetMode="External"/><Relationship Id="rId4" Type="http://schemas.openxmlformats.org/officeDocument/2006/relationships/hyperlink" Target="https://quay.io/organization/openstack.kolla" TargetMode="External"/></Relationships>
</file>

<file path=ppt/notesSlides/_rels/notes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kifarunix.com/deploy-multinode-openstack-using-kolla-ansible/" TargetMode="External"/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</a:t>
            </a:r>
            <a:r>
              <a:rPr lang="en-US" dirty="0" smtClean="0"/>
              <a:t>github.com/mikeroyal/Google-Cloud-Guide</a:t>
            </a:r>
          </a:p>
          <a:p>
            <a:r>
              <a:rPr lang="en-US" dirty="0" smtClean="0"/>
              <a:t>https://belajarlinux.id/openstack-upload-image-atau-iso/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C773BF-E5C9-44BF-B19B-39EF1F90376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7135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https://belajarlinux.id/openstack-definisi-dan-arsitektur/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062101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https://belajarlinux.id/mengenal-apa-itu-kolla-ansible/</a:t>
            </a:r>
          </a:p>
          <a:p>
            <a:r>
              <a:rPr lang="en-US" dirty="0" smtClean="0"/>
              <a:t>https://releases.openstack.org/</a:t>
            </a:r>
          </a:p>
          <a:p>
            <a:r>
              <a:rPr lang="en-US" dirty="0" smtClean="0"/>
              <a:t>https://gist.github.com/gilangvperdana/356296c8f4c6726859da290321087e71</a:t>
            </a:r>
          </a:p>
          <a:p>
            <a:r>
              <a:rPr lang="en-US" dirty="0" smtClean="0"/>
              <a:t>https://serverfault.com/questions/1130614/kolla-ansible-deployment-fails-on-ubuntu-22-04-while-waiting-for-nova-compute-s</a:t>
            </a:r>
          </a:p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118334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https://belajarlinux.id/openstack-kolla-ansible-all-in-one-openstack-yoga/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269765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https://belajarlinux.id/openstack-kolla-ansible-all-in-one-openstack-yoga/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585721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https://belajarlinux.id/openstack-kolla-ansible-all-in-one-openstack-yoga/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165580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https://belajarlinux.id/openstack-kolla-ansible-all-in-one-openstack-yoga/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066724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https://belajarlinux.id/openstack-kolla-ansible-all-in-one-openstack-yoga/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825198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https://belajarlinux.id/openstack-kolla-ansible-all-in-one-openstack-yoga/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619415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642842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https://belajarlinux.id/openstack-kolla-ansible-all-in-one-openstack-yoga/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62601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https://belajarlinux.id/openstack-kolla-ansible-all-in-one-openstack-yoga/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323329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https://belajarlinux.id/openstack-membuat-instance-melalui-horizon/</a:t>
            </a:r>
          </a:p>
          <a:p>
            <a:endParaRPr lang="en-US" dirty="0" smtClean="0"/>
          </a:p>
          <a:p>
            <a:r>
              <a:rPr lang="en-US" dirty="0" smtClean="0"/>
              <a:t>https://belajarlinux.id/openstack-upload-image-atau-iso/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https://docs.openstack.org/kolla-ansible/latest/user/quickstart.html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https://docs.openstack.org/kolla-ansible/latest/user/virtual-environments.html</a:t>
            </a:r>
          </a:p>
          <a:p>
            <a:endParaRPr lang="en-US" dirty="0" smtClean="0"/>
          </a:p>
          <a:p>
            <a:r>
              <a:rPr lang="en-US" dirty="0" smtClean="0"/>
              <a:t>https://www.gkr.one/blg-20250424-u24-openstack?v=1bec678a0f6980689bb9000c1a51face</a:t>
            </a:r>
          </a:p>
          <a:p>
            <a:endParaRPr lang="en-US" dirty="0" smtClean="0"/>
          </a:p>
          <a:p>
            <a:r>
              <a:rPr lang="en-US" dirty="0" smtClean="0"/>
              <a:t>https://gist.github.com/gilangvperdana/82b35379eeccdad86c7e0b2143eba341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584874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https://belajarlinux.id/openstack-membuat-instance-melalui-horizon/</a:t>
            </a:r>
          </a:p>
          <a:p>
            <a:endParaRPr lang="en-US" dirty="0" smtClean="0"/>
          </a:p>
          <a:p>
            <a:r>
              <a:rPr lang="en-US" dirty="0" smtClean="0"/>
              <a:t>https://belajarlinux.id/openstack-upload-image-atau-iso/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https://docs.openstack.org/kolla-ansible/latest/user/quickstart.html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https://docs.openstack.org/kolla-ansible/latest/user/virtual-environments.html</a:t>
            </a:r>
          </a:p>
          <a:p>
            <a:endParaRPr lang="en-US" dirty="0" smtClean="0"/>
          </a:p>
          <a:p>
            <a:r>
              <a:rPr lang="en-US" dirty="0" smtClean="0"/>
              <a:t>https://www.gkr.one/blg-20250424-u24-openstack?v=1bec678a0f6980689bb9000c1a51face</a:t>
            </a:r>
          </a:p>
          <a:p>
            <a:endParaRPr lang="en-US" dirty="0" smtClean="0"/>
          </a:p>
          <a:p>
            <a:r>
              <a:rPr lang="en-US" dirty="0" smtClean="0"/>
              <a:t>https://gist.github.com/gilangvperdana/82b35379eeccdad86c7e0b2143eba341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770214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https://belajarlinux.id/openstack-membuat-instance-melalui-horizon/</a:t>
            </a:r>
          </a:p>
          <a:p>
            <a:endParaRPr lang="en-US" dirty="0" smtClean="0"/>
          </a:p>
          <a:p>
            <a:r>
              <a:rPr lang="en-US" dirty="0" smtClean="0"/>
              <a:t>https://belajarlinux.id/openstack-upload-image-atau-iso/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https://docs.openstack.org/kolla-ansible/latest/user/quickstart.html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https://docs.openstack.org/kolla-ansible/latest/user/virtual-environments.html</a:t>
            </a:r>
          </a:p>
          <a:p>
            <a:endParaRPr lang="en-US" dirty="0" smtClean="0"/>
          </a:p>
          <a:p>
            <a:r>
              <a:rPr lang="en-US" dirty="0" smtClean="0"/>
              <a:t>https://www.gkr.one/blg-20250424-u24-openstack?v=1bec678a0f6980689bb9000c1a51face</a:t>
            </a:r>
          </a:p>
          <a:p>
            <a:endParaRPr lang="en-US" dirty="0" smtClean="0"/>
          </a:p>
          <a:p>
            <a:r>
              <a:rPr lang="en-US" dirty="0" smtClean="0"/>
              <a:t>https://gist.github.com/gilangvperdana/82b35379eeccdad86c7e0b2143eba341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265550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https://belajarlinux.id/openstack-upload-image-atau-iso/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https://docs.openstack.org/kolla-ansible/latest/user/quickstart.html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https://docs.openstack.org/kolla-ansible/latest/user/virtual-environments.html</a:t>
            </a:r>
          </a:p>
          <a:p>
            <a:endParaRPr lang="en-US" dirty="0" smtClean="0"/>
          </a:p>
          <a:p>
            <a:r>
              <a:rPr lang="en-US" dirty="0" smtClean="0"/>
              <a:t>https://www.gkr.one/blg-20250424-u24-openstack?v=1bec678a0f6980689bb9000c1a51face</a:t>
            </a:r>
          </a:p>
          <a:p>
            <a:endParaRPr lang="en-US" dirty="0" smtClean="0"/>
          </a:p>
          <a:p>
            <a:r>
              <a:rPr lang="en-US" dirty="0" smtClean="0"/>
              <a:t>https://gist.github.com/gilangvperdana/82b35379eeccdad86c7e0b2143eba341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28952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https://belajarlinux.id/openstack-upload-image-atau-iso/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https://docs.openstack.org/kolla-ansible/latest/user/quickstart.html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https://docs.openstack.org/kolla-ansible/latest/user/virtual-environments.html</a:t>
            </a:r>
          </a:p>
          <a:p>
            <a:endParaRPr lang="en-US" dirty="0" smtClean="0"/>
          </a:p>
          <a:p>
            <a:r>
              <a:rPr lang="en-US" dirty="0" smtClean="0"/>
              <a:t>https://www.gkr.one/blg-20250424-u24-openstack?v=1bec678a0f6980689bb9000c1a51face</a:t>
            </a:r>
          </a:p>
          <a:p>
            <a:endParaRPr lang="en-US" dirty="0" smtClean="0"/>
          </a:p>
          <a:p>
            <a:r>
              <a:rPr lang="en-US" dirty="0" smtClean="0"/>
              <a:t>https://gist.github.com/gilangvperdana/82b35379eeccdad86c7e0b2143eba341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343428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https://belajarlinux.id/openstack-upload-image-atau-iso/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https://docs.openstack.org/kolla-ansible/latest/user/quickstart.html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https://docs.openstack.org/kolla-ansible/latest/user/virtual-environments.html</a:t>
            </a:r>
          </a:p>
          <a:p>
            <a:endParaRPr lang="en-US" dirty="0" smtClean="0"/>
          </a:p>
          <a:p>
            <a:r>
              <a:rPr lang="en-US" dirty="0" smtClean="0"/>
              <a:t>https://www.gkr.one/blg-20250424-u24-openstack?v=1bec678a0f6980689bb9000c1a51face</a:t>
            </a:r>
          </a:p>
          <a:p>
            <a:endParaRPr lang="en-US" dirty="0" smtClean="0"/>
          </a:p>
          <a:p>
            <a:r>
              <a:rPr lang="en-US" dirty="0" smtClean="0"/>
              <a:t>https://gist.github.com/gilangvperdana/82b35379eeccdad86c7e0b2143eba341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952781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https://belajarlinux.id/openstack-upload-image-atau-iso/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https://docs.openstack.org/kolla-ansible/latest/user/quickstart.html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https://docs.openstack.org/kolla-ansible/latest/user/virtual-environments.html</a:t>
            </a:r>
          </a:p>
          <a:p>
            <a:endParaRPr lang="en-US" dirty="0" smtClean="0"/>
          </a:p>
          <a:p>
            <a:r>
              <a:rPr lang="en-US" dirty="0" smtClean="0"/>
              <a:t>https://www.gkr.one/blg-20250424-u24-openstack?v=1bec678a0f6980689bb9000c1a51face</a:t>
            </a:r>
          </a:p>
          <a:p>
            <a:endParaRPr lang="en-US" dirty="0" smtClean="0"/>
          </a:p>
          <a:p>
            <a:r>
              <a:rPr lang="en-US" dirty="0" smtClean="0"/>
              <a:t>https://gist.github.com/gilangvperdana/82b35379eeccdad86c7e0b2143eba341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0742845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https://belajarlinux.id/openstack-upload-image-atau-iso/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https://docs.openstack.org/kolla-ansible/latest/user/quickstart.html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https://docs.openstack.org/kolla-ansible/latest/user/virtual-environments.html</a:t>
            </a:r>
          </a:p>
          <a:p>
            <a:endParaRPr lang="en-US" dirty="0" smtClean="0"/>
          </a:p>
          <a:p>
            <a:r>
              <a:rPr lang="en-US" dirty="0" smtClean="0"/>
              <a:t>https://www.gkr.one/blg-20250424-u24-openstack?v=1bec678a0f6980689bb9000c1a51face</a:t>
            </a:r>
          </a:p>
          <a:p>
            <a:endParaRPr lang="en-US" dirty="0" smtClean="0"/>
          </a:p>
          <a:p>
            <a:r>
              <a:rPr lang="en-US" dirty="0" smtClean="0"/>
              <a:t>https://gist.github.com/gilangvperdana/82b35379eeccdad86c7e0b2143eba341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4242241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https://belajarlinux.id/openstack-upload-image-atau-iso/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https://docs.openstack.org/kolla-ansible/latest/user/quickstart.html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https://docs.openstack.org/kolla-ansible/latest/user/virtual-environments.html</a:t>
            </a:r>
          </a:p>
          <a:p>
            <a:endParaRPr lang="en-US" dirty="0" smtClean="0"/>
          </a:p>
          <a:p>
            <a:r>
              <a:rPr lang="en-US" dirty="0" smtClean="0"/>
              <a:t>https://www.gkr.one/blg-20250424-u24-openstack?v=1bec678a0f6980689bb9000c1a51face</a:t>
            </a:r>
          </a:p>
          <a:p>
            <a:endParaRPr lang="en-US" dirty="0" smtClean="0"/>
          </a:p>
          <a:p>
            <a:r>
              <a:rPr lang="en-US" dirty="0" smtClean="0"/>
              <a:t>https://gist.github.com/gilangvperdana/82b35379eeccdad86c7e0b2143eba341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590542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https://belajarlinux.id/openstack-upload-image-atau-iso/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https://docs.openstack.org/kolla-ansible/latest/user/quickstart.html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https://docs.openstack.org/kolla-ansible/latest/user/virtual-environments.html</a:t>
            </a:r>
          </a:p>
          <a:p>
            <a:endParaRPr lang="en-US" dirty="0" smtClean="0"/>
          </a:p>
          <a:p>
            <a:r>
              <a:rPr lang="en-US" dirty="0" smtClean="0"/>
              <a:t>https://www.gkr.one/blg-20250424-u24-openstack?v=1bec678a0f6980689bb9000c1a51face</a:t>
            </a:r>
          </a:p>
          <a:p>
            <a:endParaRPr lang="en-US" dirty="0" smtClean="0"/>
          </a:p>
          <a:p>
            <a:r>
              <a:rPr lang="en-US" dirty="0" smtClean="0"/>
              <a:t>https://gist.github.com/gilangvperdana/82b35379eeccdad86c7e0b2143eba341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660160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https://belajarlinux.id/openstack-membuat-router/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974575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https://belajarlinux.id/openstack-membuat-router/</a:t>
            </a:r>
          </a:p>
          <a:p>
            <a:r>
              <a:rPr lang="en-US" dirty="0" smtClean="0"/>
              <a:t>https://belajarlinux.id/openstack-upload-image-atau-iso/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https://docs.openstack.org/kolla-ansible/latest/user/quickstart.html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https://docs.openstack.org/kolla-ansible/latest/user/virtual-environments.html</a:t>
            </a:r>
          </a:p>
          <a:p>
            <a:endParaRPr lang="en-US" dirty="0" smtClean="0"/>
          </a:p>
          <a:p>
            <a:r>
              <a:rPr lang="en-US" dirty="0" smtClean="0"/>
              <a:t>https://www.gkr.one/blg-20250424-u24-openstack?v=1bec678a0f6980689bb9000c1a51face</a:t>
            </a:r>
          </a:p>
          <a:p>
            <a:endParaRPr lang="en-US" dirty="0" smtClean="0"/>
          </a:p>
          <a:p>
            <a:r>
              <a:rPr lang="en-US" dirty="0" smtClean="0"/>
              <a:t>https://gist.github.com/gilangvperdana/82b35379eeccdad86c7e0b2143eba341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1172991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https://belajarlinux.id/openstack-upload-image-atau-iso/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https://docs.openstack.org/kolla-ansible/latest/user/quickstart.html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https://docs.openstack.org/kolla-ansible/latest/user/virtual-environments.html</a:t>
            </a:r>
          </a:p>
          <a:p>
            <a:endParaRPr lang="en-US" dirty="0" smtClean="0"/>
          </a:p>
          <a:p>
            <a:r>
              <a:rPr lang="en-US" dirty="0" smtClean="0"/>
              <a:t>https://www.gkr.one/blg-20250424-u24-openstack?v=1bec678a0f6980689bb9000c1a51face</a:t>
            </a:r>
          </a:p>
          <a:p>
            <a:endParaRPr lang="en-US" dirty="0" smtClean="0"/>
          </a:p>
          <a:p>
            <a:r>
              <a:rPr lang="en-US" dirty="0" smtClean="0"/>
              <a:t>https://gist.github.com/gilangvperdana/82b35379eeccdad86c7e0b2143eba341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1427910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https://belajarlinux.id/openstack-upload-image-atau-iso/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https://docs.openstack.org/kolla-ansible/latest/user/quickstart.html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https://docs.openstack.org/kolla-ansible/latest/user/virtual-environments.html</a:t>
            </a:r>
          </a:p>
          <a:p>
            <a:endParaRPr lang="en-US" dirty="0" smtClean="0"/>
          </a:p>
          <a:p>
            <a:r>
              <a:rPr lang="en-US" dirty="0" smtClean="0"/>
              <a:t>https://www.gkr.one/blg-20250424-u24-openstack?v=1bec678a0f6980689bb9000c1a51face</a:t>
            </a:r>
          </a:p>
          <a:p>
            <a:endParaRPr lang="en-US" dirty="0" smtClean="0"/>
          </a:p>
          <a:p>
            <a:r>
              <a:rPr lang="en-US" dirty="0" smtClean="0"/>
              <a:t>https://gist.github.com/gilangvperdana/82b35379eeccdad86c7e0b2143eba341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369312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https://belajarlinux.id/openstack-membuat-router/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78680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https://belajarlinux.id/openstack-upload-image-atau-iso/</a:t>
            </a:r>
          </a:p>
          <a:p>
            <a:r>
              <a:rPr lang="en-US" dirty="0" smtClean="0"/>
              <a:t>https://belajarlinux.id/openstack-menambahkan-ssh-key/</a:t>
            </a:r>
          </a:p>
          <a:p>
            <a:r>
              <a:rPr lang="en-US" dirty="0" smtClean="0"/>
              <a:t>https://docs.openstack.org/kolla-ansible/latest/user/quickstart.html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https://docs.openstack.org/kolla-ansible/latest/user/virtual-environments.html</a:t>
            </a:r>
          </a:p>
          <a:p>
            <a:endParaRPr lang="en-US" dirty="0" smtClean="0"/>
          </a:p>
          <a:p>
            <a:r>
              <a:rPr lang="en-US" dirty="0" smtClean="0"/>
              <a:t>https://www.gkr.one/blg-20250424-u24-openstack?v=1bec678a0f6980689bb9000c1a51face</a:t>
            </a:r>
          </a:p>
          <a:p>
            <a:endParaRPr lang="en-US" dirty="0" smtClean="0"/>
          </a:p>
          <a:p>
            <a:r>
              <a:rPr lang="en-US" dirty="0" smtClean="0"/>
              <a:t>https://gist.github.com/gilangvperdana/82b35379eeccdad86c7e0b2143eba341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6769133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https://belajarlinux.id/openstack-upload-image-atau-iso/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https://docs.openstack.org/kolla-ansible/latest/user/quickstart.html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https://docs.openstack.org/kolla-ansible/latest/user/virtual-environments.html</a:t>
            </a:r>
          </a:p>
          <a:p>
            <a:endParaRPr lang="en-US" dirty="0" smtClean="0"/>
          </a:p>
          <a:p>
            <a:r>
              <a:rPr lang="en-US" dirty="0" smtClean="0"/>
              <a:t>https://www.gkr.one/blg-20250424-u24-openstack?v=1bec678a0f6980689bb9000c1a51face</a:t>
            </a:r>
          </a:p>
          <a:p>
            <a:endParaRPr lang="en-US" dirty="0" smtClean="0"/>
          </a:p>
          <a:p>
            <a:r>
              <a:rPr lang="en-US" dirty="0" smtClean="0"/>
              <a:t>https://gist.github.com/gilangvperdana/82b35379eeccdad86c7e0b2143eba341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7551656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https://belajarlinux.id/openstack-membuat-router/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34464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https://belajarlinux.id/openstack-upload-image-atau-iso/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https://docs.openstack.org/kolla-ansible/latest/user/quickstart.html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https://docs.openstack.org/kolla-ansible/latest/user/virtual-environments.html</a:t>
            </a:r>
          </a:p>
          <a:p>
            <a:endParaRPr lang="en-US" dirty="0" smtClean="0"/>
          </a:p>
          <a:p>
            <a:r>
              <a:rPr lang="en-US" dirty="0" smtClean="0"/>
              <a:t>https://www.gkr.one/blg-20250424-u24-openstack?v=1bec678a0f6980689bb9000c1a51face</a:t>
            </a:r>
          </a:p>
          <a:p>
            <a:endParaRPr lang="en-US" dirty="0" smtClean="0"/>
          </a:p>
          <a:p>
            <a:r>
              <a:rPr lang="en-US" dirty="0" smtClean="0"/>
              <a:t>https://gist.github.com/gilangvperdana/82b35379eeccdad86c7e0b2143eba341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987688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https://belajarlinux.id/openstack-upload-image-atau-iso/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https://docs.openstack.org/kolla-ansible/latest/user/quickstart.html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https://docs.openstack.org/kolla-ansible/latest/user/virtual-environments.html</a:t>
            </a:r>
          </a:p>
          <a:p>
            <a:endParaRPr lang="en-US" dirty="0" smtClean="0"/>
          </a:p>
          <a:p>
            <a:r>
              <a:rPr lang="en-US" dirty="0" smtClean="0"/>
              <a:t>https://www.gkr.one/blg-20250424-u24-openstack?v=1bec678a0f6980689bb9000c1a51face</a:t>
            </a:r>
          </a:p>
          <a:p>
            <a:endParaRPr lang="en-US" dirty="0" smtClean="0"/>
          </a:p>
          <a:p>
            <a:r>
              <a:rPr lang="en-US" dirty="0" smtClean="0"/>
              <a:t>https://gist.github.com/gilangvperdana/82b35379eeccdad86c7e0b2143eba341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931992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https://belajarlinux.id/openstack-upload-image-atau-iso/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https://docs.openstack.org/kolla-ansible/latest/user/quickstart.html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https://docs.openstack.org/kolla-ansible/latest/user/virtual-environments.html</a:t>
            </a:r>
          </a:p>
          <a:p>
            <a:endParaRPr lang="en-US" dirty="0" smtClean="0"/>
          </a:p>
          <a:p>
            <a:r>
              <a:rPr lang="en-US" dirty="0" smtClean="0"/>
              <a:t>https://www.gkr.one/blg-20250424-u24-openstack?v=1bec678a0f6980689bb9000c1a51face</a:t>
            </a:r>
          </a:p>
          <a:p>
            <a:endParaRPr lang="en-US" dirty="0" smtClean="0"/>
          </a:p>
          <a:p>
            <a:r>
              <a:rPr lang="en-US" dirty="0" smtClean="0"/>
              <a:t>https://gist.github.com/gilangvperdana/82b35379eeccdad86c7e0b2143eba341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4575078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https://gist.github.com/gilangvperdana/82b35379eeccdad86c7e0b2143eba341</a:t>
            </a:r>
          </a:p>
          <a:p>
            <a:endParaRPr lang="en-US" dirty="0" smtClean="0"/>
          </a:p>
          <a:p>
            <a:endParaRPr lang="en-US" dirty="0" smtClean="0"/>
          </a:p>
          <a:p>
            <a:r>
              <a:rPr lang="en-US" dirty="0" smtClean="0"/>
              <a:t>https://belajarlinux.id/openstack-upload-image-atau-iso/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https://docs.openstack.org/kolla-ansible/latest/user/quickstart.html</a:t>
            </a:r>
          </a:p>
          <a:p>
            <a:endParaRPr lang="en-US" dirty="0" smtClean="0"/>
          </a:p>
          <a:p>
            <a:r>
              <a:rPr lang="en-US" dirty="0" smtClean="0"/>
              <a:t>https://docs.openstack.org/kolla-ansible/latest/user/virtual-environments.html</a:t>
            </a:r>
          </a:p>
          <a:p>
            <a:endParaRPr lang="en-US" dirty="0" smtClean="0"/>
          </a:p>
          <a:p>
            <a:r>
              <a:rPr lang="en-US" dirty="0" smtClean="0"/>
              <a:t>https://www.gkr.one/blg-20250424-u24-openstack?v=1bec678a0f6980689bb9000c1a51face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311611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Reference</a:t>
            </a:r>
          </a:p>
          <a:p>
            <a:r>
              <a:rPr lang="en-US" sz="1200" b="0" i="0" u="sng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  <a:hlinkClick r:id="rId3"/>
              </a:rPr>
              <a:t>https://docs.openstack.org/kolla-ansible/latest/user/quickstart.html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sng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  <a:hlinkClick r:id="rId4"/>
              </a:rPr>
              <a:t>https://quay.io/organization/openstack.kolla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sng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  <a:hlinkClick r:id="rId5"/>
              </a:rPr>
              <a:t>https://github.com/openstack/kolla-ansible/blob/master/etc/kolla/globals.yml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sng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  <a:hlinkClick r:id="rId6"/>
              </a:rPr>
              <a:t>https://achchusnulchikam.medium.com/deploy-production-ready-openstack-using-kolla-ansible-9cd1d1f210f1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9647918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https://www.youtube.com/watch?v=Mc70SjV72ck</a:t>
            </a:r>
          </a:p>
          <a:p>
            <a:endParaRPr lang="en-US" dirty="0" smtClean="0"/>
          </a:p>
          <a:p>
            <a:r>
              <a:rPr lang="en-US" dirty="0" smtClean="0"/>
              <a:t>https://www.scribd.com/document/822144481/openstack-kolla-Ansible-AIO-Multinode-Documentation</a:t>
            </a:r>
          </a:p>
          <a:p>
            <a:endParaRPr lang="en-US" dirty="0" smtClean="0"/>
          </a:p>
          <a:p>
            <a:endParaRPr lang="en-US" dirty="0" smtClean="0"/>
          </a:p>
          <a:p>
            <a:r>
              <a:rPr lang="sv-SE" dirty="0" smtClean="0"/>
              <a:t>Kolla Ansible OpenStack Installation (Ubuntu 24.04) (Rev.: 20250523-0)</a:t>
            </a:r>
          </a:p>
          <a:p>
            <a:r>
              <a:rPr lang="en-US" dirty="0" smtClean="0"/>
              <a:t>https://www.gkr.one/blg-20250424-u24-openstack</a:t>
            </a:r>
          </a:p>
          <a:p>
            <a:endParaRPr lang="en-US" dirty="0" smtClean="0"/>
          </a:p>
          <a:p>
            <a:r>
              <a:rPr lang="en-US" sz="1200" b="0" i="0" u="sng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  <a:hlinkClick r:id="rId3"/>
              </a:rPr>
              <a:t>Deploy </a:t>
            </a:r>
            <a:r>
              <a:rPr lang="en-US" sz="1200" b="0" i="0" u="sng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  <a:hlinkClick r:id="rId3"/>
              </a:rPr>
              <a:t>Multinode</a:t>
            </a:r>
            <a:r>
              <a:rPr lang="en-US" sz="1200" b="0" i="0" u="sng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  <a:hlinkClick r:id="rId3"/>
              </a:rPr>
              <a:t> OpenStack using </a:t>
            </a:r>
            <a:r>
              <a:rPr lang="en-US" sz="1200" b="0" i="0" u="sng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  <a:hlinkClick r:id="rId3"/>
              </a:rPr>
              <a:t>Kolla-Ansible</a:t>
            </a:r>
            <a:endParaRPr lang="en-US" sz="1200" b="0" i="0" u="sng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  <a:hlinkClick r:id="rId3"/>
            </a:endParaRPr>
          </a:p>
          <a:p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  <a:hlinkClick r:id="rId3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Multinode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Deployment of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Kolla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 https://docs.openstack.org/kolla-ansible/latest/user/multinode.html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Deploy </a:t>
            </a:r>
            <a:r>
              <a:rPr lang="en-US" sz="1200" b="1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Multinode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OpenStack using </a:t>
            </a:r>
            <a:r>
              <a:rPr lang="en-US" sz="1200" b="1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Kolla-Ansible</a:t>
            </a:r>
            <a:endParaRPr lang="en-US" sz="1200" b="1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https://kifarunix.com/deploy-multinode-openstack-using-kolla-ansible/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https://superuser.openinfra.org/articles/how-to-implement-an-openstack-based-private-cloud-with-kolla-ansible-part-2/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  <a:hlinkClick r:id="rId3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  <a:hlinkClick r:id="rId3"/>
              </a:rPr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9307442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https://medium.com/btech-engineering/openstack-series-2-install-openstack-menggunakan-kolla-ansible-multi-nodes-df4f07aae73e</a:t>
            </a:r>
          </a:p>
          <a:p>
            <a:endParaRPr lang="en-US" dirty="0" smtClean="0"/>
          </a:p>
          <a:p>
            <a:r>
              <a:rPr lang="en-US" dirty="0" smtClean="0"/>
              <a:t>https://medium.com/btech-engineering/openstack-series-2-install-openstack-menggunakan-kolla-ansible-multi-nodes-df4f07aae73e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3897282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https://vikipranata.is-a.dev/posts/openstack-kolla-ansible-2024.2/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7093986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https://vikipranata.is-a.dev/posts/openstack-kolla-ansible-2024.2/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788007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https://raw.githubusercontent.com/vikipranata/vikipranata/refs/heads/hugo/content/posts/openstack-kolla-ansible-2024.2/uploads/sample-netplan.yaml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6047106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2358041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OpenStack </a:t>
            </a:r>
            <a:r>
              <a:rPr lang="en-US" sz="1200" b="1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pada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1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Satu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Node </a:t>
            </a:r>
            <a:r>
              <a:rPr lang="en-US" sz="1200" b="1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1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Kolla-Ansible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— </a:t>
            </a:r>
            <a:r>
              <a:rPr lang="en-US" sz="1200" b="1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Panduan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1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Lengkap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1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untuk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1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Penggunaan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1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Seperti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1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Produksi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https://www.youtube.com/watch?v=Mc70SjV72ck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1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https://belajarlinux.id/openstack-kolla-ansible-all-in-one-openstack-yoga/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1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1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https://gist.github.com/gilangvperdana/82b35379eeccdad86c7e0b2143eba341</a:t>
            </a:r>
          </a:p>
          <a:p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Prerequisites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3 NIC</a:t>
            </a:r>
          </a:p>
          <a:p>
            <a:pPr lvl="1"/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NIC 1 -&gt; NAT (enp0s3)</a:t>
            </a:r>
          </a:p>
          <a:p>
            <a:pPr lvl="1"/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NIC 2 -&gt; Host Only Adapter (enp0s8)</a:t>
            </a:r>
          </a:p>
          <a:p>
            <a:pPr lvl="1"/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NIC 3 -&gt; Bridge Mode (enp0s9)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50 GB for /dev/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sda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50 GB for /dev/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sdb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4 VCPU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8GB RAM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Ubuntu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Jammy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(22.04 LTS)</a:t>
            </a:r>
          </a:p>
          <a:p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Set /</a:t>
            </a:r>
            <a:r>
              <a:rPr lang="en-US" sz="1200" b="1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etc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/hosts</a:t>
            </a:r>
          </a:p>
          <a:p>
            <a:r>
              <a:rPr lang="en-US" dirty="0" smtClean="0"/>
              <a:t>192.168.56.2 </a:t>
            </a:r>
            <a:r>
              <a:rPr lang="en-US" dirty="0" err="1" smtClean="0"/>
              <a:t>osint.gbesar.link</a:t>
            </a:r>
            <a:r>
              <a:rPr lang="en-US" dirty="0" smtClean="0"/>
              <a:t> 192.168.56.3 </a:t>
            </a:r>
            <a:r>
              <a:rPr lang="en-US" dirty="0" err="1" smtClean="0"/>
              <a:t>os.gbesar.link</a:t>
            </a:r>
            <a:endParaRPr lang="en-US" dirty="0" smtClean="0"/>
          </a:p>
          <a:p>
            <a:endParaRPr lang="en-US" dirty="0" smtClean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188456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054981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29635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552398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283961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20674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642112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873207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61320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108239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84920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430865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02337E-4703-49AB-8D81-EA2F8A6577FC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646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://10.65.65.254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emf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emf"/><Relationship Id="rId5" Type="http://schemas.openxmlformats.org/officeDocument/2006/relationships/image" Target="../media/image16.emf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download.cirros-cloud.net/" TargetMode="External"/><Relationship Id="rId3" Type="http://schemas.openxmlformats.org/officeDocument/2006/relationships/image" Target="../media/image23.emf"/><Relationship Id="rId7" Type="http://schemas.openxmlformats.org/officeDocument/2006/relationships/hyperlink" Target="https://cloud.centos.org/centos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loud-images.ubuntu.com/" TargetMode="Externa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emf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em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emf"/><Relationship Id="rId4" Type="http://schemas.openxmlformats.org/officeDocument/2006/relationships/image" Target="../media/image5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em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em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9919" y="1"/>
            <a:ext cx="3979069" cy="2536031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277816" y="1346868"/>
            <a:ext cx="3603272" cy="1447266"/>
            <a:chOff x="89638" y="359621"/>
            <a:chExt cx="4804363" cy="1929688"/>
          </a:xfrm>
        </p:grpSpPr>
        <p:pic>
          <p:nvPicPr>
            <p:cNvPr id="10" name="Picture 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5105" y="1881965"/>
              <a:ext cx="3104181" cy="263526"/>
            </a:xfrm>
            <a:prstGeom prst="rect">
              <a:avLst/>
            </a:prstGeom>
          </p:spPr>
        </p:pic>
        <p:sp>
          <p:nvSpPr>
            <p:cNvPr id="11" name="Title 4">
              <a:extLst>
                <a:ext uri="{FF2B5EF4-FFF2-40B4-BE49-F238E27FC236}">
                  <a16:creationId xmlns:a16="http://schemas.microsoft.com/office/drawing/2014/main" id="{27228BAE-048B-681E-DD8D-BD96B22560E0}"/>
                </a:ext>
              </a:extLst>
            </p:cNvPr>
            <p:cNvSpPr txBox="1">
              <a:spLocks/>
            </p:cNvSpPr>
            <p:nvPr/>
          </p:nvSpPr>
          <p:spPr>
            <a:xfrm>
              <a:off x="89638" y="1389204"/>
              <a:ext cx="4804363" cy="900105"/>
            </a:xfrm>
            <a:prstGeom prst="rect">
              <a:avLst/>
            </a:prstGeom>
          </p:spPr>
          <p:txBody>
            <a:bodyPr vert="horz" lIns="68580" tIns="34290" rIns="68580" bIns="34290" rtlCol="0" anchor="b">
              <a:normAutofit fontScale="97500"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just"/>
              <a:r>
                <a:rPr lang="en-US" sz="3000" dirty="0">
                  <a:solidFill>
                    <a:schemeClr val="accent1">
                      <a:lumMod val="75000"/>
                    </a:schemeClr>
                  </a:solidFill>
                </a:rPr>
                <a:t>Computer </a:t>
              </a:r>
              <a:r>
                <a:rPr lang="en-US" sz="3000" dirty="0">
                  <a:solidFill>
                    <a:srgbClr val="00B0F0"/>
                  </a:solidFill>
                </a:rPr>
                <a:t>Vision</a:t>
              </a: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AABCB87-2ECC-4C03-B5BB-6EE11C8A4485}"/>
                </a:ext>
              </a:extLst>
            </p:cNvPr>
            <p:cNvGrpSpPr/>
            <p:nvPr/>
          </p:nvGrpSpPr>
          <p:grpSpPr>
            <a:xfrm>
              <a:off x="89638" y="359621"/>
              <a:ext cx="3064025" cy="1516520"/>
              <a:chOff x="4853562" y="1589418"/>
              <a:chExt cx="2609520" cy="1291565"/>
            </a:xfrm>
          </p:grpSpPr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03546B24-FABC-4B2A-A80F-B03654D56A7D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4853562" y="1589418"/>
                <a:ext cx="2232248" cy="1202698"/>
              </a:xfrm>
              <a:custGeom>
                <a:avLst/>
                <a:gdLst/>
                <a:ahLst/>
                <a:cxnLst/>
                <a:rect l="l" t="t" r="r" b="b"/>
                <a:pathLst>
                  <a:path w="1872168" h="1008693">
                    <a:moveTo>
                      <a:pt x="699542" y="162"/>
                    </a:moveTo>
                    <a:cubicBezTo>
                      <a:pt x="683169" y="534"/>
                      <a:pt x="666273" y="1556"/>
                      <a:pt x="648845" y="3291"/>
                    </a:cubicBezTo>
                    <a:cubicBezTo>
                      <a:pt x="357120" y="49686"/>
                      <a:pt x="273885" y="284789"/>
                      <a:pt x="274981" y="413694"/>
                    </a:cubicBezTo>
                    <a:cubicBezTo>
                      <a:pt x="4451" y="471904"/>
                      <a:pt x="-11347" y="662854"/>
                      <a:pt x="4101" y="753457"/>
                    </a:cubicBezTo>
                    <a:cubicBezTo>
                      <a:pt x="42383" y="946818"/>
                      <a:pt x="296257" y="1004273"/>
                      <a:pt x="384912" y="1005378"/>
                    </a:cubicBezTo>
                    <a:lnTo>
                      <a:pt x="1507196" y="1008693"/>
                    </a:lnTo>
                    <a:cubicBezTo>
                      <a:pt x="1646895" y="1000406"/>
                      <a:pt x="1746295" y="947371"/>
                      <a:pt x="1825546" y="854557"/>
                    </a:cubicBezTo>
                    <a:cubicBezTo>
                      <a:pt x="1897410" y="760086"/>
                      <a:pt x="1873973" y="626012"/>
                      <a:pt x="1836613" y="558208"/>
                    </a:cubicBezTo>
                    <a:cubicBezTo>
                      <a:pt x="1808089" y="509360"/>
                      <a:pt x="1675919" y="402617"/>
                      <a:pt x="1507617" y="430504"/>
                    </a:cubicBezTo>
                    <a:cubicBezTo>
                      <a:pt x="1525469" y="335682"/>
                      <a:pt x="1477961" y="244522"/>
                      <a:pt x="1398003" y="206286"/>
                    </a:cubicBezTo>
                    <a:cubicBezTo>
                      <a:pt x="1299806" y="153261"/>
                      <a:pt x="1182195" y="177294"/>
                      <a:pt x="1108176" y="215068"/>
                    </a:cubicBezTo>
                    <a:cubicBezTo>
                      <a:pt x="1072916" y="135306"/>
                      <a:pt x="945134" y="-5422"/>
                      <a:pt x="699542" y="162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sz="270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02E1A011-CDEA-4BBC-B725-C88AF5464891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5230834" y="1678285"/>
                <a:ext cx="2232248" cy="1202698"/>
              </a:xfrm>
              <a:custGeom>
                <a:avLst/>
                <a:gdLst/>
                <a:ahLst/>
                <a:cxnLst/>
                <a:rect l="l" t="t" r="r" b="b"/>
                <a:pathLst>
                  <a:path w="1872168" h="1008693">
                    <a:moveTo>
                      <a:pt x="699542" y="162"/>
                    </a:moveTo>
                    <a:cubicBezTo>
                      <a:pt x="683169" y="534"/>
                      <a:pt x="666273" y="1556"/>
                      <a:pt x="648845" y="3291"/>
                    </a:cubicBezTo>
                    <a:cubicBezTo>
                      <a:pt x="357120" y="49686"/>
                      <a:pt x="273885" y="284789"/>
                      <a:pt x="274981" y="413694"/>
                    </a:cubicBezTo>
                    <a:cubicBezTo>
                      <a:pt x="4451" y="471904"/>
                      <a:pt x="-11347" y="662854"/>
                      <a:pt x="4101" y="753457"/>
                    </a:cubicBezTo>
                    <a:cubicBezTo>
                      <a:pt x="42383" y="946818"/>
                      <a:pt x="296257" y="1004273"/>
                      <a:pt x="384912" y="1005378"/>
                    </a:cubicBezTo>
                    <a:lnTo>
                      <a:pt x="1507196" y="1008693"/>
                    </a:lnTo>
                    <a:cubicBezTo>
                      <a:pt x="1646895" y="1000406"/>
                      <a:pt x="1746295" y="947371"/>
                      <a:pt x="1825546" y="854557"/>
                    </a:cubicBezTo>
                    <a:cubicBezTo>
                      <a:pt x="1897410" y="760086"/>
                      <a:pt x="1873973" y="626012"/>
                      <a:pt x="1836613" y="558208"/>
                    </a:cubicBezTo>
                    <a:cubicBezTo>
                      <a:pt x="1808089" y="509360"/>
                      <a:pt x="1675919" y="402617"/>
                      <a:pt x="1507617" y="430504"/>
                    </a:cubicBezTo>
                    <a:cubicBezTo>
                      <a:pt x="1525469" y="335682"/>
                      <a:pt x="1477961" y="244522"/>
                      <a:pt x="1398003" y="206286"/>
                    </a:cubicBezTo>
                    <a:cubicBezTo>
                      <a:pt x="1299806" y="153261"/>
                      <a:pt x="1182195" y="177294"/>
                      <a:pt x="1108176" y="215068"/>
                    </a:cubicBezTo>
                    <a:cubicBezTo>
                      <a:pt x="1072916" y="135306"/>
                      <a:pt x="945134" y="-5422"/>
                      <a:pt x="699542" y="162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sz="2701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B8BC7BC-BF58-402E-9A69-AA9226DE7CAA}"/>
                </a:ext>
              </a:extLst>
            </p:cNvPr>
            <p:cNvGrpSpPr/>
            <p:nvPr/>
          </p:nvGrpSpPr>
          <p:grpSpPr>
            <a:xfrm>
              <a:off x="1176068" y="503243"/>
              <a:ext cx="1334145" cy="620384"/>
              <a:chOff x="7439031" y="1585639"/>
              <a:chExt cx="2143740" cy="996849"/>
            </a:xfrm>
            <a:solidFill>
              <a:schemeClr val="accent6"/>
            </a:solidFill>
          </p:grpSpPr>
          <p:sp>
            <p:nvSpPr>
              <p:cNvPr id="17" name="Freeform: Shape 66">
                <a:extLst>
                  <a:ext uri="{FF2B5EF4-FFF2-40B4-BE49-F238E27FC236}">
                    <a16:creationId xmlns:a16="http://schemas.microsoft.com/office/drawing/2014/main" id="{2A081543-B9FF-49B1-8EEF-ABDF5438EDCD}"/>
                  </a:ext>
                </a:extLst>
              </p:cNvPr>
              <p:cNvSpPr/>
              <p:nvPr/>
            </p:nvSpPr>
            <p:spPr>
              <a:xfrm>
                <a:off x="7439031" y="1585639"/>
                <a:ext cx="2143740" cy="996849"/>
              </a:xfrm>
              <a:custGeom>
                <a:avLst/>
                <a:gdLst/>
                <a:ahLst/>
                <a:cxnLst/>
                <a:rect l="l" t="t" r="r" b="b"/>
                <a:pathLst>
                  <a:path w="1862733" h="866179">
                    <a:moveTo>
                      <a:pt x="794147" y="204787"/>
                    </a:moveTo>
                    <a:cubicBezTo>
                      <a:pt x="745605" y="204787"/>
                      <a:pt x="701637" y="218416"/>
                      <a:pt x="662244" y="245673"/>
                    </a:cubicBezTo>
                    <a:cubicBezTo>
                      <a:pt x="622851" y="272930"/>
                      <a:pt x="594798" y="309240"/>
                      <a:pt x="578086" y="354601"/>
                    </a:cubicBezTo>
                    <a:cubicBezTo>
                      <a:pt x="568536" y="380467"/>
                      <a:pt x="563761" y="406729"/>
                      <a:pt x="563761" y="433387"/>
                    </a:cubicBezTo>
                    <a:cubicBezTo>
                      <a:pt x="563761" y="488299"/>
                      <a:pt x="582064" y="537440"/>
                      <a:pt x="618670" y="580811"/>
                    </a:cubicBezTo>
                    <a:cubicBezTo>
                      <a:pt x="664031" y="634532"/>
                      <a:pt x="722524" y="661392"/>
                      <a:pt x="794147" y="661392"/>
                    </a:cubicBezTo>
                    <a:cubicBezTo>
                      <a:pt x="865771" y="661392"/>
                      <a:pt x="924462" y="634733"/>
                      <a:pt x="970220" y="581415"/>
                    </a:cubicBezTo>
                    <a:cubicBezTo>
                      <a:pt x="1006826" y="538838"/>
                      <a:pt x="1025128" y="489496"/>
                      <a:pt x="1025128" y="433387"/>
                    </a:cubicBezTo>
                    <a:cubicBezTo>
                      <a:pt x="1025128" y="376088"/>
                      <a:pt x="1006826" y="326547"/>
                      <a:pt x="970220" y="284764"/>
                    </a:cubicBezTo>
                    <a:cubicBezTo>
                      <a:pt x="923265" y="231446"/>
                      <a:pt x="864574" y="204787"/>
                      <a:pt x="794147" y="204787"/>
                    </a:cubicBezTo>
                    <a:close/>
                    <a:moveTo>
                      <a:pt x="1304330" y="24408"/>
                    </a:moveTo>
                    <a:lnTo>
                      <a:pt x="1862733" y="24408"/>
                    </a:lnTo>
                    <a:lnTo>
                      <a:pt x="1862733" y="200620"/>
                    </a:lnTo>
                    <a:lnTo>
                      <a:pt x="1687711" y="200620"/>
                    </a:lnTo>
                    <a:lnTo>
                      <a:pt x="1687711" y="837009"/>
                    </a:lnTo>
                    <a:lnTo>
                      <a:pt x="1476375" y="837009"/>
                    </a:lnTo>
                    <a:lnTo>
                      <a:pt x="1476375" y="200620"/>
                    </a:lnTo>
                    <a:lnTo>
                      <a:pt x="1304330" y="200620"/>
                    </a:lnTo>
                    <a:close/>
                    <a:moveTo>
                      <a:pt x="0" y="24408"/>
                    </a:moveTo>
                    <a:lnTo>
                      <a:pt x="211336" y="24408"/>
                    </a:lnTo>
                    <a:lnTo>
                      <a:pt x="211336" y="837009"/>
                    </a:lnTo>
                    <a:lnTo>
                      <a:pt x="0" y="837009"/>
                    </a:lnTo>
                    <a:close/>
                    <a:moveTo>
                      <a:pt x="794147" y="0"/>
                    </a:moveTo>
                    <a:cubicBezTo>
                      <a:pt x="937022" y="0"/>
                      <a:pt x="1050330" y="47426"/>
                      <a:pt x="1134071" y="142280"/>
                    </a:cubicBezTo>
                    <a:cubicBezTo>
                      <a:pt x="1207493" y="225623"/>
                      <a:pt x="1244204" y="322659"/>
                      <a:pt x="1244204" y="433387"/>
                    </a:cubicBezTo>
                    <a:cubicBezTo>
                      <a:pt x="1244204" y="543719"/>
                      <a:pt x="1207493" y="640556"/>
                      <a:pt x="1134071" y="723900"/>
                    </a:cubicBezTo>
                    <a:cubicBezTo>
                      <a:pt x="1050330" y="818753"/>
                      <a:pt x="937022" y="866179"/>
                      <a:pt x="794147" y="866179"/>
                    </a:cubicBezTo>
                    <a:cubicBezTo>
                      <a:pt x="651669" y="866179"/>
                      <a:pt x="538560" y="818753"/>
                      <a:pt x="454819" y="723900"/>
                    </a:cubicBezTo>
                    <a:cubicBezTo>
                      <a:pt x="381397" y="640556"/>
                      <a:pt x="344686" y="543719"/>
                      <a:pt x="344686" y="433387"/>
                    </a:cubicBezTo>
                    <a:cubicBezTo>
                      <a:pt x="344686" y="382984"/>
                      <a:pt x="354608" y="331291"/>
                      <a:pt x="374452" y="278308"/>
                    </a:cubicBezTo>
                    <a:cubicBezTo>
                      <a:pt x="394296" y="225326"/>
                      <a:pt x="420886" y="179983"/>
                      <a:pt x="454224" y="142280"/>
                    </a:cubicBezTo>
                    <a:cubicBezTo>
                      <a:pt x="537964" y="47426"/>
                      <a:pt x="651272" y="0"/>
                      <a:pt x="794147" y="0"/>
                    </a:cubicBezTo>
                    <a:close/>
                  </a:path>
                </a:pathLst>
              </a:custGeom>
              <a:solidFill>
                <a:srgbClr val="00B0F0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800" dirty="0"/>
              </a:p>
            </p:txBody>
          </p:sp>
          <p:sp>
            <p:nvSpPr>
              <p:cNvPr id="18" name="Freeform: Shape 67">
                <a:extLst>
                  <a:ext uri="{FF2B5EF4-FFF2-40B4-BE49-F238E27FC236}">
                    <a16:creationId xmlns:a16="http://schemas.microsoft.com/office/drawing/2014/main" id="{275D1FAA-C13F-4A6B-BA37-7704CFB7ADCD}"/>
                  </a:ext>
                </a:extLst>
              </p:cNvPr>
              <p:cNvSpPr/>
              <p:nvPr/>
            </p:nvSpPr>
            <p:spPr>
              <a:xfrm>
                <a:off x="8174174" y="1963600"/>
                <a:ext cx="443936" cy="326799"/>
              </a:xfrm>
              <a:custGeom>
                <a:avLst/>
                <a:gdLst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2788485 w 3738080"/>
                  <a:gd name="connsiteY5" fmla="*/ 1841061 h 2751770"/>
                  <a:gd name="connsiteX6" fmla="*/ 2632248 w 3738080"/>
                  <a:gd name="connsiteY6" fmla="*/ 1992174 h 2751770"/>
                  <a:gd name="connsiteX7" fmla="*/ 2624294 w 3738080"/>
                  <a:gd name="connsiteY7" fmla="*/ 1992174 h 2751770"/>
                  <a:gd name="connsiteX8" fmla="*/ 1858846 w 3738080"/>
                  <a:gd name="connsiteY8" fmla="*/ 1306247 h 2751770"/>
                  <a:gd name="connsiteX9" fmla="*/ 2645621 w 3738080"/>
                  <a:gd name="connsiteY9" fmla="*/ 1504218 h 2751770"/>
                  <a:gd name="connsiteX10" fmla="*/ 2795575 w 3738080"/>
                  <a:gd name="connsiteY10" fmla="*/ 1757331 h 2751770"/>
                  <a:gd name="connsiteX11" fmla="*/ 2539052 w 3738080"/>
                  <a:gd name="connsiteY11" fmla="*/ 1841672 h 2751770"/>
                  <a:gd name="connsiteX12" fmla="*/ 1353947 w 3738080"/>
                  <a:gd name="connsiteY12" fmla="*/ 1778974 h 2751770"/>
                  <a:gd name="connsiteX13" fmla="*/ 982333 w 3738080"/>
                  <a:gd name="connsiteY13" fmla="*/ 1780833 h 2751770"/>
                  <a:gd name="connsiteX14" fmla="*/ 966756 w 3738080"/>
                  <a:gd name="connsiteY14" fmla="*/ 1667407 h 2751770"/>
                  <a:gd name="connsiteX15" fmla="*/ 1217540 w 3738080"/>
                  <a:gd name="connsiteY15" fmla="*/ 1445700 h 2751770"/>
                  <a:gd name="connsiteX16" fmla="*/ 1858846 w 3738080"/>
                  <a:gd name="connsiteY16" fmla="*/ 1306247 h 2751770"/>
                  <a:gd name="connsiteX17" fmla="*/ 1828129 w 3738080"/>
                  <a:gd name="connsiteY17" fmla="*/ 650059 h 2751770"/>
                  <a:gd name="connsiteX18" fmla="*/ 3108200 w 3738080"/>
                  <a:gd name="connsiteY18" fmla="*/ 1008980 h 2751770"/>
                  <a:gd name="connsiteX19" fmla="*/ 3258155 w 3738080"/>
                  <a:gd name="connsiteY19" fmla="*/ 1319033 h 2751770"/>
                  <a:gd name="connsiteX20" fmla="*/ 2937692 w 3738080"/>
                  <a:gd name="connsiteY20" fmla="*/ 1304637 h 2751770"/>
                  <a:gd name="connsiteX21" fmla="*/ 763561 w 3738080"/>
                  <a:gd name="connsiteY21" fmla="*/ 1325535 h 2751770"/>
                  <a:gd name="connsiteX22" fmla="*/ 464412 w 3738080"/>
                  <a:gd name="connsiteY22" fmla="*/ 1278813 h 2751770"/>
                  <a:gd name="connsiteX23" fmla="*/ 450482 w 3738080"/>
                  <a:gd name="connsiteY23" fmla="*/ 1202928 h 2751770"/>
                  <a:gd name="connsiteX24" fmla="*/ 622892 w 3738080"/>
                  <a:gd name="connsiteY24" fmla="*/ 1008979 h 2751770"/>
                  <a:gd name="connsiteX25" fmla="*/ 1828129 w 3738080"/>
                  <a:gd name="connsiteY25" fmla="*/ 650059 h 2751770"/>
                  <a:gd name="connsiteX26" fmla="*/ 1764313 w 3738080"/>
                  <a:gd name="connsiteY26" fmla="*/ 591 h 2751770"/>
                  <a:gd name="connsiteX27" fmla="*/ 3559697 w 3738080"/>
                  <a:gd name="connsiteY27" fmla="*/ 547180 h 2751770"/>
                  <a:gd name="connsiteX28" fmla="*/ 3709650 w 3738080"/>
                  <a:gd name="connsiteY28" fmla="*/ 882310 h 2751770"/>
                  <a:gd name="connsiteX29" fmla="*/ 3367875 w 3738080"/>
                  <a:gd name="connsiteY29" fmla="*/ 834477 h 2751770"/>
                  <a:gd name="connsiteX30" fmla="*/ 318417 w 3738080"/>
                  <a:gd name="connsiteY30" fmla="*/ 884635 h 2751770"/>
                  <a:gd name="connsiteX31" fmla="*/ 19267 w 3738080"/>
                  <a:gd name="connsiteY31" fmla="*/ 846272 h 2751770"/>
                  <a:gd name="connsiteX32" fmla="*/ 275 w 3738080"/>
                  <a:gd name="connsiteY32" fmla="*/ 760137 h 2751770"/>
                  <a:gd name="connsiteX33" fmla="*/ 173484 w 3738080"/>
                  <a:gd name="connsiteY33" fmla="*/ 547180 h 2751770"/>
                  <a:gd name="connsiteX34" fmla="*/ 1764313 w 3738080"/>
                  <a:gd name="connsiteY34" fmla="*/ 591 h 2751770"/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2624294 w 3738080"/>
                  <a:gd name="connsiteY5" fmla="*/ 1992174 h 2751770"/>
                  <a:gd name="connsiteX6" fmla="*/ 2632248 w 3738080"/>
                  <a:gd name="connsiteY6" fmla="*/ 1992174 h 2751770"/>
                  <a:gd name="connsiteX7" fmla="*/ 2624294 w 3738080"/>
                  <a:gd name="connsiteY7" fmla="*/ 1992174 h 2751770"/>
                  <a:gd name="connsiteX8" fmla="*/ 1858846 w 3738080"/>
                  <a:gd name="connsiteY8" fmla="*/ 1306247 h 2751770"/>
                  <a:gd name="connsiteX9" fmla="*/ 2645621 w 3738080"/>
                  <a:gd name="connsiteY9" fmla="*/ 1504218 h 2751770"/>
                  <a:gd name="connsiteX10" fmla="*/ 2795575 w 3738080"/>
                  <a:gd name="connsiteY10" fmla="*/ 1757331 h 2751770"/>
                  <a:gd name="connsiteX11" fmla="*/ 2539052 w 3738080"/>
                  <a:gd name="connsiteY11" fmla="*/ 1841672 h 2751770"/>
                  <a:gd name="connsiteX12" fmla="*/ 1353947 w 3738080"/>
                  <a:gd name="connsiteY12" fmla="*/ 1778974 h 2751770"/>
                  <a:gd name="connsiteX13" fmla="*/ 982333 w 3738080"/>
                  <a:gd name="connsiteY13" fmla="*/ 1780833 h 2751770"/>
                  <a:gd name="connsiteX14" fmla="*/ 966756 w 3738080"/>
                  <a:gd name="connsiteY14" fmla="*/ 1667407 h 2751770"/>
                  <a:gd name="connsiteX15" fmla="*/ 1217540 w 3738080"/>
                  <a:gd name="connsiteY15" fmla="*/ 1445700 h 2751770"/>
                  <a:gd name="connsiteX16" fmla="*/ 1858846 w 3738080"/>
                  <a:gd name="connsiteY16" fmla="*/ 1306247 h 2751770"/>
                  <a:gd name="connsiteX17" fmla="*/ 1828129 w 3738080"/>
                  <a:gd name="connsiteY17" fmla="*/ 650059 h 2751770"/>
                  <a:gd name="connsiteX18" fmla="*/ 3108200 w 3738080"/>
                  <a:gd name="connsiteY18" fmla="*/ 1008980 h 2751770"/>
                  <a:gd name="connsiteX19" fmla="*/ 3258155 w 3738080"/>
                  <a:gd name="connsiteY19" fmla="*/ 1319033 h 2751770"/>
                  <a:gd name="connsiteX20" fmla="*/ 2937692 w 3738080"/>
                  <a:gd name="connsiteY20" fmla="*/ 1304637 h 2751770"/>
                  <a:gd name="connsiteX21" fmla="*/ 763561 w 3738080"/>
                  <a:gd name="connsiteY21" fmla="*/ 1325535 h 2751770"/>
                  <a:gd name="connsiteX22" fmla="*/ 464412 w 3738080"/>
                  <a:gd name="connsiteY22" fmla="*/ 1278813 h 2751770"/>
                  <a:gd name="connsiteX23" fmla="*/ 450482 w 3738080"/>
                  <a:gd name="connsiteY23" fmla="*/ 1202928 h 2751770"/>
                  <a:gd name="connsiteX24" fmla="*/ 622892 w 3738080"/>
                  <a:gd name="connsiteY24" fmla="*/ 1008979 h 2751770"/>
                  <a:gd name="connsiteX25" fmla="*/ 1828129 w 3738080"/>
                  <a:gd name="connsiteY25" fmla="*/ 650059 h 2751770"/>
                  <a:gd name="connsiteX26" fmla="*/ 1764313 w 3738080"/>
                  <a:gd name="connsiteY26" fmla="*/ 591 h 2751770"/>
                  <a:gd name="connsiteX27" fmla="*/ 3559697 w 3738080"/>
                  <a:gd name="connsiteY27" fmla="*/ 547180 h 2751770"/>
                  <a:gd name="connsiteX28" fmla="*/ 3709650 w 3738080"/>
                  <a:gd name="connsiteY28" fmla="*/ 882310 h 2751770"/>
                  <a:gd name="connsiteX29" fmla="*/ 3367875 w 3738080"/>
                  <a:gd name="connsiteY29" fmla="*/ 834477 h 2751770"/>
                  <a:gd name="connsiteX30" fmla="*/ 318417 w 3738080"/>
                  <a:gd name="connsiteY30" fmla="*/ 884635 h 2751770"/>
                  <a:gd name="connsiteX31" fmla="*/ 19267 w 3738080"/>
                  <a:gd name="connsiteY31" fmla="*/ 846272 h 2751770"/>
                  <a:gd name="connsiteX32" fmla="*/ 275 w 3738080"/>
                  <a:gd name="connsiteY32" fmla="*/ 760137 h 2751770"/>
                  <a:gd name="connsiteX33" fmla="*/ 173484 w 3738080"/>
                  <a:gd name="connsiteY33" fmla="*/ 547180 h 2751770"/>
                  <a:gd name="connsiteX34" fmla="*/ 1764313 w 3738080"/>
                  <a:gd name="connsiteY34" fmla="*/ 591 h 2751770"/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1858846 w 3738080"/>
                  <a:gd name="connsiteY5" fmla="*/ 1306247 h 2751770"/>
                  <a:gd name="connsiteX6" fmla="*/ 2645621 w 3738080"/>
                  <a:gd name="connsiteY6" fmla="*/ 1504218 h 2751770"/>
                  <a:gd name="connsiteX7" fmla="*/ 2795575 w 3738080"/>
                  <a:gd name="connsiteY7" fmla="*/ 1757331 h 2751770"/>
                  <a:gd name="connsiteX8" fmla="*/ 2539052 w 3738080"/>
                  <a:gd name="connsiteY8" fmla="*/ 1841672 h 2751770"/>
                  <a:gd name="connsiteX9" fmla="*/ 1353947 w 3738080"/>
                  <a:gd name="connsiteY9" fmla="*/ 1778974 h 2751770"/>
                  <a:gd name="connsiteX10" fmla="*/ 982333 w 3738080"/>
                  <a:gd name="connsiteY10" fmla="*/ 1780833 h 2751770"/>
                  <a:gd name="connsiteX11" fmla="*/ 966756 w 3738080"/>
                  <a:gd name="connsiteY11" fmla="*/ 1667407 h 2751770"/>
                  <a:gd name="connsiteX12" fmla="*/ 1217540 w 3738080"/>
                  <a:gd name="connsiteY12" fmla="*/ 1445700 h 2751770"/>
                  <a:gd name="connsiteX13" fmla="*/ 1858846 w 3738080"/>
                  <a:gd name="connsiteY13" fmla="*/ 1306247 h 2751770"/>
                  <a:gd name="connsiteX14" fmla="*/ 1828129 w 3738080"/>
                  <a:gd name="connsiteY14" fmla="*/ 650059 h 2751770"/>
                  <a:gd name="connsiteX15" fmla="*/ 3108200 w 3738080"/>
                  <a:gd name="connsiteY15" fmla="*/ 1008980 h 2751770"/>
                  <a:gd name="connsiteX16" fmla="*/ 3258155 w 3738080"/>
                  <a:gd name="connsiteY16" fmla="*/ 1319033 h 2751770"/>
                  <a:gd name="connsiteX17" fmla="*/ 2937692 w 3738080"/>
                  <a:gd name="connsiteY17" fmla="*/ 1304637 h 2751770"/>
                  <a:gd name="connsiteX18" fmla="*/ 763561 w 3738080"/>
                  <a:gd name="connsiteY18" fmla="*/ 1325535 h 2751770"/>
                  <a:gd name="connsiteX19" fmla="*/ 464412 w 3738080"/>
                  <a:gd name="connsiteY19" fmla="*/ 1278813 h 2751770"/>
                  <a:gd name="connsiteX20" fmla="*/ 450482 w 3738080"/>
                  <a:gd name="connsiteY20" fmla="*/ 1202928 h 2751770"/>
                  <a:gd name="connsiteX21" fmla="*/ 622892 w 3738080"/>
                  <a:gd name="connsiteY21" fmla="*/ 1008979 h 2751770"/>
                  <a:gd name="connsiteX22" fmla="*/ 1828129 w 3738080"/>
                  <a:gd name="connsiteY22" fmla="*/ 650059 h 2751770"/>
                  <a:gd name="connsiteX23" fmla="*/ 1764313 w 3738080"/>
                  <a:gd name="connsiteY23" fmla="*/ 591 h 2751770"/>
                  <a:gd name="connsiteX24" fmla="*/ 3559697 w 3738080"/>
                  <a:gd name="connsiteY24" fmla="*/ 547180 h 2751770"/>
                  <a:gd name="connsiteX25" fmla="*/ 3709650 w 3738080"/>
                  <a:gd name="connsiteY25" fmla="*/ 882310 h 2751770"/>
                  <a:gd name="connsiteX26" fmla="*/ 3367875 w 3738080"/>
                  <a:gd name="connsiteY26" fmla="*/ 834477 h 2751770"/>
                  <a:gd name="connsiteX27" fmla="*/ 318417 w 3738080"/>
                  <a:gd name="connsiteY27" fmla="*/ 884635 h 2751770"/>
                  <a:gd name="connsiteX28" fmla="*/ 19267 w 3738080"/>
                  <a:gd name="connsiteY28" fmla="*/ 846272 h 2751770"/>
                  <a:gd name="connsiteX29" fmla="*/ 275 w 3738080"/>
                  <a:gd name="connsiteY29" fmla="*/ 760137 h 2751770"/>
                  <a:gd name="connsiteX30" fmla="*/ 173484 w 3738080"/>
                  <a:gd name="connsiteY30" fmla="*/ 547180 h 2751770"/>
                  <a:gd name="connsiteX31" fmla="*/ 1764313 w 3738080"/>
                  <a:gd name="connsiteY31" fmla="*/ 591 h 27517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3738080" h="2751770">
                    <a:moveTo>
                      <a:pt x="1869041" y="1997576"/>
                    </a:moveTo>
                    <a:cubicBezTo>
                      <a:pt x="2077306" y="1997576"/>
                      <a:pt x="2246138" y="2166408"/>
                      <a:pt x="2246138" y="2374673"/>
                    </a:cubicBezTo>
                    <a:cubicBezTo>
                      <a:pt x="2246138" y="2582938"/>
                      <a:pt x="2077306" y="2751770"/>
                      <a:pt x="1869041" y="2751770"/>
                    </a:cubicBezTo>
                    <a:cubicBezTo>
                      <a:pt x="1660776" y="2751770"/>
                      <a:pt x="1491944" y="2582938"/>
                      <a:pt x="1491944" y="2374673"/>
                    </a:cubicBezTo>
                    <a:cubicBezTo>
                      <a:pt x="1491944" y="2166408"/>
                      <a:pt x="1660776" y="1997576"/>
                      <a:pt x="1869041" y="1997576"/>
                    </a:cubicBezTo>
                    <a:close/>
                    <a:moveTo>
                      <a:pt x="1858846" y="1306247"/>
                    </a:moveTo>
                    <a:cubicBezTo>
                      <a:pt x="2165924" y="1301758"/>
                      <a:pt x="2404940" y="1399722"/>
                      <a:pt x="2645621" y="1504218"/>
                    </a:cubicBezTo>
                    <a:cubicBezTo>
                      <a:pt x="2813424" y="1597955"/>
                      <a:pt x="2823993" y="1678797"/>
                      <a:pt x="2795575" y="1757331"/>
                    </a:cubicBezTo>
                    <a:cubicBezTo>
                      <a:pt x="2761471" y="1842158"/>
                      <a:pt x="2685239" y="1908552"/>
                      <a:pt x="2539052" y="1841672"/>
                    </a:cubicBezTo>
                    <a:cubicBezTo>
                      <a:pt x="2347207" y="1684231"/>
                      <a:pt x="1733351" y="1556050"/>
                      <a:pt x="1353947" y="1778974"/>
                    </a:cubicBezTo>
                    <a:cubicBezTo>
                      <a:pt x="1250080" y="1855218"/>
                      <a:pt x="1037749" y="1915097"/>
                      <a:pt x="982333" y="1780833"/>
                    </a:cubicBezTo>
                    <a:cubicBezTo>
                      <a:pt x="968480" y="1736637"/>
                      <a:pt x="963386" y="1699601"/>
                      <a:pt x="966756" y="1667407"/>
                    </a:cubicBezTo>
                    <a:cubicBezTo>
                      <a:pt x="976866" y="1570822"/>
                      <a:pt x="1063141" y="1517802"/>
                      <a:pt x="1217540" y="1445700"/>
                    </a:cubicBezTo>
                    <a:cubicBezTo>
                      <a:pt x="1465851" y="1348519"/>
                      <a:pt x="1674601" y="1308942"/>
                      <a:pt x="1858846" y="1306247"/>
                    </a:cubicBezTo>
                    <a:close/>
                    <a:moveTo>
                      <a:pt x="1828129" y="650059"/>
                    </a:moveTo>
                    <a:cubicBezTo>
                      <a:pt x="2445754" y="646836"/>
                      <a:pt x="2937662" y="894034"/>
                      <a:pt x="3108200" y="1008980"/>
                    </a:cubicBezTo>
                    <a:cubicBezTo>
                      <a:pt x="3228810" y="1075858"/>
                      <a:pt x="3343409" y="1171509"/>
                      <a:pt x="3258155" y="1319033"/>
                    </a:cubicBezTo>
                    <a:cubicBezTo>
                      <a:pt x="3134282" y="1435449"/>
                      <a:pt x="3057301" y="1393031"/>
                      <a:pt x="2937692" y="1304637"/>
                    </a:cubicBezTo>
                    <a:cubicBezTo>
                      <a:pt x="2647778" y="1191783"/>
                      <a:pt x="2008321" y="619142"/>
                      <a:pt x="763561" y="1325535"/>
                    </a:cubicBezTo>
                    <a:cubicBezTo>
                      <a:pt x="621636" y="1425852"/>
                      <a:pt x="511304" y="1376178"/>
                      <a:pt x="464412" y="1278813"/>
                    </a:cubicBezTo>
                    <a:cubicBezTo>
                      <a:pt x="452398" y="1252494"/>
                      <a:pt x="448110" y="1227223"/>
                      <a:pt x="450482" y="1202928"/>
                    </a:cubicBezTo>
                    <a:cubicBezTo>
                      <a:pt x="457599" y="1130049"/>
                      <a:pt x="524660" y="1065987"/>
                      <a:pt x="622892" y="1008979"/>
                    </a:cubicBezTo>
                    <a:cubicBezTo>
                      <a:pt x="1041721" y="744082"/>
                      <a:pt x="1457554" y="651995"/>
                      <a:pt x="1828129" y="650059"/>
                    </a:cubicBezTo>
                    <a:close/>
                    <a:moveTo>
                      <a:pt x="1764313" y="591"/>
                    </a:moveTo>
                    <a:cubicBezTo>
                      <a:pt x="2430887" y="-13278"/>
                      <a:pt x="3056659" y="218017"/>
                      <a:pt x="3559697" y="547180"/>
                    </a:cubicBezTo>
                    <a:cubicBezTo>
                      <a:pt x="3671781" y="597338"/>
                      <a:pt x="3794905" y="759863"/>
                      <a:pt x="3709650" y="882310"/>
                    </a:cubicBezTo>
                    <a:cubicBezTo>
                      <a:pt x="3594303" y="984791"/>
                      <a:pt x="3449118" y="907547"/>
                      <a:pt x="3367875" y="834477"/>
                    </a:cubicBezTo>
                    <a:cubicBezTo>
                      <a:pt x="3193985" y="725799"/>
                      <a:pt x="1920315" y="-235561"/>
                      <a:pt x="318417" y="884635"/>
                    </a:cubicBezTo>
                    <a:cubicBezTo>
                      <a:pt x="189280" y="993311"/>
                      <a:pt x="70419" y="922739"/>
                      <a:pt x="19267" y="846272"/>
                    </a:cubicBezTo>
                    <a:cubicBezTo>
                      <a:pt x="4410" y="817516"/>
                      <a:pt x="-1388" y="788500"/>
                      <a:pt x="275" y="760137"/>
                    </a:cubicBezTo>
                    <a:cubicBezTo>
                      <a:pt x="5260" y="675044"/>
                      <a:pt x="77384" y="595829"/>
                      <a:pt x="173484" y="547180"/>
                    </a:cubicBezTo>
                    <a:cubicBezTo>
                      <a:pt x="702741" y="170471"/>
                      <a:pt x="1245868" y="11376"/>
                      <a:pt x="1764313" y="591"/>
                    </a:cubicBezTo>
                    <a:close/>
                  </a:path>
                </a:pathLst>
              </a:cu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sp>
          <p:nvSpPr>
            <p:cNvPr id="14" name="Subtitle 2">
              <a:extLst>
                <a:ext uri="{FF2B5EF4-FFF2-40B4-BE49-F238E27FC236}">
                  <a16:creationId xmlns:a16="http://schemas.microsoft.com/office/drawing/2014/main" id="{53858C97-DA2F-8866-47CC-CDF4077BBF9D}"/>
                </a:ext>
              </a:extLst>
            </p:cNvPr>
            <p:cNvSpPr txBox="1">
              <a:spLocks/>
            </p:cNvSpPr>
            <p:nvPr/>
          </p:nvSpPr>
          <p:spPr>
            <a:xfrm>
              <a:off x="1560697" y="757061"/>
              <a:ext cx="729275" cy="203382"/>
            </a:xfrm>
            <a:prstGeom prst="rect">
              <a:avLst/>
            </a:prstGeom>
          </p:spPr>
          <p:txBody>
            <a:bodyPr vert="horz" lIns="68580" tIns="34290" rIns="68580" bIns="34290" rtlCol="0">
              <a:normAutofit fontScale="550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1200" dirty="0">
                  <a:solidFill>
                    <a:srgbClr val="7030A0"/>
                  </a:solidFill>
                </a:rPr>
                <a:t>PDS</a:t>
              </a:r>
            </a:p>
          </p:txBody>
        </p:sp>
      </p:grpSp>
      <p:sp>
        <p:nvSpPr>
          <p:cNvPr id="22" name="Rectangle 21"/>
          <p:cNvSpPr/>
          <p:nvPr/>
        </p:nvSpPr>
        <p:spPr>
          <a:xfrm>
            <a:off x="6683644" y="4335788"/>
            <a:ext cx="2613761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dirty="0"/>
              <a:t>https://www.youtube.com/@AmelOline/videos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20552" y="4197289"/>
            <a:ext cx="1623448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dirty="0"/>
              <a:t>https://github.com/siagianp</a:t>
            </a:r>
          </a:p>
        </p:txBody>
      </p:sp>
      <p:sp>
        <p:nvSpPr>
          <p:cNvPr id="2" name="Rectangle 1"/>
          <p:cNvSpPr/>
          <p:nvPr/>
        </p:nvSpPr>
        <p:spPr>
          <a:xfrm>
            <a:off x="5707251" y="4474288"/>
            <a:ext cx="3667194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dirty="0"/>
              <a:t>https://github.com/amelcharolinesgn2/IoT_simulator-mqtt-NodeRed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8807" y="1979698"/>
            <a:ext cx="334565" cy="47689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5773" y="1991577"/>
            <a:ext cx="460043" cy="43704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9784" y="1979697"/>
            <a:ext cx="449747" cy="433166"/>
          </a:xfrm>
          <a:prstGeom prst="rect">
            <a:avLst/>
          </a:prstGeom>
        </p:spPr>
      </p:pic>
      <p:sp>
        <p:nvSpPr>
          <p:cNvPr id="26" name="Subtitle 2"/>
          <p:cNvSpPr txBox="1">
            <a:spLocks/>
          </p:cNvSpPr>
          <p:nvPr/>
        </p:nvSpPr>
        <p:spPr>
          <a:xfrm>
            <a:off x="1928066" y="2722292"/>
            <a:ext cx="6768461" cy="390806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3200" dirty="0" err="1" smtClean="0"/>
              <a:t>Kolla</a:t>
            </a:r>
            <a:r>
              <a:rPr lang="en-US" sz="3200" dirty="0" smtClean="0"/>
              <a:t> </a:t>
            </a:r>
            <a:r>
              <a:rPr lang="en-US" sz="3200" dirty="0" err="1"/>
              <a:t>Ansible</a:t>
            </a:r>
            <a:r>
              <a:rPr lang="en-US" sz="3200" dirty="0"/>
              <a:t> OpenStack Installation (Ubuntu server 22.04</a:t>
            </a:r>
            <a:r>
              <a:rPr lang="en-US" sz="3200" dirty="0" smtClean="0"/>
              <a:t>)</a:t>
            </a:r>
          </a:p>
        </p:txBody>
      </p:sp>
      <p:sp>
        <p:nvSpPr>
          <p:cNvPr id="27" name="Title 1"/>
          <p:cNvSpPr txBox="1">
            <a:spLocks/>
          </p:cNvSpPr>
          <p:nvPr/>
        </p:nvSpPr>
        <p:spPr>
          <a:xfrm>
            <a:off x="1928067" y="3546558"/>
            <a:ext cx="6425543" cy="503071"/>
          </a:xfrm>
          <a:prstGeom prst="rect">
            <a:avLst/>
          </a:prstGeom>
        </p:spPr>
        <p:txBody>
          <a:bodyPr vert="horz" lIns="68580" tIns="34290" rIns="68580" bIns="34290" rtlCol="0" anchor="b">
            <a:normAutofit fontScale="97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300" dirty="0">
                <a:solidFill>
                  <a:srgbClr val="0070C0"/>
                </a:solidFill>
              </a:rPr>
              <a:t>.</a:t>
            </a:r>
            <a:endParaRPr lang="en-US" sz="3300" b="1" dirty="0"/>
          </a:p>
        </p:txBody>
      </p:sp>
      <p:sp>
        <p:nvSpPr>
          <p:cNvPr id="3" name="Rectangle 2"/>
          <p:cNvSpPr/>
          <p:nvPr/>
        </p:nvSpPr>
        <p:spPr>
          <a:xfrm>
            <a:off x="6152941" y="4612787"/>
            <a:ext cx="3204723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/>
              <a:t>https://github.com/amelcharolinesgn2/Cloud-Infrastructures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20344" y="4785911"/>
            <a:ext cx="3839513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/>
              <a:t>https://github.com/amelcharolinesgn2/ClouD-Infrastructure-SISKA-2025</a:t>
            </a:r>
          </a:p>
        </p:txBody>
      </p:sp>
    </p:spTree>
    <p:extLst>
      <p:ext uri="{BB962C8B-B14F-4D97-AF65-F5344CB8AC3E}">
        <p14:creationId xmlns:p14="http://schemas.microsoft.com/office/powerpoint/2010/main" val="28642243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>
                <a:solidFill>
                  <a:srgbClr val="002060"/>
                </a:solidFill>
              </a:rPr>
              <a:t>Arsitektur</a:t>
            </a:r>
            <a:r>
              <a:rPr lang="en-US" b="1" dirty="0">
                <a:solidFill>
                  <a:srgbClr val="002060"/>
                </a:solidFill>
              </a:rPr>
              <a:t> </a:t>
            </a:r>
            <a:r>
              <a:rPr lang="en-US" b="1" dirty="0" err="1">
                <a:solidFill>
                  <a:srgbClr val="002060"/>
                </a:solidFill>
              </a:rPr>
              <a:t>Openstack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64" y="1094508"/>
            <a:ext cx="2793554" cy="254447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3357" y="1268016"/>
            <a:ext cx="4747107" cy="3151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1761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595" y="273844"/>
            <a:ext cx="3915641" cy="391174"/>
          </a:xfrm>
        </p:spPr>
        <p:txBody>
          <a:bodyPr>
            <a:normAutofit fontScale="90000"/>
          </a:bodyPr>
          <a:lstStyle/>
          <a:p>
            <a:r>
              <a:rPr lang="en-US" dirty="0" err="1">
                <a:solidFill>
                  <a:srgbClr val="002060"/>
                </a:solidFill>
              </a:rPr>
              <a:t>Openstack</a:t>
            </a:r>
            <a:r>
              <a:rPr lang="en-US" dirty="0">
                <a:solidFill>
                  <a:srgbClr val="002060"/>
                </a:solidFill>
              </a:rPr>
              <a:t> Services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157595" y="665018"/>
            <a:ext cx="3777095" cy="784830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dirty="0" err="1"/>
              <a:t>Kolla</a:t>
            </a:r>
            <a:r>
              <a:rPr lang="en-US" sz="1400" dirty="0"/>
              <a:t> </a:t>
            </a:r>
            <a:r>
              <a:rPr lang="en-US" sz="1400" dirty="0" err="1"/>
              <a:t>Ansible</a:t>
            </a:r>
            <a:r>
              <a:rPr lang="en-US" sz="1400" dirty="0"/>
              <a:t> </a:t>
            </a:r>
            <a:r>
              <a:rPr lang="en-US" sz="1400" dirty="0" err="1"/>
              <a:t>melakukan</a:t>
            </a:r>
            <a:r>
              <a:rPr lang="en-US" sz="1400" dirty="0"/>
              <a:t> deploy container </a:t>
            </a:r>
            <a:r>
              <a:rPr lang="en-US" sz="1400" dirty="0" err="1"/>
              <a:t>untuk</a:t>
            </a:r>
            <a:r>
              <a:rPr lang="en-US" sz="1400" dirty="0"/>
              <a:t> project </a:t>
            </a:r>
            <a:r>
              <a:rPr lang="en-US" sz="1400" dirty="0" err="1"/>
              <a:t>Openstack</a:t>
            </a:r>
            <a:r>
              <a:rPr lang="en-US" sz="1400" dirty="0"/>
              <a:t> </a:t>
            </a:r>
            <a:r>
              <a:rPr lang="en-US" sz="1400" dirty="0" err="1"/>
              <a:t>berikut</a:t>
            </a:r>
            <a:r>
              <a:rPr lang="en-US" sz="1400" dirty="0"/>
              <a:t>:</a:t>
            </a:r>
          </a:p>
          <a:p>
            <a:endParaRPr lang="en-US" sz="1200" dirty="0"/>
          </a:p>
          <a:p>
            <a:r>
              <a:rPr lang="en-US" sz="1200" dirty="0" err="1"/>
              <a:t>Aodh</a:t>
            </a:r>
            <a:endParaRPr lang="en-US" sz="1200" dirty="0"/>
          </a:p>
          <a:p>
            <a:r>
              <a:rPr lang="en-US" sz="1200" dirty="0"/>
              <a:t>Barbican</a:t>
            </a:r>
          </a:p>
          <a:p>
            <a:r>
              <a:rPr lang="en-US" sz="1200" dirty="0" err="1"/>
              <a:t>Bifrost</a:t>
            </a:r>
            <a:endParaRPr lang="en-US" sz="1200" dirty="0"/>
          </a:p>
          <a:p>
            <a:r>
              <a:rPr lang="en-US" sz="1200" dirty="0"/>
              <a:t>Blazar</a:t>
            </a:r>
          </a:p>
          <a:p>
            <a:r>
              <a:rPr lang="en-US" sz="1200" dirty="0"/>
              <a:t>Ceilometer</a:t>
            </a:r>
          </a:p>
          <a:p>
            <a:r>
              <a:rPr lang="en-US" sz="1200" dirty="0"/>
              <a:t>Cinder</a:t>
            </a:r>
          </a:p>
          <a:p>
            <a:r>
              <a:rPr lang="en-US" sz="1200" dirty="0" err="1"/>
              <a:t>CloudKitty</a:t>
            </a:r>
            <a:endParaRPr lang="en-US" sz="1200" dirty="0"/>
          </a:p>
          <a:p>
            <a:r>
              <a:rPr lang="en-US" sz="1200" dirty="0"/>
              <a:t>Congress</a:t>
            </a:r>
          </a:p>
          <a:p>
            <a:r>
              <a:rPr lang="en-US" sz="1200" dirty="0"/>
              <a:t>Designate</a:t>
            </a:r>
          </a:p>
          <a:p>
            <a:r>
              <a:rPr lang="en-US" sz="1200" dirty="0"/>
              <a:t>Freezer</a:t>
            </a:r>
          </a:p>
          <a:p>
            <a:r>
              <a:rPr lang="en-US" sz="1200" dirty="0"/>
              <a:t>Glance</a:t>
            </a:r>
          </a:p>
          <a:p>
            <a:r>
              <a:rPr lang="en-US" sz="1200" dirty="0"/>
              <a:t>Heat</a:t>
            </a:r>
          </a:p>
          <a:p>
            <a:r>
              <a:rPr lang="en-US" sz="1200" dirty="0"/>
              <a:t>Horizon</a:t>
            </a:r>
          </a:p>
          <a:p>
            <a:r>
              <a:rPr lang="en-US" sz="1200" dirty="0"/>
              <a:t>Ironic</a:t>
            </a:r>
          </a:p>
          <a:p>
            <a:r>
              <a:rPr lang="en-US" sz="1200" dirty="0" err="1"/>
              <a:t>Karbor</a:t>
            </a:r>
            <a:endParaRPr lang="en-US" sz="1200" dirty="0"/>
          </a:p>
          <a:p>
            <a:r>
              <a:rPr lang="en-US" sz="1200" dirty="0"/>
              <a:t>Keystone</a:t>
            </a:r>
          </a:p>
          <a:p>
            <a:r>
              <a:rPr lang="en-US" sz="1200" dirty="0" err="1"/>
              <a:t>Kuryr</a:t>
            </a:r>
            <a:endParaRPr lang="en-US" sz="1200" dirty="0"/>
          </a:p>
          <a:p>
            <a:r>
              <a:rPr lang="en-US" sz="1200" dirty="0"/>
              <a:t>Magnum</a:t>
            </a:r>
          </a:p>
          <a:p>
            <a:r>
              <a:rPr lang="en-US" sz="1200" dirty="0"/>
              <a:t>Manila</a:t>
            </a:r>
          </a:p>
          <a:p>
            <a:r>
              <a:rPr lang="en-US" sz="1200" dirty="0"/>
              <a:t>Mistral</a:t>
            </a:r>
          </a:p>
          <a:p>
            <a:r>
              <a:rPr lang="en-US" sz="1200" dirty="0"/>
              <a:t>Murano</a:t>
            </a:r>
          </a:p>
          <a:p>
            <a:r>
              <a:rPr lang="en-US" sz="1200" dirty="0"/>
              <a:t>Neutron</a:t>
            </a:r>
          </a:p>
          <a:p>
            <a:r>
              <a:rPr lang="en-US" sz="1200" dirty="0"/>
              <a:t>Nova</a:t>
            </a:r>
          </a:p>
          <a:p>
            <a:r>
              <a:rPr lang="en-US" sz="1200" dirty="0"/>
              <a:t>Octavia</a:t>
            </a:r>
          </a:p>
          <a:p>
            <a:r>
              <a:rPr lang="en-US" sz="1200" dirty="0"/>
              <a:t>Panko</a:t>
            </a:r>
          </a:p>
          <a:p>
            <a:r>
              <a:rPr lang="en-US" sz="1200" dirty="0"/>
              <a:t>Rally</a:t>
            </a:r>
          </a:p>
          <a:p>
            <a:r>
              <a:rPr lang="en-US" sz="1200" dirty="0"/>
              <a:t>Sahara</a:t>
            </a:r>
          </a:p>
          <a:p>
            <a:r>
              <a:rPr lang="en-US" sz="1200" dirty="0"/>
              <a:t>Searchlight</a:t>
            </a:r>
          </a:p>
          <a:p>
            <a:r>
              <a:rPr lang="en-US" sz="1200" dirty="0" err="1"/>
              <a:t>Senlin</a:t>
            </a:r>
            <a:endParaRPr lang="en-US" sz="1200" dirty="0"/>
          </a:p>
          <a:p>
            <a:r>
              <a:rPr lang="en-US" sz="1200" dirty="0" err="1"/>
              <a:t>Solum</a:t>
            </a:r>
            <a:endParaRPr lang="en-US" sz="1200" dirty="0"/>
          </a:p>
          <a:p>
            <a:r>
              <a:rPr lang="en-US" sz="1200" dirty="0"/>
              <a:t>Swift</a:t>
            </a:r>
          </a:p>
          <a:p>
            <a:r>
              <a:rPr lang="en-US" sz="1200" dirty="0"/>
              <a:t>Tacker</a:t>
            </a:r>
          </a:p>
          <a:p>
            <a:r>
              <a:rPr lang="en-US" sz="1200" dirty="0"/>
              <a:t>Tempest</a:t>
            </a:r>
          </a:p>
          <a:p>
            <a:r>
              <a:rPr lang="en-US" sz="1200" dirty="0"/>
              <a:t>Trove</a:t>
            </a:r>
          </a:p>
          <a:p>
            <a:r>
              <a:rPr lang="en-US" sz="1200" dirty="0" err="1"/>
              <a:t>Vitrage</a:t>
            </a:r>
            <a:endParaRPr lang="en-US" sz="1200" dirty="0"/>
          </a:p>
          <a:p>
            <a:r>
              <a:rPr lang="en-US" sz="1200" dirty="0" err="1"/>
              <a:t>Vmtp</a:t>
            </a:r>
            <a:endParaRPr lang="en-US" sz="1200" dirty="0"/>
          </a:p>
          <a:p>
            <a:r>
              <a:rPr lang="en-US" sz="1200" dirty="0"/>
              <a:t>Watcher</a:t>
            </a:r>
          </a:p>
          <a:p>
            <a:r>
              <a:rPr lang="en-US" sz="1200" dirty="0" err="1"/>
              <a:t>Zun</a:t>
            </a:r>
            <a:endParaRPr lang="en-US" sz="1200" dirty="0"/>
          </a:p>
        </p:txBody>
      </p:sp>
      <p:sp>
        <p:nvSpPr>
          <p:cNvPr id="6" name="Title 1"/>
          <p:cNvSpPr txBox="1">
            <a:spLocks/>
          </p:cNvSpPr>
          <p:nvPr/>
        </p:nvSpPr>
        <p:spPr>
          <a:xfrm>
            <a:off x="4401415" y="284452"/>
            <a:ext cx="3915641" cy="3911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rgbClr val="002060"/>
                </a:solidFill>
              </a:rPr>
              <a:t>Infrastructure components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1415" y="665018"/>
            <a:ext cx="4572000" cy="4678204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en-US" dirty="0" smtClean="0"/>
              <a:t>Service </a:t>
            </a:r>
            <a:r>
              <a:rPr lang="en-US" dirty="0" err="1"/>
              <a:t>Openstack</a:t>
            </a:r>
            <a:r>
              <a:rPr lang="en-US" dirty="0"/>
              <a:t> </a:t>
            </a:r>
            <a:r>
              <a:rPr lang="en-US" dirty="0" err="1"/>
              <a:t>berikut</a:t>
            </a:r>
            <a:r>
              <a:rPr lang="en-US" dirty="0"/>
              <a:t>: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 err="1"/>
              <a:t>Ceph</a:t>
            </a:r>
            <a:r>
              <a:rPr lang="en-US" sz="1400" dirty="0"/>
              <a:t> implementation for Cinder, Glance and Nova.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 err="1"/>
              <a:t>Collectd</a:t>
            </a:r>
            <a:r>
              <a:rPr lang="en-US" sz="1400" dirty="0"/>
              <a:t>, </a:t>
            </a:r>
            <a:r>
              <a:rPr lang="en-US" sz="1400" dirty="0" err="1"/>
              <a:t>Telegraf</a:t>
            </a:r>
            <a:r>
              <a:rPr lang="en-US" sz="1400" dirty="0"/>
              <a:t>, </a:t>
            </a:r>
            <a:r>
              <a:rPr lang="en-US" sz="1400" dirty="0" err="1"/>
              <a:t>InfluxDB</a:t>
            </a:r>
            <a:r>
              <a:rPr lang="en-US" sz="1400" dirty="0"/>
              <a:t>, Prometheus, and </a:t>
            </a:r>
            <a:r>
              <a:rPr lang="en-US" sz="1400" dirty="0" err="1"/>
              <a:t>Grafana</a:t>
            </a:r>
            <a:r>
              <a:rPr lang="en-US" sz="1400" dirty="0"/>
              <a:t> for performance monitoring.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 err="1"/>
              <a:t>Elasticsearch</a:t>
            </a:r>
            <a:r>
              <a:rPr lang="en-US" sz="1400" dirty="0"/>
              <a:t> and </a:t>
            </a:r>
            <a:r>
              <a:rPr lang="en-US" sz="1400" dirty="0" err="1"/>
              <a:t>Kibana</a:t>
            </a:r>
            <a:r>
              <a:rPr lang="en-US" sz="1400" dirty="0"/>
              <a:t> to search, analyze, and visualize log messages.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 err="1"/>
              <a:t>Etcd</a:t>
            </a:r>
            <a:r>
              <a:rPr lang="en-US" sz="1400" dirty="0"/>
              <a:t> a distributed reliable key-value store.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 err="1"/>
              <a:t>Fluentd</a:t>
            </a:r>
            <a:r>
              <a:rPr lang="en-US" sz="1400" dirty="0"/>
              <a:t> as an open source data collector for unified logging layer.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Gnocchi A time-series storage database.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 err="1"/>
              <a:t>HAProxy</a:t>
            </a:r>
            <a:r>
              <a:rPr lang="en-US" sz="1400" dirty="0"/>
              <a:t> and </a:t>
            </a:r>
            <a:r>
              <a:rPr lang="en-US" sz="1400" dirty="0" err="1"/>
              <a:t>Keepalived</a:t>
            </a:r>
            <a:r>
              <a:rPr lang="en-US" sz="1400" dirty="0"/>
              <a:t> for high availability of services and their endpoints.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 err="1"/>
              <a:t>MariaDB</a:t>
            </a:r>
            <a:r>
              <a:rPr lang="en-US" sz="1400" dirty="0"/>
              <a:t> and </a:t>
            </a:r>
            <a:r>
              <a:rPr lang="en-US" sz="1400" dirty="0" err="1"/>
              <a:t>Galera</a:t>
            </a:r>
            <a:r>
              <a:rPr lang="en-US" sz="1400" dirty="0"/>
              <a:t> Cluster for highly available MySQL databases.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 err="1"/>
              <a:t>Memcached</a:t>
            </a:r>
            <a:r>
              <a:rPr lang="en-US" sz="1400" dirty="0"/>
              <a:t> a distributed memory object caching system.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MongoDB as a database back end for Panko.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Open </a:t>
            </a:r>
            <a:r>
              <a:rPr lang="en-US" sz="1400" dirty="0" err="1"/>
              <a:t>vSwitch</a:t>
            </a:r>
            <a:r>
              <a:rPr lang="en-US" sz="1400" dirty="0"/>
              <a:t> and </a:t>
            </a:r>
            <a:r>
              <a:rPr lang="en-US" sz="1400" dirty="0" err="1"/>
              <a:t>Linuxbridge</a:t>
            </a:r>
            <a:r>
              <a:rPr lang="en-US" sz="1400" dirty="0"/>
              <a:t> </a:t>
            </a:r>
            <a:r>
              <a:rPr lang="en-US" sz="1400" dirty="0" err="1"/>
              <a:t>backends</a:t>
            </a:r>
            <a:r>
              <a:rPr lang="en-US" sz="1400" dirty="0"/>
              <a:t> for Neutron.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 err="1"/>
              <a:t>RabbitMQ</a:t>
            </a:r>
            <a:r>
              <a:rPr lang="en-US" sz="1400" dirty="0"/>
              <a:t> as a messaging backend for communication between services.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sz="1400" dirty="0" err="1"/>
              <a:t>Redis</a:t>
            </a:r>
            <a:r>
              <a:rPr lang="en-US" sz="1400" dirty="0"/>
              <a:t> an in-memory data structure store.</a:t>
            </a:r>
          </a:p>
        </p:txBody>
      </p:sp>
    </p:spTree>
    <p:extLst>
      <p:ext uri="{BB962C8B-B14F-4D97-AF65-F5344CB8AC3E}">
        <p14:creationId xmlns:p14="http://schemas.microsoft.com/office/powerpoint/2010/main" val="35760535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5264" y="165336"/>
            <a:ext cx="6044045" cy="280338"/>
          </a:xfrm>
        </p:spPr>
        <p:txBody>
          <a:bodyPr>
            <a:normAutofit fontScale="90000"/>
          </a:bodyPr>
          <a:lstStyle/>
          <a:p>
            <a:r>
              <a:rPr lang="en-US" b="1" dirty="0" smtClean="0"/>
              <a:t>Lab: </a:t>
            </a:r>
            <a:r>
              <a:rPr lang="en-US" b="1" dirty="0" err="1" smtClean="0"/>
              <a:t>Kolla</a:t>
            </a:r>
            <a:r>
              <a:rPr lang="en-US" b="1" dirty="0" smtClean="0"/>
              <a:t> </a:t>
            </a:r>
            <a:r>
              <a:rPr lang="en-US" b="1" dirty="0" err="1"/>
              <a:t>Ansible</a:t>
            </a:r>
            <a:r>
              <a:rPr lang="en-US" b="1" dirty="0"/>
              <a:t> All in One </a:t>
            </a:r>
            <a:r>
              <a:rPr lang="en-US" b="1" dirty="0" err="1"/>
              <a:t>Openstack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4</a:t>
            </a:fld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5250873" y="1112927"/>
            <a:ext cx="3768436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b="1" dirty="0" smtClean="0">
                <a:solidFill>
                  <a:srgbClr val="002060"/>
                </a:solidFill>
              </a:rPr>
              <a:t>Requirement</a:t>
            </a:r>
          </a:p>
          <a:p>
            <a:endParaRPr lang="en-US" sz="1400" b="1" dirty="0">
              <a:solidFill>
                <a:srgbClr val="002060"/>
              </a:solidFill>
            </a:endParaRPr>
          </a:p>
          <a:p>
            <a:pPr algn="just"/>
            <a:r>
              <a:rPr lang="en-US" sz="1400" dirty="0"/>
              <a:t>Kali </a:t>
            </a:r>
            <a:r>
              <a:rPr lang="en-US" sz="1400" dirty="0" err="1"/>
              <a:t>ini</a:t>
            </a:r>
            <a:r>
              <a:rPr lang="en-US" sz="1400" dirty="0"/>
              <a:t> kami </a:t>
            </a:r>
            <a:r>
              <a:rPr lang="en-US" sz="1400" dirty="0" err="1"/>
              <a:t>akan</a:t>
            </a:r>
            <a:r>
              <a:rPr lang="en-US" sz="1400" dirty="0"/>
              <a:t> </a:t>
            </a:r>
            <a:r>
              <a:rPr lang="en-US" sz="1400" dirty="0" err="1"/>
              <a:t>menggunakan</a:t>
            </a:r>
            <a:r>
              <a:rPr lang="en-US" sz="1400" dirty="0"/>
              <a:t> </a:t>
            </a:r>
            <a:r>
              <a:rPr lang="en-US" sz="1400" dirty="0" err="1"/>
              <a:t>spesifikasi</a:t>
            </a:r>
            <a:r>
              <a:rPr lang="en-US" sz="1400" dirty="0"/>
              <a:t> </a:t>
            </a:r>
            <a:r>
              <a:rPr lang="en-US" sz="1400" dirty="0" err="1"/>
              <a:t>mesin</a:t>
            </a:r>
            <a:r>
              <a:rPr lang="en-US" sz="1400" dirty="0"/>
              <a:t> </a:t>
            </a:r>
            <a:r>
              <a:rPr lang="en-US" sz="1400" dirty="0" err="1"/>
              <a:t>dan</a:t>
            </a:r>
            <a:r>
              <a:rPr lang="en-US" sz="1400" dirty="0"/>
              <a:t> </a:t>
            </a:r>
            <a:r>
              <a:rPr lang="en-US" sz="1400" dirty="0" err="1"/>
              <a:t>os</a:t>
            </a:r>
            <a:r>
              <a:rPr lang="en-US" sz="1400" dirty="0"/>
              <a:t> </a:t>
            </a:r>
            <a:r>
              <a:rPr lang="en-US" sz="1400" dirty="0" err="1"/>
              <a:t>seperti</a:t>
            </a:r>
            <a:r>
              <a:rPr lang="en-US" sz="1400" dirty="0"/>
              <a:t> </a:t>
            </a:r>
            <a:r>
              <a:rPr lang="en-US" sz="1400" dirty="0" err="1"/>
              <a:t>berikut</a:t>
            </a:r>
            <a:r>
              <a:rPr lang="en-US" sz="1400" dirty="0"/>
              <a:t>, </a:t>
            </a:r>
            <a:r>
              <a:rPr lang="en-US" sz="1400" dirty="0" err="1"/>
              <a:t>silakan</a:t>
            </a:r>
            <a:r>
              <a:rPr lang="en-US" sz="1400" dirty="0"/>
              <a:t> </a:t>
            </a:r>
            <a:r>
              <a:rPr lang="en-US" sz="1400" dirty="0" err="1"/>
              <a:t>dapat</a:t>
            </a:r>
            <a:r>
              <a:rPr lang="en-US" sz="1400" dirty="0"/>
              <a:t> </a:t>
            </a:r>
            <a:r>
              <a:rPr lang="en-US" sz="1400" dirty="0" err="1"/>
              <a:t>diikuti</a:t>
            </a:r>
            <a:r>
              <a:rPr lang="en-US" sz="1400" dirty="0"/>
              <a:t> </a:t>
            </a:r>
            <a:r>
              <a:rPr lang="en-US" sz="1400" dirty="0" err="1"/>
              <a:t>atau</a:t>
            </a:r>
            <a:r>
              <a:rPr lang="en-US" sz="1400" dirty="0"/>
              <a:t> </a:t>
            </a:r>
            <a:r>
              <a:rPr lang="en-US" sz="1400" dirty="0" err="1"/>
              <a:t>dapat</a:t>
            </a:r>
            <a:r>
              <a:rPr lang="en-US" sz="1400" dirty="0"/>
              <a:t> </a:t>
            </a:r>
            <a:r>
              <a:rPr lang="en-US" sz="1400" dirty="0" err="1"/>
              <a:t>disesuaikan</a:t>
            </a:r>
            <a:r>
              <a:rPr lang="en-US" sz="1400" dirty="0"/>
              <a:t> </a:t>
            </a:r>
            <a:r>
              <a:rPr lang="en-US" sz="1400" dirty="0" err="1"/>
              <a:t>dengan</a:t>
            </a:r>
            <a:r>
              <a:rPr lang="en-US" sz="1400" dirty="0"/>
              <a:t> </a:t>
            </a:r>
            <a:r>
              <a:rPr lang="en-US" sz="1400" dirty="0" err="1"/>
              <a:t>kebutuhan</a:t>
            </a:r>
            <a:r>
              <a:rPr lang="en-US" sz="1400" dirty="0"/>
              <a:t> </a:t>
            </a:r>
            <a:r>
              <a:rPr lang="en-US" sz="1400" dirty="0" err="1"/>
              <a:t>Anda</a:t>
            </a:r>
            <a:r>
              <a:rPr lang="en-US" sz="1400" dirty="0"/>
              <a:t>: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400" dirty="0" smtClean="0"/>
              <a:t>8 </a:t>
            </a:r>
            <a:r>
              <a:rPr lang="en-US" sz="1400" dirty="0"/>
              <a:t>CPU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400" dirty="0"/>
              <a:t>8 GB RAM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400" dirty="0"/>
              <a:t>100 GB Disk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400" dirty="0"/>
              <a:t>Ubuntu 20.04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400" dirty="0"/>
              <a:t>2 Network Interface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/>
          <a:srcRect b="13194"/>
          <a:stretch/>
        </p:blipFill>
        <p:spPr>
          <a:xfrm>
            <a:off x="355889" y="951836"/>
            <a:ext cx="4391025" cy="335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981661" y="4308764"/>
            <a:ext cx="147296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Ubuntu 20.04</a:t>
            </a:r>
          </a:p>
          <a:p>
            <a:r>
              <a:rPr lang="en-US" dirty="0" err="1" smtClean="0"/>
              <a:t>Openstack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31091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5</a:t>
            </a:fld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3200400" y="65812"/>
            <a:ext cx="5943600" cy="280338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Lab: </a:t>
            </a:r>
            <a:r>
              <a:rPr lang="en-US" sz="2400" b="1" dirty="0" err="1" smtClean="0"/>
              <a:t>Kolla</a:t>
            </a:r>
            <a:r>
              <a:rPr lang="en-US" sz="2400" b="1" dirty="0" smtClean="0"/>
              <a:t> </a:t>
            </a:r>
            <a:r>
              <a:rPr lang="en-US" sz="2400" b="1" dirty="0" err="1"/>
              <a:t>Ansible</a:t>
            </a:r>
            <a:r>
              <a:rPr lang="en-US" sz="2400" b="1" dirty="0"/>
              <a:t> All in One </a:t>
            </a:r>
            <a:r>
              <a:rPr lang="en-US" sz="2400" b="1" dirty="0" err="1" smtClean="0"/>
              <a:t>Openstack</a:t>
            </a:r>
            <a:r>
              <a:rPr lang="en-US" sz="2400" b="1" dirty="0" smtClean="0"/>
              <a:t> 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Cons’t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80109" y="535675"/>
            <a:ext cx="4197927" cy="461664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 b="1" dirty="0" smtClean="0">
                <a:solidFill>
                  <a:srgbClr val="002060"/>
                </a:solidFill>
              </a:rPr>
              <a:t>2 NIC</a:t>
            </a:r>
          </a:p>
          <a:p>
            <a:endParaRPr lang="en-US" sz="1400" b="1" dirty="0">
              <a:solidFill>
                <a:srgbClr val="002060"/>
              </a:solidFill>
            </a:endParaRPr>
          </a:p>
          <a:p>
            <a:pPr algn="just"/>
            <a:r>
              <a:rPr lang="en-US" sz="1400" dirty="0" err="1" smtClean="0"/>
              <a:t>Membutuhkan</a:t>
            </a:r>
            <a:r>
              <a:rPr lang="en-US" sz="1400" dirty="0" smtClean="0"/>
              <a:t> </a:t>
            </a:r>
            <a:r>
              <a:rPr lang="en-US" sz="1400" dirty="0"/>
              <a:t>minimal 2 network interface yang </a:t>
            </a:r>
            <a:r>
              <a:rPr lang="en-US" sz="1400" dirty="0" err="1"/>
              <a:t>nantinya</a:t>
            </a:r>
            <a:r>
              <a:rPr lang="en-US" sz="1400" dirty="0"/>
              <a:t> </a:t>
            </a:r>
            <a:r>
              <a:rPr lang="en-US" sz="1400" dirty="0" err="1"/>
              <a:t>akan</a:t>
            </a:r>
            <a:r>
              <a:rPr lang="en-US" sz="1400" dirty="0"/>
              <a:t> </a:t>
            </a:r>
            <a:r>
              <a:rPr lang="en-US" sz="1400" dirty="0" err="1"/>
              <a:t>digunakan</a:t>
            </a:r>
            <a:r>
              <a:rPr lang="en-US" sz="1400" dirty="0"/>
              <a:t> </a:t>
            </a:r>
            <a:r>
              <a:rPr lang="en-US" sz="1400" dirty="0" err="1"/>
              <a:t>sebagai</a:t>
            </a:r>
            <a:r>
              <a:rPr lang="en-US" sz="1400" dirty="0"/>
              <a:t>:</a:t>
            </a:r>
          </a:p>
          <a:p>
            <a:pPr algn="just"/>
            <a:endParaRPr lang="en-US" sz="1400" dirty="0"/>
          </a:p>
          <a:p>
            <a:pPr algn="just"/>
            <a:r>
              <a:rPr lang="en-US" sz="1400" b="1" dirty="0">
                <a:solidFill>
                  <a:srgbClr val="002060"/>
                </a:solidFill>
              </a:rPr>
              <a:t>1. Management Network</a:t>
            </a:r>
          </a:p>
          <a:p>
            <a:pPr algn="just"/>
            <a:endParaRPr lang="en-US" sz="1400" dirty="0"/>
          </a:p>
          <a:p>
            <a:pPr algn="just"/>
            <a:r>
              <a:rPr lang="en-US" sz="1400" dirty="0"/>
              <a:t>Interface: ens224 IP: 10.65.65.2/24 VIP: 10.65.65.254/24 </a:t>
            </a:r>
            <a:r>
              <a:rPr lang="en-US" sz="1400" dirty="0" err="1"/>
              <a:t>Gw</a:t>
            </a:r>
            <a:r>
              <a:rPr lang="en-US" sz="1400" dirty="0"/>
              <a:t>; 10.65.65.1/24</a:t>
            </a:r>
          </a:p>
          <a:p>
            <a:pPr algn="just"/>
            <a:endParaRPr lang="en-US" sz="1400" dirty="0"/>
          </a:p>
          <a:p>
            <a:pPr algn="just"/>
            <a:r>
              <a:rPr lang="en-US" sz="1400" b="1" dirty="0">
                <a:solidFill>
                  <a:srgbClr val="002060"/>
                </a:solidFill>
              </a:rPr>
              <a:t>2. External Network</a:t>
            </a:r>
          </a:p>
          <a:p>
            <a:pPr algn="just"/>
            <a:endParaRPr lang="en-US" sz="1400" dirty="0"/>
          </a:p>
          <a:p>
            <a:pPr algn="just"/>
            <a:r>
              <a:rPr lang="en-US" sz="1400" dirty="0"/>
              <a:t>Interface: ens192 IP: </a:t>
            </a:r>
            <a:r>
              <a:rPr lang="en-US" sz="1400" dirty="0" err="1"/>
              <a:t>kosongkan</a:t>
            </a:r>
            <a:r>
              <a:rPr lang="en-US" sz="1400" dirty="0"/>
              <a:t> Bridge: 10.25.25.1/24</a:t>
            </a:r>
          </a:p>
          <a:p>
            <a:pPr algn="just"/>
            <a:endParaRPr lang="en-US" sz="1400" dirty="0"/>
          </a:p>
          <a:p>
            <a:pPr algn="just"/>
            <a:r>
              <a:rPr lang="en-US" sz="1400" dirty="0"/>
              <a:t>Management Network </a:t>
            </a:r>
            <a:r>
              <a:rPr lang="en-US" sz="1400" dirty="0" err="1"/>
              <a:t>digunakan</a:t>
            </a:r>
            <a:r>
              <a:rPr lang="en-US" sz="1400" dirty="0"/>
              <a:t> </a:t>
            </a:r>
            <a:r>
              <a:rPr lang="en-US" sz="1400" dirty="0" err="1"/>
              <a:t>sebagai</a:t>
            </a:r>
            <a:r>
              <a:rPr lang="en-US" sz="1400" dirty="0"/>
              <a:t> media </a:t>
            </a:r>
            <a:r>
              <a:rPr lang="en-US" sz="1400" dirty="0" err="1"/>
              <a:t>komunikasi</a:t>
            </a:r>
            <a:r>
              <a:rPr lang="en-US" sz="1400" dirty="0"/>
              <a:t> </a:t>
            </a:r>
            <a:r>
              <a:rPr lang="en-US" sz="1400" dirty="0" err="1"/>
              <a:t>antar</a:t>
            </a:r>
            <a:r>
              <a:rPr lang="en-US" sz="1400" dirty="0"/>
              <a:t> service yang </a:t>
            </a:r>
            <a:r>
              <a:rPr lang="en-US" sz="1400" dirty="0" err="1"/>
              <a:t>menjalankan</a:t>
            </a:r>
            <a:r>
              <a:rPr lang="en-US" sz="1400" dirty="0"/>
              <a:t> </a:t>
            </a:r>
            <a:r>
              <a:rPr lang="en-US" sz="1400" dirty="0" err="1"/>
              <a:t>openstack</a:t>
            </a:r>
            <a:r>
              <a:rPr lang="en-US" sz="1400" dirty="0"/>
              <a:t>, </a:t>
            </a:r>
            <a:r>
              <a:rPr lang="en-US" sz="1400" dirty="0" err="1"/>
              <a:t>sedangkan</a:t>
            </a:r>
            <a:r>
              <a:rPr lang="en-US" sz="1400" dirty="0"/>
              <a:t> External Network </a:t>
            </a:r>
            <a:r>
              <a:rPr lang="en-US" sz="1400" dirty="0" err="1"/>
              <a:t>digunakan</a:t>
            </a:r>
            <a:r>
              <a:rPr lang="en-US" sz="1400" dirty="0"/>
              <a:t> service neutron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berkomunikasi</a:t>
            </a:r>
            <a:r>
              <a:rPr lang="en-US" sz="1400" dirty="0"/>
              <a:t> </a:t>
            </a:r>
            <a:r>
              <a:rPr lang="en-US" sz="1400" dirty="0" err="1"/>
              <a:t>antara</a:t>
            </a:r>
            <a:r>
              <a:rPr lang="en-US" sz="1400" dirty="0"/>
              <a:t> network internal (private) </a:t>
            </a:r>
            <a:r>
              <a:rPr lang="en-US" sz="1400" dirty="0" err="1"/>
              <a:t>pada</a:t>
            </a:r>
            <a:r>
              <a:rPr lang="en-US" sz="1400" dirty="0"/>
              <a:t> instances </a:t>
            </a:r>
            <a:r>
              <a:rPr lang="en-US" sz="1400" dirty="0" err="1"/>
              <a:t>dan</a:t>
            </a:r>
            <a:r>
              <a:rPr lang="en-US" sz="1400" dirty="0"/>
              <a:t> host (internet/</a:t>
            </a:r>
            <a:r>
              <a:rPr lang="en-US" sz="1400" dirty="0" err="1"/>
              <a:t>publik</a:t>
            </a:r>
            <a:r>
              <a:rPr lang="en-US" sz="1400" dirty="0"/>
              <a:t>), </a:t>
            </a:r>
            <a:r>
              <a:rPr lang="en-US" sz="1400" dirty="0" err="1"/>
              <a:t>untuk</a:t>
            </a:r>
            <a:r>
              <a:rPr lang="en-US" sz="1400" dirty="0"/>
              <a:t> interface </a:t>
            </a:r>
            <a:r>
              <a:rPr lang="en-US" sz="1400" dirty="0" err="1"/>
              <a:t>ini</a:t>
            </a:r>
            <a:r>
              <a:rPr lang="en-US" sz="1400" dirty="0"/>
              <a:t> </a:t>
            </a:r>
            <a:r>
              <a:rPr lang="en-US" sz="1400" dirty="0" err="1"/>
              <a:t>diharuskan</a:t>
            </a:r>
            <a:r>
              <a:rPr lang="en-US" sz="1400" dirty="0"/>
              <a:t> </a:t>
            </a:r>
            <a:r>
              <a:rPr lang="en-US" sz="1400" dirty="0" err="1"/>
              <a:t>berstatus</a:t>
            </a:r>
            <a:r>
              <a:rPr lang="en-US" sz="1400" dirty="0"/>
              <a:t> </a:t>
            </a:r>
            <a:r>
              <a:rPr lang="en-US" sz="1400" dirty="0" err="1"/>
              <a:t>aktif</a:t>
            </a:r>
            <a:r>
              <a:rPr lang="en-US" sz="1400" dirty="0"/>
              <a:t> (up) </a:t>
            </a:r>
            <a:r>
              <a:rPr lang="en-US" sz="1400" dirty="0" err="1"/>
              <a:t>dan</a:t>
            </a:r>
            <a:r>
              <a:rPr lang="en-US" sz="1400" dirty="0"/>
              <a:t> </a:t>
            </a:r>
            <a:r>
              <a:rPr lang="en-US" sz="1400" dirty="0" err="1"/>
              <a:t>tidak</a:t>
            </a:r>
            <a:r>
              <a:rPr lang="en-US" sz="1400" dirty="0"/>
              <a:t> </a:t>
            </a:r>
            <a:r>
              <a:rPr lang="en-US" sz="1400" dirty="0" err="1"/>
              <a:t>dialokasikan</a:t>
            </a:r>
            <a:r>
              <a:rPr lang="en-US" sz="1400" dirty="0"/>
              <a:t> IP </a:t>
            </a:r>
            <a:r>
              <a:rPr lang="en-US" sz="1400" dirty="0" err="1"/>
              <a:t>pada</a:t>
            </a:r>
            <a:r>
              <a:rPr lang="en-US" sz="1400" dirty="0"/>
              <a:t> </a:t>
            </a:r>
            <a:r>
              <a:rPr lang="en-US" sz="1400" dirty="0" err="1"/>
              <a:t>interfacenya</a:t>
            </a:r>
            <a:r>
              <a:rPr lang="en-US" sz="1400" dirty="0"/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535675"/>
            <a:ext cx="4405745" cy="46166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r>
              <a:rPr lang="en-US" sz="1400" b="1" dirty="0" err="1" smtClean="0">
                <a:solidFill>
                  <a:srgbClr val="002060"/>
                </a:solidFill>
              </a:rPr>
              <a:t>Konfigurasi</a:t>
            </a:r>
            <a:r>
              <a:rPr lang="en-US" sz="1400" b="1" dirty="0" smtClean="0">
                <a:solidFill>
                  <a:srgbClr val="002060"/>
                </a:solidFill>
              </a:rPr>
              <a:t> Network</a:t>
            </a:r>
          </a:p>
          <a:p>
            <a:endParaRPr lang="en-US" sz="1400" b="1" dirty="0" smtClean="0">
              <a:solidFill>
                <a:srgbClr val="002060"/>
              </a:solidFill>
            </a:endParaRPr>
          </a:p>
          <a:p>
            <a:pPr algn="just"/>
            <a:r>
              <a:rPr lang="en-US" sz="1400" dirty="0" smtClean="0"/>
              <a:t>Saran…!!!!</a:t>
            </a:r>
          </a:p>
          <a:p>
            <a:pPr algn="just"/>
            <a:r>
              <a:rPr lang="en-US" sz="1400" dirty="0" err="1"/>
              <a:t>M</a:t>
            </a:r>
            <a:r>
              <a:rPr lang="en-US" sz="1400" dirty="0" err="1" smtClean="0"/>
              <a:t>enggunakan</a:t>
            </a:r>
            <a:r>
              <a:rPr lang="en-US" sz="1400" dirty="0" smtClean="0"/>
              <a:t> </a:t>
            </a:r>
            <a:r>
              <a:rPr lang="en-US" sz="1400" dirty="0" err="1"/>
              <a:t>ip</a:t>
            </a:r>
            <a:r>
              <a:rPr lang="en-US" sz="1400" dirty="0"/>
              <a:t> </a:t>
            </a:r>
            <a:r>
              <a:rPr lang="en-US" sz="1400" dirty="0" err="1"/>
              <a:t>statis</a:t>
            </a:r>
            <a:r>
              <a:rPr lang="en-US" sz="1400" dirty="0"/>
              <a:t> </a:t>
            </a:r>
            <a:r>
              <a:rPr lang="en-US" sz="1400" dirty="0" err="1"/>
              <a:t>pada</a:t>
            </a:r>
            <a:r>
              <a:rPr lang="en-US" sz="1400" dirty="0"/>
              <a:t> </a:t>
            </a:r>
            <a:r>
              <a:rPr lang="en-US" sz="1400" dirty="0" err="1"/>
              <a:t>setiap</a:t>
            </a:r>
            <a:r>
              <a:rPr lang="en-US" sz="1400" dirty="0"/>
              <a:t> interface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menghindari</a:t>
            </a:r>
            <a:r>
              <a:rPr lang="en-US" sz="1400" dirty="0"/>
              <a:t> </a:t>
            </a:r>
            <a:r>
              <a:rPr lang="en-US" sz="1400" dirty="0" err="1"/>
              <a:t>perubahan</a:t>
            </a:r>
            <a:r>
              <a:rPr lang="en-US" sz="1400" dirty="0"/>
              <a:t> IP address / routing </a:t>
            </a:r>
            <a:r>
              <a:rPr lang="en-US" sz="1400" dirty="0" err="1"/>
              <a:t>pada</a:t>
            </a:r>
            <a:r>
              <a:rPr lang="en-US" sz="1400" dirty="0"/>
              <a:t> </a:t>
            </a:r>
            <a:r>
              <a:rPr lang="en-US" sz="1400" dirty="0" err="1"/>
              <a:t>saat</a:t>
            </a:r>
            <a:r>
              <a:rPr lang="en-US" sz="1400" dirty="0"/>
              <a:t> host restart.</a:t>
            </a:r>
          </a:p>
          <a:p>
            <a:pPr algn="just"/>
            <a:r>
              <a:rPr lang="en-US" sz="1400" dirty="0" smtClean="0"/>
              <a:t>Network </a:t>
            </a:r>
            <a:r>
              <a:rPr lang="en-US" sz="1400" dirty="0"/>
              <a:t>manager </a:t>
            </a:r>
            <a:r>
              <a:rPr lang="en-US" sz="1400" dirty="0" err="1"/>
              <a:t>saya</a:t>
            </a:r>
            <a:r>
              <a:rPr lang="en-US" sz="1400" dirty="0"/>
              <a:t> </a:t>
            </a:r>
            <a:r>
              <a:rPr lang="en-US" sz="1400" dirty="0" err="1"/>
              <a:t>menggunakan</a:t>
            </a:r>
            <a:r>
              <a:rPr lang="en-US" sz="1400" dirty="0"/>
              <a:t> </a:t>
            </a:r>
            <a:r>
              <a:rPr lang="en-US" sz="1400" dirty="0" err="1"/>
              <a:t>netplan</a:t>
            </a:r>
            <a:r>
              <a:rPr lang="en-US" sz="1400" dirty="0"/>
              <a:t>, </a:t>
            </a:r>
            <a:r>
              <a:rPr lang="en-US" sz="1400" dirty="0" err="1"/>
              <a:t>berikut</a:t>
            </a:r>
            <a:r>
              <a:rPr lang="en-US" sz="1400" dirty="0"/>
              <a:t> </a:t>
            </a:r>
            <a:r>
              <a:rPr lang="en-US" sz="1400" dirty="0" err="1"/>
              <a:t>adalah</a:t>
            </a:r>
            <a:r>
              <a:rPr lang="en-US" sz="1400" dirty="0"/>
              <a:t> </a:t>
            </a:r>
            <a:r>
              <a:rPr lang="en-US" sz="1400" dirty="0" err="1"/>
              <a:t>konfigurasi</a:t>
            </a:r>
            <a:r>
              <a:rPr lang="en-US" sz="1400" dirty="0"/>
              <a:t> </a:t>
            </a:r>
            <a:r>
              <a:rPr lang="en-US" sz="1400" dirty="0" err="1"/>
              <a:t>interfacenya</a:t>
            </a:r>
            <a:r>
              <a:rPr lang="en-US" sz="1400" dirty="0" smtClean="0"/>
              <a:t>:</a:t>
            </a:r>
          </a:p>
          <a:p>
            <a:pPr algn="just"/>
            <a:endParaRPr lang="en-US" sz="1400" dirty="0">
              <a:solidFill>
                <a:srgbClr val="0070C0"/>
              </a:solidFill>
            </a:endParaRPr>
          </a:p>
          <a:p>
            <a:pPr algn="just"/>
            <a:r>
              <a:rPr lang="en-US" sz="1200" dirty="0">
                <a:solidFill>
                  <a:srgbClr val="0070C0"/>
                </a:solidFill>
              </a:rPr>
              <a:t>vi /</a:t>
            </a:r>
            <a:r>
              <a:rPr lang="en-US" sz="1200" dirty="0" err="1">
                <a:solidFill>
                  <a:srgbClr val="0070C0"/>
                </a:solidFill>
              </a:rPr>
              <a:t>etc</a:t>
            </a:r>
            <a:r>
              <a:rPr lang="en-US" sz="1200" dirty="0">
                <a:solidFill>
                  <a:srgbClr val="0070C0"/>
                </a:solidFill>
              </a:rPr>
              <a:t>/</a:t>
            </a:r>
            <a:r>
              <a:rPr lang="en-US" sz="1200" dirty="0" err="1">
                <a:solidFill>
                  <a:srgbClr val="0070C0"/>
                </a:solidFill>
              </a:rPr>
              <a:t>netplan</a:t>
            </a:r>
            <a:r>
              <a:rPr lang="en-US" sz="1200" dirty="0">
                <a:solidFill>
                  <a:srgbClr val="0070C0"/>
                </a:solidFill>
              </a:rPr>
              <a:t>/01-iface.yaml</a:t>
            </a:r>
          </a:p>
          <a:p>
            <a:pPr algn="just"/>
            <a:r>
              <a:rPr lang="en-US" sz="1200" dirty="0">
                <a:solidFill>
                  <a:srgbClr val="0070C0"/>
                </a:solidFill>
              </a:rPr>
              <a:t>...</a:t>
            </a:r>
          </a:p>
          <a:p>
            <a:pPr algn="just"/>
            <a:r>
              <a:rPr lang="en-US" sz="1200" dirty="0">
                <a:solidFill>
                  <a:srgbClr val="0070C0"/>
                </a:solidFill>
              </a:rPr>
              <a:t># This is the network </a:t>
            </a:r>
            <a:r>
              <a:rPr lang="en-US" sz="1200" dirty="0" err="1">
                <a:solidFill>
                  <a:srgbClr val="0070C0"/>
                </a:solidFill>
              </a:rPr>
              <a:t>config</a:t>
            </a:r>
            <a:r>
              <a:rPr lang="en-US" sz="1200" dirty="0">
                <a:solidFill>
                  <a:srgbClr val="0070C0"/>
                </a:solidFill>
              </a:rPr>
              <a:t> written by '</a:t>
            </a:r>
            <a:r>
              <a:rPr lang="en-US" sz="1200" dirty="0" err="1">
                <a:solidFill>
                  <a:srgbClr val="0070C0"/>
                </a:solidFill>
              </a:rPr>
              <a:t>subiquity</a:t>
            </a:r>
            <a:r>
              <a:rPr lang="en-US" sz="1200" dirty="0">
                <a:solidFill>
                  <a:srgbClr val="0070C0"/>
                </a:solidFill>
              </a:rPr>
              <a:t>'</a:t>
            </a:r>
          </a:p>
          <a:p>
            <a:pPr algn="just"/>
            <a:r>
              <a:rPr lang="en-US" sz="1200" dirty="0">
                <a:solidFill>
                  <a:srgbClr val="0070C0"/>
                </a:solidFill>
              </a:rPr>
              <a:t>network:</a:t>
            </a:r>
          </a:p>
          <a:p>
            <a:pPr algn="just"/>
            <a:r>
              <a:rPr lang="en-US" sz="1200" dirty="0">
                <a:solidFill>
                  <a:srgbClr val="0070C0"/>
                </a:solidFill>
              </a:rPr>
              <a:t>  </a:t>
            </a:r>
            <a:r>
              <a:rPr lang="en-US" sz="1200" dirty="0" err="1">
                <a:solidFill>
                  <a:srgbClr val="0070C0"/>
                </a:solidFill>
              </a:rPr>
              <a:t>ethernets</a:t>
            </a:r>
            <a:r>
              <a:rPr lang="en-US" sz="1200" dirty="0">
                <a:solidFill>
                  <a:srgbClr val="0070C0"/>
                </a:solidFill>
              </a:rPr>
              <a:t>:</a:t>
            </a:r>
          </a:p>
          <a:p>
            <a:pPr algn="just"/>
            <a:r>
              <a:rPr lang="en-US" sz="1200" dirty="0">
                <a:solidFill>
                  <a:srgbClr val="0070C0"/>
                </a:solidFill>
              </a:rPr>
              <a:t>    ens224:</a:t>
            </a:r>
          </a:p>
          <a:p>
            <a:pPr algn="just"/>
            <a:r>
              <a:rPr lang="en-US" sz="1200" dirty="0">
                <a:solidFill>
                  <a:srgbClr val="0070C0"/>
                </a:solidFill>
              </a:rPr>
              <a:t>      dhcp4: false</a:t>
            </a:r>
          </a:p>
          <a:p>
            <a:pPr algn="just"/>
            <a:r>
              <a:rPr lang="en-US" sz="1200" dirty="0">
                <a:solidFill>
                  <a:srgbClr val="0070C0"/>
                </a:solidFill>
              </a:rPr>
              <a:t>      addresses: [10.65.65.2/24]</a:t>
            </a:r>
          </a:p>
          <a:p>
            <a:pPr algn="just"/>
            <a:r>
              <a:rPr lang="en-US" sz="1200" dirty="0">
                <a:solidFill>
                  <a:srgbClr val="0070C0"/>
                </a:solidFill>
              </a:rPr>
              <a:t>      </a:t>
            </a:r>
            <a:r>
              <a:rPr lang="en-US" sz="1200" dirty="0" err="1">
                <a:solidFill>
                  <a:srgbClr val="0070C0"/>
                </a:solidFill>
              </a:rPr>
              <a:t>nameservers</a:t>
            </a:r>
            <a:r>
              <a:rPr lang="en-US" sz="1200" dirty="0">
                <a:solidFill>
                  <a:srgbClr val="0070C0"/>
                </a:solidFill>
              </a:rPr>
              <a:t>:</a:t>
            </a:r>
          </a:p>
          <a:p>
            <a:pPr algn="just"/>
            <a:r>
              <a:rPr lang="en-US" sz="1200" dirty="0">
                <a:solidFill>
                  <a:srgbClr val="0070C0"/>
                </a:solidFill>
              </a:rPr>
              <a:t>         addresses: [1.1.1.1,1.0.0.1]</a:t>
            </a:r>
          </a:p>
          <a:p>
            <a:pPr algn="just"/>
            <a:r>
              <a:rPr lang="en-US" sz="1200" dirty="0">
                <a:solidFill>
                  <a:srgbClr val="0070C0"/>
                </a:solidFill>
              </a:rPr>
              <a:t>    ens192: {}</a:t>
            </a:r>
          </a:p>
          <a:p>
            <a:pPr algn="just"/>
            <a:r>
              <a:rPr lang="en-US" sz="1200" dirty="0">
                <a:solidFill>
                  <a:srgbClr val="0070C0"/>
                </a:solidFill>
              </a:rPr>
              <a:t>  version: 2</a:t>
            </a:r>
          </a:p>
          <a:p>
            <a:pPr algn="just"/>
            <a:r>
              <a:rPr lang="en-US" sz="1200" dirty="0">
                <a:solidFill>
                  <a:srgbClr val="0070C0"/>
                </a:solidFill>
              </a:rPr>
              <a:t>  ...</a:t>
            </a:r>
          </a:p>
          <a:p>
            <a:pPr algn="just"/>
            <a:r>
              <a:rPr lang="en-US" sz="1200" dirty="0">
                <a:solidFill>
                  <a:srgbClr val="0070C0"/>
                </a:solidFill>
              </a:rPr>
              <a:t>  </a:t>
            </a:r>
            <a:r>
              <a:rPr lang="en-US" sz="1200" dirty="0" smtClean="0">
                <a:solidFill>
                  <a:srgbClr val="0070C0"/>
                </a:solidFill>
              </a:rPr>
              <a:t>  </a:t>
            </a:r>
            <a:r>
              <a:rPr lang="en-US" sz="1200" dirty="0" err="1">
                <a:solidFill>
                  <a:srgbClr val="0070C0"/>
                </a:solidFill>
              </a:rPr>
              <a:t>netplan</a:t>
            </a:r>
            <a:r>
              <a:rPr lang="en-US" sz="1200" dirty="0">
                <a:solidFill>
                  <a:srgbClr val="0070C0"/>
                </a:solidFill>
              </a:rPr>
              <a:t> </a:t>
            </a:r>
            <a:r>
              <a:rPr lang="en-US" sz="1200" dirty="0" smtClean="0">
                <a:solidFill>
                  <a:srgbClr val="0070C0"/>
                </a:solidFill>
              </a:rPr>
              <a:t>apply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2369127"/>
            <a:ext cx="3657600" cy="2774373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9762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6</a:t>
            </a:fld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3200400" y="65812"/>
            <a:ext cx="5943600" cy="280338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Lab: </a:t>
            </a:r>
            <a:r>
              <a:rPr lang="en-US" sz="2400" b="1" dirty="0" err="1" smtClean="0"/>
              <a:t>Kolla</a:t>
            </a:r>
            <a:r>
              <a:rPr lang="en-US" sz="2400" b="1" dirty="0" smtClean="0"/>
              <a:t> </a:t>
            </a:r>
            <a:r>
              <a:rPr lang="en-US" sz="2400" b="1" dirty="0" err="1"/>
              <a:t>Ansible</a:t>
            </a:r>
            <a:r>
              <a:rPr lang="en-US" sz="2400" b="1" dirty="0"/>
              <a:t> All in One </a:t>
            </a:r>
            <a:r>
              <a:rPr lang="en-US" sz="2400" b="1" dirty="0" err="1" smtClean="0"/>
              <a:t>Openstack</a:t>
            </a:r>
            <a:r>
              <a:rPr lang="en-US" sz="2400" b="1" dirty="0" smtClean="0"/>
              <a:t> 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Cons’t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3963" y="654809"/>
            <a:ext cx="4156364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err="1"/>
              <a:t>Instalasi</a:t>
            </a:r>
            <a:r>
              <a:rPr lang="en-US" b="1" dirty="0"/>
              <a:t> </a:t>
            </a:r>
            <a:r>
              <a:rPr lang="en-US" b="1" dirty="0" err="1"/>
              <a:t>dependensi</a:t>
            </a:r>
            <a:endParaRPr lang="en-US" b="1" dirty="0"/>
          </a:p>
          <a:p>
            <a:endParaRPr lang="en-US" sz="1400" b="1" dirty="0">
              <a:solidFill>
                <a:srgbClr val="002060"/>
              </a:solidFill>
            </a:endParaRPr>
          </a:p>
          <a:p>
            <a:pPr algn="just"/>
            <a:r>
              <a:rPr lang="en-US" sz="1400" dirty="0" err="1" smtClean="0"/>
              <a:t>Menggunakan</a:t>
            </a:r>
            <a:r>
              <a:rPr lang="en-US" sz="1400" dirty="0" smtClean="0"/>
              <a:t> </a:t>
            </a:r>
            <a:r>
              <a:rPr lang="en-US" sz="1400" dirty="0"/>
              <a:t>media virtual environment yang </a:t>
            </a:r>
            <a:r>
              <a:rPr lang="en-US" sz="1400" dirty="0" err="1"/>
              <a:t>disediakan</a:t>
            </a:r>
            <a:r>
              <a:rPr lang="en-US" sz="1400" dirty="0"/>
              <a:t> python, </a:t>
            </a:r>
            <a:r>
              <a:rPr lang="en-US" sz="1400" dirty="0" err="1"/>
              <a:t>adapun</a:t>
            </a:r>
            <a:r>
              <a:rPr lang="en-US" sz="1400" dirty="0"/>
              <a:t> </a:t>
            </a:r>
            <a:r>
              <a:rPr lang="en-US" sz="1400" dirty="0" err="1"/>
              <a:t>dependensi</a:t>
            </a:r>
            <a:r>
              <a:rPr lang="en-US" sz="1400" dirty="0"/>
              <a:t> yang </a:t>
            </a:r>
            <a:r>
              <a:rPr lang="en-US" sz="1400" dirty="0" err="1"/>
              <a:t>perlu</a:t>
            </a:r>
            <a:r>
              <a:rPr lang="en-US" sz="1400" dirty="0"/>
              <a:t> </a:t>
            </a:r>
            <a:r>
              <a:rPr lang="en-US" sz="1400" dirty="0" err="1"/>
              <a:t>diinstall</a:t>
            </a:r>
            <a:r>
              <a:rPr lang="en-US" sz="1400" dirty="0"/>
              <a:t> </a:t>
            </a:r>
            <a:r>
              <a:rPr lang="en-US" sz="1400" dirty="0" err="1"/>
              <a:t>adalah</a:t>
            </a:r>
            <a:r>
              <a:rPr lang="en-US" sz="1400" dirty="0"/>
              <a:t> </a:t>
            </a:r>
            <a:r>
              <a:rPr lang="en-US" sz="1400" dirty="0" err="1"/>
              <a:t>berikut</a:t>
            </a:r>
            <a:r>
              <a:rPr lang="en-US" sz="1400" dirty="0"/>
              <a:t>:</a:t>
            </a:r>
          </a:p>
          <a:p>
            <a:pPr algn="just"/>
            <a:endParaRPr lang="en-US" sz="1400" dirty="0"/>
          </a:p>
          <a:p>
            <a:pPr algn="just"/>
            <a:r>
              <a:rPr lang="en-US" sz="1400" b="1" dirty="0" err="1">
                <a:solidFill>
                  <a:srgbClr val="002060"/>
                </a:solidFill>
              </a:rPr>
              <a:t>root@administrator</a:t>
            </a:r>
            <a:r>
              <a:rPr lang="en-US" sz="1400" b="1" dirty="0">
                <a:solidFill>
                  <a:srgbClr val="002060"/>
                </a:solidFill>
              </a:rPr>
              <a:t>:/</a:t>
            </a:r>
            <a:r>
              <a:rPr lang="en-US" sz="1400" b="1" dirty="0" smtClean="0">
                <a:solidFill>
                  <a:srgbClr val="002060"/>
                </a:solidFill>
              </a:rPr>
              <a:t>home/panda/Deploy#</a:t>
            </a:r>
          </a:p>
          <a:p>
            <a:pPr algn="just"/>
            <a:endParaRPr lang="en-US" sz="1400" b="1" dirty="0">
              <a:solidFill>
                <a:srgbClr val="002060"/>
              </a:solidFill>
            </a:endParaRPr>
          </a:p>
          <a:p>
            <a:pPr algn="just"/>
            <a:r>
              <a:rPr lang="en-US" sz="1400" b="1" dirty="0" smtClean="0">
                <a:solidFill>
                  <a:srgbClr val="002060"/>
                </a:solidFill>
              </a:rPr>
              <a:t>Update </a:t>
            </a:r>
            <a:r>
              <a:rPr lang="en-US" sz="1400" b="1" dirty="0" err="1">
                <a:solidFill>
                  <a:srgbClr val="002060"/>
                </a:solidFill>
              </a:rPr>
              <a:t>paket</a:t>
            </a:r>
            <a:r>
              <a:rPr lang="en-US" sz="1400" b="1" dirty="0">
                <a:solidFill>
                  <a:srgbClr val="002060"/>
                </a:solidFill>
              </a:rPr>
              <a:t> </a:t>
            </a:r>
            <a:r>
              <a:rPr lang="en-US" sz="1400" b="1" dirty="0" smtClean="0">
                <a:solidFill>
                  <a:srgbClr val="002060"/>
                </a:solidFill>
              </a:rPr>
              <a:t>manager:</a:t>
            </a:r>
          </a:p>
          <a:p>
            <a:pPr algn="just"/>
            <a:r>
              <a:rPr lang="en-US" sz="1400" b="1" dirty="0" smtClean="0">
                <a:solidFill>
                  <a:srgbClr val="002060"/>
                </a:solidFill>
              </a:rPr>
              <a:t># </a:t>
            </a:r>
            <a:r>
              <a:rPr lang="en-US" sz="1400" b="1" dirty="0" err="1">
                <a:solidFill>
                  <a:srgbClr val="0070C0"/>
                </a:solidFill>
              </a:rPr>
              <a:t>sudo</a:t>
            </a:r>
            <a:r>
              <a:rPr lang="en-US" sz="1400" b="1" dirty="0">
                <a:solidFill>
                  <a:srgbClr val="0070C0"/>
                </a:solidFill>
              </a:rPr>
              <a:t> apt update</a:t>
            </a:r>
          </a:p>
          <a:p>
            <a:pPr algn="just"/>
            <a:r>
              <a:rPr lang="en-US" sz="1400" b="1" dirty="0">
                <a:solidFill>
                  <a:srgbClr val="002060"/>
                </a:solidFill>
              </a:rPr>
              <a:t>Install </a:t>
            </a:r>
            <a:r>
              <a:rPr lang="en-US" sz="1400" b="1" dirty="0" err="1">
                <a:solidFill>
                  <a:srgbClr val="002060"/>
                </a:solidFill>
              </a:rPr>
              <a:t>dependensi</a:t>
            </a:r>
            <a:r>
              <a:rPr lang="en-US" sz="1400" b="1" dirty="0">
                <a:solidFill>
                  <a:srgbClr val="002060"/>
                </a:solidFill>
              </a:rPr>
              <a:t> </a:t>
            </a:r>
            <a:r>
              <a:rPr lang="en-US" sz="1400" b="1" dirty="0" smtClean="0">
                <a:solidFill>
                  <a:srgbClr val="002060"/>
                </a:solidFill>
              </a:rPr>
              <a:t>python3-venv:</a:t>
            </a:r>
            <a:endParaRPr lang="en-US" sz="1400" b="1" dirty="0">
              <a:solidFill>
                <a:srgbClr val="002060"/>
              </a:solidFill>
            </a:endParaRPr>
          </a:p>
          <a:p>
            <a:pPr algn="just"/>
            <a:r>
              <a:rPr lang="en-US" sz="1400" b="1" dirty="0">
                <a:solidFill>
                  <a:srgbClr val="002060"/>
                </a:solidFill>
              </a:rPr>
              <a:t># </a:t>
            </a:r>
            <a:r>
              <a:rPr lang="en-US" sz="1400" b="1" dirty="0" err="1">
                <a:solidFill>
                  <a:srgbClr val="0070C0"/>
                </a:solidFill>
              </a:rPr>
              <a:t>sudo</a:t>
            </a:r>
            <a:r>
              <a:rPr lang="en-US" sz="1400" b="1" dirty="0">
                <a:solidFill>
                  <a:srgbClr val="0070C0"/>
                </a:solidFill>
              </a:rPr>
              <a:t> apt install </a:t>
            </a:r>
            <a:r>
              <a:rPr lang="en-US" sz="1400" b="1" dirty="0" smtClean="0">
                <a:solidFill>
                  <a:srgbClr val="0070C0"/>
                </a:solidFill>
              </a:rPr>
              <a:t>python3-venv</a:t>
            </a:r>
          </a:p>
          <a:p>
            <a:pPr algn="just"/>
            <a:endParaRPr lang="en-US" sz="1400" b="1" dirty="0" smtClean="0">
              <a:solidFill>
                <a:srgbClr val="0070C0"/>
              </a:solidFill>
            </a:endParaRPr>
          </a:p>
          <a:p>
            <a:pPr algn="just"/>
            <a:r>
              <a:rPr lang="en-US" sz="1400" dirty="0" err="1"/>
              <a:t>Buat</a:t>
            </a:r>
            <a:r>
              <a:rPr lang="en-US" sz="1400" dirty="0"/>
              <a:t> </a:t>
            </a:r>
            <a:r>
              <a:rPr lang="en-US" sz="1400" dirty="0" err="1"/>
              <a:t>sebuah</a:t>
            </a:r>
            <a:r>
              <a:rPr lang="en-US" sz="1400" dirty="0"/>
              <a:t> virtual environment </a:t>
            </a:r>
            <a:r>
              <a:rPr lang="en-US" sz="1400" dirty="0" err="1"/>
              <a:t>lalu</a:t>
            </a:r>
            <a:r>
              <a:rPr lang="en-US" sz="1400" dirty="0"/>
              <a:t> </a:t>
            </a:r>
            <a:r>
              <a:rPr lang="en-US" sz="1400" dirty="0" err="1"/>
              <a:t>aktifkan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mulai</a:t>
            </a:r>
            <a:r>
              <a:rPr lang="en-US" sz="1400" dirty="0"/>
              <a:t> </a:t>
            </a:r>
            <a:r>
              <a:rPr lang="en-US" sz="1400" dirty="0" err="1"/>
              <a:t>menggunakannya</a:t>
            </a:r>
            <a:r>
              <a:rPr lang="en-US" sz="1400" dirty="0"/>
              <a:t>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 err="1" smtClean="0"/>
              <a:t>Buat</a:t>
            </a:r>
            <a:r>
              <a:rPr lang="en-US" sz="1400" dirty="0" smtClean="0"/>
              <a:t> </a:t>
            </a:r>
            <a:r>
              <a:rPr lang="en-US" sz="1400" dirty="0"/>
              <a:t>folder </a:t>
            </a:r>
            <a:r>
              <a:rPr lang="en-US" sz="1400" dirty="0" err="1"/>
              <a:t>baru</a:t>
            </a:r>
            <a:r>
              <a:rPr lang="en-US" sz="1400" dirty="0"/>
              <a:t> </a:t>
            </a:r>
            <a:r>
              <a:rPr lang="en-US" sz="1400" dirty="0" err="1"/>
              <a:t>pada</a:t>
            </a:r>
            <a:r>
              <a:rPr lang="en-US" sz="1400" dirty="0"/>
              <a:t> </a:t>
            </a:r>
            <a:r>
              <a:rPr lang="en-US" sz="1400" dirty="0" err="1"/>
              <a:t>direktori</a:t>
            </a:r>
            <a:r>
              <a:rPr lang="en-US" sz="1400" dirty="0"/>
              <a:t> home </a:t>
            </a:r>
            <a:r>
              <a:rPr lang="en-US" sz="1400" b="1" i="1" dirty="0" smtClean="0">
                <a:solidFill>
                  <a:srgbClr val="002060"/>
                </a:solidFill>
              </a:rPr>
              <a:t>panda </a:t>
            </a:r>
            <a:r>
              <a:rPr lang="en-US" sz="1400" dirty="0" err="1"/>
              <a:t>denga</a:t>
            </a:r>
            <a:r>
              <a:rPr lang="en-US" sz="1400" dirty="0"/>
              <a:t> </a:t>
            </a:r>
            <a:r>
              <a:rPr lang="en-US" sz="1400" dirty="0" err="1"/>
              <a:t>nama</a:t>
            </a:r>
            <a:r>
              <a:rPr lang="en-US" sz="1400" dirty="0"/>
              <a:t> </a:t>
            </a:r>
            <a:r>
              <a:rPr lang="en-US" sz="1400" b="1" dirty="0" smtClean="0">
                <a:solidFill>
                  <a:srgbClr val="002060"/>
                </a:solidFill>
              </a:rPr>
              <a:t>Deploy</a:t>
            </a:r>
            <a:r>
              <a:rPr lang="en-US" sz="1400" dirty="0" smtClean="0"/>
              <a:t>, </a:t>
            </a:r>
            <a:r>
              <a:rPr lang="en-US" sz="1400" dirty="0" err="1"/>
              <a:t>bisa</a:t>
            </a:r>
            <a:r>
              <a:rPr lang="en-US" sz="1400" dirty="0"/>
              <a:t> </a:t>
            </a:r>
            <a:r>
              <a:rPr lang="en-US" sz="1400" dirty="0" err="1"/>
              <a:t>disesuaikan</a:t>
            </a:r>
            <a:r>
              <a:rPr lang="en-US" sz="1400" dirty="0"/>
              <a:t> </a:t>
            </a:r>
            <a:r>
              <a:rPr lang="en-US" sz="1400" dirty="0" err="1"/>
              <a:t>dengan</a:t>
            </a:r>
            <a:r>
              <a:rPr lang="en-US" sz="1400" dirty="0"/>
              <a:t> </a:t>
            </a:r>
            <a:r>
              <a:rPr lang="en-US" sz="1400" dirty="0" err="1" smtClean="0"/>
              <a:t>fungsinya</a:t>
            </a:r>
            <a:r>
              <a:rPr lang="en-US" sz="1400" dirty="0" smtClean="0"/>
              <a:t> :)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 err="1" smtClean="0"/>
              <a:t>mengaktifkan</a:t>
            </a:r>
            <a:r>
              <a:rPr lang="en-US" sz="1400" dirty="0" smtClean="0"/>
              <a:t> </a:t>
            </a:r>
            <a:r>
              <a:rPr lang="en-US" sz="1400" dirty="0"/>
              <a:t>virtual environment </a:t>
            </a:r>
            <a:r>
              <a:rPr lang="en-US" sz="1400" dirty="0" err="1"/>
              <a:t>dahulu</a:t>
            </a:r>
            <a:r>
              <a:rPr lang="en-US" sz="1400" dirty="0"/>
              <a:t> </a:t>
            </a:r>
            <a:r>
              <a:rPr lang="en-US" sz="1400" dirty="0" err="1"/>
              <a:t>sebelum</a:t>
            </a:r>
            <a:r>
              <a:rPr lang="en-US" sz="1400" dirty="0"/>
              <a:t> </a:t>
            </a:r>
            <a:r>
              <a:rPr lang="en-US" sz="1400" dirty="0" err="1"/>
              <a:t>memulai</a:t>
            </a:r>
            <a:r>
              <a:rPr lang="en-US" sz="1400" dirty="0"/>
              <a:t> </a:t>
            </a:r>
            <a:r>
              <a:rPr lang="en-US" sz="1400" dirty="0" err="1"/>
              <a:t>menggunakan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python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535675"/>
            <a:ext cx="4405745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en-US" sz="1200" dirty="0" err="1">
                <a:solidFill>
                  <a:srgbClr val="0070C0"/>
                </a:solidFill>
              </a:rPr>
              <a:t>mkdir</a:t>
            </a:r>
            <a:r>
              <a:rPr lang="en-US" sz="1200" dirty="0">
                <a:solidFill>
                  <a:srgbClr val="0070C0"/>
                </a:solidFill>
              </a:rPr>
              <a:t> deploy</a:t>
            </a:r>
          </a:p>
          <a:p>
            <a:pPr algn="just"/>
            <a:r>
              <a:rPr lang="en-US" sz="1200" dirty="0">
                <a:solidFill>
                  <a:srgbClr val="0070C0"/>
                </a:solidFill>
              </a:rPr>
              <a:t>python3 -m </a:t>
            </a:r>
            <a:r>
              <a:rPr lang="en-US" sz="1200" dirty="0" err="1">
                <a:solidFill>
                  <a:srgbClr val="0070C0"/>
                </a:solidFill>
              </a:rPr>
              <a:t>venv</a:t>
            </a:r>
            <a:r>
              <a:rPr lang="en-US" sz="1200" dirty="0">
                <a:solidFill>
                  <a:srgbClr val="0070C0"/>
                </a:solidFill>
              </a:rPr>
              <a:t> /</a:t>
            </a:r>
            <a:r>
              <a:rPr lang="en-US" sz="1200" dirty="0" smtClean="0">
                <a:solidFill>
                  <a:srgbClr val="0070C0"/>
                </a:solidFill>
              </a:rPr>
              <a:t>home/panda/Deploy</a:t>
            </a:r>
            <a:endParaRPr lang="en-US" sz="1200" dirty="0">
              <a:solidFill>
                <a:srgbClr val="0070C0"/>
              </a:solidFill>
            </a:endParaRPr>
          </a:p>
          <a:p>
            <a:pPr algn="just"/>
            <a:r>
              <a:rPr lang="en-US" sz="1200" dirty="0">
                <a:solidFill>
                  <a:srgbClr val="0070C0"/>
                </a:solidFill>
              </a:rPr>
              <a:t>source /</a:t>
            </a:r>
            <a:r>
              <a:rPr lang="en-US" sz="1200" dirty="0" smtClean="0">
                <a:solidFill>
                  <a:srgbClr val="0070C0"/>
                </a:solidFill>
              </a:rPr>
              <a:t>home/panda/Deploy/bin/activate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29150" y="535675"/>
            <a:ext cx="3886200" cy="646331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572000" y="1371531"/>
            <a:ext cx="4156364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002060"/>
                </a:solidFill>
              </a:rPr>
              <a:t>Upgrade </a:t>
            </a:r>
            <a:r>
              <a:rPr lang="en-US" sz="1400" b="1" dirty="0" err="1">
                <a:solidFill>
                  <a:srgbClr val="002060"/>
                </a:solidFill>
              </a:rPr>
              <a:t>versi</a:t>
            </a:r>
            <a:r>
              <a:rPr lang="en-US" sz="1400" b="1" dirty="0">
                <a:solidFill>
                  <a:srgbClr val="002060"/>
                </a:solidFill>
              </a:rPr>
              <a:t> pip</a:t>
            </a:r>
            <a:endParaRPr lang="en-US" sz="1400" b="1" dirty="0">
              <a:solidFill>
                <a:srgbClr val="002060"/>
              </a:solidFill>
            </a:endParaRPr>
          </a:p>
          <a:p>
            <a:pPr algn="just"/>
            <a:r>
              <a:rPr lang="en-US" sz="1400" dirty="0" err="1"/>
              <a:t>Pastikan</a:t>
            </a:r>
            <a:r>
              <a:rPr lang="en-US" sz="1400" dirty="0"/>
              <a:t> virtual environment </a:t>
            </a:r>
            <a:r>
              <a:rPr lang="en-US" sz="1400" dirty="0" err="1"/>
              <a:t>sudah</a:t>
            </a:r>
            <a:r>
              <a:rPr lang="en-US" sz="1400" dirty="0"/>
              <a:t> </a:t>
            </a:r>
            <a:r>
              <a:rPr lang="en-US" sz="1400" dirty="0" err="1"/>
              <a:t>aktif</a:t>
            </a:r>
            <a:r>
              <a:rPr lang="en-US" sz="1400" dirty="0"/>
              <a:t> </a:t>
            </a:r>
            <a:r>
              <a:rPr lang="en-US" sz="1400" dirty="0" err="1"/>
              <a:t>sebelum</a:t>
            </a:r>
            <a:r>
              <a:rPr lang="en-US" sz="1400" dirty="0"/>
              <a:t> </a:t>
            </a:r>
            <a:r>
              <a:rPr lang="en-US" sz="1400" dirty="0" err="1"/>
              <a:t>menjalankan</a:t>
            </a:r>
            <a:r>
              <a:rPr lang="en-US" sz="1400" dirty="0"/>
              <a:t> command </a:t>
            </a:r>
            <a:r>
              <a:rPr lang="en-US" sz="1400" dirty="0" err="1"/>
              <a:t>ini</a:t>
            </a:r>
            <a:r>
              <a:rPr lang="en-US" sz="1400" dirty="0" smtClean="0"/>
              <a:t>:</a:t>
            </a:r>
          </a:p>
          <a:p>
            <a:pPr algn="just"/>
            <a:r>
              <a:rPr lang="en-US" sz="1400" b="1" dirty="0" err="1" smtClean="0">
                <a:solidFill>
                  <a:srgbClr val="002060"/>
                </a:solidFill>
              </a:rPr>
              <a:t>root@administrator</a:t>
            </a:r>
            <a:r>
              <a:rPr lang="en-US" sz="1400" b="1" dirty="0">
                <a:solidFill>
                  <a:srgbClr val="002060"/>
                </a:solidFill>
              </a:rPr>
              <a:t>:/</a:t>
            </a:r>
            <a:r>
              <a:rPr lang="en-US" sz="1400" b="1" dirty="0" smtClean="0">
                <a:solidFill>
                  <a:srgbClr val="002060"/>
                </a:solidFill>
              </a:rPr>
              <a:t>home/panda/Deploy#</a:t>
            </a:r>
          </a:p>
          <a:p>
            <a:pPr algn="just"/>
            <a:r>
              <a:rPr lang="en-US" sz="1400" b="1" dirty="0" smtClean="0">
                <a:solidFill>
                  <a:srgbClr val="002060"/>
                </a:solidFill>
              </a:rPr>
              <a:t># </a:t>
            </a:r>
            <a:r>
              <a:rPr lang="en-US" sz="1400" b="1" dirty="0" smtClean="0">
                <a:solidFill>
                  <a:srgbClr val="0070C0"/>
                </a:solidFill>
              </a:rPr>
              <a:t>pip install –U pip</a:t>
            </a:r>
          </a:p>
          <a:p>
            <a:pPr algn="just"/>
            <a:endParaRPr lang="en-US" sz="1400" b="1" dirty="0">
              <a:solidFill>
                <a:srgbClr val="0070C0"/>
              </a:solidFill>
            </a:endParaRPr>
          </a:p>
          <a:p>
            <a:pPr algn="just"/>
            <a:r>
              <a:rPr lang="en-US" sz="1400" b="1" dirty="0">
                <a:solidFill>
                  <a:srgbClr val="002060"/>
                </a:solidFill>
              </a:rPr>
              <a:t>Install </a:t>
            </a:r>
            <a:r>
              <a:rPr lang="en-US" sz="1400" b="1" dirty="0" err="1">
                <a:solidFill>
                  <a:srgbClr val="002060"/>
                </a:solidFill>
              </a:rPr>
              <a:t>paket</a:t>
            </a:r>
            <a:r>
              <a:rPr lang="en-US" sz="1400" b="1" dirty="0">
                <a:solidFill>
                  <a:srgbClr val="002060"/>
                </a:solidFill>
              </a:rPr>
              <a:t> </a:t>
            </a:r>
            <a:r>
              <a:rPr lang="en-US" sz="1400" b="1" dirty="0" err="1" smtClean="0">
                <a:solidFill>
                  <a:srgbClr val="002060"/>
                </a:solidFill>
              </a:rPr>
              <a:t>ansible</a:t>
            </a:r>
            <a:r>
              <a:rPr lang="en-US" sz="1400" b="1" dirty="0" smtClean="0">
                <a:solidFill>
                  <a:srgbClr val="002060"/>
                </a:solidFill>
              </a:rPr>
              <a:t> :</a:t>
            </a:r>
          </a:p>
          <a:p>
            <a:pPr algn="just"/>
            <a:r>
              <a:rPr lang="sv-SE" sz="1400" dirty="0"/>
              <a:t>Kolla ansible membutuhkan paket ansible minimal versi 4 dan mendukung hingga versi 5 keatas.</a:t>
            </a:r>
          </a:p>
          <a:p>
            <a:pPr algn="just"/>
            <a:r>
              <a:rPr lang="sv-SE" sz="1400" dirty="0" smtClean="0"/>
              <a:t>Pastikan </a:t>
            </a:r>
            <a:r>
              <a:rPr lang="sv-SE" sz="1400" dirty="0"/>
              <a:t>virtual environment sudah aktif sebelum menjalankan command ini:</a:t>
            </a:r>
            <a:endParaRPr lang="en-US" sz="14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b="1" dirty="0" smtClean="0">
                <a:solidFill>
                  <a:srgbClr val="002060"/>
                </a:solidFill>
              </a:rPr>
              <a:t># </a:t>
            </a:r>
            <a:r>
              <a:rPr lang="en-US" altLang="en-US" sz="1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 install '</a:t>
            </a:r>
            <a:r>
              <a:rPr lang="en-US" altLang="en-US" sz="1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ansible</a:t>
            </a:r>
            <a:r>
              <a:rPr lang="en-US" altLang="en-US" sz="1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&gt;=4,&lt;6'</a:t>
            </a:r>
            <a:r>
              <a:rPr lang="en-US" altLang="en-US" sz="800" b="1" dirty="0">
                <a:solidFill>
                  <a:srgbClr val="0070C0"/>
                </a:solidFill>
              </a:rPr>
              <a:t> </a:t>
            </a:r>
            <a:endParaRPr lang="en-US" altLang="en-US" sz="3200" b="1" dirty="0">
              <a:solidFill>
                <a:srgbClr val="0070C0"/>
              </a:solidFill>
              <a:latin typeface="Arial" panose="020B0604020202020204" pitchFamily="34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07818" y="2710359"/>
            <a:ext cx="3886200" cy="290945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232930" y="3164490"/>
            <a:ext cx="3886200" cy="290945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4629150" y="2250090"/>
            <a:ext cx="3886200" cy="290945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4629150" y="3704820"/>
            <a:ext cx="3886200" cy="290945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8682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7</a:t>
            </a:fld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3200400" y="65812"/>
            <a:ext cx="5943600" cy="280338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Lab: </a:t>
            </a:r>
            <a:r>
              <a:rPr lang="en-US" sz="2400" b="1" dirty="0" err="1" smtClean="0"/>
              <a:t>Kolla</a:t>
            </a:r>
            <a:r>
              <a:rPr lang="en-US" sz="2400" b="1" dirty="0" smtClean="0"/>
              <a:t> </a:t>
            </a:r>
            <a:r>
              <a:rPr lang="en-US" sz="2400" b="1" dirty="0" err="1"/>
              <a:t>Ansible</a:t>
            </a:r>
            <a:r>
              <a:rPr lang="en-US" sz="2400" b="1" dirty="0"/>
              <a:t> All in One </a:t>
            </a:r>
            <a:r>
              <a:rPr lang="en-US" sz="2400" b="1" dirty="0" err="1" smtClean="0"/>
              <a:t>Openstack</a:t>
            </a:r>
            <a:r>
              <a:rPr lang="en-US" sz="2400" b="1" dirty="0" smtClean="0"/>
              <a:t> 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Cons’t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3963" y="654809"/>
            <a:ext cx="4156364" cy="41857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b="1" dirty="0" err="1" smtClean="0">
                <a:solidFill>
                  <a:srgbClr val="002060"/>
                </a:solidFill>
              </a:rPr>
              <a:t>root@administrator</a:t>
            </a:r>
            <a:r>
              <a:rPr lang="en-US" sz="1400" b="1" dirty="0">
                <a:solidFill>
                  <a:srgbClr val="002060"/>
                </a:solidFill>
              </a:rPr>
              <a:t>:/</a:t>
            </a:r>
            <a:r>
              <a:rPr lang="en-US" sz="1400" b="1" dirty="0" smtClean="0">
                <a:solidFill>
                  <a:srgbClr val="002060"/>
                </a:solidFill>
              </a:rPr>
              <a:t>home/panda/Deploy#</a:t>
            </a:r>
          </a:p>
          <a:p>
            <a:pPr algn="just"/>
            <a:endParaRPr lang="en-US" sz="1400" b="1" dirty="0">
              <a:solidFill>
                <a:srgbClr val="002060"/>
              </a:solidFill>
            </a:endParaRPr>
          </a:p>
          <a:p>
            <a:pPr algn="just"/>
            <a:r>
              <a:rPr lang="en-US" sz="1400" b="1" dirty="0">
                <a:solidFill>
                  <a:srgbClr val="002060"/>
                </a:solidFill>
              </a:rPr>
              <a:t>Install </a:t>
            </a:r>
            <a:r>
              <a:rPr lang="en-US" sz="1400" b="1" dirty="0" err="1">
                <a:solidFill>
                  <a:srgbClr val="002060"/>
                </a:solidFill>
              </a:rPr>
              <a:t>paket</a:t>
            </a:r>
            <a:r>
              <a:rPr lang="en-US" sz="1400" b="1" dirty="0">
                <a:solidFill>
                  <a:srgbClr val="002060"/>
                </a:solidFill>
              </a:rPr>
              <a:t> </a:t>
            </a:r>
            <a:r>
              <a:rPr lang="en-US" sz="1400" b="1" dirty="0" err="1">
                <a:solidFill>
                  <a:srgbClr val="002060"/>
                </a:solidFill>
              </a:rPr>
              <a:t>docker</a:t>
            </a:r>
            <a:r>
              <a:rPr lang="en-US" sz="1400" b="1" dirty="0" smtClean="0">
                <a:solidFill>
                  <a:srgbClr val="002060"/>
                </a:solidFill>
              </a:rPr>
              <a:t>:</a:t>
            </a:r>
          </a:p>
          <a:p>
            <a:pPr algn="just"/>
            <a:r>
              <a:rPr lang="en-US" sz="1400" dirty="0" err="1"/>
              <a:t>Pastikan</a:t>
            </a:r>
            <a:r>
              <a:rPr lang="en-US" sz="1400" dirty="0"/>
              <a:t> virtual environment </a:t>
            </a:r>
            <a:r>
              <a:rPr lang="en-US" sz="1400" dirty="0" err="1"/>
              <a:t>sudah</a:t>
            </a:r>
            <a:r>
              <a:rPr lang="en-US" sz="1400" dirty="0"/>
              <a:t> </a:t>
            </a:r>
            <a:r>
              <a:rPr lang="en-US" sz="1400" dirty="0" err="1"/>
              <a:t>aktif</a:t>
            </a:r>
            <a:r>
              <a:rPr lang="en-US" sz="1400" dirty="0"/>
              <a:t> </a:t>
            </a:r>
            <a:r>
              <a:rPr lang="en-US" sz="1400" dirty="0" err="1"/>
              <a:t>sebelum</a:t>
            </a:r>
            <a:r>
              <a:rPr lang="en-US" sz="1400" dirty="0"/>
              <a:t> </a:t>
            </a:r>
            <a:r>
              <a:rPr lang="en-US" sz="1400" dirty="0" err="1"/>
              <a:t>menjalankan</a:t>
            </a:r>
            <a:r>
              <a:rPr lang="en-US" sz="1400" dirty="0"/>
              <a:t> command </a:t>
            </a:r>
            <a:r>
              <a:rPr lang="en-US" sz="1400" dirty="0" err="1"/>
              <a:t>ini</a:t>
            </a:r>
            <a:r>
              <a:rPr lang="en-US" sz="1400" dirty="0"/>
              <a:t>:</a:t>
            </a:r>
            <a:endParaRPr lang="en-US" sz="1400" b="1" dirty="0" smtClean="0">
              <a:solidFill>
                <a:srgbClr val="002060"/>
              </a:solidFill>
            </a:endParaRPr>
          </a:p>
          <a:p>
            <a:pPr algn="just"/>
            <a:r>
              <a:rPr lang="en-US" sz="1400" b="1" dirty="0" smtClean="0">
                <a:solidFill>
                  <a:srgbClr val="002060"/>
                </a:solidFill>
              </a:rPr>
              <a:t># </a:t>
            </a:r>
            <a:r>
              <a:rPr lang="en-US" sz="1400" b="1" dirty="0" smtClean="0">
                <a:solidFill>
                  <a:srgbClr val="0070C0"/>
                </a:solidFill>
              </a:rPr>
              <a:t>pip install </a:t>
            </a:r>
            <a:r>
              <a:rPr lang="en-US" sz="1400" b="1" dirty="0" err="1" smtClean="0">
                <a:solidFill>
                  <a:srgbClr val="0070C0"/>
                </a:solidFill>
              </a:rPr>
              <a:t>docker</a:t>
            </a:r>
            <a:endParaRPr lang="en-US" sz="1400" b="1" dirty="0" smtClean="0">
              <a:solidFill>
                <a:srgbClr val="0070C0"/>
              </a:solidFill>
            </a:endParaRPr>
          </a:p>
          <a:p>
            <a:pPr algn="just"/>
            <a:endParaRPr lang="en-US" sz="1400" b="1" dirty="0">
              <a:solidFill>
                <a:srgbClr val="0070C0"/>
              </a:solidFill>
            </a:endParaRPr>
          </a:p>
          <a:p>
            <a:pPr algn="just"/>
            <a:endParaRPr lang="en-US" sz="2800" b="1" dirty="0">
              <a:solidFill>
                <a:srgbClr val="0070C0"/>
              </a:solidFill>
            </a:endParaRPr>
          </a:p>
          <a:p>
            <a:pPr algn="just"/>
            <a:r>
              <a:rPr lang="en-US" sz="2800" b="1" dirty="0">
                <a:solidFill>
                  <a:srgbClr val="002060"/>
                </a:solidFill>
              </a:rPr>
              <a:t>Install </a:t>
            </a:r>
            <a:r>
              <a:rPr lang="en-US" sz="2800" b="1" dirty="0" err="1" smtClean="0">
                <a:solidFill>
                  <a:srgbClr val="002060"/>
                </a:solidFill>
              </a:rPr>
              <a:t>Kolla-ansible</a:t>
            </a:r>
            <a:endParaRPr lang="en-US" sz="2800" b="1" dirty="0">
              <a:solidFill>
                <a:srgbClr val="002060"/>
              </a:solidFill>
            </a:endParaRPr>
          </a:p>
          <a:p>
            <a:pPr algn="just"/>
            <a:r>
              <a:rPr lang="en-US" sz="1400" dirty="0"/>
              <a:t>Install </a:t>
            </a:r>
            <a:r>
              <a:rPr lang="en-US" sz="1400" dirty="0" err="1"/>
              <a:t>kolla-ansible</a:t>
            </a:r>
            <a:r>
              <a:rPr lang="en-US" sz="1400" dirty="0"/>
              <a:t> </a:t>
            </a:r>
            <a:r>
              <a:rPr lang="en-US" sz="1400" dirty="0" err="1"/>
              <a:t>beserta</a:t>
            </a:r>
            <a:r>
              <a:rPr lang="en-US" sz="1400" dirty="0"/>
              <a:t> </a:t>
            </a:r>
            <a:r>
              <a:rPr lang="en-US" sz="1400" dirty="0" err="1"/>
              <a:t>dependensinya</a:t>
            </a:r>
            <a:r>
              <a:rPr lang="en-US" sz="1400" dirty="0"/>
              <a:t> </a:t>
            </a:r>
            <a:r>
              <a:rPr lang="en-US" sz="1400" dirty="0" err="1"/>
              <a:t>menggunakan</a:t>
            </a:r>
            <a:r>
              <a:rPr lang="en-US" sz="1400" dirty="0"/>
              <a:t> python-pip</a:t>
            </a:r>
          </a:p>
          <a:p>
            <a:pPr algn="just"/>
            <a:r>
              <a:rPr lang="en-US" sz="1400" dirty="0" err="1"/>
              <a:t>Pastikan</a:t>
            </a:r>
            <a:r>
              <a:rPr lang="en-US" sz="1400" dirty="0"/>
              <a:t> virtual environment </a:t>
            </a:r>
            <a:r>
              <a:rPr lang="en-US" sz="1400" dirty="0" err="1"/>
              <a:t>sudah</a:t>
            </a:r>
            <a:r>
              <a:rPr lang="en-US" sz="1400" dirty="0"/>
              <a:t> </a:t>
            </a:r>
            <a:r>
              <a:rPr lang="en-US" sz="1400" dirty="0" err="1"/>
              <a:t>aktif</a:t>
            </a:r>
            <a:r>
              <a:rPr lang="en-US" sz="1400" dirty="0"/>
              <a:t> </a:t>
            </a:r>
            <a:r>
              <a:rPr lang="en-US" sz="1400" dirty="0" err="1"/>
              <a:t>sebelum</a:t>
            </a:r>
            <a:r>
              <a:rPr lang="en-US" sz="1400" dirty="0"/>
              <a:t> </a:t>
            </a:r>
            <a:r>
              <a:rPr lang="en-US" sz="1400" dirty="0" err="1"/>
              <a:t>menjalankan</a:t>
            </a:r>
            <a:r>
              <a:rPr lang="en-US" sz="1400" dirty="0"/>
              <a:t> command </a:t>
            </a:r>
            <a:r>
              <a:rPr lang="en-US" sz="1400" dirty="0" err="1"/>
              <a:t>ini</a:t>
            </a:r>
            <a:r>
              <a:rPr lang="en-US" sz="1400" dirty="0"/>
              <a:t>:</a:t>
            </a:r>
          </a:p>
          <a:p>
            <a:pPr algn="just"/>
            <a:endParaRPr lang="en-US" sz="1400" b="1" dirty="0" smtClean="0">
              <a:solidFill>
                <a:srgbClr val="00206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b="1" dirty="0" smtClean="0">
                <a:solidFill>
                  <a:srgbClr val="002060"/>
                </a:solidFill>
              </a:rPr>
              <a:t># </a:t>
            </a:r>
            <a:r>
              <a:rPr lang="en-US" altLang="en-US" sz="1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 install </a:t>
            </a:r>
            <a:r>
              <a:rPr lang="en-US" altLang="en-US" sz="1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git+https</a:t>
            </a:r>
            <a:r>
              <a:rPr lang="en-US" altLang="en-US" sz="1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://opendev.org/</a:t>
            </a:r>
            <a:r>
              <a:rPr lang="en-US" altLang="en-US" sz="1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openstack</a:t>
            </a:r>
            <a:r>
              <a:rPr lang="en-US" altLang="en-US" sz="1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altLang="en-US" sz="1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kolla-ansible@master</a:t>
            </a:r>
            <a:r>
              <a:rPr lang="en-US" altLang="en-US" sz="800" b="1" dirty="0">
                <a:solidFill>
                  <a:srgbClr val="0070C0"/>
                </a:solidFill>
              </a:rPr>
              <a:t> </a:t>
            </a:r>
            <a:endParaRPr lang="en-US" altLang="en-US" sz="3200" b="1" dirty="0">
              <a:solidFill>
                <a:srgbClr val="0070C0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629150" y="654810"/>
            <a:ext cx="3886200" cy="932282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572000" y="469499"/>
            <a:ext cx="4156364" cy="45858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rgbClr val="002060"/>
                </a:solidFill>
              </a:rPr>
              <a:t>Buat</a:t>
            </a:r>
            <a:r>
              <a:rPr lang="en-US" sz="1400" b="1" dirty="0">
                <a:solidFill>
                  <a:srgbClr val="002060"/>
                </a:solidFill>
              </a:rPr>
              <a:t> directory /</a:t>
            </a:r>
            <a:r>
              <a:rPr lang="en-US" sz="1400" b="1" dirty="0" err="1" smtClean="0">
                <a:solidFill>
                  <a:srgbClr val="002060"/>
                </a:solidFill>
              </a:rPr>
              <a:t>etc</a:t>
            </a:r>
            <a:r>
              <a:rPr lang="en-US" sz="1400" b="1" dirty="0" smtClean="0">
                <a:solidFill>
                  <a:srgbClr val="002060"/>
                </a:solidFill>
              </a:rPr>
              <a:t>/kola</a:t>
            </a:r>
          </a:p>
          <a:p>
            <a:pPr algn="just"/>
            <a:r>
              <a:rPr lang="en-US" sz="1400" b="1" dirty="0" err="1" smtClean="0">
                <a:solidFill>
                  <a:srgbClr val="002060"/>
                </a:solidFill>
              </a:rPr>
              <a:t>root@administrator</a:t>
            </a:r>
            <a:r>
              <a:rPr lang="en-US" sz="1400" b="1" dirty="0">
                <a:solidFill>
                  <a:srgbClr val="002060"/>
                </a:solidFill>
              </a:rPr>
              <a:t>:/</a:t>
            </a:r>
            <a:r>
              <a:rPr lang="en-US" sz="1400" b="1" dirty="0" smtClean="0">
                <a:solidFill>
                  <a:srgbClr val="002060"/>
                </a:solidFill>
              </a:rPr>
              <a:t>home/panda/Deploy#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b="1" dirty="0" smtClean="0">
                <a:solidFill>
                  <a:srgbClr val="002060"/>
                </a:solidFill>
              </a:rPr>
              <a:t># </a:t>
            </a:r>
            <a:r>
              <a:rPr lang="en-US" altLang="en-US" sz="14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sudo</a:t>
            </a:r>
            <a:r>
              <a:rPr lang="en-US" altLang="en-US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4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US" altLang="en-US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-p /</a:t>
            </a:r>
            <a:r>
              <a:rPr lang="en-US" altLang="en-US" sz="14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etc</a:t>
            </a:r>
            <a:r>
              <a:rPr lang="en-US" altLang="en-US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altLang="en-US" sz="14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kolla</a:t>
            </a:r>
            <a:r>
              <a:rPr lang="en-US" altLang="en-US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altLang="en-US" sz="1400" dirty="0" smtClean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rgbClr val="002060"/>
                </a:solidFill>
              </a:rPr>
              <a:t># </a:t>
            </a:r>
            <a:r>
              <a:rPr lang="en-US" altLang="en-US" sz="1400" dirty="0" err="1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sudo</a:t>
            </a:r>
            <a:r>
              <a:rPr lang="en-US" altLang="en-US" sz="14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4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chown</a:t>
            </a:r>
            <a:r>
              <a:rPr lang="en-US" altLang="en-US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4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$panda:$panda </a:t>
            </a:r>
            <a:r>
              <a:rPr lang="en-US" altLang="en-US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altLang="en-US" sz="14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etc</a:t>
            </a:r>
            <a:r>
              <a:rPr lang="en-US" altLang="en-US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altLang="en-US" sz="14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kolla</a:t>
            </a:r>
            <a:r>
              <a:rPr lang="en-US" altLang="en-US" sz="800" dirty="0">
                <a:solidFill>
                  <a:srgbClr val="0070C0"/>
                </a:solidFill>
              </a:rPr>
              <a:t> </a:t>
            </a:r>
            <a:endParaRPr lang="en-US" altLang="en-US" sz="3200" dirty="0">
              <a:solidFill>
                <a:srgbClr val="0070C0"/>
              </a:solidFill>
              <a:latin typeface="Arial" panose="020B0604020202020204" pitchFamily="34" charset="0"/>
            </a:endParaRPr>
          </a:p>
          <a:p>
            <a:pPr algn="just"/>
            <a:endParaRPr lang="en-US" sz="1400" b="1" dirty="0">
              <a:solidFill>
                <a:srgbClr val="0070C0"/>
              </a:solidFill>
            </a:endParaRPr>
          </a:p>
          <a:p>
            <a:pPr algn="just"/>
            <a:r>
              <a:rPr lang="en-US" sz="1400" b="1" dirty="0" err="1">
                <a:solidFill>
                  <a:srgbClr val="002060"/>
                </a:solidFill>
              </a:rPr>
              <a:t>Salin</a:t>
            </a:r>
            <a:r>
              <a:rPr lang="en-US" sz="1400" b="1" dirty="0">
                <a:solidFill>
                  <a:srgbClr val="002060"/>
                </a:solidFill>
              </a:rPr>
              <a:t> file </a:t>
            </a:r>
            <a:r>
              <a:rPr lang="en-US" sz="1400" b="1" dirty="0" err="1">
                <a:solidFill>
                  <a:srgbClr val="002060"/>
                </a:solidFill>
              </a:rPr>
              <a:t>global.yml</a:t>
            </a:r>
            <a:r>
              <a:rPr lang="en-US" sz="1400" b="1" dirty="0">
                <a:solidFill>
                  <a:srgbClr val="002060"/>
                </a:solidFill>
              </a:rPr>
              <a:t> </a:t>
            </a:r>
            <a:r>
              <a:rPr lang="en-US" sz="1400" b="1" dirty="0" err="1">
                <a:solidFill>
                  <a:srgbClr val="002060"/>
                </a:solidFill>
              </a:rPr>
              <a:t>dan</a:t>
            </a:r>
            <a:r>
              <a:rPr lang="en-US" sz="1400" b="1" dirty="0">
                <a:solidFill>
                  <a:srgbClr val="002060"/>
                </a:solidFill>
              </a:rPr>
              <a:t> </a:t>
            </a:r>
            <a:r>
              <a:rPr lang="en-US" sz="1400" b="1" dirty="0" err="1">
                <a:solidFill>
                  <a:srgbClr val="002060"/>
                </a:solidFill>
              </a:rPr>
              <a:t>password.yml</a:t>
            </a:r>
            <a:r>
              <a:rPr lang="en-US" sz="1400" b="1" dirty="0">
                <a:solidFill>
                  <a:srgbClr val="002060"/>
                </a:solidFill>
              </a:rPr>
              <a:t> </a:t>
            </a:r>
            <a:r>
              <a:rPr lang="en-US" sz="1400" b="1" dirty="0" err="1">
                <a:solidFill>
                  <a:srgbClr val="002060"/>
                </a:solidFill>
              </a:rPr>
              <a:t>ke</a:t>
            </a:r>
            <a:r>
              <a:rPr lang="en-US" sz="1400" b="1" dirty="0">
                <a:solidFill>
                  <a:srgbClr val="002060"/>
                </a:solidFill>
              </a:rPr>
              <a:t> directory /</a:t>
            </a:r>
            <a:r>
              <a:rPr lang="en-US" sz="1400" b="1" dirty="0" err="1">
                <a:solidFill>
                  <a:srgbClr val="002060"/>
                </a:solidFill>
              </a:rPr>
              <a:t>etc</a:t>
            </a:r>
            <a:r>
              <a:rPr lang="en-US" sz="1400" b="1" dirty="0">
                <a:solidFill>
                  <a:srgbClr val="002060"/>
                </a:solidFill>
              </a:rPr>
              <a:t>/</a:t>
            </a:r>
            <a:r>
              <a:rPr lang="en-US" sz="1400" b="1" dirty="0" err="1">
                <a:solidFill>
                  <a:srgbClr val="002060"/>
                </a:solidFill>
              </a:rPr>
              <a:t>kolla</a:t>
            </a:r>
            <a:r>
              <a:rPr lang="en-US" sz="1400" b="1" dirty="0">
                <a:solidFill>
                  <a:srgbClr val="002060"/>
                </a:solidFill>
              </a:rPr>
              <a:t>:</a:t>
            </a:r>
            <a:endParaRPr lang="en-US" sz="1400" b="1" dirty="0" smtClean="0">
              <a:solidFill>
                <a:srgbClr val="00206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b="1" dirty="0" smtClean="0">
                <a:solidFill>
                  <a:srgbClr val="002060"/>
                </a:solidFill>
              </a:rPr>
              <a:t># </a:t>
            </a:r>
            <a:r>
              <a:rPr lang="en-US" altLang="en-US" sz="1400" dirty="0" err="1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cp</a:t>
            </a:r>
            <a:r>
              <a:rPr lang="en-US" altLang="en-US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-r /</a:t>
            </a:r>
            <a:r>
              <a:rPr lang="en-US" altLang="en-US" sz="1400" dirty="0" smtClean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home/panda/deploy/share/</a:t>
            </a:r>
            <a:r>
              <a:rPr lang="en-US" altLang="en-US" sz="1400" dirty="0" err="1" smtClean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kolla-ansible</a:t>
            </a:r>
            <a:r>
              <a:rPr lang="en-US" altLang="en-US" sz="1400" dirty="0" smtClean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altLang="en-US" sz="1400" dirty="0" err="1" smtClean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etc_examples</a:t>
            </a:r>
            <a:r>
              <a:rPr lang="en-US" altLang="en-US" sz="1400" dirty="0" smtClean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altLang="en-US" sz="1400" dirty="0" err="1" smtClean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kolla</a:t>
            </a:r>
            <a:r>
              <a:rPr lang="en-US" altLang="en-US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/</a:t>
            </a:r>
            <a:r>
              <a:rPr lang="en-US" altLang="en-US" sz="1400" dirty="0" err="1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etc</a:t>
            </a:r>
            <a:r>
              <a:rPr lang="en-US" altLang="en-US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altLang="en-US" sz="1400" dirty="0" err="1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kolla</a:t>
            </a:r>
            <a:r>
              <a:rPr lang="en-US" altLang="en-US" sz="800" dirty="0"/>
              <a:t> </a:t>
            </a:r>
            <a:endParaRPr lang="en-US" altLang="en-US" sz="800" dirty="0" smtClean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00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00" dirty="0" smtClean="0"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b="1" dirty="0" err="1">
                <a:solidFill>
                  <a:srgbClr val="002060"/>
                </a:solidFill>
              </a:rPr>
              <a:t>Salin</a:t>
            </a:r>
            <a:r>
              <a:rPr lang="en-US" sz="1400" b="1" dirty="0">
                <a:solidFill>
                  <a:srgbClr val="002060"/>
                </a:solidFill>
              </a:rPr>
              <a:t> file </a:t>
            </a:r>
            <a:r>
              <a:rPr lang="en-US" sz="1400" b="1" dirty="0" err="1">
                <a:solidFill>
                  <a:srgbClr val="002060"/>
                </a:solidFill>
              </a:rPr>
              <a:t>konfigurasi</a:t>
            </a:r>
            <a:r>
              <a:rPr lang="en-US" sz="1400" b="1" dirty="0">
                <a:solidFill>
                  <a:srgbClr val="002060"/>
                </a:solidFill>
              </a:rPr>
              <a:t> </a:t>
            </a:r>
            <a:r>
              <a:rPr lang="en-US" sz="1400" b="1" dirty="0" smtClean="0">
                <a:solidFill>
                  <a:srgbClr val="002060"/>
                </a:solidFill>
              </a:rPr>
              <a:t>all-in-one: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b="1" dirty="0" smtClean="0">
                <a:solidFill>
                  <a:srgbClr val="002060"/>
                </a:solidFill>
              </a:rPr>
              <a:t># </a:t>
            </a:r>
            <a:r>
              <a:rPr lang="en-US" altLang="en-US" sz="1400" dirty="0" err="1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cp</a:t>
            </a:r>
            <a:r>
              <a:rPr lang="en-US" altLang="en-US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/path/to/</a:t>
            </a:r>
            <a:r>
              <a:rPr lang="en-US" altLang="en-US" sz="1400" dirty="0" err="1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en-US" altLang="en-US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/share/</a:t>
            </a:r>
            <a:r>
              <a:rPr lang="en-US" altLang="en-US" sz="1400" dirty="0" err="1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kolla-ansible</a:t>
            </a:r>
            <a:r>
              <a:rPr lang="en-US" altLang="en-US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altLang="en-US" sz="1400" dirty="0" err="1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ansible</a:t>
            </a:r>
            <a:r>
              <a:rPr lang="en-US" altLang="en-US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/inventory/all-in-one /</a:t>
            </a:r>
            <a:r>
              <a:rPr lang="en-US" altLang="en-US" sz="1400" dirty="0" smtClean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home/panda/</a:t>
            </a:r>
            <a:r>
              <a:rPr lang="en-US" altLang="en-US" sz="800" dirty="0" smtClean="0"/>
              <a:t> </a:t>
            </a:r>
            <a:endParaRPr lang="en-US" altLang="en-US" sz="3200" dirty="0">
              <a:latin typeface="Arial" panose="020B0604020202020204" pitchFamily="34" charset="0"/>
            </a:endParaRPr>
          </a:p>
          <a:p>
            <a:r>
              <a:rPr lang="en-US" sz="1400" b="1" dirty="0" err="1" smtClean="0">
                <a:solidFill>
                  <a:srgbClr val="002060"/>
                </a:solidFill>
              </a:rPr>
              <a:t>Tambahkan</a:t>
            </a:r>
            <a:r>
              <a:rPr lang="en-US" sz="1400" b="1" dirty="0" smtClean="0">
                <a:solidFill>
                  <a:srgbClr val="002060"/>
                </a:solidFill>
              </a:rPr>
              <a:t> </a:t>
            </a:r>
            <a:r>
              <a:rPr lang="en-US" sz="1400" b="1" dirty="0">
                <a:solidFill>
                  <a:srgbClr val="002060"/>
                </a:solidFill>
              </a:rPr>
              <a:t>python interpreter </a:t>
            </a:r>
            <a:r>
              <a:rPr lang="en-US" sz="1400" b="1" dirty="0" err="1">
                <a:solidFill>
                  <a:srgbClr val="002060"/>
                </a:solidFill>
              </a:rPr>
              <a:t>pada</a:t>
            </a:r>
            <a:r>
              <a:rPr lang="en-US" sz="1400" b="1" dirty="0">
                <a:solidFill>
                  <a:srgbClr val="002060"/>
                </a:solidFill>
              </a:rPr>
              <a:t> </a:t>
            </a:r>
            <a:r>
              <a:rPr lang="en-US" sz="1400" b="1" dirty="0" err="1">
                <a:solidFill>
                  <a:srgbClr val="002060"/>
                </a:solidFill>
              </a:rPr>
              <a:t>konfigurasi</a:t>
            </a:r>
            <a:r>
              <a:rPr lang="en-US" sz="1400" b="1" dirty="0">
                <a:solidFill>
                  <a:srgbClr val="002060"/>
                </a:solidFill>
              </a:rPr>
              <a:t> all-in-one</a:t>
            </a:r>
            <a:endParaRPr lang="en-US" sz="1400" dirty="0">
              <a:solidFill>
                <a:srgbClr val="002060"/>
              </a:solidFill>
            </a:endParaRPr>
          </a:p>
          <a:p>
            <a:r>
              <a:rPr lang="en-US" sz="1200" dirty="0" err="1"/>
              <a:t>Pastikan</a:t>
            </a:r>
            <a:r>
              <a:rPr lang="en-US" sz="1200" dirty="0"/>
              <a:t> virtual environment </a:t>
            </a:r>
            <a:r>
              <a:rPr lang="en-US" sz="1200" dirty="0" err="1"/>
              <a:t>sudah</a:t>
            </a:r>
            <a:r>
              <a:rPr lang="en-US" sz="1200" dirty="0"/>
              <a:t> </a:t>
            </a:r>
            <a:r>
              <a:rPr lang="en-US" sz="1200" dirty="0" err="1"/>
              <a:t>aktif</a:t>
            </a:r>
            <a:r>
              <a:rPr lang="en-US" sz="1200" dirty="0"/>
              <a:t> </a:t>
            </a:r>
            <a:r>
              <a:rPr lang="en-US" sz="1200" dirty="0" err="1"/>
              <a:t>sebelum</a:t>
            </a:r>
            <a:r>
              <a:rPr lang="en-US" sz="1200" dirty="0"/>
              <a:t> </a:t>
            </a:r>
            <a:r>
              <a:rPr lang="en-US" sz="1200" dirty="0" err="1"/>
              <a:t>menjalankan</a:t>
            </a:r>
            <a:r>
              <a:rPr lang="en-US" sz="1200" dirty="0"/>
              <a:t> command </a:t>
            </a:r>
            <a:r>
              <a:rPr lang="en-US" sz="1200" dirty="0" err="1"/>
              <a:t>ini</a:t>
            </a:r>
            <a:r>
              <a:rPr lang="en-US" sz="1200" dirty="0"/>
              <a:t>: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b="1" dirty="0" smtClean="0">
                <a:solidFill>
                  <a:srgbClr val="002060"/>
                </a:solidFill>
              </a:rPr>
              <a:t>#  </a:t>
            </a:r>
            <a:r>
              <a:rPr lang="en-US" sz="1400" dirty="0" smtClean="0">
                <a:solidFill>
                  <a:srgbClr val="0070C0"/>
                </a:solidFill>
              </a:rPr>
              <a:t>source </a:t>
            </a:r>
            <a:r>
              <a:rPr lang="en-US" sz="1400" dirty="0">
                <a:solidFill>
                  <a:srgbClr val="0070C0"/>
                </a:solidFill>
              </a:rPr>
              <a:t>/</a:t>
            </a:r>
            <a:r>
              <a:rPr lang="en-US" sz="1400" dirty="0" smtClean="0">
                <a:solidFill>
                  <a:srgbClr val="0070C0"/>
                </a:solidFill>
              </a:rPr>
              <a:t>home/panda/deploy/bin/activate</a:t>
            </a:r>
            <a:endParaRPr lang="en-US" sz="1400" dirty="0">
              <a:solidFill>
                <a:srgbClr val="0070C0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05220" y="1778193"/>
            <a:ext cx="3886200" cy="31384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93963" y="4049188"/>
            <a:ext cx="4156364" cy="791382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4629150" y="2083300"/>
            <a:ext cx="4099214" cy="632967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4600575" y="3108797"/>
            <a:ext cx="4099214" cy="632967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2248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8</a:t>
            </a:fld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3200400" y="65812"/>
            <a:ext cx="5943600" cy="280338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Lab: </a:t>
            </a:r>
            <a:r>
              <a:rPr lang="en-US" sz="2400" b="1" dirty="0" err="1" smtClean="0"/>
              <a:t>Kolla</a:t>
            </a:r>
            <a:r>
              <a:rPr lang="en-US" sz="2400" b="1" dirty="0" smtClean="0"/>
              <a:t> </a:t>
            </a:r>
            <a:r>
              <a:rPr lang="en-US" sz="2400" b="1" dirty="0" err="1"/>
              <a:t>Ansible</a:t>
            </a:r>
            <a:r>
              <a:rPr lang="en-US" sz="2400" b="1" dirty="0"/>
              <a:t> All in One </a:t>
            </a:r>
            <a:r>
              <a:rPr lang="en-US" sz="2400" b="1" dirty="0" err="1" smtClean="0"/>
              <a:t>Openstack</a:t>
            </a:r>
            <a:r>
              <a:rPr lang="en-US" sz="2400" b="1" dirty="0" smtClean="0"/>
              <a:t> 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Cons’t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3963" y="654809"/>
            <a:ext cx="4156364" cy="3554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b="1" dirty="0" err="1">
                <a:solidFill>
                  <a:srgbClr val="002060"/>
                </a:solidFill>
              </a:rPr>
              <a:t>Cari</a:t>
            </a:r>
            <a:r>
              <a:rPr lang="en-US" sz="1400" b="1" dirty="0">
                <a:solidFill>
                  <a:srgbClr val="002060"/>
                </a:solidFill>
              </a:rPr>
              <a:t> </a:t>
            </a:r>
            <a:r>
              <a:rPr lang="en-US" sz="1400" b="1" dirty="0" err="1">
                <a:solidFill>
                  <a:srgbClr val="002060"/>
                </a:solidFill>
              </a:rPr>
              <a:t>lokasi</a:t>
            </a:r>
            <a:r>
              <a:rPr lang="en-US" sz="1400" b="1" dirty="0">
                <a:solidFill>
                  <a:srgbClr val="002060"/>
                </a:solidFill>
              </a:rPr>
              <a:t> binary </a:t>
            </a:r>
            <a:r>
              <a:rPr lang="en-US" sz="1400" b="1" dirty="0" smtClean="0">
                <a:solidFill>
                  <a:srgbClr val="002060"/>
                </a:solidFill>
              </a:rPr>
              <a:t>python:</a:t>
            </a:r>
          </a:p>
          <a:p>
            <a:pPr algn="just"/>
            <a:r>
              <a:rPr lang="en-US" sz="1400" b="1" dirty="0" smtClean="0">
                <a:solidFill>
                  <a:srgbClr val="0070C0"/>
                </a:solidFill>
              </a:rPr>
              <a:t>which </a:t>
            </a:r>
            <a:r>
              <a:rPr lang="en-US" sz="1400" b="1" dirty="0">
                <a:solidFill>
                  <a:srgbClr val="0070C0"/>
                </a:solidFill>
              </a:rPr>
              <a:t>python</a:t>
            </a:r>
          </a:p>
          <a:p>
            <a:pPr algn="just"/>
            <a:r>
              <a:rPr lang="en-US" sz="1400" b="1" dirty="0">
                <a:solidFill>
                  <a:srgbClr val="0070C0"/>
                </a:solidFill>
              </a:rPr>
              <a:t>/</a:t>
            </a:r>
            <a:r>
              <a:rPr lang="en-US" sz="1400" b="1" dirty="0" smtClean="0">
                <a:solidFill>
                  <a:srgbClr val="0070C0"/>
                </a:solidFill>
              </a:rPr>
              <a:t>home/panda/Deploy/bin/python</a:t>
            </a:r>
          </a:p>
          <a:p>
            <a:pPr algn="just"/>
            <a:endParaRPr lang="en-US" sz="1400" b="1" dirty="0">
              <a:solidFill>
                <a:srgbClr val="0070C0"/>
              </a:solidFill>
            </a:endParaRPr>
          </a:p>
          <a:p>
            <a:r>
              <a:rPr lang="nb-NO" sz="1400" b="1" dirty="0">
                <a:solidFill>
                  <a:srgbClr val="002060"/>
                </a:solidFill>
              </a:rPr>
              <a:t>Tambahkan interpreter sesuai lokasi </a:t>
            </a:r>
            <a:endParaRPr lang="nb-NO" sz="1400" b="1" dirty="0" smtClean="0">
              <a:solidFill>
                <a:srgbClr val="00206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vi all-in-one </a:t>
            </a:r>
            <a:endParaRPr lang="en-US" altLang="en-US" sz="1400" dirty="0" smtClean="0">
              <a:solidFill>
                <a:srgbClr val="333333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 smtClean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...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 smtClean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Localhost </a:t>
            </a:r>
            <a:r>
              <a:rPr lang="en-US" altLang="en-US" sz="1400" dirty="0" err="1" smtClean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ansible_python_interpreter</a:t>
            </a:r>
            <a:r>
              <a:rPr lang="en-US" altLang="en-US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=/</a:t>
            </a:r>
            <a:r>
              <a:rPr lang="en-US" altLang="en-US" sz="1400" dirty="0" smtClean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home/panda/deploy/bin/python</a:t>
            </a:r>
            <a:r>
              <a:rPr lang="en-US" altLang="en-US" sz="800" dirty="0" smtClean="0"/>
              <a:t> </a:t>
            </a:r>
            <a:endParaRPr lang="en-US" altLang="en-US" sz="3200" dirty="0">
              <a:latin typeface="Arial" panose="020B0604020202020204" pitchFamily="34" charset="0"/>
            </a:endParaRPr>
          </a:p>
          <a:p>
            <a:endParaRPr lang="nb-NO" sz="1400" b="1" dirty="0" smtClean="0">
              <a:solidFill>
                <a:srgbClr val="00206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900" b="1" dirty="0">
              <a:solidFill>
                <a:srgbClr val="002060"/>
              </a:solidFill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002060"/>
                </a:solidFill>
                <a:latin typeface="Arial" panose="020B0604020202020204" pitchFamily="34" charset="0"/>
              </a:rPr>
              <a:t>Install </a:t>
            </a:r>
            <a:r>
              <a:rPr lang="en-US" altLang="en-US" b="1" dirty="0" err="1">
                <a:solidFill>
                  <a:srgbClr val="002060"/>
                </a:solidFill>
                <a:latin typeface="Arial" panose="020B0604020202020204" pitchFamily="34" charset="0"/>
              </a:rPr>
              <a:t>Ansible</a:t>
            </a:r>
            <a:r>
              <a:rPr lang="en-US" altLang="en-US" b="1" dirty="0">
                <a:solidFill>
                  <a:srgbClr val="002060"/>
                </a:solidFill>
                <a:latin typeface="Arial" panose="020B0604020202020204" pitchFamily="34" charset="0"/>
              </a:rPr>
              <a:t> Galaxy requirements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 err="1">
                <a:latin typeface="Arial" panose="020B0604020202020204" pitchFamily="34" charset="0"/>
              </a:rPr>
              <a:t>Pastikan</a:t>
            </a:r>
            <a:r>
              <a:rPr lang="en-US" altLang="en-US" sz="1400" dirty="0">
                <a:latin typeface="Arial" panose="020B0604020202020204" pitchFamily="34" charset="0"/>
              </a:rPr>
              <a:t> virtual environment </a:t>
            </a:r>
            <a:r>
              <a:rPr lang="en-US" altLang="en-US" sz="1400" dirty="0" err="1">
                <a:latin typeface="Arial" panose="020B0604020202020204" pitchFamily="34" charset="0"/>
              </a:rPr>
              <a:t>sudah</a:t>
            </a:r>
            <a:r>
              <a:rPr lang="en-US" altLang="en-US" sz="1400" dirty="0">
                <a:latin typeface="Arial" panose="020B0604020202020204" pitchFamily="34" charset="0"/>
              </a:rPr>
              <a:t> </a:t>
            </a:r>
            <a:r>
              <a:rPr lang="en-US" altLang="en-US" sz="1400" dirty="0" err="1">
                <a:latin typeface="Arial" panose="020B0604020202020204" pitchFamily="34" charset="0"/>
              </a:rPr>
              <a:t>aktif</a:t>
            </a:r>
            <a:r>
              <a:rPr lang="en-US" altLang="en-US" sz="1400" dirty="0">
                <a:latin typeface="Arial" panose="020B0604020202020204" pitchFamily="34" charset="0"/>
              </a:rPr>
              <a:t> </a:t>
            </a:r>
            <a:r>
              <a:rPr lang="en-US" altLang="en-US" sz="1400" dirty="0" err="1">
                <a:latin typeface="Arial" panose="020B0604020202020204" pitchFamily="34" charset="0"/>
              </a:rPr>
              <a:t>sebelum</a:t>
            </a:r>
            <a:r>
              <a:rPr lang="en-US" altLang="en-US" sz="1400" dirty="0">
                <a:latin typeface="Arial" panose="020B0604020202020204" pitchFamily="34" charset="0"/>
              </a:rPr>
              <a:t> </a:t>
            </a:r>
            <a:r>
              <a:rPr lang="en-US" altLang="en-US" sz="1400" dirty="0" err="1">
                <a:latin typeface="Arial" panose="020B0604020202020204" pitchFamily="34" charset="0"/>
              </a:rPr>
              <a:t>menjalankan</a:t>
            </a:r>
            <a:r>
              <a:rPr lang="en-US" altLang="en-US" sz="1400" dirty="0">
                <a:latin typeface="Arial" panose="020B0604020202020204" pitchFamily="34" charset="0"/>
              </a:rPr>
              <a:t> command </a:t>
            </a:r>
            <a:r>
              <a:rPr lang="en-US" altLang="en-US" sz="1400" dirty="0" err="1">
                <a:latin typeface="Arial" panose="020B0604020202020204" pitchFamily="34" charset="0"/>
              </a:rPr>
              <a:t>ini</a:t>
            </a:r>
            <a:r>
              <a:rPr lang="en-US" altLang="en-US" sz="1400" dirty="0">
                <a:latin typeface="Arial" panose="020B0604020202020204" pitchFamily="34" charset="0"/>
              </a:rPr>
              <a:t>: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rgbClr val="002060"/>
                </a:solidFill>
              </a:rPr>
              <a:t># </a:t>
            </a:r>
            <a:r>
              <a:rPr lang="en-US" altLang="en-US" sz="16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kolla-ansible</a:t>
            </a:r>
            <a:r>
              <a:rPr lang="en-US" altLang="en-US" sz="16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install-deps</a:t>
            </a:r>
            <a:r>
              <a:rPr lang="en-US" altLang="en-US" sz="900" dirty="0">
                <a:solidFill>
                  <a:srgbClr val="0070C0"/>
                </a:solidFill>
              </a:rPr>
              <a:t> </a:t>
            </a:r>
            <a:endParaRPr lang="en-US" altLang="en-US" sz="3600" dirty="0">
              <a:solidFill>
                <a:srgbClr val="0070C0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540827" y="644187"/>
            <a:ext cx="4156364" cy="43396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00" b="1" dirty="0" smtClean="0">
              <a:solidFill>
                <a:srgbClr val="002060"/>
              </a:solidFill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 err="1" smtClean="0">
                <a:solidFill>
                  <a:srgbClr val="002060"/>
                </a:solidFill>
                <a:latin typeface="Arial" panose="020B0604020202020204" pitchFamily="34" charset="0"/>
              </a:rPr>
              <a:t>Konfigurasi</a:t>
            </a:r>
            <a:r>
              <a:rPr lang="en-US" altLang="en-US" sz="1600" b="1" dirty="0" smtClean="0">
                <a:solidFill>
                  <a:srgbClr val="002060"/>
                </a:solidFill>
                <a:latin typeface="Arial" panose="020B0604020202020204" pitchFamily="34" charset="0"/>
              </a:rPr>
              <a:t> </a:t>
            </a:r>
            <a:r>
              <a:rPr lang="en-US" altLang="en-US" sz="1600" b="1" dirty="0" err="1" smtClean="0">
                <a:solidFill>
                  <a:srgbClr val="002060"/>
                </a:solidFill>
                <a:latin typeface="Arial" panose="020B0604020202020204" pitchFamily="34" charset="0"/>
              </a:rPr>
              <a:t>Awal</a:t>
            </a:r>
            <a:endParaRPr lang="en-US" altLang="en-US" sz="1600" b="1" dirty="0" smtClean="0">
              <a:solidFill>
                <a:srgbClr val="002060"/>
              </a:solidFill>
              <a:latin typeface="Arial" panose="020B0604020202020204" pitchFamily="34" charset="0"/>
            </a:endParaRPr>
          </a:p>
          <a:p>
            <a:pPr algn="just"/>
            <a:r>
              <a:rPr lang="en-US" sz="1400" b="1" dirty="0"/>
              <a:t>Generate Password</a:t>
            </a:r>
            <a:endParaRPr lang="en-US" sz="1400" dirty="0"/>
          </a:p>
          <a:p>
            <a:pPr algn="just"/>
            <a:r>
              <a:rPr lang="en-US" sz="1400" dirty="0"/>
              <a:t>Password yang </a:t>
            </a:r>
            <a:r>
              <a:rPr lang="en-US" sz="1400" dirty="0" err="1"/>
              <a:t>digunakan</a:t>
            </a:r>
            <a:r>
              <a:rPr lang="en-US" sz="1400" dirty="0"/>
              <a:t> </a:t>
            </a:r>
            <a:r>
              <a:rPr lang="en-US" sz="1400" dirty="0" err="1"/>
              <a:t>oleh</a:t>
            </a:r>
            <a:r>
              <a:rPr lang="en-US" sz="1400" dirty="0"/>
              <a:t> </a:t>
            </a:r>
            <a:r>
              <a:rPr lang="en-US" sz="1400" dirty="0" err="1"/>
              <a:t>kolla</a:t>
            </a:r>
            <a:r>
              <a:rPr lang="en-US" sz="1400" dirty="0"/>
              <a:t> </a:t>
            </a:r>
            <a:r>
              <a:rPr lang="en-US" sz="1400" dirty="0" err="1"/>
              <a:t>ansible</a:t>
            </a:r>
            <a:r>
              <a:rPr lang="en-US" sz="1400" dirty="0"/>
              <a:t> </a:t>
            </a:r>
            <a:r>
              <a:rPr lang="en-US" sz="1400" dirty="0" err="1"/>
              <a:t>disimpan</a:t>
            </a:r>
            <a:r>
              <a:rPr lang="en-US" sz="1400" dirty="0"/>
              <a:t> di </a:t>
            </a:r>
            <a:r>
              <a:rPr lang="en-US" sz="1400" dirty="0" err="1"/>
              <a:t>direktori</a:t>
            </a:r>
            <a:r>
              <a:rPr lang="en-US" sz="1400" dirty="0"/>
              <a:t> </a:t>
            </a:r>
            <a:r>
              <a:rPr lang="en-US" sz="1400" b="1" dirty="0"/>
              <a:t>/</a:t>
            </a:r>
            <a:r>
              <a:rPr lang="en-US" sz="1400" b="1" dirty="0" err="1"/>
              <a:t>etc</a:t>
            </a:r>
            <a:r>
              <a:rPr lang="en-US" sz="1400" b="1" dirty="0"/>
              <a:t>/</a:t>
            </a:r>
            <a:r>
              <a:rPr lang="en-US" sz="1400" b="1" dirty="0" err="1"/>
              <a:t>kolla</a:t>
            </a:r>
            <a:r>
              <a:rPr lang="en-US" sz="1400" b="1" dirty="0"/>
              <a:t>/</a:t>
            </a:r>
            <a:r>
              <a:rPr lang="en-US" sz="1400" b="1" dirty="0" err="1"/>
              <a:t>passwords.yml</a:t>
            </a:r>
            <a:endParaRPr lang="en-US" sz="1400" dirty="0"/>
          </a:p>
          <a:p>
            <a:pPr algn="just"/>
            <a:r>
              <a:rPr lang="en-US" sz="1400" dirty="0" err="1"/>
              <a:t>Pastikan</a:t>
            </a:r>
            <a:r>
              <a:rPr lang="en-US" sz="1400" dirty="0"/>
              <a:t> virtual environment </a:t>
            </a:r>
            <a:r>
              <a:rPr lang="en-US" sz="1400" dirty="0" err="1"/>
              <a:t>sudah</a:t>
            </a:r>
            <a:r>
              <a:rPr lang="en-US" sz="1400" dirty="0"/>
              <a:t> </a:t>
            </a:r>
            <a:r>
              <a:rPr lang="en-US" sz="1400" dirty="0" err="1"/>
              <a:t>aktif</a:t>
            </a:r>
            <a:r>
              <a:rPr lang="en-US" sz="1400" dirty="0"/>
              <a:t> </a:t>
            </a:r>
            <a:r>
              <a:rPr lang="en-US" sz="1400" dirty="0" err="1"/>
              <a:t>sebelum</a:t>
            </a:r>
            <a:r>
              <a:rPr lang="en-US" sz="1400" dirty="0"/>
              <a:t> </a:t>
            </a:r>
            <a:r>
              <a:rPr lang="en-US" sz="1400" dirty="0" err="1"/>
              <a:t>menjalankan</a:t>
            </a:r>
            <a:r>
              <a:rPr lang="en-US" sz="1400" dirty="0"/>
              <a:t> command </a:t>
            </a:r>
            <a:r>
              <a:rPr lang="en-US" sz="1400" dirty="0" err="1"/>
              <a:t>ini</a:t>
            </a:r>
            <a:r>
              <a:rPr lang="en-US" sz="1400" dirty="0"/>
              <a:t>: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b="1" dirty="0" smtClean="0">
                <a:solidFill>
                  <a:srgbClr val="002060"/>
                </a:solidFill>
              </a:rPr>
              <a:t># </a:t>
            </a:r>
            <a:r>
              <a:rPr lang="en-US" altLang="en-US" sz="1400" dirty="0" err="1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kolla-genpwd</a:t>
            </a:r>
            <a:r>
              <a:rPr lang="en-US" altLang="en-US" sz="1400" dirty="0" smtClean="0">
                <a:solidFill>
                  <a:srgbClr val="0070C0"/>
                </a:solidFill>
              </a:rPr>
              <a:t> </a:t>
            </a:r>
            <a:endParaRPr lang="en-US" altLang="en-US" sz="1400" dirty="0">
              <a:solidFill>
                <a:srgbClr val="0070C0"/>
              </a:solidFill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400" b="1" dirty="0" smtClean="0">
              <a:solidFill>
                <a:srgbClr val="00206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b="1" dirty="0" err="1">
                <a:solidFill>
                  <a:srgbClr val="002060"/>
                </a:solidFill>
              </a:rPr>
              <a:t>Konfigurasi</a:t>
            </a:r>
            <a:r>
              <a:rPr lang="en-US" sz="1400" b="1" dirty="0">
                <a:solidFill>
                  <a:srgbClr val="002060"/>
                </a:solidFill>
              </a:rPr>
              <a:t> </a:t>
            </a:r>
            <a:r>
              <a:rPr lang="en-US" sz="1400" b="1" dirty="0" err="1" smtClean="0">
                <a:solidFill>
                  <a:srgbClr val="002060"/>
                </a:solidFill>
              </a:rPr>
              <a:t>global.yml</a:t>
            </a:r>
            <a:endParaRPr lang="en-US" sz="1400" b="1" dirty="0" smtClean="0">
              <a:solidFill>
                <a:srgbClr val="00206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rgbClr val="00B0F0"/>
                </a:solidFill>
              </a:rPr>
              <a:t>vi /</a:t>
            </a:r>
            <a:r>
              <a:rPr lang="en-US" sz="1400" dirty="0" err="1">
                <a:solidFill>
                  <a:srgbClr val="00B0F0"/>
                </a:solidFill>
              </a:rPr>
              <a:t>etc</a:t>
            </a:r>
            <a:r>
              <a:rPr lang="en-US" sz="1400" dirty="0">
                <a:solidFill>
                  <a:srgbClr val="00B0F0"/>
                </a:solidFill>
              </a:rPr>
              <a:t>/</a:t>
            </a:r>
            <a:r>
              <a:rPr lang="en-US" sz="1400" dirty="0" err="1">
                <a:solidFill>
                  <a:srgbClr val="00B0F0"/>
                </a:solidFill>
              </a:rPr>
              <a:t>kolla</a:t>
            </a:r>
            <a:r>
              <a:rPr lang="en-US" sz="1400" dirty="0">
                <a:solidFill>
                  <a:srgbClr val="00B0F0"/>
                </a:solidFill>
              </a:rPr>
              <a:t>/</a:t>
            </a:r>
            <a:r>
              <a:rPr lang="en-US" sz="1400" dirty="0" err="1">
                <a:solidFill>
                  <a:srgbClr val="00B0F0"/>
                </a:solidFill>
              </a:rPr>
              <a:t>global.yml</a:t>
            </a:r>
            <a:endParaRPr lang="en-US" sz="1400" dirty="0">
              <a:solidFill>
                <a:srgbClr val="00B0F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rgbClr val="00B0F0"/>
                </a:solidFill>
              </a:rPr>
              <a:t>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 err="1">
                <a:solidFill>
                  <a:srgbClr val="00B0F0"/>
                </a:solidFill>
              </a:rPr>
              <a:t>kolla_base_distro</a:t>
            </a:r>
            <a:r>
              <a:rPr lang="en-US" sz="1400" dirty="0">
                <a:solidFill>
                  <a:srgbClr val="00B0F0"/>
                </a:solidFill>
              </a:rPr>
              <a:t>: "</a:t>
            </a:r>
            <a:r>
              <a:rPr lang="en-US" sz="1400" dirty="0" err="1">
                <a:solidFill>
                  <a:srgbClr val="00B0F0"/>
                </a:solidFill>
              </a:rPr>
              <a:t>ubuntu</a:t>
            </a:r>
            <a:r>
              <a:rPr lang="en-US" sz="1400" dirty="0">
                <a:solidFill>
                  <a:srgbClr val="00B0F0"/>
                </a:solidFill>
              </a:rPr>
              <a:t>"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 err="1">
                <a:solidFill>
                  <a:srgbClr val="00B0F0"/>
                </a:solidFill>
              </a:rPr>
              <a:t>openstack_release</a:t>
            </a:r>
            <a:r>
              <a:rPr lang="en-US" sz="1400" dirty="0">
                <a:solidFill>
                  <a:srgbClr val="00B0F0"/>
                </a:solidFill>
              </a:rPr>
              <a:t>: "master"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 err="1">
                <a:solidFill>
                  <a:srgbClr val="00B0F0"/>
                </a:solidFill>
              </a:rPr>
              <a:t>kolla_internal_vip_address</a:t>
            </a:r>
            <a:r>
              <a:rPr lang="en-US" sz="1400" dirty="0">
                <a:solidFill>
                  <a:srgbClr val="00B0F0"/>
                </a:solidFill>
              </a:rPr>
              <a:t>: "10.65.65.254"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 err="1">
                <a:solidFill>
                  <a:srgbClr val="00B0F0"/>
                </a:solidFill>
              </a:rPr>
              <a:t>network_interface</a:t>
            </a:r>
            <a:r>
              <a:rPr lang="en-US" sz="1400" dirty="0">
                <a:solidFill>
                  <a:srgbClr val="00B0F0"/>
                </a:solidFill>
              </a:rPr>
              <a:t>: "ens224"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 err="1">
                <a:solidFill>
                  <a:srgbClr val="00B0F0"/>
                </a:solidFill>
              </a:rPr>
              <a:t>neutron_external_interface</a:t>
            </a:r>
            <a:r>
              <a:rPr lang="en-US" sz="1400" dirty="0">
                <a:solidFill>
                  <a:srgbClr val="00B0F0"/>
                </a:solidFill>
              </a:rPr>
              <a:t>: "ens192"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 err="1">
                <a:solidFill>
                  <a:srgbClr val="00B0F0"/>
                </a:solidFill>
              </a:rPr>
              <a:t>neutron_plugin_agent</a:t>
            </a:r>
            <a:r>
              <a:rPr lang="en-US" sz="1400" dirty="0">
                <a:solidFill>
                  <a:srgbClr val="00B0F0"/>
                </a:solidFill>
              </a:rPr>
              <a:t>: "</a:t>
            </a:r>
            <a:r>
              <a:rPr lang="en-US" sz="1400" dirty="0" err="1">
                <a:solidFill>
                  <a:srgbClr val="00B0F0"/>
                </a:solidFill>
              </a:rPr>
              <a:t>openvswitch</a:t>
            </a:r>
            <a:r>
              <a:rPr lang="en-US" sz="1400" dirty="0">
                <a:solidFill>
                  <a:srgbClr val="00B0F0"/>
                </a:solidFill>
              </a:rPr>
              <a:t>"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 err="1">
                <a:solidFill>
                  <a:srgbClr val="00B0F0"/>
                </a:solidFill>
              </a:rPr>
              <a:t>enable_neutron_provider_networks</a:t>
            </a:r>
            <a:r>
              <a:rPr lang="en-US" sz="1400" dirty="0">
                <a:solidFill>
                  <a:srgbClr val="00B0F0"/>
                </a:solidFill>
              </a:rPr>
              <a:t>: "yes"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 err="1">
                <a:solidFill>
                  <a:srgbClr val="00B0F0"/>
                </a:solidFill>
              </a:rPr>
              <a:t>nova_compute_virt_type</a:t>
            </a:r>
            <a:r>
              <a:rPr lang="en-US" sz="1400" dirty="0">
                <a:solidFill>
                  <a:srgbClr val="00B0F0"/>
                </a:solidFill>
              </a:rPr>
              <a:t>: "</a:t>
            </a:r>
            <a:r>
              <a:rPr lang="en-US" sz="1400" dirty="0" err="1">
                <a:solidFill>
                  <a:srgbClr val="00B0F0"/>
                </a:solidFill>
              </a:rPr>
              <a:t>kvm</a:t>
            </a:r>
            <a:r>
              <a:rPr lang="en-US" sz="1400" dirty="0">
                <a:solidFill>
                  <a:srgbClr val="00B0F0"/>
                </a:solidFill>
              </a:rPr>
              <a:t>"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3963" y="964029"/>
            <a:ext cx="4045528" cy="47684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93963" y="3968547"/>
            <a:ext cx="4156364" cy="241081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4569402" y="2143723"/>
            <a:ext cx="4099214" cy="215082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4597977" y="2831705"/>
            <a:ext cx="4099214" cy="2209402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93963" y="1750092"/>
            <a:ext cx="4045528" cy="1103943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4350327" y="4856441"/>
            <a:ext cx="372262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rgbClr val="0070C0"/>
                </a:solidFill>
              </a:rPr>
              <a:t>Simpan</a:t>
            </a:r>
            <a:r>
              <a:rPr lang="en-US" sz="1400" dirty="0">
                <a:solidFill>
                  <a:srgbClr val="FFC000"/>
                </a:solidFill>
              </a:rPr>
              <a:t> </a:t>
            </a:r>
            <a:r>
              <a:rPr lang="en-US" sz="1400" dirty="0" err="1">
                <a:solidFill>
                  <a:srgbClr val="FFC000"/>
                </a:solidFill>
              </a:rPr>
              <a:t>konfigurasi</a:t>
            </a:r>
            <a:r>
              <a:rPr lang="en-US" sz="1400" dirty="0">
                <a:solidFill>
                  <a:srgbClr val="FFC000"/>
                </a:solidFill>
              </a:rPr>
              <a:t> </a:t>
            </a:r>
            <a:r>
              <a:rPr lang="en-US" sz="1400" dirty="0" err="1">
                <a:solidFill>
                  <a:srgbClr val="FFC000"/>
                </a:solidFill>
              </a:rPr>
              <a:t>dan</a:t>
            </a:r>
            <a:r>
              <a:rPr lang="en-US" sz="1400" dirty="0">
                <a:solidFill>
                  <a:srgbClr val="FFC000"/>
                </a:solidFill>
              </a:rPr>
              <a:t> </a:t>
            </a:r>
            <a:r>
              <a:rPr lang="en-US" sz="1400" dirty="0" err="1">
                <a:solidFill>
                  <a:srgbClr val="FFC000"/>
                </a:solidFill>
              </a:rPr>
              <a:t>lanjut</a:t>
            </a:r>
            <a:r>
              <a:rPr lang="en-US" sz="1400" dirty="0">
                <a:solidFill>
                  <a:srgbClr val="FFC000"/>
                </a:solidFill>
              </a:rPr>
              <a:t> </a:t>
            </a:r>
            <a:r>
              <a:rPr lang="en-US" sz="1400" dirty="0" err="1">
                <a:solidFill>
                  <a:srgbClr val="FFC000"/>
                </a:solidFill>
              </a:rPr>
              <a:t>ke</a:t>
            </a:r>
            <a:r>
              <a:rPr lang="en-US" sz="1400" dirty="0">
                <a:solidFill>
                  <a:srgbClr val="FFC000"/>
                </a:solidFill>
              </a:rPr>
              <a:t> deployment !</a:t>
            </a:r>
          </a:p>
        </p:txBody>
      </p:sp>
    </p:spTree>
    <p:extLst>
      <p:ext uri="{BB962C8B-B14F-4D97-AF65-F5344CB8AC3E}">
        <p14:creationId xmlns:p14="http://schemas.microsoft.com/office/powerpoint/2010/main" val="17895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9</a:t>
            </a:fld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3200400" y="65812"/>
            <a:ext cx="5943600" cy="280338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Lab: </a:t>
            </a:r>
            <a:r>
              <a:rPr lang="en-US" sz="2400" b="1" dirty="0" err="1" smtClean="0"/>
              <a:t>Kolla</a:t>
            </a:r>
            <a:r>
              <a:rPr lang="en-US" sz="2400" b="1" dirty="0" smtClean="0"/>
              <a:t> </a:t>
            </a:r>
            <a:r>
              <a:rPr lang="en-US" sz="2400" b="1" dirty="0" err="1"/>
              <a:t>Ansible</a:t>
            </a:r>
            <a:r>
              <a:rPr lang="en-US" sz="2400" b="1" dirty="0"/>
              <a:t> All in One </a:t>
            </a:r>
            <a:r>
              <a:rPr lang="en-US" sz="2400" b="1" dirty="0" err="1" smtClean="0"/>
              <a:t>Openstack</a:t>
            </a:r>
            <a:r>
              <a:rPr lang="en-US" sz="2400" b="1" dirty="0" smtClean="0"/>
              <a:t> 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Cons’t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4354" y="346150"/>
            <a:ext cx="4156364" cy="56938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00" b="1" dirty="0" smtClean="0">
              <a:solidFill>
                <a:srgbClr val="002060"/>
              </a:solidFill>
              <a:latin typeface="Arial" panose="020B0604020202020204" pitchFamily="34" charset="0"/>
            </a:endParaRPr>
          </a:p>
          <a:p>
            <a:r>
              <a:rPr lang="en-US" b="1" dirty="0">
                <a:solidFill>
                  <a:srgbClr val="002060"/>
                </a:solidFill>
              </a:rPr>
              <a:t>Deployment</a:t>
            </a:r>
          </a:p>
          <a:p>
            <a:pPr algn="just"/>
            <a:r>
              <a:rPr lang="en-US" sz="1400" dirty="0" err="1"/>
              <a:t>Kolla</a:t>
            </a:r>
            <a:r>
              <a:rPr lang="en-US" sz="1400" dirty="0"/>
              <a:t> </a:t>
            </a:r>
            <a:r>
              <a:rPr lang="en-US" sz="1400" dirty="0" err="1"/>
              <a:t>Ansible</a:t>
            </a:r>
            <a:r>
              <a:rPr lang="en-US" sz="1400" dirty="0"/>
              <a:t> </a:t>
            </a:r>
            <a:r>
              <a:rPr lang="en-US" sz="1400" dirty="0" err="1"/>
              <a:t>sudah</a:t>
            </a:r>
            <a:r>
              <a:rPr lang="en-US" sz="1400" dirty="0"/>
              <a:t> </a:t>
            </a:r>
            <a:r>
              <a:rPr lang="en-US" sz="1400" dirty="0" err="1"/>
              <a:t>menyediakan</a:t>
            </a:r>
            <a:r>
              <a:rPr lang="en-US" sz="1400" dirty="0"/>
              <a:t> playbook list yang </a:t>
            </a:r>
            <a:r>
              <a:rPr lang="en-US" sz="1400" dirty="0" err="1"/>
              <a:t>akan</a:t>
            </a:r>
            <a:r>
              <a:rPr lang="en-US" sz="1400" dirty="0"/>
              <a:t> </a:t>
            </a:r>
            <a:r>
              <a:rPr lang="en-US" sz="1400" dirty="0" err="1"/>
              <a:t>menginstal</a:t>
            </a:r>
            <a:r>
              <a:rPr lang="en-US" sz="1400" dirty="0"/>
              <a:t> </a:t>
            </a:r>
            <a:r>
              <a:rPr lang="en-US" sz="1400" dirty="0" err="1"/>
              <a:t>semua</a:t>
            </a:r>
            <a:r>
              <a:rPr lang="en-US" sz="1400" dirty="0"/>
              <a:t> service yang </a:t>
            </a:r>
            <a:r>
              <a:rPr lang="en-US" sz="1400" dirty="0" err="1"/>
              <a:t>sudah</a:t>
            </a:r>
            <a:r>
              <a:rPr lang="en-US" sz="1400" dirty="0"/>
              <a:t> di set </a:t>
            </a:r>
            <a:r>
              <a:rPr lang="en-US" sz="1400" dirty="0" err="1"/>
              <a:t>pada</a:t>
            </a:r>
            <a:r>
              <a:rPr lang="en-US" sz="1400" dirty="0"/>
              <a:t> </a:t>
            </a:r>
            <a:r>
              <a:rPr lang="en-US" sz="1400" dirty="0" err="1"/>
              <a:t>konfigurasi</a:t>
            </a:r>
            <a:r>
              <a:rPr lang="en-US" sz="1400" dirty="0"/>
              <a:t> </a:t>
            </a:r>
            <a:r>
              <a:rPr lang="en-US" sz="1400" dirty="0" err="1"/>
              <a:t>sebelumnya</a:t>
            </a:r>
            <a:r>
              <a:rPr lang="en-US" sz="1400" dirty="0"/>
              <a:t>.</a:t>
            </a:r>
          </a:p>
          <a:p>
            <a:pPr algn="just"/>
            <a:endParaRPr lang="en-US" sz="1400" dirty="0"/>
          </a:p>
          <a:p>
            <a:pPr algn="just"/>
            <a:r>
              <a:rPr lang="en-US" sz="1400" dirty="0" err="1"/>
              <a:t>Pastikan</a:t>
            </a:r>
            <a:r>
              <a:rPr lang="en-US" sz="1400" dirty="0"/>
              <a:t> virtual environment </a:t>
            </a:r>
            <a:r>
              <a:rPr lang="en-US" sz="1400" dirty="0" err="1"/>
              <a:t>sudah</a:t>
            </a:r>
            <a:r>
              <a:rPr lang="en-US" sz="1400" dirty="0"/>
              <a:t> </a:t>
            </a:r>
            <a:r>
              <a:rPr lang="en-US" sz="1400" dirty="0" err="1"/>
              <a:t>aktif</a:t>
            </a:r>
            <a:r>
              <a:rPr lang="en-US" sz="1400" dirty="0"/>
              <a:t> </a:t>
            </a:r>
            <a:r>
              <a:rPr lang="en-US" sz="1400" dirty="0" err="1"/>
              <a:t>sebelum</a:t>
            </a:r>
            <a:r>
              <a:rPr lang="en-US" sz="1400" dirty="0"/>
              <a:t> </a:t>
            </a:r>
            <a:r>
              <a:rPr lang="en-US" sz="1400" dirty="0" err="1"/>
              <a:t>menjalankan</a:t>
            </a:r>
            <a:r>
              <a:rPr lang="en-US" sz="1400" dirty="0"/>
              <a:t> command </a:t>
            </a:r>
            <a:r>
              <a:rPr lang="en-US" sz="1400" dirty="0" err="1"/>
              <a:t>ini</a:t>
            </a:r>
            <a:r>
              <a:rPr lang="en-US" sz="1400" dirty="0" smtClean="0"/>
              <a:t>:</a:t>
            </a:r>
          </a:p>
          <a:p>
            <a:pPr algn="just"/>
            <a:endParaRPr lang="en-US" sz="1400" b="1" dirty="0" smtClean="0"/>
          </a:p>
          <a:p>
            <a:pPr algn="just"/>
            <a:r>
              <a:rPr lang="en-US" sz="1400" b="1" dirty="0" smtClean="0"/>
              <a:t>@ </a:t>
            </a:r>
            <a:r>
              <a:rPr lang="en-US" sz="1400" b="1" dirty="0" err="1" smtClean="0"/>
              <a:t>Lakukan</a:t>
            </a:r>
            <a:r>
              <a:rPr lang="en-US" sz="1400" b="1" dirty="0" smtClean="0"/>
              <a:t> </a:t>
            </a:r>
            <a:r>
              <a:rPr lang="en-US" sz="1400" b="1" dirty="0" err="1"/>
              <a:t>bootstraping</a:t>
            </a:r>
            <a:r>
              <a:rPr lang="en-US" sz="1400" b="1" dirty="0"/>
              <a:t> </a:t>
            </a:r>
            <a:r>
              <a:rPr lang="en-US" sz="1400" b="1" dirty="0" err="1"/>
              <a:t>pada</a:t>
            </a:r>
            <a:r>
              <a:rPr lang="en-US" sz="1400" b="1" dirty="0"/>
              <a:t> host </a:t>
            </a:r>
            <a:r>
              <a:rPr lang="en-US" sz="1400" b="1" dirty="0" err="1"/>
              <a:t>menggunakan</a:t>
            </a:r>
            <a:r>
              <a:rPr lang="en-US" sz="1400" b="1" dirty="0"/>
              <a:t> </a:t>
            </a:r>
            <a:r>
              <a:rPr lang="en-US" sz="1400" b="1" dirty="0" err="1"/>
              <a:t>dependensi</a:t>
            </a:r>
            <a:r>
              <a:rPr lang="en-US" sz="1400" b="1" dirty="0"/>
              <a:t> </a:t>
            </a:r>
            <a:r>
              <a:rPr lang="en-US" sz="1400" b="1" dirty="0" err="1"/>
              <a:t>kolla</a:t>
            </a:r>
            <a:r>
              <a:rPr lang="en-US" sz="1400" b="1" dirty="0"/>
              <a:t> </a:t>
            </a:r>
            <a:r>
              <a:rPr lang="en-US" sz="1400" b="1" dirty="0" err="1"/>
              <a:t>ansible</a:t>
            </a:r>
            <a:r>
              <a:rPr lang="en-US" sz="1400" b="1" dirty="0" smtClean="0"/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b="1" dirty="0" smtClean="0">
                <a:solidFill>
                  <a:srgbClr val="002060"/>
                </a:solidFill>
              </a:rPr>
              <a:t># </a:t>
            </a:r>
            <a:r>
              <a:rPr lang="en-US" altLang="en-US" sz="14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kolla-ansible</a:t>
            </a:r>
            <a:r>
              <a:rPr lang="en-US" altLang="en-US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</a:t>
            </a:r>
            <a:r>
              <a:rPr lang="en-US" altLang="en-US" sz="14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en-US" sz="14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all-in-one bootstrap-servers</a:t>
            </a:r>
            <a:r>
              <a:rPr lang="en-US" altLang="en-US" sz="800" dirty="0">
                <a:solidFill>
                  <a:srgbClr val="0070C0"/>
                </a:solidFill>
              </a:rPr>
              <a:t> </a:t>
            </a:r>
            <a:endParaRPr lang="en-US" altLang="en-US" sz="3200" dirty="0">
              <a:solidFill>
                <a:srgbClr val="0070C0"/>
              </a:solidFill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400" b="1" dirty="0" smtClean="0">
              <a:solidFill>
                <a:srgbClr val="002060"/>
              </a:solidFill>
            </a:endParaRPr>
          </a:p>
          <a:p>
            <a:r>
              <a:rPr lang="en-US" sz="1400" b="1" dirty="0">
                <a:solidFill>
                  <a:srgbClr val="002060"/>
                </a:solidFill>
              </a:rPr>
              <a:t>@ </a:t>
            </a:r>
            <a:r>
              <a:rPr lang="en-US" sz="1400" b="1" dirty="0" err="1">
                <a:solidFill>
                  <a:srgbClr val="002060"/>
                </a:solidFill>
              </a:rPr>
              <a:t>Lakukan</a:t>
            </a:r>
            <a:r>
              <a:rPr lang="en-US" sz="1400" b="1" dirty="0">
                <a:solidFill>
                  <a:srgbClr val="002060"/>
                </a:solidFill>
              </a:rPr>
              <a:t> pre-checks </a:t>
            </a:r>
            <a:r>
              <a:rPr lang="en-US" sz="1400" b="1" dirty="0" err="1">
                <a:solidFill>
                  <a:srgbClr val="002060"/>
                </a:solidFill>
              </a:rPr>
              <a:t>konfigurasi</a:t>
            </a:r>
            <a:endParaRPr lang="en-US" sz="1400" b="1" dirty="0">
              <a:solidFill>
                <a:srgbClr val="002060"/>
              </a:solidFill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b="1" dirty="0" smtClean="0">
                <a:solidFill>
                  <a:srgbClr val="002060"/>
                </a:solidFill>
              </a:rPr>
              <a:t># </a:t>
            </a:r>
            <a:r>
              <a:rPr lang="en-US" sz="1400" dirty="0" err="1">
                <a:solidFill>
                  <a:srgbClr val="0070C0"/>
                </a:solidFill>
              </a:rPr>
              <a:t>kolla-ansible</a:t>
            </a:r>
            <a:r>
              <a:rPr lang="en-US" sz="1400" dirty="0">
                <a:solidFill>
                  <a:srgbClr val="0070C0"/>
                </a:solidFill>
              </a:rPr>
              <a:t> -</a:t>
            </a:r>
            <a:r>
              <a:rPr lang="en-US" sz="1400" dirty="0" err="1">
                <a:solidFill>
                  <a:srgbClr val="0070C0"/>
                </a:solidFill>
              </a:rPr>
              <a:t>i</a:t>
            </a:r>
            <a:r>
              <a:rPr lang="en-US" sz="1400" dirty="0">
                <a:solidFill>
                  <a:srgbClr val="0070C0"/>
                </a:solidFill>
              </a:rPr>
              <a:t> all-in-one </a:t>
            </a:r>
            <a:r>
              <a:rPr lang="en-US" sz="1400" dirty="0" err="1" smtClean="0">
                <a:solidFill>
                  <a:srgbClr val="0070C0"/>
                </a:solidFill>
              </a:rPr>
              <a:t>prechecks</a:t>
            </a:r>
            <a:endParaRPr lang="en-US" sz="1400" dirty="0" smtClean="0">
              <a:solidFill>
                <a:srgbClr val="0070C0"/>
              </a:solidFill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400" dirty="0">
              <a:solidFill>
                <a:srgbClr val="0070C0"/>
              </a:solidFill>
            </a:endParaRPr>
          </a:p>
          <a:p>
            <a:r>
              <a:rPr lang="en-US" sz="1400" b="1" dirty="0">
                <a:solidFill>
                  <a:srgbClr val="002060"/>
                </a:solidFill>
              </a:rPr>
              <a:t>@ </a:t>
            </a:r>
            <a:r>
              <a:rPr lang="en-US" dirty="0" err="1"/>
              <a:t>Jika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hasil</a:t>
            </a:r>
            <a:r>
              <a:rPr lang="en-US" dirty="0"/>
              <a:t> check </a:t>
            </a:r>
            <a:r>
              <a:rPr lang="en-US" dirty="0" err="1"/>
              <a:t>sudah</a:t>
            </a:r>
            <a:r>
              <a:rPr lang="en-US" dirty="0"/>
              <a:t>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error, </a:t>
            </a:r>
            <a:r>
              <a:rPr lang="en-US" dirty="0" err="1"/>
              <a:t>selanjutnya</a:t>
            </a:r>
            <a:r>
              <a:rPr lang="en-US" dirty="0"/>
              <a:t> deploy server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b="1" dirty="0" smtClean="0">
                <a:solidFill>
                  <a:srgbClr val="002060"/>
                </a:solidFill>
              </a:rPr>
              <a:t># </a:t>
            </a:r>
            <a:r>
              <a:rPr lang="en-US" sz="1400" dirty="0" err="1">
                <a:solidFill>
                  <a:srgbClr val="0070C0"/>
                </a:solidFill>
              </a:rPr>
              <a:t>kolla-ansible</a:t>
            </a:r>
            <a:r>
              <a:rPr lang="en-US" sz="1400" dirty="0">
                <a:solidFill>
                  <a:srgbClr val="0070C0"/>
                </a:solidFill>
              </a:rPr>
              <a:t> -</a:t>
            </a:r>
            <a:r>
              <a:rPr lang="en-US" sz="1400" dirty="0" err="1">
                <a:solidFill>
                  <a:srgbClr val="0070C0"/>
                </a:solidFill>
              </a:rPr>
              <a:t>i</a:t>
            </a:r>
            <a:r>
              <a:rPr lang="en-US" sz="1400" dirty="0">
                <a:solidFill>
                  <a:srgbClr val="0070C0"/>
                </a:solidFill>
              </a:rPr>
              <a:t> all-in-one deploy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400" dirty="0">
              <a:solidFill>
                <a:srgbClr val="0070C0"/>
              </a:solidFill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400" dirty="0">
              <a:solidFill>
                <a:srgbClr val="0070C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3200" dirty="0">
              <a:solidFill>
                <a:srgbClr val="00B0F0"/>
              </a:solidFill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solidFill>
                <a:srgbClr val="002060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32929" y="2728144"/>
            <a:ext cx="4099214" cy="430692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232929" y="3444401"/>
            <a:ext cx="4099214" cy="430692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232929" y="4526862"/>
            <a:ext cx="4099214" cy="430692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4674177" y="401355"/>
            <a:ext cx="4156364" cy="43088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00" b="1" dirty="0" smtClean="0">
              <a:solidFill>
                <a:srgbClr val="002060"/>
              </a:solidFill>
              <a:latin typeface="Arial" panose="020B0604020202020204" pitchFamily="34" charset="0"/>
            </a:endParaRPr>
          </a:p>
          <a:p>
            <a:pPr algn="just"/>
            <a:r>
              <a:rPr lang="en-US" sz="1400" dirty="0"/>
              <a:t>P</a:t>
            </a:r>
            <a:r>
              <a:rPr lang="en-US" sz="1400" dirty="0" smtClean="0"/>
              <a:t>roses </a:t>
            </a:r>
            <a:r>
              <a:rPr lang="en-US" sz="1400" dirty="0"/>
              <a:t>deployment </a:t>
            </a:r>
            <a:r>
              <a:rPr lang="en-US" sz="1400" dirty="0" err="1"/>
              <a:t>akan</a:t>
            </a:r>
            <a:r>
              <a:rPr lang="en-US" sz="1400" dirty="0"/>
              <a:t> </a:t>
            </a:r>
            <a:r>
              <a:rPr lang="en-US" sz="1400" dirty="0" err="1"/>
              <a:t>membutuhkan</a:t>
            </a:r>
            <a:r>
              <a:rPr lang="en-US" sz="1400" dirty="0"/>
              <a:t> </a:t>
            </a:r>
            <a:r>
              <a:rPr lang="en-US" sz="1400" dirty="0" err="1"/>
              <a:t>waktu</a:t>
            </a:r>
            <a:r>
              <a:rPr lang="en-US" sz="1400" dirty="0"/>
              <a:t> yang </a:t>
            </a:r>
            <a:r>
              <a:rPr lang="en-US" sz="1400" dirty="0" err="1"/>
              <a:t>agak</a:t>
            </a:r>
            <a:r>
              <a:rPr lang="en-US" sz="1400" dirty="0"/>
              <a:t> lama, </a:t>
            </a:r>
            <a:r>
              <a:rPr lang="en-US" sz="1400" dirty="0" err="1"/>
              <a:t>pastikan</a:t>
            </a:r>
            <a:r>
              <a:rPr lang="en-US" sz="1400" dirty="0"/>
              <a:t> </a:t>
            </a:r>
            <a:r>
              <a:rPr lang="en-US" sz="1400" dirty="0" err="1"/>
              <a:t>saja</a:t>
            </a:r>
            <a:r>
              <a:rPr lang="en-US" sz="1400" dirty="0"/>
              <a:t> kalian </a:t>
            </a:r>
            <a:r>
              <a:rPr lang="en-US" sz="1400" dirty="0" err="1"/>
              <a:t>sudah</a:t>
            </a:r>
            <a:r>
              <a:rPr lang="en-US" sz="1400" dirty="0"/>
              <a:t> </a:t>
            </a:r>
            <a:r>
              <a:rPr lang="en-US" sz="1400" dirty="0" err="1"/>
              <a:t>menjalankan</a:t>
            </a:r>
            <a:r>
              <a:rPr lang="en-US" sz="1400" dirty="0"/>
              <a:t> </a:t>
            </a:r>
            <a:r>
              <a:rPr lang="en-US" sz="1400" b="1" dirty="0"/>
              <a:t>screen</a:t>
            </a:r>
            <a:r>
              <a:rPr lang="en-US" sz="1400" dirty="0"/>
              <a:t> </a:t>
            </a:r>
            <a:r>
              <a:rPr lang="en-US" sz="1400" dirty="0" err="1"/>
              <a:t>bila</a:t>
            </a:r>
            <a:r>
              <a:rPr lang="en-US" sz="1400" dirty="0"/>
              <a:t> </a:t>
            </a:r>
            <a:r>
              <a:rPr lang="en-US" sz="1400" dirty="0" err="1"/>
              <a:t>menggunakan</a:t>
            </a:r>
            <a:r>
              <a:rPr lang="en-US" sz="1400" dirty="0"/>
              <a:t> remote SSH</a:t>
            </a:r>
            <a:r>
              <a:rPr lang="en-US" sz="1400" dirty="0" smtClean="0"/>
              <a:t>.</a:t>
            </a:r>
          </a:p>
          <a:p>
            <a:pPr algn="just"/>
            <a:endParaRPr lang="en-US" sz="1400" dirty="0"/>
          </a:p>
          <a:p>
            <a:pPr algn="just"/>
            <a:r>
              <a:rPr lang="en-US" sz="1400" dirty="0" err="1"/>
              <a:t>Jika</a:t>
            </a:r>
            <a:r>
              <a:rPr lang="en-US" sz="1400" dirty="0"/>
              <a:t> deployment </a:t>
            </a:r>
            <a:r>
              <a:rPr lang="en-US" sz="1400" dirty="0" err="1"/>
              <a:t>berhasil</a:t>
            </a:r>
            <a:r>
              <a:rPr lang="en-US" sz="1400" dirty="0"/>
              <a:t> output </a:t>
            </a:r>
            <a:r>
              <a:rPr lang="en-US" sz="1400" dirty="0" err="1"/>
              <a:t>akhirnya</a:t>
            </a:r>
            <a:r>
              <a:rPr lang="en-US" sz="1400" dirty="0"/>
              <a:t> </a:t>
            </a:r>
            <a:r>
              <a:rPr lang="en-US" sz="1400" dirty="0" err="1"/>
              <a:t>kurang</a:t>
            </a:r>
            <a:r>
              <a:rPr lang="en-US" sz="1400" dirty="0"/>
              <a:t> </a:t>
            </a:r>
            <a:r>
              <a:rPr lang="en-US" sz="1400" dirty="0" err="1"/>
              <a:t>lebih</a:t>
            </a:r>
            <a:r>
              <a:rPr lang="en-US" sz="1400" dirty="0"/>
              <a:t> </a:t>
            </a:r>
            <a:r>
              <a:rPr lang="en-US" sz="1400" dirty="0" err="1"/>
              <a:t>seperti</a:t>
            </a:r>
            <a:r>
              <a:rPr lang="en-US" sz="1400" dirty="0"/>
              <a:t> </a:t>
            </a:r>
            <a:r>
              <a:rPr lang="en-US" sz="1400" dirty="0" err="1"/>
              <a:t>berikut</a:t>
            </a:r>
            <a:r>
              <a:rPr lang="en-US" sz="1400" dirty="0"/>
              <a:t>:</a:t>
            </a:r>
          </a:p>
          <a:p>
            <a:pPr algn="just"/>
            <a:endParaRPr lang="en-US" sz="1400" b="1" dirty="0" smtClean="0"/>
          </a:p>
          <a:p>
            <a:pPr algn="just"/>
            <a:r>
              <a:rPr lang="en-US" sz="1400" b="1" dirty="0" smtClean="0"/>
              <a:t>@ </a:t>
            </a:r>
            <a:r>
              <a:rPr lang="en-US" sz="1400" b="1" dirty="0" err="1" smtClean="0"/>
              <a:t>Lakukan</a:t>
            </a:r>
            <a:r>
              <a:rPr lang="en-US" sz="1400" b="1" dirty="0" smtClean="0"/>
              <a:t> </a:t>
            </a:r>
            <a:r>
              <a:rPr lang="en-US" sz="1400" b="1" dirty="0" err="1"/>
              <a:t>bootstraping</a:t>
            </a:r>
            <a:r>
              <a:rPr lang="en-US" sz="1400" b="1" dirty="0"/>
              <a:t> </a:t>
            </a:r>
            <a:r>
              <a:rPr lang="en-US" sz="1400" b="1" dirty="0" err="1"/>
              <a:t>pada</a:t>
            </a:r>
            <a:r>
              <a:rPr lang="en-US" sz="1400" b="1" dirty="0"/>
              <a:t> host </a:t>
            </a:r>
            <a:r>
              <a:rPr lang="en-US" sz="1400" b="1" dirty="0" err="1"/>
              <a:t>menggunakan</a:t>
            </a:r>
            <a:r>
              <a:rPr lang="en-US" sz="1400" b="1" dirty="0"/>
              <a:t> </a:t>
            </a:r>
            <a:r>
              <a:rPr lang="en-US" sz="1400" b="1" dirty="0" err="1"/>
              <a:t>dependensi</a:t>
            </a:r>
            <a:r>
              <a:rPr lang="en-US" sz="1400" b="1" dirty="0"/>
              <a:t> </a:t>
            </a:r>
            <a:r>
              <a:rPr lang="en-US" sz="1400" b="1" dirty="0" err="1"/>
              <a:t>kolla</a:t>
            </a:r>
            <a:r>
              <a:rPr lang="en-US" sz="1400" b="1" dirty="0"/>
              <a:t> </a:t>
            </a:r>
            <a:r>
              <a:rPr lang="en-US" sz="1400" b="1" dirty="0" err="1"/>
              <a:t>ansible</a:t>
            </a:r>
            <a:r>
              <a:rPr lang="en-US" sz="1400" b="1" dirty="0" smtClean="0"/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rgbClr val="00B0F0"/>
                </a:solidFill>
              </a:rPr>
              <a:t>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rgbClr val="00B0F0"/>
                </a:solidFill>
              </a:rPr>
              <a:t>PLAY RECAP *****************************************************************************************************************************************************************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rgbClr val="00B0F0"/>
                </a:solidFill>
              </a:rPr>
              <a:t>localhost                  : ok=366  changed=72   unreachable=0    **failed=0**    skipped=245  rescued=0    </a:t>
            </a:r>
            <a:r>
              <a:rPr lang="en-US" sz="1400" b="1" dirty="0" smtClean="0">
                <a:solidFill>
                  <a:srgbClr val="00B0F0"/>
                </a:solidFill>
              </a:rPr>
              <a:t>ignored=0</a:t>
            </a:r>
            <a:endParaRPr lang="en-US" altLang="en-US" sz="3200" dirty="0">
              <a:solidFill>
                <a:srgbClr val="00B0F0"/>
              </a:solidFill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solidFill>
                <a:srgbClr val="002060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645602" y="2555791"/>
            <a:ext cx="4099214" cy="2211472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271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10</a:t>
            </a:fld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3200400" y="65812"/>
            <a:ext cx="5943600" cy="280338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Lab: </a:t>
            </a:r>
            <a:r>
              <a:rPr lang="en-US" sz="2400" b="1" dirty="0" err="1" smtClean="0"/>
              <a:t>Kolla</a:t>
            </a:r>
            <a:r>
              <a:rPr lang="en-US" sz="2400" b="1" dirty="0" smtClean="0"/>
              <a:t> </a:t>
            </a:r>
            <a:r>
              <a:rPr lang="en-US" sz="2400" b="1" dirty="0" err="1"/>
              <a:t>Ansible</a:t>
            </a:r>
            <a:r>
              <a:rPr lang="en-US" sz="2400" b="1" dirty="0"/>
              <a:t> All in One </a:t>
            </a:r>
            <a:r>
              <a:rPr lang="en-US" sz="2400" b="1" dirty="0" err="1" smtClean="0"/>
              <a:t>Openstack</a:t>
            </a:r>
            <a:r>
              <a:rPr lang="en-US" sz="2400" b="1" dirty="0" smtClean="0"/>
              <a:t> 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Cons’t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35082" y="427613"/>
            <a:ext cx="4156364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b="1" dirty="0" smtClean="0">
              <a:solidFill>
                <a:srgbClr val="002060"/>
              </a:solidFill>
              <a:latin typeface="Arial" panose="020B0604020202020204" pitchFamily="34" charset="0"/>
            </a:endParaRPr>
          </a:p>
          <a:p>
            <a:r>
              <a:rPr lang="en-US" sz="2000" b="1" dirty="0">
                <a:solidFill>
                  <a:srgbClr val="002060"/>
                </a:solidFill>
              </a:rPr>
              <a:t>List Running </a:t>
            </a:r>
            <a:r>
              <a:rPr lang="en-US" sz="1600" b="1" dirty="0">
                <a:solidFill>
                  <a:srgbClr val="002060"/>
                </a:solidFill>
              </a:rPr>
              <a:t>OpenStack Docker Containers</a:t>
            </a:r>
          </a:p>
          <a:p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mengecek</a:t>
            </a:r>
            <a:r>
              <a:rPr lang="en-US" sz="1400" dirty="0"/>
              <a:t> service </a:t>
            </a:r>
            <a:r>
              <a:rPr lang="en-US" sz="1400" dirty="0" err="1"/>
              <a:t>docker</a:t>
            </a:r>
            <a:r>
              <a:rPr lang="en-US" sz="1400" dirty="0"/>
              <a:t> yang </a:t>
            </a:r>
            <a:r>
              <a:rPr lang="en-US" sz="1400" dirty="0" err="1"/>
              <a:t>berjalan</a:t>
            </a:r>
            <a:r>
              <a:rPr lang="en-US" sz="1400" dirty="0"/>
              <a:t> </a:t>
            </a:r>
            <a:r>
              <a:rPr lang="en-US" sz="1400" dirty="0" err="1"/>
              <a:t>silakan</a:t>
            </a:r>
            <a:r>
              <a:rPr lang="en-US" sz="1400" dirty="0"/>
              <a:t> </a:t>
            </a:r>
            <a:r>
              <a:rPr lang="en-US" sz="1400" dirty="0" err="1"/>
              <a:t>menggunakan</a:t>
            </a:r>
            <a:r>
              <a:rPr lang="en-US" sz="1400" dirty="0"/>
              <a:t> command </a:t>
            </a:r>
            <a:r>
              <a:rPr lang="en-US" sz="1400" dirty="0" err="1"/>
              <a:t>ini</a:t>
            </a:r>
            <a:r>
              <a:rPr lang="en-US" sz="1400" dirty="0"/>
              <a:t>: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b="1" dirty="0" smtClean="0">
                <a:solidFill>
                  <a:srgbClr val="002060"/>
                </a:solidFill>
              </a:rPr>
              <a:t># </a:t>
            </a:r>
            <a:r>
              <a:rPr lang="en-US" altLang="en-US" sz="1400" dirty="0" err="1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docker</a:t>
            </a:r>
            <a:r>
              <a:rPr lang="en-US" altLang="en-US" sz="1400" dirty="0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400" dirty="0" err="1" smtClean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ps</a:t>
            </a:r>
            <a:endParaRPr lang="en-US" altLang="en-US" sz="1400" dirty="0">
              <a:solidFill>
                <a:srgbClr val="0070C0"/>
              </a:solidFill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400" b="1" dirty="0" smtClean="0">
              <a:solidFill>
                <a:srgbClr val="002060"/>
              </a:solidFill>
            </a:endParaRPr>
          </a:p>
          <a:p>
            <a:r>
              <a:rPr lang="en-US" sz="1400" b="1" dirty="0">
                <a:solidFill>
                  <a:srgbClr val="002060"/>
                </a:solidFill>
              </a:rPr>
              <a:t>OpenStack Post Deployment</a:t>
            </a:r>
          </a:p>
          <a:p>
            <a:pPr algn="just"/>
            <a:r>
              <a:rPr lang="en-US" sz="1400" dirty="0" err="1"/>
              <a:t>Pastikan</a:t>
            </a:r>
            <a:r>
              <a:rPr lang="en-US" sz="1400" dirty="0"/>
              <a:t> virtual environment </a:t>
            </a:r>
            <a:r>
              <a:rPr lang="en-US" sz="1400" dirty="0" err="1"/>
              <a:t>sudah</a:t>
            </a:r>
            <a:r>
              <a:rPr lang="en-US" sz="1400" dirty="0"/>
              <a:t> </a:t>
            </a:r>
            <a:r>
              <a:rPr lang="en-US" sz="1400" dirty="0" err="1"/>
              <a:t>aktif</a:t>
            </a:r>
            <a:r>
              <a:rPr lang="en-US" sz="1400" dirty="0"/>
              <a:t> </a:t>
            </a:r>
            <a:r>
              <a:rPr lang="en-US" sz="1400" dirty="0" err="1"/>
              <a:t>sebelum</a:t>
            </a:r>
            <a:r>
              <a:rPr lang="en-US" sz="1400" dirty="0"/>
              <a:t> </a:t>
            </a:r>
            <a:r>
              <a:rPr lang="en-US" sz="1400" dirty="0" err="1"/>
              <a:t>menjalankan</a:t>
            </a:r>
            <a:r>
              <a:rPr lang="en-US" sz="1400" dirty="0"/>
              <a:t> command </a:t>
            </a:r>
            <a:r>
              <a:rPr lang="en-US" sz="1400" dirty="0" err="1"/>
              <a:t>ini</a:t>
            </a:r>
            <a:r>
              <a:rPr lang="en-US" sz="1400" dirty="0" smtClean="0"/>
              <a:t>:</a:t>
            </a:r>
          </a:p>
          <a:p>
            <a:pPr algn="just"/>
            <a:endParaRPr lang="en-US" sz="1400" dirty="0"/>
          </a:p>
          <a:p>
            <a:r>
              <a:rPr lang="en-US" sz="1400" b="1" dirty="0">
                <a:solidFill>
                  <a:srgbClr val="002060"/>
                </a:solidFill>
              </a:rPr>
              <a:t>Install </a:t>
            </a:r>
            <a:r>
              <a:rPr lang="en-US" sz="1400" b="1" dirty="0" err="1">
                <a:solidFill>
                  <a:srgbClr val="002060"/>
                </a:solidFill>
              </a:rPr>
              <a:t>Openstack</a:t>
            </a:r>
            <a:r>
              <a:rPr lang="en-US" sz="1400" b="1" dirty="0">
                <a:solidFill>
                  <a:srgbClr val="002060"/>
                </a:solidFill>
              </a:rPr>
              <a:t> Client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rgbClr val="002060"/>
                </a:solidFill>
              </a:rPr>
              <a:t># </a:t>
            </a:r>
            <a:r>
              <a:rPr lang="en-US" sz="1400" dirty="0" smtClean="0">
                <a:solidFill>
                  <a:srgbClr val="00B0F0"/>
                </a:solidFill>
              </a:rPr>
              <a:t>pip </a:t>
            </a:r>
            <a:r>
              <a:rPr lang="en-US" sz="1400" dirty="0">
                <a:solidFill>
                  <a:srgbClr val="00B0F0"/>
                </a:solidFill>
              </a:rPr>
              <a:t>install python-</a:t>
            </a:r>
            <a:r>
              <a:rPr lang="en-US" sz="1400" dirty="0" err="1">
                <a:solidFill>
                  <a:srgbClr val="00B0F0"/>
                </a:solidFill>
              </a:rPr>
              <a:t>openstackclient</a:t>
            </a:r>
            <a:r>
              <a:rPr lang="en-US" sz="1400" dirty="0">
                <a:solidFill>
                  <a:srgbClr val="00B0F0"/>
                </a:solidFill>
              </a:rPr>
              <a:t> python-</a:t>
            </a:r>
            <a:r>
              <a:rPr lang="en-US" sz="1400" dirty="0" err="1">
                <a:solidFill>
                  <a:srgbClr val="00B0F0"/>
                </a:solidFill>
              </a:rPr>
              <a:t>neutronclient</a:t>
            </a:r>
            <a:r>
              <a:rPr lang="en-US" sz="1400" dirty="0">
                <a:solidFill>
                  <a:srgbClr val="00B0F0"/>
                </a:solidFill>
              </a:rPr>
              <a:t> </a:t>
            </a:r>
            <a:r>
              <a:rPr lang="en-US" sz="1400" dirty="0" smtClean="0">
                <a:solidFill>
                  <a:srgbClr val="00B0F0"/>
                </a:solidFill>
              </a:rPr>
              <a:t>python-</a:t>
            </a:r>
            <a:r>
              <a:rPr lang="en-US" sz="1400" dirty="0" err="1" smtClean="0">
                <a:solidFill>
                  <a:srgbClr val="00B0F0"/>
                </a:solidFill>
              </a:rPr>
              <a:t>glanceclient</a:t>
            </a:r>
            <a:endParaRPr lang="en-US" sz="1400" dirty="0" smtClean="0">
              <a:solidFill>
                <a:srgbClr val="00B0F0"/>
              </a:solidFill>
            </a:endParaRPr>
          </a:p>
          <a:p>
            <a:pPr algn="just"/>
            <a:endParaRPr lang="en-US" sz="1400" dirty="0"/>
          </a:p>
          <a:p>
            <a:r>
              <a:rPr lang="en-US" sz="1400" b="1" dirty="0">
                <a:solidFill>
                  <a:srgbClr val="002060"/>
                </a:solidFill>
              </a:rPr>
              <a:t>Generate </a:t>
            </a:r>
            <a:r>
              <a:rPr lang="en-US" sz="1400" b="1" dirty="0" err="1" smtClean="0">
                <a:solidFill>
                  <a:srgbClr val="002060"/>
                </a:solidFill>
              </a:rPr>
              <a:t>AdminRC</a:t>
            </a:r>
            <a:endParaRPr lang="en-US" sz="1400" b="1" dirty="0" smtClean="0">
              <a:solidFill>
                <a:srgbClr val="002060"/>
              </a:solidFill>
            </a:endParaRPr>
          </a:p>
          <a:p>
            <a:r>
              <a:rPr lang="en-US" sz="1400" dirty="0" smtClean="0">
                <a:solidFill>
                  <a:srgbClr val="002060"/>
                </a:solidFill>
              </a:rPr>
              <a:t># </a:t>
            </a:r>
            <a:r>
              <a:rPr lang="en-US" sz="1400" dirty="0" err="1">
                <a:solidFill>
                  <a:srgbClr val="00B0F0"/>
                </a:solidFill>
              </a:rPr>
              <a:t>kolla-ansible</a:t>
            </a:r>
            <a:r>
              <a:rPr lang="en-US" sz="1400" dirty="0">
                <a:solidFill>
                  <a:srgbClr val="00B0F0"/>
                </a:solidFill>
              </a:rPr>
              <a:t> post-deploy</a:t>
            </a:r>
            <a:endParaRPr lang="en-US" sz="1400" dirty="0"/>
          </a:p>
          <a:p>
            <a:r>
              <a:rPr lang="en-US" sz="1400" b="1" dirty="0" err="1">
                <a:solidFill>
                  <a:srgbClr val="002060"/>
                </a:solidFill>
              </a:rPr>
              <a:t>Gunakan</a:t>
            </a:r>
            <a:r>
              <a:rPr lang="en-US" sz="1400" b="1" dirty="0">
                <a:solidFill>
                  <a:srgbClr val="002060"/>
                </a:solidFill>
              </a:rPr>
              <a:t> </a:t>
            </a:r>
            <a:r>
              <a:rPr lang="en-US" sz="1400" b="1" dirty="0" err="1" smtClean="0">
                <a:solidFill>
                  <a:srgbClr val="002060"/>
                </a:solidFill>
              </a:rPr>
              <a:t>AdminRC</a:t>
            </a:r>
            <a:endParaRPr lang="en-US" sz="1400" b="1" dirty="0" smtClean="0">
              <a:solidFill>
                <a:srgbClr val="002060"/>
              </a:solidFill>
            </a:endParaRPr>
          </a:p>
          <a:p>
            <a:r>
              <a:rPr lang="en-US" sz="1400" dirty="0" smtClean="0">
                <a:solidFill>
                  <a:srgbClr val="002060"/>
                </a:solidFill>
              </a:rPr>
              <a:t># </a:t>
            </a:r>
            <a:r>
              <a:rPr lang="en-US" sz="1400" dirty="0">
                <a:solidFill>
                  <a:srgbClr val="00B0F0"/>
                </a:solidFill>
              </a:rPr>
              <a:t>source /etc/kolla/admin-openrc.sh</a:t>
            </a:r>
          </a:p>
        </p:txBody>
      </p:sp>
      <p:sp>
        <p:nvSpPr>
          <p:cNvPr id="8" name="Rectangle 7"/>
          <p:cNvSpPr/>
          <p:nvPr/>
        </p:nvSpPr>
        <p:spPr>
          <a:xfrm>
            <a:off x="192232" y="1413403"/>
            <a:ext cx="4099214" cy="215082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92232" y="2910821"/>
            <a:ext cx="4099214" cy="533001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92232" y="3767349"/>
            <a:ext cx="4099214" cy="215082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92232" y="4261926"/>
            <a:ext cx="4099214" cy="215082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4762500" y="549678"/>
            <a:ext cx="4156364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b="1" dirty="0" smtClean="0">
              <a:solidFill>
                <a:srgbClr val="002060"/>
              </a:solidFill>
              <a:latin typeface="Arial" panose="020B0604020202020204" pitchFamily="34" charset="0"/>
            </a:endParaRPr>
          </a:p>
          <a:p>
            <a:r>
              <a:rPr lang="fi-FI" sz="2000" b="1" dirty="0">
                <a:solidFill>
                  <a:srgbClr val="002060"/>
                </a:solidFill>
              </a:rPr>
              <a:t>Jalankan script untuk inisiasi </a:t>
            </a:r>
            <a:r>
              <a:rPr lang="fi-FI" sz="2000" b="1" dirty="0" smtClean="0">
                <a:solidFill>
                  <a:srgbClr val="002060"/>
                </a:solidFill>
              </a:rPr>
              <a:t>awal</a:t>
            </a:r>
          </a:p>
          <a:p>
            <a:pPr algn="just"/>
            <a:endParaRPr lang="fi-FI" sz="1400" b="1" dirty="0">
              <a:solidFill>
                <a:srgbClr val="002060"/>
              </a:solidFill>
            </a:endParaRPr>
          </a:p>
          <a:p>
            <a:pPr algn="just"/>
            <a:r>
              <a:rPr lang="en-US" sz="1400" dirty="0" err="1"/>
              <a:t>Secara</a:t>
            </a:r>
            <a:r>
              <a:rPr lang="en-US" sz="1400" dirty="0"/>
              <a:t> default </a:t>
            </a:r>
            <a:r>
              <a:rPr lang="en-US" sz="1400" dirty="0" err="1"/>
              <a:t>kolla</a:t>
            </a:r>
            <a:r>
              <a:rPr lang="en-US" sz="1400" dirty="0"/>
              <a:t> </a:t>
            </a:r>
            <a:r>
              <a:rPr lang="en-US" sz="1400" dirty="0" err="1"/>
              <a:t>ansible</a:t>
            </a:r>
            <a:r>
              <a:rPr lang="en-US" sz="1400" dirty="0"/>
              <a:t> </a:t>
            </a:r>
            <a:r>
              <a:rPr lang="en-US" sz="1400" dirty="0" err="1"/>
              <a:t>sudah</a:t>
            </a:r>
            <a:r>
              <a:rPr lang="en-US" sz="1400" dirty="0"/>
              <a:t> </a:t>
            </a:r>
            <a:r>
              <a:rPr lang="en-US" sz="1400" dirty="0" err="1"/>
              <a:t>menyiapkan</a:t>
            </a:r>
            <a:r>
              <a:rPr lang="en-US" sz="1400" dirty="0"/>
              <a:t> script </a:t>
            </a:r>
            <a:r>
              <a:rPr lang="en-US" sz="1400" dirty="0" err="1"/>
              <a:t>inisiasi</a:t>
            </a:r>
            <a:r>
              <a:rPr lang="en-US" sz="1400" dirty="0"/>
              <a:t> </a:t>
            </a:r>
            <a:r>
              <a:rPr lang="en-US" sz="1400" dirty="0" err="1"/>
              <a:t>awal</a:t>
            </a:r>
            <a:r>
              <a:rPr lang="en-US" sz="1400" dirty="0"/>
              <a:t> yang </a:t>
            </a:r>
            <a:r>
              <a:rPr lang="en-US" sz="1400" dirty="0" err="1"/>
              <a:t>digunakan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create network demo </a:t>
            </a:r>
            <a:r>
              <a:rPr lang="en-US" sz="1400" dirty="0" err="1"/>
              <a:t>didalam</a:t>
            </a:r>
            <a:r>
              <a:rPr lang="en-US" sz="1400" dirty="0"/>
              <a:t> </a:t>
            </a:r>
            <a:r>
              <a:rPr lang="en-US" sz="1400" dirty="0" err="1"/>
              <a:t>openstack</a:t>
            </a:r>
            <a:r>
              <a:rPr lang="en-US" sz="1400" dirty="0" smtClean="0"/>
              <a:t>.</a:t>
            </a:r>
          </a:p>
          <a:p>
            <a:pPr algn="just"/>
            <a:endParaRPr lang="en-US" sz="1400" dirty="0">
              <a:solidFill>
                <a:srgbClr val="002060"/>
              </a:solidFill>
            </a:endParaRPr>
          </a:p>
          <a:p>
            <a:pPr algn="just"/>
            <a:r>
              <a:rPr lang="en-US" sz="1400" dirty="0">
                <a:solidFill>
                  <a:srgbClr val="00B0F0"/>
                </a:solidFill>
              </a:rPr>
              <a:t>vim /</a:t>
            </a:r>
            <a:r>
              <a:rPr lang="en-US" sz="1400" dirty="0" smtClean="0">
                <a:solidFill>
                  <a:srgbClr val="00B0F0"/>
                </a:solidFill>
              </a:rPr>
              <a:t>home/panda/deploy/share/</a:t>
            </a:r>
            <a:r>
              <a:rPr lang="en-US" sz="1400" dirty="0" err="1" smtClean="0">
                <a:solidFill>
                  <a:srgbClr val="00B0F0"/>
                </a:solidFill>
              </a:rPr>
              <a:t>kolla-ansible</a:t>
            </a:r>
            <a:r>
              <a:rPr lang="en-US" sz="1400" dirty="0" smtClean="0">
                <a:solidFill>
                  <a:srgbClr val="00B0F0"/>
                </a:solidFill>
              </a:rPr>
              <a:t>/</a:t>
            </a:r>
            <a:r>
              <a:rPr lang="en-US" sz="1400" dirty="0" err="1" smtClean="0">
                <a:solidFill>
                  <a:srgbClr val="00B0F0"/>
                </a:solidFill>
              </a:rPr>
              <a:t>init-runonce</a:t>
            </a:r>
            <a:endParaRPr lang="en-US" sz="1400" dirty="0">
              <a:solidFill>
                <a:srgbClr val="00B0F0"/>
              </a:solidFill>
            </a:endParaRPr>
          </a:p>
          <a:p>
            <a:pPr algn="just"/>
            <a:r>
              <a:rPr lang="en-US" sz="1400" dirty="0">
                <a:solidFill>
                  <a:srgbClr val="00B0F0"/>
                </a:solidFill>
              </a:rPr>
              <a:t>...</a:t>
            </a:r>
          </a:p>
          <a:p>
            <a:pPr algn="just"/>
            <a:r>
              <a:rPr lang="en-US" sz="1400" dirty="0">
                <a:solidFill>
                  <a:srgbClr val="00B0F0"/>
                </a:solidFill>
              </a:rPr>
              <a:t># This EXT_NET_CIDR is your public </a:t>
            </a:r>
            <a:r>
              <a:rPr lang="en-US" sz="1400" dirty="0" err="1">
                <a:solidFill>
                  <a:srgbClr val="00B0F0"/>
                </a:solidFill>
              </a:rPr>
              <a:t>network,that</a:t>
            </a:r>
            <a:r>
              <a:rPr lang="en-US" sz="1400" dirty="0">
                <a:solidFill>
                  <a:srgbClr val="00B0F0"/>
                </a:solidFill>
              </a:rPr>
              <a:t> you want to connect to the internet via.</a:t>
            </a:r>
          </a:p>
          <a:p>
            <a:pPr algn="just"/>
            <a:r>
              <a:rPr lang="en-US" sz="1400" dirty="0">
                <a:solidFill>
                  <a:srgbClr val="00B0F0"/>
                </a:solidFill>
              </a:rPr>
              <a:t>ENABLE_EXT_NET=${ENABLE_EXT_NET:-1}</a:t>
            </a:r>
          </a:p>
          <a:p>
            <a:pPr algn="just"/>
            <a:r>
              <a:rPr lang="en-US" sz="1400" dirty="0">
                <a:solidFill>
                  <a:srgbClr val="00B0F0"/>
                </a:solidFill>
              </a:rPr>
              <a:t>EXT_NET_CIDR=${EXT_NET_CIDR:-'10.25.25.0/24'}</a:t>
            </a:r>
          </a:p>
          <a:p>
            <a:pPr algn="just"/>
            <a:r>
              <a:rPr lang="en-US" sz="1400" dirty="0">
                <a:solidFill>
                  <a:srgbClr val="00B0F0"/>
                </a:solidFill>
              </a:rPr>
              <a:t>EXT_NET_RANGE=${EXT_NET_RANGE:-'start=10.25.25.4,end=10.25.25.253'}</a:t>
            </a:r>
          </a:p>
          <a:p>
            <a:pPr algn="just"/>
            <a:r>
              <a:rPr lang="en-US" sz="1400" dirty="0">
                <a:solidFill>
                  <a:srgbClr val="00B0F0"/>
                </a:solidFill>
              </a:rPr>
              <a:t>EXT_NET_GATEWAY=${EXT_NET_GATEWAY:-'10.25.25.1'}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19650" y="2037048"/>
            <a:ext cx="4099214" cy="2606058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974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11</a:t>
            </a:fld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3200400" y="65812"/>
            <a:ext cx="5943600" cy="280338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Lab: </a:t>
            </a:r>
            <a:r>
              <a:rPr lang="en-US" sz="2400" b="1" dirty="0" err="1" smtClean="0"/>
              <a:t>Kolla</a:t>
            </a:r>
            <a:r>
              <a:rPr lang="en-US" sz="2400" b="1" dirty="0" smtClean="0"/>
              <a:t> </a:t>
            </a:r>
            <a:r>
              <a:rPr lang="en-US" sz="2400" b="1" dirty="0" err="1"/>
              <a:t>Ansible</a:t>
            </a:r>
            <a:r>
              <a:rPr lang="en-US" sz="2400" b="1" dirty="0"/>
              <a:t> All in One </a:t>
            </a:r>
            <a:r>
              <a:rPr lang="en-US" sz="2400" b="1" dirty="0" err="1" smtClean="0"/>
              <a:t>Openstack</a:t>
            </a:r>
            <a:r>
              <a:rPr lang="en-US" sz="2400" b="1" dirty="0" smtClean="0"/>
              <a:t> 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Cons’t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4354" y="346150"/>
            <a:ext cx="4156364" cy="55707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00" b="1" dirty="0" smtClean="0">
              <a:solidFill>
                <a:srgbClr val="002060"/>
              </a:solidFill>
              <a:latin typeface="Arial" panose="020B0604020202020204" pitchFamily="34" charset="0"/>
            </a:endParaRPr>
          </a:p>
          <a:p>
            <a:r>
              <a:rPr lang="en-US" b="1" dirty="0" err="1">
                <a:solidFill>
                  <a:srgbClr val="002060"/>
                </a:solidFill>
              </a:rPr>
              <a:t>Eksekusi</a:t>
            </a:r>
            <a:r>
              <a:rPr lang="en-US" b="1" dirty="0">
                <a:solidFill>
                  <a:srgbClr val="002060"/>
                </a:solidFill>
              </a:rPr>
              <a:t> </a:t>
            </a:r>
            <a:r>
              <a:rPr lang="en-US" b="1" dirty="0" smtClean="0">
                <a:solidFill>
                  <a:srgbClr val="002060"/>
                </a:solidFill>
              </a:rPr>
              <a:t>script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b="1" dirty="0" smtClean="0">
                <a:solidFill>
                  <a:srgbClr val="002060"/>
                </a:solidFill>
              </a:rPr>
              <a:t> </a:t>
            </a:r>
            <a:r>
              <a:rPr lang="en-US" altLang="en-US" sz="1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altLang="en-US" sz="1400" dirty="0" smtClean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home/panda/deploy/share/</a:t>
            </a:r>
            <a:r>
              <a:rPr lang="en-US" altLang="en-US" sz="1400" dirty="0" err="1" smtClean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kolla-ansible</a:t>
            </a:r>
            <a:r>
              <a:rPr lang="en-US" altLang="en-US" sz="1400" dirty="0" smtClean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altLang="en-US" sz="1400" dirty="0" err="1" smtClean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init-runonce</a:t>
            </a:r>
            <a:r>
              <a:rPr lang="en-US" altLang="en-US" sz="800" dirty="0" smtClean="0">
                <a:solidFill>
                  <a:srgbClr val="00B0F0"/>
                </a:solidFill>
              </a:rPr>
              <a:t> </a:t>
            </a:r>
            <a:endParaRPr lang="en-US" altLang="en-US" sz="3200" dirty="0">
              <a:solidFill>
                <a:srgbClr val="00B0F0"/>
              </a:solidFill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400" b="1" dirty="0" smtClean="0">
              <a:solidFill>
                <a:srgbClr val="002060"/>
              </a:solidFill>
            </a:endParaRPr>
          </a:p>
          <a:p>
            <a:r>
              <a:rPr lang="en-US" b="1" dirty="0" err="1"/>
              <a:t>Aktifkan</a:t>
            </a:r>
            <a:r>
              <a:rPr lang="en-US" b="1" dirty="0"/>
              <a:t> ipv4 </a:t>
            </a:r>
            <a:r>
              <a:rPr lang="en-US" b="1" dirty="0" smtClean="0"/>
              <a:t>forwarding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rgbClr val="0070C0"/>
                </a:solidFill>
              </a:rPr>
              <a:t>vi /</a:t>
            </a:r>
            <a:r>
              <a:rPr lang="en-US" sz="1400" dirty="0" err="1">
                <a:solidFill>
                  <a:srgbClr val="0070C0"/>
                </a:solidFill>
              </a:rPr>
              <a:t>etc</a:t>
            </a:r>
            <a:r>
              <a:rPr lang="en-US" sz="1400" dirty="0">
                <a:solidFill>
                  <a:srgbClr val="0070C0"/>
                </a:solidFill>
              </a:rPr>
              <a:t>/</a:t>
            </a:r>
            <a:r>
              <a:rPr lang="en-US" sz="1400" dirty="0" err="1">
                <a:solidFill>
                  <a:srgbClr val="0070C0"/>
                </a:solidFill>
              </a:rPr>
              <a:t>sysctl.conf</a:t>
            </a:r>
            <a:endParaRPr lang="en-US" sz="1400" dirty="0">
              <a:solidFill>
                <a:srgbClr val="0070C0"/>
              </a:solidFill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rgbClr val="0070C0"/>
                </a:solidFill>
              </a:rPr>
              <a:t>...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rgbClr val="0070C0"/>
                </a:solidFill>
              </a:rPr>
              <a:t>net.ipv4.ip_forward=1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rgbClr val="0070C0"/>
                </a:solidFill>
              </a:rPr>
              <a:t>net.ipv4.ip_nonlocal_bind=1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rgbClr val="0070C0"/>
                </a:solidFill>
              </a:rPr>
              <a:t>net.ipv6.ip_nonlocal_bind=1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 err="1">
                <a:solidFill>
                  <a:srgbClr val="0070C0"/>
                </a:solidFill>
              </a:rPr>
              <a:t>net.unix.max_dgram_qlen</a:t>
            </a:r>
            <a:r>
              <a:rPr lang="en-US" sz="1400" dirty="0">
                <a:solidFill>
                  <a:srgbClr val="0070C0"/>
                </a:solidFill>
              </a:rPr>
              <a:t>=128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 err="1">
                <a:solidFill>
                  <a:srgbClr val="0070C0"/>
                </a:solidFill>
              </a:rPr>
              <a:t>net.bridge.bridge</a:t>
            </a:r>
            <a:r>
              <a:rPr lang="en-US" sz="1400" dirty="0">
                <a:solidFill>
                  <a:srgbClr val="0070C0"/>
                </a:solidFill>
              </a:rPr>
              <a:t>-</a:t>
            </a:r>
            <a:r>
              <a:rPr lang="en-US" sz="1400" dirty="0" err="1">
                <a:solidFill>
                  <a:srgbClr val="0070C0"/>
                </a:solidFill>
              </a:rPr>
              <a:t>nf</a:t>
            </a:r>
            <a:r>
              <a:rPr lang="en-US" sz="1400" dirty="0">
                <a:solidFill>
                  <a:srgbClr val="0070C0"/>
                </a:solidFill>
              </a:rPr>
              <a:t>-call-</a:t>
            </a:r>
            <a:r>
              <a:rPr lang="en-US" sz="1400" dirty="0" err="1">
                <a:solidFill>
                  <a:srgbClr val="0070C0"/>
                </a:solidFill>
              </a:rPr>
              <a:t>iptables</a:t>
            </a:r>
            <a:r>
              <a:rPr lang="en-US" sz="1400" dirty="0">
                <a:solidFill>
                  <a:srgbClr val="0070C0"/>
                </a:solidFill>
              </a:rPr>
              <a:t>=1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rgbClr val="0070C0"/>
                </a:solidFill>
              </a:rPr>
              <a:t>net.bridge.bridge-nf-call-ip6tables=1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rgbClr val="0070C0"/>
                </a:solidFill>
              </a:rPr>
              <a:t>net.ipv4.neigh.default.gc_thresh1=128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rgbClr val="0070C0"/>
                </a:solidFill>
              </a:rPr>
              <a:t>net.ipv4.neigh.default.gc_thresh2=28672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rgbClr val="0070C0"/>
                </a:solidFill>
              </a:rPr>
              <a:t>net.ipv4.neigh.default.gc_thresh3=32768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rgbClr val="0070C0"/>
                </a:solidFill>
              </a:rPr>
              <a:t>net.ipv6.neigh.default.gc_thresh1=128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rgbClr val="0070C0"/>
                </a:solidFill>
              </a:rPr>
              <a:t>net.ipv6.neigh.default.gc_thresh2=28672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rgbClr val="0070C0"/>
                </a:solidFill>
              </a:rPr>
              <a:t>net.ipv6.neigh.default.gc_thresh3=32768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400" dirty="0">
              <a:solidFill>
                <a:srgbClr val="0070C0"/>
              </a:solidFill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400" dirty="0">
              <a:solidFill>
                <a:srgbClr val="0070C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3200" dirty="0">
              <a:solidFill>
                <a:srgbClr val="00B0F0"/>
              </a:solidFill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solidFill>
                <a:srgbClr val="002060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32929" y="803350"/>
            <a:ext cx="4099214" cy="430692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204354" y="1726437"/>
            <a:ext cx="4099214" cy="3040826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4674177" y="401355"/>
            <a:ext cx="4156364" cy="39857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b="1" dirty="0" err="1" smtClean="0">
                <a:solidFill>
                  <a:srgbClr val="002060"/>
                </a:solidFill>
              </a:rPr>
              <a:t>Sysctl</a:t>
            </a:r>
            <a:endParaRPr lang="en-US" sz="1400" b="1" dirty="0">
              <a:solidFill>
                <a:srgbClr val="00206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solidFill>
                  <a:srgbClr val="002060"/>
                </a:solidFill>
              </a:rPr>
              <a:t># </a:t>
            </a:r>
            <a:r>
              <a:rPr lang="en-US" altLang="en-US" sz="1100" dirty="0" err="1" smtClean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sysctl</a:t>
            </a:r>
            <a:r>
              <a:rPr lang="en-US" altLang="en-US" sz="1100" dirty="0" smtClean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–p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1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 err="1">
                <a:solidFill>
                  <a:srgbClr val="002060"/>
                </a:solidFill>
              </a:rPr>
              <a:t>Atur</a:t>
            </a:r>
            <a:r>
              <a:rPr lang="en-US" sz="1600" b="1" dirty="0">
                <a:solidFill>
                  <a:srgbClr val="002060"/>
                </a:solidFill>
              </a:rPr>
              <a:t> interface bridge</a:t>
            </a:r>
          </a:p>
          <a:p>
            <a:r>
              <a:rPr lang="en-US" sz="1400" dirty="0" err="1"/>
              <a:t>Jalankan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</a:t>
            </a:r>
            <a:r>
              <a:rPr lang="en-US" sz="1400" dirty="0" err="1"/>
              <a:t>berikut</a:t>
            </a:r>
            <a:r>
              <a:rPr lang="en-US" sz="1400" dirty="0"/>
              <a:t> </a:t>
            </a:r>
            <a:r>
              <a:rPr lang="en-US" sz="1400" dirty="0" err="1"/>
              <a:t>ini</a:t>
            </a:r>
            <a:r>
              <a:rPr lang="en-US" sz="1400" dirty="0"/>
              <a:t> 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1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export ENABLE_EXT_NET=${ENABLE_EXT_NET:-1}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1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export EXT_NET_CIDR=${EXT_NET_CIDR:-'10.25.25.0/24'}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1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export EXT_NET_RANGE=${EXT_NET_RANGE:-'start=10.25.25.3,end=10.25.25.253'}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1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export EXT_NET_GATEWAY=${EXT_NET_GATEWAY:-'10.25.25.1'}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100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1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## </a:t>
            </a:r>
            <a:r>
              <a:rPr lang="en-US" altLang="en-US" sz="11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Akses</a:t>
            </a:r>
            <a:r>
              <a:rPr lang="en-US" altLang="en-US" sz="11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internet </a:t>
            </a:r>
            <a:r>
              <a:rPr lang="en-US" altLang="en-US" sz="11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</a:t>
            </a:r>
            <a:r>
              <a:rPr lang="en-US" altLang="en-US" sz="11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instances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1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sudo</a:t>
            </a:r>
            <a:r>
              <a:rPr lang="en-US" altLang="en-US" sz="11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1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ifconfig</a:t>
            </a:r>
            <a:r>
              <a:rPr lang="en-US" altLang="en-US" sz="11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1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en-US" sz="11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-ex $EXT_NET_GATEWAY </a:t>
            </a:r>
            <a:r>
              <a:rPr lang="en-US" altLang="en-US" sz="11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netmask</a:t>
            </a:r>
            <a:r>
              <a:rPr lang="en-US" altLang="en-US" sz="11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255.255.255.0 up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1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sudo</a:t>
            </a:r>
            <a:r>
              <a:rPr lang="en-US" altLang="en-US" sz="11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1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iptables</a:t>
            </a:r>
            <a:r>
              <a:rPr lang="en-US" altLang="en-US" sz="11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-t </a:t>
            </a:r>
            <a:r>
              <a:rPr lang="en-US" altLang="en-US" sz="11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nat</a:t>
            </a:r>
            <a:r>
              <a:rPr lang="en-US" altLang="en-US" sz="11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-A POSTROUTING -s $EXT_NET_CIDR -o ens224 -j MASQUERADE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1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sudo</a:t>
            </a:r>
            <a:r>
              <a:rPr lang="en-US" altLang="en-US" sz="11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1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iptables</a:t>
            </a:r>
            <a:r>
              <a:rPr lang="en-US" altLang="en-US" sz="11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-A FORWARD -o ens224 -</a:t>
            </a:r>
            <a:r>
              <a:rPr lang="en-US" altLang="en-US" sz="11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en-US" sz="11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1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en-US" sz="11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-ex -j ACCEPT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1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sudo</a:t>
            </a:r>
            <a:r>
              <a:rPr lang="en-US" altLang="en-US" sz="11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1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iptables</a:t>
            </a:r>
            <a:r>
              <a:rPr lang="en-US" altLang="en-US" sz="11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-A FORWARD -</a:t>
            </a:r>
            <a:r>
              <a:rPr lang="en-US" altLang="en-US" sz="11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en-US" sz="11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ens224 -o </a:t>
            </a:r>
            <a:r>
              <a:rPr lang="en-US" altLang="en-US" sz="11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en-US" sz="11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-ex -j ACCEPT</a:t>
            </a:r>
            <a:endParaRPr lang="en-US" sz="1400" b="1" dirty="0">
              <a:solidFill>
                <a:srgbClr val="002060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702752" y="1450054"/>
            <a:ext cx="4099214" cy="2992211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143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12</a:t>
            </a:fld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3200400" y="65812"/>
            <a:ext cx="5943600" cy="280338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Lab: </a:t>
            </a:r>
            <a:r>
              <a:rPr lang="en-US" sz="2400" b="1" dirty="0" err="1" smtClean="0"/>
              <a:t>Kolla</a:t>
            </a:r>
            <a:r>
              <a:rPr lang="en-US" sz="2400" b="1" dirty="0" smtClean="0"/>
              <a:t> </a:t>
            </a:r>
            <a:r>
              <a:rPr lang="en-US" sz="2400" b="1" dirty="0" err="1"/>
              <a:t>Ansible</a:t>
            </a:r>
            <a:r>
              <a:rPr lang="en-US" sz="2400" b="1" dirty="0"/>
              <a:t> All in One </a:t>
            </a:r>
            <a:r>
              <a:rPr lang="en-US" sz="2400" b="1" dirty="0" err="1" smtClean="0"/>
              <a:t>Openstack</a:t>
            </a:r>
            <a:r>
              <a:rPr lang="en-US" sz="2400" b="1" dirty="0" smtClean="0"/>
              <a:t> 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Cons’t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4354" y="346150"/>
            <a:ext cx="4156364" cy="14157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00" b="1" dirty="0" smtClean="0">
              <a:solidFill>
                <a:srgbClr val="002060"/>
              </a:solidFill>
              <a:latin typeface="Arial" panose="020B0604020202020204" pitchFamily="34" charset="0"/>
            </a:endParaRPr>
          </a:p>
          <a:p>
            <a:r>
              <a:rPr lang="en-US" b="1" dirty="0" err="1">
                <a:solidFill>
                  <a:srgbClr val="002060"/>
                </a:solidFill>
              </a:rPr>
              <a:t>Akses</a:t>
            </a:r>
            <a:r>
              <a:rPr lang="en-US" b="1" dirty="0">
                <a:solidFill>
                  <a:srgbClr val="002060"/>
                </a:solidFill>
              </a:rPr>
              <a:t> dashboard </a:t>
            </a:r>
            <a:r>
              <a:rPr lang="en-US" b="1" dirty="0" err="1">
                <a:solidFill>
                  <a:srgbClr val="002060"/>
                </a:solidFill>
              </a:rPr>
              <a:t>dan</a:t>
            </a:r>
            <a:r>
              <a:rPr lang="en-US" b="1" dirty="0">
                <a:solidFill>
                  <a:srgbClr val="002060"/>
                </a:solidFill>
              </a:rPr>
              <a:t> </a:t>
            </a:r>
            <a:r>
              <a:rPr lang="en-US" b="1" dirty="0" err="1">
                <a:solidFill>
                  <a:srgbClr val="002060"/>
                </a:solidFill>
              </a:rPr>
              <a:t>uji</a:t>
            </a:r>
            <a:r>
              <a:rPr lang="en-US" b="1" dirty="0">
                <a:solidFill>
                  <a:srgbClr val="002060"/>
                </a:solidFill>
              </a:rPr>
              <a:t> </a:t>
            </a:r>
            <a:r>
              <a:rPr lang="en-US" b="1" dirty="0" err="1">
                <a:solidFill>
                  <a:srgbClr val="002060"/>
                </a:solidFill>
              </a:rPr>
              <a:t>konektifitas</a:t>
            </a:r>
            <a:r>
              <a:rPr lang="en-US" b="1" dirty="0">
                <a:solidFill>
                  <a:srgbClr val="002060"/>
                </a:solidFill>
              </a:rPr>
              <a:t> </a:t>
            </a:r>
            <a:r>
              <a:rPr lang="en-US" b="1" dirty="0" smtClean="0">
                <a:solidFill>
                  <a:srgbClr val="002060"/>
                </a:solidFill>
              </a:rPr>
              <a:t>instance</a:t>
            </a:r>
          </a:p>
          <a:p>
            <a:endParaRPr lang="en-US" sz="1400" b="1" dirty="0">
              <a:solidFill>
                <a:srgbClr val="002060"/>
              </a:solidFill>
            </a:endParaRPr>
          </a:p>
          <a:p>
            <a:r>
              <a:rPr lang="en-US" sz="1400" dirty="0"/>
              <a:t>Dashboard </a:t>
            </a:r>
            <a:r>
              <a:rPr lang="en-US" sz="1400" dirty="0" err="1"/>
              <a:t>dapat</a:t>
            </a:r>
            <a:r>
              <a:rPr lang="en-US" sz="1400" dirty="0"/>
              <a:t> </a:t>
            </a:r>
            <a:r>
              <a:rPr lang="en-US" sz="1400" dirty="0" err="1"/>
              <a:t>diakses</a:t>
            </a:r>
            <a:r>
              <a:rPr lang="en-US" sz="1400" dirty="0"/>
              <a:t> </a:t>
            </a:r>
            <a:r>
              <a:rPr lang="en-US" sz="1400" dirty="0" err="1"/>
              <a:t>menggunakan</a:t>
            </a:r>
            <a:r>
              <a:rPr lang="en-US" sz="1400" dirty="0"/>
              <a:t> Virtual IP yang </a:t>
            </a:r>
            <a:r>
              <a:rPr lang="en-US" sz="1400" dirty="0" err="1"/>
              <a:t>sudah</a:t>
            </a:r>
            <a:r>
              <a:rPr lang="en-US" sz="1400" dirty="0"/>
              <a:t> </a:t>
            </a:r>
            <a:r>
              <a:rPr lang="en-US" sz="1400" dirty="0" err="1"/>
              <a:t>diset</a:t>
            </a:r>
            <a:r>
              <a:rPr lang="en-US" sz="1400" dirty="0"/>
              <a:t> </a:t>
            </a:r>
            <a:r>
              <a:rPr lang="en-US" sz="1400" dirty="0" err="1"/>
              <a:t>sebelumnya</a:t>
            </a:r>
            <a:r>
              <a:rPr lang="en-US" sz="1400" dirty="0"/>
              <a:t> </a:t>
            </a:r>
            <a:r>
              <a:rPr lang="en-US" sz="1400" dirty="0" err="1"/>
              <a:t>yaitu</a:t>
            </a:r>
            <a:r>
              <a:rPr lang="en-US" sz="1400" dirty="0"/>
              <a:t> : </a:t>
            </a:r>
            <a:r>
              <a:rPr lang="en-US" sz="1400" dirty="0">
                <a:hlinkClick r:id="rId3"/>
              </a:rPr>
              <a:t>http://</a:t>
            </a:r>
            <a:r>
              <a:rPr lang="en-US" sz="1400" dirty="0" smtClean="0">
                <a:hlinkClick r:id="rId3"/>
              </a:rPr>
              <a:t>10.65.65.254</a:t>
            </a:r>
            <a:endParaRPr lang="en-US" sz="1400" dirty="0" smtClean="0"/>
          </a:p>
        </p:txBody>
      </p:sp>
      <p:sp>
        <p:nvSpPr>
          <p:cNvPr id="13" name="Rectangle 12"/>
          <p:cNvSpPr/>
          <p:nvPr/>
        </p:nvSpPr>
        <p:spPr>
          <a:xfrm>
            <a:off x="4674177" y="401355"/>
            <a:ext cx="4156364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latin typeface="Arial" panose="020B0604020202020204" pitchFamily="34" charset="0"/>
              </a:rPr>
              <a:t>Password </a:t>
            </a:r>
            <a:r>
              <a:rPr lang="en-US" altLang="en-US" sz="1400" dirty="0" err="1">
                <a:latin typeface="Arial" panose="020B0604020202020204" pitchFamily="34" charset="0"/>
              </a:rPr>
              <a:t>dapat</a:t>
            </a:r>
            <a:r>
              <a:rPr lang="en-US" altLang="en-US" sz="1400" dirty="0">
                <a:latin typeface="Arial" panose="020B0604020202020204" pitchFamily="34" charset="0"/>
              </a:rPr>
              <a:t> </a:t>
            </a:r>
            <a:r>
              <a:rPr lang="en-US" altLang="en-US" sz="1400" dirty="0" err="1">
                <a:latin typeface="Arial" panose="020B0604020202020204" pitchFamily="34" charset="0"/>
              </a:rPr>
              <a:t>dilihat</a:t>
            </a:r>
            <a:r>
              <a:rPr lang="en-US" altLang="en-US" sz="1400" dirty="0">
                <a:latin typeface="Arial" panose="020B0604020202020204" pitchFamily="34" charset="0"/>
              </a:rPr>
              <a:t> </a:t>
            </a:r>
            <a:r>
              <a:rPr lang="en-US" altLang="en-US" sz="1400" dirty="0" err="1">
                <a:latin typeface="Arial" panose="020B0604020202020204" pitchFamily="34" charset="0"/>
              </a:rPr>
              <a:t>menggunakan</a:t>
            </a:r>
            <a:r>
              <a:rPr lang="en-US" altLang="en-US" sz="1400" dirty="0">
                <a:latin typeface="Arial" panose="020B0604020202020204" pitchFamily="34" charset="0"/>
              </a:rPr>
              <a:t> command </a:t>
            </a:r>
            <a:r>
              <a:rPr lang="en-US" altLang="en-US" sz="1400" dirty="0" err="1">
                <a:latin typeface="Arial" panose="020B0604020202020204" pitchFamily="34" charset="0"/>
              </a:rPr>
              <a:t>berikut</a:t>
            </a:r>
            <a:r>
              <a:rPr lang="en-US" altLang="en-US" sz="1400" dirty="0">
                <a:latin typeface="Arial" panose="020B0604020202020204" pitchFamily="34" charset="0"/>
              </a:rPr>
              <a:t> </a:t>
            </a:r>
            <a:r>
              <a:rPr lang="en-US" altLang="en-US" sz="1400" dirty="0" err="1">
                <a:latin typeface="Arial" panose="020B0604020202020204" pitchFamily="34" charset="0"/>
              </a:rPr>
              <a:t>ini</a:t>
            </a:r>
            <a:r>
              <a:rPr lang="en-US" altLang="en-US" sz="1400" dirty="0" smtClean="0">
                <a:latin typeface="Arial" panose="020B0604020202020204" pitchFamily="34" charset="0"/>
              </a:rPr>
              <a:t>: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400" b="1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 smtClean="0">
                <a:latin typeface="Arial" panose="020B0604020202020204" pitchFamily="34" charset="0"/>
              </a:rPr>
              <a:t># </a:t>
            </a:r>
            <a:r>
              <a:rPr lang="en-US" altLang="en-US" sz="1400" dirty="0" err="1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altLang="en-US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400" dirty="0" err="1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keystone_admin_password</a:t>
            </a:r>
            <a:r>
              <a:rPr lang="en-US" altLang="en-US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</a:t>
            </a:r>
            <a:r>
              <a:rPr lang="en-US" altLang="en-US" sz="1400" dirty="0" err="1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etc</a:t>
            </a:r>
            <a:r>
              <a:rPr lang="en-US" altLang="en-US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altLang="en-US" sz="1400" dirty="0" err="1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kolla</a:t>
            </a:r>
            <a:r>
              <a:rPr lang="en-US" altLang="en-US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altLang="en-US" sz="1400" dirty="0" err="1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passwords.yml</a:t>
            </a:r>
            <a:r>
              <a:rPr lang="en-US" altLang="en-US" sz="800" dirty="0"/>
              <a:t> </a:t>
            </a:r>
            <a:endParaRPr lang="en-US" altLang="en-US" sz="3200" dirty="0">
              <a:latin typeface="Arial" panose="020B0604020202020204" pitchFamily="34" charset="0"/>
            </a:endParaRPr>
          </a:p>
          <a:p>
            <a:pPr algn="just"/>
            <a:endParaRPr lang="en-US" sz="1400" b="1" dirty="0" smtClean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400" b="1" dirty="0" smtClean="0">
              <a:solidFill>
                <a:srgbClr val="00206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400" b="1" dirty="0">
              <a:solidFill>
                <a:srgbClr val="FFC000"/>
              </a:solidFill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solidFill>
                  <a:srgbClr val="FFC000"/>
                </a:solidFill>
                <a:latin typeface="Arial" panose="020B0604020202020204" pitchFamily="34" charset="0"/>
              </a:rPr>
              <a:t>Troubleshoot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 err="1">
                <a:latin typeface="Arial" panose="020B0604020202020204" pitchFamily="34" charset="0"/>
              </a:rPr>
              <a:t>Ketika</a:t>
            </a:r>
            <a:r>
              <a:rPr lang="en-US" altLang="en-US" sz="1400" dirty="0">
                <a:latin typeface="Arial" panose="020B0604020202020204" pitchFamily="34" charset="0"/>
              </a:rPr>
              <a:t> host </a:t>
            </a:r>
            <a:r>
              <a:rPr lang="en-US" altLang="en-US" sz="1400" dirty="0" err="1">
                <a:latin typeface="Arial" panose="020B0604020202020204" pitchFamily="34" charset="0"/>
              </a:rPr>
              <a:t>mengalami</a:t>
            </a:r>
            <a:r>
              <a:rPr lang="en-US" altLang="en-US" sz="1400" dirty="0">
                <a:latin typeface="Arial" panose="020B0604020202020204" pitchFamily="34" charset="0"/>
              </a:rPr>
              <a:t> </a:t>
            </a:r>
            <a:r>
              <a:rPr lang="en-US" altLang="en-US" sz="1400" dirty="0" smtClean="0">
                <a:latin typeface="Arial" panose="020B0604020202020204" pitchFamily="34" charset="0"/>
              </a:rPr>
              <a:t>restart:</a:t>
            </a:r>
            <a:endParaRPr lang="en-US" altLang="en-US" sz="1400" dirty="0">
              <a:latin typeface="Arial" panose="020B0604020202020204" pitchFamily="34" charset="0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000" b="1" dirty="0">
              <a:solidFill>
                <a:srgbClr val="00B0F0"/>
              </a:solidFill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00" b="1" dirty="0">
                <a:solidFill>
                  <a:srgbClr val="00B0F0"/>
                </a:solidFill>
                <a:latin typeface="Arial" panose="020B0604020202020204" pitchFamily="34" charset="0"/>
              </a:rPr>
              <a:t>export EXT_NET_CIDR='10.25.25.0/24'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00" b="1" dirty="0">
                <a:solidFill>
                  <a:srgbClr val="00B0F0"/>
                </a:solidFill>
                <a:latin typeface="Arial" panose="020B0604020202020204" pitchFamily="34" charset="0"/>
              </a:rPr>
              <a:t>export EXT_NET_RANGE='start=10.25.25.3,end=10.25.25.253'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00" b="1" dirty="0">
                <a:solidFill>
                  <a:srgbClr val="00B0F0"/>
                </a:solidFill>
                <a:latin typeface="Arial" panose="020B0604020202020204" pitchFamily="34" charset="0"/>
              </a:rPr>
              <a:t>export EXT_NET_GATEWAY='10.25.25.1'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00" b="1" dirty="0" err="1">
                <a:solidFill>
                  <a:srgbClr val="00B0F0"/>
                </a:solidFill>
                <a:latin typeface="Arial" panose="020B0604020202020204" pitchFamily="34" charset="0"/>
              </a:rPr>
              <a:t>sudo</a:t>
            </a:r>
            <a:r>
              <a:rPr lang="en-US" altLang="en-US" sz="1000" b="1" dirty="0">
                <a:solidFill>
                  <a:srgbClr val="00B0F0"/>
                </a:solidFill>
                <a:latin typeface="Arial" panose="020B0604020202020204" pitchFamily="34" charset="0"/>
              </a:rPr>
              <a:t> </a:t>
            </a:r>
            <a:r>
              <a:rPr lang="en-US" altLang="en-US" sz="1000" b="1" dirty="0" err="1">
                <a:solidFill>
                  <a:srgbClr val="00B0F0"/>
                </a:solidFill>
                <a:latin typeface="Arial" panose="020B0604020202020204" pitchFamily="34" charset="0"/>
              </a:rPr>
              <a:t>ifconfig</a:t>
            </a:r>
            <a:r>
              <a:rPr lang="en-US" altLang="en-US" sz="1000" b="1" dirty="0">
                <a:solidFill>
                  <a:srgbClr val="00B0F0"/>
                </a:solidFill>
                <a:latin typeface="Arial" panose="020B0604020202020204" pitchFamily="34" charset="0"/>
              </a:rPr>
              <a:t> </a:t>
            </a:r>
            <a:r>
              <a:rPr lang="en-US" altLang="en-US" sz="1000" b="1" dirty="0" err="1">
                <a:solidFill>
                  <a:srgbClr val="00B0F0"/>
                </a:solidFill>
                <a:latin typeface="Arial" panose="020B0604020202020204" pitchFamily="34" charset="0"/>
              </a:rPr>
              <a:t>br</a:t>
            </a:r>
            <a:r>
              <a:rPr lang="en-US" altLang="en-US" sz="1000" b="1" dirty="0">
                <a:solidFill>
                  <a:srgbClr val="00B0F0"/>
                </a:solidFill>
                <a:latin typeface="Arial" panose="020B0604020202020204" pitchFamily="34" charset="0"/>
              </a:rPr>
              <a:t>-ex $EXT_NET_GATEWAY </a:t>
            </a:r>
            <a:r>
              <a:rPr lang="en-US" altLang="en-US" sz="1000" b="1" dirty="0" err="1">
                <a:solidFill>
                  <a:srgbClr val="00B0F0"/>
                </a:solidFill>
                <a:latin typeface="Arial" panose="020B0604020202020204" pitchFamily="34" charset="0"/>
              </a:rPr>
              <a:t>netmask</a:t>
            </a:r>
            <a:r>
              <a:rPr lang="en-US" altLang="en-US" sz="1000" b="1" dirty="0">
                <a:solidFill>
                  <a:srgbClr val="00B0F0"/>
                </a:solidFill>
                <a:latin typeface="Arial" panose="020B0604020202020204" pitchFamily="34" charset="0"/>
              </a:rPr>
              <a:t> 255.255.255.0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00" b="1" dirty="0" err="1">
                <a:solidFill>
                  <a:srgbClr val="00B0F0"/>
                </a:solidFill>
                <a:latin typeface="Arial" panose="020B0604020202020204" pitchFamily="34" charset="0"/>
              </a:rPr>
              <a:t>sudo</a:t>
            </a:r>
            <a:r>
              <a:rPr lang="en-US" altLang="en-US" sz="1000" b="1" dirty="0">
                <a:solidFill>
                  <a:srgbClr val="00B0F0"/>
                </a:solidFill>
                <a:latin typeface="Arial" panose="020B0604020202020204" pitchFamily="34" charset="0"/>
              </a:rPr>
              <a:t> </a:t>
            </a:r>
            <a:r>
              <a:rPr lang="en-US" altLang="en-US" sz="1000" b="1" dirty="0" err="1">
                <a:solidFill>
                  <a:srgbClr val="00B0F0"/>
                </a:solidFill>
                <a:latin typeface="Arial" panose="020B0604020202020204" pitchFamily="34" charset="0"/>
              </a:rPr>
              <a:t>iptables</a:t>
            </a:r>
            <a:r>
              <a:rPr lang="en-US" altLang="en-US" sz="1000" b="1" dirty="0">
                <a:solidFill>
                  <a:srgbClr val="00B0F0"/>
                </a:solidFill>
                <a:latin typeface="Arial" panose="020B0604020202020204" pitchFamily="34" charset="0"/>
              </a:rPr>
              <a:t> -t </a:t>
            </a:r>
            <a:r>
              <a:rPr lang="en-US" altLang="en-US" sz="1000" b="1" dirty="0" err="1">
                <a:solidFill>
                  <a:srgbClr val="00B0F0"/>
                </a:solidFill>
                <a:latin typeface="Arial" panose="020B0604020202020204" pitchFamily="34" charset="0"/>
              </a:rPr>
              <a:t>nat</a:t>
            </a:r>
            <a:r>
              <a:rPr lang="en-US" altLang="en-US" sz="1000" b="1" dirty="0">
                <a:solidFill>
                  <a:srgbClr val="00B0F0"/>
                </a:solidFill>
                <a:latin typeface="Arial" panose="020B0604020202020204" pitchFamily="34" charset="0"/>
              </a:rPr>
              <a:t> -A POSTROUTING -s $EXT_NET_CIDR -o ens224 -j MASQUERADE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00" b="1" dirty="0">
                <a:solidFill>
                  <a:srgbClr val="00B0F0"/>
                </a:solidFill>
                <a:latin typeface="Arial" panose="020B0604020202020204" pitchFamily="34" charset="0"/>
              </a:rPr>
              <a:t>echo 1 &gt; /</a:t>
            </a:r>
            <a:r>
              <a:rPr lang="en-US" altLang="en-US" sz="1000" b="1" dirty="0" err="1">
                <a:solidFill>
                  <a:srgbClr val="00B0F0"/>
                </a:solidFill>
                <a:latin typeface="Arial" panose="020B0604020202020204" pitchFamily="34" charset="0"/>
              </a:rPr>
              <a:t>proc</a:t>
            </a:r>
            <a:r>
              <a:rPr lang="en-US" altLang="en-US" sz="1000" b="1" dirty="0">
                <a:solidFill>
                  <a:srgbClr val="00B0F0"/>
                </a:solidFill>
                <a:latin typeface="Arial" panose="020B0604020202020204" pitchFamily="34" charset="0"/>
              </a:rPr>
              <a:t>/sys/net/ipv4/</a:t>
            </a:r>
            <a:r>
              <a:rPr lang="en-US" altLang="en-US" sz="1000" b="1" dirty="0" err="1">
                <a:solidFill>
                  <a:srgbClr val="00B0F0"/>
                </a:solidFill>
                <a:latin typeface="Arial" panose="020B0604020202020204" pitchFamily="34" charset="0"/>
              </a:rPr>
              <a:t>ip_forward</a:t>
            </a:r>
            <a:endParaRPr lang="en-US" altLang="en-US" sz="1000" b="1" dirty="0">
              <a:solidFill>
                <a:srgbClr val="00B0F0"/>
              </a:solidFill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00" b="1" dirty="0" err="1">
                <a:solidFill>
                  <a:srgbClr val="00B0F0"/>
                </a:solidFill>
                <a:latin typeface="Arial" panose="020B0604020202020204" pitchFamily="34" charset="0"/>
              </a:rPr>
              <a:t>sudo</a:t>
            </a:r>
            <a:r>
              <a:rPr lang="en-US" altLang="en-US" sz="1000" b="1" dirty="0">
                <a:solidFill>
                  <a:srgbClr val="00B0F0"/>
                </a:solidFill>
                <a:latin typeface="Arial" panose="020B0604020202020204" pitchFamily="34" charset="0"/>
              </a:rPr>
              <a:t> </a:t>
            </a:r>
            <a:r>
              <a:rPr lang="en-US" altLang="en-US" sz="1000" b="1" dirty="0" err="1">
                <a:solidFill>
                  <a:srgbClr val="00B0F0"/>
                </a:solidFill>
                <a:latin typeface="Arial" panose="020B0604020202020204" pitchFamily="34" charset="0"/>
              </a:rPr>
              <a:t>iptables</a:t>
            </a:r>
            <a:r>
              <a:rPr lang="en-US" altLang="en-US" sz="1000" b="1" dirty="0">
                <a:solidFill>
                  <a:srgbClr val="00B0F0"/>
                </a:solidFill>
                <a:latin typeface="Arial" panose="020B0604020202020204" pitchFamily="34" charset="0"/>
              </a:rPr>
              <a:t> -A FORWARD -o ens224 -</a:t>
            </a:r>
            <a:r>
              <a:rPr lang="en-US" altLang="en-US" sz="1000" b="1" dirty="0" err="1">
                <a:solidFill>
                  <a:srgbClr val="00B0F0"/>
                </a:solidFill>
                <a:latin typeface="Arial" panose="020B0604020202020204" pitchFamily="34" charset="0"/>
              </a:rPr>
              <a:t>i</a:t>
            </a:r>
            <a:r>
              <a:rPr lang="en-US" altLang="en-US" sz="1000" b="1" dirty="0">
                <a:solidFill>
                  <a:srgbClr val="00B0F0"/>
                </a:solidFill>
                <a:latin typeface="Arial" panose="020B0604020202020204" pitchFamily="34" charset="0"/>
              </a:rPr>
              <a:t> </a:t>
            </a:r>
            <a:r>
              <a:rPr lang="en-US" altLang="en-US" sz="1000" b="1" dirty="0" err="1">
                <a:solidFill>
                  <a:srgbClr val="00B0F0"/>
                </a:solidFill>
                <a:latin typeface="Arial" panose="020B0604020202020204" pitchFamily="34" charset="0"/>
              </a:rPr>
              <a:t>br</a:t>
            </a:r>
            <a:r>
              <a:rPr lang="en-US" altLang="en-US" sz="1000" b="1" dirty="0">
                <a:solidFill>
                  <a:srgbClr val="00B0F0"/>
                </a:solidFill>
                <a:latin typeface="Arial" panose="020B0604020202020204" pitchFamily="34" charset="0"/>
              </a:rPr>
              <a:t>-ex -j ACCEPT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00" b="1" dirty="0" err="1">
                <a:solidFill>
                  <a:srgbClr val="00B0F0"/>
                </a:solidFill>
                <a:latin typeface="Arial" panose="020B0604020202020204" pitchFamily="34" charset="0"/>
              </a:rPr>
              <a:t>sudo</a:t>
            </a:r>
            <a:r>
              <a:rPr lang="en-US" altLang="en-US" sz="1000" b="1" dirty="0">
                <a:solidFill>
                  <a:srgbClr val="00B0F0"/>
                </a:solidFill>
                <a:latin typeface="Arial" panose="020B0604020202020204" pitchFamily="34" charset="0"/>
              </a:rPr>
              <a:t> </a:t>
            </a:r>
            <a:r>
              <a:rPr lang="en-US" altLang="en-US" sz="1000" b="1" dirty="0" err="1">
                <a:solidFill>
                  <a:srgbClr val="00B0F0"/>
                </a:solidFill>
                <a:latin typeface="Arial" panose="020B0604020202020204" pitchFamily="34" charset="0"/>
              </a:rPr>
              <a:t>iptables</a:t>
            </a:r>
            <a:r>
              <a:rPr lang="en-US" altLang="en-US" sz="1000" b="1" dirty="0">
                <a:solidFill>
                  <a:srgbClr val="00B0F0"/>
                </a:solidFill>
                <a:latin typeface="Arial" panose="020B0604020202020204" pitchFamily="34" charset="0"/>
              </a:rPr>
              <a:t> -A FORWARD -</a:t>
            </a:r>
            <a:r>
              <a:rPr lang="en-US" altLang="en-US" sz="1000" b="1" dirty="0" err="1">
                <a:solidFill>
                  <a:srgbClr val="00B0F0"/>
                </a:solidFill>
                <a:latin typeface="Arial" panose="020B0604020202020204" pitchFamily="34" charset="0"/>
              </a:rPr>
              <a:t>i</a:t>
            </a:r>
            <a:r>
              <a:rPr lang="en-US" altLang="en-US" sz="1000" b="1" dirty="0">
                <a:solidFill>
                  <a:srgbClr val="00B0F0"/>
                </a:solidFill>
                <a:latin typeface="Arial" panose="020B0604020202020204" pitchFamily="34" charset="0"/>
              </a:rPr>
              <a:t> ens224 -o </a:t>
            </a:r>
            <a:r>
              <a:rPr lang="en-US" altLang="en-US" sz="1000" b="1" dirty="0" err="1">
                <a:solidFill>
                  <a:srgbClr val="00B0F0"/>
                </a:solidFill>
                <a:latin typeface="Arial" panose="020B0604020202020204" pitchFamily="34" charset="0"/>
              </a:rPr>
              <a:t>br</a:t>
            </a:r>
            <a:r>
              <a:rPr lang="en-US" altLang="en-US" sz="1000" b="1" dirty="0">
                <a:solidFill>
                  <a:srgbClr val="00B0F0"/>
                </a:solidFill>
                <a:latin typeface="Arial" panose="020B0604020202020204" pitchFamily="34" charset="0"/>
              </a:rPr>
              <a:t>-ex -j ACCEPT</a:t>
            </a:r>
            <a:endParaRPr lang="en-US" sz="1000" b="1" dirty="0">
              <a:solidFill>
                <a:srgbClr val="00B0F0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702752" y="896057"/>
            <a:ext cx="4099214" cy="641798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4702752" y="2914549"/>
            <a:ext cx="4099214" cy="1852713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492760" y="1940574"/>
            <a:ext cx="4024688" cy="2170800"/>
            <a:chOff x="492760" y="1940574"/>
            <a:chExt cx="4024688" cy="2170800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2760" y="1940574"/>
              <a:ext cx="4024688" cy="2170800"/>
            </a:xfrm>
            <a:prstGeom prst="rect">
              <a:avLst/>
            </a:prstGeom>
          </p:spPr>
        </p:pic>
        <p:sp>
          <p:nvSpPr>
            <p:cNvPr id="16" name="Rectangle 15"/>
            <p:cNvSpPr/>
            <p:nvPr/>
          </p:nvSpPr>
          <p:spPr>
            <a:xfrm>
              <a:off x="1289700" y="1961455"/>
              <a:ext cx="1548867" cy="18466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just"/>
              <a:r>
                <a:rPr lang="en-US" sz="600" dirty="0" smtClean="0">
                  <a:solidFill>
                    <a:schemeClr val="bg1">
                      <a:lumMod val="65000"/>
                    </a:schemeClr>
                  </a:solidFill>
                </a:rPr>
                <a:t>Openstack.panda.id/</a:t>
              </a:r>
              <a:r>
                <a:rPr lang="en-US" sz="600" dirty="0" err="1" smtClean="0">
                  <a:solidFill>
                    <a:schemeClr val="bg1">
                      <a:lumMod val="65000"/>
                    </a:schemeClr>
                  </a:solidFill>
                </a:rPr>
                <a:t>Ddasboard</a:t>
              </a:r>
              <a:r>
                <a:rPr lang="en-US" sz="600" dirty="0" smtClean="0">
                  <a:solidFill>
                    <a:schemeClr val="bg1">
                      <a:lumMod val="65000"/>
                    </a:schemeClr>
                  </a:solidFill>
                </a:rPr>
                <a:t>/</a:t>
              </a:r>
              <a:r>
                <a:rPr lang="en-US" sz="600" dirty="0" err="1" smtClean="0">
                  <a:solidFill>
                    <a:schemeClr val="bg1">
                      <a:lumMod val="65000"/>
                    </a:schemeClr>
                  </a:solidFill>
                </a:rPr>
                <a:t>auth</a:t>
              </a:r>
              <a:r>
                <a:rPr lang="en-US" sz="600" dirty="0" smtClean="0">
                  <a:solidFill>
                    <a:schemeClr val="bg1">
                      <a:lumMod val="65000"/>
                    </a:schemeClr>
                  </a:solidFill>
                </a:rPr>
                <a:t>/login/</a:t>
              </a:r>
              <a:endParaRPr lang="en-US" sz="6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067234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4777" y="847049"/>
            <a:ext cx="6645606" cy="994172"/>
          </a:xfrm>
        </p:spPr>
        <p:txBody>
          <a:bodyPr>
            <a:normAutofit/>
          </a:bodyPr>
          <a:lstStyle/>
          <a:p>
            <a:r>
              <a:rPr lang="en-US" dirty="0" err="1">
                <a:solidFill>
                  <a:srgbClr val="002060"/>
                </a:solidFill>
              </a:rPr>
              <a:t>Membuat</a:t>
            </a:r>
            <a:r>
              <a:rPr lang="en-US" dirty="0">
                <a:solidFill>
                  <a:srgbClr val="002060"/>
                </a:solidFill>
              </a:rPr>
              <a:t> Instance </a:t>
            </a:r>
            <a:r>
              <a:rPr lang="en-US" dirty="0" err="1">
                <a:solidFill>
                  <a:srgbClr val="002060"/>
                </a:solidFill>
              </a:rPr>
              <a:t>Melalui</a:t>
            </a:r>
            <a:r>
              <a:rPr lang="en-US" dirty="0">
                <a:solidFill>
                  <a:srgbClr val="002060"/>
                </a:solidFill>
              </a:rPr>
              <a:t> Horizon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13</a:t>
            </a:fld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1753737" y="1826914"/>
            <a:ext cx="606643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 err="1"/>
              <a:t>Openstack</a:t>
            </a:r>
            <a:r>
              <a:rPr lang="en-US" dirty="0"/>
              <a:t>: Upload Image </a:t>
            </a:r>
            <a:r>
              <a:rPr lang="en-US" dirty="0" err="1"/>
              <a:t>atau</a:t>
            </a:r>
            <a:r>
              <a:rPr lang="en-US" dirty="0"/>
              <a:t> ISO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 err="1"/>
              <a:t>Openstack</a:t>
            </a:r>
            <a:r>
              <a:rPr lang="en-US" dirty="0"/>
              <a:t>: </a:t>
            </a:r>
            <a:r>
              <a:rPr lang="en-US" dirty="0" err="1"/>
              <a:t>Membuat</a:t>
            </a:r>
            <a:r>
              <a:rPr lang="en-US" dirty="0"/>
              <a:t> Network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 err="1"/>
              <a:t>Openstack</a:t>
            </a:r>
            <a:r>
              <a:rPr lang="en-US" dirty="0"/>
              <a:t>: </a:t>
            </a:r>
            <a:r>
              <a:rPr lang="en-US" dirty="0" err="1"/>
              <a:t>Membuat</a:t>
            </a:r>
            <a:r>
              <a:rPr lang="en-US" dirty="0"/>
              <a:t> Router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 err="1"/>
              <a:t>Openstack</a:t>
            </a:r>
            <a:r>
              <a:rPr lang="en-US" dirty="0"/>
              <a:t>: </a:t>
            </a:r>
            <a:r>
              <a:rPr lang="en-US" dirty="0" err="1"/>
              <a:t>Menambahkan</a:t>
            </a:r>
            <a:r>
              <a:rPr lang="en-US" dirty="0"/>
              <a:t> SSH Key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 err="1"/>
              <a:t>Openstack</a:t>
            </a:r>
            <a:r>
              <a:rPr lang="en-US" dirty="0"/>
              <a:t>: </a:t>
            </a:r>
            <a:r>
              <a:rPr lang="en-US" dirty="0" err="1"/>
              <a:t>Menambah</a:t>
            </a:r>
            <a:r>
              <a:rPr lang="en-US" dirty="0"/>
              <a:t>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Security Group</a:t>
            </a:r>
          </a:p>
        </p:txBody>
      </p:sp>
    </p:spTree>
    <p:extLst>
      <p:ext uri="{BB962C8B-B14F-4D97-AF65-F5344CB8AC3E}">
        <p14:creationId xmlns:p14="http://schemas.microsoft.com/office/powerpoint/2010/main" val="1277743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4922" y="3227746"/>
            <a:ext cx="4748568" cy="994172"/>
          </a:xfrm>
        </p:spPr>
        <p:txBody>
          <a:bodyPr>
            <a:normAutofit fontScale="90000"/>
          </a:bodyPr>
          <a:lstStyle/>
          <a:p>
            <a:pPr marL="457200" indent="-457200">
              <a:buFont typeface="Wingdings" panose="05000000000000000000" pitchFamily="2" charset="2"/>
              <a:buChar char="ü"/>
            </a:pPr>
            <a:r>
              <a:rPr lang="en-US" dirty="0">
                <a:solidFill>
                  <a:srgbClr val="002060"/>
                </a:solidFill>
              </a:rPr>
              <a:t>Upload Image </a:t>
            </a:r>
            <a:r>
              <a:rPr lang="en-US" dirty="0" err="1">
                <a:solidFill>
                  <a:srgbClr val="002060"/>
                </a:solidFill>
              </a:rPr>
              <a:t>atau</a:t>
            </a:r>
            <a:r>
              <a:rPr lang="en-US" dirty="0">
                <a:solidFill>
                  <a:srgbClr val="002060"/>
                </a:solidFill>
              </a:rPr>
              <a:t> </a:t>
            </a:r>
            <a:r>
              <a:rPr lang="en-US" dirty="0" smtClean="0">
                <a:solidFill>
                  <a:srgbClr val="002060"/>
                </a:solidFill>
              </a:rPr>
              <a:t>ISO</a:t>
            </a:r>
            <a:br>
              <a:rPr lang="en-US" dirty="0" smtClean="0">
                <a:solidFill>
                  <a:srgbClr val="002060"/>
                </a:solidFill>
              </a:rPr>
            </a:br>
            <a:r>
              <a:rPr lang="en-US" dirty="0">
                <a:solidFill>
                  <a:srgbClr val="002060"/>
                </a:solidFill>
              </a:rPr>
              <a:t/>
            </a:r>
            <a:br>
              <a:rPr lang="en-US" dirty="0">
                <a:solidFill>
                  <a:srgbClr val="002060"/>
                </a:solidFill>
              </a:rPr>
            </a:br>
            <a:r>
              <a:rPr lang="en-US" b="1" dirty="0" smtClean="0">
                <a:solidFill>
                  <a:srgbClr val="002060"/>
                </a:solidFill>
              </a:rPr>
              <a:t>Create Instance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14</a:t>
            </a:fld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133484" y="190619"/>
            <a:ext cx="606643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b="1" dirty="0" err="1">
                <a:solidFill>
                  <a:srgbClr val="002060"/>
                </a:solidFill>
              </a:rPr>
              <a:t>Openstack</a:t>
            </a:r>
            <a:r>
              <a:rPr lang="en-US" b="1" dirty="0">
                <a:solidFill>
                  <a:srgbClr val="002060"/>
                </a:solidFill>
              </a:rPr>
              <a:t>: Upload Image </a:t>
            </a:r>
            <a:r>
              <a:rPr lang="en-US" b="1" dirty="0" err="1">
                <a:solidFill>
                  <a:srgbClr val="002060"/>
                </a:solidFill>
              </a:rPr>
              <a:t>atau</a:t>
            </a:r>
            <a:r>
              <a:rPr lang="en-US" b="1" dirty="0">
                <a:solidFill>
                  <a:srgbClr val="002060"/>
                </a:solidFill>
              </a:rPr>
              <a:t> ISO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Openstack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: </a:t>
            </a: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Membuat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Network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Openstack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: </a:t>
            </a: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Membuat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Router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Openstack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: </a:t>
            </a: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Menambahkan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SSH Key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Openstack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: </a:t>
            </a: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Menambah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dan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Menggunakan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Security Group</a:t>
            </a:r>
          </a:p>
        </p:txBody>
      </p:sp>
    </p:spTree>
    <p:extLst>
      <p:ext uri="{BB962C8B-B14F-4D97-AF65-F5344CB8AC3E}">
        <p14:creationId xmlns:p14="http://schemas.microsoft.com/office/powerpoint/2010/main" val="13620259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15</a:t>
            </a:fld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3200400" y="65812"/>
            <a:ext cx="5943600" cy="280338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Lab: </a:t>
            </a:r>
            <a:r>
              <a:rPr lang="en-US" sz="2400" b="1" dirty="0" err="1" smtClean="0"/>
              <a:t>Kolla</a:t>
            </a:r>
            <a:r>
              <a:rPr lang="en-US" sz="2400" b="1" dirty="0" smtClean="0"/>
              <a:t> </a:t>
            </a:r>
            <a:r>
              <a:rPr lang="en-US" sz="2400" b="1" dirty="0" err="1"/>
              <a:t>Ansible</a:t>
            </a:r>
            <a:r>
              <a:rPr lang="en-US" sz="2400" b="1" dirty="0"/>
              <a:t> All in One </a:t>
            </a:r>
            <a:r>
              <a:rPr lang="en-US" sz="2400" b="1" dirty="0" err="1" smtClean="0"/>
              <a:t>Openstack</a:t>
            </a:r>
            <a:r>
              <a:rPr lang="en-US" sz="2400" b="1" dirty="0" smtClean="0"/>
              <a:t> 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Cons’t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43300" y="1011154"/>
            <a:ext cx="428431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 smtClean="0"/>
              <a:t>Upload </a:t>
            </a:r>
            <a:r>
              <a:rPr lang="en-US" sz="1200" dirty="0"/>
              <a:t>image </a:t>
            </a:r>
            <a:r>
              <a:rPr lang="en-US" sz="1200" dirty="0" err="1"/>
              <a:t>atau</a:t>
            </a:r>
            <a:r>
              <a:rPr lang="en-US" sz="1200" dirty="0"/>
              <a:t> </a:t>
            </a:r>
            <a:r>
              <a:rPr lang="en-US" sz="1200" dirty="0" err="1"/>
              <a:t>iso</a:t>
            </a:r>
            <a:r>
              <a:rPr lang="en-US" sz="1200" dirty="0"/>
              <a:t> </a:t>
            </a:r>
            <a:r>
              <a:rPr lang="en-US" sz="1200" dirty="0" err="1"/>
              <a:t>menggunakan</a:t>
            </a:r>
            <a:r>
              <a:rPr lang="en-US" sz="1200" dirty="0"/>
              <a:t> </a:t>
            </a:r>
            <a:r>
              <a:rPr lang="en-US" sz="1200" dirty="0" err="1"/>
              <a:t>cirros</a:t>
            </a:r>
            <a:r>
              <a:rPr lang="en-US" sz="1200" dirty="0"/>
              <a:t>, </a:t>
            </a:r>
            <a:r>
              <a:rPr lang="en-US" sz="1200" dirty="0" err="1"/>
              <a:t>silakan</a:t>
            </a:r>
            <a:r>
              <a:rPr lang="en-US" sz="1200" dirty="0"/>
              <a:t> </a:t>
            </a:r>
            <a:endParaRPr lang="en-US" sz="1200" dirty="0" smtClean="0"/>
          </a:p>
          <a:p>
            <a:pPr algn="just"/>
            <a:r>
              <a:rPr lang="en-US" sz="1200" dirty="0" smtClean="0"/>
              <a:t>Login </a:t>
            </a:r>
            <a:r>
              <a:rPr lang="en-US" sz="1200" dirty="0"/>
              <a:t>Horizon &gt;&gt; </a:t>
            </a:r>
            <a:r>
              <a:rPr lang="en-US" sz="1200" dirty="0" smtClean="0"/>
              <a:t>Project </a:t>
            </a:r>
            <a:r>
              <a:rPr lang="en-US" sz="1200" dirty="0"/>
              <a:t>&gt;&gt; Compute &gt;&gt; </a:t>
            </a:r>
            <a:r>
              <a:rPr lang="en-US" sz="1200" dirty="0" smtClean="0"/>
              <a:t>Instances </a:t>
            </a:r>
            <a:r>
              <a:rPr lang="en-US" sz="1200" dirty="0"/>
              <a:t>&gt;&gt; </a:t>
            </a:r>
            <a:r>
              <a:rPr lang="en-US" sz="1200" dirty="0" smtClean="0"/>
              <a:t>Launch Instance</a:t>
            </a:r>
            <a:endParaRPr lang="en-US" sz="1200" dirty="0"/>
          </a:p>
        </p:txBody>
      </p:sp>
      <p:sp>
        <p:nvSpPr>
          <p:cNvPr id="9" name="Rectangle 8"/>
          <p:cNvSpPr/>
          <p:nvPr/>
        </p:nvSpPr>
        <p:spPr>
          <a:xfrm>
            <a:off x="4570922" y="555700"/>
            <a:ext cx="413911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/>
              <a:t>M</a:t>
            </a:r>
            <a:r>
              <a:rPr lang="en-US" sz="1200" dirty="0" smtClean="0"/>
              <a:t>enu</a:t>
            </a:r>
            <a:r>
              <a:rPr lang="en-US" sz="1200" dirty="0"/>
              <a:t> </a:t>
            </a:r>
            <a:r>
              <a:rPr lang="en-US" sz="1200" b="1" dirty="0"/>
              <a:t>Flavor</a:t>
            </a:r>
            <a:r>
              <a:rPr lang="en-US" sz="1200" dirty="0"/>
              <a:t> </a:t>
            </a:r>
            <a:r>
              <a:rPr lang="en-US" sz="1200" dirty="0" err="1"/>
              <a:t>silakan</a:t>
            </a:r>
            <a:r>
              <a:rPr lang="en-US" sz="1200" dirty="0"/>
              <a:t> </a:t>
            </a:r>
            <a:r>
              <a:rPr lang="en-US" sz="1200" dirty="0" err="1"/>
              <a:t>pilih</a:t>
            </a:r>
            <a:r>
              <a:rPr lang="en-US" sz="1200" dirty="0"/>
              <a:t> </a:t>
            </a:r>
            <a:r>
              <a:rPr lang="en-US" sz="1200" dirty="0" err="1"/>
              <a:t>spesifikasi</a:t>
            </a:r>
            <a:r>
              <a:rPr lang="en-US" sz="1200" dirty="0"/>
              <a:t> instance</a:t>
            </a:r>
            <a:endParaRPr lang="en-US" sz="1200" dirty="0"/>
          </a:p>
        </p:txBody>
      </p:sp>
      <p:sp>
        <p:nvSpPr>
          <p:cNvPr id="2" name="Rectangle 1"/>
          <p:cNvSpPr/>
          <p:nvPr/>
        </p:nvSpPr>
        <p:spPr>
          <a:xfrm>
            <a:off x="143301" y="512112"/>
            <a:ext cx="232583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Upload Image </a:t>
            </a:r>
            <a:r>
              <a:rPr lang="en-US" dirty="0" err="1">
                <a:solidFill>
                  <a:srgbClr val="002060"/>
                </a:solidFill>
              </a:rPr>
              <a:t>atau</a:t>
            </a:r>
            <a:r>
              <a:rPr lang="en-US" dirty="0">
                <a:solidFill>
                  <a:srgbClr val="002060"/>
                </a:solidFill>
              </a:rPr>
              <a:t> ISO</a:t>
            </a:r>
          </a:p>
          <a:p>
            <a:r>
              <a:rPr lang="en-US" b="1" dirty="0">
                <a:solidFill>
                  <a:srgbClr val="002060"/>
                </a:solidFill>
              </a:rPr>
              <a:t>Create Instance</a:t>
            </a:r>
            <a:endParaRPr lang="en-US" b="1" dirty="0">
              <a:solidFill>
                <a:srgbClr val="002060"/>
              </a:solidFill>
            </a:endParaRPr>
          </a:p>
        </p:txBody>
      </p:sp>
      <p:grpSp>
        <p:nvGrpSpPr>
          <p:cNvPr id="16" name="Group 15"/>
          <p:cNvGrpSpPr/>
          <p:nvPr/>
        </p:nvGrpSpPr>
        <p:grpSpPr>
          <a:xfrm>
            <a:off x="267205" y="1657485"/>
            <a:ext cx="4160414" cy="1460183"/>
            <a:chOff x="267206" y="1371953"/>
            <a:chExt cx="4160414" cy="1071938"/>
          </a:xfrm>
        </p:grpSpPr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206" y="1371953"/>
              <a:ext cx="4160414" cy="1071938"/>
            </a:xfrm>
            <a:prstGeom prst="rect">
              <a:avLst/>
            </a:prstGeom>
          </p:spPr>
        </p:pic>
        <p:sp>
          <p:nvSpPr>
            <p:cNvPr id="15" name="Rectangle 14"/>
            <p:cNvSpPr/>
            <p:nvPr/>
          </p:nvSpPr>
          <p:spPr>
            <a:xfrm>
              <a:off x="1046743" y="1413891"/>
              <a:ext cx="1950633" cy="18466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just"/>
              <a:r>
                <a:rPr lang="en-US" sz="600" dirty="0" smtClean="0">
                  <a:solidFill>
                    <a:schemeClr val="bg1">
                      <a:lumMod val="65000"/>
                    </a:schemeClr>
                  </a:solidFill>
                </a:rPr>
                <a:t>Openstack.panda.id/dashboard/project/instances</a:t>
              </a:r>
              <a:endParaRPr lang="en-US" sz="6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pic>
        <p:nvPicPr>
          <p:cNvPr id="17" name="Picture 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205" y="3341982"/>
            <a:ext cx="4079277" cy="1801518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205252" y="2970379"/>
            <a:ext cx="428431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 err="1"/>
              <a:t>Pada</a:t>
            </a:r>
            <a:r>
              <a:rPr lang="en-US" sz="1200" dirty="0"/>
              <a:t> menu Source </a:t>
            </a:r>
            <a:r>
              <a:rPr lang="en-US" sz="1200" dirty="0" err="1"/>
              <a:t>silakan</a:t>
            </a:r>
            <a:r>
              <a:rPr lang="en-US" sz="1200" dirty="0"/>
              <a:t> </a:t>
            </a:r>
            <a:r>
              <a:rPr lang="en-US" sz="1200" dirty="0" err="1"/>
              <a:t>pilih</a:t>
            </a:r>
            <a:r>
              <a:rPr lang="en-US" sz="1200" dirty="0"/>
              <a:t> OS </a:t>
            </a:r>
            <a:r>
              <a:rPr lang="en-US" sz="1200" dirty="0" err="1"/>
              <a:t>atau</a:t>
            </a:r>
            <a:r>
              <a:rPr lang="en-US" sz="1200" dirty="0"/>
              <a:t> image yang </a:t>
            </a:r>
            <a:r>
              <a:rPr lang="en-US" sz="1200" dirty="0" err="1"/>
              <a:t>ingin</a:t>
            </a:r>
            <a:r>
              <a:rPr lang="en-US" sz="1200" dirty="0"/>
              <a:t> </a:t>
            </a:r>
            <a:r>
              <a:rPr lang="en-US" sz="1200" dirty="0" err="1"/>
              <a:t>Anda</a:t>
            </a:r>
            <a:r>
              <a:rPr lang="en-US" sz="1200" dirty="0"/>
              <a:t> </a:t>
            </a:r>
            <a:r>
              <a:rPr lang="en-US" sz="1200" dirty="0" err="1"/>
              <a:t>gunakan</a:t>
            </a:r>
            <a:r>
              <a:rPr lang="en-US" sz="1200" dirty="0"/>
              <a:t>, </a:t>
            </a:r>
            <a:r>
              <a:rPr lang="en-US" sz="1200" dirty="0" err="1"/>
              <a:t>disini</a:t>
            </a:r>
            <a:r>
              <a:rPr lang="en-US" sz="1200" dirty="0"/>
              <a:t> kami </a:t>
            </a:r>
            <a:r>
              <a:rPr lang="en-US" sz="1200" dirty="0" err="1"/>
              <a:t>contohkan</a:t>
            </a:r>
            <a:r>
              <a:rPr lang="en-US" sz="1200" dirty="0"/>
              <a:t> OS yang kami </a:t>
            </a:r>
            <a:r>
              <a:rPr lang="en-US" sz="1200" dirty="0" err="1"/>
              <a:t>gunakan</a:t>
            </a:r>
            <a:r>
              <a:rPr lang="en-US" sz="1200" dirty="0"/>
              <a:t> </a:t>
            </a:r>
            <a:r>
              <a:rPr lang="en-US" sz="1200" dirty="0" err="1"/>
              <a:t>yaitu</a:t>
            </a:r>
            <a:r>
              <a:rPr lang="en-US" sz="1200" dirty="0"/>
              <a:t> </a:t>
            </a:r>
            <a:r>
              <a:rPr lang="en-US" sz="1200" dirty="0" err="1"/>
              <a:t>Cirros</a:t>
            </a:r>
            <a:endParaRPr lang="en-US" sz="1200" dirty="0"/>
          </a:p>
          <a:p>
            <a:pPr algn="just"/>
            <a:endParaRPr lang="en-US" sz="1200" dirty="0"/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0921" y="832699"/>
            <a:ext cx="4442449" cy="2067255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722586" y="2970379"/>
            <a:ext cx="413911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 smtClean="0"/>
              <a:t>Menu</a:t>
            </a:r>
            <a:r>
              <a:rPr lang="en-US" sz="1200" dirty="0"/>
              <a:t> </a:t>
            </a:r>
            <a:r>
              <a:rPr lang="en-US" sz="1200" b="1" dirty="0"/>
              <a:t>Networks</a:t>
            </a:r>
            <a:r>
              <a:rPr lang="en-US" sz="1200" dirty="0"/>
              <a:t> </a:t>
            </a:r>
            <a:r>
              <a:rPr lang="en-US" sz="1200" dirty="0" err="1"/>
              <a:t>silakan</a:t>
            </a:r>
            <a:r>
              <a:rPr lang="en-US" sz="1200" dirty="0"/>
              <a:t> </a:t>
            </a:r>
            <a:r>
              <a:rPr lang="en-US" sz="1200" dirty="0" err="1"/>
              <a:t>pilih</a:t>
            </a:r>
            <a:r>
              <a:rPr lang="en-US" sz="1200" dirty="0"/>
              <a:t> network internal yang </a:t>
            </a:r>
            <a:r>
              <a:rPr lang="en-US" sz="1200" dirty="0" err="1"/>
              <a:t>telah</a:t>
            </a:r>
            <a:r>
              <a:rPr lang="en-US" sz="1200" dirty="0"/>
              <a:t> </a:t>
            </a:r>
            <a:r>
              <a:rPr lang="en-US" sz="1200" dirty="0" err="1"/>
              <a:t>dibuat</a:t>
            </a:r>
            <a:r>
              <a:rPr lang="en-US" sz="1200" dirty="0"/>
              <a:t> </a:t>
            </a:r>
            <a:r>
              <a:rPr lang="en-US" sz="1200" dirty="0" err="1"/>
              <a:t>sebelumnya</a:t>
            </a:r>
            <a:r>
              <a:rPr lang="en-US" sz="1200" dirty="0"/>
              <a:t>.</a:t>
            </a:r>
            <a:endParaRPr lang="en-US" sz="1200" dirty="0"/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9497" y="3432044"/>
            <a:ext cx="4433873" cy="1514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923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16</a:t>
            </a:fld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3200400" y="65812"/>
            <a:ext cx="5943600" cy="280338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Lab: </a:t>
            </a:r>
            <a:r>
              <a:rPr lang="en-US" sz="2400" b="1" dirty="0" err="1" smtClean="0"/>
              <a:t>Kolla</a:t>
            </a:r>
            <a:r>
              <a:rPr lang="en-US" sz="2400" b="1" dirty="0" smtClean="0"/>
              <a:t> </a:t>
            </a:r>
            <a:r>
              <a:rPr lang="en-US" sz="2400" b="1" dirty="0" err="1"/>
              <a:t>Ansible</a:t>
            </a:r>
            <a:r>
              <a:rPr lang="en-US" sz="2400" b="1" dirty="0"/>
              <a:t> All in One </a:t>
            </a:r>
            <a:r>
              <a:rPr lang="en-US" sz="2400" b="1" dirty="0" err="1" smtClean="0"/>
              <a:t>Openstack</a:t>
            </a:r>
            <a:r>
              <a:rPr lang="en-US" sz="2400" b="1" dirty="0" smtClean="0"/>
              <a:t> 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Cons’t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43300" y="1011154"/>
            <a:ext cx="428431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 smtClean="0"/>
              <a:t>Menu </a:t>
            </a:r>
            <a:r>
              <a:rPr lang="en-US" sz="1200" dirty="0"/>
              <a:t>Security Groups , </a:t>
            </a:r>
            <a:r>
              <a:rPr lang="en-US" sz="1200" dirty="0" err="1"/>
              <a:t>silakan</a:t>
            </a:r>
            <a:r>
              <a:rPr lang="en-US" sz="1200" dirty="0"/>
              <a:t> </a:t>
            </a:r>
            <a:r>
              <a:rPr lang="en-US" sz="1200" dirty="0" err="1"/>
              <a:t>pilih</a:t>
            </a:r>
            <a:r>
              <a:rPr lang="en-US" sz="1200" dirty="0"/>
              <a:t> Security Groups yang </a:t>
            </a:r>
            <a:r>
              <a:rPr lang="en-US" sz="1200" dirty="0" err="1"/>
              <a:t>telah</a:t>
            </a:r>
            <a:r>
              <a:rPr lang="en-US" sz="1200" dirty="0"/>
              <a:t> </a:t>
            </a:r>
            <a:r>
              <a:rPr lang="en-US" sz="1200" dirty="0" err="1"/>
              <a:t>dibuat</a:t>
            </a:r>
            <a:r>
              <a:rPr lang="en-US" sz="1200" dirty="0"/>
              <a:t> </a:t>
            </a:r>
            <a:r>
              <a:rPr lang="en-US" sz="1200" dirty="0" err="1"/>
              <a:t>sebelumnya</a:t>
            </a:r>
            <a:r>
              <a:rPr lang="en-US" sz="1200" dirty="0"/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0922" y="555700"/>
            <a:ext cx="413911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 err="1" smtClean="0"/>
              <a:t>J</a:t>
            </a:r>
            <a:r>
              <a:rPr lang="en-US" sz="1200" dirty="0" err="1"/>
              <a:t>ika</a:t>
            </a:r>
            <a:r>
              <a:rPr lang="en-US" sz="1200" dirty="0"/>
              <a:t> </a:t>
            </a:r>
            <a:r>
              <a:rPr lang="en-US" sz="1200" dirty="0" err="1"/>
              <a:t>sudah</a:t>
            </a:r>
            <a:r>
              <a:rPr lang="en-US" sz="1200" dirty="0"/>
              <a:t> </a:t>
            </a:r>
            <a:r>
              <a:rPr lang="en-US" sz="1200" dirty="0" err="1"/>
              <a:t>silakan</a:t>
            </a:r>
            <a:r>
              <a:rPr lang="en-US" sz="1200" dirty="0"/>
              <a:t>, create </a:t>
            </a:r>
            <a:r>
              <a:rPr lang="en-US" sz="1200" b="1" dirty="0"/>
              <a:t>Launch Instance</a:t>
            </a:r>
            <a:r>
              <a:rPr lang="en-US" sz="1200" dirty="0"/>
              <a:t> </a:t>
            </a:r>
            <a:r>
              <a:rPr lang="en-US" sz="1200" dirty="0" err="1"/>
              <a:t>silakan</a:t>
            </a:r>
            <a:r>
              <a:rPr lang="en-US" sz="1200" dirty="0"/>
              <a:t> </a:t>
            </a:r>
            <a:r>
              <a:rPr lang="en-US" sz="1200" dirty="0" err="1"/>
              <a:t>tunggu</a:t>
            </a:r>
            <a:r>
              <a:rPr lang="en-US" sz="1200" dirty="0"/>
              <a:t> proses </a:t>
            </a:r>
            <a:r>
              <a:rPr lang="en-US" sz="1200" dirty="0" err="1"/>
              <a:t>pembuatan</a:t>
            </a:r>
            <a:r>
              <a:rPr lang="en-US" sz="1200" dirty="0"/>
              <a:t> Instance </a:t>
            </a:r>
            <a:r>
              <a:rPr lang="en-US" sz="1200" dirty="0" err="1"/>
              <a:t>selesai</a:t>
            </a:r>
            <a:endParaRPr lang="en-US" sz="1200" dirty="0"/>
          </a:p>
        </p:txBody>
      </p:sp>
      <p:sp>
        <p:nvSpPr>
          <p:cNvPr id="2" name="Rectangle 1"/>
          <p:cNvSpPr/>
          <p:nvPr/>
        </p:nvSpPr>
        <p:spPr>
          <a:xfrm>
            <a:off x="143301" y="512112"/>
            <a:ext cx="232583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Upload Image </a:t>
            </a:r>
            <a:r>
              <a:rPr lang="en-US" dirty="0" err="1">
                <a:solidFill>
                  <a:srgbClr val="002060"/>
                </a:solidFill>
              </a:rPr>
              <a:t>atau</a:t>
            </a:r>
            <a:r>
              <a:rPr lang="en-US" dirty="0">
                <a:solidFill>
                  <a:srgbClr val="002060"/>
                </a:solidFill>
              </a:rPr>
              <a:t> ISO</a:t>
            </a:r>
          </a:p>
          <a:p>
            <a:r>
              <a:rPr lang="en-US" b="1" dirty="0">
                <a:solidFill>
                  <a:srgbClr val="002060"/>
                </a:solidFill>
              </a:rPr>
              <a:t>Create Instance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05252" y="2970379"/>
            <a:ext cx="428431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 smtClean="0"/>
              <a:t>Menu</a:t>
            </a:r>
            <a:r>
              <a:rPr lang="en-US" sz="1200" dirty="0"/>
              <a:t> </a:t>
            </a:r>
            <a:r>
              <a:rPr lang="en-US" sz="1200" b="1" dirty="0"/>
              <a:t>Key Pair</a:t>
            </a:r>
            <a:r>
              <a:rPr lang="en-US" sz="1200" dirty="0"/>
              <a:t> </a:t>
            </a:r>
            <a:r>
              <a:rPr lang="en-US" sz="1200" dirty="0" err="1"/>
              <a:t>silakan</a:t>
            </a:r>
            <a:r>
              <a:rPr lang="en-US" sz="1200" dirty="0"/>
              <a:t> </a:t>
            </a:r>
            <a:r>
              <a:rPr lang="en-US" sz="1200" dirty="0" err="1"/>
              <a:t>pilih</a:t>
            </a:r>
            <a:r>
              <a:rPr lang="en-US" sz="1200" dirty="0"/>
              <a:t> key pair yang </a:t>
            </a:r>
            <a:r>
              <a:rPr lang="en-US" sz="1200" dirty="0" err="1"/>
              <a:t>telah</a:t>
            </a:r>
            <a:r>
              <a:rPr lang="en-US" sz="1200" dirty="0"/>
              <a:t> di </a:t>
            </a:r>
            <a:r>
              <a:rPr lang="en-US" sz="1200" dirty="0" err="1"/>
              <a:t>buat</a:t>
            </a:r>
            <a:r>
              <a:rPr lang="en-US" sz="1200" dirty="0"/>
              <a:t> </a:t>
            </a:r>
            <a:r>
              <a:rPr lang="en-US" sz="1200" dirty="0" err="1"/>
              <a:t>juga</a:t>
            </a:r>
            <a:r>
              <a:rPr lang="en-US" sz="1200" dirty="0"/>
              <a:t> </a:t>
            </a:r>
            <a:r>
              <a:rPr lang="en-US" sz="1200" dirty="0" err="1" smtClean="0"/>
              <a:t>sebelumnya</a:t>
            </a:r>
            <a:endParaRPr lang="en-US" sz="1200" dirty="0"/>
          </a:p>
        </p:txBody>
      </p:sp>
      <p:sp>
        <p:nvSpPr>
          <p:cNvPr id="20" name="Rectangle 19"/>
          <p:cNvSpPr/>
          <p:nvPr/>
        </p:nvSpPr>
        <p:spPr>
          <a:xfrm>
            <a:off x="4683154" y="2805454"/>
            <a:ext cx="413911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 err="1"/>
              <a:t>Saat</a:t>
            </a:r>
            <a:r>
              <a:rPr lang="en-US" sz="1200" dirty="0"/>
              <a:t> </a:t>
            </a:r>
            <a:r>
              <a:rPr lang="en-US" sz="1200" dirty="0" err="1"/>
              <a:t>ini</a:t>
            </a:r>
            <a:r>
              <a:rPr lang="en-US" sz="1200" dirty="0"/>
              <a:t> instance </a:t>
            </a:r>
            <a:r>
              <a:rPr lang="en-US" sz="1200" dirty="0" err="1"/>
              <a:t>sudah</a:t>
            </a:r>
            <a:r>
              <a:rPr lang="en-US" sz="1200" dirty="0"/>
              <a:t> </a:t>
            </a:r>
            <a:r>
              <a:rPr lang="en-US" sz="1200" dirty="0" err="1"/>
              <a:t>mendapatkan</a:t>
            </a:r>
            <a:r>
              <a:rPr lang="en-US" sz="1200" dirty="0"/>
              <a:t> IP internal </a:t>
            </a:r>
            <a:r>
              <a:rPr lang="en-US" sz="1200" dirty="0" err="1"/>
              <a:t>secara</a:t>
            </a:r>
            <a:r>
              <a:rPr lang="en-US" sz="1200" dirty="0"/>
              <a:t> </a:t>
            </a:r>
            <a:r>
              <a:rPr lang="en-US" sz="1200" dirty="0" err="1"/>
              <a:t>otomatis</a:t>
            </a:r>
            <a:r>
              <a:rPr lang="en-US" sz="1200" dirty="0"/>
              <a:t>, </a:t>
            </a:r>
            <a:r>
              <a:rPr lang="en-US" sz="1200" dirty="0" err="1"/>
              <a:t>supaya</a:t>
            </a:r>
            <a:r>
              <a:rPr lang="en-US" sz="1200" dirty="0"/>
              <a:t> </a:t>
            </a:r>
            <a:r>
              <a:rPr lang="en-US" sz="1200" dirty="0" err="1"/>
              <a:t>dapat</a:t>
            </a:r>
            <a:r>
              <a:rPr lang="en-US" sz="1200" dirty="0"/>
              <a:t> </a:t>
            </a:r>
            <a:r>
              <a:rPr lang="en-US" sz="1200" dirty="0" err="1"/>
              <a:t>diakses</a:t>
            </a:r>
            <a:r>
              <a:rPr lang="en-US" sz="1200" dirty="0"/>
              <a:t> </a:t>
            </a:r>
            <a:r>
              <a:rPr lang="en-US" sz="1200" dirty="0" err="1"/>
              <a:t>dari</a:t>
            </a:r>
            <a:r>
              <a:rPr lang="en-US" sz="1200" dirty="0"/>
              <a:t> public </a:t>
            </a:r>
            <a:r>
              <a:rPr lang="en-US" sz="1200" dirty="0" err="1"/>
              <a:t>silakan</a:t>
            </a:r>
            <a:r>
              <a:rPr lang="en-US" sz="1200" dirty="0"/>
              <a:t> </a:t>
            </a:r>
            <a:r>
              <a:rPr lang="en-US" sz="1200" dirty="0" err="1"/>
              <a:t>membuat</a:t>
            </a:r>
            <a:r>
              <a:rPr lang="en-US" sz="1200" dirty="0"/>
              <a:t> floating IP </a:t>
            </a:r>
            <a:r>
              <a:rPr lang="en-US" sz="1200" dirty="0" err="1"/>
              <a:t>pada</a:t>
            </a:r>
            <a:r>
              <a:rPr lang="en-US" sz="1200" dirty="0"/>
              <a:t> instance </a:t>
            </a:r>
            <a:r>
              <a:rPr lang="en-US" sz="1200" dirty="0" err="1"/>
              <a:t>silakan</a:t>
            </a:r>
            <a:r>
              <a:rPr lang="en-US" sz="1200" dirty="0"/>
              <a:t> </a:t>
            </a:r>
            <a:r>
              <a:rPr lang="en-US" sz="1200" dirty="0" err="1"/>
              <a:t>klik</a:t>
            </a:r>
            <a:r>
              <a:rPr lang="en-US" sz="1200" dirty="0"/>
              <a:t> menu Associate Floating IP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83" y="1441636"/>
            <a:ext cx="4090736" cy="152874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883" y="3400862"/>
            <a:ext cx="4090736" cy="1528742"/>
          </a:xfrm>
          <a:prstGeom prst="rect">
            <a:avLst/>
          </a:prstGeom>
        </p:spPr>
      </p:pic>
      <p:grpSp>
        <p:nvGrpSpPr>
          <p:cNvPr id="14" name="Group 13"/>
          <p:cNvGrpSpPr/>
          <p:nvPr/>
        </p:nvGrpSpPr>
        <p:grpSpPr>
          <a:xfrm>
            <a:off x="4698013" y="1017365"/>
            <a:ext cx="4163690" cy="1785993"/>
            <a:chOff x="4698013" y="1017365"/>
            <a:chExt cx="4163690" cy="1785993"/>
          </a:xfrm>
        </p:grpSpPr>
        <p:pic>
          <p:nvPicPr>
            <p:cNvPr id="10" name="Picture 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98013" y="1017365"/>
              <a:ext cx="4163690" cy="1785993"/>
            </a:xfrm>
            <a:prstGeom prst="rect">
              <a:avLst/>
            </a:prstGeom>
          </p:spPr>
        </p:pic>
        <p:sp>
          <p:nvSpPr>
            <p:cNvPr id="15" name="Rectangle 14"/>
            <p:cNvSpPr/>
            <p:nvPr/>
          </p:nvSpPr>
          <p:spPr>
            <a:xfrm>
              <a:off x="5482633" y="1096151"/>
              <a:ext cx="1950633" cy="25155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just"/>
              <a:r>
                <a:rPr lang="en-US" sz="600" dirty="0" smtClean="0">
                  <a:solidFill>
                    <a:schemeClr val="bg1">
                      <a:lumMod val="65000"/>
                    </a:schemeClr>
                  </a:solidFill>
                </a:rPr>
                <a:t>Openstack.panda.id/dashboard/project/instances</a:t>
              </a:r>
              <a:endParaRPr lang="en-US" sz="6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829262" y="3451635"/>
            <a:ext cx="3993009" cy="1427196"/>
            <a:chOff x="4829262" y="3451635"/>
            <a:chExt cx="3993009" cy="1427196"/>
          </a:xfrm>
        </p:grpSpPr>
        <p:pic>
          <p:nvPicPr>
            <p:cNvPr id="12" name="Picture 11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829262" y="3451635"/>
              <a:ext cx="3993009" cy="1427196"/>
            </a:xfrm>
            <a:prstGeom prst="rect">
              <a:avLst/>
            </a:prstGeom>
          </p:spPr>
        </p:pic>
        <p:sp>
          <p:nvSpPr>
            <p:cNvPr id="22" name="Rectangle 21"/>
            <p:cNvSpPr/>
            <p:nvPr/>
          </p:nvSpPr>
          <p:spPr>
            <a:xfrm>
              <a:off x="5584049" y="3481947"/>
              <a:ext cx="1950633" cy="25155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just"/>
              <a:r>
                <a:rPr lang="en-US" sz="600" dirty="0" smtClean="0">
                  <a:solidFill>
                    <a:schemeClr val="bg1">
                      <a:lumMod val="65000"/>
                    </a:schemeClr>
                  </a:solidFill>
                </a:rPr>
                <a:t>Openstack.panda.id/dashboard/project/instances</a:t>
              </a:r>
              <a:endParaRPr lang="en-US" sz="6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sp>
        <p:nvSpPr>
          <p:cNvPr id="23" name="Rectangle 22"/>
          <p:cNvSpPr/>
          <p:nvPr/>
        </p:nvSpPr>
        <p:spPr>
          <a:xfrm>
            <a:off x="4784920" y="4767263"/>
            <a:ext cx="127138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 err="1"/>
              <a:t>Klik</a:t>
            </a:r>
            <a:r>
              <a:rPr lang="en-US" sz="1400" dirty="0"/>
              <a:t> </a:t>
            </a:r>
            <a:r>
              <a:rPr lang="en-US" sz="1400" dirty="0" err="1"/>
              <a:t>tanda</a:t>
            </a:r>
            <a:r>
              <a:rPr lang="en-US" sz="1400" dirty="0"/>
              <a:t> </a:t>
            </a:r>
            <a:r>
              <a:rPr lang="en-US" sz="1400" dirty="0" smtClean="0"/>
              <a:t>+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0355882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17</a:t>
            </a:fld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3200400" y="65812"/>
            <a:ext cx="5943600" cy="280338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Lab: </a:t>
            </a:r>
            <a:r>
              <a:rPr lang="en-US" sz="2400" b="1" dirty="0" err="1" smtClean="0"/>
              <a:t>Kolla</a:t>
            </a:r>
            <a:r>
              <a:rPr lang="en-US" sz="2400" b="1" dirty="0" smtClean="0"/>
              <a:t> </a:t>
            </a:r>
            <a:r>
              <a:rPr lang="en-US" sz="2400" b="1" dirty="0" err="1"/>
              <a:t>Ansible</a:t>
            </a:r>
            <a:r>
              <a:rPr lang="en-US" sz="2400" b="1" dirty="0"/>
              <a:t> All in One </a:t>
            </a:r>
            <a:r>
              <a:rPr lang="en-US" sz="2400" b="1" dirty="0" err="1" smtClean="0"/>
              <a:t>Openstack</a:t>
            </a:r>
            <a:r>
              <a:rPr lang="en-US" sz="2400" b="1" dirty="0" smtClean="0"/>
              <a:t> 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Cons’t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43301" y="1158443"/>
            <a:ext cx="232583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 smtClean="0"/>
              <a:t>Manage Floating IP Associations </a:t>
            </a:r>
            <a:endParaRPr lang="en-US" sz="1200" dirty="0"/>
          </a:p>
        </p:txBody>
      </p:sp>
      <p:sp>
        <p:nvSpPr>
          <p:cNvPr id="9" name="Rectangle 8"/>
          <p:cNvSpPr/>
          <p:nvPr/>
        </p:nvSpPr>
        <p:spPr>
          <a:xfrm>
            <a:off x="330227" y="3526213"/>
            <a:ext cx="291566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sv-SE" sz="1200" dirty="0"/>
              <a:t>Saat ini kita sudah mendapatkan IP nya, silakan klik </a:t>
            </a:r>
            <a:r>
              <a:rPr lang="sv-SE" sz="1200" b="1" dirty="0"/>
              <a:t>Associate</a:t>
            </a:r>
            <a:r>
              <a:rPr lang="sv-SE" sz="1200" dirty="0"/>
              <a:t> untuk dapat di assign ke instance Anda</a:t>
            </a:r>
            <a:endParaRPr lang="en-US" sz="1200" dirty="0"/>
          </a:p>
        </p:txBody>
      </p:sp>
      <p:sp>
        <p:nvSpPr>
          <p:cNvPr id="2" name="Rectangle 1"/>
          <p:cNvSpPr/>
          <p:nvPr/>
        </p:nvSpPr>
        <p:spPr>
          <a:xfrm>
            <a:off x="143301" y="512112"/>
            <a:ext cx="232583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Upload Image </a:t>
            </a:r>
            <a:r>
              <a:rPr lang="en-US" dirty="0" err="1">
                <a:solidFill>
                  <a:srgbClr val="002060"/>
                </a:solidFill>
              </a:rPr>
              <a:t>atau</a:t>
            </a:r>
            <a:r>
              <a:rPr lang="en-US" dirty="0">
                <a:solidFill>
                  <a:srgbClr val="002060"/>
                </a:solidFill>
              </a:rPr>
              <a:t> ISO</a:t>
            </a:r>
          </a:p>
          <a:p>
            <a:r>
              <a:rPr lang="en-US" b="1" dirty="0">
                <a:solidFill>
                  <a:srgbClr val="002060"/>
                </a:solidFill>
              </a:rPr>
              <a:t>Create Instance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52572" y="2302712"/>
            <a:ext cx="2582193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 err="1" smtClean="0"/>
              <a:t>Pilih</a:t>
            </a:r>
            <a:r>
              <a:rPr lang="en-US" sz="1200" dirty="0" smtClean="0"/>
              <a:t> network external &gt;&gt; Allocate IP</a:t>
            </a:r>
            <a:endParaRPr lang="en-US" sz="1200" dirty="0"/>
          </a:p>
        </p:txBody>
      </p:sp>
      <p:sp>
        <p:nvSpPr>
          <p:cNvPr id="20" name="Rectangle 19"/>
          <p:cNvSpPr/>
          <p:nvPr/>
        </p:nvSpPr>
        <p:spPr>
          <a:xfrm>
            <a:off x="3245896" y="397808"/>
            <a:ext cx="5365462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 err="1" smtClean="0"/>
              <a:t>Saat</a:t>
            </a:r>
            <a:r>
              <a:rPr lang="en-US" sz="1200" dirty="0" smtClean="0"/>
              <a:t> </a:t>
            </a:r>
            <a:r>
              <a:rPr lang="en-US" sz="1200" dirty="0" err="1"/>
              <a:t>ini</a:t>
            </a:r>
            <a:r>
              <a:rPr lang="en-US" sz="1200" dirty="0"/>
              <a:t> instance </a:t>
            </a:r>
            <a:r>
              <a:rPr lang="en-US" sz="1200" dirty="0" err="1"/>
              <a:t>sudah</a:t>
            </a:r>
            <a:r>
              <a:rPr lang="en-US" sz="1200" dirty="0"/>
              <a:t> </a:t>
            </a:r>
            <a:r>
              <a:rPr lang="en-US" sz="1200" dirty="0" err="1"/>
              <a:t>mendapatkan</a:t>
            </a:r>
            <a:r>
              <a:rPr lang="en-US" sz="1200" dirty="0"/>
              <a:t> </a:t>
            </a:r>
            <a:r>
              <a:rPr lang="en-US" sz="1200" dirty="0" err="1"/>
              <a:t>dan</a:t>
            </a:r>
            <a:r>
              <a:rPr lang="en-US" sz="1200" dirty="0"/>
              <a:t> </a:t>
            </a:r>
            <a:r>
              <a:rPr lang="en-US" sz="1200" dirty="0" err="1"/>
              <a:t>menggunakan</a:t>
            </a:r>
            <a:r>
              <a:rPr lang="en-US" sz="1200" dirty="0"/>
              <a:t> IP </a:t>
            </a:r>
            <a:r>
              <a:rPr lang="en-US" sz="1200" dirty="0" err="1"/>
              <a:t>dari</a:t>
            </a:r>
            <a:r>
              <a:rPr lang="en-US" sz="1200" dirty="0"/>
              <a:t> network internal </a:t>
            </a:r>
            <a:r>
              <a:rPr lang="en-US" sz="1200" dirty="0" err="1"/>
              <a:t>dan</a:t>
            </a:r>
            <a:r>
              <a:rPr lang="en-US" sz="1200" dirty="0"/>
              <a:t> external </a:t>
            </a:r>
            <a:r>
              <a:rPr lang="en-US" sz="1200" dirty="0" err="1"/>
              <a:t>dan</a:t>
            </a:r>
            <a:r>
              <a:rPr lang="en-US" sz="1200" dirty="0"/>
              <a:t> </a:t>
            </a:r>
            <a:r>
              <a:rPr lang="en-US" sz="1200" dirty="0" err="1"/>
              <a:t>silakan</a:t>
            </a:r>
            <a:r>
              <a:rPr lang="en-US" sz="1200" dirty="0"/>
              <a:t> test ping </a:t>
            </a:r>
            <a:r>
              <a:rPr lang="en-US" sz="1200" dirty="0" err="1"/>
              <a:t>ke</a:t>
            </a:r>
            <a:r>
              <a:rPr lang="en-US" sz="1200" dirty="0"/>
              <a:t> IP floating</a:t>
            </a:r>
          </a:p>
          <a:p>
            <a:r>
              <a:rPr lang="en-US" sz="1200" dirty="0"/>
              <a:t/>
            </a:r>
            <a:br>
              <a:rPr lang="en-US" sz="1200" dirty="0"/>
            </a:br>
            <a:endParaRPr lang="en-US" sz="1200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52" y="1496716"/>
            <a:ext cx="2893603" cy="83167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572" y="2590861"/>
            <a:ext cx="2829389" cy="996045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2573" y="4172060"/>
            <a:ext cx="2947828" cy="869047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425612" y="2702504"/>
            <a:ext cx="315756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Test login </a:t>
            </a:r>
            <a:r>
              <a:rPr lang="en-US" sz="1200" dirty="0" err="1"/>
              <a:t>ke</a:t>
            </a:r>
            <a:r>
              <a:rPr lang="en-US" sz="1200" dirty="0"/>
              <a:t> </a:t>
            </a:r>
            <a:r>
              <a:rPr lang="en-US" sz="1200" dirty="0" err="1"/>
              <a:t>sisi</a:t>
            </a:r>
            <a:r>
              <a:rPr lang="en-US" sz="1200" dirty="0"/>
              <a:t> instance</a:t>
            </a:r>
          </a:p>
          <a:p>
            <a:r>
              <a:rPr lang="en-US" sz="1200" dirty="0"/>
              <a:t/>
            </a:r>
            <a:br>
              <a:rPr lang="en-US" sz="1200" dirty="0"/>
            </a:br>
            <a:endParaRPr lang="en-US" sz="1200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3310" y="3730997"/>
            <a:ext cx="4412832" cy="139065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3245897" y="838159"/>
            <a:ext cx="3973050" cy="4001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altLang="en-US" sz="10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root@controller</a:t>
            </a:r>
            <a:r>
              <a:rPr lang="en-US" altLang="en-US" sz="1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~]#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alt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root@controller</a:t>
            </a:r>
            <a:r>
              <a:rPr lang="en-US" alt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~]#</a:t>
            </a:r>
            <a:r>
              <a:rPr lang="en-US" alt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ping 10.136.136.112 –c4 </a:t>
            </a:r>
            <a:endParaRPr lang="en-US" altLang="en-US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3245896" y="854004"/>
            <a:ext cx="3604083" cy="404452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4130915" y="2105808"/>
            <a:ext cx="2205718" cy="22258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altLang="en-US" sz="400" dirty="0" err="1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root@controller</a:t>
            </a:r>
            <a:r>
              <a:rPr lang="en-US" altLang="en-US" sz="40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~]#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altLang="en-US" sz="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root@controller</a:t>
            </a:r>
            <a:r>
              <a:rPr lang="en-US" altLang="en-US" sz="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40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~]#</a:t>
            </a:r>
            <a:r>
              <a:rPr lang="en-US" altLang="en-US" sz="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40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ping 10.136.136.112 –c4 </a:t>
            </a:r>
            <a:endParaRPr lang="en-US" altLang="en-US" sz="4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3543310" y="3522122"/>
            <a:ext cx="4412832" cy="21544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altLang="en-US" sz="400" dirty="0" err="1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root@controller</a:t>
            </a:r>
            <a:r>
              <a:rPr lang="en-US" altLang="en-US" sz="40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~]#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altLang="en-US" sz="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root@controller</a:t>
            </a:r>
            <a:r>
              <a:rPr lang="en-US" altLang="en-US" sz="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40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~]#</a:t>
            </a:r>
            <a:r>
              <a:rPr lang="en-US" altLang="en-US" sz="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40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ping 10.136.136.112 –c2 |</a:t>
            </a:r>
            <a:r>
              <a:rPr lang="en-US" altLang="en-US" sz="400" dirty="0" err="1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altLang="en-US" sz="40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400" dirty="0" err="1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icmp</a:t>
            </a:r>
            <a:r>
              <a:rPr lang="en-US" altLang="en-US" sz="40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altLang="en-US" sz="4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425612" y="2975685"/>
            <a:ext cx="5089738" cy="4001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altLang="en-US" sz="10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root@controller</a:t>
            </a:r>
            <a:r>
              <a:rPr lang="en-US" altLang="en-US" sz="1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~]#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alt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root@controller</a:t>
            </a:r>
            <a:r>
              <a:rPr lang="en-US" alt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~]#</a:t>
            </a:r>
            <a:r>
              <a:rPr lang="en-US" alt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ping 10.136.136.112 –c2 </a:t>
            </a:r>
            <a:r>
              <a:rPr lang="en-US" alt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  <a:r>
              <a:rPr lang="en-US" alt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alt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icmp</a:t>
            </a:r>
            <a:r>
              <a:rPr lang="en-US" alt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1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altLang="en-US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3425611" y="2991530"/>
            <a:ext cx="4531273" cy="404452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1621" y="1364025"/>
            <a:ext cx="4362450" cy="139065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3903579" y="2147239"/>
            <a:ext cx="2554371" cy="21544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altLang="en-US" sz="400" dirty="0" err="1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root@controller</a:t>
            </a:r>
            <a:r>
              <a:rPr lang="en-US" altLang="en-US" sz="40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~]#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altLang="en-US" sz="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root@controller</a:t>
            </a:r>
            <a:r>
              <a:rPr lang="en-US" altLang="en-US" sz="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40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~]#</a:t>
            </a:r>
            <a:r>
              <a:rPr lang="en-US" altLang="en-US" sz="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40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ping 10.136.136.112 –c4</a:t>
            </a:r>
            <a:endParaRPr lang="en-US" altLang="en-US" sz="4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98448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18</a:t>
            </a:fld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3200400" y="65812"/>
            <a:ext cx="5943600" cy="280338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Lab: </a:t>
            </a:r>
            <a:r>
              <a:rPr lang="en-US" sz="2400" b="1" dirty="0" err="1" smtClean="0"/>
              <a:t>Kolla</a:t>
            </a:r>
            <a:r>
              <a:rPr lang="en-US" sz="2400" b="1" dirty="0" smtClean="0"/>
              <a:t> </a:t>
            </a:r>
            <a:r>
              <a:rPr lang="en-US" sz="2400" b="1" dirty="0" err="1"/>
              <a:t>Ansible</a:t>
            </a:r>
            <a:r>
              <a:rPr lang="en-US" sz="2400" b="1" dirty="0"/>
              <a:t> All in One </a:t>
            </a:r>
            <a:r>
              <a:rPr lang="en-US" sz="2400" b="1" dirty="0" err="1" smtClean="0"/>
              <a:t>Openstack</a:t>
            </a:r>
            <a:r>
              <a:rPr lang="en-US" sz="2400" b="1" dirty="0" smtClean="0"/>
              <a:t> 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Cons’t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4270" y="2310258"/>
            <a:ext cx="4284319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dirty="0" smtClean="0"/>
              <a:t>Upload </a:t>
            </a:r>
            <a:r>
              <a:rPr lang="en-US" sz="1400" dirty="0"/>
              <a:t>image </a:t>
            </a:r>
            <a:r>
              <a:rPr lang="en-US" sz="1400" dirty="0" err="1"/>
              <a:t>atau</a:t>
            </a:r>
            <a:r>
              <a:rPr lang="en-US" sz="1400" dirty="0"/>
              <a:t> </a:t>
            </a:r>
            <a:r>
              <a:rPr lang="en-US" sz="1400" dirty="0" err="1"/>
              <a:t>iso</a:t>
            </a:r>
            <a:r>
              <a:rPr lang="en-US" sz="1400" dirty="0"/>
              <a:t> </a:t>
            </a:r>
            <a:r>
              <a:rPr lang="en-US" sz="1400" dirty="0" err="1"/>
              <a:t>menggunakan</a:t>
            </a:r>
            <a:r>
              <a:rPr lang="en-US" sz="1400" dirty="0"/>
              <a:t> </a:t>
            </a:r>
            <a:r>
              <a:rPr lang="en-US" sz="1400" dirty="0" err="1"/>
              <a:t>cirros</a:t>
            </a:r>
            <a:r>
              <a:rPr lang="en-US" sz="1400" dirty="0"/>
              <a:t>, </a:t>
            </a:r>
            <a:r>
              <a:rPr lang="en-US" sz="1400" dirty="0" err="1"/>
              <a:t>silakan</a:t>
            </a:r>
            <a:r>
              <a:rPr lang="en-US" sz="1400" dirty="0"/>
              <a:t> login Horizon &gt;&gt; Admin &gt;&gt; Compute &gt;&gt; Images &gt;&gt; Create Images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86603" y="3115221"/>
            <a:ext cx="4141017" cy="1981108"/>
            <a:chOff x="286603" y="1402086"/>
            <a:chExt cx="4141017" cy="1981108"/>
          </a:xfrm>
        </p:grpSpPr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6603" y="1402086"/>
              <a:ext cx="4141017" cy="1981108"/>
            </a:xfrm>
            <a:prstGeom prst="rect">
              <a:avLst/>
            </a:prstGeom>
          </p:spPr>
        </p:pic>
        <p:sp>
          <p:nvSpPr>
            <p:cNvPr id="8" name="Rectangle 7"/>
            <p:cNvSpPr/>
            <p:nvPr/>
          </p:nvSpPr>
          <p:spPr>
            <a:xfrm>
              <a:off x="1046743" y="1513947"/>
              <a:ext cx="1687340" cy="18466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just"/>
              <a:r>
                <a:rPr lang="en-US" sz="600" dirty="0" smtClean="0">
                  <a:solidFill>
                    <a:schemeClr val="bg1">
                      <a:lumMod val="65000"/>
                    </a:schemeClr>
                  </a:solidFill>
                </a:rPr>
                <a:t>Openstack.panda.id/dashboard/admin/images</a:t>
              </a:r>
              <a:endParaRPr lang="en-US" sz="6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sp>
        <p:nvSpPr>
          <p:cNvPr id="9" name="Rectangle 8"/>
          <p:cNvSpPr/>
          <p:nvPr/>
        </p:nvSpPr>
        <p:spPr>
          <a:xfrm>
            <a:off x="4570922" y="555700"/>
            <a:ext cx="4139117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dirty="0" err="1"/>
              <a:t>Selanjutnya</a:t>
            </a:r>
            <a:r>
              <a:rPr lang="en-US" sz="1400" dirty="0"/>
              <a:t>, </a:t>
            </a:r>
            <a:r>
              <a:rPr lang="en-US" sz="1400" dirty="0" err="1"/>
              <a:t>isi</a:t>
            </a:r>
            <a:r>
              <a:rPr lang="en-US" sz="1400" dirty="0"/>
              <a:t> </a:t>
            </a:r>
            <a:r>
              <a:rPr lang="en-US" sz="1400" i="1" dirty="0"/>
              <a:t>Image Name</a:t>
            </a:r>
            <a:r>
              <a:rPr lang="en-US" sz="1400" dirty="0"/>
              <a:t> </a:t>
            </a:r>
            <a:r>
              <a:rPr lang="en-US" sz="1400" dirty="0" err="1"/>
              <a:t>dengan</a:t>
            </a:r>
            <a:r>
              <a:rPr lang="en-US" sz="1400" dirty="0"/>
              <a:t> </a:t>
            </a:r>
            <a:r>
              <a:rPr lang="en-US" sz="1400" dirty="0" err="1"/>
              <a:t>nama</a:t>
            </a:r>
            <a:r>
              <a:rPr lang="en-US" sz="1400" dirty="0"/>
              <a:t> image yang </a:t>
            </a:r>
            <a:r>
              <a:rPr lang="en-US" sz="1400" dirty="0" err="1"/>
              <a:t>Anda</a:t>
            </a:r>
            <a:r>
              <a:rPr lang="en-US" sz="1400" dirty="0"/>
              <a:t> </a:t>
            </a:r>
            <a:r>
              <a:rPr lang="en-US" sz="1400" dirty="0" err="1"/>
              <a:t>inginkan</a:t>
            </a:r>
            <a:r>
              <a:rPr lang="en-US" sz="1400" dirty="0"/>
              <a:t> </a:t>
            </a:r>
            <a:r>
              <a:rPr lang="en-US" sz="1400" dirty="0" err="1"/>
              <a:t>dan</a:t>
            </a:r>
            <a:r>
              <a:rPr lang="en-US" sz="1400" dirty="0"/>
              <a:t> </a:t>
            </a:r>
            <a:r>
              <a:rPr lang="en-US" sz="1400" dirty="0" err="1"/>
              <a:t>klik</a:t>
            </a:r>
            <a:r>
              <a:rPr lang="en-US" sz="1400" dirty="0"/>
              <a:t> </a:t>
            </a:r>
            <a:r>
              <a:rPr lang="en-US" sz="1400" i="1" dirty="0"/>
              <a:t>Browser</a:t>
            </a:r>
            <a:r>
              <a:rPr lang="en-US" sz="1400" dirty="0"/>
              <a:t> &gt;&gt; </a:t>
            </a:r>
            <a:r>
              <a:rPr lang="en-US" sz="1400" i="1" dirty="0"/>
              <a:t>Upload Image</a:t>
            </a:r>
            <a:r>
              <a:rPr lang="en-US" sz="1400" dirty="0"/>
              <a:t> </a:t>
            </a:r>
            <a:r>
              <a:rPr lang="en-US" sz="1400" i="1" dirty="0"/>
              <a:t>&gt;&gt; Format (QCOW2 – QEMU Emulator)</a:t>
            </a:r>
            <a:r>
              <a:rPr lang="en-US" sz="1400" dirty="0"/>
              <a:t> </a:t>
            </a:r>
            <a:r>
              <a:rPr lang="en-US" sz="1400" i="1" dirty="0"/>
              <a:t>&gt;&gt; </a:t>
            </a:r>
            <a:r>
              <a:rPr lang="en-US" sz="1400" i="1" dirty="0" err="1"/>
              <a:t>Klik</a:t>
            </a:r>
            <a:r>
              <a:rPr lang="en-US" sz="1400" i="1" dirty="0"/>
              <a:t> Create Image</a:t>
            </a:r>
            <a:endParaRPr lang="en-US" sz="1400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1132" y="1509807"/>
            <a:ext cx="4058907" cy="158087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1132" y="3383194"/>
            <a:ext cx="4268279" cy="1384069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214951" y="253705"/>
            <a:ext cx="232583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Upload Image </a:t>
            </a:r>
            <a:r>
              <a:rPr lang="en-US" dirty="0" err="1">
                <a:solidFill>
                  <a:srgbClr val="002060"/>
                </a:solidFill>
              </a:rPr>
              <a:t>atau</a:t>
            </a:r>
            <a:r>
              <a:rPr lang="en-US" dirty="0">
                <a:solidFill>
                  <a:srgbClr val="002060"/>
                </a:solidFill>
              </a:rPr>
              <a:t> </a:t>
            </a:r>
            <a:r>
              <a:rPr lang="en-US" dirty="0" smtClean="0">
                <a:solidFill>
                  <a:srgbClr val="002060"/>
                </a:solidFill>
              </a:rPr>
              <a:t>ISO</a:t>
            </a:r>
          </a:p>
          <a:p>
            <a:r>
              <a:rPr lang="en-US" b="1" dirty="0">
                <a:solidFill>
                  <a:srgbClr val="002060"/>
                </a:solidFill>
              </a:rPr>
              <a:t>Create </a:t>
            </a:r>
            <a:r>
              <a:rPr lang="en-US" b="1" dirty="0" smtClean="0">
                <a:solidFill>
                  <a:srgbClr val="002060"/>
                </a:solidFill>
              </a:rPr>
              <a:t>Image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14951" y="800737"/>
            <a:ext cx="4284319" cy="16158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100" dirty="0"/>
              <a:t>upload image </a:t>
            </a:r>
            <a:r>
              <a:rPr lang="en-US" sz="1100" dirty="0" err="1"/>
              <a:t>atau</a:t>
            </a:r>
            <a:r>
              <a:rPr lang="en-US" sz="1100" dirty="0"/>
              <a:t> </a:t>
            </a:r>
            <a:r>
              <a:rPr lang="en-US" sz="1100" dirty="0" err="1"/>
              <a:t>iso</a:t>
            </a:r>
            <a:r>
              <a:rPr lang="en-US" sz="1100" dirty="0"/>
              <a:t> di </a:t>
            </a:r>
            <a:r>
              <a:rPr lang="en-US" sz="1100" dirty="0" err="1"/>
              <a:t>openstack</a:t>
            </a:r>
            <a:r>
              <a:rPr lang="en-US" sz="1100" dirty="0"/>
              <a:t> </a:t>
            </a:r>
            <a:r>
              <a:rPr lang="en-US" sz="1100" dirty="0" err="1"/>
              <a:t>terdapat</a:t>
            </a:r>
            <a:r>
              <a:rPr lang="en-US" sz="1100" dirty="0"/>
              <a:t> 2 </a:t>
            </a:r>
            <a:r>
              <a:rPr lang="en-US" sz="1100" dirty="0" err="1"/>
              <a:t>cara</a:t>
            </a:r>
            <a:r>
              <a:rPr lang="en-US" sz="1100" dirty="0"/>
              <a:t> yang </a:t>
            </a:r>
            <a:r>
              <a:rPr lang="en-US" sz="1100" dirty="0" err="1"/>
              <a:t>dapat</a:t>
            </a:r>
            <a:r>
              <a:rPr lang="en-US" sz="1100" dirty="0"/>
              <a:t> </a:t>
            </a:r>
            <a:r>
              <a:rPr lang="en-US" sz="1100" dirty="0" err="1"/>
              <a:t>dilakukan</a:t>
            </a:r>
            <a:r>
              <a:rPr lang="en-US" sz="1100" dirty="0"/>
              <a:t> </a:t>
            </a:r>
            <a:r>
              <a:rPr lang="en-US" sz="1100" dirty="0" err="1"/>
              <a:t>yaitu</a:t>
            </a:r>
            <a:r>
              <a:rPr lang="en-US" sz="1100" dirty="0"/>
              <a:t> </a:t>
            </a:r>
            <a:r>
              <a:rPr lang="en-US" sz="1100" dirty="0" err="1"/>
              <a:t>melalui</a:t>
            </a:r>
            <a:r>
              <a:rPr lang="en-US" sz="1100" dirty="0"/>
              <a:t> horizon (</a:t>
            </a:r>
            <a:r>
              <a:rPr lang="en-US" sz="1100" dirty="0" err="1"/>
              <a:t>melalui</a:t>
            </a:r>
            <a:r>
              <a:rPr lang="en-US" sz="1100" dirty="0"/>
              <a:t> web) </a:t>
            </a:r>
            <a:r>
              <a:rPr lang="en-US" sz="1100" dirty="0" err="1"/>
              <a:t>atau</a:t>
            </a:r>
            <a:r>
              <a:rPr lang="en-US" sz="1100" dirty="0"/>
              <a:t> CLI</a:t>
            </a:r>
            <a:r>
              <a:rPr lang="en-US" sz="1100" dirty="0" smtClean="0"/>
              <a:t>.</a:t>
            </a:r>
          </a:p>
          <a:p>
            <a:pPr algn="just"/>
            <a:r>
              <a:rPr lang="en-US" sz="1100" dirty="0" smtClean="0"/>
              <a:t>U</a:t>
            </a:r>
            <a:r>
              <a:rPr lang="en-US" sz="1100" dirty="0"/>
              <a:t>pload image </a:t>
            </a:r>
            <a:r>
              <a:rPr lang="en-US" sz="1100" dirty="0" err="1"/>
              <a:t>atau</a:t>
            </a:r>
            <a:r>
              <a:rPr lang="en-US" sz="1100" dirty="0"/>
              <a:t> </a:t>
            </a:r>
            <a:r>
              <a:rPr lang="en-US" sz="1100" dirty="0" err="1"/>
              <a:t>iso</a:t>
            </a:r>
            <a:r>
              <a:rPr lang="en-US" sz="1100" dirty="0"/>
              <a:t> </a:t>
            </a:r>
            <a:r>
              <a:rPr lang="en-US" sz="1100" dirty="0" err="1"/>
              <a:t>pastikan</a:t>
            </a:r>
            <a:r>
              <a:rPr lang="en-US" sz="1100" dirty="0"/>
              <a:t> </a:t>
            </a:r>
            <a:r>
              <a:rPr lang="en-US" sz="1100" dirty="0" err="1"/>
              <a:t>Anda</a:t>
            </a:r>
            <a:r>
              <a:rPr lang="en-US" sz="1100" dirty="0"/>
              <a:t> </a:t>
            </a:r>
            <a:r>
              <a:rPr lang="en-US" sz="1100" dirty="0" err="1"/>
              <a:t>sudah</a:t>
            </a:r>
            <a:r>
              <a:rPr lang="en-US" sz="1100" dirty="0"/>
              <a:t> </a:t>
            </a:r>
            <a:r>
              <a:rPr lang="en-US" sz="1100" dirty="0" err="1"/>
              <a:t>mengunguh</a:t>
            </a:r>
            <a:r>
              <a:rPr lang="en-US" sz="1100" dirty="0"/>
              <a:t> image </a:t>
            </a:r>
            <a:r>
              <a:rPr lang="en-US" sz="1100" dirty="0" err="1"/>
              <a:t>nya</a:t>
            </a:r>
            <a:r>
              <a:rPr lang="en-US" sz="1100" dirty="0"/>
              <a:t> </a:t>
            </a:r>
            <a:r>
              <a:rPr lang="en-US" sz="1100" dirty="0" err="1"/>
              <a:t>terlebih</a:t>
            </a:r>
            <a:r>
              <a:rPr lang="en-US" sz="1100" dirty="0"/>
              <a:t> </a:t>
            </a:r>
            <a:r>
              <a:rPr lang="en-US" sz="1100" dirty="0" err="1"/>
              <a:t>dahulu</a:t>
            </a:r>
            <a:r>
              <a:rPr lang="en-US" sz="1100" dirty="0"/>
              <a:t> </a:t>
            </a:r>
            <a:r>
              <a:rPr lang="en-US" sz="1100" dirty="0" err="1"/>
              <a:t>berikut</a:t>
            </a:r>
            <a:r>
              <a:rPr lang="en-US" sz="1100" dirty="0"/>
              <a:t> link </a:t>
            </a:r>
            <a:r>
              <a:rPr lang="en-US" sz="1100" dirty="0" err="1"/>
              <a:t>jika</a:t>
            </a:r>
            <a:r>
              <a:rPr lang="en-US" sz="1100" dirty="0"/>
              <a:t> </a:t>
            </a:r>
            <a:r>
              <a:rPr lang="en-US" sz="1100" dirty="0" err="1"/>
              <a:t>menggunakan</a:t>
            </a:r>
            <a:r>
              <a:rPr lang="en-US" sz="1100" dirty="0"/>
              <a:t> Ubuntu, CentOS </a:t>
            </a:r>
            <a:r>
              <a:rPr lang="en-US" sz="1100" dirty="0" err="1"/>
              <a:t>dan</a:t>
            </a:r>
            <a:r>
              <a:rPr lang="en-US" sz="1100" dirty="0"/>
              <a:t> </a:t>
            </a:r>
            <a:r>
              <a:rPr lang="en-US" sz="1100" dirty="0" err="1"/>
              <a:t>Cirros</a:t>
            </a:r>
            <a:endParaRPr lang="en-US" sz="1100" dirty="0"/>
          </a:p>
          <a:p>
            <a:pPr lvl="1" algn="just"/>
            <a:r>
              <a:rPr lang="en-US" sz="1100" dirty="0">
                <a:hlinkClick r:id="rId6"/>
              </a:rPr>
              <a:t>Ubuntu Cloud Images</a:t>
            </a:r>
            <a:endParaRPr lang="en-US" sz="1100" dirty="0"/>
          </a:p>
          <a:p>
            <a:pPr lvl="1" algn="just"/>
            <a:r>
              <a:rPr lang="en-US" sz="1100" dirty="0">
                <a:hlinkClick r:id="rId7"/>
              </a:rPr>
              <a:t>CentOS Cloud Images</a:t>
            </a:r>
            <a:endParaRPr lang="en-US" sz="1100" dirty="0"/>
          </a:p>
          <a:p>
            <a:pPr lvl="1" algn="just"/>
            <a:r>
              <a:rPr lang="en-US" sz="1100" dirty="0" err="1">
                <a:hlinkClick r:id="rId8"/>
              </a:rPr>
              <a:t>Cirros</a:t>
            </a:r>
            <a:endParaRPr lang="en-US" sz="1100" dirty="0"/>
          </a:p>
          <a:p>
            <a:pPr algn="just"/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8221493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19</a:t>
            </a:fld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3200400" y="65812"/>
            <a:ext cx="5943600" cy="280338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Lab: </a:t>
            </a:r>
            <a:r>
              <a:rPr lang="en-US" sz="2400" b="1" dirty="0" err="1" smtClean="0"/>
              <a:t>Kolla</a:t>
            </a:r>
            <a:r>
              <a:rPr lang="en-US" sz="2400" b="1" dirty="0" smtClean="0"/>
              <a:t> </a:t>
            </a:r>
            <a:r>
              <a:rPr lang="en-US" sz="2400" b="1" dirty="0" err="1"/>
              <a:t>Ansible</a:t>
            </a:r>
            <a:r>
              <a:rPr lang="en-US" sz="2400" b="1" dirty="0"/>
              <a:t> All in One </a:t>
            </a:r>
            <a:r>
              <a:rPr lang="en-US" sz="2400" b="1" dirty="0" err="1" smtClean="0"/>
              <a:t>Openstack</a:t>
            </a:r>
            <a:r>
              <a:rPr lang="en-US" sz="2400" b="1" dirty="0" smtClean="0"/>
              <a:t> 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Cons’t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43301" y="663422"/>
            <a:ext cx="4284319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dirty="0" smtClean="0"/>
              <a:t>Upload </a:t>
            </a:r>
            <a:r>
              <a:rPr lang="en-US" sz="1400" dirty="0"/>
              <a:t>image </a:t>
            </a:r>
            <a:r>
              <a:rPr lang="en-US" sz="1400" dirty="0" err="1"/>
              <a:t>atau</a:t>
            </a:r>
            <a:r>
              <a:rPr lang="en-US" sz="1400" dirty="0"/>
              <a:t> </a:t>
            </a:r>
            <a:r>
              <a:rPr lang="en-US" sz="1400" dirty="0" err="1"/>
              <a:t>iso</a:t>
            </a:r>
            <a:r>
              <a:rPr lang="en-US" sz="1400" dirty="0"/>
              <a:t> </a:t>
            </a:r>
            <a:r>
              <a:rPr lang="en-US" sz="1400" dirty="0" err="1"/>
              <a:t>menggunakan</a:t>
            </a:r>
            <a:r>
              <a:rPr lang="en-US" sz="1400" dirty="0"/>
              <a:t> </a:t>
            </a:r>
            <a:r>
              <a:rPr lang="en-US" sz="1400" dirty="0" err="1"/>
              <a:t>cirros</a:t>
            </a:r>
            <a:r>
              <a:rPr lang="en-US" sz="1400" dirty="0"/>
              <a:t>, </a:t>
            </a:r>
            <a:r>
              <a:rPr lang="en-US" sz="1400" dirty="0" err="1"/>
              <a:t>silakan</a:t>
            </a:r>
            <a:r>
              <a:rPr lang="en-US" sz="1400" dirty="0"/>
              <a:t> login Horizon &gt;&gt; Admin &gt;&gt; Compute &gt;&gt; Images &gt;&gt; Create Images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86603" y="1402086"/>
            <a:ext cx="4141017" cy="1981108"/>
            <a:chOff x="286603" y="1402086"/>
            <a:chExt cx="4141017" cy="1981108"/>
          </a:xfrm>
        </p:grpSpPr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6603" y="1402086"/>
              <a:ext cx="4141017" cy="1981108"/>
            </a:xfrm>
            <a:prstGeom prst="rect">
              <a:avLst/>
            </a:prstGeom>
          </p:spPr>
        </p:pic>
        <p:sp>
          <p:nvSpPr>
            <p:cNvPr id="8" name="Rectangle 7"/>
            <p:cNvSpPr/>
            <p:nvPr/>
          </p:nvSpPr>
          <p:spPr>
            <a:xfrm>
              <a:off x="1046743" y="1513947"/>
              <a:ext cx="1687340" cy="18466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just"/>
              <a:r>
                <a:rPr lang="en-US" sz="600" dirty="0" smtClean="0">
                  <a:solidFill>
                    <a:schemeClr val="bg1">
                      <a:lumMod val="65000"/>
                    </a:schemeClr>
                  </a:solidFill>
                </a:rPr>
                <a:t>Openstack.panda.id/dashboard/admin/images</a:t>
              </a:r>
              <a:endParaRPr lang="en-US" sz="6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sp>
        <p:nvSpPr>
          <p:cNvPr id="9" name="Rectangle 8"/>
          <p:cNvSpPr/>
          <p:nvPr/>
        </p:nvSpPr>
        <p:spPr>
          <a:xfrm>
            <a:off x="4570922" y="555700"/>
            <a:ext cx="4139117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dirty="0" err="1"/>
              <a:t>Selanjutnya</a:t>
            </a:r>
            <a:r>
              <a:rPr lang="en-US" sz="1400" dirty="0"/>
              <a:t>, </a:t>
            </a:r>
            <a:r>
              <a:rPr lang="en-US" sz="1400" dirty="0" err="1"/>
              <a:t>isi</a:t>
            </a:r>
            <a:r>
              <a:rPr lang="en-US" sz="1400" dirty="0"/>
              <a:t> </a:t>
            </a:r>
            <a:r>
              <a:rPr lang="en-US" sz="1400" i="1" dirty="0"/>
              <a:t>Image Name</a:t>
            </a:r>
            <a:r>
              <a:rPr lang="en-US" sz="1400" dirty="0"/>
              <a:t> </a:t>
            </a:r>
            <a:r>
              <a:rPr lang="en-US" sz="1400" dirty="0" err="1"/>
              <a:t>dengan</a:t>
            </a:r>
            <a:r>
              <a:rPr lang="en-US" sz="1400" dirty="0"/>
              <a:t> </a:t>
            </a:r>
            <a:r>
              <a:rPr lang="en-US" sz="1400" dirty="0" err="1"/>
              <a:t>nama</a:t>
            </a:r>
            <a:r>
              <a:rPr lang="en-US" sz="1400" dirty="0"/>
              <a:t> image yang </a:t>
            </a:r>
            <a:r>
              <a:rPr lang="en-US" sz="1400" dirty="0" err="1"/>
              <a:t>Anda</a:t>
            </a:r>
            <a:r>
              <a:rPr lang="en-US" sz="1400" dirty="0"/>
              <a:t> </a:t>
            </a:r>
            <a:r>
              <a:rPr lang="en-US" sz="1400" dirty="0" err="1"/>
              <a:t>inginkan</a:t>
            </a:r>
            <a:r>
              <a:rPr lang="en-US" sz="1400" dirty="0"/>
              <a:t> </a:t>
            </a:r>
            <a:r>
              <a:rPr lang="en-US" sz="1400" dirty="0" err="1"/>
              <a:t>dan</a:t>
            </a:r>
            <a:r>
              <a:rPr lang="en-US" sz="1400" dirty="0"/>
              <a:t> </a:t>
            </a:r>
            <a:r>
              <a:rPr lang="en-US" sz="1400" dirty="0" err="1"/>
              <a:t>klik</a:t>
            </a:r>
            <a:r>
              <a:rPr lang="en-US" sz="1400" dirty="0"/>
              <a:t> </a:t>
            </a:r>
            <a:r>
              <a:rPr lang="en-US" sz="1400" i="1" dirty="0"/>
              <a:t>Browser</a:t>
            </a:r>
            <a:r>
              <a:rPr lang="en-US" sz="1400" dirty="0"/>
              <a:t> &gt;&gt; </a:t>
            </a:r>
            <a:r>
              <a:rPr lang="en-US" sz="1400" i="1" dirty="0"/>
              <a:t>Upload Image</a:t>
            </a:r>
            <a:r>
              <a:rPr lang="en-US" sz="1400" dirty="0"/>
              <a:t> </a:t>
            </a:r>
            <a:r>
              <a:rPr lang="en-US" sz="1400" i="1" dirty="0"/>
              <a:t>&gt;&gt; Format (QCOW2 – QEMU Emulator)</a:t>
            </a:r>
            <a:r>
              <a:rPr lang="en-US" sz="1400" dirty="0"/>
              <a:t> </a:t>
            </a:r>
            <a:r>
              <a:rPr lang="en-US" sz="1400" i="1" dirty="0"/>
              <a:t>&gt;&gt; </a:t>
            </a:r>
            <a:r>
              <a:rPr lang="en-US" sz="1400" i="1" dirty="0" err="1"/>
              <a:t>Klik</a:t>
            </a:r>
            <a:r>
              <a:rPr lang="en-US" sz="1400" i="1" dirty="0"/>
              <a:t> Create Image</a:t>
            </a:r>
            <a:endParaRPr lang="en-US" sz="1400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1132" y="1509807"/>
            <a:ext cx="4058907" cy="158087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1132" y="3383194"/>
            <a:ext cx="4268279" cy="1384069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43301" y="399212"/>
            <a:ext cx="32285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solidFill>
                  <a:srgbClr val="002060"/>
                </a:solidFill>
              </a:rPr>
              <a:t>Create </a:t>
            </a:r>
            <a:r>
              <a:rPr lang="en-US" b="1" dirty="0">
                <a:solidFill>
                  <a:srgbClr val="002060"/>
                </a:solidFill>
              </a:rPr>
              <a:t>Instance </a:t>
            </a:r>
            <a:r>
              <a:rPr lang="en-US" b="1" dirty="0" err="1">
                <a:solidFill>
                  <a:srgbClr val="002060"/>
                </a:solidFill>
              </a:rPr>
              <a:t>Melalui</a:t>
            </a:r>
            <a:r>
              <a:rPr lang="en-US" b="1" dirty="0">
                <a:solidFill>
                  <a:srgbClr val="002060"/>
                </a:solidFill>
              </a:rPr>
              <a:t> Horizon</a:t>
            </a:r>
          </a:p>
        </p:txBody>
      </p:sp>
    </p:spTree>
    <p:extLst>
      <p:ext uri="{BB962C8B-B14F-4D97-AF65-F5344CB8AC3E}">
        <p14:creationId xmlns:p14="http://schemas.microsoft.com/office/powerpoint/2010/main" val="18416113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20</a:t>
            </a:fld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3200400" y="65812"/>
            <a:ext cx="5943600" cy="280338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Lab: </a:t>
            </a:r>
            <a:r>
              <a:rPr lang="en-US" sz="2400" b="1" dirty="0" err="1" smtClean="0"/>
              <a:t>Kolla</a:t>
            </a:r>
            <a:r>
              <a:rPr lang="en-US" sz="2400" b="1" dirty="0" smtClean="0"/>
              <a:t> </a:t>
            </a:r>
            <a:r>
              <a:rPr lang="en-US" sz="2400" b="1" dirty="0" err="1"/>
              <a:t>Ansible</a:t>
            </a:r>
            <a:r>
              <a:rPr lang="en-US" sz="2400" b="1" dirty="0"/>
              <a:t> All in One </a:t>
            </a:r>
            <a:r>
              <a:rPr lang="en-US" sz="2400" b="1" dirty="0" err="1" smtClean="0"/>
              <a:t>Openstack</a:t>
            </a:r>
            <a:r>
              <a:rPr lang="en-US" sz="2400" b="1" dirty="0" smtClean="0"/>
              <a:t> 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Cons’t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43301" y="663422"/>
            <a:ext cx="4284319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dirty="0" smtClean="0"/>
              <a:t>Upload </a:t>
            </a:r>
            <a:r>
              <a:rPr lang="en-US" sz="1400" dirty="0"/>
              <a:t>image </a:t>
            </a:r>
            <a:r>
              <a:rPr lang="en-US" sz="1400" dirty="0" err="1"/>
              <a:t>atau</a:t>
            </a:r>
            <a:r>
              <a:rPr lang="en-US" sz="1400" dirty="0"/>
              <a:t> </a:t>
            </a:r>
            <a:r>
              <a:rPr lang="en-US" sz="1400" dirty="0" err="1"/>
              <a:t>iso</a:t>
            </a:r>
            <a:r>
              <a:rPr lang="en-US" sz="1400" dirty="0"/>
              <a:t> </a:t>
            </a:r>
            <a:r>
              <a:rPr lang="en-US" sz="1400" dirty="0" err="1"/>
              <a:t>menggunakan</a:t>
            </a:r>
            <a:r>
              <a:rPr lang="en-US" sz="1400" dirty="0"/>
              <a:t> </a:t>
            </a:r>
            <a:r>
              <a:rPr lang="en-US" sz="1400" dirty="0" err="1"/>
              <a:t>cirros</a:t>
            </a:r>
            <a:r>
              <a:rPr lang="en-US" sz="1400" dirty="0"/>
              <a:t>, </a:t>
            </a:r>
            <a:r>
              <a:rPr lang="en-US" sz="1400" dirty="0" err="1"/>
              <a:t>silakan</a:t>
            </a:r>
            <a:r>
              <a:rPr lang="en-US" sz="1400" dirty="0"/>
              <a:t> login Horizon &gt;&gt; Admin &gt;&gt; Compute &gt;&gt; Images &gt;&gt; Create Images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86603" y="1402086"/>
            <a:ext cx="4141017" cy="1981108"/>
            <a:chOff x="286603" y="1402086"/>
            <a:chExt cx="4141017" cy="1981108"/>
          </a:xfrm>
        </p:grpSpPr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6603" y="1402086"/>
              <a:ext cx="4141017" cy="1981108"/>
            </a:xfrm>
            <a:prstGeom prst="rect">
              <a:avLst/>
            </a:prstGeom>
          </p:spPr>
        </p:pic>
        <p:sp>
          <p:nvSpPr>
            <p:cNvPr id="8" name="Rectangle 7"/>
            <p:cNvSpPr/>
            <p:nvPr/>
          </p:nvSpPr>
          <p:spPr>
            <a:xfrm>
              <a:off x="1046743" y="1513947"/>
              <a:ext cx="1687340" cy="18466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just"/>
              <a:r>
                <a:rPr lang="en-US" sz="600" dirty="0" smtClean="0">
                  <a:solidFill>
                    <a:schemeClr val="bg1">
                      <a:lumMod val="65000"/>
                    </a:schemeClr>
                  </a:solidFill>
                </a:rPr>
                <a:t>Openstack.panda.id/dashboard/admin/images</a:t>
              </a:r>
              <a:endParaRPr lang="en-US" sz="6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sp>
        <p:nvSpPr>
          <p:cNvPr id="9" name="Rectangle 8"/>
          <p:cNvSpPr/>
          <p:nvPr/>
        </p:nvSpPr>
        <p:spPr>
          <a:xfrm>
            <a:off x="4570922" y="555700"/>
            <a:ext cx="4139117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dirty="0" err="1"/>
              <a:t>Selanjutnya</a:t>
            </a:r>
            <a:r>
              <a:rPr lang="en-US" sz="1400" dirty="0"/>
              <a:t>, </a:t>
            </a:r>
            <a:r>
              <a:rPr lang="en-US" sz="1400" dirty="0" err="1"/>
              <a:t>isi</a:t>
            </a:r>
            <a:r>
              <a:rPr lang="en-US" sz="1400" dirty="0"/>
              <a:t> </a:t>
            </a:r>
            <a:r>
              <a:rPr lang="en-US" sz="1400" i="1" dirty="0"/>
              <a:t>Image Name</a:t>
            </a:r>
            <a:r>
              <a:rPr lang="en-US" sz="1400" dirty="0"/>
              <a:t> </a:t>
            </a:r>
            <a:r>
              <a:rPr lang="en-US" sz="1400" dirty="0" err="1"/>
              <a:t>dengan</a:t>
            </a:r>
            <a:r>
              <a:rPr lang="en-US" sz="1400" dirty="0"/>
              <a:t> </a:t>
            </a:r>
            <a:r>
              <a:rPr lang="en-US" sz="1400" dirty="0" err="1"/>
              <a:t>nama</a:t>
            </a:r>
            <a:r>
              <a:rPr lang="en-US" sz="1400" dirty="0"/>
              <a:t> image yang </a:t>
            </a:r>
            <a:r>
              <a:rPr lang="en-US" sz="1400" dirty="0" err="1"/>
              <a:t>Anda</a:t>
            </a:r>
            <a:r>
              <a:rPr lang="en-US" sz="1400" dirty="0"/>
              <a:t> </a:t>
            </a:r>
            <a:r>
              <a:rPr lang="en-US" sz="1400" dirty="0" err="1"/>
              <a:t>inginkan</a:t>
            </a:r>
            <a:r>
              <a:rPr lang="en-US" sz="1400" dirty="0"/>
              <a:t> </a:t>
            </a:r>
            <a:r>
              <a:rPr lang="en-US" sz="1400" dirty="0" err="1"/>
              <a:t>dan</a:t>
            </a:r>
            <a:r>
              <a:rPr lang="en-US" sz="1400" dirty="0"/>
              <a:t> </a:t>
            </a:r>
            <a:r>
              <a:rPr lang="en-US" sz="1400" dirty="0" err="1"/>
              <a:t>klik</a:t>
            </a:r>
            <a:r>
              <a:rPr lang="en-US" sz="1400" dirty="0"/>
              <a:t> </a:t>
            </a:r>
            <a:r>
              <a:rPr lang="en-US" sz="1400" i="1" dirty="0"/>
              <a:t>Browser</a:t>
            </a:r>
            <a:r>
              <a:rPr lang="en-US" sz="1400" dirty="0"/>
              <a:t> &gt;&gt; </a:t>
            </a:r>
            <a:r>
              <a:rPr lang="en-US" sz="1400" i="1" dirty="0"/>
              <a:t>Upload Image</a:t>
            </a:r>
            <a:r>
              <a:rPr lang="en-US" sz="1400" dirty="0"/>
              <a:t> </a:t>
            </a:r>
            <a:r>
              <a:rPr lang="en-US" sz="1400" i="1" dirty="0"/>
              <a:t>&gt;&gt; Format (QCOW2 – QEMU Emulator)</a:t>
            </a:r>
            <a:r>
              <a:rPr lang="en-US" sz="1400" dirty="0"/>
              <a:t> </a:t>
            </a:r>
            <a:r>
              <a:rPr lang="en-US" sz="1400" i="1" dirty="0"/>
              <a:t>&gt;&gt; </a:t>
            </a:r>
            <a:r>
              <a:rPr lang="en-US" sz="1400" i="1" dirty="0" err="1"/>
              <a:t>Klik</a:t>
            </a:r>
            <a:r>
              <a:rPr lang="en-US" sz="1400" i="1" dirty="0"/>
              <a:t> Create Image</a:t>
            </a:r>
            <a:endParaRPr lang="en-US" sz="1400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1132" y="1509807"/>
            <a:ext cx="4058907" cy="158087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1132" y="3383194"/>
            <a:ext cx="4268279" cy="1384069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43301" y="399212"/>
            <a:ext cx="32285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solidFill>
                  <a:srgbClr val="002060"/>
                </a:solidFill>
              </a:rPr>
              <a:t>Create </a:t>
            </a:r>
            <a:r>
              <a:rPr lang="en-US" b="1" dirty="0">
                <a:solidFill>
                  <a:srgbClr val="002060"/>
                </a:solidFill>
              </a:rPr>
              <a:t>Instance </a:t>
            </a:r>
            <a:r>
              <a:rPr lang="en-US" b="1" dirty="0" err="1">
                <a:solidFill>
                  <a:srgbClr val="002060"/>
                </a:solidFill>
              </a:rPr>
              <a:t>Melalui</a:t>
            </a:r>
            <a:r>
              <a:rPr lang="en-US" b="1" dirty="0">
                <a:solidFill>
                  <a:srgbClr val="002060"/>
                </a:solidFill>
              </a:rPr>
              <a:t> Horizon</a:t>
            </a:r>
          </a:p>
        </p:txBody>
      </p:sp>
    </p:spTree>
    <p:extLst>
      <p:ext uri="{BB962C8B-B14F-4D97-AF65-F5344CB8AC3E}">
        <p14:creationId xmlns:p14="http://schemas.microsoft.com/office/powerpoint/2010/main" val="11862273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4922" y="3227746"/>
            <a:ext cx="4748568" cy="994172"/>
          </a:xfrm>
        </p:spPr>
        <p:txBody>
          <a:bodyPr>
            <a:normAutofit fontScale="90000"/>
          </a:bodyPr>
          <a:lstStyle/>
          <a:p>
            <a:pPr marL="457200" indent="-457200"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rgbClr val="002060"/>
                </a:solidFill>
              </a:rPr>
              <a:t>Membuat</a:t>
            </a:r>
            <a:r>
              <a:rPr lang="en-US" dirty="0">
                <a:solidFill>
                  <a:srgbClr val="002060"/>
                </a:solidFill>
              </a:rPr>
              <a:t> Network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/>
            </a:r>
            <a:br>
              <a:rPr lang="en-US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US" dirty="0">
                <a:solidFill>
                  <a:srgbClr val="002060"/>
                </a:solidFill>
              </a:rPr>
              <a:t/>
            </a:r>
            <a:br>
              <a:rPr lang="en-US" dirty="0">
                <a:solidFill>
                  <a:srgbClr val="002060"/>
                </a:solidFill>
              </a:rPr>
            </a:br>
            <a:r>
              <a:rPr lang="en-US" b="1" dirty="0" smtClean="0">
                <a:solidFill>
                  <a:srgbClr val="002060"/>
                </a:solidFill>
              </a:rPr>
              <a:t>Create Network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21</a:t>
            </a:fld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133484" y="190619"/>
            <a:ext cx="606643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b="1" dirty="0" err="1">
                <a:solidFill>
                  <a:schemeClr val="bg1">
                    <a:lumMod val="85000"/>
                  </a:schemeClr>
                </a:solidFill>
              </a:rPr>
              <a:t>Openstack</a:t>
            </a:r>
            <a:r>
              <a:rPr lang="en-US" b="1" dirty="0">
                <a:solidFill>
                  <a:schemeClr val="bg1">
                    <a:lumMod val="85000"/>
                  </a:schemeClr>
                </a:solidFill>
              </a:rPr>
              <a:t>: Upload Image </a:t>
            </a:r>
            <a:r>
              <a:rPr lang="en-US" b="1" dirty="0" err="1">
                <a:solidFill>
                  <a:schemeClr val="bg1">
                    <a:lumMod val="85000"/>
                  </a:schemeClr>
                </a:solidFill>
              </a:rPr>
              <a:t>atau</a:t>
            </a:r>
            <a:r>
              <a:rPr lang="en-US" b="1" dirty="0">
                <a:solidFill>
                  <a:schemeClr val="bg1">
                    <a:lumMod val="85000"/>
                  </a:schemeClr>
                </a:solidFill>
              </a:rPr>
              <a:t> ISO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b="1" dirty="0" err="1">
                <a:solidFill>
                  <a:srgbClr val="002060"/>
                </a:solidFill>
              </a:rPr>
              <a:t>Openstack</a:t>
            </a:r>
            <a:r>
              <a:rPr lang="en-US" b="1" dirty="0">
                <a:solidFill>
                  <a:srgbClr val="002060"/>
                </a:solidFill>
              </a:rPr>
              <a:t>: </a:t>
            </a:r>
            <a:r>
              <a:rPr lang="en-US" b="1" dirty="0" err="1">
                <a:solidFill>
                  <a:srgbClr val="002060"/>
                </a:solidFill>
              </a:rPr>
              <a:t>Membuat</a:t>
            </a:r>
            <a:r>
              <a:rPr lang="en-US" b="1" dirty="0">
                <a:solidFill>
                  <a:srgbClr val="002060"/>
                </a:solidFill>
              </a:rPr>
              <a:t> Network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Openstack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: </a:t>
            </a: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Membuat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Router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Openstack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: </a:t>
            </a: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Menambahkan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SSH Key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Openstack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: </a:t>
            </a: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Menambah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dan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Menggunakan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Security Group</a:t>
            </a:r>
          </a:p>
        </p:txBody>
      </p:sp>
    </p:spTree>
    <p:extLst>
      <p:ext uri="{BB962C8B-B14F-4D97-AF65-F5344CB8AC3E}">
        <p14:creationId xmlns:p14="http://schemas.microsoft.com/office/powerpoint/2010/main" val="29944624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22</a:t>
            </a:fld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3200400" y="65812"/>
            <a:ext cx="5943600" cy="280338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Lab: </a:t>
            </a:r>
            <a:r>
              <a:rPr lang="en-US" sz="2400" b="1" dirty="0" err="1" smtClean="0"/>
              <a:t>Kolla</a:t>
            </a:r>
            <a:r>
              <a:rPr lang="en-US" sz="2400" b="1" dirty="0" smtClean="0"/>
              <a:t> </a:t>
            </a:r>
            <a:r>
              <a:rPr lang="en-US" sz="2400" b="1" dirty="0" err="1"/>
              <a:t>Ansible</a:t>
            </a:r>
            <a:r>
              <a:rPr lang="en-US" sz="2400" b="1" dirty="0"/>
              <a:t> All in One </a:t>
            </a:r>
            <a:r>
              <a:rPr lang="en-US" sz="2400" b="1" dirty="0" err="1" smtClean="0"/>
              <a:t>Openstack</a:t>
            </a:r>
            <a:r>
              <a:rPr lang="en-US" sz="2400" b="1" dirty="0" smtClean="0"/>
              <a:t> 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Cons’t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43301" y="1047758"/>
            <a:ext cx="4284319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 smtClean="0"/>
              <a:t>Network </a:t>
            </a:r>
            <a:r>
              <a:rPr lang="en-US" sz="1400" dirty="0"/>
              <a:t>External: Network yang </a:t>
            </a:r>
            <a:r>
              <a:rPr lang="en-US" sz="1400" dirty="0" err="1"/>
              <a:t>tersambung</a:t>
            </a:r>
            <a:r>
              <a:rPr lang="en-US" sz="1400" dirty="0"/>
              <a:t> </a:t>
            </a:r>
            <a:r>
              <a:rPr lang="en-US" sz="1400" dirty="0" err="1"/>
              <a:t>keluar</a:t>
            </a:r>
            <a:r>
              <a:rPr lang="en-US" sz="1400" dirty="0"/>
              <a:t> (node controller </a:t>
            </a:r>
            <a:r>
              <a:rPr lang="en-US" sz="1400" dirty="0" err="1"/>
              <a:t>dan</a:t>
            </a:r>
            <a:r>
              <a:rPr lang="en-US" sz="1400" dirty="0"/>
              <a:t> compute).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 smtClean="0"/>
              <a:t>Network </a:t>
            </a:r>
            <a:r>
              <a:rPr lang="en-US" sz="1400" dirty="0"/>
              <a:t>internal: Network yang </a:t>
            </a:r>
            <a:r>
              <a:rPr lang="en-US" sz="1400" dirty="0" err="1"/>
              <a:t>akan</a:t>
            </a:r>
            <a:r>
              <a:rPr lang="en-US" sz="1400" dirty="0"/>
              <a:t> </a:t>
            </a:r>
            <a:r>
              <a:rPr lang="en-US" sz="1400" dirty="0" err="1"/>
              <a:t>terhubung</a:t>
            </a:r>
            <a:r>
              <a:rPr lang="en-US" sz="1400" dirty="0"/>
              <a:t> </a:t>
            </a:r>
            <a:r>
              <a:rPr lang="en-US" sz="1400" dirty="0" err="1"/>
              <a:t>dan</a:t>
            </a:r>
            <a:r>
              <a:rPr lang="en-US" sz="1400" dirty="0"/>
              <a:t> </a:t>
            </a:r>
            <a:r>
              <a:rPr lang="en-US" sz="1400" dirty="0" err="1"/>
              <a:t>digunakan</a:t>
            </a:r>
            <a:r>
              <a:rPr lang="en-US" sz="1400" dirty="0"/>
              <a:t> </a:t>
            </a:r>
            <a:r>
              <a:rPr lang="en-US" sz="1400" dirty="0" err="1"/>
              <a:t>oleh</a:t>
            </a:r>
            <a:r>
              <a:rPr lang="en-US" sz="1400" dirty="0"/>
              <a:t> instance/</a:t>
            </a:r>
            <a:r>
              <a:rPr lang="en-US" sz="1400" dirty="0" err="1"/>
              <a:t>vm</a:t>
            </a:r>
            <a:r>
              <a:rPr lang="en-US" sz="1400" dirty="0"/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0922" y="555700"/>
            <a:ext cx="413911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dirty="0"/>
              <a:t>M</a:t>
            </a:r>
            <a:r>
              <a:rPr lang="en-US" sz="1400" dirty="0" smtClean="0"/>
              <a:t>enu</a:t>
            </a:r>
            <a:r>
              <a:rPr lang="en-US" sz="1400" dirty="0"/>
              <a:t> </a:t>
            </a:r>
            <a:r>
              <a:rPr lang="en-US" sz="1400" b="1" i="1" dirty="0"/>
              <a:t>Network</a:t>
            </a:r>
            <a:endParaRPr lang="en-US" sz="1400" dirty="0"/>
          </a:p>
        </p:txBody>
      </p:sp>
      <p:sp>
        <p:nvSpPr>
          <p:cNvPr id="2" name="Rectangle 1"/>
          <p:cNvSpPr/>
          <p:nvPr/>
        </p:nvSpPr>
        <p:spPr>
          <a:xfrm>
            <a:off x="143301" y="602333"/>
            <a:ext cx="332179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b="1" dirty="0" smtClean="0">
                <a:solidFill>
                  <a:srgbClr val="002060"/>
                </a:solidFill>
              </a:rPr>
              <a:t>Network </a:t>
            </a:r>
            <a:r>
              <a:rPr lang="en-US" sz="1400" b="1" dirty="0" err="1">
                <a:solidFill>
                  <a:srgbClr val="002060"/>
                </a:solidFill>
              </a:rPr>
              <a:t>yaitu</a:t>
            </a:r>
            <a:r>
              <a:rPr lang="en-US" sz="1400" b="1" dirty="0">
                <a:solidFill>
                  <a:srgbClr val="002060"/>
                </a:solidFill>
              </a:rPr>
              <a:t> network external </a:t>
            </a:r>
            <a:r>
              <a:rPr lang="en-US" sz="1400" b="1" dirty="0" err="1">
                <a:solidFill>
                  <a:srgbClr val="002060"/>
                </a:solidFill>
              </a:rPr>
              <a:t>dan</a:t>
            </a:r>
            <a:r>
              <a:rPr lang="en-US" sz="1400" b="1" dirty="0">
                <a:solidFill>
                  <a:srgbClr val="002060"/>
                </a:solidFill>
              </a:rPr>
              <a:t> network internal 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7364" y="1907241"/>
            <a:ext cx="413911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i="1" dirty="0"/>
              <a:t>Login Horizon &gt;&gt; Admin &gt;&gt; Network &gt;&gt; Networks &gt;&gt; Create Network</a:t>
            </a:r>
            <a:endParaRPr lang="en-US" sz="1400" dirty="0"/>
          </a:p>
        </p:txBody>
      </p:sp>
      <p:grpSp>
        <p:nvGrpSpPr>
          <p:cNvPr id="16" name="Group 15"/>
          <p:cNvGrpSpPr/>
          <p:nvPr/>
        </p:nvGrpSpPr>
        <p:grpSpPr>
          <a:xfrm>
            <a:off x="264695" y="3006402"/>
            <a:ext cx="4306227" cy="2034705"/>
            <a:chOff x="264695" y="3006402"/>
            <a:chExt cx="4306227" cy="2034705"/>
          </a:xfrm>
        </p:grpSpPr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4695" y="3006402"/>
              <a:ext cx="4306227" cy="2034705"/>
            </a:xfrm>
            <a:prstGeom prst="rect">
              <a:avLst/>
            </a:prstGeom>
          </p:spPr>
        </p:pic>
        <p:sp>
          <p:nvSpPr>
            <p:cNvPr id="14" name="Rectangle 13"/>
            <p:cNvSpPr/>
            <p:nvPr/>
          </p:nvSpPr>
          <p:spPr>
            <a:xfrm>
              <a:off x="1076303" y="3116828"/>
              <a:ext cx="1857398" cy="18466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just"/>
              <a:r>
                <a:rPr lang="en-US" sz="600" dirty="0" smtClean="0">
                  <a:solidFill>
                    <a:schemeClr val="bg1">
                      <a:lumMod val="65000"/>
                    </a:schemeClr>
                  </a:solidFill>
                </a:rPr>
                <a:t>Openstack.panda.id/dashboard/admin/networks/</a:t>
              </a:r>
              <a:endParaRPr lang="en-US" sz="6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sp>
        <p:nvSpPr>
          <p:cNvPr id="15" name="Rectangle 14"/>
          <p:cNvSpPr/>
          <p:nvPr/>
        </p:nvSpPr>
        <p:spPr>
          <a:xfrm>
            <a:off x="143301" y="2456173"/>
            <a:ext cx="360625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 smtClean="0">
                <a:solidFill>
                  <a:schemeClr val="accent5">
                    <a:lumMod val="75000"/>
                  </a:schemeClr>
                </a:solidFill>
              </a:rPr>
              <a:t>Openstack.panda.id/dashboard/admin/networks/</a:t>
            </a:r>
            <a:endParaRPr lang="en-US" sz="1200" dirty="0">
              <a:solidFill>
                <a:schemeClr val="accent5">
                  <a:lumMod val="75000"/>
                </a:schemeClr>
              </a:solidFill>
            </a:endParaRP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5403" y="925032"/>
            <a:ext cx="3603416" cy="3935726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6136085" y="3381273"/>
            <a:ext cx="2911662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Name: Name </a:t>
            </a:r>
            <a:r>
              <a:rPr lang="en-US" sz="1200" dirty="0" smtClean="0"/>
              <a:t>network</a:t>
            </a:r>
            <a:endParaRPr lang="en-US" sz="1200" dirty="0"/>
          </a:p>
          <a:p>
            <a:r>
              <a:rPr lang="en-US" sz="1200" dirty="0"/>
              <a:t>Project: Admin</a:t>
            </a:r>
          </a:p>
          <a:p>
            <a:r>
              <a:rPr lang="en-US" sz="1200" dirty="0"/>
              <a:t>Provider Network Type: Flat</a:t>
            </a:r>
          </a:p>
          <a:p>
            <a:r>
              <a:rPr lang="en-US" sz="1200" dirty="0"/>
              <a:t>Physical Network: </a:t>
            </a:r>
            <a:r>
              <a:rPr lang="en-US" sz="1200" dirty="0" err="1"/>
              <a:t>extnet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 err="1"/>
              <a:t>Selanjutnya</a:t>
            </a:r>
            <a:r>
              <a:rPr lang="en-US" sz="1200" dirty="0"/>
              <a:t> </a:t>
            </a:r>
            <a:r>
              <a:rPr lang="en-US" sz="1200" dirty="0" err="1"/>
              <a:t>pindah</a:t>
            </a:r>
            <a:r>
              <a:rPr lang="en-US" sz="1200" dirty="0"/>
              <a:t> </a:t>
            </a:r>
            <a:r>
              <a:rPr lang="en-US" sz="1200" dirty="0" err="1"/>
              <a:t>ke</a:t>
            </a:r>
            <a:r>
              <a:rPr lang="en-US" sz="1200" dirty="0"/>
              <a:t> menu Subnet , </a:t>
            </a:r>
            <a:r>
              <a:rPr lang="en-US" sz="1200" dirty="0" err="1"/>
              <a:t>silakan</a:t>
            </a:r>
            <a:r>
              <a:rPr lang="en-US" sz="1200" dirty="0"/>
              <a:t> </a:t>
            </a:r>
            <a:r>
              <a:rPr lang="en-US" sz="1200" dirty="0" err="1"/>
              <a:t>isi</a:t>
            </a:r>
            <a:r>
              <a:rPr lang="en-US" sz="1200" dirty="0"/>
              <a:t> </a:t>
            </a:r>
            <a:r>
              <a:rPr lang="en-US" sz="1200" dirty="0" err="1"/>
              <a:t>nama</a:t>
            </a:r>
            <a:r>
              <a:rPr lang="en-US" sz="1200" dirty="0"/>
              <a:t> subnet </a:t>
            </a:r>
            <a:r>
              <a:rPr lang="en-US" sz="1200" dirty="0" err="1"/>
              <a:t>Anda</a:t>
            </a:r>
            <a:r>
              <a:rPr lang="en-US" sz="1200" dirty="0"/>
              <a:t>, </a:t>
            </a:r>
            <a:r>
              <a:rPr lang="en-US" sz="1200" dirty="0" err="1"/>
              <a:t>dan</a:t>
            </a:r>
            <a:r>
              <a:rPr lang="en-US" sz="1200" dirty="0"/>
              <a:t> </a:t>
            </a:r>
            <a:r>
              <a:rPr lang="en-US" sz="1200" dirty="0" err="1"/>
              <a:t>isi</a:t>
            </a:r>
            <a:r>
              <a:rPr lang="en-US" sz="1200" dirty="0"/>
              <a:t> </a:t>
            </a:r>
            <a:r>
              <a:rPr lang="en-US" sz="1200" dirty="0" err="1"/>
              <a:t>juga</a:t>
            </a:r>
            <a:r>
              <a:rPr lang="en-US" sz="1200" dirty="0"/>
              <a:t> network </a:t>
            </a:r>
            <a:r>
              <a:rPr lang="en-US" sz="1200" dirty="0" err="1"/>
              <a:t>untuk</a:t>
            </a:r>
            <a:r>
              <a:rPr lang="en-US" sz="1200" dirty="0"/>
              <a:t> network net-</a:t>
            </a:r>
            <a:r>
              <a:rPr lang="en-US" sz="1200" dirty="0" err="1"/>
              <a:t>ext</a:t>
            </a:r>
            <a:endParaRPr lang="en-US" sz="1200" dirty="0"/>
          </a:p>
        </p:txBody>
      </p:sp>
      <p:sp>
        <p:nvSpPr>
          <p:cNvPr id="19" name="Rectangle 18"/>
          <p:cNvSpPr/>
          <p:nvPr/>
        </p:nvSpPr>
        <p:spPr>
          <a:xfrm>
            <a:off x="143301" y="263304"/>
            <a:ext cx="16900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Create </a:t>
            </a:r>
            <a:r>
              <a:rPr lang="en-US" b="1" dirty="0" smtClean="0">
                <a:solidFill>
                  <a:srgbClr val="002060"/>
                </a:solidFill>
              </a:rPr>
              <a:t>Network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46416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23</a:t>
            </a:fld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3200400" y="65812"/>
            <a:ext cx="5943600" cy="280338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Lab: </a:t>
            </a:r>
            <a:r>
              <a:rPr lang="en-US" sz="2400" b="1" dirty="0" err="1" smtClean="0"/>
              <a:t>Kolla</a:t>
            </a:r>
            <a:r>
              <a:rPr lang="en-US" sz="2400" b="1" dirty="0" smtClean="0"/>
              <a:t> </a:t>
            </a:r>
            <a:r>
              <a:rPr lang="en-US" sz="2400" b="1" dirty="0" err="1"/>
              <a:t>Ansible</a:t>
            </a:r>
            <a:r>
              <a:rPr lang="en-US" sz="2400" b="1" dirty="0"/>
              <a:t> All in One </a:t>
            </a:r>
            <a:r>
              <a:rPr lang="en-US" sz="2400" b="1" dirty="0" err="1" smtClean="0"/>
              <a:t>Openstack</a:t>
            </a:r>
            <a:r>
              <a:rPr lang="en-US" sz="2400" b="1" dirty="0" smtClean="0"/>
              <a:t> 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Cons’t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570922" y="555700"/>
            <a:ext cx="4139117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dirty="0" smtClean="0"/>
              <a:t>Menu </a:t>
            </a:r>
            <a:r>
              <a:rPr lang="en-US" sz="1400" dirty="0"/>
              <a:t>_ Subnet Details _ </a:t>
            </a:r>
            <a:r>
              <a:rPr lang="en-US" sz="1400" dirty="0" err="1"/>
              <a:t>silakan</a:t>
            </a:r>
            <a:r>
              <a:rPr lang="en-US" sz="1400" dirty="0"/>
              <a:t> </a:t>
            </a:r>
            <a:r>
              <a:rPr lang="en-US" sz="1400" dirty="0" err="1"/>
              <a:t>isi</a:t>
            </a:r>
            <a:r>
              <a:rPr lang="en-US" sz="1400" dirty="0"/>
              <a:t> </a:t>
            </a:r>
            <a:r>
              <a:rPr lang="en-US" sz="1400" dirty="0" err="1"/>
              <a:t>ip</a:t>
            </a:r>
            <a:r>
              <a:rPr lang="en-US" sz="1400" dirty="0"/>
              <a:t> pool yang </a:t>
            </a:r>
            <a:r>
              <a:rPr lang="en-US" sz="1400" dirty="0" err="1"/>
              <a:t>ingin</a:t>
            </a:r>
            <a:r>
              <a:rPr lang="en-US" sz="1400" dirty="0"/>
              <a:t> </a:t>
            </a:r>
            <a:r>
              <a:rPr lang="en-US" sz="1400" dirty="0" err="1"/>
              <a:t>Anda</a:t>
            </a:r>
            <a:r>
              <a:rPr lang="en-US" sz="1400" dirty="0"/>
              <a:t> </a:t>
            </a:r>
            <a:r>
              <a:rPr lang="en-US" sz="1400" dirty="0" err="1"/>
              <a:t>gunakan</a:t>
            </a:r>
            <a:r>
              <a:rPr lang="en-US" sz="1400" dirty="0"/>
              <a:t> </a:t>
            </a:r>
            <a:r>
              <a:rPr lang="en-US" sz="1400" dirty="0" err="1"/>
              <a:t>dari</a:t>
            </a:r>
            <a:r>
              <a:rPr lang="en-US" sz="1400" dirty="0"/>
              <a:t> network address </a:t>
            </a:r>
            <a:r>
              <a:rPr lang="en-US" sz="1400" dirty="0" err="1"/>
              <a:t>diatas</a:t>
            </a:r>
            <a:r>
              <a:rPr lang="en-US" sz="1400" dirty="0"/>
              <a:t>, </a:t>
            </a:r>
            <a:r>
              <a:rPr lang="en-US" sz="1400" dirty="0" err="1"/>
              <a:t>jika</a:t>
            </a:r>
            <a:r>
              <a:rPr lang="en-US" sz="1400" dirty="0"/>
              <a:t> </a:t>
            </a:r>
            <a:r>
              <a:rPr lang="en-US" sz="1400" dirty="0" err="1"/>
              <a:t>sudah</a:t>
            </a:r>
            <a:r>
              <a:rPr lang="en-US" sz="1400" dirty="0"/>
              <a:t> </a:t>
            </a:r>
            <a:r>
              <a:rPr lang="en-US" sz="1400" dirty="0" err="1"/>
              <a:t>silakan</a:t>
            </a:r>
            <a:r>
              <a:rPr lang="en-US" sz="1400" dirty="0"/>
              <a:t> </a:t>
            </a:r>
            <a:r>
              <a:rPr lang="en-US" sz="1400" dirty="0" err="1"/>
              <a:t>klik</a:t>
            </a:r>
            <a:r>
              <a:rPr lang="en-US" sz="1400" dirty="0"/>
              <a:t> Create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3301" y="2456173"/>
            <a:ext cx="360625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 smtClean="0">
                <a:solidFill>
                  <a:schemeClr val="accent5">
                    <a:lumMod val="75000"/>
                  </a:schemeClr>
                </a:solidFill>
              </a:rPr>
              <a:t>Openstack.panda.id/dashboard/admin/networks/</a:t>
            </a:r>
            <a:endParaRPr lang="en-US" sz="1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143301" y="679309"/>
            <a:ext cx="4176035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nl-NL" sz="1400" dirty="0" smtClean="0"/>
              <a:t>Menu </a:t>
            </a:r>
            <a:r>
              <a:rPr lang="nl-NL" sz="1400" dirty="0"/>
              <a:t>Subnet , silakan isi nama subnet Anda, dan isi juga network untuk network net-ext</a:t>
            </a:r>
            <a:endParaRPr lang="en-US" sz="1400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674" y="1276299"/>
            <a:ext cx="4393500" cy="246552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6760" y="1276300"/>
            <a:ext cx="3993661" cy="3764808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143301" y="263304"/>
            <a:ext cx="16900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Create </a:t>
            </a:r>
            <a:r>
              <a:rPr lang="en-US" b="1" dirty="0" smtClean="0">
                <a:solidFill>
                  <a:srgbClr val="002060"/>
                </a:solidFill>
              </a:rPr>
              <a:t>Network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89361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24</a:t>
            </a:fld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3200400" y="65812"/>
            <a:ext cx="5943600" cy="280338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Lab: </a:t>
            </a:r>
            <a:r>
              <a:rPr lang="en-US" sz="2400" b="1" dirty="0" err="1" smtClean="0"/>
              <a:t>Kolla</a:t>
            </a:r>
            <a:r>
              <a:rPr lang="en-US" sz="2400" b="1" dirty="0" smtClean="0"/>
              <a:t> </a:t>
            </a:r>
            <a:r>
              <a:rPr lang="en-US" sz="2400" b="1" dirty="0" err="1"/>
              <a:t>Ansible</a:t>
            </a:r>
            <a:r>
              <a:rPr lang="en-US" sz="2400" b="1" dirty="0"/>
              <a:t> All in One </a:t>
            </a:r>
            <a:r>
              <a:rPr lang="en-US" sz="2400" b="1" dirty="0" err="1" smtClean="0"/>
              <a:t>Openstack</a:t>
            </a:r>
            <a:r>
              <a:rPr lang="en-US" sz="2400" b="1" dirty="0" smtClean="0"/>
              <a:t> 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Cons’t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570922" y="401811"/>
            <a:ext cx="413911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dirty="0" smtClean="0"/>
              <a:t>Menu </a:t>
            </a:r>
            <a:r>
              <a:rPr lang="en-US" sz="1400" dirty="0"/>
              <a:t>Network </a:t>
            </a:r>
            <a:r>
              <a:rPr lang="en-US" sz="1400" dirty="0" err="1"/>
              <a:t>isikan</a:t>
            </a:r>
            <a:r>
              <a:rPr lang="en-US" sz="1400" dirty="0"/>
              <a:t> </a:t>
            </a:r>
            <a:r>
              <a:rPr lang="en-US" sz="1400" dirty="0" err="1"/>
              <a:t>nama</a:t>
            </a:r>
            <a:r>
              <a:rPr lang="en-US" sz="1400" dirty="0"/>
              <a:t> network 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3300" y="2095225"/>
            <a:ext cx="4176035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 err="1" smtClean="0"/>
              <a:t>Saat</a:t>
            </a:r>
            <a:r>
              <a:rPr lang="en-US" sz="1200" dirty="0" smtClean="0"/>
              <a:t> </a:t>
            </a:r>
            <a:r>
              <a:rPr lang="en-US" sz="1200" dirty="0" err="1"/>
              <a:t>ini</a:t>
            </a:r>
            <a:r>
              <a:rPr lang="en-US" sz="1200" dirty="0"/>
              <a:t> external network </a:t>
            </a:r>
            <a:r>
              <a:rPr lang="en-US" sz="1200" dirty="0" err="1"/>
              <a:t>sudah</a:t>
            </a:r>
            <a:r>
              <a:rPr lang="en-US" sz="1200" dirty="0"/>
              <a:t> </a:t>
            </a:r>
            <a:r>
              <a:rPr lang="en-US" sz="1200" dirty="0" err="1"/>
              <a:t>berhasil</a:t>
            </a:r>
            <a:r>
              <a:rPr lang="en-US" sz="1200" dirty="0"/>
              <a:t> </a:t>
            </a:r>
            <a:r>
              <a:rPr lang="en-US" sz="1200" dirty="0" err="1"/>
              <a:t>dibuat</a:t>
            </a:r>
            <a:r>
              <a:rPr lang="en-US" sz="1200" dirty="0"/>
              <a:t>, </a:t>
            </a:r>
            <a:r>
              <a:rPr lang="en-US" sz="1200" dirty="0" err="1"/>
              <a:t>selanjutnya</a:t>
            </a:r>
            <a:r>
              <a:rPr lang="en-US" sz="1200" dirty="0"/>
              <a:t> create internal network </a:t>
            </a:r>
            <a:r>
              <a:rPr lang="en-US" sz="1200" dirty="0" err="1"/>
              <a:t>seperti</a:t>
            </a:r>
            <a:r>
              <a:rPr lang="en-US" sz="1200" dirty="0"/>
              <a:t> </a:t>
            </a:r>
            <a:r>
              <a:rPr lang="en-US" sz="1200" dirty="0" err="1"/>
              <a:t>berikut</a:t>
            </a:r>
            <a:r>
              <a:rPr lang="en-US" sz="1200" dirty="0"/>
              <a:t>:</a:t>
            </a:r>
          </a:p>
          <a:p>
            <a:pPr algn="just"/>
            <a:endParaRPr lang="en-US" sz="1200" dirty="0"/>
          </a:p>
          <a:p>
            <a:pPr algn="just"/>
            <a:r>
              <a:rPr lang="en-US" sz="1200" dirty="0"/>
              <a:t>Login Horizon &gt;&gt; Project &gt;&gt; Network &gt;&gt; Networks &gt;&gt; Create Network</a:t>
            </a:r>
          </a:p>
          <a:p>
            <a:pPr algn="just"/>
            <a:endParaRPr lang="en-US" sz="1200" dirty="0">
              <a:solidFill>
                <a:schemeClr val="accent5">
                  <a:lumMod val="75000"/>
                </a:schemeClr>
              </a:solidFill>
            </a:endParaRPr>
          </a:p>
          <a:p>
            <a:pPr algn="just"/>
            <a:r>
              <a:rPr lang="en-US" sz="1200" dirty="0" smtClean="0">
                <a:solidFill>
                  <a:schemeClr val="accent5">
                    <a:lumMod val="75000"/>
                  </a:schemeClr>
                </a:solidFill>
              </a:rPr>
              <a:t>Openstack.panda.id/dashboard/admin/networks/Create Network</a:t>
            </a:r>
            <a:endParaRPr lang="en-US" sz="1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143301" y="679309"/>
            <a:ext cx="417603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nl-NL" sz="1400" dirty="0" smtClean="0"/>
              <a:t>Pembuatan </a:t>
            </a:r>
            <a:r>
              <a:rPr lang="nl-NL" sz="1400" dirty="0"/>
              <a:t>network selesai</a:t>
            </a:r>
            <a:endParaRPr lang="en-US" sz="14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280" y="991478"/>
            <a:ext cx="3715109" cy="111404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590" y="3664885"/>
            <a:ext cx="4094746" cy="1351203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7724" y="732721"/>
            <a:ext cx="3088952" cy="200570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627724" y="2761558"/>
            <a:ext cx="413911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dirty="0" err="1"/>
              <a:t>Pindah</a:t>
            </a:r>
            <a:r>
              <a:rPr lang="en-US" sz="1400" dirty="0"/>
              <a:t> </a:t>
            </a:r>
            <a:r>
              <a:rPr lang="en-US" sz="1400" dirty="0" err="1"/>
              <a:t>ke</a:t>
            </a:r>
            <a:r>
              <a:rPr lang="en-US" sz="1400" dirty="0"/>
              <a:t> menu subnet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menentukan</a:t>
            </a:r>
            <a:r>
              <a:rPr lang="en-US" sz="1400" dirty="0"/>
              <a:t> </a:t>
            </a:r>
            <a:r>
              <a:rPr lang="en-US" sz="1400" dirty="0" err="1"/>
              <a:t>ip</a:t>
            </a:r>
            <a:r>
              <a:rPr lang="en-US" sz="1400" dirty="0"/>
              <a:t> address </a:t>
            </a:r>
            <a:r>
              <a:rPr lang="en-US" sz="1400" dirty="0" err="1"/>
              <a:t>dan</a:t>
            </a:r>
            <a:r>
              <a:rPr lang="en-US" sz="1400" dirty="0"/>
              <a:t> subnet </a:t>
            </a:r>
            <a:r>
              <a:rPr lang="en-US" sz="1400" dirty="0" err="1"/>
              <a:t>nya</a:t>
            </a:r>
            <a:endParaRPr lang="en-US" sz="1400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8410" y="3307911"/>
            <a:ext cx="3140243" cy="184607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43301" y="263304"/>
            <a:ext cx="16900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Create </a:t>
            </a:r>
            <a:r>
              <a:rPr lang="en-US" b="1" dirty="0" smtClean="0">
                <a:solidFill>
                  <a:srgbClr val="002060"/>
                </a:solidFill>
              </a:rPr>
              <a:t>Network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7358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25</a:t>
            </a:fld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3200400" y="65812"/>
            <a:ext cx="5943600" cy="280338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Lab: </a:t>
            </a:r>
            <a:r>
              <a:rPr lang="en-US" sz="2400" b="1" dirty="0" err="1" smtClean="0"/>
              <a:t>Kolla</a:t>
            </a:r>
            <a:r>
              <a:rPr lang="en-US" sz="2400" b="1" dirty="0" smtClean="0"/>
              <a:t> </a:t>
            </a:r>
            <a:r>
              <a:rPr lang="en-US" sz="2400" b="1" dirty="0" err="1"/>
              <a:t>Ansible</a:t>
            </a:r>
            <a:r>
              <a:rPr lang="en-US" sz="2400" b="1" dirty="0"/>
              <a:t> All in One </a:t>
            </a:r>
            <a:r>
              <a:rPr lang="en-US" sz="2400" b="1" dirty="0" err="1" smtClean="0"/>
              <a:t>Openstack</a:t>
            </a:r>
            <a:r>
              <a:rPr lang="en-US" sz="2400" b="1" dirty="0" smtClean="0"/>
              <a:t> 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Cons’t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1309" y="461696"/>
            <a:ext cx="3791025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dirty="0" err="1"/>
              <a:t>Pada</a:t>
            </a:r>
            <a:r>
              <a:rPr lang="en-US" sz="1400" dirty="0"/>
              <a:t> menu Subnet Details, </a:t>
            </a:r>
            <a:r>
              <a:rPr lang="en-US" sz="1400" dirty="0" err="1"/>
              <a:t>silakan</a:t>
            </a:r>
            <a:r>
              <a:rPr lang="en-US" sz="1400" dirty="0"/>
              <a:t> </a:t>
            </a:r>
            <a:r>
              <a:rPr lang="en-US" sz="1400" dirty="0" err="1"/>
              <a:t>isi</a:t>
            </a:r>
            <a:r>
              <a:rPr lang="en-US" sz="1400" dirty="0"/>
              <a:t> pool network yang </a:t>
            </a:r>
            <a:r>
              <a:rPr lang="en-US" sz="1400" dirty="0" err="1"/>
              <a:t>ingin</a:t>
            </a:r>
            <a:r>
              <a:rPr lang="en-US" sz="1400" dirty="0"/>
              <a:t> </a:t>
            </a:r>
            <a:r>
              <a:rPr lang="en-US" sz="1400" dirty="0" err="1"/>
              <a:t>digunakan</a:t>
            </a:r>
            <a:r>
              <a:rPr lang="en-US" sz="1400" dirty="0"/>
              <a:t> </a:t>
            </a:r>
            <a:r>
              <a:rPr lang="en-US" sz="1400" dirty="0" err="1"/>
              <a:t>dari</a:t>
            </a:r>
            <a:r>
              <a:rPr lang="en-US" sz="1400" dirty="0"/>
              <a:t> range </a:t>
            </a:r>
            <a:r>
              <a:rPr lang="en-US" sz="1400" dirty="0" err="1"/>
              <a:t>ip</a:t>
            </a:r>
            <a:r>
              <a:rPr lang="en-US" sz="1400" dirty="0"/>
              <a:t> address </a:t>
            </a:r>
            <a:r>
              <a:rPr lang="en-US" sz="1400" dirty="0" err="1"/>
              <a:t>diatas</a:t>
            </a:r>
            <a:r>
              <a:rPr lang="en-US" sz="1400" dirty="0"/>
              <a:t> </a:t>
            </a:r>
            <a:r>
              <a:rPr lang="en-US" sz="1400" dirty="0" err="1"/>
              <a:t>lalu</a:t>
            </a:r>
            <a:r>
              <a:rPr lang="en-US" sz="1400" dirty="0"/>
              <a:t> </a:t>
            </a:r>
            <a:r>
              <a:rPr lang="en-US" sz="1400" dirty="0" err="1"/>
              <a:t>klik</a:t>
            </a:r>
            <a:r>
              <a:rPr lang="en-US" sz="1400" dirty="0"/>
              <a:t> _ Create _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membuat</a:t>
            </a:r>
            <a:r>
              <a:rPr lang="en-US" sz="1400" dirty="0"/>
              <a:t> network </a:t>
            </a:r>
            <a:r>
              <a:rPr lang="en-US" sz="1400" dirty="0" smtClean="0"/>
              <a:t>internal</a:t>
            </a:r>
            <a:endParaRPr lang="en-US" sz="1400" dirty="0"/>
          </a:p>
        </p:txBody>
      </p:sp>
      <p:sp>
        <p:nvSpPr>
          <p:cNvPr id="9" name="Rectangle 8"/>
          <p:cNvSpPr/>
          <p:nvPr/>
        </p:nvSpPr>
        <p:spPr>
          <a:xfrm>
            <a:off x="4102641" y="412452"/>
            <a:ext cx="413911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dirty="0"/>
              <a:t>P</a:t>
            </a:r>
            <a:r>
              <a:rPr lang="en-US" sz="1400" dirty="0" smtClean="0"/>
              <a:t>roses </a:t>
            </a:r>
            <a:r>
              <a:rPr lang="en-US" sz="1400" dirty="0" err="1"/>
              <a:t>pembuatan</a:t>
            </a:r>
            <a:r>
              <a:rPr lang="en-US" sz="1400" dirty="0"/>
              <a:t> network internal</a:t>
            </a:r>
            <a:endParaRPr lang="en-US" sz="1400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820" y="1402086"/>
            <a:ext cx="3529514" cy="3061165"/>
          </a:xfrm>
          <a:prstGeom prst="rect">
            <a:avLst/>
          </a:prstGeom>
        </p:spPr>
      </p:pic>
      <p:pic>
        <p:nvPicPr>
          <p:cNvPr id="18434" name="Picture 2" descr="https://belajarlinux.id/content/images/wordpress/2020/10/10-1024x326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0468" y="786531"/>
            <a:ext cx="4494964" cy="1431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ctangle 13"/>
          <p:cNvSpPr/>
          <p:nvPr/>
        </p:nvSpPr>
        <p:spPr>
          <a:xfrm>
            <a:off x="143301" y="263304"/>
            <a:ext cx="16900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Create </a:t>
            </a:r>
            <a:r>
              <a:rPr lang="en-US" b="1" dirty="0" smtClean="0">
                <a:solidFill>
                  <a:srgbClr val="002060"/>
                </a:solidFill>
              </a:rPr>
              <a:t>Network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31207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4922" y="3227746"/>
            <a:ext cx="4748568" cy="994172"/>
          </a:xfrm>
        </p:spPr>
        <p:txBody>
          <a:bodyPr>
            <a:normAutofit fontScale="90000"/>
          </a:bodyPr>
          <a:lstStyle/>
          <a:p>
            <a:pPr marL="457200" indent="-457200"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rgbClr val="002060"/>
                </a:solidFill>
              </a:rPr>
              <a:t>Membuat</a:t>
            </a:r>
            <a:r>
              <a:rPr lang="en-US" dirty="0">
                <a:solidFill>
                  <a:srgbClr val="002060"/>
                </a:solidFill>
              </a:rPr>
              <a:t> </a:t>
            </a:r>
            <a:r>
              <a:rPr lang="en-US" dirty="0" smtClean="0">
                <a:solidFill>
                  <a:srgbClr val="002060"/>
                </a:solidFill>
              </a:rPr>
              <a:t>Router</a:t>
            </a:r>
            <a:br>
              <a:rPr lang="en-US" dirty="0" smtClean="0">
                <a:solidFill>
                  <a:srgbClr val="002060"/>
                </a:solidFill>
              </a:rPr>
            </a:br>
            <a:r>
              <a:rPr lang="en-US" dirty="0">
                <a:solidFill>
                  <a:srgbClr val="002060"/>
                </a:solidFill>
              </a:rPr>
              <a:t/>
            </a:r>
            <a:br>
              <a:rPr lang="en-US" dirty="0">
                <a:solidFill>
                  <a:srgbClr val="002060"/>
                </a:solidFill>
              </a:rPr>
            </a:br>
            <a:r>
              <a:rPr lang="en-US" b="1" dirty="0" smtClean="0">
                <a:solidFill>
                  <a:srgbClr val="002060"/>
                </a:solidFill>
              </a:rPr>
              <a:t>Create Router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26</a:t>
            </a:fld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133484" y="190619"/>
            <a:ext cx="606643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b="1" dirty="0" err="1">
                <a:solidFill>
                  <a:schemeClr val="bg1">
                    <a:lumMod val="85000"/>
                  </a:schemeClr>
                </a:solidFill>
              </a:rPr>
              <a:t>Openstack</a:t>
            </a:r>
            <a:r>
              <a:rPr lang="en-US" b="1" dirty="0">
                <a:solidFill>
                  <a:schemeClr val="bg1">
                    <a:lumMod val="85000"/>
                  </a:schemeClr>
                </a:solidFill>
              </a:rPr>
              <a:t>: Upload Image </a:t>
            </a:r>
            <a:r>
              <a:rPr lang="en-US" b="1" dirty="0" err="1">
                <a:solidFill>
                  <a:schemeClr val="bg1">
                    <a:lumMod val="85000"/>
                  </a:schemeClr>
                </a:solidFill>
              </a:rPr>
              <a:t>atau</a:t>
            </a:r>
            <a:r>
              <a:rPr lang="en-US" b="1" dirty="0">
                <a:solidFill>
                  <a:schemeClr val="bg1">
                    <a:lumMod val="85000"/>
                  </a:schemeClr>
                </a:solidFill>
              </a:rPr>
              <a:t> ISO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b="1" dirty="0" err="1">
                <a:solidFill>
                  <a:schemeClr val="bg1">
                    <a:lumMod val="85000"/>
                  </a:schemeClr>
                </a:solidFill>
              </a:rPr>
              <a:t>Openstack</a:t>
            </a:r>
            <a:r>
              <a:rPr lang="en-US" b="1" dirty="0">
                <a:solidFill>
                  <a:schemeClr val="bg1">
                    <a:lumMod val="85000"/>
                  </a:schemeClr>
                </a:solidFill>
              </a:rPr>
              <a:t>: </a:t>
            </a:r>
            <a:r>
              <a:rPr lang="en-US" b="1" dirty="0" err="1">
                <a:solidFill>
                  <a:schemeClr val="bg1">
                    <a:lumMod val="85000"/>
                  </a:schemeClr>
                </a:solidFill>
              </a:rPr>
              <a:t>Membuat</a:t>
            </a:r>
            <a:r>
              <a:rPr lang="en-US" b="1" dirty="0">
                <a:solidFill>
                  <a:schemeClr val="bg1">
                    <a:lumMod val="85000"/>
                  </a:schemeClr>
                </a:solidFill>
              </a:rPr>
              <a:t> Network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b="1" dirty="0" err="1">
                <a:solidFill>
                  <a:srgbClr val="002060"/>
                </a:solidFill>
              </a:rPr>
              <a:t>Openstack</a:t>
            </a:r>
            <a:r>
              <a:rPr lang="en-US" b="1" dirty="0">
                <a:solidFill>
                  <a:srgbClr val="002060"/>
                </a:solidFill>
              </a:rPr>
              <a:t>: </a:t>
            </a:r>
            <a:r>
              <a:rPr lang="en-US" b="1" dirty="0" err="1">
                <a:solidFill>
                  <a:srgbClr val="002060"/>
                </a:solidFill>
              </a:rPr>
              <a:t>Membuat</a:t>
            </a:r>
            <a:r>
              <a:rPr lang="en-US" b="1" dirty="0">
                <a:solidFill>
                  <a:srgbClr val="002060"/>
                </a:solidFill>
              </a:rPr>
              <a:t> Router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Openstack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: </a:t>
            </a: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Menambahkan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SSH Key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Openstack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: </a:t>
            </a: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Menambah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dan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Menggunakan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Security Group</a:t>
            </a:r>
          </a:p>
        </p:txBody>
      </p:sp>
    </p:spTree>
    <p:extLst>
      <p:ext uri="{BB962C8B-B14F-4D97-AF65-F5344CB8AC3E}">
        <p14:creationId xmlns:p14="http://schemas.microsoft.com/office/powerpoint/2010/main" val="1803025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27</a:t>
            </a:fld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3200400" y="65812"/>
            <a:ext cx="5943600" cy="280338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Lab: </a:t>
            </a:r>
            <a:r>
              <a:rPr lang="en-US" sz="2400" b="1" dirty="0" err="1" smtClean="0"/>
              <a:t>Kolla</a:t>
            </a:r>
            <a:r>
              <a:rPr lang="en-US" sz="2400" b="1" dirty="0" smtClean="0"/>
              <a:t> </a:t>
            </a:r>
            <a:r>
              <a:rPr lang="en-US" sz="2400" b="1" dirty="0" err="1"/>
              <a:t>Ansible</a:t>
            </a:r>
            <a:r>
              <a:rPr lang="en-US" sz="2400" b="1" dirty="0"/>
              <a:t> All in One </a:t>
            </a:r>
            <a:r>
              <a:rPr lang="en-US" sz="2400" b="1" dirty="0" err="1" smtClean="0"/>
              <a:t>Openstack</a:t>
            </a:r>
            <a:r>
              <a:rPr lang="en-US" sz="2400" b="1" dirty="0" smtClean="0"/>
              <a:t> 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Cons’t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47562" y="938749"/>
            <a:ext cx="3791025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 err="1"/>
              <a:t>M</a:t>
            </a:r>
            <a:r>
              <a:rPr lang="en-US" sz="1200" dirty="0" err="1" smtClean="0"/>
              <a:t>embuat</a:t>
            </a:r>
            <a:r>
              <a:rPr lang="en-US" sz="1200" dirty="0" smtClean="0"/>
              <a:t> </a:t>
            </a:r>
            <a:r>
              <a:rPr lang="en-US" sz="1200" dirty="0"/>
              <a:t>router </a:t>
            </a:r>
            <a:r>
              <a:rPr lang="en-US" sz="1200" dirty="0" err="1"/>
              <a:t>melalui</a:t>
            </a:r>
            <a:r>
              <a:rPr lang="en-US" sz="1200" dirty="0"/>
              <a:t> horizon, </a:t>
            </a:r>
            <a:r>
              <a:rPr lang="en-US" sz="1200" dirty="0" err="1"/>
              <a:t>fungsi</a:t>
            </a:r>
            <a:r>
              <a:rPr lang="en-US" sz="1200" dirty="0"/>
              <a:t> router </a:t>
            </a:r>
            <a:r>
              <a:rPr lang="en-US" sz="1200" dirty="0" err="1"/>
              <a:t>sendiri</a:t>
            </a:r>
            <a:r>
              <a:rPr lang="en-US" sz="1200" dirty="0"/>
              <a:t> </a:t>
            </a:r>
            <a:r>
              <a:rPr lang="en-US" sz="1200" dirty="0" err="1"/>
              <a:t>untuk</a:t>
            </a:r>
            <a:r>
              <a:rPr lang="en-US" sz="1200" dirty="0"/>
              <a:t> </a:t>
            </a:r>
            <a:r>
              <a:rPr lang="en-US" sz="1200" dirty="0" err="1"/>
              <a:t>menghubungkan</a:t>
            </a:r>
            <a:r>
              <a:rPr lang="en-US" sz="1200" dirty="0"/>
              <a:t> network yang </a:t>
            </a:r>
            <a:r>
              <a:rPr lang="en-US" sz="1200" dirty="0" err="1"/>
              <a:t>telah</a:t>
            </a:r>
            <a:r>
              <a:rPr lang="en-US" sz="1200" dirty="0"/>
              <a:t> </a:t>
            </a:r>
            <a:r>
              <a:rPr lang="en-US" sz="1200" dirty="0" err="1"/>
              <a:t>kita</a:t>
            </a:r>
            <a:r>
              <a:rPr lang="en-US" sz="1200" dirty="0"/>
              <a:t> </a:t>
            </a:r>
            <a:r>
              <a:rPr lang="en-US" sz="1200" dirty="0" err="1"/>
              <a:t>buat</a:t>
            </a:r>
            <a:r>
              <a:rPr lang="en-US" sz="1200" dirty="0"/>
              <a:t> </a:t>
            </a:r>
            <a:r>
              <a:rPr lang="en-US" sz="1200" dirty="0" err="1"/>
              <a:t>sebelumnya</a:t>
            </a:r>
            <a:r>
              <a:rPr lang="en-US" sz="1200" dirty="0"/>
              <a:t>, </a:t>
            </a:r>
            <a:r>
              <a:rPr lang="en-US" sz="1200" dirty="0" err="1"/>
              <a:t>jika</a:t>
            </a:r>
            <a:r>
              <a:rPr lang="en-US" sz="1200" dirty="0"/>
              <a:t> di </a:t>
            </a:r>
            <a:r>
              <a:rPr lang="en-US" sz="1200" dirty="0" err="1"/>
              <a:t>lihat</a:t>
            </a:r>
            <a:r>
              <a:rPr lang="en-US" sz="1200" dirty="0"/>
              <a:t> </a:t>
            </a:r>
            <a:r>
              <a:rPr lang="en-US" sz="1200" dirty="0" err="1"/>
              <a:t>melalui</a:t>
            </a:r>
            <a:r>
              <a:rPr lang="en-US" sz="1200" dirty="0"/>
              <a:t> </a:t>
            </a:r>
            <a:r>
              <a:rPr lang="en-US" sz="1200" i="1" dirty="0"/>
              <a:t>Network </a:t>
            </a:r>
            <a:r>
              <a:rPr lang="en-US" sz="1200" i="1" dirty="0" err="1"/>
              <a:t>topologi</a:t>
            </a:r>
            <a:r>
              <a:rPr lang="en-US" sz="1200" dirty="0"/>
              <a:t> </a:t>
            </a:r>
            <a:r>
              <a:rPr lang="en-US" sz="1200" dirty="0" err="1"/>
              <a:t>saat</a:t>
            </a:r>
            <a:r>
              <a:rPr lang="en-US" sz="1200" dirty="0"/>
              <a:t> </a:t>
            </a:r>
            <a:r>
              <a:rPr lang="en-US" sz="1200" dirty="0" err="1"/>
              <a:t>ini</a:t>
            </a:r>
            <a:r>
              <a:rPr lang="en-US" sz="1200" dirty="0"/>
              <a:t> </a:t>
            </a:r>
            <a:r>
              <a:rPr lang="en-US" sz="1200" dirty="0" err="1"/>
              <a:t>sudah</a:t>
            </a:r>
            <a:r>
              <a:rPr lang="en-US" sz="1200" dirty="0"/>
              <a:t> </a:t>
            </a:r>
            <a:r>
              <a:rPr lang="en-US" sz="1200" dirty="0" err="1"/>
              <a:t>terdapat</a:t>
            </a:r>
            <a:r>
              <a:rPr lang="en-US" sz="1200" dirty="0"/>
              <a:t> 2 network internal </a:t>
            </a:r>
            <a:r>
              <a:rPr lang="en-US" sz="1200" dirty="0" err="1"/>
              <a:t>dan</a:t>
            </a:r>
            <a:r>
              <a:rPr lang="en-US" sz="1200" dirty="0"/>
              <a:t> external</a:t>
            </a:r>
            <a:endParaRPr lang="en-US" sz="1200" dirty="0"/>
          </a:p>
        </p:txBody>
      </p:sp>
      <p:sp>
        <p:nvSpPr>
          <p:cNvPr id="9" name="Rectangle 8"/>
          <p:cNvSpPr/>
          <p:nvPr/>
        </p:nvSpPr>
        <p:spPr>
          <a:xfrm>
            <a:off x="4102641" y="412452"/>
            <a:ext cx="413911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/>
              <a:t>Isi </a:t>
            </a:r>
            <a:r>
              <a:rPr lang="en-US" sz="1200" dirty="0" err="1"/>
              <a:t>nama</a:t>
            </a:r>
            <a:r>
              <a:rPr lang="en-US" sz="1200" dirty="0"/>
              <a:t> Router yang </a:t>
            </a:r>
            <a:r>
              <a:rPr lang="en-US" sz="1200" dirty="0" err="1"/>
              <a:t>Anda</a:t>
            </a:r>
            <a:r>
              <a:rPr lang="en-US" sz="1200" dirty="0"/>
              <a:t> </a:t>
            </a:r>
            <a:r>
              <a:rPr lang="en-US" sz="1200" dirty="0" err="1"/>
              <a:t>inginkan</a:t>
            </a:r>
            <a:r>
              <a:rPr lang="en-US" sz="1200" dirty="0"/>
              <a:t> </a:t>
            </a:r>
            <a:r>
              <a:rPr lang="en-US" sz="1200" dirty="0" err="1"/>
              <a:t>contoh</a:t>
            </a:r>
            <a:r>
              <a:rPr lang="en-US" sz="1200" dirty="0"/>
              <a:t> </a:t>
            </a:r>
            <a:r>
              <a:rPr lang="en-US" sz="1200" dirty="0" err="1"/>
              <a:t>seperti</a:t>
            </a:r>
            <a:r>
              <a:rPr lang="en-US" sz="1200" dirty="0"/>
              <a:t> </a:t>
            </a:r>
            <a:r>
              <a:rPr lang="en-US" sz="1200" dirty="0" err="1"/>
              <a:t>gambar</a:t>
            </a:r>
            <a:r>
              <a:rPr lang="en-US" sz="1200" dirty="0"/>
              <a:t> </a:t>
            </a:r>
            <a:r>
              <a:rPr lang="en-US" sz="1200" dirty="0" err="1"/>
              <a:t>dibawah</a:t>
            </a:r>
            <a:r>
              <a:rPr lang="en-US" sz="1200" dirty="0"/>
              <a:t> </a:t>
            </a:r>
            <a:r>
              <a:rPr lang="en-US" sz="1200" dirty="0" err="1"/>
              <a:t>ini</a:t>
            </a:r>
            <a:r>
              <a:rPr lang="en-US" sz="1200" dirty="0"/>
              <a:t>, </a:t>
            </a:r>
            <a:r>
              <a:rPr lang="en-US" sz="1200" dirty="0" err="1"/>
              <a:t>klik</a:t>
            </a:r>
            <a:r>
              <a:rPr lang="en-US" sz="1200" dirty="0"/>
              <a:t> </a:t>
            </a:r>
            <a:r>
              <a:rPr lang="en-US" sz="1200" b="1" dirty="0"/>
              <a:t>Create Router</a:t>
            </a:r>
            <a:r>
              <a:rPr lang="en-US" sz="1200" dirty="0"/>
              <a:t> </a:t>
            </a:r>
            <a:r>
              <a:rPr lang="en-US" sz="1200" dirty="0" err="1"/>
              <a:t>untuk</a:t>
            </a:r>
            <a:r>
              <a:rPr lang="en-US" sz="1200" dirty="0"/>
              <a:t> </a:t>
            </a:r>
            <a:r>
              <a:rPr lang="en-US" sz="1200" dirty="0" err="1"/>
              <a:t>membuat</a:t>
            </a:r>
            <a:r>
              <a:rPr lang="en-US" sz="1200" dirty="0"/>
              <a:t> router</a:t>
            </a:r>
            <a:endParaRPr lang="en-US" sz="1200" dirty="0"/>
          </a:p>
        </p:txBody>
      </p:sp>
      <p:sp>
        <p:nvSpPr>
          <p:cNvPr id="2" name="Rectangle 1"/>
          <p:cNvSpPr/>
          <p:nvPr/>
        </p:nvSpPr>
        <p:spPr>
          <a:xfrm>
            <a:off x="147562" y="595299"/>
            <a:ext cx="15056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Create Router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791" y="1827309"/>
            <a:ext cx="3537283" cy="160247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74458" y="3476463"/>
            <a:ext cx="378994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 err="1" smtClean="0"/>
              <a:t>Membuat</a:t>
            </a:r>
            <a:r>
              <a:rPr lang="en-US" sz="1200" dirty="0" smtClean="0"/>
              <a:t> </a:t>
            </a:r>
            <a:r>
              <a:rPr lang="en-US" sz="1200" dirty="0"/>
              <a:t>router Login </a:t>
            </a:r>
            <a:r>
              <a:rPr lang="en-US" sz="1200" dirty="0" err="1"/>
              <a:t>ke</a:t>
            </a:r>
            <a:r>
              <a:rPr lang="en-US" sz="1200" dirty="0"/>
              <a:t> Horizon &gt;&gt; Network &gt;&gt; Router &gt;&gt; Create Router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791" y="3984806"/>
            <a:ext cx="3537283" cy="1112622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0915" y="874117"/>
            <a:ext cx="4532137" cy="2059907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0916" y="3099042"/>
            <a:ext cx="4532137" cy="1668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0243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28</a:t>
            </a:fld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3200400" y="65812"/>
            <a:ext cx="5943600" cy="280338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Lab: </a:t>
            </a:r>
            <a:r>
              <a:rPr lang="en-US" sz="2400" b="1" dirty="0" err="1" smtClean="0"/>
              <a:t>Kolla</a:t>
            </a:r>
            <a:r>
              <a:rPr lang="en-US" sz="2400" b="1" dirty="0" smtClean="0"/>
              <a:t> </a:t>
            </a:r>
            <a:r>
              <a:rPr lang="en-US" sz="2400" b="1" dirty="0" err="1"/>
              <a:t>Ansible</a:t>
            </a:r>
            <a:r>
              <a:rPr lang="en-US" sz="2400" b="1" dirty="0"/>
              <a:t> All in One </a:t>
            </a:r>
            <a:r>
              <a:rPr lang="en-US" sz="2400" b="1" dirty="0" err="1" smtClean="0"/>
              <a:t>Openstack</a:t>
            </a:r>
            <a:r>
              <a:rPr lang="en-US" sz="2400" b="1" dirty="0" smtClean="0"/>
              <a:t> 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Cons’t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43301" y="602987"/>
            <a:ext cx="219082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 smtClean="0"/>
              <a:t>Detail </a:t>
            </a:r>
            <a:r>
              <a:rPr lang="en-US" sz="1200" dirty="0" err="1"/>
              <a:t>informasi</a:t>
            </a:r>
            <a:r>
              <a:rPr lang="en-US" sz="1200" dirty="0"/>
              <a:t> </a:t>
            </a:r>
            <a:r>
              <a:rPr lang="en-US" sz="1200" dirty="0" err="1"/>
              <a:t>dari</a:t>
            </a:r>
            <a:r>
              <a:rPr lang="en-US" sz="1200" dirty="0"/>
              <a:t> router</a:t>
            </a:r>
            <a:endParaRPr lang="en-US" sz="1200" dirty="0"/>
          </a:p>
        </p:txBody>
      </p:sp>
      <p:sp>
        <p:nvSpPr>
          <p:cNvPr id="9" name="Rectangle 8"/>
          <p:cNvSpPr/>
          <p:nvPr/>
        </p:nvSpPr>
        <p:spPr>
          <a:xfrm>
            <a:off x="4102641" y="412452"/>
            <a:ext cx="413911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 err="1"/>
              <a:t>Pilih</a:t>
            </a:r>
            <a:r>
              <a:rPr lang="en-US" sz="1200" dirty="0"/>
              <a:t> network internal yang </a:t>
            </a:r>
            <a:r>
              <a:rPr lang="en-US" sz="1200" dirty="0" err="1"/>
              <a:t>sudah</a:t>
            </a:r>
            <a:r>
              <a:rPr lang="en-US" sz="1200" dirty="0"/>
              <a:t> </a:t>
            </a:r>
            <a:r>
              <a:rPr lang="en-US" sz="1200" dirty="0" err="1"/>
              <a:t>dibuat</a:t>
            </a:r>
            <a:r>
              <a:rPr lang="en-US" sz="1200" dirty="0"/>
              <a:t> </a:t>
            </a:r>
            <a:r>
              <a:rPr lang="en-US" sz="1200" dirty="0" err="1"/>
              <a:t>sebelumnya</a:t>
            </a:r>
            <a:r>
              <a:rPr lang="en-US" sz="1200" dirty="0"/>
              <a:t> </a:t>
            </a:r>
            <a:r>
              <a:rPr lang="en-US" sz="1200" dirty="0" err="1"/>
              <a:t>lalu</a:t>
            </a:r>
            <a:r>
              <a:rPr lang="en-US" sz="1200" dirty="0"/>
              <a:t> </a:t>
            </a:r>
            <a:r>
              <a:rPr lang="en-US" sz="1200" b="1" dirty="0"/>
              <a:t>Submit</a:t>
            </a:r>
            <a:endParaRPr lang="en-US" sz="1200" dirty="0"/>
          </a:p>
        </p:txBody>
      </p:sp>
      <p:sp>
        <p:nvSpPr>
          <p:cNvPr id="14" name="Rectangle 13"/>
          <p:cNvSpPr/>
          <p:nvPr/>
        </p:nvSpPr>
        <p:spPr>
          <a:xfrm>
            <a:off x="143301" y="263304"/>
            <a:ext cx="15056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Create </a:t>
            </a:r>
            <a:r>
              <a:rPr lang="en-US" b="1" dirty="0" smtClean="0">
                <a:solidFill>
                  <a:srgbClr val="002060"/>
                </a:solidFill>
              </a:rPr>
              <a:t>Router</a:t>
            </a:r>
            <a:endParaRPr 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599" y="879986"/>
            <a:ext cx="3501189" cy="154006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28600" y="2420053"/>
            <a:ext cx="320566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 err="1"/>
              <a:t>Selanjutnya</a:t>
            </a:r>
            <a:r>
              <a:rPr lang="en-US" sz="1200" dirty="0"/>
              <a:t> </a:t>
            </a:r>
            <a:r>
              <a:rPr lang="en-US" sz="1200" dirty="0" err="1"/>
              <a:t>pindah</a:t>
            </a:r>
            <a:r>
              <a:rPr lang="en-US" sz="1200" dirty="0"/>
              <a:t> </a:t>
            </a:r>
            <a:r>
              <a:rPr lang="en-US" sz="1200" dirty="0" err="1"/>
              <a:t>ke</a:t>
            </a:r>
            <a:r>
              <a:rPr lang="en-US" sz="1200" dirty="0"/>
              <a:t> menu </a:t>
            </a:r>
            <a:r>
              <a:rPr lang="en-US" sz="1200" b="1" dirty="0"/>
              <a:t>Interface &gt;&gt; Add Interface</a:t>
            </a:r>
            <a:r>
              <a:rPr lang="en-US" sz="1200" dirty="0"/>
              <a:t> </a:t>
            </a:r>
            <a:r>
              <a:rPr lang="en-US" sz="1200" dirty="0" err="1"/>
              <a:t>untuk</a:t>
            </a:r>
            <a:r>
              <a:rPr lang="en-US" sz="1200" dirty="0"/>
              <a:t> </a:t>
            </a:r>
            <a:r>
              <a:rPr lang="en-US" sz="1200" dirty="0" err="1"/>
              <a:t>menambahkan</a:t>
            </a:r>
            <a:r>
              <a:rPr lang="en-US" sz="1200" dirty="0"/>
              <a:t> interface network yang </a:t>
            </a:r>
            <a:r>
              <a:rPr lang="en-US" sz="1200" dirty="0" err="1"/>
              <a:t>sudah</a:t>
            </a:r>
            <a:r>
              <a:rPr lang="en-US" sz="1200" dirty="0"/>
              <a:t> </a:t>
            </a:r>
            <a:r>
              <a:rPr lang="en-US" sz="1200" dirty="0" err="1"/>
              <a:t>kita</a:t>
            </a:r>
            <a:r>
              <a:rPr lang="en-US" sz="1200" dirty="0"/>
              <a:t> </a:t>
            </a:r>
            <a:r>
              <a:rPr lang="en-US" sz="1200" dirty="0" err="1"/>
              <a:t>buat</a:t>
            </a:r>
            <a:r>
              <a:rPr lang="en-US" sz="1200" dirty="0"/>
              <a:t> </a:t>
            </a:r>
            <a:r>
              <a:rPr lang="en-US" sz="1200" dirty="0" err="1"/>
              <a:t>sebelumnya</a:t>
            </a:r>
            <a:endParaRPr lang="en-US" sz="1200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705" y="3066383"/>
            <a:ext cx="3461084" cy="170087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23696" y="923257"/>
            <a:ext cx="4562101" cy="126495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102640" y="2281553"/>
            <a:ext cx="413911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it-IT" sz="1200" dirty="0"/>
              <a:t>Saat ini interface sudah berhasil di tambahkan</a:t>
            </a:r>
            <a:endParaRPr lang="en-US" sz="1200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30102" y="2651893"/>
            <a:ext cx="4455695" cy="2004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1885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29</a:t>
            </a:fld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3200400" y="65812"/>
            <a:ext cx="5943600" cy="280338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Lab: </a:t>
            </a:r>
            <a:r>
              <a:rPr lang="en-US" sz="2400" b="1" dirty="0" err="1" smtClean="0"/>
              <a:t>Kolla</a:t>
            </a:r>
            <a:r>
              <a:rPr lang="en-US" sz="2400" b="1" dirty="0" smtClean="0"/>
              <a:t> </a:t>
            </a:r>
            <a:r>
              <a:rPr lang="en-US" sz="2400" b="1" dirty="0" err="1"/>
              <a:t>Ansible</a:t>
            </a:r>
            <a:r>
              <a:rPr lang="en-US" sz="2400" b="1" dirty="0"/>
              <a:t> All in One </a:t>
            </a:r>
            <a:r>
              <a:rPr lang="en-US" sz="2400" b="1" dirty="0" err="1" smtClean="0"/>
              <a:t>Openstack</a:t>
            </a:r>
            <a:r>
              <a:rPr lang="en-US" sz="2400" b="1" dirty="0" smtClean="0"/>
              <a:t> 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Cons’t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43301" y="632636"/>
            <a:ext cx="379102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 err="1"/>
              <a:t>Selajutnya</a:t>
            </a:r>
            <a:r>
              <a:rPr lang="en-US" sz="1200" dirty="0"/>
              <a:t> test ping </a:t>
            </a:r>
            <a:r>
              <a:rPr lang="en-US" sz="1200" dirty="0" err="1"/>
              <a:t>dari</a:t>
            </a:r>
            <a:r>
              <a:rPr lang="en-US" sz="1200" dirty="0"/>
              <a:t> controller </a:t>
            </a:r>
            <a:r>
              <a:rPr lang="en-US" sz="1200" dirty="0" err="1"/>
              <a:t>ke</a:t>
            </a:r>
            <a:r>
              <a:rPr lang="en-US" sz="1200" dirty="0"/>
              <a:t> IP Gateway </a:t>
            </a:r>
            <a:r>
              <a:rPr lang="en-US" sz="1200" dirty="0" err="1"/>
              <a:t>atau</a:t>
            </a:r>
            <a:r>
              <a:rPr lang="en-US" sz="1200" dirty="0"/>
              <a:t> IP Router yang </a:t>
            </a:r>
            <a:r>
              <a:rPr lang="en-US" sz="1200" dirty="0" err="1"/>
              <a:t>sudah</a:t>
            </a:r>
            <a:r>
              <a:rPr lang="en-US" sz="1200" dirty="0"/>
              <a:t> </a:t>
            </a:r>
            <a:r>
              <a:rPr lang="en-US" sz="1200" dirty="0" err="1"/>
              <a:t>kita</a:t>
            </a:r>
            <a:r>
              <a:rPr lang="en-US" sz="1200" dirty="0"/>
              <a:t> </a:t>
            </a:r>
            <a:r>
              <a:rPr lang="en-US" sz="1200" dirty="0" err="1"/>
              <a:t>buat</a:t>
            </a:r>
            <a:r>
              <a:rPr lang="en-US" sz="1200" dirty="0"/>
              <a:t> </a:t>
            </a:r>
            <a:r>
              <a:rPr lang="en-US" sz="1200" dirty="0" err="1"/>
              <a:t>sebelumnya</a:t>
            </a:r>
            <a:r>
              <a:rPr lang="en-US" sz="1200" dirty="0"/>
              <a:t>.</a:t>
            </a:r>
            <a:endParaRPr lang="en-US" sz="1200" dirty="0"/>
          </a:p>
        </p:txBody>
      </p:sp>
      <p:sp>
        <p:nvSpPr>
          <p:cNvPr id="9" name="Rectangle 8"/>
          <p:cNvSpPr/>
          <p:nvPr/>
        </p:nvSpPr>
        <p:spPr>
          <a:xfrm>
            <a:off x="4102641" y="412452"/>
            <a:ext cx="413911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dirty="0"/>
              <a:t>P</a:t>
            </a:r>
            <a:r>
              <a:rPr lang="en-US" sz="1400" dirty="0" smtClean="0"/>
              <a:t>roses </a:t>
            </a:r>
            <a:r>
              <a:rPr lang="en-US" sz="1400" dirty="0" err="1"/>
              <a:t>pembuatan</a:t>
            </a:r>
            <a:r>
              <a:rPr lang="en-US" sz="1400" dirty="0"/>
              <a:t> network internal</a:t>
            </a:r>
            <a:endParaRPr lang="en-US" sz="1400" dirty="0"/>
          </a:p>
        </p:txBody>
      </p:sp>
      <p:sp>
        <p:nvSpPr>
          <p:cNvPr id="14" name="Rectangle 13"/>
          <p:cNvSpPr/>
          <p:nvPr/>
        </p:nvSpPr>
        <p:spPr>
          <a:xfrm>
            <a:off x="143301" y="263304"/>
            <a:ext cx="15056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Create </a:t>
            </a:r>
            <a:r>
              <a:rPr lang="en-US" b="1" dirty="0" smtClean="0">
                <a:solidFill>
                  <a:srgbClr val="002060"/>
                </a:solidFill>
              </a:rPr>
              <a:t>Router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43301" y="1007656"/>
            <a:ext cx="4247724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000" dirty="0" smtClean="0">
                <a:solidFill>
                  <a:srgbClr val="0070C0"/>
                </a:solidFill>
              </a:rPr>
              <a:t>Openstack.panda.id/dashboard/project/routers/a5b00947-db9a-4934-a202-f2bd0cg1a1c/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43301" y="3936266"/>
            <a:ext cx="3524250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altLang="en-US" sz="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root@controller</a:t>
            </a:r>
            <a:r>
              <a:rPr lang="en-US" altLang="en-US" sz="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~]#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altLang="en-US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root@controller</a:t>
            </a:r>
            <a:r>
              <a:rPr lang="en-US" altLang="en-US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~]#</a:t>
            </a:r>
            <a:r>
              <a:rPr lang="en-US" altLang="en-US" sz="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ping 10.136.136.112 –c5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PING 10.136.136.185 (10.136.136.185) 56(84) bytes of data.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latin typeface="Courier New" panose="02070309020205020404" pitchFamily="49" charset="0"/>
                <a:cs typeface="Courier New" panose="02070309020205020404" pitchFamily="49" charset="0"/>
              </a:rPr>
              <a:t>64 bytes from </a:t>
            </a:r>
            <a:r>
              <a:rPr lang="en-US" altLang="en-US" sz="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10.136.136.185: </a:t>
            </a:r>
            <a:r>
              <a:rPr lang="en-US" altLang="en-US" sz="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icmp_seq</a:t>
            </a:r>
            <a:r>
              <a:rPr lang="en-US" altLang="en-US" sz="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=1 </a:t>
            </a:r>
            <a:r>
              <a:rPr lang="en-US" altLang="en-US" sz="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ttl</a:t>
            </a:r>
            <a:r>
              <a:rPr lang="en-US" altLang="en-US" sz="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=64 time=101ms TTL=0.491 </a:t>
            </a:r>
            <a:r>
              <a:rPr lang="en-US" altLang="en-US" sz="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endParaRPr lang="en-US" altLang="en-US" sz="6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latin typeface="Courier New" panose="02070309020205020404" pitchFamily="49" charset="0"/>
                <a:cs typeface="Courier New" panose="02070309020205020404" pitchFamily="49" charset="0"/>
              </a:rPr>
              <a:t>64 bytes from 10.136.136.185: </a:t>
            </a:r>
            <a:r>
              <a:rPr lang="en-US" altLang="en-US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icmp_seq</a:t>
            </a:r>
            <a:r>
              <a:rPr lang="en-US" altLang="en-US" sz="600" dirty="0">
                <a:latin typeface="Courier New" panose="02070309020205020404" pitchFamily="49" charset="0"/>
                <a:cs typeface="Courier New" panose="02070309020205020404" pitchFamily="49" charset="0"/>
              </a:rPr>
              <a:t>=1 </a:t>
            </a:r>
            <a:r>
              <a:rPr lang="en-US" altLang="en-US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ttl</a:t>
            </a:r>
            <a:r>
              <a:rPr lang="en-US" altLang="en-US" sz="600" dirty="0">
                <a:latin typeface="Courier New" panose="02070309020205020404" pitchFamily="49" charset="0"/>
                <a:cs typeface="Courier New" panose="02070309020205020404" pitchFamily="49" charset="0"/>
              </a:rPr>
              <a:t>=64 time=101ms TTL=0.491 </a:t>
            </a:r>
            <a:r>
              <a:rPr lang="en-US" altLang="en-US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endParaRPr lang="en-US" altLang="en-US" sz="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latin typeface="Courier New" panose="02070309020205020404" pitchFamily="49" charset="0"/>
                <a:cs typeface="Courier New" panose="02070309020205020404" pitchFamily="49" charset="0"/>
              </a:rPr>
              <a:t>64 bytes from 10.136.136.185: </a:t>
            </a:r>
            <a:r>
              <a:rPr lang="en-US" altLang="en-US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icmp_seq</a:t>
            </a:r>
            <a:r>
              <a:rPr lang="en-US" altLang="en-US" sz="600" dirty="0">
                <a:latin typeface="Courier New" panose="02070309020205020404" pitchFamily="49" charset="0"/>
                <a:cs typeface="Courier New" panose="02070309020205020404" pitchFamily="49" charset="0"/>
              </a:rPr>
              <a:t>=1 </a:t>
            </a:r>
            <a:r>
              <a:rPr lang="en-US" altLang="en-US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ttl</a:t>
            </a:r>
            <a:r>
              <a:rPr lang="en-US" altLang="en-US" sz="600" dirty="0">
                <a:latin typeface="Courier New" panose="02070309020205020404" pitchFamily="49" charset="0"/>
                <a:cs typeface="Courier New" panose="02070309020205020404" pitchFamily="49" charset="0"/>
              </a:rPr>
              <a:t>=64 time=101ms TTL=0.491 </a:t>
            </a:r>
            <a:r>
              <a:rPr lang="en-US" altLang="en-US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endParaRPr lang="en-US" altLang="en-US" sz="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latin typeface="Courier New" panose="02070309020205020404" pitchFamily="49" charset="0"/>
                <a:cs typeface="Courier New" panose="02070309020205020404" pitchFamily="49" charset="0"/>
              </a:rPr>
              <a:t>64 bytes from 10.136.136.185: </a:t>
            </a:r>
            <a:r>
              <a:rPr lang="en-US" altLang="en-US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icmp_seq</a:t>
            </a:r>
            <a:r>
              <a:rPr lang="en-US" altLang="en-US" sz="600" dirty="0">
                <a:latin typeface="Courier New" panose="02070309020205020404" pitchFamily="49" charset="0"/>
                <a:cs typeface="Courier New" panose="02070309020205020404" pitchFamily="49" charset="0"/>
              </a:rPr>
              <a:t>=1 </a:t>
            </a:r>
            <a:r>
              <a:rPr lang="en-US" altLang="en-US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ttl</a:t>
            </a:r>
            <a:r>
              <a:rPr lang="en-US" altLang="en-US" sz="600" dirty="0">
                <a:latin typeface="Courier New" panose="02070309020205020404" pitchFamily="49" charset="0"/>
                <a:cs typeface="Courier New" panose="02070309020205020404" pitchFamily="49" charset="0"/>
              </a:rPr>
              <a:t>=64 time=101ms TTL=0.491 </a:t>
            </a:r>
            <a:r>
              <a:rPr lang="en-US" altLang="en-US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endParaRPr lang="en-US" altLang="en-US" sz="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latin typeface="Courier New" panose="02070309020205020404" pitchFamily="49" charset="0"/>
                <a:cs typeface="Courier New" panose="02070309020205020404" pitchFamily="49" charset="0"/>
              </a:rPr>
              <a:t>64 bytes from 10.136.136.185: </a:t>
            </a:r>
            <a:r>
              <a:rPr lang="en-US" altLang="en-US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icmp_seq</a:t>
            </a:r>
            <a:r>
              <a:rPr lang="en-US" altLang="en-US" sz="600" dirty="0">
                <a:latin typeface="Courier New" panose="02070309020205020404" pitchFamily="49" charset="0"/>
                <a:cs typeface="Courier New" panose="02070309020205020404" pitchFamily="49" charset="0"/>
              </a:rPr>
              <a:t>=1 </a:t>
            </a:r>
            <a:r>
              <a:rPr lang="en-US" altLang="en-US" sz="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ttl</a:t>
            </a:r>
            <a:r>
              <a:rPr lang="en-US" altLang="en-US" sz="600" dirty="0">
                <a:latin typeface="Courier New" panose="02070309020205020404" pitchFamily="49" charset="0"/>
                <a:cs typeface="Courier New" panose="02070309020205020404" pitchFamily="49" charset="0"/>
              </a:rPr>
              <a:t>=64 time=101ms TTL=0.491 </a:t>
            </a:r>
            <a:r>
              <a:rPr lang="en-US" altLang="en-US" sz="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endParaRPr lang="en-US" altLang="en-US" sz="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215315" y="1532773"/>
            <a:ext cx="3719011" cy="2287738"/>
            <a:chOff x="215315" y="1532773"/>
            <a:chExt cx="3719011" cy="2287738"/>
          </a:xfrm>
        </p:grpSpPr>
        <p:grpSp>
          <p:nvGrpSpPr>
            <p:cNvPr id="3" name="Group 2"/>
            <p:cNvGrpSpPr/>
            <p:nvPr/>
          </p:nvGrpSpPr>
          <p:grpSpPr>
            <a:xfrm>
              <a:off x="215315" y="1532773"/>
              <a:ext cx="3719011" cy="2287738"/>
              <a:chOff x="215315" y="1532773"/>
              <a:chExt cx="3719011" cy="2287738"/>
            </a:xfrm>
          </p:grpSpPr>
          <p:pic>
            <p:nvPicPr>
              <p:cNvPr id="2" name="Picture 1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15315" y="1532773"/>
                <a:ext cx="3719011" cy="2287738"/>
              </a:xfrm>
              <a:prstGeom prst="rect">
                <a:avLst/>
              </a:prstGeom>
            </p:spPr>
          </p:pic>
          <p:sp>
            <p:nvSpPr>
              <p:cNvPr id="11" name="Rectangle 10"/>
              <p:cNvSpPr/>
              <p:nvPr/>
            </p:nvSpPr>
            <p:spPr>
              <a:xfrm>
                <a:off x="771952" y="1576860"/>
                <a:ext cx="1904574" cy="1384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US" sz="300" dirty="0" smtClean="0">
                    <a:solidFill>
                      <a:schemeClr val="bg1">
                        <a:lumMod val="75000"/>
                      </a:schemeClr>
                    </a:solidFill>
                  </a:rPr>
                  <a:t>Openstack.panda.id/dashboard/project/routers/a5b00947-db9a-4934-a202-f2bd0cg1a1c/</a:t>
                </a:r>
                <a:endParaRPr lang="en-US" sz="300" dirty="0">
                  <a:solidFill>
                    <a:schemeClr val="bg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0" name="Rectangle 9"/>
            <p:cNvSpPr/>
            <p:nvPr/>
          </p:nvSpPr>
          <p:spPr>
            <a:xfrm>
              <a:off x="648561" y="2983797"/>
              <a:ext cx="2151356" cy="684803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>
              <a:spAutoFit/>
            </a:bodyPr>
            <a:lstStyle/>
            <a:p>
              <a:pPr lvl="0" algn="just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350" dirty="0" smtClean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[</a:t>
              </a:r>
              <a:r>
                <a:rPr lang="en-US" altLang="en-US" sz="350" dirty="0" err="1" smtClean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root@controller</a:t>
              </a:r>
              <a:r>
                <a:rPr lang="en-US" altLang="en-US" sz="350" dirty="0" smtClean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~]#</a:t>
              </a:r>
            </a:p>
            <a:p>
              <a:pPr algn="just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35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[</a:t>
              </a:r>
              <a:r>
                <a:rPr lang="en-US" altLang="en-US" sz="350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root@controller</a:t>
              </a:r>
              <a:r>
                <a:rPr lang="en-US" altLang="en-US" sz="35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altLang="en-US" sz="350" dirty="0" smtClean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~]#</a:t>
              </a:r>
              <a:r>
                <a:rPr lang="en-US" altLang="en-US" sz="35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altLang="en-US" sz="350" dirty="0" smtClean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ping 10.136.136.112 –c5</a:t>
              </a:r>
            </a:p>
            <a:p>
              <a:pPr algn="just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350" dirty="0" smtClean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PING 10.136.136.185 (10.136.136.185) 56(84) bytes of data.</a:t>
              </a:r>
            </a:p>
            <a:p>
              <a:pPr algn="just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35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64 bytes from </a:t>
              </a:r>
              <a:r>
                <a:rPr lang="en-US" altLang="en-US" sz="350" dirty="0" smtClean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10.136.136.185: </a:t>
              </a:r>
              <a:r>
                <a:rPr lang="en-US" altLang="en-US" sz="350" dirty="0" err="1" smtClean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icmp_seq</a:t>
              </a:r>
              <a:r>
                <a:rPr lang="en-US" altLang="en-US" sz="350" dirty="0" smtClean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=1 </a:t>
              </a:r>
              <a:r>
                <a:rPr lang="en-US" altLang="en-US" sz="350" dirty="0" err="1" smtClean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ttl</a:t>
              </a:r>
              <a:r>
                <a:rPr lang="en-US" altLang="en-US" sz="350" dirty="0" smtClean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=64 time=101ms TTL=0.491 </a:t>
              </a:r>
              <a:r>
                <a:rPr lang="en-US" altLang="en-US" sz="350" dirty="0" err="1" smtClean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ms</a:t>
              </a:r>
              <a:endParaRPr lang="en-US" altLang="en-US" sz="35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just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35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64 bytes from 10.136.136.185: </a:t>
              </a:r>
              <a:r>
                <a:rPr lang="en-US" altLang="en-US" sz="350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icmp_seq</a:t>
              </a:r>
              <a:r>
                <a:rPr lang="en-US" altLang="en-US" sz="35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=1 </a:t>
              </a:r>
              <a:r>
                <a:rPr lang="en-US" altLang="en-US" sz="350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ttl</a:t>
              </a:r>
              <a:r>
                <a:rPr lang="en-US" altLang="en-US" sz="35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=64 time=101ms TTL=0.491 </a:t>
              </a:r>
              <a:r>
                <a:rPr lang="en-US" altLang="en-US" sz="350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ms</a:t>
              </a:r>
              <a:endParaRPr lang="en-US" altLang="en-US" sz="35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just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35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64 bytes from 10.136.136.185: </a:t>
              </a:r>
              <a:r>
                <a:rPr lang="en-US" altLang="en-US" sz="350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icmp_seq</a:t>
              </a:r>
              <a:r>
                <a:rPr lang="en-US" altLang="en-US" sz="35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=1 </a:t>
              </a:r>
              <a:r>
                <a:rPr lang="en-US" altLang="en-US" sz="350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ttl</a:t>
              </a:r>
              <a:r>
                <a:rPr lang="en-US" altLang="en-US" sz="35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=64 time=101ms TTL=0.491 </a:t>
              </a:r>
              <a:r>
                <a:rPr lang="en-US" altLang="en-US" sz="350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ms</a:t>
              </a:r>
              <a:endParaRPr lang="en-US" altLang="en-US" sz="35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just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35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64 bytes from 10.136.136.185: </a:t>
              </a:r>
              <a:r>
                <a:rPr lang="en-US" altLang="en-US" sz="350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icmp_seq</a:t>
              </a:r>
              <a:r>
                <a:rPr lang="en-US" altLang="en-US" sz="35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=1 </a:t>
              </a:r>
              <a:r>
                <a:rPr lang="en-US" altLang="en-US" sz="350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ttl</a:t>
              </a:r>
              <a:r>
                <a:rPr lang="en-US" altLang="en-US" sz="35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=64 time=101ms TTL=0.491 </a:t>
              </a:r>
              <a:r>
                <a:rPr lang="en-US" altLang="en-US" sz="350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ms</a:t>
              </a:r>
              <a:endParaRPr lang="en-US" altLang="en-US" sz="35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just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35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64 bytes from 10.136.136.185: </a:t>
              </a:r>
              <a:r>
                <a:rPr lang="en-US" altLang="en-US" sz="350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icmp_seq</a:t>
              </a:r>
              <a:r>
                <a:rPr lang="en-US" altLang="en-US" sz="35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=1 </a:t>
              </a:r>
              <a:r>
                <a:rPr lang="en-US" altLang="en-US" sz="350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ttl</a:t>
              </a:r>
              <a:r>
                <a:rPr lang="en-US" altLang="en-US" sz="35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=64 time=101ms TTL=0.491 </a:t>
              </a:r>
              <a:r>
                <a:rPr lang="en-US" altLang="en-US" sz="350" dirty="0" err="1" smtClean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ms</a:t>
              </a:r>
              <a:endParaRPr lang="en-US" altLang="en-US" sz="350" dirty="0" smtClean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just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35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64 bytes from 10.136.136.185: </a:t>
              </a:r>
              <a:r>
                <a:rPr lang="en-US" altLang="en-US" sz="350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icmp_seq</a:t>
              </a:r>
              <a:r>
                <a:rPr lang="en-US" altLang="en-US" sz="35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=1 </a:t>
              </a:r>
              <a:r>
                <a:rPr lang="en-US" altLang="en-US" sz="350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ttl</a:t>
              </a:r>
              <a:r>
                <a:rPr lang="en-US" altLang="en-US" sz="35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=64 time=101ms TTL=0.491 </a:t>
              </a:r>
              <a:r>
                <a:rPr lang="en-US" altLang="en-US" sz="350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ms</a:t>
              </a:r>
              <a:endParaRPr lang="en-US" altLang="en-US" sz="35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just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35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64 bytes from 10.136.136.185: </a:t>
              </a:r>
              <a:r>
                <a:rPr lang="en-US" altLang="en-US" sz="350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icmp_seq</a:t>
              </a:r>
              <a:r>
                <a:rPr lang="en-US" altLang="en-US" sz="35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=1 </a:t>
              </a:r>
              <a:r>
                <a:rPr lang="en-US" altLang="en-US" sz="350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ttl</a:t>
              </a:r>
              <a:r>
                <a:rPr lang="en-US" altLang="en-US" sz="35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=64 time=101ms TTL=0.491 </a:t>
              </a:r>
              <a:r>
                <a:rPr lang="en-US" altLang="en-US" sz="350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ms</a:t>
              </a:r>
              <a:endParaRPr lang="en-US" altLang="en-US" sz="35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just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35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64 bytes from 10.136.136.185: </a:t>
              </a:r>
              <a:r>
                <a:rPr lang="en-US" altLang="en-US" sz="350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icmp_seq</a:t>
              </a:r>
              <a:r>
                <a:rPr lang="en-US" altLang="en-US" sz="35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=1 </a:t>
              </a:r>
              <a:r>
                <a:rPr lang="en-US" altLang="en-US" sz="350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ttl</a:t>
              </a:r>
              <a:r>
                <a:rPr lang="en-US" altLang="en-US" sz="35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=64 time=101ms TTL=0.491 </a:t>
              </a:r>
              <a:r>
                <a:rPr lang="en-US" altLang="en-US" sz="350" dirty="0" smtClean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63516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8172" y="1941871"/>
            <a:ext cx="4748568" cy="994172"/>
          </a:xfrm>
        </p:spPr>
        <p:txBody>
          <a:bodyPr>
            <a:normAutofit fontScale="90000"/>
          </a:bodyPr>
          <a:lstStyle/>
          <a:p>
            <a:pPr marL="457200" indent="-457200">
              <a:buFont typeface="Wingdings" panose="05000000000000000000" pitchFamily="2" charset="2"/>
              <a:buChar char="ü"/>
            </a:pPr>
            <a:r>
              <a:rPr lang="en-US" dirty="0" err="1" smtClean="0">
                <a:solidFill>
                  <a:srgbClr val="002060"/>
                </a:solidFill>
              </a:rPr>
              <a:t>Menambahkan</a:t>
            </a:r>
            <a:r>
              <a:rPr lang="en-US" dirty="0" smtClean="0">
                <a:solidFill>
                  <a:srgbClr val="002060"/>
                </a:solidFill>
              </a:rPr>
              <a:t> SSH Key</a:t>
            </a:r>
            <a:br>
              <a:rPr lang="en-US" dirty="0" smtClean="0">
                <a:solidFill>
                  <a:srgbClr val="002060"/>
                </a:solidFill>
              </a:rPr>
            </a:br>
            <a:r>
              <a:rPr lang="en-US" dirty="0" smtClean="0">
                <a:solidFill>
                  <a:srgbClr val="002060"/>
                </a:solidFill>
              </a:rPr>
              <a:t/>
            </a:r>
            <a:br>
              <a:rPr lang="en-US" dirty="0" smtClean="0">
                <a:solidFill>
                  <a:srgbClr val="002060"/>
                </a:solidFill>
              </a:rPr>
            </a:br>
            <a:r>
              <a:rPr lang="en-US" b="1" dirty="0" smtClean="0">
                <a:solidFill>
                  <a:srgbClr val="002060"/>
                </a:solidFill>
              </a:rPr>
              <a:t>Create SSH keys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30</a:t>
            </a:fld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133484" y="190619"/>
            <a:ext cx="606643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b="1" dirty="0" err="1">
                <a:solidFill>
                  <a:schemeClr val="bg1">
                    <a:lumMod val="85000"/>
                  </a:schemeClr>
                </a:solidFill>
              </a:rPr>
              <a:t>Openstack</a:t>
            </a:r>
            <a:r>
              <a:rPr lang="en-US" b="1" dirty="0">
                <a:solidFill>
                  <a:schemeClr val="bg1">
                    <a:lumMod val="85000"/>
                  </a:schemeClr>
                </a:solidFill>
              </a:rPr>
              <a:t>: Upload Image </a:t>
            </a:r>
            <a:r>
              <a:rPr lang="en-US" b="1" dirty="0" err="1">
                <a:solidFill>
                  <a:schemeClr val="bg1">
                    <a:lumMod val="85000"/>
                  </a:schemeClr>
                </a:solidFill>
              </a:rPr>
              <a:t>atau</a:t>
            </a:r>
            <a:r>
              <a:rPr lang="en-US" b="1" dirty="0">
                <a:solidFill>
                  <a:schemeClr val="bg1">
                    <a:lumMod val="85000"/>
                  </a:schemeClr>
                </a:solidFill>
              </a:rPr>
              <a:t> ISO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b="1" dirty="0" err="1">
                <a:solidFill>
                  <a:schemeClr val="bg1">
                    <a:lumMod val="85000"/>
                  </a:schemeClr>
                </a:solidFill>
              </a:rPr>
              <a:t>Openstack</a:t>
            </a:r>
            <a:r>
              <a:rPr lang="en-US" b="1" dirty="0">
                <a:solidFill>
                  <a:schemeClr val="bg1">
                    <a:lumMod val="85000"/>
                  </a:schemeClr>
                </a:solidFill>
              </a:rPr>
              <a:t>: </a:t>
            </a:r>
            <a:r>
              <a:rPr lang="en-US" b="1" dirty="0" err="1">
                <a:solidFill>
                  <a:schemeClr val="bg1">
                    <a:lumMod val="85000"/>
                  </a:schemeClr>
                </a:solidFill>
              </a:rPr>
              <a:t>Membuat</a:t>
            </a:r>
            <a:r>
              <a:rPr lang="en-US" b="1" dirty="0">
                <a:solidFill>
                  <a:schemeClr val="bg1">
                    <a:lumMod val="85000"/>
                  </a:schemeClr>
                </a:solidFill>
              </a:rPr>
              <a:t> Network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b="1" dirty="0" err="1">
                <a:solidFill>
                  <a:schemeClr val="bg1">
                    <a:lumMod val="85000"/>
                  </a:schemeClr>
                </a:solidFill>
              </a:rPr>
              <a:t>Openstack</a:t>
            </a:r>
            <a:r>
              <a:rPr lang="en-US" b="1" dirty="0">
                <a:solidFill>
                  <a:schemeClr val="bg1">
                    <a:lumMod val="85000"/>
                  </a:schemeClr>
                </a:solidFill>
              </a:rPr>
              <a:t>: </a:t>
            </a:r>
            <a:r>
              <a:rPr lang="en-US" b="1" dirty="0" err="1">
                <a:solidFill>
                  <a:schemeClr val="bg1">
                    <a:lumMod val="85000"/>
                  </a:schemeClr>
                </a:solidFill>
              </a:rPr>
              <a:t>Membuat</a:t>
            </a:r>
            <a:r>
              <a:rPr lang="en-US" b="1" dirty="0">
                <a:solidFill>
                  <a:schemeClr val="bg1">
                    <a:lumMod val="85000"/>
                  </a:schemeClr>
                </a:solidFill>
              </a:rPr>
              <a:t> Router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b="1" dirty="0" err="1">
                <a:solidFill>
                  <a:srgbClr val="002060"/>
                </a:solidFill>
              </a:rPr>
              <a:t>Openstack</a:t>
            </a:r>
            <a:r>
              <a:rPr lang="en-US" b="1" dirty="0">
                <a:solidFill>
                  <a:srgbClr val="002060"/>
                </a:solidFill>
              </a:rPr>
              <a:t>: </a:t>
            </a:r>
            <a:r>
              <a:rPr lang="en-US" b="1" dirty="0" err="1">
                <a:solidFill>
                  <a:srgbClr val="002060"/>
                </a:solidFill>
              </a:rPr>
              <a:t>Menambahkan</a:t>
            </a:r>
            <a:r>
              <a:rPr lang="en-US" b="1" dirty="0">
                <a:solidFill>
                  <a:srgbClr val="002060"/>
                </a:solidFill>
              </a:rPr>
              <a:t> SSH Key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Openstack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: </a:t>
            </a: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Menambah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dan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Menggunakan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Security Group</a:t>
            </a:r>
          </a:p>
        </p:txBody>
      </p:sp>
    </p:spTree>
    <p:extLst>
      <p:ext uri="{BB962C8B-B14F-4D97-AF65-F5344CB8AC3E}">
        <p14:creationId xmlns:p14="http://schemas.microsoft.com/office/powerpoint/2010/main" val="14537847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31</a:t>
            </a:fld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3200400" y="65812"/>
            <a:ext cx="5943600" cy="280338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Lab: </a:t>
            </a:r>
            <a:r>
              <a:rPr lang="en-US" sz="2400" b="1" dirty="0" err="1" smtClean="0"/>
              <a:t>Kolla</a:t>
            </a:r>
            <a:r>
              <a:rPr lang="en-US" sz="2400" b="1" dirty="0" smtClean="0"/>
              <a:t> </a:t>
            </a:r>
            <a:r>
              <a:rPr lang="en-US" sz="2400" b="1" dirty="0" err="1"/>
              <a:t>Ansible</a:t>
            </a:r>
            <a:r>
              <a:rPr lang="en-US" sz="2400" b="1" dirty="0"/>
              <a:t> All in One </a:t>
            </a:r>
            <a:r>
              <a:rPr lang="en-US" sz="2400" b="1" dirty="0" err="1" smtClean="0"/>
              <a:t>Openstack</a:t>
            </a:r>
            <a:r>
              <a:rPr lang="en-US" sz="2400" b="1" dirty="0" smtClean="0"/>
              <a:t> 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Cons’t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1309" y="566340"/>
            <a:ext cx="3791025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 err="1"/>
              <a:t>M</a:t>
            </a:r>
            <a:r>
              <a:rPr lang="en-US" sz="1200" dirty="0" err="1" smtClean="0"/>
              <a:t>enambahkan</a:t>
            </a:r>
            <a:r>
              <a:rPr lang="en-US" sz="1200" dirty="0" smtClean="0"/>
              <a:t> </a:t>
            </a:r>
            <a:r>
              <a:rPr lang="en-US" sz="1200" dirty="0"/>
              <a:t>SSH Key di </a:t>
            </a:r>
            <a:r>
              <a:rPr lang="en-US" sz="1200" dirty="0" err="1"/>
              <a:t>openstack</a:t>
            </a:r>
            <a:r>
              <a:rPr lang="en-US" sz="1200" dirty="0"/>
              <a:t>. Di </a:t>
            </a:r>
            <a:r>
              <a:rPr lang="en-US" sz="1200" dirty="0" err="1"/>
              <a:t>openstack</a:t>
            </a:r>
            <a:r>
              <a:rPr lang="en-US" sz="1200" dirty="0"/>
              <a:t> </a:t>
            </a:r>
            <a:r>
              <a:rPr lang="en-US" sz="1200" dirty="0" err="1"/>
              <a:t>untuk</a:t>
            </a:r>
            <a:r>
              <a:rPr lang="en-US" sz="1200" dirty="0"/>
              <a:t> </a:t>
            </a:r>
            <a:r>
              <a:rPr lang="en-US" sz="1200" dirty="0" err="1"/>
              <a:t>menambahkan</a:t>
            </a:r>
            <a:r>
              <a:rPr lang="en-US" sz="1200" dirty="0"/>
              <a:t> SSH Key </a:t>
            </a:r>
            <a:r>
              <a:rPr lang="en-US" sz="1200" dirty="0" err="1"/>
              <a:t>dapat</a:t>
            </a:r>
            <a:r>
              <a:rPr lang="en-US" sz="1200" dirty="0"/>
              <a:t> </a:t>
            </a:r>
            <a:r>
              <a:rPr lang="en-US" sz="1200" dirty="0" err="1"/>
              <a:t>melalui</a:t>
            </a:r>
            <a:r>
              <a:rPr lang="en-US" sz="1200" dirty="0"/>
              <a:t> CLI </a:t>
            </a:r>
            <a:r>
              <a:rPr lang="en-US" sz="1200" dirty="0" err="1"/>
              <a:t>ataupun</a:t>
            </a:r>
            <a:r>
              <a:rPr lang="en-US" sz="1200" dirty="0"/>
              <a:t> Horizon, </a:t>
            </a:r>
            <a:r>
              <a:rPr lang="en-US" sz="1200" dirty="0" err="1"/>
              <a:t>disini</a:t>
            </a:r>
            <a:r>
              <a:rPr lang="en-US" sz="1200" dirty="0"/>
              <a:t> kami </a:t>
            </a:r>
            <a:r>
              <a:rPr lang="en-US" sz="1200" dirty="0" err="1"/>
              <a:t>contohkan</a:t>
            </a:r>
            <a:r>
              <a:rPr lang="en-US" sz="1200" dirty="0"/>
              <a:t> </a:t>
            </a:r>
            <a:r>
              <a:rPr lang="en-US" sz="1200" dirty="0" err="1"/>
              <a:t>menggunakan</a:t>
            </a:r>
            <a:r>
              <a:rPr lang="en-US" sz="1200" dirty="0"/>
              <a:t> Horizon</a:t>
            </a:r>
            <a:r>
              <a:rPr lang="en-US" sz="1200" dirty="0" smtClean="0"/>
              <a:t>.</a:t>
            </a:r>
          </a:p>
          <a:p>
            <a:pPr algn="just"/>
            <a:endParaRPr lang="en-US" sz="1200" b="1" dirty="0" smtClean="0"/>
          </a:p>
          <a:p>
            <a:pPr algn="just"/>
            <a:r>
              <a:rPr lang="en-US" sz="1200" b="1" dirty="0" smtClean="0"/>
              <a:t>Login </a:t>
            </a:r>
            <a:r>
              <a:rPr lang="en-US" sz="1200" b="1" dirty="0" err="1"/>
              <a:t>ke</a:t>
            </a:r>
            <a:r>
              <a:rPr lang="en-US" sz="1200" b="1" dirty="0"/>
              <a:t> </a:t>
            </a:r>
            <a:r>
              <a:rPr lang="en-US" sz="1200" b="1" i="1" dirty="0"/>
              <a:t>Horizon &gt;&gt; Compute &gt;&gt; Key Pairs</a:t>
            </a:r>
            <a:endParaRPr lang="en-US" sz="1200" b="1" dirty="0"/>
          </a:p>
        </p:txBody>
      </p:sp>
      <p:sp>
        <p:nvSpPr>
          <p:cNvPr id="14" name="Rectangle 13"/>
          <p:cNvSpPr/>
          <p:nvPr/>
        </p:nvSpPr>
        <p:spPr>
          <a:xfrm>
            <a:off x="143301" y="263304"/>
            <a:ext cx="170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Create </a:t>
            </a:r>
            <a:r>
              <a:rPr lang="en-US" b="1" dirty="0" smtClean="0">
                <a:solidFill>
                  <a:srgbClr val="002060"/>
                </a:solidFill>
              </a:rPr>
              <a:t>SSH Keys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51309" y="1458892"/>
            <a:ext cx="3149091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000" dirty="0" smtClean="0">
                <a:solidFill>
                  <a:srgbClr val="0070C0"/>
                </a:solidFill>
              </a:rPr>
              <a:t>Openstack.panda.id/dashboard/project/</a:t>
            </a:r>
            <a:r>
              <a:rPr lang="en-US" sz="1000" dirty="0" err="1" smtClean="0">
                <a:solidFill>
                  <a:srgbClr val="0070C0"/>
                </a:solidFill>
              </a:rPr>
              <a:t>key_pairs</a:t>
            </a:r>
            <a:endParaRPr lang="en-US" sz="1000" dirty="0">
              <a:solidFill>
                <a:srgbClr val="0070C0"/>
              </a:solidFill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143300" y="1802193"/>
            <a:ext cx="3699033" cy="1657439"/>
            <a:chOff x="143300" y="1802193"/>
            <a:chExt cx="3699033" cy="1657439"/>
          </a:xfrm>
        </p:grpSpPr>
        <p:pic>
          <p:nvPicPr>
            <p:cNvPr id="2" name="Picture 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300" y="1802193"/>
              <a:ext cx="3699033" cy="1657439"/>
            </a:xfrm>
            <a:prstGeom prst="rect">
              <a:avLst/>
            </a:prstGeom>
          </p:spPr>
        </p:pic>
        <p:sp>
          <p:nvSpPr>
            <p:cNvPr id="10" name="Rectangle 9"/>
            <p:cNvSpPr/>
            <p:nvPr/>
          </p:nvSpPr>
          <p:spPr>
            <a:xfrm>
              <a:off x="836321" y="1818835"/>
              <a:ext cx="1878303" cy="16927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just"/>
              <a:r>
                <a:rPr lang="en-US" sz="500" strike="sngStrike" dirty="0" smtClean="0">
                  <a:solidFill>
                    <a:schemeClr val="bg1">
                      <a:lumMod val="85000"/>
                    </a:schemeClr>
                  </a:solidFill>
                </a:rPr>
                <a:t>Openstack.panda.id/dashboard/project/</a:t>
              </a:r>
              <a:r>
                <a:rPr lang="en-US" sz="500" strike="sngStrike" dirty="0" err="1" smtClean="0">
                  <a:solidFill>
                    <a:schemeClr val="bg1">
                      <a:lumMod val="85000"/>
                    </a:schemeClr>
                  </a:solidFill>
                </a:rPr>
                <a:t>key_pairs</a:t>
              </a:r>
              <a:endParaRPr lang="en-US" sz="500" strike="sngStrike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</p:grpSp>
      <p:sp>
        <p:nvSpPr>
          <p:cNvPr id="11" name="Rectangle 10"/>
          <p:cNvSpPr/>
          <p:nvPr/>
        </p:nvSpPr>
        <p:spPr>
          <a:xfrm>
            <a:off x="82706" y="3048880"/>
            <a:ext cx="3791025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 smtClean="0"/>
              <a:t>Ada </a:t>
            </a:r>
            <a:r>
              <a:rPr lang="en-US" sz="1200" dirty="0"/>
              <a:t>2 </a:t>
            </a:r>
            <a:r>
              <a:rPr lang="en-US" sz="1200" dirty="0" err="1"/>
              <a:t>pemilihan</a:t>
            </a:r>
            <a:r>
              <a:rPr lang="en-US" sz="1200" dirty="0"/>
              <a:t> </a:t>
            </a:r>
            <a:r>
              <a:rPr lang="en-US" sz="1200" dirty="0" err="1"/>
              <a:t>terkait</a:t>
            </a:r>
            <a:r>
              <a:rPr lang="en-US" sz="1200" dirty="0"/>
              <a:t> SSH Key </a:t>
            </a:r>
            <a:r>
              <a:rPr lang="en-US" sz="1200" dirty="0" err="1"/>
              <a:t>diantaranya</a:t>
            </a:r>
            <a:r>
              <a:rPr lang="en-US" sz="1200" dirty="0"/>
              <a:t>:</a:t>
            </a:r>
          </a:p>
          <a:p>
            <a:pPr marL="228600" indent="-228600" algn="just">
              <a:buFont typeface="+mj-lt"/>
              <a:buAutoNum type="alphaLcParenR"/>
            </a:pPr>
            <a:r>
              <a:rPr lang="en-US" sz="1200" dirty="0"/>
              <a:t>Import Public Key: </a:t>
            </a:r>
            <a:r>
              <a:rPr lang="en-US" sz="1200" dirty="0" err="1"/>
              <a:t>Jika</a:t>
            </a:r>
            <a:r>
              <a:rPr lang="en-US" sz="1200" dirty="0"/>
              <a:t> </a:t>
            </a:r>
            <a:r>
              <a:rPr lang="en-US" sz="1200" dirty="0" err="1"/>
              <a:t>Anda</a:t>
            </a:r>
            <a:r>
              <a:rPr lang="en-US" sz="1200" dirty="0"/>
              <a:t> </a:t>
            </a:r>
            <a:r>
              <a:rPr lang="en-US" sz="1200" dirty="0" err="1"/>
              <a:t>sudah</a:t>
            </a:r>
            <a:r>
              <a:rPr lang="en-US" sz="1200" dirty="0"/>
              <a:t> </a:t>
            </a:r>
            <a:r>
              <a:rPr lang="en-US" sz="1200" dirty="0" err="1"/>
              <a:t>mempunyai</a:t>
            </a:r>
            <a:r>
              <a:rPr lang="en-US" sz="1200" dirty="0"/>
              <a:t> public key </a:t>
            </a:r>
            <a:r>
              <a:rPr lang="en-US" sz="1200" dirty="0" err="1"/>
              <a:t>pribadi</a:t>
            </a:r>
            <a:r>
              <a:rPr lang="en-US" sz="1200" dirty="0"/>
              <a:t> </a:t>
            </a:r>
            <a:r>
              <a:rPr lang="en-US" sz="1200" dirty="0" err="1"/>
              <a:t>Anda</a:t>
            </a:r>
            <a:r>
              <a:rPr lang="en-US" sz="1200" dirty="0"/>
              <a:t> </a:t>
            </a:r>
            <a:r>
              <a:rPr lang="en-US" sz="1200" dirty="0" err="1"/>
              <a:t>dapat</a:t>
            </a:r>
            <a:r>
              <a:rPr lang="en-US" sz="1200" dirty="0"/>
              <a:t> upload public key </a:t>
            </a:r>
            <a:r>
              <a:rPr lang="en-US" sz="1200" dirty="0" err="1"/>
              <a:t>nya</a:t>
            </a:r>
            <a:r>
              <a:rPr lang="en-US" sz="1200" dirty="0"/>
              <a:t> </a:t>
            </a:r>
            <a:r>
              <a:rPr lang="en-US" sz="1200" dirty="0" err="1"/>
              <a:t>tanpa</a:t>
            </a:r>
            <a:r>
              <a:rPr lang="en-US" sz="1200" dirty="0"/>
              <a:t> create key </a:t>
            </a:r>
            <a:r>
              <a:rPr lang="en-US" sz="1200" dirty="0" err="1"/>
              <a:t>baru</a:t>
            </a:r>
            <a:r>
              <a:rPr lang="en-US" sz="1200" dirty="0"/>
              <a:t>.</a:t>
            </a:r>
          </a:p>
          <a:p>
            <a:pPr marL="228600" indent="-228600" algn="just">
              <a:buFont typeface="+mj-lt"/>
              <a:buAutoNum type="alphaLcParenR"/>
            </a:pPr>
            <a:r>
              <a:rPr lang="en-US" sz="1200" dirty="0"/>
              <a:t>Create Key Pair: </a:t>
            </a:r>
            <a:r>
              <a:rPr lang="en-US" sz="1200" dirty="0" err="1"/>
              <a:t>Anda</a:t>
            </a:r>
            <a:r>
              <a:rPr lang="en-US" sz="1200" dirty="0"/>
              <a:t> </a:t>
            </a:r>
            <a:r>
              <a:rPr lang="en-US" sz="1200" dirty="0" err="1"/>
              <a:t>dapat</a:t>
            </a:r>
            <a:r>
              <a:rPr lang="en-US" sz="1200" dirty="0"/>
              <a:t> </a:t>
            </a:r>
            <a:r>
              <a:rPr lang="en-US" sz="1200" dirty="0" err="1"/>
              <a:t>membuat</a:t>
            </a:r>
            <a:r>
              <a:rPr lang="en-US" sz="1200" dirty="0"/>
              <a:t> </a:t>
            </a:r>
            <a:r>
              <a:rPr lang="en-US" sz="1200" dirty="0" err="1"/>
              <a:t>keypair</a:t>
            </a:r>
            <a:r>
              <a:rPr lang="en-US" sz="1200" dirty="0"/>
              <a:t> </a:t>
            </a:r>
            <a:r>
              <a:rPr lang="en-US" sz="1200" dirty="0" err="1"/>
              <a:t>baru</a:t>
            </a:r>
            <a:r>
              <a:rPr lang="en-US" sz="1200" dirty="0"/>
              <a:t> </a:t>
            </a:r>
            <a:r>
              <a:rPr lang="en-US" sz="1200" dirty="0" err="1"/>
              <a:t>dan</a:t>
            </a:r>
            <a:r>
              <a:rPr lang="en-US" sz="1200" dirty="0"/>
              <a:t> </a:t>
            </a:r>
            <a:r>
              <a:rPr lang="en-US" sz="1200" dirty="0" err="1"/>
              <a:t>keypair</a:t>
            </a:r>
            <a:r>
              <a:rPr lang="en-US" sz="1200" dirty="0"/>
              <a:t> </a:t>
            </a:r>
            <a:r>
              <a:rPr lang="en-US" sz="1200" dirty="0" err="1"/>
              <a:t>ini</a:t>
            </a:r>
            <a:r>
              <a:rPr lang="en-US" sz="1200" dirty="0"/>
              <a:t> </a:t>
            </a:r>
            <a:r>
              <a:rPr lang="en-US" sz="1200" dirty="0" err="1"/>
              <a:t>akan</a:t>
            </a:r>
            <a:r>
              <a:rPr lang="en-US" sz="1200" dirty="0"/>
              <a:t> </a:t>
            </a:r>
            <a:r>
              <a:rPr lang="en-US" sz="1200" dirty="0" err="1"/>
              <a:t>Anda</a:t>
            </a:r>
            <a:r>
              <a:rPr lang="en-US" sz="1200" dirty="0"/>
              <a:t> </a:t>
            </a:r>
            <a:r>
              <a:rPr lang="en-US" sz="1200" dirty="0" err="1"/>
              <a:t>gunakan</a:t>
            </a:r>
            <a:r>
              <a:rPr lang="en-US" sz="1200" dirty="0"/>
              <a:t> </a:t>
            </a:r>
            <a:r>
              <a:rPr lang="en-US" sz="1200" dirty="0" err="1"/>
              <a:t>untuk</a:t>
            </a:r>
            <a:r>
              <a:rPr lang="en-US" sz="1200" dirty="0"/>
              <a:t> login </a:t>
            </a:r>
            <a:r>
              <a:rPr lang="en-US" sz="1200" dirty="0" err="1"/>
              <a:t>ke</a:t>
            </a:r>
            <a:r>
              <a:rPr lang="en-US" sz="1200" dirty="0"/>
              <a:t> instance</a:t>
            </a:r>
          </a:p>
          <a:p>
            <a:pPr algn="just"/>
            <a:r>
              <a:rPr lang="en-US" sz="1200" dirty="0" err="1"/>
              <a:t>Berikut</a:t>
            </a:r>
            <a:r>
              <a:rPr lang="en-US" sz="1200" dirty="0"/>
              <a:t> kami </a:t>
            </a:r>
            <a:r>
              <a:rPr lang="en-US" sz="1200" dirty="0" err="1"/>
              <a:t>berikan</a:t>
            </a:r>
            <a:r>
              <a:rPr lang="en-US" sz="1200" dirty="0"/>
              <a:t> </a:t>
            </a:r>
            <a:r>
              <a:rPr lang="en-US" sz="1200" dirty="0" err="1"/>
              <a:t>contoh</a:t>
            </a:r>
            <a:r>
              <a:rPr lang="en-US" sz="1200" dirty="0"/>
              <a:t> </a:t>
            </a:r>
            <a:r>
              <a:rPr lang="en-US" sz="1200" dirty="0" err="1"/>
              <a:t>masing</a:t>
            </a:r>
            <a:r>
              <a:rPr lang="en-US" sz="1200" dirty="0"/>
              <a:t> – </a:t>
            </a:r>
            <a:r>
              <a:rPr lang="en-US" sz="1200" dirty="0" err="1"/>
              <a:t>masing</a:t>
            </a:r>
            <a:r>
              <a:rPr lang="en-US" sz="1200" dirty="0"/>
              <a:t> </a:t>
            </a:r>
            <a:r>
              <a:rPr lang="en-US" sz="1200" dirty="0" err="1"/>
              <a:t>pilihan</a:t>
            </a:r>
            <a:r>
              <a:rPr lang="en-US" sz="1200" dirty="0"/>
              <a:t> </a:t>
            </a:r>
            <a:r>
              <a:rPr lang="en-US" sz="1200" dirty="0" err="1"/>
              <a:t>diatas</a:t>
            </a:r>
            <a:r>
              <a:rPr lang="en-US" sz="1200" dirty="0"/>
              <a:t>: Import Public Key</a:t>
            </a:r>
            <a:r>
              <a:rPr lang="en-US" sz="1200" dirty="0" smtClean="0"/>
              <a:t>.</a:t>
            </a:r>
          </a:p>
          <a:p>
            <a:pPr algn="just"/>
            <a:endParaRPr lang="en-US" sz="1200" dirty="0"/>
          </a:p>
          <a:p>
            <a:pPr algn="just"/>
            <a:endParaRPr lang="en-US" sz="1200" dirty="0"/>
          </a:p>
          <a:p>
            <a:pPr algn="just"/>
            <a:r>
              <a:rPr lang="en-US" sz="1200" b="1" i="1" dirty="0"/>
              <a:t>Import Public Key</a:t>
            </a:r>
            <a:endParaRPr lang="en-US" sz="1200" dirty="0"/>
          </a:p>
          <a:p>
            <a:pPr algn="just"/>
            <a:r>
              <a:rPr lang="en-US" sz="1200" dirty="0" err="1"/>
              <a:t>Silakan</a:t>
            </a:r>
            <a:r>
              <a:rPr lang="en-US" sz="1200" dirty="0"/>
              <a:t> </a:t>
            </a:r>
            <a:r>
              <a:rPr lang="en-US" sz="1200" dirty="0" err="1"/>
              <a:t>klik</a:t>
            </a:r>
            <a:r>
              <a:rPr lang="en-US" sz="1200" dirty="0"/>
              <a:t> menu </a:t>
            </a:r>
            <a:r>
              <a:rPr lang="en-US" sz="1200" b="1" dirty="0"/>
              <a:t>Import Public Key</a:t>
            </a:r>
            <a:r>
              <a:rPr lang="en-US" sz="1200" dirty="0"/>
              <a:t> </a:t>
            </a:r>
            <a:r>
              <a:rPr lang="en-US" sz="1200" dirty="0" err="1"/>
              <a:t>lalu</a:t>
            </a:r>
            <a:r>
              <a:rPr lang="en-US" sz="1200" dirty="0"/>
              <a:t> </a:t>
            </a:r>
            <a:r>
              <a:rPr lang="en-US" sz="1200" dirty="0" err="1"/>
              <a:t>berikan</a:t>
            </a:r>
            <a:r>
              <a:rPr lang="en-US" sz="1200" dirty="0"/>
              <a:t> </a:t>
            </a:r>
            <a:r>
              <a:rPr lang="en-US" sz="1200" dirty="0" err="1"/>
              <a:t>nama</a:t>
            </a:r>
            <a:r>
              <a:rPr lang="en-US" sz="1200" dirty="0"/>
              <a:t> key </a:t>
            </a:r>
            <a:r>
              <a:rPr lang="en-US" sz="1200" dirty="0" err="1"/>
              <a:t>Anda</a:t>
            </a:r>
            <a:r>
              <a:rPr lang="en-US" sz="1200" dirty="0"/>
              <a:t> </a:t>
            </a:r>
            <a:r>
              <a:rPr lang="en-US" sz="1200" dirty="0" err="1"/>
              <a:t>dan</a:t>
            </a:r>
            <a:r>
              <a:rPr lang="en-US" sz="1200" dirty="0"/>
              <a:t> </a:t>
            </a:r>
            <a:r>
              <a:rPr lang="en-US" sz="1200" dirty="0" err="1"/>
              <a:t>isi</a:t>
            </a:r>
            <a:r>
              <a:rPr lang="en-US" sz="1200" dirty="0"/>
              <a:t> public key </a:t>
            </a:r>
            <a:r>
              <a:rPr lang="en-US" sz="1200" dirty="0" err="1"/>
              <a:t>Anda</a:t>
            </a:r>
            <a:r>
              <a:rPr lang="en-US" sz="1200" dirty="0"/>
              <a:t> </a:t>
            </a:r>
            <a:r>
              <a:rPr lang="en-US" sz="1200" dirty="0" err="1"/>
              <a:t>contoh</a:t>
            </a:r>
            <a:r>
              <a:rPr lang="en-US" sz="1200" dirty="0"/>
              <a:t> </a:t>
            </a:r>
            <a:r>
              <a:rPr lang="en-US" sz="1200" dirty="0" err="1"/>
              <a:t>nya</a:t>
            </a:r>
            <a:r>
              <a:rPr lang="en-US" sz="1200" dirty="0"/>
              <a:t> </a:t>
            </a:r>
            <a:r>
              <a:rPr lang="en-US" sz="1200" dirty="0" err="1"/>
              <a:t>seperti</a:t>
            </a:r>
            <a:r>
              <a:rPr lang="en-US" sz="1200" dirty="0"/>
              <a:t> </a:t>
            </a:r>
            <a:r>
              <a:rPr lang="en-US" sz="1200" dirty="0" err="1"/>
              <a:t>gambar</a:t>
            </a:r>
            <a:r>
              <a:rPr lang="en-US" sz="1200" dirty="0"/>
              <a:t> </a:t>
            </a:r>
            <a:r>
              <a:rPr lang="en-US" sz="1200" dirty="0" err="1"/>
              <a:t>dibawah</a:t>
            </a:r>
            <a:r>
              <a:rPr lang="en-US" sz="1200" dirty="0"/>
              <a:t> </a:t>
            </a:r>
            <a:r>
              <a:rPr lang="en-US" sz="1200" dirty="0" err="1"/>
              <a:t>lalu</a:t>
            </a:r>
            <a:r>
              <a:rPr lang="en-US" sz="1200" dirty="0"/>
              <a:t> </a:t>
            </a:r>
            <a:r>
              <a:rPr lang="en-US" sz="1200" dirty="0" err="1"/>
              <a:t>klik</a:t>
            </a:r>
            <a:r>
              <a:rPr lang="en-US" sz="1200" dirty="0"/>
              <a:t> Import Public Key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41095" y="440829"/>
            <a:ext cx="479008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n-US" sz="1200" b="1" i="1" dirty="0" smtClean="0"/>
              <a:t>Import </a:t>
            </a:r>
            <a:r>
              <a:rPr lang="en-US" sz="1200" b="1" i="1" dirty="0"/>
              <a:t>Public Key</a:t>
            </a:r>
            <a:endParaRPr lang="en-US" sz="1200" dirty="0"/>
          </a:p>
          <a:p>
            <a:pPr algn="just"/>
            <a:r>
              <a:rPr lang="en-US" sz="1200" dirty="0" err="1"/>
              <a:t>Silakan</a:t>
            </a:r>
            <a:r>
              <a:rPr lang="en-US" sz="1200" dirty="0"/>
              <a:t> </a:t>
            </a:r>
            <a:r>
              <a:rPr lang="en-US" sz="1200" dirty="0" err="1"/>
              <a:t>klik</a:t>
            </a:r>
            <a:r>
              <a:rPr lang="en-US" sz="1200" dirty="0"/>
              <a:t> menu </a:t>
            </a:r>
            <a:r>
              <a:rPr lang="en-US" sz="1200" b="1" dirty="0"/>
              <a:t>Import Public Key</a:t>
            </a:r>
            <a:r>
              <a:rPr lang="en-US" sz="1200" dirty="0"/>
              <a:t> </a:t>
            </a:r>
            <a:r>
              <a:rPr lang="en-US" sz="1200" dirty="0" err="1"/>
              <a:t>lalu</a:t>
            </a:r>
            <a:r>
              <a:rPr lang="en-US" sz="1200" dirty="0"/>
              <a:t> </a:t>
            </a:r>
            <a:r>
              <a:rPr lang="en-US" sz="1200" dirty="0" err="1"/>
              <a:t>berikan</a:t>
            </a:r>
            <a:r>
              <a:rPr lang="en-US" sz="1200" dirty="0"/>
              <a:t> </a:t>
            </a:r>
            <a:r>
              <a:rPr lang="en-US" sz="1200" dirty="0" err="1"/>
              <a:t>nama</a:t>
            </a:r>
            <a:r>
              <a:rPr lang="en-US" sz="1200" dirty="0"/>
              <a:t> key </a:t>
            </a:r>
            <a:r>
              <a:rPr lang="en-US" sz="1200" dirty="0" err="1"/>
              <a:t>Anda</a:t>
            </a:r>
            <a:r>
              <a:rPr lang="en-US" sz="1200" dirty="0"/>
              <a:t> </a:t>
            </a:r>
            <a:r>
              <a:rPr lang="en-US" sz="1200" dirty="0" err="1"/>
              <a:t>dan</a:t>
            </a:r>
            <a:r>
              <a:rPr lang="en-US" sz="1200" dirty="0"/>
              <a:t> </a:t>
            </a:r>
            <a:r>
              <a:rPr lang="en-US" sz="1200" dirty="0" err="1"/>
              <a:t>isi</a:t>
            </a:r>
            <a:r>
              <a:rPr lang="en-US" sz="1200" dirty="0"/>
              <a:t> public key </a:t>
            </a:r>
            <a:r>
              <a:rPr lang="en-US" sz="1200" dirty="0" err="1"/>
              <a:t>Anda</a:t>
            </a:r>
            <a:r>
              <a:rPr lang="en-US" sz="1200" dirty="0"/>
              <a:t> </a:t>
            </a:r>
            <a:r>
              <a:rPr lang="en-US" sz="1200" dirty="0" err="1"/>
              <a:t>contoh</a:t>
            </a:r>
            <a:r>
              <a:rPr lang="en-US" sz="1200" dirty="0"/>
              <a:t> </a:t>
            </a:r>
            <a:r>
              <a:rPr lang="en-US" sz="1200" dirty="0" err="1"/>
              <a:t>nya</a:t>
            </a:r>
            <a:r>
              <a:rPr lang="en-US" sz="1200" dirty="0"/>
              <a:t> </a:t>
            </a:r>
            <a:r>
              <a:rPr lang="en-US" sz="1200" dirty="0" err="1"/>
              <a:t>seperti</a:t>
            </a:r>
            <a:r>
              <a:rPr lang="en-US" sz="1200" dirty="0"/>
              <a:t> </a:t>
            </a:r>
            <a:r>
              <a:rPr lang="en-US" sz="1200" dirty="0" err="1"/>
              <a:t>gambar</a:t>
            </a:r>
            <a:r>
              <a:rPr lang="en-US" sz="1200" dirty="0"/>
              <a:t> </a:t>
            </a:r>
            <a:r>
              <a:rPr lang="en-US" sz="1200" dirty="0" err="1"/>
              <a:t>dibawah</a:t>
            </a:r>
            <a:r>
              <a:rPr lang="en-US" sz="1200" dirty="0"/>
              <a:t> </a:t>
            </a:r>
            <a:r>
              <a:rPr lang="en-US" sz="1200" dirty="0" err="1"/>
              <a:t>lalu</a:t>
            </a:r>
            <a:r>
              <a:rPr lang="en-US" sz="1200" dirty="0"/>
              <a:t> </a:t>
            </a:r>
            <a:r>
              <a:rPr lang="en-US" sz="1200" dirty="0" err="1"/>
              <a:t>klik</a:t>
            </a:r>
            <a:r>
              <a:rPr lang="en-US" sz="1200" dirty="0"/>
              <a:t> Import Public Key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8421" y="1271826"/>
            <a:ext cx="4682758" cy="1447311"/>
          </a:xfrm>
          <a:prstGeom prst="rect">
            <a:avLst/>
          </a:prstGeom>
        </p:spPr>
      </p:pic>
      <p:grpSp>
        <p:nvGrpSpPr>
          <p:cNvPr id="16" name="Group 15"/>
          <p:cNvGrpSpPr/>
          <p:nvPr/>
        </p:nvGrpSpPr>
        <p:grpSpPr>
          <a:xfrm>
            <a:off x="4148421" y="2971532"/>
            <a:ext cx="4851200" cy="1937352"/>
            <a:chOff x="4148421" y="2971532"/>
            <a:chExt cx="4851200" cy="1937352"/>
          </a:xfrm>
        </p:grpSpPr>
        <p:pic>
          <p:nvPicPr>
            <p:cNvPr id="13" name="Picture 12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48421" y="2971532"/>
              <a:ext cx="4851200" cy="1937352"/>
            </a:xfrm>
            <a:prstGeom prst="rect">
              <a:avLst/>
            </a:prstGeom>
          </p:spPr>
        </p:pic>
        <p:sp>
          <p:nvSpPr>
            <p:cNvPr id="15" name="Rectangle 14"/>
            <p:cNvSpPr/>
            <p:nvPr/>
          </p:nvSpPr>
          <p:spPr>
            <a:xfrm>
              <a:off x="5057985" y="3039652"/>
              <a:ext cx="2930983" cy="16927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just"/>
              <a:r>
                <a:rPr lang="en-US" sz="500" dirty="0" smtClean="0">
                  <a:solidFill>
                    <a:schemeClr val="bg1">
                      <a:lumMod val="85000"/>
                    </a:schemeClr>
                  </a:solidFill>
                </a:rPr>
                <a:t>Openstack.panda.id/dashboard/project/</a:t>
              </a:r>
              <a:r>
                <a:rPr lang="en-US" sz="500" dirty="0" err="1" smtClean="0">
                  <a:solidFill>
                    <a:schemeClr val="bg1">
                      <a:lumMod val="85000"/>
                    </a:schemeClr>
                  </a:solidFill>
                </a:rPr>
                <a:t>key_pairs</a:t>
              </a:r>
              <a:endParaRPr lang="en-US" sz="500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452817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32</a:t>
            </a:fld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3200400" y="65812"/>
            <a:ext cx="5943600" cy="280338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Lab: </a:t>
            </a:r>
            <a:r>
              <a:rPr lang="en-US" sz="2400" b="1" dirty="0" err="1" smtClean="0"/>
              <a:t>Kolla</a:t>
            </a:r>
            <a:r>
              <a:rPr lang="en-US" sz="2400" b="1" dirty="0" smtClean="0"/>
              <a:t> </a:t>
            </a:r>
            <a:r>
              <a:rPr lang="en-US" sz="2400" b="1" dirty="0" err="1"/>
              <a:t>Ansible</a:t>
            </a:r>
            <a:r>
              <a:rPr lang="en-US" sz="2400" b="1" dirty="0"/>
              <a:t> All in One </a:t>
            </a:r>
            <a:r>
              <a:rPr lang="en-US" sz="2400" b="1" dirty="0" err="1" smtClean="0"/>
              <a:t>Openstack</a:t>
            </a:r>
            <a:r>
              <a:rPr lang="en-US" sz="2400" b="1" dirty="0" smtClean="0"/>
              <a:t> 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Cons’t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43301" y="688630"/>
            <a:ext cx="516083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i="1" dirty="0"/>
              <a:t>Create Key Pair</a:t>
            </a:r>
            <a:endParaRPr lang="en-US" dirty="0"/>
          </a:p>
          <a:p>
            <a:r>
              <a:rPr lang="en-US" sz="1200" dirty="0" err="1"/>
              <a:t>Silakan</a:t>
            </a:r>
            <a:r>
              <a:rPr lang="en-US" sz="1200" dirty="0"/>
              <a:t> </a:t>
            </a:r>
            <a:r>
              <a:rPr lang="en-US" sz="1200" dirty="0" err="1"/>
              <a:t>Klik</a:t>
            </a:r>
            <a:r>
              <a:rPr lang="en-US" sz="1200" dirty="0"/>
              <a:t> </a:t>
            </a:r>
            <a:r>
              <a:rPr lang="en-US" sz="1200" dirty="0" err="1"/>
              <a:t>pada</a:t>
            </a:r>
            <a:r>
              <a:rPr lang="en-US" sz="1200" dirty="0"/>
              <a:t> </a:t>
            </a:r>
            <a:r>
              <a:rPr lang="en-US" sz="1200" b="1" dirty="0"/>
              <a:t>Create Key Pair</a:t>
            </a:r>
            <a:r>
              <a:rPr lang="en-US" sz="1200" dirty="0"/>
              <a:t> </a:t>
            </a:r>
            <a:r>
              <a:rPr lang="en-US" sz="1200" dirty="0" err="1"/>
              <a:t>lalu</a:t>
            </a:r>
            <a:r>
              <a:rPr lang="en-US" sz="1200" dirty="0"/>
              <a:t> </a:t>
            </a:r>
            <a:r>
              <a:rPr lang="en-US" sz="1200" dirty="0" err="1"/>
              <a:t>isi</a:t>
            </a:r>
            <a:r>
              <a:rPr lang="en-US" sz="1200" dirty="0"/>
              <a:t> </a:t>
            </a:r>
            <a:r>
              <a:rPr lang="en-US" sz="1200" dirty="0" err="1"/>
              <a:t>nama</a:t>
            </a:r>
            <a:r>
              <a:rPr lang="en-US" sz="1200" dirty="0"/>
              <a:t> </a:t>
            </a:r>
            <a:r>
              <a:rPr lang="en-US" sz="1200" dirty="0" err="1"/>
              <a:t>keypair</a:t>
            </a:r>
            <a:endParaRPr lang="en-US" sz="1200" dirty="0"/>
          </a:p>
        </p:txBody>
      </p:sp>
      <p:sp>
        <p:nvSpPr>
          <p:cNvPr id="14" name="Rectangle 13"/>
          <p:cNvSpPr/>
          <p:nvPr/>
        </p:nvSpPr>
        <p:spPr>
          <a:xfrm>
            <a:off x="143301" y="263304"/>
            <a:ext cx="170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Create </a:t>
            </a:r>
            <a:r>
              <a:rPr lang="en-US" b="1" dirty="0" smtClean="0">
                <a:solidFill>
                  <a:srgbClr val="002060"/>
                </a:solidFill>
              </a:rPr>
              <a:t>SSH Keys</a:t>
            </a:r>
            <a:endParaRPr 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663" y="1298622"/>
            <a:ext cx="5051477" cy="91518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52663" y="2348375"/>
            <a:ext cx="413911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 err="1"/>
              <a:t>silakan</a:t>
            </a:r>
            <a:r>
              <a:rPr lang="en-US" sz="1200" dirty="0"/>
              <a:t> </a:t>
            </a:r>
            <a:r>
              <a:rPr lang="en-US" sz="1200" dirty="0" err="1"/>
              <a:t>klik</a:t>
            </a:r>
            <a:r>
              <a:rPr lang="en-US" sz="1200" dirty="0"/>
              <a:t> Create Key Pair, </a:t>
            </a:r>
            <a:r>
              <a:rPr lang="en-US" sz="1200" dirty="0" err="1"/>
              <a:t>setelah</a:t>
            </a:r>
            <a:r>
              <a:rPr lang="en-US" sz="1200" dirty="0"/>
              <a:t> </a:t>
            </a:r>
            <a:r>
              <a:rPr lang="en-US" sz="1200" dirty="0" err="1"/>
              <a:t>nya</a:t>
            </a:r>
            <a:r>
              <a:rPr lang="en-US" sz="1200" dirty="0"/>
              <a:t> </a:t>
            </a:r>
            <a:r>
              <a:rPr lang="en-US" sz="1200" dirty="0" err="1"/>
              <a:t>akan</a:t>
            </a:r>
            <a:r>
              <a:rPr lang="en-US" sz="1200" dirty="0"/>
              <a:t> </a:t>
            </a:r>
            <a:r>
              <a:rPr lang="en-US" sz="1200" dirty="0" err="1"/>
              <a:t>muncul</a:t>
            </a:r>
            <a:r>
              <a:rPr lang="en-US" sz="1200" dirty="0"/>
              <a:t> pop </a:t>
            </a:r>
            <a:r>
              <a:rPr lang="en-US" sz="1200" dirty="0" err="1"/>
              <a:t>seperti</a:t>
            </a:r>
            <a:r>
              <a:rPr lang="en-US" sz="1200" dirty="0"/>
              <a:t> </a:t>
            </a:r>
            <a:r>
              <a:rPr lang="en-US" sz="1200" dirty="0" err="1"/>
              <a:t>Anda</a:t>
            </a:r>
            <a:r>
              <a:rPr lang="en-US" sz="1200" dirty="0"/>
              <a:t>, </a:t>
            </a:r>
            <a:r>
              <a:rPr lang="en-US" sz="1200" dirty="0" err="1"/>
              <a:t>silakan</a:t>
            </a:r>
            <a:r>
              <a:rPr lang="en-US" sz="1200" dirty="0"/>
              <a:t> download key pair </a:t>
            </a:r>
            <a:r>
              <a:rPr lang="en-US" sz="1200" dirty="0" err="1"/>
              <a:t>nya</a:t>
            </a:r>
            <a:r>
              <a:rPr lang="en-US" sz="1200" dirty="0"/>
              <a:t>.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52663" y="3183019"/>
            <a:ext cx="5051477" cy="2231067"/>
            <a:chOff x="252663" y="2810040"/>
            <a:chExt cx="5051477" cy="2231067"/>
          </a:xfrm>
        </p:grpSpPr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2663" y="2810040"/>
              <a:ext cx="5051477" cy="2231067"/>
            </a:xfrm>
            <a:prstGeom prst="rect">
              <a:avLst/>
            </a:prstGeom>
          </p:spPr>
        </p:pic>
        <p:sp>
          <p:nvSpPr>
            <p:cNvPr id="12" name="Rectangle 11"/>
            <p:cNvSpPr/>
            <p:nvPr/>
          </p:nvSpPr>
          <p:spPr>
            <a:xfrm>
              <a:off x="1240717" y="2870774"/>
              <a:ext cx="2200315" cy="16927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just"/>
              <a:r>
                <a:rPr lang="en-US" sz="500" dirty="0" smtClean="0">
                  <a:solidFill>
                    <a:schemeClr val="bg1">
                      <a:lumMod val="85000"/>
                    </a:schemeClr>
                  </a:solidFill>
                </a:rPr>
                <a:t>Openstack.panda.id/dashboard/project/</a:t>
              </a:r>
              <a:r>
                <a:rPr lang="en-US" sz="500" dirty="0" err="1" smtClean="0">
                  <a:solidFill>
                    <a:schemeClr val="bg1">
                      <a:lumMod val="85000"/>
                    </a:schemeClr>
                  </a:solidFill>
                </a:rPr>
                <a:t>key_pairs</a:t>
              </a:r>
              <a:endParaRPr lang="en-US" sz="500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</p:grpSp>
      <p:sp>
        <p:nvSpPr>
          <p:cNvPr id="15" name="Rectangle 14"/>
          <p:cNvSpPr/>
          <p:nvPr/>
        </p:nvSpPr>
        <p:spPr>
          <a:xfrm>
            <a:off x="252663" y="2810040"/>
            <a:ext cx="3149091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000" dirty="0" smtClean="0">
                <a:solidFill>
                  <a:srgbClr val="0070C0"/>
                </a:solidFill>
              </a:rPr>
              <a:t>Openstack.panda.id/dashboard/project/</a:t>
            </a:r>
            <a:r>
              <a:rPr lang="en-US" sz="1000" dirty="0" err="1" smtClean="0">
                <a:solidFill>
                  <a:srgbClr val="0070C0"/>
                </a:solidFill>
              </a:rPr>
              <a:t>key_pairs</a:t>
            </a:r>
            <a:endParaRPr lang="en-US" sz="10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66385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8172" y="1941871"/>
            <a:ext cx="4748568" cy="994172"/>
          </a:xfrm>
        </p:spPr>
        <p:txBody>
          <a:bodyPr>
            <a:normAutofit fontScale="90000"/>
          </a:bodyPr>
          <a:lstStyle/>
          <a:p>
            <a:pPr marL="457200" indent="-457200">
              <a:buFont typeface="Wingdings" panose="05000000000000000000" pitchFamily="2" charset="2"/>
              <a:buChar char="ü"/>
            </a:pPr>
            <a:r>
              <a:rPr lang="en-US" dirty="0" err="1" smtClean="0">
                <a:solidFill>
                  <a:srgbClr val="002060"/>
                </a:solidFill>
              </a:rPr>
              <a:t>Menambah</a:t>
            </a:r>
            <a:r>
              <a:rPr lang="en-US" dirty="0" smtClean="0">
                <a:solidFill>
                  <a:srgbClr val="002060"/>
                </a:solidFill>
              </a:rPr>
              <a:t> Security</a:t>
            </a:r>
            <a:br>
              <a:rPr lang="en-US" dirty="0" smtClean="0">
                <a:solidFill>
                  <a:srgbClr val="002060"/>
                </a:solidFill>
              </a:rPr>
            </a:br>
            <a:r>
              <a:rPr lang="en-US" dirty="0">
                <a:solidFill>
                  <a:srgbClr val="002060"/>
                </a:solidFill>
              </a:rPr>
              <a:t/>
            </a:r>
            <a:br>
              <a:rPr lang="en-US" dirty="0">
                <a:solidFill>
                  <a:srgbClr val="002060"/>
                </a:solidFill>
              </a:rPr>
            </a:br>
            <a:r>
              <a:rPr lang="en-US" dirty="0" smtClean="0">
                <a:solidFill>
                  <a:srgbClr val="002060"/>
                </a:solidFill>
              </a:rPr>
              <a:t>Cre</a:t>
            </a:r>
            <a:r>
              <a:rPr lang="en-US" b="1" dirty="0" smtClean="0">
                <a:solidFill>
                  <a:srgbClr val="002060"/>
                </a:solidFill>
              </a:rPr>
              <a:t>ate Security Group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33</a:t>
            </a:fld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133484" y="190619"/>
            <a:ext cx="606643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b="1" dirty="0" err="1">
                <a:solidFill>
                  <a:schemeClr val="bg1">
                    <a:lumMod val="85000"/>
                  </a:schemeClr>
                </a:solidFill>
              </a:rPr>
              <a:t>Openstack</a:t>
            </a:r>
            <a:r>
              <a:rPr lang="en-US" b="1" dirty="0">
                <a:solidFill>
                  <a:schemeClr val="bg1">
                    <a:lumMod val="85000"/>
                  </a:schemeClr>
                </a:solidFill>
              </a:rPr>
              <a:t>: Upload Image </a:t>
            </a:r>
            <a:r>
              <a:rPr lang="en-US" b="1" dirty="0" err="1">
                <a:solidFill>
                  <a:schemeClr val="bg1">
                    <a:lumMod val="85000"/>
                  </a:schemeClr>
                </a:solidFill>
              </a:rPr>
              <a:t>atau</a:t>
            </a:r>
            <a:r>
              <a:rPr lang="en-US" b="1" dirty="0">
                <a:solidFill>
                  <a:schemeClr val="bg1">
                    <a:lumMod val="85000"/>
                  </a:schemeClr>
                </a:solidFill>
              </a:rPr>
              <a:t> ISO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b="1" dirty="0" err="1">
                <a:solidFill>
                  <a:schemeClr val="bg1">
                    <a:lumMod val="85000"/>
                  </a:schemeClr>
                </a:solidFill>
              </a:rPr>
              <a:t>Openstack</a:t>
            </a:r>
            <a:r>
              <a:rPr lang="en-US" b="1" dirty="0">
                <a:solidFill>
                  <a:schemeClr val="bg1">
                    <a:lumMod val="85000"/>
                  </a:schemeClr>
                </a:solidFill>
              </a:rPr>
              <a:t>: </a:t>
            </a:r>
            <a:r>
              <a:rPr lang="en-US" b="1" dirty="0" err="1">
                <a:solidFill>
                  <a:schemeClr val="bg1">
                    <a:lumMod val="85000"/>
                  </a:schemeClr>
                </a:solidFill>
              </a:rPr>
              <a:t>Membuat</a:t>
            </a:r>
            <a:r>
              <a:rPr lang="en-US" b="1" dirty="0">
                <a:solidFill>
                  <a:schemeClr val="bg1">
                    <a:lumMod val="85000"/>
                  </a:schemeClr>
                </a:solidFill>
              </a:rPr>
              <a:t> Network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b="1" dirty="0" err="1">
                <a:solidFill>
                  <a:schemeClr val="bg1">
                    <a:lumMod val="85000"/>
                  </a:schemeClr>
                </a:solidFill>
              </a:rPr>
              <a:t>Openstack</a:t>
            </a:r>
            <a:r>
              <a:rPr lang="en-US" b="1" dirty="0">
                <a:solidFill>
                  <a:schemeClr val="bg1">
                    <a:lumMod val="85000"/>
                  </a:schemeClr>
                </a:solidFill>
              </a:rPr>
              <a:t>: </a:t>
            </a:r>
            <a:r>
              <a:rPr lang="en-US" b="1" dirty="0" err="1">
                <a:solidFill>
                  <a:schemeClr val="bg1">
                    <a:lumMod val="85000"/>
                  </a:schemeClr>
                </a:solidFill>
              </a:rPr>
              <a:t>Membuat</a:t>
            </a:r>
            <a:r>
              <a:rPr lang="en-US" b="1" dirty="0">
                <a:solidFill>
                  <a:schemeClr val="bg1">
                    <a:lumMod val="85000"/>
                  </a:schemeClr>
                </a:solidFill>
              </a:rPr>
              <a:t> Router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b="1" dirty="0" err="1">
                <a:solidFill>
                  <a:schemeClr val="bg1">
                    <a:lumMod val="75000"/>
                  </a:schemeClr>
                </a:solidFill>
              </a:rPr>
              <a:t>Openstack</a:t>
            </a:r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: </a:t>
            </a:r>
            <a:r>
              <a:rPr lang="en-US" b="1" dirty="0" err="1">
                <a:solidFill>
                  <a:schemeClr val="bg1">
                    <a:lumMod val="75000"/>
                  </a:schemeClr>
                </a:solidFill>
              </a:rPr>
              <a:t>Menambahkan</a:t>
            </a:r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 SSH Key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b="1" dirty="0" err="1">
                <a:solidFill>
                  <a:srgbClr val="002060"/>
                </a:solidFill>
              </a:rPr>
              <a:t>Openstack</a:t>
            </a:r>
            <a:r>
              <a:rPr lang="en-US" b="1" dirty="0">
                <a:solidFill>
                  <a:srgbClr val="002060"/>
                </a:solidFill>
              </a:rPr>
              <a:t>: </a:t>
            </a:r>
            <a:r>
              <a:rPr lang="en-US" b="1" dirty="0" err="1">
                <a:solidFill>
                  <a:srgbClr val="002060"/>
                </a:solidFill>
              </a:rPr>
              <a:t>Menambah</a:t>
            </a:r>
            <a:r>
              <a:rPr lang="en-US" b="1" dirty="0">
                <a:solidFill>
                  <a:srgbClr val="002060"/>
                </a:solidFill>
              </a:rPr>
              <a:t> </a:t>
            </a:r>
            <a:r>
              <a:rPr lang="en-US" b="1" dirty="0" err="1">
                <a:solidFill>
                  <a:srgbClr val="002060"/>
                </a:solidFill>
              </a:rPr>
              <a:t>dan</a:t>
            </a:r>
            <a:r>
              <a:rPr lang="en-US" b="1" dirty="0">
                <a:solidFill>
                  <a:srgbClr val="002060"/>
                </a:solidFill>
              </a:rPr>
              <a:t> </a:t>
            </a:r>
            <a:r>
              <a:rPr lang="en-US" b="1" dirty="0" err="1">
                <a:solidFill>
                  <a:srgbClr val="002060"/>
                </a:solidFill>
              </a:rPr>
              <a:t>Menggunakan</a:t>
            </a:r>
            <a:r>
              <a:rPr lang="en-US" b="1" dirty="0">
                <a:solidFill>
                  <a:srgbClr val="002060"/>
                </a:solidFill>
              </a:rPr>
              <a:t> Security Group</a:t>
            </a:r>
          </a:p>
        </p:txBody>
      </p:sp>
    </p:spTree>
    <p:extLst>
      <p:ext uri="{BB962C8B-B14F-4D97-AF65-F5344CB8AC3E}">
        <p14:creationId xmlns:p14="http://schemas.microsoft.com/office/powerpoint/2010/main" val="26044202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34</a:t>
            </a:fld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3200400" y="65812"/>
            <a:ext cx="5943600" cy="280338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Lab: </a:t>
            </a:r>
            <a:r>
              <a:rPr lang="en-US" sz="2400" b="1" dirty="0" err="1" smtClean="0"/>
              <a:t>Kolla</a:t>
            </a:r>
            <a:r>
              <a:rPr lang="en-US" sz="2400" b="1" dirty="0" smtClean="0"/>
              <a:t> </a:t>
            </a:r>
            <a:r>
              <a:rPr lang="en-US" sz="2400" b="1" dirty="0" err="1"/>
              <a:t>Ansible</a:t>
            </a:r>
            <a:r>
              <a:rPr lang="en-US" sz="2400" b="1" dirty="0"/>
              <a:t> All in One </a:t>
            </a:r>
            <a:r>
              <a:rPr lang="en-US" sz="2400" b="1" dirty="0" err="1" smtClean="0"/>
              <a:t>Openstack</a:t>
            </a:r>
            <a:r>
              <a:rPr lang="en-US" sz="2400" b="1" dirty="0" smtClean="0"/>
              <a:t> 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Cons’t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43301" y="632636"/>
            <a:ext cx="3791025" cy="15388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 err="1"/>
              <a:t>M</a:t>
            </a:r>
            <a:r>
              <a:rPr lang="en-US" sz="1200" dirty="0" err="1" smtClean="0"/>
              <a:t>embuat</a:t>
            </a:r>
            <a:r>
              <a:rPr lang="en-US" sz="1200" dirty="0" smtClean="0"/>
              <a:t> </a:t>
            </a:r>
            <a:r>
              <a:rPr lang="en-US" sz="1200" dirty="0" err="1"/>
              <a:t>dan</a:t>
            </a:r>
            <a:r>
              <a:rPr lang="en-US" sz="1200" dirty="0"/>
              <a:t> </a:t>
            </a:r>
            <a:r>
              <a:rPr lang="en-US" sz="1200" dirty="0" err="1"/>
              <a:t>menggunakan</a:t>
            </a:r>
            <a:r>
              <a:rPr lang="en-US" sz="1200" dirty="0"/>
              <a:t> security group </a:t>
            </a:r>
            <a:r>
              <a:rPr lang="en-US" sz="1200" dirty="0" err="1"/>
              <a:t>dapat</a:t>
            </a:r>
            <a:r>
              <a:rPr lang="en-US" sz="1200" dirty="0"/>
              <a:t> </a:t>
            </a:r>
            <a:r>
              <a:rPr lang="en-US" sz="1200" dirty="0" err="1"/>
              <a:t>melalui</a:t>
            </a:r>
            <a:r>
              <a:rPr lang="en-US" sz="1200" dirty="0"/>
              <a:t> horizon </a:t>
            </a:r>
            <a:r>
              <a:rPr lang="en-US" sz="1200" dirty="0" err="1"/>
              <a:t>atau</a:t>
            </a:r>
            <a:r>
              <a:rPr lang="en-US" sz="1200" dirty="0"/>
              <a:t> via CLI. </a:t>
            </a:r>
            <a:r>
              <a:rPr lang="en-US" sz="1200" dirty="0" err="1"/>
              <a:t>Disini</a:t>
            </a:r>
            <a:r>
              <a:rPr lang="en-US" sz="1200" dirty="0"/>
              <a:t> kami </a:t>
            </a:r>
            <a:r>
              <a:rPr lang="en-US" sz="1200" dirty="0" err="1"/>
              <a:t>akan</a:t>
            </a:r>
            <a:r>
              <a:rPr lang="en-US" sz="1200" dirty="0"/>
              <a:t> </a:t>
            </a:r>
            <a:r>
              <a:rPr lang="en-US" sz="1200" dirty="0" err="1"/>
              <a:t>menggunakan</a:t>
            </a:r>
            <a:r>
              <a:rPr lang="en-US" sz="1200" dirty="0"/>
              <a:t> horizon </a:t>
            </a:r>
            <a:r>
              <a:rPr lang="en-US" sz="1200" dirty="0" err="1"/>
              <a:t>untuk</a:t>
            </a:r>
            <a:r>
              <a:rPr lang="en-US" sz="1200" dirty="0"/>
              <a:t> </a:t>
            </a:r>
            <a:r>
              <a:rPr lang="en-US" sz="1200" dirty="0" err="1"/>
              <a:t>menambahkan</a:t>
            </a:r>
            <a:r>
              <a:rPr lang="en-US" sz="1200" dirty="0"/>
              <a:t> security group, </a:t>
            </a:r>
            <a:r>
              <a:rPr lang="en-US" sz="1200" dirty="0" err="1"/>
              <a:t>berikut</a:t>
            </a:r>
            <a:r>
              <a:rPr lang="en-US" sz="1200" dirty="0"/>
              <a:t> </a:t>
            </a:r>
            <a:r>
              <a:rPr lang="en-US" sz="1200" dirty="0" err="1"/>
              <a:t>tahapannya</a:t>
            </a:r>
            <a:r>
              <a:rPr lang="en-US" sz="1200" dirty="0" smtClean="0"/>
              <a:t>:</a:t>
            </a:r>
          </a:p>
          <a:p>
            <a:endParaRPr lang="en-US" dirty="0"/>
          </a:p>
          <a:p>
            <a:r>
              <a:rPr lang="en-US" sz="1400" i="1" dirty="0"/>
              <a:t>Login Horizon &gt;&gt; Project &gt;&gt; Network &gt;&gt; Security Group &gt;&gt; +Create Security Group</a:t>
            </a:r>
            <a:endParaRPr lang="en-US" sz="1400" dirty="0"/>
          </a:p>
        </p:txBody>
      </p:sp>
      <p:sp>
        <p:nvSpPr>
          <p:cNvPr id="9" name="Rectangle 8"/>
          <p:cNvSpPr/>
          <p:nvPr/>
        </p:nvSpPr>
        <p:spPr>
          <a:xfrm>
            <a:off x="4451684" y="412452"/>
            <a:ext cx="379007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dirty="0"/>
              <a:t>Isi </a:t>
            </a:r>
            <a:r>
              <a:rPr lang="en-US" sz="1400" dirty="0" err="1"/>
              <a:t>nama</a:t>
            </a:r>
            <a:r>
              <a:rPr lang="en-US" sz="1400" dirty="0"/>
              <a:t> security group </a:t>
            </a:r>
            <a:r>
              <a:rPr lang="en-US" sz="1400" dirty="0" err="1"/>
              <a:t>Anda</a:t>
            </a:r>
            <a:r>
              <a:rPr lang="en-US" sz="1400" dirty="0"/>
              <a:t> </a:t>
            </a:r>
            <a:r>
              <a:rPr lang="en-US" sz="1400" dirty="0" err="1"/>
              <a:t>lalu</a:t>
            </a:r>
            <a:r>
              <a:rPr lang="en-US" sz="1400" dirty="0"/>
              <a:t> </a:t>
            </a:r>
            <a:r>
              <a:rPr lang="en-US" sz="1400" dirty="0" err="1"/>
              <a:t>klik</a:t>
            </a:r>
            <a:r>
              <a:rPr lang="en-US" sz="1400" dirty="0"/>
              <a:t> Create Security Group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3301" y="263304"/>
            <a:ext cx="23608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Create Security </a:t>
            </a:r>
            <a:r>
              <a:rPr lang="en-US" b="1" dirty="0" smtClean="0">
                <a:solidFill>
                  <a:srgbClr val="002060"/>
                </a:solidFill>
              </a:rPr>
              <a:t>Group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43301" y="2171519"/>
            <a:ext cx="3149091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000" dirty="0" smtClean="0">
                <a:solidFill>
                  <a:srgbClr val="0070C0"/>
                </a:solidFill>
              </a:rPr>
              <a:t>Openstack.panda.id/dashboard/project/</a:t>
            </a:r>
            <a:r>
              <a:rPr lang="en-US" sz="1000" dirty="0" err="1" smtClean="0">
                <a:solidFill>
                  <a:srgbClr val="0070C0"/>
                </a:solidFill>
              </a:rPr>
              <a:t>security_groups</a:t>
            </a:r>
            <a:r>
              <a:rPr lang="en-US" sz="1000" dirty="0" smtClean="0">
                <a:solidFill>
                  <a:srgbClr val="0070C0"/>
                </a:solidFill>
              </a:rPr>
              <a:t>/</a:t>
            </a:r>
            <a:endParaRPr lang="en-US" sz="1000" dirty="0">
              <a:solidFill>
                <a:srgbClr val="0070C0"/>
              </a:solidFill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240631" y="2458005"/>
            <a:ext cx="4075788" cy="1716954"/>
            <a:chOff x="240631" y="2458005"/>
            <a:chExt cx="4075788" cy="1716954"/>
          </a:xfrm>
        </p:grpSpPr>
        <p:pic>
          <p:nvPicPr>
            <p:cNvPr id="2" name="Picture 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0631" y="2458005"/>
              <a:ext cx="4075788" cy="1716954"/>
            </a:xfrm>
            <a:prstGeom prst="rect">
              <a:avLst/>
            </a:prstGeom>
          </p:spPr>
        </p:pic>
        <p:sp>
          <p:nvSpPr>
            <p:cNvPr id="10" name="Rectangle 9"/>
            <p:cNvSpPr/>
            <p:nvPr/>
          </p:nvSpPr>
          <p:spPr>
            <a:xfrm>
              <a:off x="1037771" y="2527561"/>
              <a:ext cx="1801682" cy="16927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just"/>
              <a:r>
                <a:rPr lang="en-US" sz="500" dirty="0" smtClean="0">
                  <a:solidFill>
                    <a:schemeClr val="bg1">
                      <a:lumMod val="75000"/>
                    </a:schemeClr>
                  </a:solidFill>
                </a:rPr>
                <a:t>Openstack.panda.id/dashboard/project/</a:t>
              </a:r>
              <a:r>
                <a:rPr lang="en-US" sz="500" dirty="0" err="1" smtClean="0">
                  <a:solidFill>
                    <a:schemeClr val="bg1">
                      <a:lumMod val="75000"/>
                    </a:schemeClr>
                  </a:solidFill>
                </a:rPr>
                <a:t>security_groups</a:t>
              </a:r>
              <a:r>
                <a:rPr lang="en-US" sz="500" dirty="0" smtClean="0">
                  <a:solidFill>
                    <a:schemeClr val="bg1">
                      <a:lumMod val="75000"/>
                    </a:schemeClr>
                  </a:solidFill>
                </a:rPr>
                <a:t>/</a:t>
              </a:r>
              <a:endParaRPr lang="en-US" sz="5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</p:grp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1949" y="894220"/>
            <a:ext cx="4443767" cy="1633341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591950" y="2612199"/>
            <a:ext cx="379007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 err="1"/>
              <a:t>Saat</a:t>
            </a:r>
            <a:r>
              <a:rPr lang="en-US" sz="1200" dirty="0"/>
              <a:t> </a:t>
            </a:r>
            <a:r>
              <a:rPr lang="en-US" sz="1200" dirty="0" err="1"/>
              <a:t>ini</a:t>
            </a:r>
            <a:r>
              <a:rPr lang="en-US" sz="1200" dirty="0"/>
              <a:t> security </a:t>
            </a:r>
            <a:r>
              <a:rPr lang="en-US" sz="1200" dirty="0" err="1"/>
              <a:t>grouup</a:t>
            </a:r>
            <a:r>
              <a:rPr lang="en-US" sz="1200" dirty="0"/>
              <a:t> </a:t>
            </a:r>
            <a:r>
              <a:rPr lang="en-US" sz="1200" dirty="0" err="1"/>
              <a:t>sudah</a:t>
            </a:r>
            <a:r>
              <a:rPr lang="en-US" sz="1200" dirty="0"/>
              <a:t> </a:t>
            </a:r>
            <a:r>
              <a:rPr lang="en-US" sz="1200" dirty="0" err="1"/>
              <a:t>berhasil</a:t>
            </a:r>
            <a:endParaRPr lang="en-US" sz="1200" dirty="0"/>
          </a:p>
        </p:txBody>
      </p:sp>
      <p:grpSp>
        <p:nvGrpSpPr>
          <p:cNvPr id="17" name="Group 16"/>
          <p:cNvGrpSpPr/>
          <p:nvPr/>
        </p:nvGrpSpPr>
        <p:grpSpPr>
          <a:xfrm>
            <a:off x="4591951" y="2987578"/>
            <a:ext cx="4443766" cy="1779685"/>
            <a:chOff x="4591951" y="2987578"/>
            <a:chExt cx="4443766" cy="1779685"/>
          </a:xfrm>
        </p:grpSpPr>
        <p:pic>
          <p:nvPicPr>
            <p:cNvPr id="11" name="Picture 10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591951" y="2987578"/>
              <a:ext cx="4443766" cy="1779685"/>
            </a:xfrm>
            <a:prstGeom prst="rect">
              <a:avLst/>
            </a:prstGeom>
          </p:spPr>
        </p:pic>
        <p:sp>
          <p:nvSpPr>
            <p:cNvPr id="16" name="Rectangle 15"/>
            <p:cNvSpPr/>
            <p:nvPr/>
          </p:nvSpPr>
          <p:spPr>
            <a:xfrm>
              <a:off x="5445880" y="3069480"/>
              <a:ext cx="1801682" cy="16927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just"/>
              <a:r>
                <a:rPr lang="en-US" sz="500" dirty="0" smtClean="0">
                  <a:solidFill>
                    <a:schemeClr val="bg1">
                      <a:lumMod val="75000"/>
                    </a:schemeClr>
                  </a:solidFill>
                </a:rPr>
                <a:t>Openstack.panda.id/dashboard/project/</a:t>
              </a:r>
              <a:r>
                <a:rPr lang="en-US" sz="500" dirty="0" err="1" smtClean="0">
                  <a:solidFill>
                    <a:schemeClr val="bg1">
                      <a:lumMod val="75000"/>
                    </a:schemeClr>
                  </a:solidFill>
                </a:rPr>
                <a:t>security_groups</a:t>
              </a:r>
              <a:r>
                <a:rPr lang="en-US" sz="500" dirty="0" smtClean="0">
                  <a:solidFill>
                    <a:schemeClr val="bg1">
                      <a:lumMod val="75000"/>
                    </a:schemeClr>
                  </a:solidFill>
                </a:rPr>
                <a:t>/</a:t>
              </a:r>
              <a:endParaRPr lang="en-US" sz="5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79635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35</a:t>
            </a:fld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3200400" y="65812"/>
            <a:ext cx="5943600" cy="280338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Lab: </a:t>
            </a:r>
            <a:r>
              <a:rPr lang="en-US" sz="2400" b="1" dirty="0" err="1" smtClean="0"/>
              <a:t>Kolla</a:t>
            </a:r>
            <a:r>
              <a:rPr lang="en-US" sz="2400" b="1" dirty="0" smtClean="0"/>
              <a:t> </a:t>
            </a:r>
            <a:r>
              <a:rPr lang="en-US" sz="2400" b="1" dirty="0" err="1"/>
              <a:t>Ansible</a:t>
            </a:r>
            <a:r>
              <a:rPr lang="en-US" sz="2400" b="1" dirty="0"/>
              <a:t> All in One </a:t>
            </a:r>
            <a:r>
              <a:rPr lang="en-US" sz="2400" b="1" dirty="0" err="1" smtClean="0"/>
              <a:t>Openstack</a:t>
            </a:r>
            <a:r>
              <a:rPr lang="en-US" sz="2400" b="1" dirty="0" smtClean="0"/>
              <a:t> 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Cons’t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1309" y="716306"/>
            <a:ext cx="3791025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 err="1" smtClean="0"/>
              <a:t>Terdapat</a:t>
            </a:r>
            <a:r>
              <a:rPr lang="en-US" sz="1200" dirty="0" smtClean="0"/>
              <a:t> </a:t>
            </a:r>
            <a:r>
              <a:rPr lang="en-US" sz="1200" dirty="0"/>
              <a:t>2 security group (default) </a:t>
            </a:r>
            <a:r>
              <a:rPr lang="en-US" sz="1200" dirty="0" err="1"/>
              <a:t>dan</a:t>
            </a:r>
            <a:r>
              <a:rPr lang="en-US" sz="1200" dirty="0"/>
              <a:t> security group yang </a:t>
            </a:r>
            <a:r>
              <a:rPr lang="en-US" sz="1200" dirty="0" err="1"/>
              <a:t>sudah</a:t>
            </a:r>
            <a:r>
              <a:rPr lang="en-US" sz="1200" dirty="0"/>
              <a:t> </a:t>
            </a:r>
            <a:r>
              <a:rPr lang="en-US" sz="1200" dirty="0" err="1"/>
              <a:t>dibuat</a:t>
            </a:r>
            <a:r>
              <a:rPr lang="en-US" sz="1200" dirty="0"/>
              <a:t> </a:t>
            </a:r>
            <a:r>
              <a:rPr lang="en-US" sz="1200" dirty="0" err="1"/>
              <a:t>sebelumnya</a:t>
            </a:r>
            <a:r>
              <a:rPr lang="en-US" sz="1200" dirty="0"/>
              <a:t>.</a:t>
            </a:r>
          </a:p>
          <a:p>
            <a:pPr algn="just"/>
            <a:r>
              <a:rPr lang="en-US" sz="1200" dirty="0" err="1"/>
              <a:t>Untuk</a:t>
            </a:r>
            <a:r>
              <a:rPr lang="en-US" sz="1200" dirty="0"/>
              <a:t> yang default </a:t>
            </a:r>
            <a:r>
              <a:rPr lang="en-US" sz="1200" dirty="0" err="1"/>
              <a:t>sebenarnya</a:t>
            </a:r>
            <a:r>
              <a:rPr lang="en-US" sz="1200" dirty="0"/>
              <a:t> </a:t>
            </a:r>
            <a:r>
              <a:rPr lang="en-US" sz="1200" dirty="0" err="1"/>
              <a:t>dapat</a:t>
            </a:r>
            <a:r>
              <a:rPr lang="en-US" sz="1200" dirty="0"/>
              <a:t> </a:t>
            </a:r>
            <a:r>
              <a:rPr lang="en-US" sz="1200" dirty="0" err="1"/>
              <a:t>Anda</a:t>
            </a:r>
            <a:r>
              <a:rPr lang="en-US" sz="1200" dirty="0"/>
              <a:t> </a:t>
            </a:r>
            <a:r>
              <a:rPr lang="en-US" sz="1200" dirty="0" err="1"/>
              <a:t>gunakan</a:t>
            </a:r>
            <a:r>
              <a:rPr lang="en-US" sz="1200" dirty="0"/>
              <a:t> </a:t>
            </a:r>
            <a:r>
              <a:rPr lang="en-US" sz="1200" dirty="0" err="1"/>
              <a:t>juga</a:t>
            </a:r>
            <a:r>
              <a:rPr lang="en-US" sz="1200" dirty="0"/>
              <a:t>. </a:t>
            </a:r>
            <a:r>
              <a:rPr lang="en-US" sz="1200" dirty="0" err="1"/>
              <a:t>Untuk</a:t>
            </a:r>
            <a:r>
              <a:rPr lang="en-US" sz="1200" dirty="0"/>
              <a:t> </a:t>
            </a:r>
            <a:r>
              <a:rPr lang="en-US" sz="1200" dirty="0" err="1"/>
              <a:t>menambahkan</a:t>
            </a:r>
            <a:r>
              <a:rPr lang="en-US" sz="1200" dirty="0"/>
              <a:t> port </a:t>
            </a:r>
            <a:r>
              <a:rPr lang="en-US" sz="1200" dirty="0" err="1"/>
              <a:t>atau</a:t>
            </a:r>
            <a:r>
              <a:rPr lang="en-US" sz="1200" dirty="0"/>
              <a:t> </a:t>
            </a:r>
            <a:r>
              <a:rPr lang="en-US" sz="1200" dirty="0" err="1"/>
              <a:t>menggunakan</a:t>
            </a:r>
            <a:r>
              <a:rPr lang="en-US" sz="1200" dirty="0"/>
              <a:t> security group </a:t>
            </a:r>
            <a:r>
              <a:rPr lang="en-US" sz="1200" dirty="0" err="1"/>
              <a:t>silakan</a:t>
            </a:r>
            <a:r>
              <a:rPr lang="en-US" sz="1200" dirty="0"/>
              <a:t> </a:t>
            </a:r>
            <a:r>
              <a:rPr lang="en-US" sz="1200" dirty="0" err="1"/>
              <a:t>klik</a:t>
            </a:r>
            <a:r>
              <a:rPr lang="en-US" sz="1200" dirty="0"/>
              <a:t> menu </a:t>
            </a:r>
            <a:r>
              <a:rPr lang="en-US" sz="1200" b="1" dirty="0"/>
              <a:t>Manage Rules</a:t>
            </a:r>
            <a:r>
              <a:rPr lang="en-US" sz="1200" dirty="0"/>
              <a:t> </a:t>
            </a:r>
            <a:r>
              <a:rPr lang="en-US" sz="1200" dirty="0" err="1"/>
              <a:t>pada</a:t>
            </a:r>
            <a:r>
              <a:rPr lang="en-US" sz="1200" dirty="0"/>
              <a:t> security group </a:t>
            </a:r>
            <a:r>
              <a:rPr lang="en-US" sz="1200" dirty="0" err="1"/>
              <a:t>Anda</a:t>
            </a:r>
            <a:endParaRPr lang="en-US" sz="1200" dirty="0"/>
          </a:p>
        </p:txBody>
      </p:sp>
      <p:sp>
        <p:nvSpPr>
          <p:cNvPr id="9" name="Rectangle 8"/>
          <p:cNvSpPr/>
          <p:nvPr/>
        </p:nvSpPr>
        <p:spPr>
          <a:xfrm>
            <a:off x="4518480" y="412452"/>
            <a:ext cx="4288636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dirty="0" err="1"/>
              <a:t>Klik</a:t>
            </a:r>
            <a:r>
              <a:rPr lang="en-US" sz="1400" dirty="0"/>
              <a:t> + Add Rule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menambahkan</a:t>
            </a:r>
            <a:r>
              <a:rPr lang="en-US" sz="1400" dirty="0"/>
              <a:t> rule </a:t>
            </a:r>
            <a:r>
              <a:rPr lang="en-US" sz="1400" dirty="0" err="1"/>
              <a:t>atau</a:t>
            </a:r>
            <a:r>
              <a:rPr lang="en-US" sz="1400" dirty="0"/>
              <a:t> port yang </a:t>
            </a:r>
            <a:r>
              <a:rPr lang="en-US" sz="1400" dirty="0" err="1"/>
              <a:t>ingin</a:t>
            </a:r>
            <a:r>
              <a:rPr lang="en-US" sz="1400" dirty="0"/>
              <a:t> </a:t>
            </a:r>
            <a:r>
              <a:rPr lang="en-US" sz="1400" dirty="0" err="1"/>
              <a:t>Anda</a:t>
            </a:r>
            <a:r>
              <a:rPr lang="en-US" sz="1400" dirty="0"/>
              <a:t> </a:t>
            </a:r>
            <a:r>
              <a:rPr lang="en-US" sz="1400" dirty="0" err="1"/>
              <a:t>gunakan</a:t>
            </a:r>
            <a:r>
              <a:rPr lang="en-US" sz="1400" dirty="0"/>
              <a:t>, </a:t>
            </a:r>
            <a:r>
              <a:rPr lang="en-US" sz="1400" dirty="0" err="1"/>
              <a:t>misalnya</a:t>
            </a:r>
            <a:r>
              <a:rPr lang="en-US" sz="1400" dirty="0"/>
              <a:t> </a:t>
            </a:r>
            <a:r>
              <a:rPr lang="en-US" sz="1400" dirty="0" err="1"/>
              <a:t>disini</a:t>
            </a:r>
            <a:r>
              <a:rPr lang="en-US" sz="1400" dirty="0"/>
              <a:t> kami </a:t>
            </a:r>
            <a:r>
              <a:rPr lang="en-US" sz="1400" dirty="0" err="1"/>
              <a:t>ingin</a:t>
            </a:r>
            <a:r>
              <a:rPr lang="en-US" sz="1400" dirty="0"/>
              <a:t> allow port </a:t>
            </a:r>
            <a:r>
              <a:rPr lang="en-US" sz="1400" dirty="0" err="1"/>
              <a:t>atau</a:t>
            </a:r>
            <a:r>
              <a:rPr lang="en-US" sz="1400" dirty="0"/>
              <a:t> </a:t>
            </a:r>
            <a:r>
              <a:rPr lang="en-US" sz="1400" dirty="0" err="1"/>
              <a:t>protokol</a:t>
            </a:r>
            <a:r>
              <a:rPr lang="en-US" sz="1400" dirty="0"/>
              <a:t> IMCP, </a:t>
            </a:r>
            <a:r>
              <a:rPr lang="en-US" sz="1400" dirty="0" err="1"/>
              <a:t>lalu</a:t>
            </a:r>
            <a:r>
              <a:rPr lang="en-US" sz="1400" dirty="0"/>
              <a:t> </a:t>
            </a:r>
            <a:r>
              <a:rPr lang="en-US" sz="1400" dirty="0" err="1"/>
              <a:t>klik</a:t>
            </a:r>
            <a:r>
              <a:rPr lang="en-US" sz="1400" dirty="0"/>
              <a:t> Add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3301" y="263304"/>
            <a:ext cx="227908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Create Security Group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51309" y="1838694"/>
            <a:ext cx="4247724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000" dirty="0" smtClean="0">
                <a:solidFill>
                  <a:srgbClr val="0070C0"/>
                </a:solidFill>
              </a:rPr>
              <a:t>Openstack.panda.id/dashboard/project/</a:t>
            </a:r>
            <a:r>
              <a:rPr lang="en-US" sz="1000" dirty="0" err="1" smtClean="0">
                <a:solidFill>
                  <a:srgbClr val="0070C0"/>
                </a:solidFill>
              </a:rPr>
              <a:t>security_groups</a:t>
            </a:r>
            <a:r>
              <a:rPr lang="en-US" sz="1000" dirty="0" smtClean="0">
                <a:solidFill>
                  <a:srgbClr val="0070C0"/>
                </a:solidFill>
              </a:rPr>
              <a:t>/8d72f0bd-249a-493b-9a73-caf67de717f2/</a:t>
            </a:r>
            <a:endParaRPr lang="en-US" sz="1000" dirty="0">
              <a:solidFill>
                <a:srgbClr val="0070C0"/>
              </a:solidFill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228473" y="2329136"/>
            <a:ext cx="3874168" cy="1388622"/>
            <a:chOff x="228473" y="2329136"/>
            <a:chExt cx="3874168" cy="1388622"/>
          </a:xfrm>
        </p:grpSpPr>
        <p:pic>
          <p:nvPicPr>
            <p:cNvPr id="2" name="Picture 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8473" y="2329136"/>
              <a:ext cx="3874168" cy="1388622"/>
            </a:xfrm>
            <a:prstGeom prst="rect">
              <a:avLst/>
            </a:prstGeom>
          </p:spPr>
        </p:pic>
        <p:sp>
          <p:nvSpPr>
            <p:cNvPr id="10" name="Rectangle 9"/>
            <p:cNvSpPr/>
            <p:nvPr/>
          </p:nvSpPr>
          <p:spPr>
            <a:xfrm>
              <a:off x="953677" y="2373021"/>
              <a:ext cx="3148964" cy="15388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just"/>
              <a:r>
                <a:rPr lang="en-US" sz="400" dirty="0" smtClean="0">
                  <a:solidFill>
                    <a:schemeClr val="bg1">
                      <a:lumMod val="75000"/>
                    </a:schemeClr>
                  </a:solidFill>
                </a:rPr>
                <a:t>Openstack.panda.id/dashboard/project/</a:t>
              </a:r>
              <a:r>
                <a:rPr lang="en-US" sz="400" dirty="0" err="1" smtClean="0">
                  <a:solidFill>
                    <a:schemeClr val="bg1">
                      <a:lumMod val="75000"/>
                    </a:schemeClr>
                  </a:solidFill>
                </a:rPr>
                <a:t>security_groups</a:t>
              </a:r>
              <a:r>
                <a:rPr lang="en-US" sz="400" dirty="0" smtClean="0">
                  <a:solidFill>
                    <a:schemeClr val="bg1">
                      <a:lumMod val="75000"/>
                    </a:schemeClr>
                  </a:solidFill>
                </a:rPr>
                <a:t>/8d72f0bd-249a-493b-9a73-caf67de717f2/</a:t>
              </a:r>
              <a:endParaRPr lang="en-US" sz="4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</p:grp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8480" y="1217418"/>
            <a:ext cx="3723278" cy="2784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5502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36</a:t>
            </a:fld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3200400" y="65812"/>
            <a:ext cx="5943600" cy="280338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Lab: </a:t>
            </a:r>
            <a:r>
              <a:rPr lang="en-US" sz="2400" b="1" dirty="0" err="1" smtClean="0"/>
              <a:t>Kolla</a:t>
            </a:r>
            <a:r>
              <a:rPr lang="en-US" sz="2400" b="1" dirty="0" smtClean="0"/>
              <a:t> </a:t>
            </a:r>
            <a:r>
              <a:rPr lang="en-US" sz="2400" b="1" dirty="0" err="1"/>
              <a:t>Ansible</a:t>
            </a:r>
            <a:r>
              <a:rPr lang="en-US" sz="2400" b="1" dirty="0"/>
              <a:t> All in One </a:t>
            </a:r>
            <a:r>
              <a:rPr lang="en-US" sz="2400" b="1" dirty="0" err="1" smtClean="0"/>
              <a:t>Openstack</a:t>
            </a:r>
            <a:r>
              <a:rPr lang="en-US" sz="2400" b="1" dirty="0" smtClean="0"/>
              <a:t> 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Cons’t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43301" y="566340"/>
            <a:ext cx="379102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 err="1"/>
              <a:t>Saat</a:t>
            </a:r>
            <a:r>
              <a:rPr lang="en-US" sz="1200" dirty="0"/>
              <a:t> </a:t>
            </a:r>
            <a:r>
              <a:rPr lang="en-US" sz="1200" dirty="0" err="1"/>
              <a:t>ini</a:t>
            </a:r>
            <a:r>
              <a:rPr lang="en-US" sz="1200" dirty="0"/>
              <a:t> rule ICMP </a:t>
            </a:r>
            <a:r>
              <a:rPr lang="en-US" sz="1200" dirty="0" err="1"/>
              <a:t>sudah</a:t>
            </a:r>
            <a:r>
              <a:rPr lang="en-US" sz="1200" dirty="0"/>
              <a:t> </a:t>
            </a:r>
            <a:r>
              <a:rPr lang="en-US" sz="1200" dirty="0" err="1"/>
              <a:t>dibuat</a:t>
            </a:r>
            <a:endParaRPr lang="en-US" sz="1200" dirty="0"/>
          </a:p>
        </p:txBody>
      </p:sp>
      <p:sp>
        <p:nvSpPr>
          <p:cNvPr id="9" name="Rectangle 8"/>
          <p:cNvSpPr/>
          <p:nvPr/>
        </p:nvSpPr>
        <p:spPr>
          <a:xfrm>
            <a:off x="143301" y="2854297"/>
            <a:ext cx="4139117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dirty="0" err="1" smtClean="0"/>
              <a:t>Dapat</a:t>
            </a:r>
            <a:r>
              <a:rPr lang="en-US" sz="1400" dirty="0" smtClean="0"/>
              <a:t> </a:t>
            </a:r>
            <a:r>
              <a:rPr lang="en-US" sz="1400" dirty="0" err="1"/>
              <a:t>menambahkan</a:t>
            </a:r>
            <a:r>
              <a:rPr lang="en-US" sz="1400" dirty="0"/>
              <a:t> rule </a:t>
            </a:r>
            <a:r>
              <a:rPr lang="en-US" sz="1400" dirty="0" err="1"/>
              <a:t>atau</a:t>
            </a:r>
            <a:r>
              <a:rPr lang="en-US" sz="1400" dirty="0"/>
              <a:t> port – port yang </a:t>
            </a:r>
            <a:r>
              <a:rPr lang="en-US" sz="1400" dirty="0" err="1"/>
              <a:t>Anda</a:t>
            </a:r>
            <a:r>
              <a:rPr lang="en-US" sz="1400" dirty="0"/>
              <a:t> </a:t>
            </a:r>
            <a:r>
              <a:rPr lang="en-US" sz="1400" dirty="0" err="1"/>
              <a:t>inginkan</a:t>
            </a:r>
            <a:r>
              <a:rPr lang="en-US" sz="1400" dirty="0"/>
              <a:t> </a:t>
            </a:r>
            <a:r>
              <a:rPr lang="en-US" sz="1400" dirty="0" err="1"/>
              <a:t>misalnya</a:t>
            </a:r>
            <a:r>
              <a:rPr lang="en-US" sz="1400" dirty="0"/>
              <a:t> port </a:t>
            </a:r>
            <a:r>
              <a:rPr lang="en-US" sz="1400" dirty="0" err="1"/>
              <a:t>ssh</a:t>
            </a:r>
            <a:r>
              <a:rPr lang="en-US" sz="1400" dirty="0"/>
              <a:t>, </a:t>
            </a:r>
            <a:r>
              <a:rPr lang="en-US" sz="1400" dirty="0" err="1"/>
              <a:t>imap</a:t>
            </a:r>
            <a:r>
              <a:rPr lang="en-US" sz="1400" dirty="0"/>
              <a:t>, http </a:t>
            </a:r>
            <a:r>
              <a:rPr lang="en-US" sz="1400" dirty="0" err="1"/>
              <a:t>dan</a:t>
            </a:r>
            <a:r>
              <a:rPr lang="en-US" sz="1400" dirty="0"/>
              <a:t> yang </a:t>
            </a:r>
            <a:r>
              <a:rPr lang="en-US" sz="1400" dirty="0" err="1"/>
              <a:t>lainnya</a:t>
            </a:r>
            <a:r>
              <a:rPr lang="en-US" sz="1400" dirty="0"/>
              <a:t> </a:t>
            </a:r>
            <a:r>
              <a:rPr lang="en-US" sz="1400" dirty="0" err="1"/>
              <a:t>melalui</a:t>
            </a:r>
            <a:r>
              <a:rPr lang="en-US" sz="1400" dirty="0"/>
              <a:t> security group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3301" y="263304"/>
            <a:ext cx="170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Create </a:t>
            </a:r>
            <a:r>
              <a:rPr lang="en-US" b="1" dirty="0" smtClean="0">
                <a:solidFill>
                  <a:srgbClr val="002060"/>
                </a:solidFill>
              </a:rPr>
              <a:t>SSH Keys</a:t>
            </a:r>
            <a:endParaRPr lang="en-US" dirty="0"/>
          </a:p>
        </p:txBody>
      </p:sp>
      <p:grpSp>
        <p:nvGrpSpPr>
          <p:cNvPr id="3" name="Group 2"/>
          <p:cNvGrpSpPr/>
          <p:nvPr/>
        </p:nvGrpSpPr>
        <p:grpSpPr>
          <a:xfrm>
            <a:off x="246015" y="1146375"/>
            <a:ext cx="3898197" cy="1711838"/>
            <a:chOff x="204444" y="923079"/>
            <a:chExt cx="3898197" cy="1711838"/>
          </a:xfrm>
        </p:grpSpPr>
        <p:pic>
          <p:nvPicPr>
            <p:cNvPr id="2" name="Picture 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4444" y="923079"/>
              <a:ext cx="3847238" cy="1711838"/>
            </a:xfrm>
            <a:prstGeom prst="rect">
              <a:avLst/>
            </a:prstGeom>
          </p:spPr>
        </p:pic>
        <p:sp>
          <p:nvSpPr>
            <p:cNvPr id="10" name="Rectangle 9"/>
            <p:cNvSpPr/>
            <p:nvPr/>
          </p:nvSpPr>
          <p:spPr>
            <a:xfrm>
              <a:off x="953677" y="976517"/>
              <a:ext cx="3148964" cy="15388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just"/>
              <a:r>
                <a:rPr lang="en-US" sz="400" dirty="0" smtClean="0">
                  <a:solidFill>
                    <a:schemeClr val="bg1">
                      <a:lumMod val="75000"/>
                    </a:schemeClr>
                  </a:solidFill>
                </a:rPr>
                <a:t>Openstack.panda.id/dashboard/project/</a:t>
              </a:r>
              <a:r>
                <a:rPr lang="en-US" sz="400" dirty="0" err="1" smtClean="0">
                  <a:solidFill>
                    <a:schemeClr val="bg1">
                      <a:lumMod val="75000"/>
                    </a:schemeClr>
                  </a:solidFill>
                </a:rPr>
                <a:t>security_groups</a:t>
              </a:r>
              <a:r>
                <a:rPr lang="en-US" sz="400" dirty="0" smtClean="0">
                  <a:solidFill>
                    <a:schemeClr val="bg1">
                      <a:lumMod val="75000"/>
                    </a:schemeClr>
                  </a:solidFill>
                </a:rPr>
                <a:t>/8d72f0bd-249a-493b-9a73-caf67de717f2/</a:t>
              </a:r>
              <a:endParaRPr lang="en-US" sz="4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</p:grpSp>
      <p:sp>
        <p:nvSpPr>
          <p:cNvPr id="12" name="Rectangle 11"/>
          <p:cNvSpPr/>
          <p:nvPr/>
        </p:nvSpPr>
        <p:spPr>
          <a:xfrm>
            <a:off x="143301" y="730877"/>
            <a:ext cx="4247724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000" dirty="0" smtClean="0">
                <a:solidFill>
                  <a:srgbClr val="0070C0"/>
                </a:solidFill>
              </a:rPr>
              <a:t>Openstack.panda.id/dashboard/project/</a:t>
            </a:r>
            <a:r>
              <a:rPr lang="en-US" sz="1000" dirty="0" err="1" smtClean="0">
                <a:solidFill>
                  <a:srgbClr val="0070C0"/>
                </a:solidFill>
              </a:rPr>
              <a:t>security_groups</a:t>
            </a:r>
            <a:r>
              <a:rPr lang="en-US" sz="1000" dirty="0" smtClean="0">
                <a:solidFill>
                  <a:srgbClr val="0070C0"/>
                </a:solidFill>
              </a:rPr>
              <a:t>/8d72f0bd-249a-493b-9a73-caf67de717f2/</a:t>
            </a:r>
            <a:endParaRPr lang="en-US" sz="10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08455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37</a:t>
            </a:fld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3200400" y="65812"/>
            <a:ext cx="5943600" cy="280338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Lab: </a:t>
            </a:r>
            <a:r>
              <a:rPr lang="en-US" sz="2400" b="1" dirty="0" err="1" smtClean="0"/>
              <a:t>Kolla</a:t>
            </a:r>
            <a:r>
              <a:rPr lang="en-US" sz="2400" b="1" dirty="0" smtClean="0"/>
              <a:t> </a:t>
            </a:r>
            <a:r>
              <a:rPr lang="en-US" sz="2400" b="1" dirty="0" err="1"/>
              <a:t>Ansible</a:t>
            </a:r>
            <a:r>
              <a:rPr lang="en-US" sz="2400" b="1" dirty="0"/>
              <a:t> All in One </a:t>
            </a:r>
            <a:r>
              <a:rPr lang="en-US" sz="2400" b="1" dirty="0" err="1" smtClean="0"/>
              <a:t>Openstack</a:t>
            </a:r>
            <a:r>
              <a:rPr lang="en-US" sz="2400" b="1" dirty="0" smtClean="0"/>
              <a:t> 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Cons’t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53200" y="517842"/>
            <a:ext cx="428431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b="1" dirty="0">
                <a:solidFill>
                  <a:srgbClr val="002060"/>
                </a:solidFill>
              </a:rPr>
              <a:t>All Service running on Docker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0922" y="479984"/>
            <a:ext cx="413911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b="1" dirty="0">
                <a:solidFill>
                  <a:srgbClr val="002060"/>
                </a:solidFill>
              </a:rPr>
              <a:t>Horizon</a:t>
            </a:r>
            <a:endParaRPr lang="en-US" sz="1400" b="1" dirty="0">
              <a:solidFill>
                <a:srgbClr val="002060"/>
              </a:solidFill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650" y="1032752"/>
            <a:ext cx="3903421" cy="3876131"/>
          </a:xfrm>
          <a:prstGeom prst="rect">
            <a:avLst/>
          </a:prstGeom>
        </p:spPr>
      </p:pic>
      <p:grpSp>
        <p:nvGrpSpPr>
          <p:cNvPr id="16" name="Group 15"/>
          <p:cNvGrpSpPr/>
          <p:nvPr/>
        </p:nvGrpSpPr>
        <p:grpSpPr>
          <a:xfrm>
            <a:off x="4570922" y="743428"/>
            <a:ext cx="4573078" cy="2352698"/>
            <a:chOff x="4570922" y="743428"/>
            <a:chExt cx="4573078" cy="2352698"/>
          </a:xfrm>
        </p:grpSpPr>
        <p:pic>
          <p:nvPicPr>
            <p:cNvPr id="14" name="Picture 1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70922" y="787761"/>
              <a:ext cx="4573078" cy="2308365"/>
            </a:xfrm>
            <a:prstGeom prst="rect">
              <a:avLst/>
            </a:prstGeom>
          </p:spPr>
        </p:pic>
        <p:sp>
          <p:nvSpPr>
            <p:cNvPr id="15" name="Rectangle 14"/>
            <p:cNvSpPr/>
            <p:nvPr/>
          </p:nvSpPr>
          <p:spPr>
            <a:xfrm>
              <a:off x="5149649" y="743428"/>
              <a:ext cx="1308301" cy="16927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just"/>
              <a:r>
                <a:rPr lang="en-US" sz="500" dirty="0" smtClean="0">
                  <a:solidFill>
                    <a:srgbClr val="E54B1B"/>
                  </a:solidFill>
                </a:rPr>
                <a:t>http:</a:t>
              </a:r>
              <a:r>
                <a:rPr lang="en-US" sz="500" dirty="0" smtClean="0">
                  <a:solidFill>
                    <a:schemeClr val="bg1">
                      <a:lumMod val="65000"/>
                    </a:schemeClr>
                  </a:solidFill>
                </a:rPr>
                <a:t>//Openstack.panda.id/Deploy/</a:t>
              </a:r>
              <a:endParaRPr lang="en-US" sz="5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372136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38</a:t>
            </a:fld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200400" y="65812"/>
            <a:ext cx="5943600" cy="280338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Lab: </a:t>
            </a:r>
            <a:r>
              <a:rPr lang="en-US" sz="2400" b="1" dirty="0" err="1" smtClean="0"/>
              <a:t>Kolla</a:t>
            </a:r>
            <a:r>
              <a:rPr lang="en-US" sz="2400" b="1" dirty="0" smtClean="0"/>
              <a:t> </a:t>
            </a:r>
            <a:r>
              <a:rPr lang="en-US" sz="2400" b="1" dirty="0" err="1"/>
              <a:t>Ansible</a:t>
            </a:r>
            <a:r>
              <a:rPr lang="en-US" sz="2400" b="1" dirty="0"/>
              <a:t> All in One </a:t>
            </a:r>
            <a:r>
              <a:rPr lang="en-US" sz="2400" b="1" dirty="0" err="1" smtClean="0"/>
              <a:t>Openstack</a:t>
            </a:r>
            <a:r>
              <a:rPr lang="en-US" sz="2400" b="1" dirty="0" smtClean="0"/>
              <a:t> 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Cons’t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53200" y="517842"/>
            <a:ext cx="428431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b="1" dirty="0">
                <a:solidFill>
                  <a:srgbClr val="002060"/>
                </a:solidFill>
              </a:rPr>
              <a:t>Network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200" y="2371141"/>
            <a:ext cx="413911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b="1" dirty="0">
                <a:solidFill>
                  <a:srgbClr val="002060"/>
                </a:solidFill>
              </a:rPr>
              <a:t>Compute Service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35" y="787761"/>
            <a:ext cx="8631933" cy="1552575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435" y="2659785"/>
            <a:ext cx="8631933" cy="1685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47640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39</a:t>
            </a:fld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200400" y="65812"/>
            <a:ext cx="5943600" cy="280338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Lab: </a:t>
            </a:r>
            <a:r>
              <a:rPr lang="en-US" sz="2400" b="1" dirty="0" err="1" smtClean="0"/>
              <a:t>Kolla</a:t>
            </a:r>
            <a:r>
              <a:rPr lang="en-US" sz="2400" b="1" dirty="0" smtClean="0"/>
              <a:t> </a:t>
            </a:r>
            <a:r>
              <a:rPr lang="en-US" sz="2400" b="1" dirty="0" err="1"/>
              <a:t>Ansible</a:t>
            </a:r>
            <a:r>
              <a:rPr lang="en-US" sz="2400" b="1" dirty="0"/>
              <a:t> All in One </a:t>
            </a:r>
            <a:r>
              <a:rPr lang="en-US" sz="2400" b="1" dirty="0" err="1" smtClean="0"/>
              <a:t>Openstack</a:t>
            </a:r>
            <a:r>
              <a:rPr lang="en-US" sz="2400" b="1" dirty="0" smtClean="0"/>
              <a:t> 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en-US" sz="2400" b="1" dirty="0" err="1" smtClean="0">
                <a:solidFill>
                  <a:schemeClr val="bg1">
                    <a:lumMod val="75000"/>
                  </a:schemeClr>
                </a:solidFill>
              </a:rPr>
              <a:t>Cons’t</a:t>
            </a:r>
            <a:r>
              <a:rPr lang="en-US" sz="2400" b="1" dirty="0" smtClean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53200" y="517842"/>
            <a:ext cx="428431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>
                <a:solidFill>
                  <a:srgbClr val="002060"/>
                </a:solidFill>
              </a:rPr>
              <a:t>Volume Service</a:t>
            </a:r>
            <a:endParaRPr lang="en-US" sz="1400" b="1" dirty="0">
              <a:solidFill>
                <a:srgbClr val="002060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153200" y="2371141"/>
            <a:ext cx="413911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b="1" dirty="0">
                <a:solidFill>
                  <a:srgbClr val="002060"/>
                </a:solidFill>
              </a:rPr>
              <a:t>Compute Service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097" y="887174"/>
            <a:ext cx="6829425" cy="145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41492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613" y="1645444"/>
            <a:ext cx="7886700" cy="994172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Deploy All-in-One OpenStack with </a:t>
            </a:r>
            <a:r>
              <a:rPr lang="en-US" dirty="0" err="1"/>
              <a:t>Kolla-Ansible</a:t>
            </a:r>
            <a:r>
              <a:rPr lang="en-US" dirty="0"/>
              <a:t> on Ubuntu 22.04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40</a:t>
            </a:fld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331013" y="407657"/>
            <a:ext cx="1687340" cy="184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600" dirty="0" smtClean="0">
                <a:solidFill>
                  <a:schemeClr val="bg1">
                    <a:lumMod val="65000"/>
                  </a:schemeClr>
                </a:solidFill>
              </a:rPr>
              <a:t>Openstack.panda.id/dashboard/admin/images</a:t>
            </a:r>
            <a:endParaRPr lang="en-US" sz="6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31012" y="739810"/>
            <a:ext cx="1150173" cy="184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600" dirty="0" smtClean="0">
                <a:solidFill>
                  <a:schemeClr val="bg1">
                    <a:lumMod val="65000"/>
                  </a:schemeClr>
                </a:solidFill>
              </a:rPr>
              <a:t>Openstack.panda.id/Deploy/</a:t>
            </a:r>
            <a:endParaRPr lang="en-US" sz="6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16954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41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9497" y="3012094"/>
            <a:ext cx="745853" cy="57564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6292" y="3786991"/>
            <a:ext cx="598508" cy="58637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5636" y="3829270"/>
            <a:ext cx="618926" cy="544097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-1" y="476250"/>
            <a:ext cx="4312693" cy="3293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/>
              <a:t>OpenStack Series #2 — Install </a:t>
            </a:r>
            <a:r>
              <a:rPr lang="en-US" dirty="0" err="1"/>
              <a:t>openstack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Kolla</a:t>
            </a:r>
            <a:r>
              <a:rPr lang="en-US" dirty="0"/>
              <a:t> </a:t>
            </a:r>
            <a:r>
              <a:rPr lang="en-US" dirty="0" err="1"/>
              <a:t>Ansible</a:t>
            </a:r>
            <a:r>
              <a:rPr lang="en-US" dirty="0"/>
              <a:t> (Multi-nodes</a:t>
            </a:r>
            <a:r>
              <a:rPr lang="en-US" dirty="0" smtClean="0"/>
              <a:t>)</a:t>
            </a:r>
          </a:p>
          <a:p>
            <a:r>
              <a:rPr lang="en-US" sz="1400" b="1" dirty="0" err="1"/>
              <a:t>Prasyarat</a:t>
            </a:r>
            <a:endParaRPr lang="en-US" sz="1400" b="1" dirty="0"/>
          </a:p>
          <a:p>
            <a:pPr marL="342900" indent="-342900" algn="just">
              <a:buFont typeface="+mj-lt"/>
              <a:buAutoNum type="arabicPeriod"/>
            </a:pPr>
            <a:r>
              <a:rPr lang="en-US" sz="1400" dirty="0"/>
              <a:t>Bare-metal / Virtual Machine (Minimal 1 node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metode</a:t>
            </a:r>
            <a:r>
              <a:rPr lang="en-US" sz="1400" dirty="0"/>
              <a:t> All In One </a:t>
            </a:r>
            <a:r>
              <a:rPr lang="en-US" sz="1400" dirty="0" err="1"/>
              <a:t>dan</a:t>
            </a:r>
            <a:r>
              <a:rPr lang="en-US" sz="1400" dirty="0"/>
              <a:t> minimal 2 node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metode</a:t>
            </a:r>
            <a:r>
              <a:rPr lang="en-US" sz="1400" dirty="0"/>
              <a:t> </a:t>
            </a:r>
            <a:r>
              <a:rPr lang="en-US" sz="1400" dirty="0" err="1"/>
              <a:t>Multinode</a:t>
            </a:r>
            <a:r>
              <a:rPr lang="en-US" sz="1400" dirty="0"/>
              <a:t>)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400" dirty="0"/>
              <a:t>Minimal 2 NIC per VM </a:t>
            </a:r>
            <a:r>
              <a:rPr lang="en-US" sz="1400" dirty="0" err="1"/>
              <a:t>dengan</a:t>
            </a:r>
            <a:r>
              <a:rPr lang="en-US" sz="1400" dirty="0"/>
              <a:t> 1 interface yang </a:t>
            </a:r>
            <a:r>
              <a:rPr lang="en-US" sz="1400" dirty="0" err="1"/>
              <a:t>tidak</a:t>
            </a:r>
            <a:r>
              <a:rPr lang="en-US" sz="1400" dirty="0"/>
              <a:t> </a:t>
            </a:r>
            <a:r>
              <a:rPr lang="en-US" sz="1400" dirty="0" err="1"/>
              <a:t>diberikan</a:t>
            </a:r>
            <a:r>
              <a:rPr lang="en-US" sz="1400" dirty="0"/>
              <a:t> </a:t>
            </a:r>
            <a:r>
              <a:rPr lang="en-US" sz="1400" dirty="0" err="1"/>
              <a:t>ip</a:t>
            </a:r>
            <a:endParaRPr lang="en-US" sz="1400" dirty="0"/>
          </a:p>
          <a:p>
            <a:pPr marL="342900" indent="-342900" algn="just">
              <a:buFont typeface="+mj-lt"/>
              <a:buAutoNum type="arabicPeriod"/>
            </a:pPr>
            <a:r>
              <a:rPr lang="en-US" sz="1400" dirty="0"/>
              <a:t>Disk </a:t>
            </a:r>
            <a:r>
              <a:rPr lang="en-US" sz="1400" dirty="0" err="1"/>
              <a:t>tambahan</a:t>
            </a:r>
            <a:r>
              <a:rPr lang="en-US" sz="1400" dirty="0"/>
              <a:t> </a:t>
            </a:r>
            <a:r>
              <a:rPr lang="en-US" sz="1400" dirty="0" err="1"/>
              <a:t>untuk</a:t>
            </a:r>
            <a:r>
              <a:rPr lang="en-US" sz="1400" dirty="0"/>
              <a:t> backend storage (At Least 50gb)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400" dirty="0"/>
              <a:t>Ram minimal 8gb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400" dirty="0" err="1"/>
              <a:t>Koneksi</a:t>
            </a:r>
            <a:r>
              <a:rPr lang="en-US" sz="1400" dirty="0"/>
              <a:t> </a:t>
            </a:r>
            <a:r>
              <a:rPr lang="en-US" sz="1400" dirty="0" err="1"/>
              <a:t>ke</a:t>
            </a:r>
            <a:r>
              <a:rPr lang="en-US" sz="1400" dirty="0"/>
              <a:t> Internet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400" dirty="0" err="1"/>
              <a:t>Mempunyai</a:t>
            </a:r>
            <a:r>
              <a:rPr lang="en-US" sz="1400" dirty="0"/>
              <a:t> </a:t>
            </a:r>
            <a:r>
              <a:rPr lang="en-US" sz="1400" dirty="0" err="1"/>
              <a:t>akses</a:t>
            </a:r>
            <a:r>
              <a:rPr lang="en-US" sz="1400" dirty="0"/>
              <a:t> root </a:t>
            </a:r>
            <a:r>
              <a:rPr lang="en-US" sz="1400" dirty="0" err="1"/>
              <a:t>maupun</a:t>
            </a:r>
            <a:r>
              <a:rPr lang="en-US" sz="1400" dirty="0"/>
              <a:t> user </a:t>
            </a:r>
            <a:r>
              <a:rPr lang="en-US" sz="1400" dirty="0" err="1"/>
              <a:t>sudoer</a:t>
            </a:r>
            <a:endParaRPr lang="en-US" sz="1400" dirty="0"/>
          </a:p>
          <a:p>
            <a:pPr algn="just"/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7275" y="3698229"/>
            <a:ext cx="1922121" cy="135027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40232" y="3917877"/>
            <a:ext cx="2072461" cy="86012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25140" y="501557"/>
            <a:ext cx="4572000" cy="34163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200" dirty="0"/>
              <a:t>$ </a:t>
            </a:r>
            <a:r>
              <a:rPr lang="en-US" sz="1200" dirty="0" err="1"/>
              <a:t>openstack</a:t>
            </a:r>
            <a:r>
              <a:rPr lang="en-US" sz="1200" dirty="0"/>
              <a:t> service list  </a:t>
            </a:r>
          </a:p>
          <a:p>
            <a:r>
              <a:rPr lang="en-US" sz="1200" dirty="0"/>
              <a:t>+----------------------------------+-------------+----------------+ </a:t>
            </a:r>
          </a:p>
          <a:p>
            <a:r>
              <a:rPr lang="en-US" sz="1200" dirty="0"/>
              <a:t>| ID                               | Name        | Type           | </a:t>
            </a:r>
          </a:p>
          <a:p>
            <a:r>
              <a:rPr lang="en-US" sz="1200" dirty="0"/>
              <a:t>+----------------------------------+-------------+----------------+ </a:t>
            </a:r>
          </a:p>
          <a:p>
            <a:r>
              <a:rPr lang="en-US" sz="1200" dirty="0"/>
              <a:t>| 10cb2de52c404662aa6ca3ccdb8f2cf7 | cinderv2    | volumev2       | </a:t>
            </a:r>
          </a:p>
          <a:p>
            <a:r>
              <a:rPr lang="en-US" sz="1200" dirty="0"/>
              <a:t>| 250a6a7cf4d44f0c9cdd2a39f8203ccc | cinderv3    | volumev3       | </a:t>
            </a:r>
          </a:p>
          <a:p>
            <a:r>
              <a:rPr lang="en-US" sz="1200" dirty="0"/>
              <a:t>| 2d99d37fc498465591faa9f44580d991 | placement   | placement      | </a:t>
            </a:r>
          </a:p>
          <a:p>
            <a:r>
              <a:rPr lang="en-US" sz="1200" dirty="0"/>
              <a:t>| 4001de18bf5c45f5a1467a31ea5a2afd | heat-</a:t>
            </a:r>
            <a:r>
              <a:rPr lang="en-US" sz="1200" dirty="0" err="1"/>
              <a:t>cfn</a:t>
            </a:r>
            <a:r>
              <a:rPr lang="en-US" sz="1200" dirty="0"/>
              <a:t>    | </a:t>
            </a:r>
            <a:r>
              <a:rPr lang="en-US" sz="1200" dirty="0" err="1"/>
              <a:t>cloudformation</a:t>
            </a:r>
            <a:r>
              <a:rPr lang="en-US" sz="1200" dirty="0"/>
              <a:t> | </a:t>
            </a:r>
          </a:p>
          <a:p>
            <a:r>
              <a:rPr lang="en-US" sz="1200" dirty="0"/>
              <a:t>| 505333b0b90b4962a37d55c44bc940f9 | keystone    | identity       | </a:t>
            </a:r>
          </a:p>
          <a:p>
            <a:r>
              <a:rPr lang="en-US" sz="1200" dirty="0"/>
              <a:t>| 612c645a37e848d49af9f6f53dc6e8ac | </a:t>
            </a:r>
            <a:r>
              <a:rPr lang="en-US" sz="1200" dirty="0" err="1"/>
              <a:t>nova_legacy</a:t>
            </a:r>
            <a:r>
              <a:rPr lang="en-US" sz="1200" dirty="0"/>
              <a:t> | </a:t>
            </a:r>
            <a:r>
              <a:rPr lang="en-US" sz="1200" dirty="0" err="1"/>
              <a:t>compute_legacy</a:t>
            </a:r>
            <a:r>
              <a:rPr lang="en-US" sz="1200" dirty="0"/>
              <a:t> | </a:t>
            </a:r>
          </a:p>
          <a:p>
            <a:r>
              <a:rPr lang="en-US" sz="1200" dirty="0"/>
              <a:t>| 87c2edd540c84c8296251ea284a14398 | neutron     | network        | </a:t>
            </a:r>
          </a:p>
          <a:p>
            <a:r>
              <a:rPr lang="en-US" sz="1200" dirty="0"/>
              <a:t>| 94e54356818d43af8ed7f4e1a6da28f1 | nova        | compute        | </a:t>
            </a:r>
          </a:p>
          <a:p>
            <a:r>
              <a:rPr lang="en-US" sz="1200" dirty="0"/>
              <a:t>| a9f6eb791ec740c183ecff67dc7c7b08 | glance      | image          | </a:t>
            </a:r>
          </a:p>
          <a:p>
            <a:r>
              <a:rPr lang="en-US" sz="1200" dirty="0"/>
              <a:t>| eaf1f96955244acfbf5124e42c32f4e6 | heat        | orchestration  | </a:t>
            </a:r>
          </a:p>
          <a:p>
            <a:r>
              <a:rPr lang="en-US" sz="1200" dirty="0"/>
              <a:t>+----------------------------------+-------------+----------------+</a:t>
            </a:r>
          </a:p>
        </p:txBody>
      </p:sp>
    </p:spTree>
    <p:extLst>
      <p:ext uri="{BB962C8B-B14F-4D97-AF65-F5344CB8AC3E}">
        <p14:creationId xmlns:p14="http://schemas.microsoft.com/office/powerpoint/2010/main" val="3167575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613" y="1645444"/>
            <a:ext cx="7886700" cy="994172"/>
          </a:xfrm>
        </p:spPr>
        <p:txBody>
          <a:bodyPr>
            <a:normAutofit/>
          </a:bodyPr>
          <a:lstStyle/>
          <a:p>
            <a:pPr algn="ctr"/>
            <a:r>
              <a:rPr lang="en-US" b="1" dirty="0" err="1">
                <a:solidFill>
                  <a:srgbClr val="002060"/>
                </a:solidFill>
              </a:rPr>
              <a:t>Openstack</a:t>
            </a:r>
            <a:r>
              <a:rPr lang="en-US" b="1" dirty="0">
                <a:solidFill>
                  <a:srgbClr val="002060"/>
                </a:solidFill>
              </a:rPr>
              <a:t> 2024.2 with </a:t>
            </a:r>
            <a:r>
              <a:rPr lang="en-US" b="1" dirty="0" err="1">
                <a:solidFill>
                  <a:srgbClr val="002060"/>
                </a:solidFill>
              </a:rPr>
              <a:t>Kolla</a:t>
            </a:r>
            <a:r>
              <a:rPr lang="en-US" b="1" dirty="0">
                <a:solidFill>
                  <a:srgbClr val="002060"/>
                </a:solidFill>
              </a:rPr>
              <a:t> </a:t>
            </a:r>
            <a:r>
              <a:rPr lang="en-US" b="1" dirty="0" err="1">
                <a:solidFill>
                  <a:srgbClr val="002060"/>
                </a:solidFill>
              </a:rPr>
              <a:t>Ansible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42</a:t>
            </a:fld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331013" y="407657"/>
            <a:ext cx="1687340" cy="184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600" dirty="0" smtClean="0">
                <a:solidFill>
                  <a:schemeClr val="bg1">
                    <a:lumMod val="65000"/>
                  </a:schemeClr>
                </a:solidFill>
              </a:rPr>
              <a:t>Openstack.panda.id/dashboard/admin/images</a:t>
            </a:r>
            <a:endParaRPr lang="en-US" sz="6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31012" y="739810"/>
            <a:ext cx="1150173" cy="184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600" dirty="0" smtClean="0">
                <a:solidFill>
                  <a:schemeClr val="bg1">
                    <a:lumMod val="65000"/>
                  </a:schemeClr>
                </a:solidFill>
              </a:rPr>
              <a:t>Openstack.panda.id/Deploy/</a:t>
            </a:r>
            <a:endParaRPr lang="en-US" sz="6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76512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43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9497" y="3012094"/>
            <a:ext cx="745853" cy="57564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6292" y="3786991"/>
            <a:ext cx="598508" cy="58637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5636" y="3829270"/>
            <a:ext cx="618926" cy="544097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60420" y="43618"/>
            <a:ext cx="471638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err="1"/>
              <a:t>Openstack</a:t>
            </a:r>
            <a:r>
              <a:rPr lang="en-US" b="1" dirty="0"/>
              <a:t> 2024.2 with </a:t>
            </a:r>
            <a:r>
              <a:rPr lang="en-US" b="1" dirty="0" err="1"/>
              <a:t>Kolla</a:t>
            </a:r>
            <a:r>
              <a:rPr lang="en-US" b="1" dirty="0"/>
              <a:t> </a:t>
            </a:r>
            <a:r>
              <a:rPr lang="en-US" b="1" dirty="0" err="1" smtClean="0"/>
              <a:t>Ansible</a:t>
            </a:r>
            <a:r>
              <a:rPr lang="en-US" b="1" dirty="0" smtClean="0"/>
              <a:t> </a:t>
            </a:r>
            <a:r>
              <a:rPr lang="en-US" b="1" dirty="0" smtClean="0">
                <a:solidFill>
                  <a:srgbClr val="002060"/>
                </a:solidFill>
              </a:rPr>
              <a:t>(</a:t>
            </a:r>
            <a:r>
              <a:rPr lang="en-US" b="1" dirty="0" err="1" smtClean="0">
                <a:solidFill>
                  <a:srgbClr val="002060"/>
                </a:solidFill>
              </a:rPr>
              <a:t>Cons’t</a:t>
            </a:r>
            <a:r>
              <a:rPr lang="en-US" b="1" dirty="0" smtClean="0">
                <a:solidFill>
                  <a:srgbClr val="002060"/>
                </a:solidFill>
              </a:rPr>
              <a:t>)</a:t>
            </a:r>
            <a:endParaRPr lang="en-US" b="1" dirty="0">
              <a:solidFill>
                <a:srgbClr val="002060"/>
              </a:solidFill>
            </a:endParaRPr>
          </a:p>
          <a:p>
            <a:pPr algn="just"/>
            <a:endParaRPr lang="en-US" sz="140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5419335"/>
              </p:ext>
            </p:extLst>
          </p:nvPr>
        </p:nvGraphicFramePr>
        <p:xfrm>
          <a:off x="628651" y="665205"/>
          <a:ext cx="7886697" cy="2495704"/>
        </p:xfrm>
        <a:graphic>
          <a:graphicData uri="http://schemas.openxmlformats.org/drawingml/2006/table">
            <a:tbl>
              <a:tblPr/>
              <a:tblGrid>
                <a:gridCol w="1126671">
                  <a:extLst>
                    <a:ext uri="{9D8B030D-6E8A-4147-A177-3AD203B41FA5}">
                      <a16:colId xmlns:a16="http://schemas.microsoft.com/office/drawing/2014/main" val="3411580168"/>
                    </a:ext>
                  </a:extLst>
                </a:gridCol>
                <a:gridCol w="1126671">
                  <a:extLst>
                    <a:ext uri="{9D8B030D-6E8A-4147-A177-3AD203B41FA5}">
                      <a16:colId xmlns:a16="http://schemas.microsoft.com/office/drawing/2014/main" val="1536646722"/>
                    </a:ext>
                  </a:extLst>
                </a:gridCol>
                <a:gridCol w="1126671">
                  <a:extLst>
                    <a:ext uri="{9D8B030D-6E8A-4147-A177-3AD203B41FA5}">
                      <a16:colId xmlns:a16="http://schemas.microsoft.com/office/drawing/2014/main" val="2435696873"/>
                    </a:ext>
                  </a:extLst>
                </a:gridCol>
                <a:gridCol w="1126671">
                  <a:extLst>
                    <a:ext uri="{9D8B030D-6E8A-4147-A177-3AD203B41FA5}">
                      <a16:colId xmlns:a16="http://schemas.microsoft.com/office/drawing/2014/main" val="46263374"/>
                    </a:ext>
                  </a:extLst>
                </a:gridCol>
                <a:gridCol w="1126671">
                  <a:extLst>
                    <a:ext uri="{9D8B030D-6E8A-4147-A177-3AD203B41FA5}">
                      <a16:colId xmlns:a16="http://schemas.microsoft.com/office/drawing/2014/main" val="457076928"/>
                    </a:ext>
                  </a:extLst>
                </a:gridCol>
                <a:gridCol w="1126671">
                  <a:extLst>
                    <a:ext uri="{9D8B030D-6E8A-4147-A177-3AD203B41FA5}">
                      <a16:colId xmlns:a16="http://schemas.microsoft.com/office/drawing/2014/main" val="3916166730"/>
                    </a:ext>
                  </a:extLst>
                </a:gridCol>
                <a:gridCol w="1126671">
                  <a:extLst>
                    <a:ext uri="{9D8B030D-6E8A-4147-A177-3AD203B41FA5}">
                      <a16:colId xmlns:a16="http://schemas.microsoft.com/office/drawing/2014/main" val="3084194414"/>
                    </a:ext>
                  </a:extLst>
                </a:gridCol>
              </a:tblGrid>
              <a:tr h="518770">
                <a:tc>
                  <a:txBody>
                    <a:bodyPr/>
                    <a:lstStyle/>
                    <a:p>
                      <a:pPr algn="l"/>
                      <a:r>
                        <a:rPr lang="en-US" sz="1200" i="1" dirty="0">
                          <a:effectLst/>
                        </a:rPr>
                        <a:t>Node Hostname</a:t>
                      </a:r>
                      <a:endParaRPr lang="en-US" sz="1200" dirty="0">
                        <a:effectLst/>
                      </a:endParaRP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i="1">
                          <a:effectLst/>
                        </a:rPr>
                        <a:t>Node Role</a:t>
                      </a:r>
                      <a:endParaRPr lang="en-US" sz="1200">
                        <a:effectLst/>
                      </a:endParaRP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i="1">
                          <a:effectLst/>
                        </a:rPr>
                        <a:t>vCPU</a:t>
                      </a:r>
                      <a:endParaRPr lang="en-US" sz="1200">
                        <a:effectLst/>
                      </a:endParaRP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i="1">
                          <a:effectLst/>
                        </a:rPr>
                        <a:t>Memory</a:t>
                      </a:r>
                      <a:endParaRPr lang="en-US" sz="1200">
                        <a:effectLst/>
                      </a:endParaRP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i="1">
                          <a:effectLst/>
                        </a:rPr>
                        <a:t>RootDisk</a:t>
                      </a:r>
                      <a:endParaRPr lang="en-US" sz="1200">
                        <a:effectLst/>
                      </a:endParaRP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i="1">
                          <a:effectLst/>
                        </a:rPr>
                        <a:t>ManagementNet</a:t>
                      </a:r>
                      <a:endParaRPr lang="en-US" sz="1200">
                        <a:effectLst/>
                      </a:endParaRP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i="1">
                          <a:effectLst/>
                        </a:rPr>
                        <a:t>StorageNet</a:t>
                      </a:r>
                      <a:endParaRPr lang="en-US" sz="1200">
                        <a:effectLst/>
                      </a:endParaRP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5599410"/>
                  </a:ext>
                </a:extLst>
              </a:tr>
              <a:tr h="329489"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effectLst/>
                        </a:rPr>
                        <a:t>GPU01adm01</a:t>
                      </a:r>
                      <a:endParaRPr lang="en-US" sz="1200" dirty="0">
                        <a:effectLst/>
                      </a:endParaRP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Ansible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2 Core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2GB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20GB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10.78.78.199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-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691140"/>
                  </a:ext>
                </a:extLst>
              </a:tr>
              <a:tr h="329489"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effectLst/>
                        </a:rPr>
                        <a:t>GPU01con01</a:t>
                      </a:r>
                      <a:endParaRPr lang="en-US" sz="1200" dirty="0">
                        <a:effectLst/>
                      </a:endParaRP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Controller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16 Core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16GB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40GB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10.78.78.201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10.79.79.201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0868907"/>
                  </a:ext>
                </a:extLst>
              </a:tr>
              <a:tr h="329489"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effectLst/>
                        </a:rPr>
                        <a:t>GPU01con02</a:t>
                      </a:r>
                      <a:endParaRPr lang="en-US" sz="1200" dirty="0">
                        <a:effectLst/>
                      </a:endParaRP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Controller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16 Core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16GB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40GB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10.78.78.202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10.79.79.202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0434338"/>
                  </a:ext>
                </a:extLst>
              </a:tr>
              <a:tr h="329489"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effectLst/>
                        </a:rPr>
                        <a:t>GPU01con03</a:t>
                      </a:r>
                      <a:endParaRPr lang="en-US" sz="1200" dirty="0">
                        <a:effectLst/>
                      </a:endParaRP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Controller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16 Core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16GB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40GB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10.78.78.203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10.79.79.203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4839332"/>
                  </a:ext>
                </a:extLst>
              </a:tr>
              <a:tr h="329489"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effectLst/>
                        </a:rPr>
                        <a:t>GPU01hpv01</a:t>
                      </a:r>
                      <a:endParaRPr lang="en-US" sz="1200" dirty="0">
                        <a:effectLst/>
                      </a:endParaRP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Hypervisor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32 Core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32GB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40GB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10.78.78.204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10.79.79.204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9206399"/>
                  </a:ext>
                </a:extLst>
              </a:tr>
              <a:tr h="329489"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effectLst/>
                        </a:rPr>
                        <a:t>GPU01hpv02</a:t>
                      </a:r>
                      <a:endParaRPr lang="en-US" sz="1200" dirty="0">
                        <a:effectLst/>
                      </a:endParaRP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Hypervisor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32 Core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32GB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40GB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10.78.78.205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effectLst/>
                        </a:rPr>
                        <a:t>10.79.79.205</a:t>
                      </a:r>
                    </a:p>
                  </a:txBody>
                  <a:tcPr marL="43815" marR="43815" marT="70104" marB="70104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65246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993948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60420" y="43618"/>
            <a:ext cx="471638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err="1"/>
              <a:t>Openstack</a:t>
            </a:r>
            <a:r>
              <a:rPr lang="en-US" b="1" dirty="0"/>
              <a:t> 2024.2 with </a:t>
            </a:r>
            <a:r>
              <a:rPr lang="en-US" b="1" dirty="0" err="1"/>
              <a:t>Kolla</a:t>
            </a:r>
            <a:r>
              <a:rPr lang="en-US" b="1" dirty="0"/>
              <a:t> </a:t>
            </a:r>
            <a:r>
              <a:rPr lang="en-US" b="1" dirty="0" err="1" smtClean="0"/>
              <a:t>Ansible</a:t>
            </a:r>
            <a:r>
              <a:rPr lang="en-US" b="1" dirty="0" smtClean="0"/>
              <a:t> </a:t>
            </a:r>
            <a:r>
              <a:rPr lang="en-US" b="1" dirty="0" smtClean="0">
                <a:solidFill>
                  <a:srgbClr val="002060"/>
                </a:solidFill>
              </a:rPr>
              <a:t>(</a:t>
            </a:r>
            <a:r>
              <a:rPr lang="en-US" b="1" dirty="0" err="1" smtClean="0">
                <a:solidFill>
                  <a:srgbClr val="002060"/>
                </a:solidFill>
              </a:rPr>
              <a:t>Cons’t</a:t>
            </a:r>
            <a:r>
              <a:rPr lang="en-US" b="1" dirty="0" smtClean="0">
                <a:solidFill>
                  <a:srgbClr val="002060"/>
                </a:solidFill>
              </a:rPr>
              <a:t>)</a:t>
            </a:r>
            <a:endParaRPr lang="en-US" b="1" dirty="0">
              <a:solidFill>
                <a:srgbClr val="002060"/>
              </a:solidFill>
            </a:endParaRPr>
          </a:p>
          <a:p>
            <a:pPr algn="just"/>
            <a:endParaRPr lang="en-US" sz="1400" dirty="0"/>
          </a:p>
        </p:txBody>
      </p:sp>
      <p:sp>
        <p:nvSpPr>
          <p:cNvPr id="6" name="Rectangle 5"/>
          <p:cNvSpPr/>
          <p:nvPr/>
        </p:nvSpPr>
        <p:spPr>
          <a:xfrm>
            <a:off x="232610" y="640156"/>
            <a:ext cx="3858127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>
                <a:solidFill>
                  <a:srgbClr val="002060"/>
                </a:solidFill>
              </a:rPr>
              <a:t>Interface mapping:</a:t>
            </a:r>
          </a:p>
          <a:p>
            <a:pPr algn="just"/>
            <a:endParaRPr lang="en-US" dirty="0"/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dirty="0"/>
              <a:t>eth0 for Public Network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dirty="0"/>
              <a:t>eth1 for Management Network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dirty="0"/>
              <a:t>eth2 for Storage Network with Jumbo frames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n-US" dirty="0"/>
              <a:t>eth4 for Tunnel/Self Service/Guest Network with Jumbo frames</a:t>
            </a:r>
          </a:p>
          <a:p>
            <a:pPr algn="just"/>
            <a:endParaRPr lang="en-US" dirty="0" smtClean="0"/>
          </a:p>
          <a:p>
            <a:pPr algn="just"/>
            <a:r>
              <a:rPr lang="en-US" dirty="0" smtClean="0"/>
              <a:t>We </a:t>
            </a:r>
            <a:r>
              <a:rPr lang="en-US" dirty="0"/>
              <a:t>can review network configuration in </a:t>
            </a:r>
            <a:r>
              <a:rPr lang="en-US" b="1" dirty="0">
                <a:solidFill>
                  <a:srgbClr val="002060"/>
                </a:solidFill>
              </a:rPr>
              <a:t>sample-</a:t>
            </a:r>
            <a:r>
              <a:rPr lang="en-US" b="1" dirty="0" err="1">
                <a:solidFill>
                  <a:srgbClr val="002060"/>
                </a:solidFill>
              </a:rPr>
              <a:t>netplan.yaml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109410" y="-1757"/>
            <a:ext cx="3858127" cy="50167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800" b="1" dirty="0">
                <a:solidFill>
                  <a:srgbClr val="002060"/>
                </a:solidFill>
              </a:rPr>
              <a:t>network: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version: 2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</a:t>
            </a:r>
            <a:r>
              <a:rPr lang="en-US" sz="800" b="1" dirty="0" err="1">
                <a:solidFill>
                  <a:srgbClr val="002060"/>
                </a:solidFill>
              </a:rPr>
              <a:t>ethernets</a:t>
            </a:r>
            <a:r>
              <a:rPr lang="en-US" sz="800" b="1" dirty="0">
                <a:solidFill>
                  <a:srgbClr val="002060"/>
                </a:solidFill>
              </a:rPr>
              <a:t>: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eth0: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match: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  </a:t>
            </a:r>
            <a:r>
              <a:rPr lang="en-US" sz="800" b="1" dirty="0" err="1">
                <a:solidFill>
                  <a:srgbClr val="002060"/>
                </a:solidFill>
              </a:rPr>
              <a:t>macaddress</a:t>
            </a:r>
            <a:r>
              <a:rPr lang="en-US" sz="800" b="1" dirty="0">
                <a:solidFill>
                  <a:srgbClr val="002060"/>
                </a:solidFill>
              </a:rPr>
              <a:t>: "BC:24:11:D3:02:2F"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set-name: "eth0"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critical: true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eth1: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match: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  </a:t>
            </a:r>
            <a:r>
              <a:rPr lang="en-US" sz="800" b="1" dirty="0" err="1">
                <a:solidFill>
                  <a:srgbClr val="002060"/>
                </a:solidFill>
              </a:rPr>
              <a:t>macaddress</a:t>
            </a:r>
            <a:r>
              <a:rPr lang="en-US" sz="800" b="1" dirty="0">
                <a:solidFill>
                  <a:srgbClr val="002060"/>
                </a:solidFill>
              </a:rPr>
              <a:t>: "BC:24:11:77:6F:A2"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set-name: "eth1"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addresses: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- "10.78.78.201/24"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</a:t>
            </a:r>
            <a:r>
              <a:rPr lang="en-US" sz="800" b="1" dirty="0" err="1">
                <a:solidFill>
                  <a:srgbClr val="002060"/>
                </a:solidFill>
              </a:rPr>
              <a:t>nameservers</a:t>
            </a:r>
            <a:r>
              <a:rPr lang="en-US" sz="800" b="1" dirty="0">
                <a:solidFill>
                  <a:srgbClr val="002060"/>
                </a:solidFill>
              </a:rPr>
              <a:t>: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  addresses: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  - 10.78.78.103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  - 10.78.78.104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  search: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  - </a:t>
            </a:r>
            <a:r>
              <a:rPr lang="en-US" sz="800" b="1" dirty="0" smtClean="0">
                <a:solidFill>
                  <a:srgbClr val="002060"/>
                </a:solidFill>
              </a:rPr>
              <a:t>Deploy.is-</a:t>
            </a:r>
            <a:r>
              <a:rPr lang="en-US" sz="800" b="1" dirty="0" err="1" smtClean="0">
                <a:solidFill>
                  <a:srgbClr val="002060"/>
                </a:solidFill>
              </a:rPr>
              <a:t>a.dev</a:t>
            </a:r>
            <a:endParaRPr lang="en-US" sz="800" b="1" dirty="0">
              <a:solidFill>
                <a:srgbClr val="002060"/>
              </a:solidFill>
            </a:endParaRP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routes: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- to: "default"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  via: "10.78.78.254"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critical: true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eth2: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match: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  </a:t>
            </a:r>
            <a:r>
              <a:rPr lang="en-US" sz="800" b="1" dirty="0" err="1">
                <a:solidFill>
                  <a:srgbClr val="002060"/>
                </a:solidFill>
              </a:rPr>
              <a:t>macaddress</a:t>
            </a:r>
            <a:r>
              <a:rPr lang="en-US" sz="800" b="1" dirty="0">
                <a:solidFill>
                  <a:srgbClr val="002060"/>
                </a:solidFill>
              </a:rPr>
              <a:t>: "BC:24:11:D6:06:52"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set-name: "eth2"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addresses: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- "10.79.79.201/24"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critical: true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</a:t>
            </a:r>
            <a:r>
              <a:rPr lang="en-US" sz="800" b="1" dirty="0" err="1">
                <a:solidFill>
                  <a:srgbClr val="002060"/>
                </a:solidFill>
              </a:rPr>
              <a:t>mtu</a:t>
            </a:r>
            <a:r>
              <a:rPr lang="en-US" sz="800" b="1" dirty="0">
                <a:solidFill>
                  <a:srgbClr val="002060"/>
                </a:solidFill>
              </a:rPr>
              <a:t>: 9000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eth3: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match: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  </a:t>
            </a:r>
            <a:r>
              <a:rPr lang="en-US" sz="800" b="1" dirty="0" err="1">
                <a:solidFill>
                  <a:srgbClr val="002060"/>
                </a:solidFill>
              </a:rPr>
              <a:t>macaddress</a:t>
            </a:r>
            <a:r>
              <a:rPr lang="en-US" sz="800" b="1" dirty="0">
                <a:solidFill>
                  <a:srgbClr val="002060"/>
                </a:solidFill>
              </a:rPr>
              <a:t>: "BC:24:11:EF:59:FD"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set-name: "eth3"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addresses: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- "10.79.80.201/24"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critical: true</a:t>
            </a:r>
          </a:p>
          <a:p>
            <a:pPr algn="just"/>
            <a:r>
              <a:rPr lang="en-US" sz="800" b="1" dirty="0">
                <a:solidFill>
                  <a:srgbClr val="002060"/>
                </a:solidFill>
              </a:rPr>
              <a:t>      </a:t>
            </a:r>
            <a:r>
              <a:rPr lang="en-US" sz="800" b="1" dirty="0" err="1">
                <a:solidFill>
                  <a:srgbClr val="002060"/>
                </a:solidFill>
              </a:rPr>
              <a:t>mtu</a:t>
            </a:r>
            <a:r>
              <a:rPr lang="en-US" sz="800" b="1" dirty="0">
                <a:solidFill>
                  <a:srgbClr val="002060"/>
                </a:solidFill>
              </a:rPr>
              <a:t>: 9000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7568" y="3637279"/>
            <a:ext cx="4002505" cy="153961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600073" y="-2514"/>
            <a:ext cx="3886200" cy="5017515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6733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60420" y="43618"/>
            <a:ext cx="471638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err="1"/>
              <a:t>Openstack</a:t>
            </a:r>
            <a:r>
              <a:rPr lang="en-US" b="1" dirty="0"/>
              <a:t> 2024.2 with </a:t>
            </a:r>
            <a:r>
              <a:rPr lang="en-US" b="1" dirty="0" err="1"/>
              <a:t>Kolla</a:t>
            </a:r>
            <a:r>
              <a:rPr lang="en-US" b="1" dirty="0"/>
              <a:t> </a:t>
            </a:r>
            <a:r>
              <a:rPr lang="en-US" b="1" dirty="0" err="1" smtClean="0"/>
              <a:t>Ansible</a:t>
            </a:r>
            <a:r>
              <a:rPr lang="en-US" b="1" dirty="0" smtClean="0"/>
              <a:t> </a:t>
            </a:r>
            <a:r>
              <a:rPr lang="en-US" b="1" dirty="0" smtClean="0">
                <a:solidFill>
                  <a:srgbClr val="002060"/>
                </a:solidFill>
              </a:rPr>
              <a:t>(</a:t>
            </a:r>
            <a:r>
              <a:rPr lang="en-US" b="1" dirty="0" err="1" smtClean="0">
                <a:solidFill>
                  <a:srgbClr val="002060"/>
                </a:solidFill>
              </a:rPr>
              <a:t>Cons’t</a:t>
            </a:r>
            <a:r>
              <a:rPr lang="en-US" b="1" dirty="0" smtClean="0">
                <a:solidFill>
                  <a:srgbClr val="002060"/>
                </a:solidFill>
              </a:rPr>
              <a:t>)</a:t>
            </a:r>
            <a:endParaRPr lang="en-US" b="1" dirty="0">
              <a:solidFill>
                <a:srgbClr val="002060"/>
              </a:solidFill>
            </a:endParaRPr>
          </a:p>
          <a:p>
            <a:pPr algn="just"/>
            <a:endParaRPr lang="en-US" sz="1400" dirty="0"/>
          </a:p>
        </p:txBody>
      </p:sp>
      <p:sp>
        <p:nvSpPr>
          <p:cNvPr id="6" name="Rectangle 5"/>
          <p:cNvSpPr/>
          <p:nvPr/>
        </p:nvSpPr>
        <p:spPr>
          <a:xfrm>
            <a:off x="160420" y="640156"/>
            <a:ext cx="385812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>
                <a:solidFill>
                  <a:srgbClr val="002060"/>
                </a:solidFill>
              </a:rPr>
              <a:t>Installing NFS Server for Glance Service in </a:t>
            </a:r>
            <a:r>
              <a:rPr lang="en-US" b="1" dirty="0" smtClean="0">
                <a:solidFill>
                  <a:srgbClr val="002060"/>
                </a:solidFill>
              </a:rPr>
              <a:t>GPU01adm01 </a:t>
            </a:r>
            <a:r>
              <a:rPr lang="en-US" b="1" dirty="0">
                <a:solidFill>
                  <a:srgbClr val="002060"/>
                </a:solidFill>
              </a:rPr>
              <a:t>node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226592" y="3233234"/>
            <a:ext cx="3167816" cy="146957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98519" y="1286487"/>
            <a:ext cx="4197018" cy="10618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900" dirty="0" err="1">
                <a:solidFill>
                  <a:srgbClr val="0070C0"/>
                </a:solidFill>
              </a:rPr>
              <a:t>sudo</a:t>
            </a:r>
            <a:r>
              <a:rPr lang="en-US" sz="900" dirty="0">
                <a:solidFill>
                  <a:srgbClr val="0070C0"/>
                </a:solidFill>
              </a:rPr>
              <a:t> apt update</a:t>
            </a:r>
          </a:p>
          <a:p>
            <a:pPr algn="just"/>
            <a:r>
              <a:rPr lang="en-US" sz="900" dirty="0" err="1">
                <a:solidFill>
                  <a:srgbClr val="0070C0"/>
                </a:solidFill>
              </a:rPr>
              <a:t>sudo</a:t>
            </a:r>
            <a:r>
              <a:rPr lang="en-US" sz="900" dirty="0">
                <a:solidFill>
                  <a:srgbClr val="0070C0"/>
                </a:solidFill>
              </a:rPr>
              <a:t> apt install </a:t>
            </a:r>
            <a:r>
              <a:rPr lang="en-US" sz="900" dirty="0" err="1">
                <a:solidFill>
                  <a:srgbClr val="0070C0"/>
                </a:solidFill>
              </a:rPr>
              <a:t>nfs</a:t>
            </a:r>
            <a:r>
              <a:rPr lang="en-US" sz="900" dirty="0">
                <a:solidFill>
                  <a:srgbClr val="0070C0"/>
                </a:solidFill>
              </a:rPr>
              <a:t>-kernel-server</a:t>
            </a:r>
          </a:p>
          <a:p>
            <a:pPr algn="just"/>
            <a:r>
              <a:rPr lang="en-US" sz="900" dirty="0" err="1">
                <a:solidFill>
                  <a:srgbClr val="0070C0"/>
                </a:solidFill>
              </a:rPr>
              <a:t>sudo</a:t>
            </a:r>
            <a:r>
              <a:rPr lang="en-US" sz="900" dirty="0">
                <a:solidFill>
                  <a:srgbClr val="0070C0"/>
                </a:solidFill>
              </a:rPr>
              <a:t> </a:t>
            </a:r>
            <a:r>
              <a:rPr lang="en-US" sz="900" dirty="0" err="1">
                <a:solidFill>
                  <a:srgbClr val="0070C0"/>
                </a:solidFill>
              </a:rPr>
              <a:t>mkdir</a:t>
            </a:r>
            <a:r>
              <a:rPr lang="en-US" sz="900" dirty="0">
                <a:solidFill>
                  <a:srgbClr val="0070C0"/>
                </a:solidFill>
              </a:rPr>
              <a:t> -p /data</a:t>
            </a:r>
          </a:p>
          <a:p>
            <a:pPr algn="just"/>
            <a:r>
              <a:rPr lang="en-US" sz="900" dirty="0" err="1">
                <a:solidFill>
                  <a:srgbClr val="0070C0"/>
                </a:solidFill>
              </a:rPr>
              <a:t>sudo</a:t>
            </a:r>
            <a:r>
              <a:rPr lang="en-US" sz="900" dirty="0">
                <a:solidFill>
                  <a:srgbClr val="0070C0"/>
                </a:solidFill>
              </a:rPr>
              <a:t> </a:t>
            </a:r>
            <a:r>
              <a:rPr lang="en-US" sz="900" dirty="0" err="1">
                <a:solidFill>
                  <a:srgbClr val="0070C0"/>
                </a:solidFill>
              </a:rPr>
              <a:t>chown</a:t>
            </a:r>
            <a:r>
              <a:rPr lang="en-US" sz="900" dirty="0">
                <a:solidFill>
                  <a:srgbClr val="0070C0"/>
                </a:solidFill>
              </a:rPr>
              <a:t> </a:t>
            </a:r>
            <a:r>
              <a:rPr lang="en-US" sz="900" dirty="0" err="1">
                <a:solidFill>
                  <a:srgbClr val="0070C0"/>
                </a:solidFill>
              </a:rPr>
              <a:t>nobody:nogroup</a:t>
            </a:r>
            <a:r>
              <a:rPr lang="en-US" sz="900" dirty="0">
                <a:solidFill>
                  <a:srgbClr val="0070C0"/>
                </a:solidFill>
              </a:rPr>
              <a:t> /data</a:t>
            </a:r>
          </a:p>
          <a:p>
            <a:pPr algn="just"/>
            <a:r>
              <a:rPr lang="en-US" sz="900" dirty="0">
                <a:solidFill>
                  <a:srgbClr val="0070C0"/>
                </a:solidFill>
              </a:rPr>
              <a:t>echo "/data *(</a:t>
            </a:r>
            <a:r>
              <a:rPr lang="en-US" sz="900" dirty="0" err="1">
                <a:solidFill>
                  <a:srgbClr val="0070C0"/>
                </a:solidFill>
              </a:rPr>
              <a:t>rw,sync,no_subtree_check</a:t>
            </a:r>
            <a:r>
              <a:rPr lang="en-US" sz="900" dirty="0">
                <a:solidFill>
                  <a:srgbClr val="0070C0"/>
                </a:solidFill>
              </a:rPr>
              <a:t>)" &gt;&gt; /</a:t>
            </a:r>
            <a:r>
              <a:rPr lang="en-US" sz="900" dirty="0" err="1">
                <a:solidFill>
                  <a:srgbClr val="0070C0"/>
                </a:solidFill>
              </a:rPr>
              <a:t>etc</a:t>
            </a:r>
            <a:r>
              <a:rPr lang="en-US" sz="900" dirty="0">
                <a:solidFill>
                  <a:srgbClr val="0070C0"/>
                </a:solidFill>
              </a:rPr>
              <a:t>/exports</a:t>
            </a:r>
          </a:p>
          <a:p>
            <a:pPr algn="just"/>
            <a:r>
              <a:rPr lang="en-US" sz="900" dirty="0" err="1">
                <a:solidFill>
                  <a:srgbClr val="0070C0"/>
                </a:solidFill>
              </a:rPr>
              <a:t>sudo</a:t>
            </a:r>
            <a:r>
              <a:rPr lang="en-US" sz="900" dirty="0">
                <a:solidFill>
                  <a:srgbClr val="0070C0"/>
                </a:solidFill>
              </a:rPr>
              <a:t> </a:t>
            </a:r>
            <a:r>
              <a:rPr lang="en-US" sz="900" dirty="0" err="1">
                <a:solidFill>
                  <a:srgbClr val="0070C0"/>
                </a:solidFill>
              </a:rPr>
              <a:t>systemctl</a:t>
            </a:r>
            <a:r>
              <a:rPr lang="en-US" sz="900" dirty="0">
                <a:solidFill>
                  <a:srgbClr val="0070C0"/>
                </a:solidFill>
              </a:rPr>
              <a:t> restart </a:t>
            </a:r>
            <a:r>
              <a:rPr lang="en-US" sz="900" dirty="0" err="1">
                <a:solidFill>
                  <a:srgbClr val="0070C0"/>
                </a:solidFill>
              </a:rPr>
              <a:t>nfs</a:t>
            </a:r>
            <a:r>
              <a:rPr lang="en-US" sz="900" dirty="0">
                <a:solidFill>
                  <a:srgbClr val="0070C0"/>
                </a:solidFill>
              </a:rPr>
              <a:t>-kernel-server</a:t>
            </a:r>
          </a:p>
          <a:p>
            <a:pPr algn="just"/>
            <a:r>
              <a:rPr lang="en-US" sz="900" dirty="0" err="1">
                <a:solidFill>
                  <a:srgbClr val="0070C0"/>
                </a:solidFill>
              </a:rPr>
              <a:t>sudo</a:t>
            </a:r>
            <a:r>
              <a:rPr lang="en-US" sz="900" dirty="0">
                <a:solidFill>
                  <a:srgbClr val="0070C0"/>
                </a:solidFill>
              </a:rPr>
              <a:t> </a:t>
            </a:r>
            <a:r>
              <a:rPr lang="en-US" sz="900" dirty="0" err="1">
                <a:solidFill>
                  <a:srgbClr val="0070C0"/>
                </a:solidFill>
              </a:rPr>
              <a:t>exportfs</a:t>
            </a:r>
            <a:r>
              <a:rPr lang="en-US" sz="900" dirty="0">
                <a:solidFill>
                  <a:srgbClr val="0070C0"/>
                </a:solidFill>
              </a:rPr>
              <a:t> -v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8519" y="1286488"/>
            <a:ext cx="3195889" cy="1084851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60419" y="2671482"/>
            <a:ext cx="3858127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>
                <a:solidFill>
                  <a:srgbClr val="002060"/>
                </a:solidFill>
              </a:rPr>
              <a:t>Execute in all nodes</a:t>
            </a:r>
          </a:p>
          <a:p>
            <a:pPr algn="just"/>
            <a:r>
              <a:rPr lang="en-US" sz="1400" b="1" dirty="0" smtClean="0"/>
              <a:t>Mapping </a:t>
            </a:r>
            <a:r>
              <a:rPr lang="en-US" sz="1400" b="1" dirty="0"/>
              <a:t>static hostname in /</a:t>
            </a:r>
            <a:r>
              <a:rPr lang="en-US" sz="1400" b="1" dirty="0" err="1"/>
              <a:t>etc</a:t>
            </a:r>
            <a:r>
              <a:rPr lang="en-US" sz="1400" b="1" dirty="0"/>
              <a:t>/hosts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8519" y="3256257"/>
            <a:ext cx="3376864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0070C0"/>
                </a:solidFill>
              </a:rPr>
              <a:t>cat &lt;&lt;EOF | tee -a /</a:t>
            </a:r>
            <a:r>
              <a:rPr lang="en-US" sz="800" dirty="0" err="1">
                <a:solidFill>
                  <a:srgbClr val="0070C0"/>
                </a:solidFill>
              </a:rPr>
              <a:t>etc</a:t>
            </a:r>
            <a:r>
              <a:rPr lang="en-US" sz="800" dirty="0">
                <a:solidFill>
                  <a:srgbClr val="0070C0"/>
                </a:solidFill>
              </a:rPr>
              <a:t>/hosts</a:t>
            </a:r>
          </a:p>
          <a:p>
            <a:r>
              <a:rPr lang="en-US" sz="800" dirty="0">
                <a:solidFill>
                  <a:srgbClr val="0070C0"/>
                </a:solidFill>
              </a:rPr>
              <a:t>10.78.78.199 </a:t>
            </a:r>
            <a:r>
              <a:rPr lang="en-US" sz="800" dirty="0" smtClean="0">
                <a:solidFill>
                  <a:srgbClr val="0070C0"/>
                </a:solidFill>
              </a:rPr>
              <a:t>GPU01adm01 GPU01adm01.Deploy.is-a.dev</a:t>
            </a:r>
            <a:endParaRPr lang="en-US" sz="800" dirty="0">
              <a:solidFill>
                <a:srgbClr val="0070C0"/>
              </a:solidFill>
            </a:endParaRPr>
          </a:p>
          <a:p>
            <a:r>
              <a:rPr lang="en-US" sz="800" dirty="0">
                <a:solidFill>
                  <a:srgbClr val="0070C0"/>
                </a:solidFill>
              </a:rPr>
              <a:t>10.78.78.201 </a:t>
            </a:r>
            <a:r>
              <a:rPr lang="en-US" sz="800" dirty="0" smtClean="0">
                <a:solidFill>
                  <a:srgbClr val="0070C0"/>
                </a:solidFill>
              </a:rPr>
              <a:t>GPU01con01 GPU01con01.Deploy.is-a.dev</a:t>
            </a:r>
            <a:endParaRPr lang="en-US" sz="800" dirty="0">
              <a:solidFill>
                <a:srgbClr val="0070C0"/>
              </a:solidFill>
            </a:endParaRPr>
          </a:p>
          <a:p>
            <a:r>
              <a:rPr lang="en-US" sz="800" dirty="0">
                <a:solidFill>
                  <a:srgbClr val="0070C0"/>
                </a:solidFill>
              </a:rPr>
              <a:t>10.78.78.202 </a:t>
            </a:r>
            <a:r>
              <a:rPr lang="en-US" sz="800" dirty="0" smtClean="0">
                <a:solidFill>
                  <a:srgbClr val="0070C0"/>
                </a:solidFill>
              </a:rPr>
              <a:t>GPU01con02 GPU01con02.Deploy.is-a.dev</a:t>
            </a:r>
            <a:endParaRPr lang="en-US" sz="800" dirty="0">
              <a:solidFill>
                <a:srgbClr val="0070C0"/>
              </a:solidFill>
            </a:endParaRPr>
          </a:p>
          <a:p>
            <a:r>
              <a:rPr lang="en-US" sz="800" dirty="0">
                <a:solidFill>
                  <a:srgbClr val="0070C0"/>
                </a:solidFill>
              </a:rPr>
              <a:t>10.78.78.203 </a:t>
            </a:r>
            <a:r>
              <a:rPr lang="en-US" sz="800" dirty="0" smtClean="0">
                <a:solidFill>
                  <a:srgbClr val="0070C0"/>
                </a:solidFill>
              </a:rPr>
              <a:t>GPU01con02 GPU01con03.Deploy.is-a.dev</a:t>
            </a:r>
            <a:endParaRPr lang="en-US" sz="800" dirty="0">
              <a:solidFill>
                <a:srgbClr val="0070C0"/>
              </a:solidFill>
            </a:endParaRPr>
          </a:p>
          <a:p>
            <a:r>
              <a:rPr lang="en-US" sz="800" dirty="0">
                <a:solidFill>
                  <a:srgbClr val="0070C0"/>
                </a:solidFill>
              </a:rPr>
              <a:t>10.78.78.204 </a:t>
            </a:r>
            <a:r>
              <a:rPr lang="en-US" sz="800" dirty="0" smtClean="0">
                <a:solidFill>
                  <a:srgbClr val="0070C0"/>
                </a:solidFill>
              </a:rPr>
              <a:t>GPU01hpv01 GPU01hpv01.Deploy.is-a.dev</a:t>
            </a:r>
            <a:endParaRPr lang="en-US" sz="800" dirty="0">
              <a:solidFill>
                <a:srgbClr val="0070C0"/>
              </a:solidFill>
            </a:endParaRPr>
          </a:p>
          <a:p>
            <a:r>
              <a:rPr lang="en-US" sz="800" dirty="0">
                <a:solidFill>
                  <a:srgbClr val="0070C0"/>
                </a:solidFill>
              </a:rPr>
              <a:t>10.78.78.205 </a:t>
            </a:r>
            <a:r>
              <a:rPr lang="en-US" sz="800" dirty="0" smtClean="0">
                <a:solidFill>
                  <a:srgbClr val="0070C0"/>
                </a:solidFill>
              </a:rPr>
              <a:t>GPU01hpv02 GPU01hpv02.Deploy.is-a.dev</a:t>
            </a:r>
            <a:endParaRPr lang="en-US" sz="800" dirty="0">
              <a:solidFill>
                <a:srgbClr val="0070C0"/>
              </a:solidFill>
            </a:endParaRPr>
          </a:p>
          <a:p>
            <a:endParaRPr lang="en-US" sz="800" dirty="0">
              <a:solidFill>
                <a:srgbClr val="0070C0"/>
              </a:solidFill>
            </a:endParaRPr>
          </a:p>
          <a:p>
            <a:r>
              <a:rPr lang="en-US" sz="800" dirty="0">
                <a:solidFill>
                  <a:srgbClr val="0070C0"/>
                </a:solidFill>
              </a:rPr>
              <a:t>10.78.78.200 </a:t>
            </a:r>
            <a:r>
              <a:rPr lang="en-US" sz="800" dirty="0" err="1">
                <a:solidFill>
                  <a:srgbClr val="0070C0"/>
                </a:solidFill>
              </a:rPr>
              <a:t>os-int</a:t>
            </a:r>
            <a:endParaRPr lang="en-US" sz="800" dirty="0">
              <a:solidFill>
                <a:srgbClr val="0070C0"/>
              </a:solidFill>
            </a:endParaRPr>
          </a:p>
          <a:p>
            <a:r>
              <a:rPr lang="en-US" sz="800" dirty="0">
                <a:solidFill>
                  <a:srgbClr val="0070C0"/>
                </a:solidFill>
              </a:rPr>
              <a:t>10.78.78.100 </a:t>
            </a:r>
            <a:r>
              <a:rPr lang="en-US" sz="800" dirty="0" err="1">
                <a:solidFill>
                  <a:srgbClr val="0070C0"/>
                </a:solidFill>
              </a:rPr>
              <a:t>os-ext</a:t>
            </a:r>
            <a:endParaRPr lang="en-US" sz="800" dirty="0">
              <a:solidFill>
                <a:srgbClr val="0070C0"/>
              </a:solidFill>
            </a:endParaRPr>
          </a:p>
          <a:p>
            <a:r>
              <a:rPr lang="en-US" sz="800" dirty="0">
                <a:solidFill>
                  <a:srgbClr val="0070C0"/>
                </a:solidFill>
              </a:rPr>
              <a:t>EOF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73738" y="901766"/>
            <a:ext cx="4536909" cy="484688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4379493" y="628393"/>
            <a:ext cx="385812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b="1" dirty="0">
                <a:solidFill>
                  <a:srgbClr val="002060"/>
                </a:solidFill>
              </a:rPr>
              <a:t>Install packages and dependencies</a:t>
            </a:r>
            <a:endParaRPr lang="en-US" sz="1400" b="1" dirty="0">
              <a:solidFill>
                <a:srgbClr val="002060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445665" y="924789"/>
            <a:ext cx="456498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800" dirty="0" err="1">
                <a:solidFill>
                  <a:srgbClr val="0070C0"/>
                </a:solidFill>
              </a:rPr>
              <a:t>sudo</a:t>
            </a:r>
            <a:r>
              <a:rPr lang="en-US" sz="800" dirty="0">
                <a:solidFill>
                  <a:srgbClr val="0070C0"/>
                </a:solidFill>
              </a:rPr>
              <a:t> apt install -y </a:t>
            </a:r>
            <a:r>
              <a:rPr lang="en-US" sz="800" dirty="0" err="1">
                <a:solidFill>
                  <a:srgbClr val="0070C0"/>
                </a:solidFill>
              </a:rPr>
              <a:t>git</a:t>
            </a:r>
            <a:r>
              <a:rPr lang="en-US" sz="800" dirty="0">
                <a:solidFill>
                  <a:srgbClr val="0070C0"/>
                </a:solidFill>
              </a:rPr>
              <a:t> </a:t>
            </a:r>
            <a:r>
              <a:rPr lang="en-US" sz="800" dirty="0" err="1">
                <a:solidFill>
                  <a:srgbClr val="0070C0"/>
                </a:solidFill>
              </a:rPr>
              <a:t>gcc</a:t>
            </a:r>
            <a:r>
              <a:rPr lang="en-US" sz="800" dirty="0">
                <a:solidFill>
                  <a:srgbClr val="0070C0"/>
                </a:solidFill>
              </a:rPr>
              <a:t> </a:t>
            </a:r>
            <a:r>
              <a:rPr lang="en-US" sz="800" dirty="0" err="1">
                <a:solidFill>
                  <a:srgbClr val="0070C0"/>
                </a:solidFill>
              </a:rPr>
              <a:t>libssl</a:t>
            </a:r>
            <a:r>
              <a:rPr lang="en-US" sz="800" dirty="0">
                <a:solidFill>
                  <a:srgbClr val="0070C0"/>
                </a:solidFill>
              </a:rPr>
              <a:t>-dev </a:t>
            </a:r>
            <a:r>
              <a:rPr lang="en-US" sz="800" dirty="0" err="1">
                <a:solidFill>
                  <a:srgbClr val="0070C0"/>
                </a:solidFill>
              </a:rPr>
              <a:t>libffi</a:t>
            </a:r>
            <a:r>
              <a:rPr lang="en-US" sz="800" dirty="0">
                <a:solidFill>
                  <a:srgbClr val="0070C0"/>
                </a:solidFill>
              </a:rPr>
              <a:t>-dev \</a:t>
            </a:r>
          </a:p>
          <a:p>
            <a:r>
              <a:rPr lang="en-US" sz="800" dirty="0">
                <a:solidFill>
                  <a:srgbClr val="0070C0"/>
                </a:solidFill>
              </a:rPr>
              <a:t> python3-venv python3-dev python3-selinux python3-setuptools \</a:t>
            </a:r>
          </a:p>
          <a:p>
            <a:r>
              <a:rPr lang="en-US" sz="800" dirty="0">
                <a:solidFill>
                  <a:srgbClr val="0070C0"/>
                </a:solidFill>
              </a:rPr>
              <a:t> python3-pip python3-docker </a:t>
            </a:r>
            <a:r>
              <a:rPr lang="en-US" sz="800" dirty="0" err="1">
                <a:solidFill>
                  <a:srgbClr val="0070C0"/>
                </a:solidFill>
              </a:rPr>
              <a:t>nfs</a:t>
            </a:r>
            <a:r>
              <a:rPr lang="en-US" sz="800" dirty="0">
                <a:solidFill>
                  <a:srgbClr val="0070C0"/>
                </a:solidFill>
              </a:rPr>
              <a:t>-common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73738" y="1779311"/>
            <a:ext cx="4536911" cy="484688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4379493" y="1505938"/>
            <a:ext cx="385812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b="1" dirty="0">
                <a:solidFill>
                  <a:srgbClr val="002060"/>
                </a:solidFill>
              </a:rPr>
              <a:t>Mount </a:t>
            </a:r>
            <a:r>
              <a:rPr lang="en-US" sz="1400" b="1" dirty="0" err="1">
                <a:solidFill>
                  <a:srgbClr val="002060"/>
                </a:solidFill>
              </a:rPr>
              <a:t>nfs</a:t>
            </a:r>
            <a:r>
              <a:rPr lang="en-US" sz="1400" b="1" dirty="0">
                <a:solidFill>
                  <a:srgbClr val="002060"/>
                </a:solidFill>
              </a:rPr>
              <a:t> volume for all node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45665" y="1802334"/>
            <a:ext cx="45649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800" dirty="0" err="1">
                <a:solidFill>
                  <a:srgbClr val="0070C0"/>
                </a:solidFill>
              </a:rPr>
              <a:t>sudo</a:t>
            </a:r>
            <a:r>
              <a:rPr lang="en-US" sz="800" dirty="0">
                <a:solidFill>
                  <a:srgbClr val="0070C0"/>
                </a:solidFill>
              </a:rPr>
              <a:t> </a:t>
            </a:r>
            <a:r>
              <a:rPr lang="en-US" sz="800" dirty="0" err="1">
                <a:solidFill>
                  <a:srgbClr val="0070C0"/>
                </a:solidFill>
              </a:rPr>
              <a:t>mkdir</a:t>
            </a:r>
            <a:r>
              <a:rPr lang="en-US" sz="800" dirty="0">
                <a:solidFill>
                  <a:srgbClr val="0070C0"/>
                </a:solidFill>
              </a:rPr>
              <a:t> /data cat &lt;&lt;EOF | </a:t>
            </a:r>
            <a:r>
              <a:rPr lang="en-US" sz="800" dirty="0" err="1">
                <a:solidFill>
                  <a:srgbClr val="0070C0"/>
                </a:solidFill>
              </a:rPr>
              <a:t>sudo</a:t>
            </a:r>
            <a:r>
              <a:rPr lang="en-US" sz="800" dirty="0">
                <a:solidFill>
                  <a:srgbClr val="0070C0"/>
                </a:solidFill>
              </a:rPr>
              <a:t> tee -a /</a:t>
            </a:r>
            <a:r>
              <a:rPr lang="en-US" sz="800" dirty="0" err="1">
                <a:solidFill>
                  <a:srgbClr val="0070C0"/>
                </a:solidFill>
              </a:rPr>
              <a:t>etc</a:t>
            </a:r>
            <a:r>
              <a:rPr lang="en-US" sz="800" dirty="0">
                <a:solidFill>
                  <a:srgbClr val="0070C0"/>
                </a:solidFill>
              </a:rPr>
              <a:t>/</a:t>
            </a:r>
            <a:r>
              <a:rPr lang="en-US" sz="800" dirty="0" err="1">
                <a:solidFill>
                  <a:srgbClr val="0070C0"/>
                </a:solidFill>
              </a:rPr>
              <a:t>fstab</a:t>
            </a:r>
            <a:r>
              <a:rPr lang="en-US" sz="800" dirty="0">
                <a:solidFill>
                  <a:srgbClr val="0070C0"/>
                </a:solidFill>
              </a:rPr>
              <a:t> 10.78.78.199:/data /data </a:t>
            </a:r>
            <a:r>
              <a:rPr lang="en-US" sz="800" dirty="0" err="1">
                <a:solidFill>
                  <a:srgbClr val="0070C0"/>
                </a:solidFill>
              </a:rPr>
              <a:t>nfs</a:t>
            </a:r>
            <a:r>
              <a:rPr lang="en-US" sz="800" dirty="0">
                <a:solidFill>
                  <a:srgbClr val="0070C0"/>
                </a:solidFill>
              </a:rPr>
              <a:t> defaults,_</a:t>
            </a:r>
            <a:r>
              <a:rPr lang="en-US" sz="800" dirty="0" err="1">
                <a:solidFill>
                  <a:srgbClr val="0070C0"/>
                </a:solidFill>
              </a:rPr>
              <a:t>netdev</a:t>
            </a:r>
            <a:r>
              <a:rPr lang="en-US" sz="800" dirty="0">
                <a:solidFill>
                  <a:srgbClr val="0070C0"/>
                </a:solidFill>
              </a:rPr>
              <a:t> 0 0 </a:t>
            </a:r>
            <a:r>
              <a:rPr lang="en-US" sz="800" dirty="0" smtClean="0">
                <a:solidFill>
                  <a:srgbClr val="0070C0"/>
                </a:solidFill>
              </a:rPr>
              <a:t>EOF</a:t>
            </a:r>
          </a:p>
          <a:p>
            <a:r>
              <a:rPr lang="en-US" sz="800" dirty="0" smtClean="0">
                <a:solidFill>
                  <a:srgbClr val="0070C0"/>
                </a:solidFill>
              </a:rPr>
              <a:t> </a:t>
            </a:r>
            <a:r>
              <a:rPr lang="en-US" sz="800" dirty="0" err="1">
                <a:solidFill>
                  <a:srgbClr val="0070C0"/>
                </a:solidFill>
              </a:rPr>
              <a:t>sudo</a:t>
            </a:r>
            <a:r>
              <a:rPr lang="en-US" sz="800" dirty="0">
                <a:solidFill>
                  <a:srgbClr val="0070C0"/>
                </a:solidFill>
              </a:rPr>
              <a:t> mount /data</a:t>
            </a:r>
            <a:endParaRPr lang="en-US" sz="800" dirty="0">
              <a:solidFill>
                <a:srgbClr val="0070C0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473738" y="2506229"/>
            <a:ext cx="4536908" cy="598119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4379492" y="2240975"/>
            <a:ext cx="385812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b="1" dirty="0">
                <a:solidFill>
                  <a:srgbClr val="002060"/>
                </a:solidFill>
              </a:rPr>
              <a:t>Create virtual environment for </a:t>
            </a:r>
            <a:r>
              <a:rPr lang="en-US" sz="1400" b="1" dirty="0" err="1">
                <a:solidFill>
                  <a:srgbClr val="002060"/>
                </a:solidFill>
              </a:rPr>
              <a:t>kolla-ansible</a:t>
            </a:r>
            <a:endParaRPr lang="en-US" sz="1400" b="1" dirty="0">
              <a:solidFill>
                <a:srgbClr val="002060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445665" y="2458017"/>
            <a:ext cx="337686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70C0"/>
                </a:solidFill>
              </a:rPr>
              <a:t>python3 -m </a:t>
            </a:r>
            <a:r>
              <a:rPr lang="en-US" sz="900" dirty="0" err="1">
                <a:solidFill>
                  <a:srgbClr val="0070C0"/>
                </a:solidFill>
              </a:rPr>
              <a:t>venv</a:t>
            </a:r>
            <a:r>
              <a:rPr lang="en-US" sz="900" dirty="0">
                <a:solidFill>
                  <a:srgbClr val="0070C0"/>
                </a:solidFill>
              </a:rPr>
              <a:t> </a:t>
            </a:r>
            <a:r>
              <a:rPr lang="en-US" sz="900" dirty="0" err="1">
                <a:solidFill>
                  <a:srgbClr val="0070C0"/>
                </a:solidFill>
              </a:rPr>
              <a:t>kolla-venv</a:t>
            </a:r>
            <a:r>
              <a:rPr lang="en-US" sz="900" dirty="0">
                <a:solidFill>
                  <a:srgbClr val="0070C0"/>
                </a:solidFill>
              </a:rPr>
              <a:t> </a:t>
            </a:r>
            <a:endParaRPr lang="en-US" sz="900" dirty="0" smtClean="0">
              <a:solidFill>
                <a:srgbClr val="0070C0"/>
              </a:solidFill>
            </a:endParaRPr>
          </a:p>
          <a:p>
            <a:r>
              <a:rPr lang="en-US" sz="900" dirty="0" smtClean="0">
                <a:solidFill>
                  <a:srgbClr val="0070C0"/>
                </a:solidFill>
              </a:rPr>
              <a:t>cd </a:t>
            </a:r>
            <a:r>
              <a:rPr lang="en-US" sz="900" dirty="0" err="1">
                <a:solidFill>
                  <a:srgbClr val="0070C0"/>
                </a:solidFill>
              </a:rPr>
              <a:t>kolla-venv</a:t>
            </a:r>
            <a:r>
              <a:rPr lang="en-US" sz="900" dirty="0">
                <a:solidFill>
                  <a:srgbClr val="0070C0"/>
                </a:solidFill>
              </a:rPr>
              <a:t> </a:t>
            </a:r>
            <a:endParaRPr lang="en-US" sz="900" dirty="0" smtClean="0">
              <a:solidFill>
                <a:srgbClr val="0070C0"/>
              </a:solidFill>
            </a:endParaRPr>
          </a:p>
          <a:p>
            <a:r>
              <a:rPr lang="en-US" sz="900" dirty="0" smtClean="0">
                <a:solidFill>
                  <a:srgbClr val="0070C0"/>
                </a:solidFill>
              </a:rPr>
              <a:t>source bin/activate</a:t>
            </a:r>
          </a:p>
          <a:p>
            <a:r>
              <a:rPr lang="en-US" sz="900" dirty="0" smtClean="0">
                <a:solidFill>
                  <a:srgbClr val="0070C0"/>
                </a:solidFill>
              </a:rPr>
              <a:t> </a:t>
            </a:r>
            <a:r>
              <a:rPr lang="en-US" sz="900" dirty="0" err="1">
                <a:solidFill>
                  <a:srgbClr val="0070C0"/>
                </a:solidFill>
              </a:rPr>
              <a:t>pwd</a:t>
            </a:r>
            <a:endParaRPr lang="en-US" sz="900" dirty="0">
              <a:solidFill>
                <a:srgbClr val="0070C0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475740" y="4219442"/>
            <a:ext cx="3398920" cy="31082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4395537" y="3911665"/>
            <a:ext cx="38581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/>
              <a:t>Update pip and install </a:t>
            </a:r>
            <a:r>
              <a:rPr lang="en-US" dirty="0" err="1"/>
              <a:t>ansible</a:t>
            </a:r>
            <a:endParaRPr lang="en-US" sz="1400" b="1" dirty="0">
              <a:solidFill>
                <a:srgbClr val="002060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457694" y="4253267"/>
            <a:ext cx="337686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70C0"/>
                </a:solidFill>
              </a:rPr>
              <a:t>pip install -U pip </a:t>
            </a:r>
            <a:r>
              <a:rPr lang="en-US" sz="1200" dirty="0" err="1">
                <a:solidFill>
                  <a:srgbClr val="0070C0"/>
                </a:solidFill>
              </a:rPr>
              <a:t>pip</a:t>
            </a:r>
            <a:r>
              <a:rPr lang="en-US" sz="1200" dirty="0">
                <a:solidFill>
                  <a:srgbClr val="0070C0"/>
                </a:solidFill>
              </a:rPr>
              <a:t> install '</a:t>
            </a:r>
            <a:r>
              <a:rPr lang="en-US" sz="1200" dirty="0" err="1">
                <a:solidFill>
                  <a:srgbClr val="0070C0"/>
                </a:solidFill>
              </a:rPr>
              <a:t>ansible</a:t>
            </a:r>
            <a:r>
              <a:rPr lang="en-US" sz="1200" dirty="0">
                <a:solidFill>
                  <a:srgbClr val="0070C0"/>
                </a:solidFill>
              </a:rPr>
              <a:t>&gt;=8,&lt;9'</a:t>
            </a:r>
            <a:endParaRPr lang="en-US" sz="1200" dirty="0">
              <a:solidFill>
                <a:srgbClr val="0070C0"/>
              </a:solidFill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473738" y="3224484"/>
            <a:ext cx="4536908" cy="687181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4445665" y="3176272"/>
            <a:ext cx="337686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dirty="0" smtClean="0">
                <a:solidFill>
                  <a:srgbClr val="0070C0"/>
                </a:solidFill>
              </a:rPr>
              <a:t>panda@GPU01adm01: ~ cd </a:t>
            </a:r>
            <a:r>
              <a:rPr lang="en-US" sz="900" dirty="0" err="1" smtClean="0">
                <a:solidFill>
                  <a:srgbClr val="0070C0"/>
                </a:solidFill>
              </a:rPr>
              <a:t>kolla-venv</a:t>
            </a:r>
            <a:endParaRPr lang="en-US" sz="900" dirty="0" smtClean="0">
              <a:solidFill>
                <a:srgbClr val="0070C0"/>
              </a:solidFill>
            </a:endParaRPr>
          </a:p>
          <a:p>
            <a:r>
              <a:rPr lang="en-US" sz="900" dirty="0">
                <a:solidFill>
                  <a:srgbClr val="0070C0"/>
                </a:solidFill>
              </a:rPr>
              <a:t>panda@GPU01adm01: ~ </a:t>
            </a:r>
            <a:r>
              <a:rPr lang="en-US" sz="900" dirty="0" smtClean="0">
                <a:solidFill>
                  <a:srgbClr val="0070C0"/>
                </a:solidFill>
              </a:rPr>
              <a:t>/</a:t>
            </a:r>
            <a:r>
              <a:rPr lang="en-US" sz="900" dirty="0" err="1" smtClean="0">
                <a:solidFill>
                  <a:srgbClr val="0070C0"/>
                </a:solidFill>
              </a:rPr>
              <a:t>kolla-venv</a:t>
            </a:r>
            <a:r>
              <a:rPr lang="en-US" sz="900" dirty="0" smtClean="0">
                <a:solidFill>
                  <a:srgbClr val="0070C0"/>
                </a:solidFill>
              </a:rPr>
              <a:t>$ source bin/activate</a:t>
            </a:r>
          </a:p>
          <a:p>
            <a:r>
              <a:rPr lang="en-US" sz="900" dirty="0" smtClean="0">
                <a:solidFill>
                  <a:srgbClr val="0070C0"/>
                </a:solidFill>
              </a:rPr>
              <a:t>(kola-</a:t>
            </a:r>
            <a:r>
              <a:rPr lang="en-US" sz="900" dirty="0" err="1" smtClean="0">
                <a:solidFill>
                  <a:srgbClr val="0070C0"/>
                </a:solidFill>
              </a:rPr>
              <a:t>venv</a:t>
            </a:r>
            <a:r>
              <a:rPr lang="en-US" sz="900" dirty="0" smtClean="0">
                <a:solidFill>
                  <a:srgbClr val="0070C0"/>
                </a:solidFill>
              </a:rPr>
              <a:t>) panda@GPU01adm01</a:t>
            </a:r>
            <a:r>
              <a:rPr lang="en-US" sz="900" dirty="0">
                <a:solidFill>
                  <a:srgbClr val="0070C0"/>
                </a:solidFill>
              </a:rPr>
              <a:t>: ~ </a:t>
            </a:r>
            <a:r>
              <a:rPr lang="en-US" sz="900" dirty="0" smtClean="0">
                <a:solidFill>
                  <a:srgbClr val="0070C0"/>
                </a:solidFill>
              </a:rPr>
              <a:t>/</a:t>
            </a:r>
            <a:r>
              <a:rPr lang="en-US" sz="900" dirty="0" err="1" smtClean="0">
                <a:solidFill>
                  <a:srgbClr val="0070C0"/>
                </a:solidFill>
              </a:rPr>
              <a:t>kolla-venv</a:t>
            </a:r>
            <a:r>
              <a:rPr lang="en-US" sz="900" dirty="0" smtClean="0">
                <a:solidFill>
                  <a:srgbClr val="0070C0"/>
                </a:solidFill>
              </a:rPr>
              <a:t> $ </a:t>
            </a:r>
            <a:r>
              <a:rPr lang="en-US" sz="900" dirty="0" err="1" smtClean="0">
                <a:solidFill>
                  <a:srgbClr val="0070C0"/>
                </a:solidFill>
              </a:rPr>
              <a:t>pwd</a:t>
            </a:r>
            <a:endParaRPr lang="en-US" sz="900" dirty="0">
              <a:solidFill>
                <a:srgbClr val="0070C0"/>
              </a:solidFill>
            </a:endParaRPr>
          </a:p>
          <a:p>
            <a:r>
              <a:rPr lang="en-US" sz="900" dirty="0" smtClean="0">
                <a:solidFill>
                  <a:srgbClr val="0070C0"/>
                </a:solidFill>
              </a:rPr>
              <a:t>/home/panda/ </a:t>
            </a:r>
            <a:r>
              <a:rPr lang="en-US" sz="900" dirty="0" err="1" smtClean="0">
                <a:solidFill>
                  <a:srgbClr val="0070C0"/>
                </a:solidFill>
              </a:rPr>
              <a:t>kolla-venv</a:t>
            </a:r>
            <a:endParaRPr lang="en-US" sz="900" dirty="0">
              <a:solidFill>
                <a:srgbClr val="0070C0"/>
              </a:solidFill>
            </a:endParaRPr>
          </a:p>
          <a:p>
            <a:r>
              <a:rPr lang="en-US" sz="900" dirty="0">
                <a:solidFill>
                  <a:srgbClr val="0070C0"/>
                </a:solidFill>
              </a:rPr>
              <a:t>(kola-</a:t>
            </a:r>
            <a:r>
              <a:rPr lang="en-US" sz="900" dirty="0" err="1">
                <a:solidFill>
                  <a:srgbClr val="0070C0"/>
                </a:solidFill>
              </a:rPr>
              <a:t>venv</a:t>
            </a:r>
            <a:r>
              <a:rPr lang="en-US" sz="900" dirty="0">
                <a:solidFill>
                  <a:srgbClr val="0070C0"/>
                </a:solidFill>
              </a:rPr>
              <a:t>) panda@GPU01adm01: ~ /</a:t>
            </a:r>
            <a:r>
              <a:rPr lang="en-US" sz="900" dirty="0" err="1">
                <a:solidFill>
                  <a:srgbClr val="0070C0"/>
                </a:solidFill>
              </a:rPr>
              <a:t>kolla-venv</a:t>
            </a:r>
            <a:r>
              <a:rPr lang="en-US" sz="900" dirty="0">
                <a:solidFill>
                  <a:srgbClr val="0070C0"/>
                </a:solidFill>
              </a:rPr>
              <a:t> $ </a:t>
            </a:r>
          </a:p>
          <a:p>
            <a:endParaRPr lang="en-US" sz="9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02850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46</a:t>
            </a:fld>
            <a:endParaRPr lang="en-US" dirty="0"/>
          </a:p>
        </p:txBody>
      </p:sp>
      <p:sp>
        <p:nvSpPr>
          <p:cNvPr id="2" name="Rectangle 1"/>
          <p:cNvSpPr/>
          <p:nvPr/>
        </p:nvSpPr>
        <p:spPr>
          <a:xfrm>
            <a:off x="221671" y="335280"/>
            <a:ext cx="662247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Build </a:t>
            </a:r>
            <a:r>
              <a:rPr lang="en-US" dirty="0" err="1"/>
              <a:t>Multinode</a:t>
            </a:r>
            <a:r>
              <a:rPr lang="en-US" dirty="0"/>
              <a:t> </a:t>
            </a:r>
            <a:r>
              <a:rPr lang="en-US" dirty="0" err="1"/>
              <a:t>Kolla-Ansible</a:t>
            </a:r>
            <a:r>
              <a:rPr lang="en-US" dirty="0"/>
              <a:t> </a:t>
            </a:r>
            <a:r>
              <a:rPr lang="en-US" dirty="0" err="1"/>
              <a:t>Openstack</a:t>
            </a:r>
            <a:r>
              <a:rPr lang="en-US" dirty="0"/>
              <a:t> LAB using LXD</a:t>
            </a:r>
          </a:p>
        </p:txBody>
      </p:sp>
    </p:spTree>
    <p:extLst>
      <p:ext uri="{BB962C8B-B14F-4D97-AF65-F5344CB8AC3E}">
        <p14:creationId xmlns:p14="http://schemas.microsoft.com/office/powerpoint/2010/main" val="29294331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47</a:t>
            </a:fld>
            <a:endParaRPr lang="en-US" dirty="0"/>
          </a:p>
        </p:txBody>
      </p:sp>
      <p:sp>
        <p:nvSpPr>
          <p:cNvPr id="2" name="Rectangle 1"/>
          <p:cNvSpPr/>
          <p:nvPr/>
        </p:nvSpPr>
        <p:spPr>
          <a:xfrm>
            <a:off x="2286000" y="2248585"/>
            <a:ext cx="4572000" cy="83099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4800" dirty="0" err="1" smtClean="0">
                <a:solidFill>
                  <a:srgbClr val="0070C0"/>
                </a:solidFill>
              </a:rPr>
              <a:t>Mauliate</a:t>
            </a:r>
            <a:r>
              <a:rPr lang="en-US" sz="4800" dirty="0" smtClean="0">
                <a:solidFill>
                  <a:srgbClr val="0070C0"/>
                </a:solidFill>
              </a:rPr>
              <a:t> </a:t>
            </a:r>
            <a:r>
              <a:rPr lang="en-US" sz="4800" dirty="0" err="1" smtClean="0">
                <a:solidFill>
                  <a:srgbClr val="0070C0"/>
                </a:solidFill>
              </a:rPr>
              <a:t>Godang</a:t>
            </a:r>
            <a:endParaRPr lang="en-US" sz="48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19320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2325</TotalTime>
  <Words>4121</Words>
  <Application>Microsoft Office PowerPoint</Application>
  <PresentationFormat>On-screen Show (16:9)</PresentationFormat>
  <Paragraphs>1285</Paragraphs>
  <Slides>47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4" baseType="lpstr">
      <vt:lpstr>Malgun Gothic</vt:lpstr>
      <vt:lpstr>Arial</vt:lpstr>
      <vt:lpstr>Calibri</vt:lpstr>
      <vt:lpstr>Calibri Light</vt:lpstr>
      <vt:lpstr>Courier New</vt:lpstr>
      <vt:lpstr>Wingdings</vt:lpstr>
      <vt:lpstr>Office Theme</vt:lpstr>
      <vt:lpstr>PowerPoint Presentation</vt:lpstr>
      <vt:lpstr>Arsitektur Openstack</vt:lpstr>
      <vt:lpstr>Openstack Services</vt:lpstr>
      <vt:lpstr>Lab: Kolla Ansible All in One Openstack</vt:lpstr>
      <vt:lpstr>Lab: Kolla Ansible All in One Openstack (Cons’t)</vt:lpstr>
      <vt:lpstr>Lab: Kolla Ansible All in One Openstack (Cons’t)</vt:lpstr>
      <vt:lpstr>Lab: Kolla Ansible All in One Openstack (Cons’t)</vt:lpstr>
      <vt:lpstr>Lab: Kolla Ansible All in One Openstack (Cons’t)</vt:lpstr>
      <vt:lpstr>Lab: Kolla Ansible All in One Openstack (Cons’t)</vt:lpstr>
      <vt:lpstr>Lab: Kolla Ansible All in One Openstack (Cons’t)</vt:lpstr>
      <vt:lpstr>Lab: Kolla Ansible All in One Openstack (Cons’t)</vt:lpstr>
      <vt:lpstr>Lab: Kolla Ansible All in One Openstack (Cons’t)</vt:lpstr>
      <vt:lpstr>Membuat Instance Melalui Horizon</vt:lpstr>
      <vt:lpstr>Upload Image atau ISO  Create Instance</vt:lpstr>
      <vt:lpstr>Lab: Kolla Ansible All in One Openstack (Cons’t)</vt:lpstr>
      <vt:lpstr>Lab: Kolla Ansible All in One Openstack (Cons’t)</vt:lpstr>
      <vt:lpstr>Lab: Kolla Ansible All in One Openstack (Cons’t)</vt:lpstr>
      <vt:lpstr>Lab: Kolla Ansible All in One Openstack (Cons’t)</vt:lpstr>
      <vt:lpstr>Lab: Kolla Ansible All in One Openstack (Cons’t)</vt:lpstr>
      <vt:lpstr>Lab: Kolla Ansible All in One Openstack (Cons’t)</vt:lpstr>
      <vt:lpstr>Membuat Network  Create Network</vt:lpstr>
      <vt:lpstr>Lab: Kolla Ansible All in One Openstack (Cons’t)</vt:lpstr>
      <vt:lpstr>Lab: Kolla Ansible All in One Openstack (Cons’t)</vt:lpstr>
      <vt:lpstr>Lab: Kolla Ansible All in One Openstack (Cons’t)</vt:lpstr>
      <vt:lpstr>Lab: Kolla Ansible All in One Openstack (Cons’t)</vt:lpstr>
      <vt:lpstr>Membuat Router  Create Router</vt:lpstr>
      <vt:lpstr>Lab: Kolla Ansible All in One Openstack (Cons’t)</vt:lpstr>
      <vt:lpstr>Lab: Kolla Ansible All in One Openstack (Cons’t)</vt:lpstr>
      <vt:lpstr>Lab: Kolla Ansible All in One Openstack (Cons’t)</vt:lpstr>
      <vt:lpstr>Menambahkan SSH Key  Create SSH keys</vt:lpstr>
      <vt:lpstr>Lab: Kolla Ansible All in One Openstack (Cons’t)</vt:lpstr>
      <vt:lpstr>Lab: Kolla Ansible All in One Openstack (Cons’t)</vt:lpstr>
      <vt:lpstr>Menambah Security  Create Security Group</vt:lpstr>
      <vt:lpstr>Lab: Kolla Ansible All in One Openstack (Cons’t)</vt:lpstr>
      <vt:lpstr>Lab: Kolla Ansible All in One Openstack (Cons’t)</vt:lpstr>
      <vt:lpstr>Lab: Kolla Ansible All in One Openstack (Cons’t)</vt:lpstr>
      <vt:lpstr>Lab: Kolla Ansible All in One Openstack (Cons’t)</vt:lpstr>
      <vt:lpstr>Lab: Kolla Ansible All in One Openstack (Cons’t)</vt:lpstr>
      <vt:lpstr>Lab: Kolla Ansible All in One Openstack (Cons’t)</vt:lpstr>
      <vt:lpstr>Deploy All-in-One OpenStack with Kolla-Ansible on Ubuntu 22.04</vt:lpstr>
      <vt:lpstr>PowerPoint Presentation</vt:lpstr>
      <vt:lpstr>Openstack 2024.2 with Kolla Ansible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Google Cloud Platform Official Icons and Sample Diagrams</dc:title>
  <dc:subject/>
  <dc:creator>pds</dc:creator>
  <cp:keywords/>
  <dc:description/>
  <cp:lastModifiedBy>Gde</cp:lastModifiedBy>
  <cp:revision>145</cp:revision>
  <dcterms:modified xsi:type="dcterms:W3CDTF">2025-09-10T04:57:29Z</dcterms:modified>
  <cp:category/>
</cp:coreProperties>
</file>