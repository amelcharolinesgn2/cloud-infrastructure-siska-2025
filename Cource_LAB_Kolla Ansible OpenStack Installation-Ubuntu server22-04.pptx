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89" r:id="rId1"/>
  </p:sldMasterIdLst>
  <p:notesMasterIdLst>
    <p:notesMasterId r:id="rId84"/>
  </p:notesMasterIdLst>
  <p:sldIdLst>
    <p:sldId id="348" r:id="rId2"/>
    <p:sldId id="501" r:id="rId3"/>
    <p:sldId id="456" r:id="rId4"/>
    <p:sldId id="457" r:id="rId5"/>
    <p:sldId id="529" r:id="rId6"/>
    <p:sldId id="527" r:id="rId7"/>
    <p:sldId id="420" r:id="rId8"/>
    <p:sldId id="421" r:id="rId9"/>
    <p:sldId id="422" r:id="rId10"/>
    <p:sldId id="452" r:id="rId11"/>
    <p:sldId id="453" r:id="rId12"/>
    <p:sldId id="423" r:id="rId13"/>
    <p:sldId id="424" r:id="rId14"/>
    <p:sldId id="454" r:id="rId15"/>
    <p:sldId id="455" r:id="rId16"/>
    <p:sldId id="471" r:id="rId17"/>
    <p:sldId id="468" r:id="rId18"/>
    <p:sldId id="460" r:id="rId19"/>
    <p:sldId id="472" r:id="rId20"/>
    <p:sldId id="473" r:id="rId21"/>
    <p:sldId id="470" r:id="rId22"/>
    <p:sldId id="469" r:id="rId23"/>
    <p:sldId id="467" r:id="rId24"/>
    <p:sldId id="474" r:id="rId25"/>
    <p:sldId id="476" r:id="rId26"/>
    <p:sldId id="477" r:id="rId27"/>
    <p:sldId id="478" r:id="rId28"/>
    <p:sldId id="475" r:id="rId29"/>
    <p:sldId id="479" r:id="rId30"/>
    <p:sldId id="480" r:id="rId31"/>
    <p:sldId id="481" r:id="rId32"/>
    <p:sldId id="482" r:id="rId33"/>
    <p:sldId id="498" r:id="rId34"/>
    <p:sldId id="483" r:id="rId35"/>
    <p:sldId id="484" r:id="rId36"/>
    <p:sldId id="499" r:id="rId37"/>
    <p:sldId id="485" r:id="rId38"/>
    <p:sldId id="486" r:id="rId39"/>
    <p:sldId id="487" r:id="rId40"/>
    <p:sldId id="459" r:id="rId41"/>
    <p:sldId id="461" r:id="rId42"/>
    <p:sldId id="462" r:id="rId43"/>
    <p:sldId id="458" r:id="rId44"/>
    <p:sldId id="528" r:id="rId45"/>
    <p:sldId id="394" r:id="rId46"/>
    <p:sldId id="463" r:id="rId47"/>
    <p:sldId id="464" r:id="rId48"/>
    <p:sldId id="465" r:id="rId49"/>
    <p:sldId id="466" r:id="rId50"/>
    <p:sldId id="500" r:id="rId51"/>
    <p:sldId id="533" r:id="rId52"/>
    <p:sldId id="534" r:id="rId53"/>
    <p:sldId id="530" r:id="rId54"/>
    <p:sldId id="531" r:id="rId55"/>
    <p:sldId id="532" r:id="rId56"/>
    <p:sldId id="395" r:id="rId57"/>
    <p:sldId id="502" r:id="rId58"/>
    <p:sldId id="503" r:id="rId59"/>
    <p:sldId id="504" r:id="rId60"/>
    <p:sldId id="505" r:id="rId61"/>
    <p:sldId id="506" r:id="rId62"/>
    <p:sldId id="507" r:id="rId63"/>
    <p:sldId id="508" r:id="rId64"/>
    <p:sldId id="509" r:id="rId65"/>
    <p:sldId id="510" r:id="rId66"/>
    <p:sldId id="511" r:id="rId67"/>
    <p:sldId id="512" r:id="rId68"/>
    <p:sldId id="513" r:id="rId69"/>
    <p:sldId id="522" r:id="rId70"/>
    <p:sldId id="523" r:id="rId71"/>
    <p:sldId id="514" r:id="rId72"/>
    <p:sldId id="524" r:id="rId73"/>
    <p:sldId id="515" r:id="rId74"/>
    <p:sldId id="516" r:id="rId75"/>
    <p:sldId id="517" r:id="rId76"/>
    <p:sldId id="518" r:id="rId77"/>
    <p:sldId id="525" r:id="rId78"/>
    <p:sldId id="519" r:id="rId79"/>
    <p:sldId id="520" r:id="rId80"/>
    <p:sldId id="521" r:id="rId81"/>
    <p:sldId id="526" r:id="rId82"/>
    <p:sldId id="350" r:id="rId83"/>
  </p:sldIdLst>
  <p:sldSz cx="9144000" cy="5143500" type="screen16x9"/>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eal Mueller" initials="" lastIdx="9" clrIdx="0"/>
  <p:cmAuthor id="1" name="Chuck Erickson" initials="" lastIdx="6" clrIdx="1"/>
  <p:cmAuthor id="2" name="Adam Glick" initials="" lastIdx="1"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42EA"/>
    <a:srgbClr val="E54B1B"/>
    <a:srgbClr val="75757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57"/>
    <p:restoredTop sz="81750" autoAdjust="0"/>
  </p:normalViewPr>
  <p:slideViewPr>
    <p:cSldViewPr snapToGrid="0" snapToObjects="1">
      <p:cViewPr varScale="1">
        <p:scale>
          <a:sx n="104" d="100"/>
          <a:sy n="104" d="100"/>
        </p:scale>
        <p:origin x="288" y="-15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notesMaster" Target="notesMasters/notesMaster1.xml"/><Relationship Id="rId89"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commentAuthors" Target="commentAuthor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3037839" cy="464818"/>
          </a:xfrm>
          <a:prstGeom prst="rect">
            <a:avLst/>
          </a:prstGeom>
          <a:noFill/>
          <a:ln>
            <a:noFill/>
          </a:ln>
        </p:spPr>
        <p:txBody>
          <a:bodyPr lIns="91425" tIns="91425" rIns="91425" bIns="91425" anchor="t" anchorCtr="0"/>
          <a:lstStyle>
            <a:lvl1pPr marL="0" marR="0" lvl="0" indent="0" algn="l"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4" name="Shape 4"/>
          <p:cNvSpPr txBox="1">
            <a:spLocks noGrp="1"/>
          </p:cNvSpPr>
          <p:nvPr>
            <p:ph type="dt" idx="10"/>
          </p:nvPr>
        </p:nvSpPr>
        <p:spPr>
          <a:xfrm>
            <a:off x="3970937" y="0"/>
            <a:ext cx="3037839" cy="464818"/>
          </a:xfrm>
          <a:prstGeom prst="rect">
            <a:avLst/>
          </a:prstGeom>
          <a:noFill/>
          <a:ln>
            <a:noFill/>
          </a:ln>
        </p:spPr>
        <p:txBody>
          <a:bodyPr lIns="91425" tIns="91425" rIns="91425" bIns="91425" anchor="t" anchorCtr="0"/>
          <a:lstStyle>
            <a:lvl1pPr marL="0" marR="0" lvl="0" indent="0" algn="r"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407181" y="696912"/>
            <a:ext cx="6195899" cy="3486299"/>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701039" y="4415789"/>
            <a:ext cx="5608319" cy="4183379"/>
          </a:xfrm>
          <a:prstGeom prst="rect">
            <a:avLst/>
          </a:prstGeom>
          <a:noFill/>
          <a:ln>
            <a:noFill/>
          </a:ln>
        </p:spPr>
        <p:txBody>
          <a:bodyPr lIns="91425" tIns="91425" rIns="91425" bIns="91425" anchor="ctr"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829967"/>
            <a:ext cx="3037839" cy="464818"/>
          </a:xfrm>
          <a:prstGeom prst="rect">
            <a:avLst/>
          </a:prstGeom>
          <a:noFill/>
          <a:ln>
            <a:noFill/>
          </a:ln>
        </p:spPr>
        <p:txBody>
          <a:bodyPr lIns="91425" tIns="91425" rIns="91425" bIns="91425" anchor="b" anchorCtr="0"/>
          <a:lstStyle>
            <a:lvl1pPr marL="0" marR="0" lvl="0" indent="0" algn="l" rtl="0">
              <a:lnSpc>
                <a:spcPct val="100000"/>
              </a:lnSpc>
              <a:spcBef>
                <a:spcPts val="0"/>
              </a:spcBef>
              <a:spcAft>
                <a:spcPts val="0"/>
              </a:spcAft>
              <a:buClr>
                <a:srgbClr val="000000"/>
              </a:buClr>
              <a:buFont typeface="Arial"/>
              <a:buNone/>
              <a:defRPr sz="1200" b="0" i="0" u="none" strike="noStrike" cap="none">
                <a:solidFill>
                  <a:srgbClr val="000000"/>
                </a:solidFill>
                <a:latin typeface="Arial"/>
                <a:ea typeface="Arial"/>
                <a:cs typeface="Arial"/>
                <a:sym typeface="Arial"/>
              </a:defRPr>
            </a:lvl1pPr>
            <a:lvl2pPr marL="457200" marR="0" lvl="1"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2pPr>
            <a:lvl3pPr marL="914400" marR="0" lvl="2"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3pPr>
            <a:lvl4pPr marL="1371600" marR="0" lvl="3"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4pPr>
            <a:lvl5pPr marL="1828800" marR="0" lvl="4"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5pPr>
            <a:lvl6pPr marL="2286000" marR="0" lvl="5"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6pPr>
            <a:lvl7pPr marL="2743200" marR="0" lvl="6"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7pPr>
            <a:lvl8pPr marL="3200400" marR="0" lvl="7"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8pPr>
            <a:lvl9pPr marL="3657600" marR="0" lvl="8" indent="0" algn="l" rtl="0">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970937" y="8829967"/>
            <a:ext cx="3037839" cy="464818"/>
          </a:xfrm>
          <a:prstGeom prst="rect">
            <a:avLst/>
          </a:prstGeom>
          <a:noFill/>
          <a:ln>
            <a:noFill/>
          </a:ln>
        </p:spPr>
        <p:txBody>
          <a:bodyPr lIns="91425" tIns="91425" rIns="91425" bIns="91425" anchor="b" anchorCtr="0">
            <a:noAutofit/>
          </a:bodyPr>
          <a:lstStyle/>
          <a:p>
            <a:pPr marL="0" marR="0" lvl="0" indent="0" algn="r" rtl="0">
              <a:lnSpc>
                <a:spcPct val="100000"/>
              </a:lnSpc>
              <a:spcBef>
                <a:spcPts val="0"/>
              </a:spcBef>
              <a:spcAft>
                <a:spcPts val="0"/>
              </a:spcAft>
              <a:buClr>
                <a:srgbClr val="000000"/>
              </a:buClr>
              <a:buFont typeface="Arial"/>
              <a:buNone/>
            </a:pPr>
            <a:endParaRPr sz="1200" b="0" i="0" u="none" strike="noStrike" cap="none">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41411827"/>
      </p:ext>
    </p:extLst>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openmetal.io/author/laurenm/"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3" Type="http://schemas.openxmlformats.org/officeDocument/2006/relationships/hyperlink" Target="https://docs.openstack.org/kolla-ansible/latest/user/quickstart.html" TargetMode="External"/><Relationship Id="rId2" Type="http://schemas.openxmlformats.org/officeDocument/2006/relationships/slide" Target="../slides/slide42.xml"/><Relationship Id="rId1" Type="http://schemas.openxmlformats.org/officeDocument/2006/relationships/notesMaster" Target="../notesMasters/notesMaster1.xml"/><Relationship Id="rId6" Type="http://schemas.openxmlformats.org/officeDocument/2006/relationships/hyperlink" Target="https://achchusnulchikam.medium.com/deploy-production-ready-openstack-using-kolla-ansible-9cd1d1f210f1" TargetMode="External"/><Relationship Id="rId5" Type="http://schemas.openxmlformats.org/officeDocument/2006/relationships/hyperlink" Target="https://github.com/openstack/kolla-ansible/blob/master/etc/kolla/globals.yml" TargetMode="External"/><Relationship Id="rId4" Type="http://schemas.openxmlformats.org/officeDocument/2006/relationships/hyperlink" Target="https://quay.io/organization/openstack.kolla" TargetMode="External"/></Relationships>
</file>

<file path=ppt/notesSlides/_rels/notesSlide40.xml.rels><?xml version="1.0" encoding="UTF-8" standalone="yes"?>
<Relationships xmlns="http://schemas.openxmlformats.org/package/2006/relationships"><Relationship Id="rId3" Type="http://schemas.openxmlformats.org/officeDocument/2006/relationships/hyperlink" Target="https://kifarunix.com/deploy-multinode-openstack-using-kolla-ansible/" TargetMode="External"/><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3" Type="http://schemas.openxmlformats.org/officeDocument/2006/relationships/hyperlink" Target="https://www.google.com/url?sa=i&amp;url=https://docs.cloudstack.apache.org/en/4.16.0.0/conceptsandterminology/choosing_deployment_architecture.html&amp;psig=AOvVaw3_BG2g3aEllupGE06jjNGR&amp;ust=1757573450427000&amp;source=images&amp;cd=vfe&amp;opi=89978449&amp;ved=2ahUKEwjrl9q6zc2PAxUX06ACHc1uA_MQjhx6BAgAEBs" TargetMode="External"/><Relationship Id="rId2" Type="http://schemas.openxmlformats.org/officeDocument/2006/relationships/slide" Target="../slides/slide50.xml"/><Relationship Id="rId1" Type="http://schemas.openxmlformats.org/officeDocument/2006/relationships/notesMaster" Target="../notesMasters/notesMaster1.xml"/><Relationship Id="rId5" Type="http://schemas.openxmlformats.org/officeDocument/2006/relationships/hyperlink" Target="https://openmetal.io/author/laurenm/" TargetMode="External"/><Relationship Id="rId4" Type="http://schemas.openxmlformats.org/officeDocument/2006/relationships/hyperlink" Target="https://www.google.com/url?sa=i&amp;url=https://cloudierthanthou.wordpress.com/2015/04/08/cloudstack-basic-networking-the-missing-owners-manual/&amp;psig=AOvVaw2TnsfyU-s190jNOJK0vrxt&amp;ust=1757573581068000&amp;source=images&amp;cd=vfe&amp;opi=89978449&amp;ved=2ahUKEwiZ7__4zc2PAxUGt2MGHZCbNlIQjhx6BAgAEBs" TargetMode="Externa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3" Type="http://schemas.openxmlformats.org/officeDocument/2006/relationships/hyperlink" Target="https://hackmd.io/8tkrVJP7QU-MjO-0_W13jQ" TargetMode="External"/><Relationship Id="rId2" Type="http://schemas.openxmlformats.org/officeDocument/2006/relationships/slide" Target="../slides/slide64.xml"/><Relationship Id="rId1" Type="http://schemas.openxmlformats.org/officeDocument/2006/relationships/notesMaster" Target="../notesMasters/notesMaster1.xml"/><Relationship Id="rId5" Type="http://schemas.openxmlformats.org/officeDocument/2006/relationships/hyperlink" Target="https://docs.openstack.org/kolla-ansible/latest/reference/storage/external-ceph-guide.html" TargetMode="External"/><Relationship Id="rId4" Type="http://schemas.openxmlformats.org/officeDocument/2006/relationships/hyperlink" Target="https://docs.ceph.com/en/latest/rbd/rbd-openstack/" TargetMode="Externa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3" Type="http://schemas.openxmlformats.org/officeDocument/2006/relationships/hyperlink" Target="https://github.com/ceph/ceph/pull/38911" TargetMode="External"/><Relationship Id="rId2" Type="http://schemas.openxmlformats.org/officeDocument/2006/relationships/slide" Target="../slides/slide71.xml"/><Relationship Id="rId1" Type="http://schemas.openxmlformats.org/officeDocument/2006/relationships/notesMaster" Target="../notesMasters/notesMaster1.xml"/><Relationship Id="rId5" Type="http://schemas.openxmlformats.org/officeDocument/2006/relationships/hyperlink" Target="https://www.flamingbytes.com/posts/uninstall-ceph/" TargetMode="External"/><Relationship Id="rId4" Type="http://schemas.openxmlformats.org/officeDocument/2006/relationships/hyperlink" Target="https://docs.ceph.com/en/quincy/cephadm/operations/#purging-a-cluster" TargetMode="External"/></Relationships>
</file>

<file path=ppt/notesSlides/_rels/notesSlide60.xml.rels><?xml version="1.0" encoding="UTF-8" standalone="yes"?>
<Relationships xmlns="http://schemas.openxmlformats.org/package/2006/relationships"><Relationship Id="rId3" Type="http://schemas.openxmlformats.org/officeDocument/2006/relationships/hyperlink" Target="https://hackmd.io/8tkrVJP7QU-MjO-0_W13jQ" TargetMode="External"/><Relationship Id="rId2" Type="http://schemas.openxmlformats.org/officeDocument/2006/relationships/slide" Target="../slides/slide72.xml"/><Relationship Id="rId1" Type="http://schemas.openxmlformats.org/officeDocument/2006/relationships/notesMaster" Target="../notesMasters/notesMaster1.xml"/><Relationship Id="rId5" Type="http://schemas.openxmlformats.org/officeDocument/2006/relationships/hyperlink" Target="https://docs.openstack.org/kolla-ansible/latest/reference/storage/external-ceph-guide.html" TargetMode="External"/><Relationship Id="rId4" Type="http://schemas.openxmlformats.org/officeDocument/2006/relationships/hyperlink" Target="https://docs.ceph.com/en/latest/rbd/rbd-openstack/" TargetMode="Externa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https://github.com/mikeroyal/Google-Cloud-Guide</a:t>
            </a:r>
          </a:p>
          <a:p>
            <a:r>
              <a:rPr lang="en-US" dirty="0" smtClean="0"/>
              <a:t>https://belajarlinux.id/openstack-upload-image-atau-iso/</a:t>
            </a:r>
          </a:p>
          <a:p>
            <a:endParaRPr lang="en-US" dirty="0"/>
          </a:p>
        </p:txBody>
      </p:sp>
      <p:sp>
        <p:nvSpPr>
          <p:cNvPr id="4" name="Slide Number Placeholder 3"/>
          <p:cNvSpPr>
            <a:spLocks noGrp="1"/>
          </p:cNvSpPr>
          <p:nvPr>
            <p:ph type="sldNum" sz="quarter" idx="10"/>
          </p:nvPr>
        </p:nvSpPr>
        <p:spPr/>
        <p:txBody>
          <a:bodyPr/>
          <a:lstStyle/>
          <a:p>
            <a:fld id="{CDC773BF-E5C9-44BF-B19B-39EF1F90376E}" type="slidenum">
              <a:rPr lang="en-US" smtClean="0"/>
              <a:t>1</a:t>
            </a:fld>
            <a:endParaRPr lang="en-US"/>
          </a:p>
        </p:txBody>
      </p:sp>
    </p:spTree>
    <p:extLst>
      <p:ext uri="{BB962C8B-B14F-4D97-AF65-F5344CB8AC3E}">
        <p14:creationId xmlns:p14="http://schemas.microsoft.com/office/powerpoint/2010/main" val="41437135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https://belajarlinux.id/jenis-jenis-cloud-computing/</a:t>
            </a:r>
          </a:p>
          <a:p>
            <a:r>
              <a:rPr lang="en-US" dirty="0" smtClean="0"/>
              <a:t>https://belajarlinux.id/mengenal-apa-itu-kolla-ansible/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278274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https://belajarlinux.id/openstack-definisi-dan-arsitektur/</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062101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https://belajarlinux.id/mengenal-apa-itu-kolla-ansible/</a:t>
            </a:r>
          </a:p>
          <a:p>
            <a:r>
              <a:rPr lang="en-US" dirty="0" smtClean="0"/>
              <a:t>https://releases.openstack.org/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Deploy All-in-One OpenStack with </a:t>
            </a:r>
            <a:r>
              <a:rPr lang="en-US" sz="1200" b="1" i="0" u="none" strike="noStrike" kern="1200" cap="none" dirty="0" err="1" smtClean="0">
                <a:solidFill>
                  <a:schemeClr val="dk1"/>
                </a:solidFill>
                <a:effectLst/>
                <a:latin typeface="Arial"/>
                <a:ea typeface="Arial"/>
                <a:cs typeface="Arial"/>
                <a:sym typeface="Arial"/>
              </a:rPr>
              <a:t>Kolla-Ansible</a:t>
            </a:r>
            <a:r>
              <a:rPr lang="en-US" sz="1200" b="1" i="0" u="none" strike="noStrike" kern="1200" cap="none" dirty="0" smtClean="0">
                <a:solidFill>
                  <a:schemeClr val="dk1"/>
                </a:solidFill>
                <a:effectLst/>
                <a:latin typeface="Arial"/>
                <a:ea typeface="Arial"/>
                <a:cs typeface="Arial"/>
                <a:sym typeface="Arial"/>
              </a:rPr>
              <a:t> on Ubuntu 22.04</a:t>
            </a:r>
          </a:p>
          <a:p>
            <a:r>
              <a:rPr lang="en-US" dirty="0" smtClean="0"/>
              <a:t> https://www.scribd.com/document/822144481/openstack-kolla-Ansible-AIO-Multinode-Documentation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Deploy All-in-One OpenStack with </a:t>
            </a:r>
            <a:r>
              <a:rPr lang="en-US" sz="1200" b="1" i="0" u="none" strike="noStrike" kern="1200" cap="none" dirty="0" err="1" smtClean="0">
                <a:solidFill>
                  <a:schemeClr val="dk1"/>
                </a:solidFill>
                <a:effectLst/>
                <a:latin typeface="Arial"/>
                <a:ea typeface="Arial"/>
                <a:cs typeface="Arial"/>
                <a:sym typeface="Arial"/>
              </a:rPr>
              <a:t>Kolla-Ansible</a:t>
            </a:r>
            <a:r>
              <a:rPr lang="en-US" sz="1200" b="1" i="0" u="none" strike="noStrike" kern="1200" cap="none" dirty="0" smtClean="0">
                <a:solidFill>
                  <a:schemeClr val="dk1"/>
                </a:solidFill>
                <a:effectLst/>
                <a:latin typeface="Arial"/>
                <a:ea typeface="Arial"/>
                <a:cs typeface="Arial"/>
                <a:sym typeface="Arial"/>
              </a:rPr>
              <a:t> on Ubuntu 22.04</a:t>
            </a:r>
          </a:p>
          <a:p>
            <a:r>
              <a:rPr lang="en-US" dirty="0" smtClean="0"/>
              <a:t>https://kifarunix.com/deploy-all-in-one-openstack-with-kolla-ansible-on-ubuntu-22-04/#google_vignette</a:t>
            </a:r>
          </a:p>
          <a:p>
            <a:r>
              <a:rPr lang="en-US" sz="1200" b="0" i="0" u="none" strike="noStrike" kern="1200" cap="none" dirty="0" smtClean="0">
                <a:solidFill>
                  <a:schemeClr val="dk1"/>
                </a:solidFill>
                <a:effectLst/>
                <a:latin typeface="Arial"/>
                <a:ea typeface="Arial"/>
                <a:cs typeface="Arial"/>
                <a:sym typeface="Arial"/>
              </a:rPr>
              <a:t>Automated </a:t>
            </a:r>
            <a:r>
              <a:rPr lang="en-US" sz="1200" b="0" i="0" u="none" strike="noStrike" kern="1200" cap="none" dirty="0" err="1" smtClean="0">
                <a:solidFill>
                  <a:schemeClr val="dk1"/>
                </a:solidFill>
                <a:effectLst/>
                <a:latin typeface="Arial"/>
                <a:ea typeface="Arial"/>
                <a:cs typeface="Arial"/>
                <a:sym typeface="Arial"/>
              </a:rPr>
              <a:t>Multinode</a:t>
            </a:r>
            <a:r>
              <a:rPr lang="en-US" sz="1200" b="0" i="0" u="none" strike="noStrike" kern="1200" cap="none" dirty="0" smtClean="0">
                <a:solidFill>
                  <a:schemeClr val="dk1"/>
                </a:solidFill>
                <a:effectLst/>
                <a:latin typeface="Arial"/>
                <a:ea typeface="Arial"/>
                <a:cs typeface="Arial"/>
                <a:sym typeface="Arial"/>
              </a:rPr>
              <a:t> OpenStack Deployment with </a:t>
            </a:r>
            <a:r>
              <a:rPr lang="en-US" sz="1200" b="0" i="0" u="none" strike="noStrike" kern="1200" cap="none" dirty="0" err="1" smtClean="0">
                <a:solidFill>
                  <a:schemeClr val="dk1"/>
                </a:solidFill>
                <a:effectLst/>
                <a:latin typeface="Arial"/>
                <a:ea typeface="Arial"/>
                <a:cs typeface="Arial"/>
                <a:sym typeface="Arial"/>
              </a:rPr>
              <a:t>Kolla-Ansible</a:t>
            </a:r>
            <a:endParaRPr lang="en-US" sz="1200" b="0" i="0" u="none" strike="noStrike" kern="1200" cap="none" dirty="0" smtClean="0">
              <a:solidFill>
                <a:schemeClr val="dk1"/>
              </a:solidFill>
              <a:effectLst/>
              <a:latin typeface="Arial"/>
              <a:ea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rPr>
              <a:t>Updated on July 29, 2025 by </a:t>
            </a:r>
            <a:r>
              <a:rPr lang="en-US" sz="1200" b="0" i="0" u="none" strike="noStrike" kern="1200" cap="none" dirty="0" smtClean="0">
                <a:solidFill>
                  <a:schemeClr val="dk1"/>
                </a:solidFill>
                <a:effectLst/>
                <a:latin typeface="Arial"/>
                <a:ea typeface="Arial"/>
                <a:cs typeface="Arial"/>
                <a:sym typeface="Arial"/>
                <a:hlinkClick r:id="rId3"/>
              </a:rPr>
              <a:t>Lauren Morley</a:t>
            </a:r>
            <a:endParaRPr lang="en-US" sz="1200" b="0" i="0" u="none" strike="noStrike" kern="1200" cap="none" dirty="0" smtClean="0">
              <a:solidFill>
                <a:schemeClr val="dk1"/>
              </a:solidFill>
              <a:effectLst/>
              <a:latin typeface="Arial"/>
              <a:ea typeface="Arial"/>
              <a:cs typeface="Arial"/>
              <a:sym typeface="Arial"/>
            </a:endParaRPr>
          </a:p>
          <a:p>
            <a:r>
              <a:rPr lang="en-US" dirty="0" smtClean="0"/>
              <a:t>https://openmetal.io/resources/blog/automated-multinode-openstack-deployment-with-kolla-ansible/</a:t>
            </a:r>
          </a:p>
          <a:p>
            <a:endParaRPr lang="en-US" dirty="0" smtClean="0"/>
          </a:p>
          <a:p>
            <a:r>
              <a:rPr lang="en-US" dirty="0" smtClean="0"/>
              <a:t>https://gist.github.com/gilangvperdana/356296c8f4c6726859da290321087e71</a:t>
            </a:r>
          </a:p>
          <a:p>
            <a:r>
              <a:rPr lang="en-US" dirty="0" smtClean="0"/>
              <a:t>https://serverfault.com/questions/1130614/kolla-ansible-deployment-fails-on-ubuntu-22-04-while-waiting-for-nova-compute-s</a:t>
            </a:r>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118334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https://docs.oracle.com/cd/E90981_01/E90982/html/kolla-openstack-network.html</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0824608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https://namnh68.github.io/2018/10/install-openstack-aio-via-kolla-ansible/</a:t>
            </a:r>
          </a:p>
          <a:p>
            <a:r>
              <a:rPr lang="en-US" dirty="0" smtClean="0"/>
              <a:t>https://kifarunix.com/deploy-multinode-openstack-using-kolla-ansible/</a:t>
            </a:r>
          </a:p>
          <a:p>
            <a:r>
              <a:rPr lang="en-US" dirty="0" smtClean="0"/>
              <a:t>https://velog.io/@larshavin/Kolla-Ansible%EC%9D%84-%ED%99%9C%EC%9A%A9%ED%95%9C-OpenStack-%EC%84%A4%EC%B9%98-1</a:t>
            </a:r>
          </a:p>
          <a:p>
            <a:r>
              <a:rPr lang="en-US" dirty="0" smtClean="0"/>
              <a:t>https://velog.io/@larshavin/Kolla-Ansible%EC%9D%84-%ED%99%9C%EC%9A%A9%ED%95%9C-OpenStack-%EC%84%A4%EC%B9%98-1</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211733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https://belajarlinux.id/openstack-kolla-ansible-all-in-one-openstack-yoga/</a:t>
            </a:r>
          </a:p>
          <a:p>
            <a:r>
              <a:rPr lang="en-US" dirty="0" smtClean="0"/>
              <a:t>https://docs.openstack.org/kolla-ansible/latest/user/quickstart.html</a:t>
            </a:r>
          </a:p>
          <a:p>
            <a:r>
              <a:rPr lang="en-US" dirty="0" smtClean="0"/>
              <a:t>https://gbesar.com/main/baca/Instalasi%20Multi%20Node%20Openstack%20Ussuri%20dengan%20Kolla%20Ansible%20di%20Ubuntu%2018.04/all</a:t>
            </a:r>
          </a:p>
          <a:p>
            <a:endParaRPr lang="en-US" dirty="0" smtClean="0"/>
          </a:p>
          <a:p>
            <a:r>
              <a:rPr lang="en-US" dirty="0" smtClean="0"/>
              <a:t>https://www.youtube.com/watch?v=e7r2-p8Mki4</a:t>
            </a:r>
          </a:p>
          <a:p>
            <a:endParaRPr lang="en-US" dirty="0" smtClean="0"/>
          </a:p>
          <a:p>
            <a:endParaRPr lang="en-US" dirty="0" smtClean="0"/>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269765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https://belajarlinux.id/openstack-kolla-ansible-all-in-one-openstack-yoga/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585721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https://belajarlinux.id/openstack-kolla-ansible-all-in-one-openstack-yoga/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6165580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https://belajarlinux.id/openstack-kolla-ansible-all-in-one-openstack-yoga/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0066724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https://belajarlinux.id/openstack-kolla-ansible-all-in-one-openstack-yoga/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8251980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https://belajarlinux.id/openstack-kolla-ansible-all-in-one-openstack-yoga/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619415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06428423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https://belajarlinux.id/openstack-kolla-ansible-all-in-one-openstack-yoga/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2462601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https://belajarlinux.id/openstack-kolla-ansible-all-in-one-openstack-yoga/</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323329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https://belajarlinux.id/openstack-membuat-instance-melalui-horizon/</a:t>
            </a:r>
          </a:p>
          <a:p>
            <a:endParaRPr lang="en-US" dirty="0" smtClean="0"/>
          </a:p>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1584874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https://belajarlinux.id/openstack-membuat-instance-melalui-horizon/</a:t>
            </a:r>
          </a:p>
          <a:p>
            <a:endParaRPr lang="en-US" dirty="0" smtClean="0"/>
          </a:p>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2770214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https://belajarlinux.id/openstack-membuat-instance-melalui-horizon/</a:t>
            </a:r>
          </a:p>
          <a:p>
            <a:endParaRPr lang="en-US" dirty="0" smtClean="0"/>
          </a:p>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265550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28952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83434286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3952781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https://superuser.openinfra.org/articles/provisioning-neutron-networks-with-the-nsx-v-plugin/</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8611640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0742845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424224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5905425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660160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https://belajarlinux.id/openstack-membuat-router/</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5974575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https://belajarlinux.id/openstack-membuat-router/</a:t>
            </a:r>
          </a:p>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61172991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61427910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53693128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https://belajarlinux.id/openstack-membuat-router/</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4078680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r>
              <a:rPr lang="en-US" dirty="0" smtClean="0"/>
              <a:t>https://belajarlinux.id/openstack-menambahkan-ssh-key/</a:t>
            </a:r>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9676913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07551656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https://belajarlinux.id/openstack-membuat-router/</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934464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029876883"/>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2493199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smtClean="0"/>
          </a:p>
          <a:p>
            <a:r>
              <a:rPr lang="en-US" dirty="0" smtClean="0"/>
              <a:t>https://gist.github.com/gilangvperdana/82b35379eeccdad86c7e0b2143eba341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4575078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https://gist.github.com/gilangvperdana/82b35379eeccdad86c7e0b2143eba341</a:t>
            </a:r>
          </a:p>
          <a:p>
            <a:endParaRPr lang="en-US" dirty="0" smtClean="0"/>
          </a:p>
          <a:p>
            <a:endParaRPr lang="en-US" dirty="0" smtClean="0"/>
          </a:p>
          <a:p>
            <a:r>
              <a:rPr lang="en-US" dirty="0" smtClean="0"/>
              <a:t>https://belajarlinux.id/openstack-upload-image-atau-iso/</a:t>
            </a:r>
          </a:p>
          <a:p>
            <a:endParaRPr lang="en-US" dirty="0" smtClean="0"/>
          </a:p>
          <a:p>
            <a:r>
              <a:rPr lang="en-US" dirty="0" smtClean="0"/>
              <a:t>https://docs.openstack.org/kolla-ansible/latest/user/quickstart.html</a:t>
            </a:r>
          </a:p>
          <a:p>
            <a:endParaRPr lang="en-US" dirty="0" smtClean="0"/>
          </a:p>
          <a:p>
            <a:r>
              <a:rPr lang="en-US" dirty="0" smtClean="0"/>
              <a:t>https://docs.openstack.org/kolla-ansible/latest/user/virtual-environments.html</a:t>
            </a:r>
          </a:p>
          <a:p>
            <a:endParaRPr lang="en-US" dirty="0" smtClean="0"/>
          </a:p>
          <a:p>
            <a:r>
              <a:rPr lang="en-US" dirty="0" smtClean="0"/>
              <a:t>https://www.gkr.one/blg-20250424-u24-openstack?v=1bec678a0f6980689bb9000c1a51face</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6311611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sz="1200" b="1" i="0" u="none" strike="noStrike" kern="1200" cap="none" dirty="0" smtClean="0">
                <a:solidFill>
                  <a:schemeClr val="dk1"/>
                </a:solidFill>
                <a:effectLst/>
                <a:latin typeface="Arial"/>
                <a:ea typeface="Arial"/>
                <a:cs typeface="Arial"/>
                <a:sym typeface="Arial"/>
              </a:rPr>
              <a:t>Reference</a:t>
            </a:r>
          </a:p>
          <a:p>
            <a:r>
              <a:rPr lang="en-US" sz="1200" b="0" i="0" u="sng" strike="noStrike" kern="1200" cap="none" dirty="0" smtClean="0">
                <a:solidFill>
                  <a:schemeClr val="dk1"/>
                </a:solidFill>
                <a:effectLst/>
                <a:latin typeface="Arial"/>
                <a:ea typeface="Arial"/>
                <a:cs typeface="Arial"/>
                <a:sym typeface="Arial"/>
                <a:hlinkClick r:id="rId3"/>
              </a:rPr>
              <a:t>https://docs.openstack.org/kolla-ansible/latest/user/quickstart.html</a:t>
            </a:r>
            <a:endParaRPr lang="en-US" sz="1200" b="0" i="0" u="none" strike="noStrike" kern="1200" cap="none" dirty="0" smtClean="0">
              <a:solidFill>
                <a:schemeClr val="dk1"/>
              </a:solidFill>
              <a:effectLst/>
              <a:latin typeface="Arial"/>
              <a:ea typeface="Arial"/>
              <a:cs typeface="Arial"/>
              <a:sym typeface="Arial"/>
            </a:endParaRPr>
          </a:p>
          <a:p>
            <a:r>
              <a:rPr lang="en-US" sz="1200" b="0" i="0" u="sng" strike="noStrike" kern="1200" cap="none" dirty="0" smtClean="0">
                <a:solidFill>
                  <a:schemeClr val="dk1"/>
                </a:solidFill>
                <a:effectLst/>
                <a:latin typeface="Arial"/>
                <a:ea typeface="Arial"/>
                <a:cs typeface="Arial"/>
                <a:sym typeface="Arial"/>
                <a:hlinkClick r:id="rId4"/>
              </a:rPr>
              <a:t>https://quay.io/organization/openstack.kolla</a:t>
            </a:r>
            <a:endParaRPr lang="en-US" sz="1200" b="0" i="0" u="none" strike="noStrike" kern="1200" cap="none" dirty="0" smtClean="0">
              <a:solidFill>
                <a:schemeClr val="dk1"/>
              </a:solidFill>
              <a:effectLst/>
              <a:latin typeface="Arial"/>
              <a:ea typeface="Arial"/>
              <a:cs typeface="Arial"/>
              <a:sym typeface="Arial"/>
            </a:endParaRPr>
          </a:p>
          <a:p>
            <a:r>
              <a:rPr lang="en-US" sz="1200" b="0" i="0" u="sng" strike="noStrike" kern="1200" cap="none" dirty="0" smtClean="0">
                <a:solidFill>
                  <a:schemeClr val="dk1"/>
                </a:solidFill>
                <a:effectLst/>
                <a:latin typeface="Arial"/>
                <a:ea typeface="Arial"/>
                <a:cs typeface="Arial"/>
                <a:sym typeface="Arial"/>
                <a:hlinkClick r:id="rId5"/>
              </a:rPr>
              <a:t>https://github.com/openstack/kolla-ansible/blob/master/etc/kolla/globals.yml</a:t>
            </a:r>
            <a:endParaRPr lang="en-US" sz="1200" b="0" i="0" u="none" strike="noStrike" kern="1200" cap="none" dirty="0" smtClean="0">
              <a:solidFill>
                <a:schemeClr val="dk1"/>
              </a:solidFill>
              <a:effectLst/>
              <a:latin typeface="Arial"/>
              <a:ea typeface="Arial"/>
              <a:cs typeface="Arial"/>
              <a:sym typeface="Arial"/>
            </a:endParaRPr>
          </a:p>
          <a:p>
            <a:r>
              <a:rPr lang="en-US" sz="1200" b="0" i="0" u="sng" strike="noStrike" kern="1200" cap="none" dirty="0" smtClean="0">
                <a:solidFill>
                  <a:schemeClr val="dk1"/>
                </a:solidFill>
                <a:effectLst/>
                <a:latin typeface="Arial"/>
                <a:ea typeface="Arial"/>
                <a:cs typeface="Arial"/>
                <a:sym typeface="Arial"/>
                <a:hlinkClick r:id="rId6"/>
              </a:rPr>
              <a:t>https://achchusnulchikam.medium.com/deploy-production-ready-openstack-using-kolla-ansible-9cd1d1f210f1</a:t>
            </a:r>
            <a:endParaRPr lang="en-US" sz="1200" b="0" i="0" u="none" strike="noStrike" kern="1200" cap="none" dirty="0" smtClean="0">
              <a:solidFill>
                <a:schemeClr val="dk1"/>
              </a:solidFill>
              <a:effectLst/>
              <a:latin typeface="Arial"/>
              <a:ea typeface="Arial"/>
              <a:cs typeface="Arial"/>
              <a:sym typeface="Arial"/>
            </a:endParaRP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89647918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https://vikipranata.is-a.dev/posts/openstack-kolla-ansible-2024.2/</a:t>
            </a:r>
          </a:p>
          <a:p>
            <a:r>
              <a:rPr lang="en-US" smtClean="0"/>
              <a:t>https://superuser.openinfra.org/articles/kolla-ansible-openstack-installation-ubuntu-24-04/</a:t>
            </a:r>
            <a:endParaRPr lang="en-US" dirty="0" smtClean="0"/>
          </a:p>
          <a:p>
            <a:r>
              <a:rPr lang="en-US" dirty="0" smtClean="0"/>
              <a:t>https://docs.openstack.org/kolla-ansible/latest/user/quickstart.html</a:t>
            </a:r>
          </a:p>
          <a:p>
            <a:endParaRPr lang="en-US" dirty="0" smtClean="0"/>
          </a:p>
          <a:p>
            <a:endParaRPr lang="en-US" dirty="0" smtClean="0"/>
          </a:p>
          <a:p>
            <a:endParaRPr lang="en-US" dirty="0" smtClean="0"/>
          </a:p>
          <a:p>
            <a:endParaRPr lang="en-US" dirty="0" smtClean="0"/>
          </a:p>
          <a:p>
            <a:r>
              <a:rPr lang="en-US" dirty="0" smtClean="0"/>
              <a:t>https://www.youtube.com/watch?v=Mc70SjV72ck</a:t>
            </a:r>
          </a:p>
          <a:p>
            <a:endParaRPr lang="en-US" dirty="0" smtClean="0"/>
          </a:p>
          <a:p>
            <a:r>
              <a:rPr lang="en-US" dirty="0" smtClean="0"/>
              <a:t>https://www.scribd.com/document/822144481/openstack-kolla-Ansible-AIO-Multinode-Documentation</a:t>
            </a:r>
          </a:p>
          <a:p>
            <a:endParaRPr lang="en-US" dirty="0" smtClean="0"/>
          </a:p>
          <a:p>
            <a:endParaRPr lang="en-US" dirty="0" smtClean="0"/>
          </a:p>
          <a:p>
            <a:r>
              <a:rPr lang="sv-SE" dirty="0" smtClean="0"/>
              <a:t>Kolla Ansible OpenStack Installation (Ubuntu 24.04) (Rev.: 20250523-0)</a:t>
            </a:r>
          </a:p>
          <a:p>
            <a:r>
              <a:rPr lang="en-US" dirty="0" smtClean="0"/>
              <a:t>https://www.gkr.one/blg-20250424-u24-openstack</a:t>
            </a:r>
          </a:p>
          <a:p>
            <a:endParaRPr lang="en-US" dirty="0" smtClean="0"/>
          </a:p>
          <a:p>
            <a:r>
              <a:rPr lang="en-US" sz="1200" b="0" i="0" u="sng" strike="noStrike" kern="1200" cap="none" dirty="0" smtClean="0">
                <a:solidFill>
                  <a:schemeClr val="dk1"/>
                </a:solidFill>
                <a:effectLst/>
                <a:latin typeface="Arial"/>
                <a:ea typeface="Arial"/>
                <a:cs typeface="Arial"/>
                <a:sym typeface="Arial"/>
                <a:hlinkClick r:id="rId3"/>
              </a:rPr>
              <a:t>Deploy </a:t>
            </a:r>
            <a:r>
              <a:rPr lang="en-US" sz="1200" b="0" i="0" u="sng" strike="noStrike" kern="1200" cap="none" dirty="0" err="1" smtClean="0">
                <a:solidFill>
                  <a:schemeClr val="dk1"/>
                </a:solidFill>
                <a:effectLst/>
                <a:latin typeface="Arial"/>
                <a:ea typeface="Arial"/>
                <a:cs typeface="Arial"/>
                <a:sym typeface="Arial"/>
                <a:hlinkClick r:id="rId3"/>
              </a:rPr>
              <a:t>Multinode</a:t>
            </a:r>
            <a:r>
              <a:rPr lang="en-US" sz="1200" b="0" i="0" u="sng" strike="noStrike" kern="1200" cap="none" dirty="0" smtClean="0">
                <a:solidFill>
                  <a:schemeClr val="dk1"/>
                </a:solidFill>
                <a:effectLst/>
                <a:latin typeface="Arial"/>
                <a:ea typeface="Arial"/>
                <a:cs typeface="Arial"/>
                <a:sym typeface="Arial"/>
                <a:hlinkClick r:id="rId3"/>
              </a:rPr>
              <a:t> OpenStack using </a:t>
            </a:r>
            <a:r>
              <a:rPr lang="en-US" sz="1200" b="0" i="0" u="sng" strike="noStrike" kern="1200" cap="none" dirty="0" err="1" smtClean="0">
                <a:solidFill>
                  <a:schemeClr val="dk1"/>
                </a:solidFill>
                <a:effectLst/>
                <a:latin typeface="Arial"/>
                <a:ea typeface="Arial"/>
                <a:cs typeface="Arial"/>
                <a:sym typeface="Arial"/>
                <a:hlinkClick r:id="rId3"/>
              </a:rPr>
              <a:t>Kolla-Ansible</a:t>
            </a:r>
            <a:endParaRPr lang="en-US" sz="1200" b="0" i="0" u="sng" strike="noStrike" kern="1200" cap="none" dirty="0" smtClean="0">
              <a:solidFill>
                <a:schemeClr val="dk1"/>
              </a:solidFill>
              <a:effectLst/>
              <a:latin typeface="Arial"/>
              <a:ea typeface="Arial"/>
              <a:cs typeface="Arial"/>
              <a:sym typeface="Arial"/>
              <a:hlinkClick r:id="rId3"/>
            </a:endParaRPr>
          </a:p>
          <a:p>
            <a:endParaRPr lang="en-US" sz="1200" b="0" i="0" u="none" strike="noStrike" kern="1200" cap="none" dirty="0" smtClean="0">
              <a:solidFill>
                <a:schemeClr val="dk1"/>
              </a:solidFill>
              <a:effectLst/>
              <a:latin typeface="Arial"/>
              <a:ea typeface="Arial"/>
              <a:cs typeface="Arial"/>
              <a:sym typeface="Arial"/>
              <a:hlinkClick r:id="rId3"/>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dirty="0" err="1" smtClean="0">
                <a:solidFill>
                  <a:schemeClr val="dk1"/>
                </a:solidFill>
                <a:effectLst/>
                <a:latin typeface="Arial"/>
                <a:ea typeface="Arial"/>
                <a:cs typeface="Arial"/>
                <a:sym typeface="Arial"/>
              </a:rPr>
              <a:t>Multinode</a:t>
            </a:r>
            <a:r>
              <a:rPr lang="en-US" sz="1200" b="0" i="0" u="none" strike="noStrike" kern="1200" cap="none" dirty="0" smtClean="0">
                <a:solidFill>
                  <a:schemeClr val="dk1"/>
                </a:solidFill>
                <a:effectLst/>
                <a:latin typeface="Arial"/>
                <a:ea typeface="Arial"/>
                <a:cs typeface="Arial"/>
                <a:sym typeface="Arial"/>
              </a:rPr>
              <a:t> Deployment of </a:t>
            </a:r>
            <a:r>
              <a:rPr lang="en-US" sz="1200" b="0" i="0" u="none" strike="noStrike" kern="1200" cap="none" dirty="0" err="1" smtClean="0">
                <a:solidFill>
                  <a:schemeClr val="dk1"/>
                </a:solidFill>
                <a:effectLst/>
                <a:latin typeface="Arial"/>
                <a:ea typeface="Arial"/>
                <a:cs typeface="Arial"/>
                <a:sym typeface="Arial"/>
              </a:rPr>
              <a:t>Kolla</a:t>
            </a:r>
            <a:r>
              <a:rPr lang="en-US" sz="1200" b="0" i="0" u="none" strike="noStrike" kern="1200" cap="none" dirty="0" smtClean="0">
                <a:solidFill>
                  <a:schemeClr val="dk1"/>
                </a:solidFill>
                <a:effectLst/>
                <a:latin typeface="Arial"/>
                <a:ea typeface="Arial"/>
                <a:cs typeface="Arial"/>
                <a:sym typeface="Arial"/>
              </a:rPr>
              <a:t>  https://docs.openstack.org/kolla-ansible/latest/user/multinode.html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Deploy </a:t>
            </a:r>
            <a:r>
              <a:rPr lang="en-US" sz="1200" b="1" i="0" u="none" strike="noStrike" kern="1200" cap="none" dirty="0" err="1" smtClean="0">
                <a:solidFill>
                  <a:schemeClr val="dk1"/>
                </a:solidFill>
                <a:effectLst/>
                <a:latin typeface="Arial"/>
                <a:ea typeface="Arial"/>
                <a:cs typeface="Arial"/>
                <a:sym typeface="Arial"/>
              </a:rPr>
              <a:t>Multinode</a:t>
            </a:r>
            <a:r>
              <a:rPr lang="en-US" sz="1200" b="1" i="0" u="none" strike="noStrike" kern="1200" cap="none" dirty="0" smtClean="0">
                <a:solidFill>
                  <a:schemeClr val="dk1"/>
                </a:solidFill>
                <a:effectLst/>
                <a:latin typeface="Arial"/>
                <a:ea typeface="Arial"/>
                <a:cs typeface="Arial"/>
                <a:sym typeface="Arial"/>
              </a:rPr>
              <a:t> OpenStack using </a:t>
            </a:r>
            <a:r>
              <a:rPr lang="en-US" sz="1200" b="1" i="0" u="none" strike="noStrike" kern="1200" cap="none" dirty="0" err="1" smtClean="0">
                <a:solidFill>
                  <a:schemeClr val="dk1"/>
                </a:solidFill>
                <a:effectLst/>
                <a:latin typeface="Arial"/>
                <a:ea typeface="Arial"/>
                <a:cs typeface="Arial"/>
                <a:sym typeface="Arial"/>
              </a:rPr>
              <a:t>Kolla-Ansible</a:t>
            </a:r>
            <a:endParaRPr lang="en-US" sz="1200" b="1"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dirty="0" smtClean="0">
                <a:solidFill>
                  <a:schemeClr val="dk1"/>
                </a:solidFill>
                <a:effectLst/>
                <a:latin typeface="Arial"/>
                <a:ea typeface="Arial"/>
                <a:cs typeface="Arial"/>
                <a:sym typeface="Arial"/>
              </a:rPr>
              <a:t>https://kifarunix.com/deploy-multinode-openstack-using-kolla-ansible/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dirty="0" smtClean="0">
                <a:solidFill>
                  <a:schemeClr val="dk1"/>
                </a:solidFill>
                <a:effectLst/>
                <a:latin typeface="Arial"/>
                <a:ea typeface="Arial"/>
                <a:cs typeface="Arial"/>
                <a:sym typeface="Arial"/>
              </a:rPr>
              <a:t>https://superuser.openinfra.org/articles/how-to-implement-an-openstack-based-private-cloud-with-kolla-ansible-part-2/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u="none" strike="noStrike" kern="1200" cap="none" dirty="0" smtClean="0">
              <a:solidFill>
                <a:schemeClr val="dk1"/>
              </a:solidFill>
              <a:effectLst/>
              <a:latin typeface="Arial"/>
              <a:ea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hlinkClick r:id="rId3"/>
              </a:rPr>
              <a:t/>
            </a:r>
            <a:br>
              <a:rPr lang="en-US" sz="1200" b="0" i="0" u="none" strike="noStrike" kern="1200" cap="none" dirty="0" smtClean="0">
                <a:solidFill>
                  <a:schemeClr val="dk1"/>
                </a:solidFill>
                <a:effectLst/>
                <a:latin typeface="Arial"/>
                <a:ea typeface="Arial"/>
                <a:cs typeface="Arial"/>
                <a:sym typeface="Arial"/>
                <a:hlinkClick r:id="rId3"/>
              </a:rPr>
            </a:b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2930744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https://btech.id/en/news/cara-menginstall-openstack-menggunakan-kolla-ansible/</a:t>
            </a:r>
          </a:p>
          <a:p>
            <a:r>
              <a:rPr lang="en-US" dirty="0" smtClean="0"/>
              <a:t>https://kifarunix.com/deploy-all-in-one-openstack-with-kolla-ansible-on-ubuntu-22-04/</a:t>
            </a:r>
          </a:p>
          <a:p>
            <a:r>
              <a:rPr lang="en-US" dirty="0" smtClean="0"/>
              <a:t>https://superuser.openinfra.org/articles/how-to-implement-an-openstack-based-private-cloud-with-kolla-ansible-part-1/</a:t>
            </a:r>
          </a:p>
          <a:p>
            <a:endParaRPr lang="en-US" dirty="0" smtClean="0"/>
          </a:p>
          <a:p>
            <a:r>
              <a:rPr lang="en-US" dirty="0" smtClean="0"/>
              <a:t>https://www.stackhpc.com/pages/kayobe.html</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4921159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https://medium.com/btech-engineering/openstack-series-2-install-openstack-menggunakan-kolla-ansible-multi-nodes-df4f07aae73e</a:t>
            </a:r>
          </a:p>
          <a:p>
            <a:endParaRPr lang="en-US" dirty="0" smtClean="0"/>
          </a:p>
          <a:p>
            <a:r>
              <a:rPr lang="en-US" dirty="0" smtClean="0"/>
              <a:t>https://medium.com/btech-engineering/openstack-series-2-install-openstack-menggunakan-kolla-ansible-multi-nodes-df4f07aae73e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3897282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https://vikipranata.is-a.dev/posts/openstack-kolla-ansible-2024.2/</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7093986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https://vikipranata.is-a.dev/posts/openstack-kolla-ansible-2024.2/</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6788007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https://raw.githubusercontent.com/vikipranata/vikipranata/refs/heads/hugo/content/posts/openstack-kolla-ansible-2024.2/uploads/sample-netplan.yaml</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6047106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6235804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rgbClr val="0070C0"/>
                </a:solidFill>
              </a:rPr>
              <a:t>Apache </a:t>
            </a:r>
            <a:r>
              <a:rPr lang="en-US" sz="1200" b="1" dirty="0" err="1" smtClean="0">
                <a:solidFill>
                  <a:srgbClr val="0070C0"/>
                </a:solidFill>
              </a:rPr>
              <a:t>Cloudstack</a:t>
            </a:r>
            <a:endParaRPr lang="en-US" sz="1200" b="1" dirty="0" smtClean="0">
              <a:solidFill>
                <a:srgbClr val="0070C0"/>
              </a:solidFill>
            </a:endParaRPr>
          </a:p>
          <a:p>
            <a:r>
              <a:rPr lang="en-US" dirty="0" smtClean="0"/>
              <a:t>https://docs.cloudstack.apache.org/en/4.16.0.0/conceptsandterminology/choosing_deployment_architecture.html</a:t>
            </a:r>
          </a:p>
          <a:p>
            <a:r>
              <a:rPr lang="en-US" dirty="0" smtClean="0"/>
              <a:t>OK https://docs.huihoo.com/apache/cloudstack/4.1.0/en-US/Apache_CloudStack/4.1.0/html-single/Installation_Guide/index.html</a:t>
            </a:r>
          </a:p>
          <a:p>
            <a:r>
              <a:rPr lang="en-US" dirty="0" smtClean="0"/>
              <a:t>OK https://galaxy.ai/youtube-summarizer/step-by-step-guide-to-setting-up-a-private-cloud-with-apache-cloudstack-cxYpOT9CXdI</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dirty="0" smtClean="0">
                <a:solidFill>
                  <a:schemeClr val="dk1"/>
                </a:solidFill>
                <a:effectLst/>
                <a:latin typeface="Arial"/>
                <a:ea typeface="Arial"/>
                <a:cs typeface="Arial"/>
                <a:sym typeface="Arial"/>
                <a:hlinkClick r:id="rId3"/>
              </a:rPr>
              <a:t>Small-Scale Deployment</a:t>
            </a:r>
          </a:p>
          <a:p>
            <a:r>
              <a:rPr lang="en-US" dirty="0" smtClean="0"/>
              <a:t>OK https://docs.cloudstack.apache.org/en/4.16.0.0/conceptsandterminology/choosing_deployment_architecture.html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smtClean="0">
                <a:solidFill>
                  <a:srgbClr val="0070C0"/>
                </a:solidFill>
              </a:rPr>
              <a:t>Cloud Stack</a:t>
            </a:r>
          </a:p>
          <a:p>
            <a:r>
              <a:rPr lang="en-US" dirty="0" smtClean="0"/>
              <a:t>https://technologyrss.com/private-cloud-setup-step-by-step/amp/</a:t>
            </a:r>
          </a:p>
          <a:p>
            <a:endParaRPr lang="en-US" dirty="0" smtClean="0"/>
          </a:p>
          <a:p>
            <a:endParaRPr lang="en-US" dirty="0" smtClean="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cap="none" dirty="0" err="1" smtClean="0">
                <a:solidFill>
                  <a:schemeClr val="dk1"/>
                </a:solidFill>
                <a:effectLst/>
                <a:latin typeface="Arial"/>
                <a:ea typeface="Arial"/>
                <a:cs typeface="Arial"/>
                <a:sym typeface="Arial"/>
                <a:hlinkClick r:id="rId4"/>
              </a:rPr>
              <a:t>CloudStack</a:t>
            </a:r>
            <a:r>
              <a:rPr lang="en-US" sz="1200" b="0" i="0" u="none" strike="noStrike" kern="1200" cap="none" dirty="0" smtClean="0">
                <a:solidFill>
                  <a:schemeClr val="dk1"/>
                </a:solidFill>
                <a:effectLst/>
                <a:latin typeface="Arial"/>
                <a:ea typeface="Arial"/>
                <a:cs typeface="Arial"/>
                <a:sym typeface="Arial"/>
                <a:hlinkClick r:id="rId4"/>
              </a:rPr>
              <a:t> Basic Networking</a:t>
            </a:r>
          </a:p>
          <a:p>
            <a:r>
              <a:rPr lang="en-US" dirty="0" smtClean="0"/>
              <a:t>https://cloudierthanthou.wordpress.com/2015/04/08/cloudstack-basic-networking-the-missing-owners-manual/</a:t>
            </a:r>
          </a:p>
          <a:p>
            <a:r>
              <a:rPr lang="en-US" dirty="0" smtClean="0"/>
              <a:t>Deploy OpenStack using </a:t>
            </a:r>
            <a:r>
              <a:rPr lang="en-US" dirty="0" err="1" smtClean="0"/>
              <a:t>Kolla-Ansible</a:t>
            </a:r>
            <a:endParaRPr lang="en-US" dirty="0" smtClean="0"/>
          </a:p>
          <a:p>
            <a:r>
              <a:rPr lang="en-US" dirty="0" smtClean="0"/>
              <a:t>https://hackmd.io/@yujungcheng/ByXxq-_Vj</a:t>
            </a:r>
          </a:p>
          <a:p>
            <a:endParaRPr lang="en-US" dirty="0" smtClean="0"/>
          </a:p>
          <a:p>
            <a:r>
              <a:rPr lang="en-US" dirty="0" smtClean="0"/>
              <a:t>https://belajarlinux.id/mengenal-apa-itu-kolla-ansible/</a:t>
            </a:r>
          </a:p>
          <a:p>
            <a:r>
              <a:rPr lang="en-US" dirty="0" smtClean="0"/>
              <a:t>https://releases.openstack.org/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Deploy All-in-One OpenStack with </a:t>
            </a:r>
            <a:r>
              <a:rPr lang="en-US" sz="1200" b="1" i="0" u="none" strike="noStrike" kern="1200" cap="none" dirty="0" err="1" smtClean="0">
                <a:solidFill>
                  <a:schemeClr val="dk1"/>
                </a:solidFill>
                <a:effectLst/>
                <a:latin typeface="Arial"/>
                <a:ea typeface="Arial"/>
                <a:cs typeface="Arial"/>
                <a:sym typeface="Arial"/>
              </a:rPr>
              <a:t>Kolla-Ansible</a:t>
            </a:r>
            <a:r>
              <a:rPr lang="en-US" sz="1200" b="1" i="0" u="none" strike="noStrike" kern="1200" cap="none" dirty="0" smtClean="0">
                <a:solidFill>
                  <a:schemeClr val="dk1"/>
                </a:solidFill>
                <a:effectLst/>
                <a:latin typeface="Arial"/>
                <a:ea typeface="Arial"/>
                <a:cs typeface="Arial"/>
                <a:sym typeface="Arial"/>
              </a:rPr>
              <a:t> on Ubuntu 22.04</a:t>
            </a:r>
          </a:p>
          <a:p>
            <a:r>
              <a:rPr lang="en-US" dirty="0" smtClean="0"/>
              <a:t> https://www.scribd.com/document/822144481/openstack-kolla-Ansible-AIO-Multinode-Documentation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Deploy All-in-One OpenStack with </a:t>
            </a:r>
            <a:r>
              <a:rPr lang="en-US" sz="1200" b="1" i="0" u="none" strike="noStrike" kern="1200" cap="none" dirty="0" err="1" smtClean="0">
                <a:solidFill>
                  <a:schemeClr val="dk1"/>
                </a:solidFill>
                <a:effectLst/>
                <a:latin typeface="Arial"/>
                <a:ea typeface="Arial"/>
                <a:cs typeface="Arial"/>
                <a:sym typeface="Arial"/>
              </a:rPr>
              <a:t>Kolla-Ansible</a:t>
            </a:r>
            <a:r>
              <a:rPr lang="en-US" sz="1200" b="1" i="0" u="none" strike="noStrike" kern="1200" cap="none" dirty="0" smtClean="0">
                <a:solidFill>
                  <a:schemeClr val="dk1"/>
                </a:solidFill>
                <a:effectLst/>
                <a:latin typeface="Arial"/>
                <a:ea typeface="Arial"/>
                <a:cs typeface="Arial"/>
                <a:sym typeface="Arial"/>
              </a:rPr>
              <a:t> on Ubuntu 22.04</a:t>
            </a:r>
          </a:p>
          <a:p>
            <a:r>
              <a:rPr lang="en-US" dirty="0" smtClean="0"/>
              <a:t>https://kifarunix.com/deploy-all-in-one-openstack-with-kolla-ansible-on-ubuntu-22-04/#google_vignette</a:t>
            </a:r>
          </a:p>
          <a:p>
            <a:r>
              <a:rPr lang="en-US" sz="1200" b="0" i="0" u="none" strike="noStrike" kern="1200" cap="none" dirty="0" smtClean="0">
                <a:solidFill>
                  <a:schemeClr val="dk1"/>
                </a:solidFill>
                <a:effectLst/>
                <a:latin typeface="Arial"/>
                <a:ea typeface="Arial"/>
                <a:cs typeface="Arial"/>
                <a:sym typeface="Arial"/>
              </a:rPr>
              <a:t>Automated </a:t>
            </a:r>
            <a:r>
              <a:rPr lang="en-US" sz="1200" b="0" i="0" u="none" strike="noStrike" kern="1200" cap="none" dirty="0" err="1" smtClean="0">
                <a:solidFill>
                  <a:schemeClr val="dk1"/>
                </a:solidFill>
                <a:effectLst/>
                <a:latin typeface="Arial"/>
                <a:ea typeface="Arial"/>
                <a:cs typeface="Arial"/>
                <a:sym typeface="Arial"/>
              </a:rPr>
              <a:t>Multinode</a:t>
            </a:r>
            <a:r>
              <a:rPr lang="en-US" sz="1200" b="0" i="0" u="none" strike="noStrike" kern="1200" cap="none" dirty="0" smtClean="0">
                <a:solidFill>
                  <a:schemeClr val="dk1"/>
                </a:solidFill>
                <a:effectLst/>
                <a:latin typeface="Arial"/>
                <a:ea typeface="Arial"/>
                <a:cs typeface="Arial"/>
                <a:sym typeface="Arial"/>
              </a:rPr>
              <a:t> OpenStack Deployment with </a:t>
            </a:r>
            <a:r>
              <a:rPr lang="en-US" sz="1200" b="0" i="0" u="none" strike="noStrike" kern="1200" cap="none" dirty="0" err="1" smtClean="0">
                <a:solidFill>
                  <a:schemeClr val="dk1"/>
                </a:solidFill>
                <a:effectLst/>
                <a:latin typeface="Arial"/>
                <a:ea typeface="Arial"/>
                <a:cs typeface="Arial"/>
                <a:sym typeface="Arial"/>
              </a:rPr>
              <a:t>Kolla-Ansible</a:t>
            </a:r>
            <a:endParaRPr lang="en-US" sz="1200" b="0" i="0" u="none" strike="noStrike" kern="1200" cap="none" dirty="0" smtClean="0">
              <a:solidFill>
                <a:schemeClr val="dk1"/>
              </a:solidFill>
              <a:effectLst/>
              <a:latin typeface="Arial"/>
              <a:ea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rPr>
              <a:t>Updated on July 29, 2025 by </a:t>
            </a:r>
            <a:r>
              <a:rPr lang="en-US" sz="1200" b="0" i="0" u="none" strike="noStrike" kern="1200" cap="none" dirty="0" smtClean="0">
                <a:solidFill>
                  <a:schemeClr val="dk1"/>
                </a:solidFill>
                <a:effectLst/>
                <a:latin typeface="Arial"/>
                <a:ea typeface="Arial"/>
                <a:cs typeface="Arial"/>
                <a:sym typeface="Arial"/>
                <a:hlinkClick r:id="rId5"/>
              </a:rPr>
              <a:t>Lauren Morley</a:t>
            </a:r>
            <a:endParaRPr lang="en-US" sz="1200" b="0" i="0" u="none" strike="noStrike" kern="1200" cap="none" dirty="0" smtClean="0">
              <a:solidFill>
                <a:schemeClr val="dk1"/>
              </a:solidFill>
              <a:effectLst/>
              <a:latin typeface="Arial"/>
              <a:ea typeface="Arial"/>
              <a:cs typeface="Arial"/>
              <a:sym typeface="Arial"/>
            </a:endParaRPr>
          </a:p>
          <a:p>
            <a:r>
              <a:rPr lang="en-US" dirty="0" smtClean="0"/>
              <a:t>https://openmetal.io/resources/blog/automated-multinode-openstack-deployment-with-kolla-ansible/</a:t>
            </a:r>
          </a:p>
          <a:p>
            <a:endParaRPr lang="en-US" dirty="0" smtClean="0"/>
          </a:p>
          <a:p>
            <a:r>
              <a:rPr lang="en-US" dirty="0" smtClean="0"/>
              <a:t>https://gist.github.com/gilangvperdana/356296c8f4c6726859da290321087e71</a:t>
            </a:r>
          </a:p>
          <a:p>
            <a:r>
              <a:rPr lang="en-US" dirty="0" smtClean="0"/>
              <a:t>https://serverfault.com/questions/1130614/kolla-ansible-deployment-fails-on-ubuntu-22-04-while-waiting-for-nova-compute-s</a:t>
            </a:r>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54851547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https://kevin-wang-xin.medium.com/build-private-cloud-with-openstack-kolla-ansible-step-by-step-guide-1-0-part-1-preparation-24dc005712d0</a:t>
            </a:r>
          </a:p>
          <a:p>
            <a:endParaRPr lang="en-US" dirty="0" smtClean="0"/>
          </a:p>
          <a:p>
            <a:r>
              <a:rPr lang="en-US" dirty="0" smtClean="0"/>
              <a:t>https://github.com/openstack/kolla-ansible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32336563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https://kevin-wang-xin.medium.com/build-private-cloud-with-openstack-kolla-ansible-step-by-step-guide-1-0-part-1-preparation-24dc005712d0</a:t>
            </a:r>
          </a:p>
          <a:p>
            <a:endParaRPr lang="en-US" dirty="0" smtClean="0"/>
          </a:p>
          <a:p>
            <a:r>
              <a:rPr lang="en-US" dirty="0" smtClean="0"/>
              <a:t>https://github.com/openstack/kolla-ansible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31058180"/>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https://www.cnblogs.com/liujitao79/p/15330702.html</a:t>
            </a:r>
          </a:p>
          <a:p>
            <a:r>
              <a:rPr lang="en-US" sz="1200" b="0" i="0" u="none" strike="noStrike" kern="1200" cap="none" dirty="0" smtClean="0">
                <a:solidFill>
                  <a:schemeClr val="dk1"/>
                </a:solidFill>
                <a:effectLst/>
                <a:latin typeface="Arial"/>
                <a:ea typeface="Arial"/>
                <a:cs typeface="Arial"/>
                <a:sym typeface="Arial"/>
              </a:rPr>
              <a:t>https://docs.openstack.org/project-deploy-guide/kolla-ansible/train/</a:t>
            </a:r>
          </a:p>
          <a:p>
            <a:r>
              <a:rPr lang="en-US" dirty="0" smtClean="0"/>
              <a:t>https://elatov.github.io/2018/01/openstack-ansible-and-kolla-on-ubuntu-1604/</a:t>
            </a:r>
          </a:p>
          <a:p>
            <a:endParaRPr lang="en-US" dirty="0" smtClean="0"/>
          </a:p>
          <a:p>
            <a:r>
              <a:rPr lang="en-US" dirty="0" smtClean="0"/>
              <a:t>https://satishdotpatel.github.io/openstack-ansible-add-sriov-compute-node/</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21089814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https://www.cnblogs.com/liujitao79/p/15330702.html</a:t>
            </a:r>
          </a:p>
          <a:p>
            <a:r>
              <a:rPr lang="en-US" sz="1200" b="0" i="0" u="none" strike="noStrike" kern="1200" cap="none" dirty="0" smtClean="0">
                <a:solidFill>
                  <a:schemeClr val="dk1"/>
                </a:solidFill>
                <a:effectLst/>
                <a:latin typeface="Arial"/>
                <a:ea typeface="Arial"/>
                <a:cs typeface="Arial"/>
                <a:sym typeface="Arial"/>
              </a:rPr>
              <a:t>https://docs.openstack.org/project-deploy-guide/kolla-ansible/train/</a:t>
            </a:r>
          </a:p>
          <a:p>
            <a:r>
              <a:rPr lang="en-US" dirty="0" smtClean="0"/>
              <a:t>https://elatov.github.io/2018/01/openstack-ansible-and-kolla-on-ubuntu-1604/</a:t>
            </a:r>
          </a:p>
          <a:p>
            <a:r>
              <a:rPr lang="en-US" dirty="0" smtClean="0"/>
              <a:t>https://satishdotpatel.github.io/openstack-ansible-add-sriov-compute-node/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Deploy Production Ready OpenStack Using </a:t>
            </a:r>
            <a:r>
              <a:rPr lang="en-US" sz="1200" b="1" i="0" u="none" strike="noStrike" kern="1200" cap="none" dirty="0" err="1" smtClean="0">
                <a:solidFill>
                  <a:schemeClr val="dk1"/>
                </a:solidFill>
                <a:effectLst/>
                <a:latin typeface="Arial"/>
                <a:ea typeface="Arial"/>
                <a:cs typeface="Arial"/>
                <a:sym typeface="Arial"/>
              </a:rPr>
              <a:t>Kolla</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Ansible</a:t>
            </a:r>
            <a:endParaRPr lang="en-US" sz="1200" b="1" i="0" u="none" strike="noStrike" kern="1200" cap="none" dirty="0" smtClean="0">
              <a:solidFill>
                <a:schemeClr val="dk1"/>
              </a:solidFill>
              <a:effectLst/>
              <a:latin typeface="Arial"/>
              <a:ea typeface="Arial"/>
              <a:cs typeface="Arial"/>
              <a:sym typeface="Arial"/>
            </a:endParaRPr>
          </a:p>
          <a:p>
            <a:r>
              <a:rPr lang="en-US" dirty="0" smtClean="0"/>
              <a:t>https://achchusnulchikam.medium.com/deploy-production-ready-openstack-using-kolla-ansible-9cd1d1f210f1</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742343725"/>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https://achchusnulchikam.medium.com/deploy-production-ready-openstack-using-kolla-ansible-9cd1d1f210f1</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4657988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https://hackmd.io/@yujungcheng/ByXxq-_Vj</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OpenStack </a:t>
            </a:r>
            <a:r>
              <a:rPr lang="en-US" sz="1200" b="1" i="0" u="none" strike="noStrike" kern="1200" cap="none" dirty="0" err="1" smtClean="0">
                <a:solidFill>
                  <a:schemeClr val="dk1"/>
                </a:solidFill>
                <a:effectLst/>
                <a:latin typeface="Arial"/>
                <a:ea typeface="Arial"/>
                <a:cs typeface="Arial"/>
                <a:sym typeface="Arial"/>
              </a:rPr>
              <a:t>pada</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Satu</a:t>
            </a:r>
            <a:r>
              <a:rPr lang="en-US" sz="1200" b="1" i="0" u="none" strike="noStrike" kern="1200" cap="none" dirty="0" smtClean="0">
                <a:solidFill>
                  <a:schemeClr val="dk1"/>
                </a:solidFill>
                <a:effectLst/>
                <a:latin typeface="Arial"/>
                <a:ea typeface="Arial"/>
                <a:cs typeface="Arial"/>
                <a:sym typeface="Arial"/>
              </a:rPr>
              <a:t> Node </a:t>
            </a:r>
            <a:r>
              <a:rPr lang="en-US" sz="1200" b="1" i="0" u="none" strike="noStrike" kern="1200" cap="none" dirty="0" err="1" smtClean="0">
                <a:solidFill>
                  <a:schemeClr val="dk1"/>
                </a:solidFill>
                <a:effectLst/>
                <a:latin typeface="Arial"/>
                <a:ea typeface="Arial"/>
                <a:cs typeface="Arial"/>
                <a:sym typeface="Arial"/>
              </a:rPr>
              <a:t>dengan</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Kolla-Ansible</a:t>
            </a:r>
            <a:r>
              <a:rPr lang="en-US" sz="1200" b="1" i="0" u="none" strike="noStrike" kern="1200" cap="none" dirty="0" smtClean="0">
                <a:solidFill>
                  <a:schemeClr val="dk1"/>
                </a:solidFill>
                <a:effectLst/>
                <a:latin typeface="Arial"/>
                <a:ea typeface="Arial"/>
                <a:cs typeface="Arial"/>
                <a:sym typeface="Arial"/>
              </a:rPr>
              <a:t> — </a:t>
            </a:r>
            <a:r>
              <a:rPr lang="en-US" sz="1200" b="1" i="0" u="none" strike="noStrike" kern="1200" cap="none" dirty="0" err="1" smtClean="0">
                <a:solidFill>
                  <a:schemeClr val="dk1"/>
                </a:solidFill>
                <a:effectLst/>
                <a:latin typeface="Arial"/>
                <a:ea typeface="Arial"/>
                <a:cs typeface="Arial"/>
                <a:sym typeface="Arial"/>
              </a:rPr>
              <a:t>Panduan</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Lengkap</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untuk</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Penggunaan</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Seperti</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Produksi</a:t>
            </a:r>
            <a:r>
              <a:rPr lang="en-US" sz="1200" b="1" i="0" u="none" strike="noStrike" kern="1200" cap="none" dirty="0" smtClean="0">
                <a:solidFill>
                  <a:schemeClr val="dk1"/>
                </a:solidFill>
                <a:effectLst/>
                <a:latin typeface="Arial"/>
                <a:ea typeface="Arial"/>
                <a:cs typeface="Arial"/>
                <a:sym typeface="Arial"/>
              </a:rPr>
              <a:t> https://www.youtube.com/watch?v=Mc70SjV72ck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https://hackmd.io/@yujungcheng/ByXxq-_Vj#2-Setup-NFS-server-on-controller-for-cinder-backend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https://hackmd.io/@yujungcheng/ByXxq-_Vj#4-Access-OpenStack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https://belajarlinux.id/openstack-kolla-ansible-all-in-one-openstack-yoga/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https://gist.github.com/gilangvperdana/82b35379eeccdad86c7e0b2143eba341</a:t>
            </a:r>
          </a:p>
          <a:p>
            <a:r>
              <a:rPr lang="en-US" sz="1200" b="1" i="0" u="none" strike="noStrike" kern="1200" cap="none" dirty="0" smtClean="0">
                <a:solidFill>
                  <a:schemeClr val="dk1"/>
                </a:solidFill>
                <a:effectLst/>
                <a:latin typeface="Arial"/>
                <a:ea typeface="Arial"/>
                <a:cs typeface="Arial"/>
                <a:sym typeface="Arial"/>
              </a:rPr>
              <a:t>Prerequisites</a:t>
            </a:r>
          </a:p>
          <a:p>
            <a:r>
              <a:rPr lang="en-US" sz="1200" b="0" i="0" u="none" strike="noStrike" kern="1200" cap="none" dirty="0" smtClean="0">
                <a:solidFill>
                  <a:schemeClr val="dk1"/>
                </a:solidFill>
                <a:effectLst/>
                <a:latin typeface="Arial"/>
                <a:ea typeface="Arial"/>
                <a:cs typeface="Arial"/>
                <a:sym typeface="Arial"/>
              </a:rPr>
              <a:t>3 NIC</a:t>
            </a:r>
          </a:p>
          <a:p>
            <a:pPr lvl="1"/>
            <a:r>
              <a:rPr lang="en-US" sz="1200" b="0" i="0" u="none" strike="noStrike" kern="1200" cap="none" dirty="0" smtClean="0">
                <a:solidFill>
                  <a:schemeClr val="dk1"/>
                </a:solidFill>
                <a:effectLst/>
                <a:latin typeface="Arial"/>
                <a:ea typeface="Arial"/>
                <a:cs typeface="Arial"/>
                <a:sym typeface="Arial"/>
              </a:rPr>
              <a:t>NIC 1 -&gt; NAT (enp0s3)</a:t>
            </a:r>
          </a:p>
          <a:p>
            <a:pPr lvl="1"/>
            <a:r>
              <a:rPr lang="en-US" sz="1200" b="0" i="0" u="none" strike="noStrike" kern="1200" cap="none" dirty="0" smtClean="0">
                <a:solidFill>
                  <a:schemeClr val="dk1"/>
                </a:solidFill>
                <a:effectLst/>
                <a:latin typeface="Arial"/>
                <a:ea typeface="Arial"/>
                <a:cs typeface="Arial"/>
                <a:sym typeface="Arial"/>
              </a:rPr>
              <a:t>NIC 2 -&gt; Host Only Adapter (enp0s8)</a:t>
            </a:r>
          </a:p>
          <a:p>
            <a:pPr lvl="1"/>
            <a:r>
              <a:rPr lang="en-US" sz="1200" b="0" i="0" u="none" strike="noStrike" kern="1200" cap="none" dirty="0" smtClean="0">
                <a:solidFill>
                  <a:schemeClr val="dk1"/>
                </a:solidFill>
                <a:effectLst/>
                <a:latin typeface="Arial"/>
                <a:ea typeface="Arial"/>
                <a:cs typeface="Arial"/>
                <a:sym typeface="Arial"/>
              </a:rPr>
              <a:t>NIC 3 -&gt; Bridge Mode (enp0s9)</a:t>
            </a:r>
          </a:p>
          <a:p>
            <a:r>
              <a:rPr lang="en-US" sz="1200" b="0" i="0" u="none" strike="noStrike" kern="1200" cap="none" dirty="0" smtClean="0">
                <a:solidFill>
                  <a:schemeClr val="dk1"/>
                </a:solidFill>
                <a:effectLst/>
                <a:latin typeface="Arial"/>
                <a:ea typeface="Arial"/>
                <a:cs typeface="Arial"/>
                <a:sym typeface="Arial"/>
              </a:rPr>
              <a:t>50 GB for /dev/</a:t>
            </a:r>
            <a:r>
              <a:rPr lang="en-US" sz="1200" b="0" i="0" u="none" strike="noStrike" kern="1200" cap="none" dirty="0" err="1" smtClean="0">
                <a:solidFill>
                  <a:schemeClr val="dk1"/>
                </a:solidFill>
                <a:effectLst/>
                <a:latin typeface="Arial"/>
                <a:ea typeface="Arial"/>
                <a:cs typeface="Arial"/>
                <a:sym typeface="Arial"/>
              </a:rPr>
              <a:t>sda</a:t>
            </a:r>
            <a:endParaRPr lang="en-US" sz="1200" b="0" i="0" u="none" strike="noStrike" kern="1200" cap="none" dirty="0" smtClean="0">
              <a:solidFill>
                <a:schemeClr val="dk1"/>
              </a:solidFill>
              <a:effectLst/>
              <a:latin typeface="Arial"/>
              <a:ea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rPr>
              <a:t>50 GB for /dev/</a:t>
            </a:r>
            <a:r>
              <a:rPr lang="en-US" sz="1200" b="0" i="0" u="none" strike="noStrike" kern="1200" cap="none" dirty="0" err="1" smtClean="0">
                <a:solidFill>
                  <a:schemeClr val="dk1"/>
                </a:solidFill>
                <a:effectLst/>
                <a:latin typeface="Arial"/>
                <a:ea typeface="Arial"/>
                <a:cs typeface="Arial"/>
                <a:sym typeface="Arial"/>
              </a:rPr>
              <a:t>sdb</a:t>
            </a:r>
            <a:endParaRPr lang="en-US" sz="1200" b="0" i="0" u="none" strike="noStrike" kern="1200" cap="none" dirty="0" smtClean="0">
              <a:solidFill>
                <a:schemeClr val="dk1"/>
              </a:solidFill>
              <a:effectLst/>
              <a:latin typeface="Arial"/>
              <a:ea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rPr>
              <a:t>4 VCPU</a:t>
            </a:r>
          </a:p>
          <a:p>
            <a:r>
              <a:rPr lang="en-US" sz="1200" b="0" i="0" u="none" strike="noStrike" kern="1200" cap="none" dirty="0" smtClean="0">
                <a:solidFill>
                  <a:schemeClr val="dk1"/>
                </a:solidFill>
                <a:effectLst/>
                <a:latin typeface="Arial"/>
                <a:ea typeface="Arial"/>
                <a:cs typeface="Arial"/>
                <a:sym typeface="Arial"/>
              </a:rPr>
              <a:t>8GB RAM</a:t>
            </a:r>
          </a:p>
          <a:p>
            <a:r>
              <a:rPr lang="en-US" sz="1200" b="0" i="0" u="none" strike="noStrike" kern="1200" cap="none" dirty="0" smtClean="0">
                <a:solidFill>
                  <a:schemeClr val="dk1"/>
                </a:solidFill>
                <a:effectLst/>
                <a:latin typeface="Arial"/>
                <a:ea typeface="Arial"/>
                <a:cs typeface="Arial"/>
                <a:sym typeface="Arial"/>
              </a:rPr>
              <a:t>Ubuntu </a:t>
            </a:r>
            <a:r>
              <a:rPr lang="en-US" sz="1200" b="0" i="0" u="none" strike="noStrike" kern="1200" cap="none" dirty="0" err="1" smtClean="0">
                <a:solidFill>
                  <a:schemeClr val="dk1"/>
                </a:solidFill>
                <a:effectLst/>
                <a:latin typeface="Arial"/>
                <a:ea typeface="Arial"/>
                <a:cs typeface="Arial"/>
                <a:sym typeface="Arial"/>
              </a:rPr>
              <a:t>Jammy</a:t>
            </a:r>
            <a:r>
              <a:rPr lang="en-US" sz="1200" b="0" i="0" u="none" strike="noStrike" kern="1200" cap="none" dirty="0" smtClean="0">
                <a:solidFill>
                  <a:schemeClr val="dk1"/>
                </a:solidFill>
                <a:effectLst/>
                <a:latin typeface="Arial"/>
                <a:ea typeface="Arial"/>
                <a:cs typeface="Arial"/>
                <a:sym typeface="Arial"/>
              </a:rPr>
              <a:t> (22.04 LTS)</a:t>
            </a:r>
          </a:p>
          <a:p>
            <a:r>
              <a:rPr lang="en-US" sz="1200" b="1" i="0" u="none" strike="noStrike" kern="1200" cap="none" dirty="0" smtClean="0">
                <a:solidFill>
                  <a:schemeClr val="dk1"/>
                </a:solidFill>
                <a:effectLst/>
                <a:latin typeface="Arial"/>
                <a:ea typeface="Arial"/>
                <a:cs typeface="Arial"/>
                <a:sym typeface="Arial"/>
              </a:rPr>
              <a:t>Set /</a:t>
            </a:r>
            <a:r>
              <a:rPr lang="en-US" sz="1200" b="1" i="0" u="none" strike="noStrike" kern="1200" cap="none" dirty="0" err="1" smtClean="0">
                <a:solidFill>
                  <a:schemeClr val="dk1"/>
                </a:solidFill>
                <a:effectLst/>
                <a:latin typeface="Arial"/>
                <a:ea typeface="Arial"/>
                <a:cs typeface="Arial"/>
                <a:sym typeface="Arial"/>
              </a:rPr>
              <a:t>etc</a:t>
            </a:r>
            <a:r>
              <a:rPr lang="en-US" sz="1200" b="1" i="0" u="none" strike="noStrike" kern="1200" cap="none" dirty="0" smtClean="0">
                <a:solidFill>
                  <a:schemeClr val="dk1"/>
                </a:solidFill>
                <a:effectLst/>
                <a:latin typeface="Arial"/>
                <a:ea typeface="Arial"/>
                <a:cs typeface="Arial"/>
                <a:sym typeface="Arial"/>
              </a:rPr>
              <a:t>/hosts</a:t>
            </a:r>
          </a:p>
          <a:p>
            <a:r>
              <a:rPr lang="en-US" dirty="0" smtClean="0"/>
              <a:t>192.168.56.2 </a:t>
            </a:r>
            <a:r>
              <a:rPr lang="en-US" dirty="0" err="1" smtClean="0"/>
              <a:t>osint.gbesar.link</a:t>
            </a:r>
            <a:r>
              <a:rPr lang="en-US" dirty="0" smtClean="0"/>
              <a:t> 192.168.56.3 </a:t>
            </a:r>
            <a:r>
              <a:rPr lang="en-US" dirty="0" err="1" smtClean="0"/>
              <a:t>os.gbesar.link</a:t>
            </a:r>
            <a:endParaRPr lang="en-US" dirty="0" smtClean="0"/>
          </a:p>
          <a:p>
            <a:endParaRPr lang="en-US" dirty="0" smtClean="0"/>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91884564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OpenStack </a:t>
            </a:r>
            <a:r>
              <a:rPr lang="en-US" sz="1200" b="1" i="0" u="none" strike="noStrike" kern="1200" cap="none" dirty="0" err="1" smtClean="0">
                <a:solidFill>
                  <a:schemeClr val="dk1"/>
                </a:solidFill>
                <a:effectLst/>
                <a:latin typeface="Arial"/>
                <a:ea typeface="Arial"/>
                <a:cs typeface="Arial"/>
                <a:sym typeface="Arial"/>
              </a:rPr>
              <a:t>pada</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Satu</a:t>
            </a:r>
            <a:r>
              <a:rPr lang="en-US" sz="1200" b="1" i="0" u="none" strike="noStrike" kern="1200" cap="none" dirty="0" smtClean="0">
                <a:solidFill>
                  <a:schemeClr val="dk1"/>
                </a:solidFill>
                <a:effectLst/>
                <a:latin typeface="Arial"/>
                <a:ea typeface="Arial"/>
                <a:cs typeface="Arial"/>
                <a:sym typeface="Arial"/>
              </a:rPr>
              <a:t> Node </a:t>
            </a:r>
            <a:r>
              <a:rPr lang="en-US" sz="1200" b="1" i="0" u="none" strike="noStrike" kern="1200" cap="none" dirty="0" err="1" smtClean="0">
                <a:solidFill>
                  <a:schemeClr val="dk1"/>
                </a:solidFill>
                <a:effectLst/>
                <a:latin typeface="Arial"/>
                <a:ea typeface="Arial"/>
                <a:cs typeface="Arial"/>
                <a:sym typeface="Arial"/>
              </a:rPr>
              <a:t>dengan</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Kolla-Ansible</a:t>
            </a:r>
            <a:r>
              <a:rPr lang="en-US" sz="1200" b="1" i="0" u="none" strike="noStrike" kern="1200" cap="none" dirty="0" smtClean="0">
                <a:solidFill>
                  <a:schemeClr val="dk1"/>
                </a:solidFill>
                <a:effectLst/>
                <a:latin typeface="Arial"/>
                <a:ea typeface="Arial"/>
                <a:cs typeface="Arial"/>
                <a:sym typeface="Arial"/>
              </a:rPr>
              <a:t> — </a:t>
            </a:r>
            <a:r>
              <a:rPr lang="en-US" sz="1200" b="1" i="0" u="none" strike="noStrike" kern="1200" cap="none" dirty="0" err="1" smtClean="0">
                <a:solidFill>
                  <a:schemeClr val="dk1"/>
                </a:solidFill>
                <a:effectLst/>
                <a:latin typeface="Arial"/>
                <a:ea typeface="Arial"/>
                <a:cs typeface="Arial"/>
                <a:sym typeface="Arial"/>
              </a:rPr>
              <a:t>Panduan</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Lengkap</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untuk</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Penggunaan</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Seperti</a:t>
            </a:r>
            <a:r>
              <a:rPr lang="en-US" sz="1200" b="1" i="0" u="none" strike="noStrike" kern="1200" cap="none" dirty="0" smtClean="0">
                <a:solidFill>
                  <a:schemeClr val="dk1"/>
                </a:solidFill>
                <a:effectLst/>
                <a:latin typeface="Arial"/>
                <a:ea typeface="Arial"/>
                <a:cs typeface="Arial"/>
                <a:sym typeface="Arial"/>
              </a:rPr>
              <a:t> </a:t>
            </a:r>
            <a:r>
              <a:rPr lang="en-US" sz="1200" b="1" i="0" u="none" strike="noStrike" kern="1200" cap="none" dirty="0" err="1" smtClean="0">
                <a:solidFill>
                  <a:schemeClr val="dk1"/>
                </a:solidFill>
                <a:effectLst/>
                <a:latin typeface="Arial"/>
                <a:ea typeface="Arial"/>
                <a:cs typeface="Arial"/>
                <a:sym typeface="Arial"/>
              </a:rPr>
              <a:t>Produksi</a:t>
            </a:r>
            <a:r>
              <a:rPr lang="en-US" sz="1200" b="1" i="0" u="none" strike="noStrike" kern="1200" cap="none" dirty="0" smtClean="0">
                <a:solidFill>
                  <a:schemeClr val="dk1"/>
                </a:solidFill>
                <a:effectLst/>
                <a:latin typeface="Arial"/>
                <a:ea typeface="Arial"/>
                <a:cs typeface="Arial"/>
                <a:sym typeface="Arial"/>
              </a:rPr>
              <a:t> https://www.youtube.com/watch?v=Mc70SjV72ck</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https://hackmd.io/@yujungcheng/ByXxq-_Vj#2-Setup-NFS-server-on-controller-for-cinder-backend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https://hackmd.io/@yujungcheng/ByXxq-_Vj#4-Access-OpenStack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https://belajarlinux.id/openstack-kolla-ansible-all-in-one-openstack-yoga/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i="0" u="none" strike="noStrike" kern="1200" cap="none" dirty="0" smtClean="0">
              <a:solidFill>
                <a:schemeClr val="dk1"/>
              </a:solidFill>
              <a:effectLst/>
              <a:latin typeface="Arial"/>
              <a:ea typeface="Arial"/>
              <a:cs typeface="Arial"/>
              <a:sym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u="none" strike="noStrike" kern="1200" cap="none" dirty="0" smtClean="0">
                <a:solidFill>
                  <a:schemeClr val="dk1"/>
                </a:solidFill>
                <a:effectLst/>
                <a:latin typeface="Arial"/>
                <a:ea typeface="Arial"/>
                <a:cs typeface="Arial"/>
                <a:sym typeface="Arial"/>
              </a:rPr>
              <a:t>https://gist.github.com/gilangvperdana/82b35379eeccdad86c7e0b2143eba341</a:t>
            </a:r>
          </a:p>
          <a:p>
            <a:r>
              <a:rPr lang="en-US" sz="1200" b="1" i="0" u="none" strike="noStrike" kern="1200" cap="none" dirty="0" smtClean="0">
                <a:solidFill>
                  <a:schemeClr val="dk1"/>
                </a:solidFill>
                <a:effectLst/>
                <a:latin typeface="Arial"/>
                <a:ea typeface="Arial"/>
                <a:cs typeface="Arial"/>
                <a:sym typeface="Arial"/>
              </a:rPr>
              <a:t>Prerequisites</a:t>
            </a:r>
          </a:p>
          <a:p>
            <a:r>
              <a:rPr lang="en-US" sz="1200" b="0" i="0" u="none" strike="noStrike" kern="1200" cap="none" dirty="0" smtClean="0">
                <a:solidFill>
                  <a:schemeClr val="dk1"/>
                </a:solidFill>
                <a:effectLst/>
                <a:latin typeface="Arial"/>
                <a:ea typeface="Arial"/>
                <a:cs typeface="Arial"/>
                <a:sym typeface="Arial"/>
              </a:rPr>
              <a:t>3 NIC</a:t>
            </a:r>
          </a:p>
          <a:p>
            <a:pPr lvl="1"/>
            <a:r>
              <a:rPr lang="en-US" sz="1200" b="0" i="0" u="none" strike="noStrike" kern="1200" cap="none" dirty="0" smtClean="0">
                <a:solidFill>
                  <a:schemeClr val="dk1"/>
                </a:solidFill>
                <a:effectLst/>
                <a:latin typeface="Arial"/>
                <a:ea typeface="Arial"/>
                <a:cs typeface="Arial"/>
                <a:sym typeface="Arial"/>
              </a:rPr>
              <a:t>NIC 1 -&gt; NAT (enp0s3)</a:t>
            </a:r>
          </a:p>
          <a:p>
            <a:pPr lvl="1"/>
            <a:r>
              <a:rPr lang="en-US" sz="1200" b="0" i="0" u="none" strike="noStrike" kern="1200" cap="none" dirty="0" smtClean="0">
                <a:solidFill>
                  <a:schemeClr val="dk1"/>
                </a:solidFill>
                <a:effectLst/>
                <a:latin typeface="Arial"/>
                <a:ea typeface="Arial"/>
                <a:cs typeface="Arial"/>
                <a:sym typeface="Arial"/>
              </a:rPr>
              <a:t>NIC 2 -&gt; Host Only Adapter (enp0s8)</a:t>
            </a:r>
          </a:p>
          <a:p>
            <a:pPr lvl="1"/>
            <a:r>
              <a:rPr lang="en-US" sz="1200" b="0" i="0" u="none" strike="noStrike" kern="1200" cap="none" dirty="0" smtClean="0">
                <a:solidFill>
                  <a:schemeClr val="dk1"/>
                </a:solidFill>
                <a:effectLst/>
                <a:latin typeface="Arial"/>
                <a:ea typeface="Arial"/>
                <a:cs typeface="Arial"/>
                <a:sym typeface="Arial"/>
              </a:rPr>
              <a:t>NIC 3 -&gt; Bridge Mode (enp0s9)</a:t>
            </a:r>
          </a:p>
          <a:p>
            <a:r>
              <a:rPr lang="en-US" sz="1200" b="0" i="0" u="none" strike="noStrike" kern="1200" cap="none" dirty="0" smtClean="0">
                <a:solidFill>
                  <a:schemeClr val="dk1"/>
                </a:solidFill>
                <a:effectLst/>
                <a:latin typeface="Arial"/>
                <a:ea typeface="Arial"/>
                <a:cs typeface="Arial"/>
                <a:sym typeface="Arial"/>
              </a:rPr>
              <a:t>50 GB for /dev/</a:t>
            </a:r>
            <a:r>
              <a:rPr lang="en-US" sz="1200" b="0" i="0" u="none" strike="noStrike" kern="1200" cap="none" dirty="0" err="1" smtClean="0">
                <a:solidFill>
                  <a:schemeClr val="dk1"/>
                </a:solidFill>
                <a:effectLst/>
                <a:latin typeface="Arial"/>
                <a:ea typeface="Arial"/>
                <a:cs typeface="Arial"/>
                <a:sym typeface="Arial"/>
              </a:rPr>
              <a:t>sda</a:t>
            </a:r>
            <a:endParaRPr lang="en-US" sz="1200" b="0" i="0" u="none" strike="noStrike" kern="1200" cap="none" dirty="0" smtClean="0">
              <a:solidFill>
                <a:schemeClr val="dk1"/>
              </a:solidFill>
              <a:effectLst/>
              <a:latin typeface="Arial"/>
              <a:ea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rPr>
              <a:t>50 GB for /dev/</a:t>
            </a:r>
            <a:r>
              <a:rPr lang="en-US" sz="1200" b="0" i="0" u="none" strike="noStrike" kern="1200" cap="none" dirty="0" err="1" smtClean="0">
                <a:solidFill>
                  <a:schemeClr val="dk1"/>
                </a:solidFill>
                <a:effectLst/>
                <a:latin typeface="Arial"/>
                <a:ea typeface="Arial"/>
                <a:cs typeface="Arial"/>
                <a:sym typeface="Arial"/>
              </a:rPr>
              <a:t>sdb</a:t>
            </a:r>
            <a:endParaRPr lang="en-US" sz="1200" b="0" i="0" u="none" strike="noStrike" kern="1200" cap="none" dirty="0" smtClean="0">
              <a:solidFill>
                <a:schemeClr val="dk1"/>
              </a:solidFill>
              <a:effectLst/>
              <a:latin typeface="Arial"/>
              <a:ea typeface="Arial"/>
              <a:cs typeface="Arial"/>
              <a:sym typeface="Arial"/>
            </a:endParaRPr>
          </a:p>
          <a:p>
            <a:r>
              <a:rPr lang="en-US" sz="1200" b="0" i="0" u="none" strike="noStrike" kern="1200" cap="none" dirty="0" smtClean="0">
                <a:solidFill>
                  <a:schemeClr val="dk1"/>
                </a:solidFill>
                <a:effectLst/>
                <a:latin typeface="Arial"/>
                <a:ea typeface="Arial"/>
                <a:cs typeface="Arial"/>
                <a:sym typeface="Arial"/>
              </a:rPr>
              <a:t>4 VCPU</a:t>
            </a:r>
          </a:p>
          <a:p>
            <a:r>
              <a:rPr lang="en-US" sz="1200" b="0" i="0" u="none" strike="noStrike" kern="1200" cap="none" dirty="0" smtClean="0">
                <a:solidFill>
                  <a:schemeClr val="dk1"/>
                </a:solidFill>
                <a:effectLst/>
                <a:latin typeface="Arial"/>
                <a:ea typeface="Arial"/>
                <a:cs typeface="Arial"/>
                <a:sym typeface="Arial"/>
              </a:rPr>
              <a:t>8GB RAM</a:t>
            </a:r>
          </a:p>
          <a:p>
            <a:r>
              <a:rPr lang="en-US" sz="1200" b="0" i="0" u="none" strike="noStrike" kern="1200" cap="none" dirty="0" smtClean="0">
                <a:solidFill>
                  <a:schemeClr val="dk1"/>
                </a:solidFill>
                <a:effectLst/>
                <a:latin typeface="Arial"/>
                <a:ea typeface="Arial"/>
                <a:cs typeface="Arial"/>
                <a:sym typeface="Arial"/>
              </a:rPr>
              <a:t>Ubuntu </a:t>
            </a:r>
            <a:r>
              <a:rPr lang="en-US" sz="1200" b="0" i="0" u="none" strike="noStrike" kern="1200" cap="none" dirty="0" err="1" smtClean="0">
                <a:solidFill>
                  <a:schemeClr val="dk1"/>
                </a:solidFill>
                <a:effectLst/>
                <a:latin typeface="Arial"/>
                <a:ea typeface="Arial"/>
                <a:cs typeface="Arial"/>
                <a:sym typeface="Arial"/>
              </a:rPr>
              <a:t>Jammy</a:t>
            </a:r>
            <a:r>
              <a:rPr lang="en-US" sz="1200" b="0" i="0" u="none" strike="noStrike" kern="1200" cap="none" dirty="0" smtClean="0">
                <a:solidFill>
                  <a:schemeClr val="dk1"/>
                </a:solidFill>
                <a:effectLst/>
                <a:latin typeface="Arial"/>
                <a:ea typeface="Arial"/>
                <a:cs typeface="Arial"/>
                <a:sym typeface="Arial"/>
              </a:rPr>
              <a:t> (22.04 LTS)</a:t>
            </a:r>
          </a:p>
          <a:p>
            <a:r>
              <a:rPr lang="en-US" sz="1200" b="1" i="0" u="none" strike="noStrike" kern="1200" cap="none" dirty="0" smtClean="0">
                <a:solidFill>
                  <a:schemeClr val="dk1"/>
                </a:solidFill>
                <a:effectLst/>
                <a:latin typeface="Arial"/>
                <a:ea typeface="Arial"/>
                <a:cs typeface="Arial"/>
                <a:sym typeface="Arial"/>
              </a:rPr>
              <a:t>Set /</a:t>
            </a:r>
            <a:r>
              <a:rPr lang="en-US" sz="1200" b="1" i="0" u="none" strike="noStrike" kern="1200" cap="none" dirty="0" err="1" smtClean="0">
                <a:solidFill>
                  <a:schemeClr val="dk1"/>
                </a:solidFill>
                <a:effectLst/>
                <a:latin typeface="Arial"/>
                <a:ea typeface="Arial"/>
                <a:cs typeface="Arial"/>
                <a:sym typeface="Arial"/>
              </a:rPr>
              <a:t>etc</a:t>
            </a:r>
            <a:r>
              <a:rPr lang="en-US" sz="1200" b="1" i="0" u="none" strike="noStrike" kern="1200" cap="none" dirty="0" smtClean="0">
                <a:solidFill>
                  <a:schemeClr val="dk1"/>
                </a:solidFill>
                <a:effectLst/>
                <a:latin typeface="Arial"/>
                <a:ea typeface="Arial"/>
                <a:cs typeface="Arial"/>
                <a:sym typeface="Arial"/>
              </a:rPr>
              <a:t>/hosts</a:t>
            </a:r>
          </a:p>
          <a:p>
            <a:r>
              <a:rPr lang="en-US" dirty="0" smtClean="0"/>
              <a:t>192.168.56.2 </a:t>
            </a:r>
            <a:r>
              <a:rPr lang="en-US" dirty="0" err="1" smtClean="0"/>
              <a:t>osint.gbesar.link</a:t>
            </a:r>
            <a:r>
              <a:rPr lang="en-US" dirty="0" smtClean="0"/>
              <a:t> 192.168.56.3 </a:t>
            </a:r>
            <a:r>
              <a:rPr lang="en-US" dirty="0" err="1" smtClean="0"/>
              <a:t>os.gbesar.link</a:t>
            </a:r>
            <a:endParaRPr lang="en-US" dirty="0" smtClean="0"/>
          </a:p>
          <a:p>
            <a:endParaRPr lang="en-US" dirty="0" smtClean="0"/>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11911042"/>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https://hackmd.io/@yujungcheng/ByXxq-_Vj#4-Access-OpenStack</a:t>
            </a:r>
          </a:p>
          <a:p>
            <a:endParaRPr lang="en-US" dirty="0" smtClean="0"/>
          </a:p>
          <a:p>
            <a:r>
              <a:rPr lang="en-US" b="1" dirty="0" smtClean="0"/>
              <a:t>Extra: Add </a:t>
            </a:r>
            <a:r>
              <a:rPr lang="en-US" b="1" dirty="0" err="1" smtClean="0"/>
              <a:t>Ceph</a:t>
            </a:r>
            <a:r>
              <a:rPr lang="en-US" b="1" dirty="0" smtClean="0"/>
              <a:t> storage as an Cinder backend</a:t>
            </a:r>
          </a:p>
          <a:p>
            <a:r>
              <a:rPr lang="en-US" b="1" dirty="0" smtClean="0"/>
              <a:t>NOTE</a:t>
            </a:r>
            <a:r>
              <a:rPr lang="en-US" dirty="0" smtClean="0"/>
              <a:t>: Refer to </a:t>
            </a:r>
            <a:r>
              <a:rPr lang="en-US" dirty="0" smtClean="0">
                <a:hlinkClick r:id="rId3"/>
              </a:rPr>
              <a:t>https://hackmd.io/8tkrVJP7QU-MjO-0_W13jQ</a:t>
            </a:r>
            <a:r>
              <a:rPr lang="en-US" dirty="0" smtClean="0"/>
              <a:t> for setup a </a:t>
            </a:r>
            <a:r>
              <a:rPr lang="en-US" dirty="0" err="1" smtClean="0"/>
              <a:t>Ceph</a:t>
            </a:r>
            <a:r>
              <a:rPr lang="en-US" dirty="0" smtClean="0"/>
              <a:t> storage.</a:t>
            </a:r>
          </a:p>
          <a:p>
            <a:r>
              <a:rPr lang="en-US" dirty="0" smtClean="0"/>
              <a:t>This section provides steps to add a </a:t>
            </a:r>
            <a:r>
              <a:rPr lang="en-US" dirty="0" err="1" smtClean="0"/>
              <a:t>Ceph</a:t>
            </a:r>
            <a:r>
              <a:rPr lang="en-US" dirty="0" smtClean="0"/>
              <a:t> storage into Cinder volume as backend; and set Nova to use the </a:t>
            </a:r>
            <a:r>
              <a:rPr lang="en-US" dirty="0" err="1" smtClean="0"/>
              <a:t>Ceph</a:t>
            </a:r>
            <a:r>
              <a:rPr lang="en-US" dirty="0" smtClean="0"/>
              <a:t> storage for running instance.</a:t>
            </a:r>
          </a:p>
          <a:p>
            <a:r>
              <a:rPr lang="en-US" dirty="0" smtClean="0"/>
              <a:t>Reference:</a:t>
            </a:r>
          </a:p>
          <a:p>
            <a:r>
              <a:rPr lang="en-US" dirty="0" smtClean="0">
                <a:hlinkClick r:id="rId4"/>
              </a:rPr>
              <a:t>https://docs.ceph.com/en/latest/rbd/rbd-openstack/</a:t>
            </a:r>
            <a:r>
              <a:rPr lang="en-US" dirty="0" smtClean="0"/>
              <a:t/>
            </a:r>
            <a:br>
              <a:rPr lang="en-US" dirty="0" smtClean="0"/>
            </a:br>
            <a:r>
              <a:rPr lang="en-US" dirty="0" smtClean="0">
                <a:hlinkClick r:id="rId5"/>
              </a:rPr>
              <a:t>https://docs.openstack.org/kolla-ansible/latest/reference/storage/external-ceph-guide.html</a:t>
            </a:r>
            <a:endParaRPr lang="en-US" dirty="0" smtClean="0"/>
          </a:p>
          <a:p>
            <a:r>
              <a:rPr lang="en-US" dirty="0" smtClean="0"/>
              <a:t>Create pool for volume</a:t>
            </a:r>
          </a:p>
          <a:p>
            <a:r>
              <a:rPr lang="en-US" dirty="0" smtClean="0"/>
              <a:t>root@GPU111:~# </a:t>
            </a:r>
            <a:r>
              <a:rPr lang="en-US" dirty="0" err="1" smtClean="0"/>
              <a:t>ceph</a:t>
            </a:r>
            <a:r>
              <a:rPr lang="en-US" dirty="0" smtClean="0"/>
              <a:t> </a:t>
            </a:r>
            <a:r>
              <a:rPr lang="en-US" dirty="0" err="1" smtClean="0"/>
              <a:t>osd</a:t>
            </a:r>
            <a:r>
              <a:rPr lang="en-US" dirty="0" smtClean="0"/>
              <a:t> pool create volumes pool 'volumes' created root@GPU111:~# </a:t>
            </a:r>
            <a:r>
              <a:rPr lang="en-US" dirty="0" err="1" smtClean="0"/>
              <a:t>ceph</a:t>
            </a:r>
            <a:r>
              <a:rPr lang="en-US" dirty="0" smtClean="0"/>
              <a:t> </a:t>
            </a:r>
            <a:r>
              <a:rPr lang="en-US" dirty="0" err="1" smtClean="0"/>
              <a:t>osd</a:t>
            </a:r>
            <a:r>
              <a:rPr lang="en-US" dirty="0" smtClean="0"/>
              <a:t> pool create </a:t>
            </a:r>
            <a:r>
              <a:rPr lang="en-US" dirty="0" err="1" smtClean="0"/>
              <a:t>vms</a:t>
            </a:r>
            <a:r>
              <a:rPr lang="en-US" dirty="0" smtClean="0"/>
              <a:t> pool '</a:t>
            </a:r>
            <a:r>
              <a:rPr lang="en-US" dirty="0" err="1" smtClean="0"/>
              <a:t>vms</a:t>
            </a:r>
            <a:r>
              <a:rPr lang="en-US" dirty="0" smtClean="0"/>
              <a:t>' created root@GPU111:~# </a:t>
            </a:r>
            <a:r>
              <a:rPr lang="en-US" dirty="0" err="1" smtClean="0"/>
              <a:t>ceph</a:t>
            </a:r>
            <a:r>
              <a:rPr lang="en-US" dirty="0" smtClean="0"/>
              <a:t> </a:t>
            </a:r>
            <a:r>
              <a:rPr lang="en-US" dirty="0" err="1" smtClean="0"/>
              <a:t>osd</a:t>
            </a:r>
            <a:r>
              <a:rPr lang="en-US" dirty="0" smtClean="0"/>
              <a:t> pool create backups pool 'backups' created </a:t>
            </a:r>
          </a:p>
          <a:p>
            <a:r>
              <a:rPr lang="en-US" dirty="0" smtClean="0"/>
              <a:t>root@GPU111:~# </a:t>
            </a:r>
            <a:r>
              <a:rPr lang="en-US" dirty="0" err="1" smtClean="0"/>
              <a:t>rbd</a:t>
            </a:r>
            <a:r>
              <a:rPr lang="en-US" dirty="0" smtClean="0"/>
              <a:t> pool </a:t>
            </a:r>
            <a:r>
              <a:rPr lang="en-US" dirty="0" err="1" smtClean="0"/>
              <a:t>init</a:t>
            </a:r>
            <a:r>
              <a:rPr lang="en-US" dirty="0" smtClean="0"/>
              <a:t> volumes root@GPU111:~# </a:t>
            </a:r>
            <a:r>
              <a:rPr lang="en-US" dirty="0" err="1" smtClean="0"/>
              <a:t>rbd</a:t>
            </a:r>
            <a:r>
              <a:rPr lang="en-US" dirty="0" smtClean="0"/>
              <a:t> pool </a:t>
            </a:r>
            <a:r>
              <a:rPr lang="en-US" dirty="0" err="1" smtClean="0"/>
              <a:t>init</a:t>
            </a:r>
            <a:r>
              <a:rPr lang="en-US" dirty="0" smtClean="0"/>
              <a:t> </a:t>
            </a:r>
            <a:r>
              <a:rPr lang="en-US" dirty="0" err="1" smtClean="0"/>
              <a:t>vms</a:t>
            </a:r>
            <a:r>
              <a:rPr lang="en-US" dirty="0" smtClean="0"/>
              <a:t> root@GPU111:~# </a:t>
            </a:r>
            <a:r>
              <a:rPr lang="en-US" dirty="0" err="1" smtClean="0"/>
              <a:t>rbd</a:t>
            </a:r>
            <a:r>
              <a:rPr lang="en-US" dirty="0" smtClean="0"/>
              <a:t> pool </a:t>
            </a:r>
            <a:r>
              <a:rPr lang="en-US" dirty="0" err="1" smtClean="0"/>
              <a:t>init</a:t>
            </a:r>
            <a:r>
              <a:rPr lang="en-US" dirty="0" smtClean="0"/>
              <a:t> backups </a:t>
            </a:r>
          </a:p>
          <a:p>
            <a:r>
              <a:rPr lang="en-US" b="1" dirty="0" smtClean="0"/>
              <a:t>Note</a:t>
            </a:r>
            <a:r>
              <a:rPr lang="en-US" dirty="0" smtClean="0"/>
              <a:t>: we still create "backups" pool because "</a:t>
            </a:r>
            <a:r>
              <a:rPr lang="en-US" dirty="0" err="1" smtClean="0"/>
              <a:t>Kolla-Ansible</a:t>
            </a:r>
            <a:r>
              <a:rPr lang="en-US" dirty="0" smtClean="0"/>
              <a:t>" playbook still add </a:t>
            </a:r>
            <a:r>
              <a:rPr lang="en-US" dirty="0" err="1" smtClean="0"/>
              <a:t>Ceph</a:t>
            </a:r>
            <a:r>
              <a:rPr lang="en-US" dirty="0" smtClean="0"/>
              <a:t> keyring for cinder-backup no matter "</a:t>
            </a:r>
            <a:r>
              <a:rPr lang="en-US" dirty="0" err="1" smtClean="0"/>
              <a:t>nfs</a:t>
            </a:r>
            <a:r>
              <a:rPr lang="en-US" dirty="0" smtClean="0"/>
              <a:t>" is configured to </a:t>
            </a:r>
            <a:r>
              <a:rPr lang="en-US" dirty="0" err="1" smtClean="0"/>
              <a:t>cinder_backup_driver</a:t>
            </a:r>
            <a:r>
              <a:rPr lang="en-US" dirty="0" smtClean="0"/>
              <a:t>. I think its </a:t>
            </a:r>
            <a:r>
              <a:rPr lang="en-US" dirty="0" err="1" smtClean="0"/>
              <a:t>kinda</a:t>
            </a:r>
            <a:r>
              <a:rPr lang="en-US" dirty="0" smtClean="0"/>
              <a:t> of bug. Fail message if no keyring for "cinder-backup" configured.</a:t>
            </a:r>
          </a:p>
          <a:p>
            <a:r>
              <a:rPr lang="en-US" dirty="0" smtClean="0"/>
              <a:t>TASK [cinder : Copy over </a:t>
            </a:r>
            <a:r>
              <a:rPr lang="en-US" dirty="0" err="1" smtClean="0"/>
              <a:t>Ceph</a:t>
            </a:r>
            <a:r>
              <a:rPr lang="en-US" dirty="0" smtClean="0"/>
              <a:t> keyring files for cinder-backup] *************************************************** An exception occurred during task execution. To see the full </a:t>
            </a:r>
            <a:r>
              <a:rPr lang="en-US" dirty="0" err="1" smtClean="0"/>
              <a:t>traceback</a:t>
            </a:r>
            <a:r>
              <a:rPr lang="en-US" dirty="0" smtClean="0"/>
              <a:t>, use -</a:t>
            </a:r>
            <a:r>
              <a:rPr lang="en-US" dirty="0" err="1" smtClean="0"/>
              <a:t>vvv</a:t>
            </a:r>
            <a:r>
              <a:rPr lang="en-US" dirty="0" smtClean="0"/>
              <a:t>. The error was: If you are using a module and expect the file to exist on the remote, see the </a:t>
            </a:r>
            <a:r>
              <a:rPr lang="en-US" dirty="0" err="1" smtClean="0"/>
              <a:t>remote_src</a:t>
            </a:r>
            <a:r>
              <a:rPr lang="en-US" dirty="0" smtClean="0"/>
              <a:t> option failed: [GPU111] (item=cinder-backup/</a:t>
            </a:r>
            <a:r>
              <a:rPr lang="en-US" dirty="0" err="1" smtClean="0"/>
              <a:t>ceph.client.cinder.keyring</a:t>
            </a:r>
            <a:r>
              <a:rPr lang="en-US" dirty="0" smtClean="0"/>
              <a:t>) =&gt; {"</a:t>
            </a:r>
            <a:r>
              <a:rPr lang="en-US" dirty="0" err="1" smtClean="0"/>
              <a:t>ansible_loop_var</a:t>
            </a:r>
            <a:r>
              <a:rPr lang="en-US" dirty="0" smtClean="0"/>
              <a:t>": "item", "changed": false, "item": "cinder-backup/</a:t>
            </a:r>
            <a:r>
              <a:rPr lang="en-US" dirty="0" err="1" smtClean="0"/>
              <a:t>ceph.client.cinder.keyring</a:t>
            </a:r>
            <a:r>
              <a:rPr lang="en-US" dirty="0" smtClean="0"/>
              <a:t>", "</a:t>
            </a:r>
            <a:r>
              <a:rPr lang="en-US" dirty="0" err="1" smtClean="0"/>
              <a:t>msg</a:t>
            </a:r>
            <a:r>
              <a:rPr lang="en-US" dirty="0" smtClean="0"/>
              <a:t>": "Could not find or access '/</a:t>
            </a:r>
            <a:r>
              <a:rPr lang="en-US" dirty="0" err="1" smtClean="0"/>
              <a:t>etc</a:t>
            </a:r>
            <a:r>
              <a:rPr lang="en-US" dirty="0" smtClean="0"/>
              <a:t>/</a:t>
            </a:r>
            <a:r>
              <a:rPr lang="en-US" dirty="0" err="1" smtClean="0"/>
              <a:t>kolla</a:t>
            </a:r>
            <a:r>
              <a:rPr lang="en-US" dirty="0" smtClean="0"/>
              <a:t>/</a:t>
            </a:r>
            <a:r>
              <a:rPr lang="en-US" dirty="0" err="1" smtClean="0"/>
              <a:t>config</a:t>
            </a:r>
            <a:r>
              <a:rPr lang="en-US" dirty="0" smtClean="0"/>
              <a:t>/cinder/cinder-backup/</a:t>
            </a:r>
            <a:r>
              <a:rPr lang="en-US" dirty="0" err="1" smtClean="0"/>
              <a:t>ceph.client.cinder.keyring</a:t>
            </a:r>
            <a:r>
              <a:rPr lang="en-US" dirty="0" smtClean="0"/>
              <a:t>' on the </a:t>
            </a:r>
            <a:r>
              <a:rPr lang="en-US" dirty="0" err="1" smtClean="0"/>
              <a:t>Ansible</a:t>
            </a:r>
            <a:r>
              <a:rPr lang="en-US" dirty="0" smtClean="0"/>
              <a:t> Controller.\</a:t>
            </a:r>
            <a:r>
              <a:rPr lang="en-US" dirty="0" err="1" smtClean="0"/>
              <a:t>nIf</a:t>
            </a:r>
            <a:r>
              <a:rPr lang="en-US" dirty="0" smtClean="0"/>
              <a:t> you are using a module and expect the file to exist on the remote, see the </a:t>
            </a:r>
            <a:r>
              <a:rPr lang="en-US" dirty="0" err="1" smtClean="0"/>
              <a:t>remote_src</a:t>
            </a:r>
            <a:r>
              <a:rPr lang="en-US" dirty="0" smtClean="0"/>
              <a:t> option"} An exception occurred during task execution. To see the full </a:t>
            </a:r>
            <a:r>
              <a:rPr lang="en-US" dirty="0" err="1" smtClean="0"/>
              <a:t>traceback</a:t>
            </a:r>
            <a:r>
              <a:rPr lang="en-US" dirty="0" smtClean="0"/>
              <a:t>, use -</a:t>
            </a:r>
            <a:r>
              <a:rPr lang="en-US" dirty="0" err="1" smtClean="0"/>
              <a:t>vvv</a:t>
            </a:r>
            <a:r>
              <a:rPr lang="en-US" dirty="0" smtClean="0"/>
              <a:t>. The error was: If you are using a module and expect the file to exist on the remote, see the </a:t>
            </a:r>
            <a:r>
              <a:rPr lang="en-US" dirty="0" err="1" smtClean="0"/>
              <a:t>remote_src</a:t>
            </a:r>
            <a:r>
              <a:rPr lang="en-US" dirty="0" smtClean="0"/>
              <a:t> option failed: [GPU111] (item=cinder-backup/</a:t>
            </a:r>
            <a:r>
              <a:rPr lang="en-US" dirty="0" err="1" smtClean="0"/>
              <a:t>ceph.client.cinder-backup.keyring</a:t>
            </a:r>
            <a:r>
              <a:rPr lang="en-US" dirty="0" smtClean="0"/>
              <a:t>) =&gt; {"</a:t>
            </a:r>
            <a:r>
              <a:rPr lang="en-US" dirty="0" err="1" smtClean="0"/>
              <a:t>ansible_loop_var</a:t>
            </a:r>
            <a:r>
              <a:rPr lang="en-US" dirty="0" smtClean="0"/>
              <a:t>": "item", "changed": false, "item": "cinder-backup/</a:t>
            </a:r>
            <a:r>
              <a:rPr lang="en-US" dirty="0" err="1" smtClean="0"/>
              <a:t>ceph.client.cinder-backup.keyring</a:t>
            </a:r>
            <a:r>
              <a:rPr lang="en-US" dirty="0" smtClean="0"/>
              <a:t>", "</a:t>
            </a:r>
            <a:r>
              <a:rPr lang="en-US" dirty="0" err="1" smtClean="0"/>
              <a:t>msg</a:t>
            </a:r>
            <a:r>
              <a:rPr lang="en-US" dirty="0" smtClean="0"/>
              <a:t>": "Could not find or access '/</a:t>
            </a:r>
            <a:r>
              <a:rPr lang="en-US" dirty="0" err="1" smtClean="0"/>
              <a:t>etc</a:t>
            </a:r>
            <a:r>
              <a:rPr lang="en-US" dirty="0" smtClean="0"/>
              <a:t>/</a:t>
            </a:r>
            <a:r>
              <a:rPr lang="en-US" dirty="0" err="1" smtClean="0"/>
              <a:t>kolla</a:t>
            </a:r>
            <a:r>
              <a:rPr lang="en-US" dirty="0" smtClean="0"/>
              <a:t>/</a:t>
            </a:r>
            <a:r>
              <a:rPr lang="en-US" dirty="0" err="1" smtClean="0"/>
              <a:t>config</a:t>
            </a:r>
            <a:r>
              <a:rPr lang="en-US" dirty="0" smtClean="0"/>
              <a:t>/cinder/cinder-backup/</a:t>
            </a:r>
            <a:r>
              <a:rPr lang="en-US" dirty="0" err="1" smtClean="0"/>
              <a:t>ceph.client.cinder-backup.keyring</a:t>
            </a:r>
            <a:r>
              <a:rPr lang="en-US" dirty="0" smtClean="0"/>
              <a:t>' on the </a:t>
            </a:r>
            <a:r>
              <a:rPr lang="en-US" dirty="0" err="1" smtClean="0"/>
              <a:t>Ansible</a:t>
            </a:r>
            <a:r>
              <a:rPr lang="en-US" dirty="0" smtClean="0"/>
              <a:t> Controller.\</a:t>
            </a:r>
            <a:r>
              <a:rPr lang="en-US" dirty="0" err="1" smtClean="0"/>
              <a:t>nIf</a:t>
            </a:r>
            <a:r>
              <a:rPr lang="en-US" dirty="0" smtClean="0"/>
              <a:t> you are using a module and expect the file to exist on the remote, see the </a:t>
            </a:r>
            <a:r>
              <a:rPr lang="en-US" dirty="0" err="1" smtClean="0"/>
              <a:t>remote_src</a:t>
            </a:r>
            <a:r>
              <a:rPr lang="en-US" dirty="0" smtClean="0"/>
              <a:t> option"} </a:t>
            </a:r>
          </a:p>
          <a:p>
            <a:r>
              <a:rPr lang="en-US" dirty="0" smtClean="0"/>
              <a:t>Setup </a:t>
            </a:r>
            <a:r>
              <a:rPr lang="en-US" dirty="0" err="1" smtClean="0"/>
              <a:t>Ceph</a:t>
            </a:r>
            <a:r>
              <a:rPr lang="en-US" dirty="0" smtClean="0"/>
              <a:t> client authentication to create cinder user for accessing volumes and </a:t>
            </a:r>
            <a:r>
              <a:rPr lang="en-US" dirty="0" err="1" smtClean="0"/>
              <a:t>vms</a:t>
            </a:r>
            <a:r>
              <a:rPr lang="en-US" dirty="0" smtClean="0"/>
              <a:t> pool.</a:t>
            </a:r>
          </a:p>
          <a:p>
            <a:r>
              <a:rPr lang="en-US" dirty="0" smtClean="0"/>
              <a:t>root@GPU111:~# </a:t>
            </a:r>
            <a:r>
              <a:rPr lang="en-US" dirty="0" err="1" smtClean="0"/>
              <a:t>ceph</a:t>
            </a:r>
            <a:r>
              <a:rPr lang="en-US" dirty="0" smtClean="0"/>
              <a:t> </a:t>
            </a:r>
            <a:r>
              <a:rPr lang="en-US" dirty="0" err="1" smtClean="0"/>
              <a:t>auth</a:t>
            </a:r>
            <a:r>
              <a:rPr lang="en-US" dirty="0" smtClean="0"/>
              <a:t> get-or-create </a:t>
            </a:r>
            <a:r>
              <a:rPr lang="en-US" dirty="0" err="1" smtClean="0"/>
              <a:t>client.cinder</a:t>
            </a:r>
            <a:r>
              <a:rPr lang="en-US" dirty="0" smtClean="0"/>
              <a:t> mon 'profile </a:t>
            </a:r>
            <a:r>
              <a:rPr lang="en-US" dirty="0" err="1" smtClean="0"/>
              <a:t>rbd</a:t>
            </a:r>
            <a:r>
              <a:rPr lang="en-US" dirty="0" smtClean="0"/>
              <a:t>' </a:t>
            </a:r>
            <a:r>
              <a:rPr lang="en-US" dirty="0" err="1" smtClean="0"/>
              <a:t>osd</a:t>
            </a:r>
            <a:r>
              <a:rPr lang="en-US" dirty="0" smtClean="0"/>
              <a:t> 'profile </a:t>
            </a:r>
            <a:r>
              <a:rPr lang="en-US" dirty="0" err="1" smtClean="0"/>
              <a:t>rbd</a:t>
            </a:r>
            <a:r>
              <a:rPr lang="en-US" dirty="0" smtClean="0"/>
              <a:t> pool=volumes, profile </a:t>
            </a:r>
            <a:r>
              <a:rPr lang="en-US" dirty="0" err="1" smtClean="0"/>
              <a:t>rbd</a:t>
            </a:r>
            <a:r>
              <a:rPr lang="en-US" dirty="0" smtClean="0"/>
              <a:t> pool=</a:t>
            </a:r>
            <a:r>
              <a:rPr lang="en-US" dirty="0" err="1" smtClean="0"/>
              <a:t>vms</a:t>
            </a:r>
            <a:r>
              <a:rPr lang="en-US" dirty="0" smtClean="0"/>
              <a:t>' </a:t>
            </a:r>
            <a:r>
              <a:rPr lang="en-US" dirty="0" err="1" smtClean="0"/>
              <a:t>mgr</a:t>
            </a:r>
            <a:r>
              <a:rPr lang="en-US" dirty="0" smtClean="0"/>
              <a:t> 'profile </a:t>
            </a:r>
            <a:r>
              <a:rPr lang="en-US" dirty="0" err="1" smtClean="0"/>
              <a:t>rbd</a:t>
            </a:r>
            <a:r>
              <a:rPr lang="en-US" dirty="0" smtClean="0"/>
              <a:t> pool=volumes, profile </a:t>
            </a:r>
            <a:r>
              <a:rPr lang="en-US" dirty="0" err="1" smtClean="0"/>
              <a:t>rbd</a:t>
            </a:r>
            <a:r>
              <a:rPr lang="en-US" dirty="0" smtClean="0"/>
              <a:t> pool=</a:t>
            </a:r>
            <a:r>
              <a:rPr lang="en-US" dirty="0" err="1" smtClean="0"/>
              <a:t>vms</a:t>
            </a:r>
            <a:r>
              <a:rPr lang="en-US" dirty="0" smtClean="0"/>
              <a:t>' [</a:t>
            </a:r>
            <a:r>
              <a:rPr lang="en-US" dirty="0" err="1" smtClean="0"/>
              <a:t>client.cinder</a:t>
            </a:r>
            <a:r>
              <a:rPr lang="en-US" dirty="0" smtClean="0"/>
              <a:t>] key = AQAC5nBjU4CrCRAAi3kUAheIpOz5dvWZKg9pNw==</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82364140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https://hackmd.io/8tkrVJP7QU-MjO-0_W13jQ</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1916977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https://hackmd.io/8tkrVJP7QU-MjO-0_W13jQ</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547913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https://hackmd.io/8tkrVJP7QU-MjO-0_W13jQ</a:t>
            </a:r>
          </a:p>
          <a:p>
            <a:r>
              <a:rPr lang="en-US" dirty="0" smtClean="0"/>
              <a:t>https://github.com/ceph/ceph/pull/38911</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2973035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err="1" smtClean="0"/>
              <a:t>addtional</a:t>
            </a:r>
            <a:r>
              <a:rPr lang="en-US" dirty="0" smtClean="0"/>
              <a:t> monitors automatically base on cluster size)</a:t>
            </a:r>
            <a:br>
              <a:rPr lang="en-US" dirty="0" smtClean="0"/>
            </a:br>
            <a:r>
              <a:rPr lang="en-US" dirty="0" smtClean="0"/>
              <a:t>The GPU71, GPU72 and GPU73 are OSD hosts, they have additional disk /dev/</a:t>
            </a:r>
            <a:r>
              <a:rPr lang="en-US" dirty="0" err="1" smtClean="0"/>
              <a:t>sdb</a:t>
            </a:r>
            <a:r>
              <a:rPr lang="en-US" dirty="0" smtClean="0"/>
              <a:t> (</a:t>
            </a:r>
            <a:r>
              <a:rPr lang="en-US" dirty="0" err="1" smtClean="0"/>
              <a:t>usb</a:t>
            </a:r>
            <a:r>
              <a:rPr lang="en-US" dirty="0" smtClean="0"/>
              <a:t> 3.0 drive) for OSD drive.</a:t>
            </a:r>
          </a:p>
          <a:p>
            <a:r>
              <a:rPr lang="en-US" b="1" dirty="0" smtClean="0"/>
              <a:t>Steps</a:t>
            </a:r>
          </a:p>
          <a:p>
            <a:r>
              <a:rPr lang="en-US" dirty="0" smtClean="0"/>
              <a:t>Create </a:t>
            </a:r>
            <a:r>
              <a:rPr lang="en-US" b="1" dirty="0" err="1" smtClean="0"/>
              <a:t>cephadmin</a:t>
            </a:r>
            <a:r>
              <a:rPr lang="en-US" dirty="0" smtClean="0"/>
              <a:t> user and set to </a:t>
            </a:r>
            <a:r>
              <a:rPr lang="en-US" dirty="0" err="1" smtClean="0"/>
              <a:t>sudoer</a:t>
            </a:r>
            <a:endParaRPr lang="en-US" dirty="0" smtClean="0"/>
          </a:p>
          <a:p>
            <a:r>
              <a:rPr lang="en-US" dirty="0" smtClean="0"/>
              <a:t>root@GPU111:~# </a:t>
            </a:r>
            <a:r>
              <a:rPr lang="en-US" dirty="0" err="1" smtClean="0"/>
              <a:t>useradd</a:t>
            </a:r>
            <a:r>
              <a:rPr lang="en-US" dirty="0" smtClean="0"/>
              <a:t> -m -s /bin/bash </a:t>
            </a:r>
            <a:r>
              <a:rPr lang="en-US" dirty="0" err="1" smtClean="0"/>
              <a:t>cephadmin</a:t>
            </a:r>
            <a:r>
              <a:rPr lang="en-US" dirty="0" smtClean="0"/>
              <a:t> root@GPU111:~# </a:t>
            </a:r>
            <a:r>
              <a:rPr lang="en-US" dirty="0" err="1" smtClean="0"/>
              <a:t>passwd</a:t>
            </a:r>
            <a:r>
              <a:rPr lang="en-US" dirty="0" smtClean="0"/>
              <a:t> </a:t>
            </a:r>
            <a:r>
              <a:rPr lang="en-US" dirty="0" err="1" smtClean="0"/>
              <a:t>cephadmin</a:t>
            </a:r>
            <a:r>
              <a:rPr lang="en-US" dirty="0" smtClean="0"/>
              <a:t> New password: Retype new password: </a:t>
            </a:r>
            <a:r>
              <a:rPr lang="en-US" dirty="0" err="1" smtClean="0"/>
              <a:t>passwd</a:t>
            </a:r>
            <a:r>
              <a:rPr lang="en-US" dirty="0" smtClean="0"/>
              <a:t>: password updated successfully root@GPU111:~# echo "</a:t>
            </a:r>
            <a:r>
              <a:rPr lang="en-US" dirty="0" err="1" smtClean="0"/>
              <a:t>cephadmin</a:t>
            </a:r>
            <a:r>
              <a:rPr lang="en-US" dirty="0" smtClean="0"/>
              <a:t> ALL=(ALL:ALL) NOPASSWD:ALL" &gt;&gt; /</a:t>
            </a:r>
            <a:r>
              <a:rPr lang="en-US" dirty="0" err="1" smtClean="0"/>
              <a:t>etc</a:t>
            </a:r>
            <a:r>
              <a:rPr lang="en-US" dirty="0" smtClean="0"/>
              <a:t>/</a:t>
            </a:r>
            <a:r>
              <a:rPr lang="en-US" dirty="0" err="1" smtClean="0"/>
              <a:t>sudoers.d</a:t>
            </a:r>
            <a:r>
              <a:rPr lang="en-US" dirty="0" smtClean="0"/>
              <a:t>/</a:t>
            </a:r>
            <a:r>
              <a:rPr lang="en-US" dirty="0" err="1" smtClean="0"/>
              <a:t>cephadmin</a:t>
            </a:r>
            <a:r>
              <a:rPr lang="en-US" dirty="0" smtClean="0"/>
              <a:t> root@GPU111:~# ls /</a:t>
            </a:r>
            <a:r>
              <a:rPr lang="en-US" dirty="0" err="1" smtClean="0"/>
              <a:t>etc</a:t>
            </a:r>
            <a:r>
              <a:rPr lang="en-US" dirty="0" smtClean="0"/>
              <a:t>/</a:t>
            </a:r>
            <a:r>
              <a:rPr lang="en-US" dirty="0" err="1" smtClean="0"/>
              <a:t>sudoers.d</a:t>
            </a:r>
            <a:r>
              <a:rPr lang="en-US" dirty="0" smtClean="0"/>
              <a:t>/ </a:t>
            </a:r>
            <a:r>
              <a:rPr lang="en-US" dirty="0" err="1" smtClean="0"/>
              <a:t>cephadmin</a:t>
            </a:r>
            <a:r>
              <a:rPr lang="en-US" dirty="0" smtClean="0"/>
              <a:t> README root@GPU111:~# </a:t>
            </a:r>
            <a:r>
              <a:rPr lang="en-US" dirty="0" err="1" smtClean="0"/>
              <a:t>chmod</a:t>
            </a:r>
            <a:r>
              <a:rPr lang="en-US" dirty="0" smtClean="0"/>
              <a:t> 0440 /</a:t>
            </a:r>
            <a:r>
              <a:rPr lang="en-US" dirty="0" err="1" smtClean="0"/>
              <a:t>etc</a:t>
            </a:r>
            <a:r>
              <a:rPr lang="en-US" dirty="0" smtClean="0"/>
              <a:t>/</a:t>
            </a:r>
            <a:r>
              <a:rPr lang="en-US" dirty="0" err="1" smtClean="0"/>
              <a:t>sudoers.d</a:t>
            </a:r>
            <a:r>
              <a:rPr lang="en-US" dirty="0" smtClean="0"/>
              <a:t>/</a:t>
            </a:r>
            <a:r>
              <a:rPr lang="en-US" dirty="0" err="1" smtClean="0"/>
              <a:t>cephadmin</a:t>
            </a:r>
            <a:r>
              <a:rPr lang="en-US" dirty="0" smtClean="0"/>
              <a:t> </a:t>
            </a:r>
          </a:p>
          <a:p>
            <a:r>
              <a:rPr lang="en-US" dirty="0" smtClean="0"/>
              <a:t>Install </a:t>
            </a:r>
            <a:r>
              <a:rPr lang="en-US" b="1" dirty="0" err="1" smtClean="0"/>
              <a:t>cephadm</a:t>
            </a:r>
            <a:r>
              <a:rPr lang="en-US" dirty="0" smtClean="0"/>
              <a:t> tool</a:t>
            </a:r>
          </a:p>
          <a:p>
            <a:r>
              <a:rPr lang="en-US" dirty="0" smtClean="0"/>
              <a:t>root@GPU111:~# apt install </a:t>
            </a:r>
            <a:r>
              <a:rPr lang="en-US" dirty="0" err="1" smtClean="0"/>
              <a:t>cephadm</a:t>
            </a:r>
            <a:r>
              <a:rPr lang="en-US" dirty="0" smtClean="0"/>
              <a:t> Reading package lists... Done Building dependency tree Reading state information... Done The following packages were automatically installed and are no longer required: libfwupdplugin1 libisns0 Use 'apt </a:t>
            </a:r>
            <a:r>
              <a:rPr lang="en-US" dirty="0" err="1" smtClean="0"/>
              <a:t>autoremove</a:t>
            </a:r>
            <a:r>
              <a:rPr lang="en-US" dirty="0" smtClean="0"/>
              <a:t>' to remove them. Recommended packages: docker.io The following NEW packages will be installed: </a:t>
            </a:r>
            <a:r>
              <a:rPr lang="en-US" dirty="0" err="1" smtClean="0"/>
              <a:t>cephadm</a:t>
            </a:r>
            <a:r>
              <a:rPr lang="en-US" dirty="0" smtClean="0"/>
              <a:t> 0 upgraded, 1 newly installed, 0 to remove and 11 not upgraded. Need to get 58.5 kB of archives. After this operation, 307 kB of additional disk space will be used. Get:1 http://au.archive.ubuntu.com/ubuntu focal-updates/universe amd64 </a:t>
            </a:r>
            <a:r>
              <a:rPr lang="en-US" dirty="0" err="1" smtClean="0"/>
              <a:t>cephadm</a:t>
            </a:r>
            <a:r>
              <a:rPr lang="en-US" dirty="0" smtClean="0"/>
              <a:t> amd64 15.2.16-0ubuntu0.20.04.1 [58.5 kB] Fetched 58.5 kB in 0s (665 kB/s) Selecting previously unselected package </a:t>
            </a:r>
            <a:r>
              <a:rPr lang="en-US" dirty="0" err="1" smtClean="0"/>
              <a:t>cephadm</a:t>
            </a:r>
            <a:r>
              <a:rPr lang="en-US" dirty="0" smtClean="0"/>
              <a:t>. (Reading database ... 130835 files and directories currently installed.) Preparing to unpack .../cephadm_15.2.16-0ubuntu0.20.04.1_amd64.deb ... Unpacking </a:t>
            </a:r>
            <a:r>
              <a:rPr lang="en-US" dirty="0" err="1" smtClean="0"/>
              <a:t>cephadm</a:t>
            </a:r>
            <a:r>
              <a:rPr lang="en-US" dirty="0" smtClean="0"/>
              <a:t> (15.2.16-0ubuntu0.20.04.1) ... Setting up </a:t>
            </a:r>
            <a:r>
              <a:rPr lang="en-US" dirty="0" err="1" smtClean="0"/>
              <a:t>cephadm</a:t>
            </a:r>
            <a:r>
              <a:rPr lang="en-US" dirty="0" smtClean="0"/>
              <a:t> (15.2.16-0ubuntu0.20.04.1) ... Adding system user </a:t>
            </a:r>
            <a:r>
              <a:rPr lang="en-US" dirty="0" err="1" smtClean="0"/>
              <a:t>cephadm</a:t>
            </a:r>
            <a:r>
              <a:rPr lang="en-US" dirty="0" smtClean="0"/>
              <a:t>....done </a:t>
            </a:r>
          </a:p>
          <a:p>
            <a:r>
              <a:rPr lang="en-US" b="1" dirty="0" smtClean="0"/>
              <a:t>NOTE</a:t>
            </a:r>
            <a:r>
              <a:rPr lang="en-US" dirty="0" smtClean="0"/>
              <a:t>: or install via curl to fetch most recent version. For example</a:t>
            </a:r>
          </a:p>
          <a:p>
            <a:r>
              <a:rPr lang="en-US" dirty="0" smtClean="0"/>
              <a:t>root@node1:~# curl --silent --remote-name --location https://github.com/ceph/ceph/raw/quincy/src/cephadm/cephadm root@node1:~# </a:t>
            </a:r>
            <a:r>
              <a:rPr lang="en-US" dirty="0" err="1" smtClean="0"/>
              <a:t>chmod</a:t>
            </a:r>
            <a:r>
              <a:rPr lang="en-US" dirty="0" smtClean="0"/>
              <a:t> +x ./</a:t>
            </a:r>
            <a:r>
              <a:rPr lang="en-US" dirty="0" err="1" smtClean="0"/>
              <a:t>cephadm</a:t>
            </a:r>
            <a:r>
              <a:rPr lang="en-US" dirty="0" smtClean="0"/>
              <a:t> </a:t>
            </a:r>
          </a:p>
          <a:p>
            <a:r>
              <a:rPr lang="en-US" dirty="0" smtClean="0"/>
              <a:t>Switch to </a:t>
            </a:r>
            <a:r>
              <a:rPr lang="en-US" b="1" dirty="0" err="1" smtClean="0"/>
              <a:t>cephadmin</a:t>
            </a:r>
            <a:r>
              <a:rPr lang="en-US" dirty="0" smtClean="0"/>
              <a:t> user</a:t>
            </a:r>
          </a:p>
          <a:p>
            <a:r>
              <a:rPr lang="en-US" dirty="0" smtClean="0"/>
              <a:t>root@GPU111:~# </a:t>
            </a:r>
            <a:r>
              <a:rPr lang="en-US" dirty="0" err="1" smtClean="0"/>
              <a:t>su</a:t>
            </a:r>
            <a:r>
              <a:rPr lang="en-US" dirty="0" smtClean="0"/>
              <a:t> </a:t>
            </a:r>
            <a:r>
              <a:rPr lang="en-US" dirty="0" err="1" smtClean="0"/>
              <a:t>cephadmin</a:t>
            </a:r>
            <a:r>
              <a:rPr lang="en-US" dirty="0" smtClean="0"/>
              <a:t> - cephadmin@GPU111:/root$ </a:t>
            </a:r>
          </a:p>
          <a:p>
            <a:r>
              <a:rPr lang="en-US" dirty="0" smtClean="0"/>
              <a:t>Bootstrap a new cluster</a:t>
            </a:r>
          </a:p>
          <a:p>
            <a:r>
              <a:rPr lang="en-US" dirty="0" smtClean="0"/>
              <a:t>cephadmin@GPU111:~$ </a:t>
            </a:r>
            <a:r>
              <a:rPr lang="en-US" dirty="0" err="1" smtClean="0"/>
              <a:t>sudo</a:t>
            </a:r>
            <a:r>
              <a:rPr lang="en-US" dirty="0" smtClean="0"/>
              <a:t> </a:t>
            </a:r>
            <a:r>
              <a:rPr lang="en-US" dirty="0" err="1" smtClean="0"/>
              <a:t>cephadm</a:t>
            </a:r>
            <a:r>
              <a:rPr lang="en-US" dirty="0" smtClean="0"/>
              <a:t> bootstrap --mon-</a:t>
            </a:r>
            <a:r>
              <a:rPr lang="en-US" dirty="0" err="1" smtClean="0"/>
              <a:t>ip</a:t>
            </a:r>
            <a:r>
              <a:rPr lang="en-US" dirty="0" smtClean="0"/>
              <a:t> 192.168.1.23 Creating directory /</a:t>
            </a:r>
            <a:r>
              <a:rPr lang="en-US" dirty="0" err="1" smtClean="0"/>
              <a:t>etc</a:t>
            </a:r>
            <a:r>
              <a:rPr lang="en-US" dirty="0" smtClean="0"/>
              <a:t>/</a:t>
            </a:r>
            <a:r>
              <a:rPr lang="en-US" dirty="0" err="1" smtClean="0"/>
              <a:t>ceph</a:t>
            </a:r>
            <a:r>
              <a:rPr lang="en-US" dirty="0" smtClean="0"/>
              <a:t> for </a:t>
            </a:r>
            <a:r>
              <a:rPr lang="en-US" dirty="0" err="1" smtClean="0"/>
              <a:t>ceph.conf</a:t>
            </a:r>
            <a:r>
              <a:rPr lang="en-US" dirty="0" smtClean="0"/>
              <a:t> Verifying </a:t>
            </a:r>
            <a:r>
              <a:rPr lang="en-US" dirty="0" err="1" smtClean="0"/>
              <a:t>podman|docker</a:t>
            </a:r>
            <a:r>
              <a:rPr lang="en-US" dirty="0" smtClean="0"/>
              <a:t> is present... Verifying lvm2 is present... Verifying time synchronization is in place... Unit </a:t>
            </a:r>
            <a:r>
              <a:rPr lang="en-US" dirty="0" err="1" smtClean="0"/>
              <a:t>chrony.service</a:t>
            </a:r>
            <a:r>
              <a:rPr lang="en-US" dirty="0" smtClean="0"/>
              <a:t> is enabled and running Repeating the final host check... </a:t>
            </a:r>
            <a:r>
              <a:rPr lang="en-US" dirty="0" err="1" smtClean="0"/>
              <a:t>podman|docker</a:t>
            </a:r>
            <a:r>
              <a:rPr lang="en-US" dirty="0" smtClean="0"/>
              <a:t> (/</a:t>
            </a:r>
            <a:r>
              <a:rPr lang="en-US" dirty="0" err="1" smtClean="0"/>
              <a:t>usr</a:t>
            </a:r>
            <a:r>
              <a:rPr lang="en-US" dirty="0" smtClean="0"/>
              <a:t>/bin/</a:t>
            </a:r>
            <a:r>
              <a:rPr lang="en-US" dirty="0" err="1" smtClean="0"/>
              <a:t>docker</a:t>
            </a:r>
            <a:r>
              <a:rPr lang="en-US" dirty="0" smtClean="0"/>
              <a:t>) is present </a:t>
            </a:r>
            <a:r>
              <a:rPr lang="en-US" dirty="0" err="1" smtClean="0"/>
              <a:t>systemctl</a:t>
            </a:r>
            <a:r>
              <a:rPr lang="en-US" dirty="0" smtClean="0"/>
              <a:t> is present </a:t>
            </a:r>
            <a:r>
              <a:rPr lang="en-US" dirty="0" err="1" smtClean="0"/>
              <a:t>lvcreate</a:t>
            </a:r>
            <a:r>
              <a:rPr lang="en-US" dirty="0" smtClean="0"/>
              <a:t> is present Unit </a:t>
            </a:r>
            <a:r>
              <a:rPr lang="en-US" dirty="0" err="1" smtClean="0"/>
              <a:t>chrony.service</a:t>
            </a:r>
            <a:r>
              <a:rPr lang="en-US" dirty="0" smtClean="0"/>
              <a:t> is enabled and running Host looks OK Cluster </a:t>
            </a:r>
            <a:r>
              <a:rPr lang="en-US" dirty="0" err="1" smtClean="0"/>
              <a:t>fsid</a:t>
            </a:r>
            <a:r>
              <a:rPr lang="en-US" dirty="0" smtClean="0"/>
              <a:t>: 16e21856-6030-11ed-8a24-db02e0e54b22 Verifying IP 192.168.1.23 port 3300 ... Verifying IP 192.168.1.23 port 6789 ... Mon IP 192.168.1.23 is in CIDR network 192.168.1.0/24 Pulling container image quay.io/</a:t>
            </a:r>
            <a:r>
              <a:rPr lang="en-US" dirty="0" err="1" smtClean="0"/>
              <a:t>ceph</a:t>
            </a:r>
            <a:r>
              <a:rPr lang="en-US" dirty="0" smtClean="0"/>
              <a:t>/ceph:v15... Extracting </a:t>
            </a:r>
            <a:r>
              <a:rPr lang="en-US" dirty="0" err="1" smtClean="0"/>
              <a:t>ceph</a:t>
            </a:r>
            <a:r>
              <a:rPr lang="en-US" dirty="0" smtClean="0"/>
              <a:t> user </a:t>
            </a:r>
            <a:r>
              <a:rPr lang="en-US" dirty="0" err="1" smtClean="0"/>
              <a:t>uid</a:t>
            </a:r>
            <a:r>
              <a:rPr lang="en-US" dirty="0" smtClean="0"/>
              <a:t>/</a:t>
            </a:r>
            <a:r>
              <a:rPr lang="en-US" dirty="0" err="1" smtClean="0"/>
              <a:t>gid</a:t>
            </a:r>
            <a:r>
              <a:rPr lang="en-US" dirty="0" smtClean="0"/>
              <a:t> from container image... Creating initial keys... Creating initial </a:t>
            </a:r>
            <a:r>
              <a:rPr lang="en-US" dirty="0" err="1" smtClean="0"/>
              <a:t>monmap</a:t>
            </a:r>
            <a:r>
              <a:rPr lang="en-US" dirty="0" smtClean="0"/>
              <a:t>... Creating mon... Waiting for mon to start... Waiting for mon... mon is available Assimilating anything we can from </a:t>
            </a:r>
            <a:r>
              <a:rPr lang="en-US" dirty="0" err="1" smtClean="0"/>
              <a:t>ceph.conf</a:t>
            </a:r>
            <a:r>
              <a:rPr lang="en-US" dirty="0" smtClean="0"/>
              <a:t>... Generating new minimal </a:t>
            </a:r>
            <a:r>
              <a:rPr lang="en-US" dirty="0" err="1" smtClean="0"/>
              <a:t>ceph.conf</a:t>
            </a:r>
            <a:r>
              <a:rPr lang="en-US" dirty="0" smtClean="0"/>
              <a:t>... Restarting the monitor... Setting mon </a:t>
            </a:r>
            <a:r>
              <a:rPr lang="en-US" dirty="0" err="1" smtClean="0"/>
              <a:t>public_network</a:t>
            </a:r>
            <a:r>
              <a:rPr lang="en-US" dirty="0" smtClean="0"/>
              <a:t>... Creating mgr... Verifying port 9283 ... Wrote keyring to /</a:t>
            </a:r>
            <a:r>
              <a:rPr lang="en-US" dirty="0" err="1" smtClean="0"/>
              <a:t>etc</a:t>
            </a:r>
            <a:r>
              <a:rPr lang="en-US" dirty="0" smtClean="0"/>
              <a:t>/</a:t>
            </a:r>
            <a:r>
              <a:rPr lang="en-US" dirty="0" err="1" smtClean="0"/>
              <a:t>ceph</a:t>
            </a:r>
            <a:r>
              <a:rPr lang="en-US" dirty="0" smtClean="0"/>
              <a:t>/</a:t>
            </a:r>
            <a:r>
              <a:rPr lang="en-US" dirty="0" err="1" smtClean="0"/>
              <a:t>ceph.client.admin.keyring</a:t>
            </a:r>
            <a:r>
              <a:rPr lang="en-US" dirty="0" smtClean="0"/>
              <a:t> Wrote </a:t>
            </a:r>
            <a:r>
              <a:rPr lang="en-US" dirty="0" err="1" smtClean="0"/>
              <a:t>config</a:t>
            </a:r>
            <a:r>
              <a:rPr lang="en-US" dirty="0" smtClean="0"/>
              <a:t> to /</a:t>
            </a:r>
            <a:r>
              <a:rPr lang="en-US" dirty="0" err="1" smtClean="0"/>
              <a:t>etc</a:t>
            </a:r>
            <a:r>
              <a:rPr lang="en-US" dirty="0" smtClean="0"/>
              <a:t>/</a:t>
            </a:r>
            <a:r>
              <a:rPr lang="en-US" dirty="0" err="1" smtClean="0"/>
              <a:t>ceph</a:t>
            </a:r>
            <a:r>
              <a:rPr lang="en-US" dirty="0" smtClean="0"/>
              <a:t>/</a:t>
            </a:r>
            <a:r>
              <a:rPr lang="en-US" dirty="0" err="1" smtClean="0"/>
              <a:t>ceph.conf</a:t>
            </a:r>
            <a:r>
              <a:rPr lang="en-US" dirty="0" smtClean="0"/>
              <a:t> Waiting for </a:t>
            </a:r>
            <a:r>
              <a:rPr lang="en-US" dirty="0" err="1" smtClean="0"/>
              <a:t>mgr</a:t>
            </a:r>
            <a:r>
              <a:rPr lang="en-US" dirty="0" smtClean="0"/>
              <a:t> to start... Waiting for mgr... </a:t>
            </a:r>
            <a:r>
              <a:rPr lang="en-US" dirty="0" err="1" smtClean="0"/>
              <a:t>mgr</a:t>
            </a:r>
            <a:r>
              <a:rPr lang="en-US" dirty="0" smtClean="0"/>
              <a:t> not available, waiting (1/10)... </a:t>
            </a:r>
            <a:r>
              <a:rPr lang="en-US" dirty="0" err="1" smtClean="0"/>
              <a:t>mgr</a:t>
            </a:r>
            <a:r>
              <a:rPr lang="en-US" dirty="0" smtClean="0"/>
              <a:t> not available, waiting (2/10)... </a:t>
            </a:r>
            <a:r>
              <a:rPr lang="en-US" dirty="0" err="1" smtClean="0"/>
              <a:t>mgr</a:t>
            </a:r>
            <a:r>
              <a:rPr lang="en-US" dirty="0" smtClean="0"/>
              <a:t> not available, waiting (3/10)... </a:t>
            </a:r>
            <a:r>
              <a:rPr lang="en-US" dirty="0" err="1" smtClean="0"/>
              <a:t>mgr</a:t>
            </a:r>
            <a:r>
              <a:rPr lang="en-US" dirty="0" smtClean="0"/>
              <a:t> not available, waiting (4/10)... </a:t>
            </a:r>
            <a:r>
              <a:rPr lang="en-US" dirty="0" err="1" smtClean="0"/>
              <a:t>mgr</a:t>
            </a:r>
            <a:r>
              <a:rPr lang="en-US" dirty="0" smtClean="0"/>
              <a:t> not available, waiting (5/10)... </a:t>
            </a:r>
            <a:r>
              <a:rPr lang="en-US" dirty="0" err="1" smtClean="0"/>
              <a:t>mgr</a:t>
            </a:r>
            <a:r>
              <a:rPr lang="en-US" dirty="0" smtClean="0"/>
              <a:t> is available Enabling </a:t>
            </a:r>
            <a:r>
              <a:rPr lang="en-US" dirty="0" err="1" smtClean="0"/>
              <a:t>cephadm</a:t>
            </a:r>
            <a:r>
              <a:rPr lang="en-US" dirty="0" smtClean="0"/>
              <a:t> module... Waiting for the </a:t>
            </a:r>
            <a:r>
              <a:rPr lang="en-US" dirty="0" err="1" smtClean="0"/>
              <a:t>mgr</a:t>
            </a:r>
            <a:r>
              <a:rPr lang="en-US" dirty="0" smtClean="0"/>
              <a:t> to restart... Waiting for </a:t>
            </a:r>
            <a:r>
              <a:rPr lang="en-US" dirty="0" err="1" smtClean="0"/>
              <a:t>Mgr</a:t>
            </a:r>
            <a:r>
              <a:rPr lang="en-US" dirty="0" smtClean="0"/>
              <a:t> epoch 5... </a:t>
            </a:r>
            <a:r>
              <a:rPr lang="en-US" dirty="0" err="1" smtClean="0"/>
              <a:t>Mgr</a:t>
            </a:r>
            <a:r>
              <a:rPr lang="en-US" dirty="0" smtClean="0"/>
              <a:t> epoch 5 is available Setting orchestrator backend to </a:t>
            </a:r>
            <a:r>
              <a:rPr lang="en-US" dirty="0" err="1" smtClean="0"/>
              <a:t>cephadm</a:t>
            </a:r>
            <a:r>
              <a:rPr lang="en-US" dirty="0" smtClean="0"/>
              <a:t>... Generating </a:t>
            </a:r>
            <a:r>
              <a:rPr lang="en-US" dirty="0" err="1" smtClean="0"/>
              <a:t>ssh</a:t>
            </a:r>
            <a:r>
              <a:rPr lang="en-US" dirty="0" smtClean="0"/>
              <a:t> key... Wrote public SSH key to </a:t>
            </a:r>
            <a:r>
              <a:rPr lang="en-US" dirty="0" err="1" smtClean="0"/>
              <a:t>to</a:t>
            </a:r>
            <a:r>
              <a:rPr lang="en-US" dirty="0" smtClean="0"/>
              <a:t> /</a:t>
            </a:r>
            <a:r>
              <a:rPr lang="en-US" dirty="0" err="1" smtClean="0"/>
              <a:t>etc</a:t>
            </a:r>
            <a:r>
              <a:rPr lang="en-US" dirty="0" smtClean="0"/>
              <a:t>/</a:t>
            </a:r>
            <a:r>
              <a:rPr lang="en-US" dirty="0" err="1" smtClean="0"/>
              <a:t>ceph</a:t>
            </a:r>
            <a:r>
              <a:rPr lang="en-US" dirty="0" smtClean="0"/>
              <a:t>/ceph.pub Adding key to </a:t>
            </a:r>
            <a:r>
              <a:rPr lang="en-US" dirty="0" err="1" smtClean="0"/>
              <a:t>root@localhost's</a:t>
            </a:r>
            <a:r>
              <a:rPr lang="en-US" dirty="0" smtClean="0"/>
              <a:t> </a:t>
            </a:r>
            <a:r>
              <a:rPr lang="en-US" dirty="0" err="1" smtClean="0"/>
              <a:t>authorized_keys</a:t>
            </a:r>
            <a:r>
              <a:rPr lang="en-US" dirty="0" smtClean="0"/>
              <a:t>... Adding host GPU111... Deploying mon service with default placement... Deploying </a:t>
            </a:r>
            <a:r>
              <a:rPr lang="en-US" dirty="0" err="1" smtClean="0"/>
              <a:t>mgr</a:t>
            </a:r>
            <a:r>
              <a:rPr lang="en-US" dirty="0" smtClean="0"/>
              <a:t> service with default placement... Deploying crash service with default placement... Enabling </a:t>
            </a:r>
            <a:r>
              <a:rPr lang="en-US" dirty="0" err="1" smtClean="0"/>
              <a:t>mgr</a:t>
            </a:r>
            <a:r>
              <a:rPr lang="en-US" dirty="0" smtClean="0"/>
              <a:t> </a:t>
            </a:r>
            <a:r>
              <a:rPr lang="en-US" dirty="0" err="1" smtClean="0"/>
              <a:t>prometheus</a:t>
            </a:r>
            <a:r>
              <a:rPr lang="en-US" dirty="0" smtClean="0"/>
              <a:t> module... Deploying </a:t>
            </a:r>
            <a:r>
              <a:rPr lang="en-US" dirty="0" err="1" smtClean="0"/>
              <a:t>prometheus</a:t>
            </a:r>
            <a:r>
              <a:rPr lang="en-US" dirty="0" smtClean="0"/>
              <a:t> service with default placement... Deploying </a:t>
            </a:r>
            <a:r>
              <a:rPr lang="en-US" dirty="0" err="1" smtClean="0"/>
              <a:t>grafana</a:t>
            </a:r>
            <a:r>
              <a:rPr lang="en-US" dirty="0" smtClean="0"/>
              <a:t> service with default placement... Deploying node-exporter service with default placement... Deploying </a:t>
            </a:r>
            <a:r>
              <a:rPr lang="en-US" dirty="0" err="1" smtClean="0"/>
              <a:t>alertmanager</a:t>
            </a:r>
            <a:r>
              <a:rPr lang="en-US" dirty="0" smtClean="0"/>
              <a:t> service with default placement... Enabling the dashboard module... Waiting for the </a:t>
            </a:r>
            <a:r>
              <a:rPr lang="en-US" dirty="0" err="1" smtClean="0"/>
              <a:t>mgr</a:t>
            </a:r>
            <a:r>
              <a:rPr lang="en-US" dirty="0" smtClean="0"/>
              <a:t> to restart... Waiting for </a:t>
            </a:r>
            <a:r>
              <a:rPr lang="en-US" dirty="0" err="1" smtClean="0"/>
              <a:t>Mgr</a:t>
            </a:r>
            <a:r>
              <a:rPr lang="en-US" dirty="0" smtClean="0"/>
              <a:t> epoch 13... </a:t>
            </a:r>
            <a:r>
              <a:rPr lang="en-US" dirty="0" err="1" smtClean="0"/>
              <a:t>Mgr</a:t>
            </a:r>
            <a:r>
              <a:rPr lang="en-US" dirty="0" smtClean="0"/>
              <a:t> epoch 13 is available Generating a dashboard self-signed certificate... Creating initial admin user... Fetching dashboard port number... </a:t>
            </a:r>
            <a:r>
              <a:rPr lang="en-US" dirty="0" err="1" smtClean="0"/>
              <a:t>Ceph</a:t>
            </a:r>
            <a:r>
              <a:rPr lang="en-US" dirty="0" smtClean="0"/>
              <a:t> Dashboard is now available at: URL: https://GPU11ATKC41:8443/ User: admin Password: plur7o63uu You can access the </a:t>
            </a:r>
            <a:r>
              <a:rPr lang="en-US" dirty="0" err="1" smtClean="0"/>
              <a:t>Ceph</a:t>
            </a:r>
            <a:r>
              <a:rPr lang="en-US" dirty="0" smtClean="0"/>
              <a:t> CLI with: </a:t>
            </a:r>
            <a:r>
              <a:rPr lang="en-US" dirty="0" err="1" smtClean="0"/>
              <a:t>sudo</a:t>
            </a:r>
            <a:r>
              <a:rPr lang="en-US" dirty="0" smtClean="0"/>
              <a:t> /</a:t>
            </a:r>
            <a:r>
              <a:rPr lang="en-US" dirty="0" err="1" smtClean="0"/>
              <a:t>usr</a:t>
            </a:r>
            <a:r>
              <a:rPr lang="en-US" dirty="0" smtClean="0"/>
              <a:t>/</a:t>
            </a:r>
            <a:r>
              <a:rPr lang="en-US" dirty="0" err="1" smtClean="0"/>
              <a:t>sbin</a:t>
            </a:r>
            <a:r>
              <a:rPr lang="en-US" dirty="0" smtClean="0"/>
              <a:t>/</a:t>
            </a:r>
            <a:r>
              <a:rPr lang="en-US" dirty="0" err="1" smtClean="0"/>
              <a:t>cephadm</a:t>
            </a:r>
            <a:r>
              <a:rPr lang="en-US" dirty="0" smtClean="0"/>
              <a:t> shell --</a:t>
            </a:r>
            <a:r>
              <a:rPr lang="en-US" dirty="0" err="1" smtClean="0"/>
              <a:t>fsid</a:t>
            </a:r>
            <a:r>
              <a:rPr lang="en-US" dirty="0" smtClean="0"/>
              <a:t> 16e21856-6030-11ed-8a24-db02e0e54b22 -c /</a:t>
            </a:r>
            <a:r>
              <a:rPr lang="en-US" dirty="0" err="1" smtClean="0"/>
              <a:t>etc</a:t>
            </a:r>
            <a:r>
              <a:rPr lang="en-US" dirty="0" smtClean="0"/>
              <a:t>/</a:t>
            </a:r>
            <a:r>
              <a:rPr lang="en-US" dirty="0" err="1" smtClean="0"/>
              <a:t>ceph</a:t>
            </a:r>
            <a:r>
              <a:rPr lang="en-US" dirty="0" smtClean="0"/>
              <a:t>/</a:t>
            </a:r>
            <a:r>
              <a:rPr lang="en-US" dirty="0" err="1" smtClean="0"/>
              <a:t>ceph.conf</a:t>
            </a:r>
            <a:r>
              <a:rPr lang="en-US" dirty="0" smtClean="0"/>
              <a:t> -k /</a:t>
            </a:r>
            <a:r>
              <a:rPr lang="en-US" dirty="0" err="1" smtClean="0"/>
              <a:t>etc</a:t>
            </a:r>
            <a:r>
              <a:rPr lang="en-US" dirty="0" smtClean="0"/>
              <a:t>/</a:t>
            </a:r>
            <a:r>
              <a:rPr lang="en-US" dirty="0" err="1" smtClean="0"/>
              <a:t>ceph</a:t>
            </a:r>
            <a:r>
              <a:rPr lang="en-US" dirty="0" smtClean="0"/>
              <a:t>/</a:t>
            </a:r>
            <a:r>
              <a:rPr lang="en-US" dirty="0" err="1" smtClean="0"/>
              <a:t>ceph.client.admin.keyring</a:t>
            </a:r>
            <a:r>
              <a:rPr lang="en-US" dirty="0" smtClean="0"/>
              <a:t> Please consider enabling telemetry to help improve </a:t>
            </a:r>
            <a:r>
              <a:rPr lang="en-US" dirty="0" err="1" smtClean="0"/>
              <a:t>Ceph</a:t>
            </a:r>
            <a:r>
              <a:rPr lang="en-US" dirty="0" smtClean="0"/>
              <a:t>: </a:t>
            </a:r>
            <a:r>
              <a:rPr lang="en-US" dirty="0" err="1" smtClean="0"/>
              <a:t>ceph</a:t>
            </a:r>
            <a:r>
              <a:rPr lang="en-US" dirty="0" smtClean="0"/>
              <a:t> telemetry on For more information see: https://docs.ceph.com/docs/master/mgr/telemetry/ Bootstrap complete. </a:t>
            </a:r>
          </a:p>
          <a:p>
            <a:r>
              <a:rPr lang="en-US" b="1" dirty="0" smtClean="0"/>
              <a:t>NOTE</a:t>
            </a:r>
            <a:r>
              <a:rPr lang="en-US" dirty="0" smtClean="0"/>
              <a:t>: add --skip-monitoring-stack option to skip monitoring stack (Prometheus, </a:t>
            </a:r>
            <a:r>
              <a:rPr lang="en-US" dirty="0" err="1" smtClean="0"/>
              <a:t>Grafana</a:t>
            </a:r>
            <a:r>
              <a:rPr lang="en-US" dirty="0" smtClean="0"/>
              <a:t>, etc…) deploy.</a:t>
            </a:r>
          </a:p>
          <a:p>
            <a:r>
              <a:rPr lang="en-US" b="1" dirty="0" smtClean="0"/>
              <a:t>NOTE</a:t>
            </a:r>
            <a:r>
              <a:rPr lang="en-US" dirty="0" smtClean="0"/>
              <a:t>: add --cluster-network to use cluster network. (for example, 192.168.122.0/24) (for newer </a:t>
            </a:r>
            <a:r>
              <a:rPr lang="en-US" dirty="0" err="1" smtClean="0"/>
              <a:t>cephadm</a:t>
            </a:r>
            <a:r>
              <a:rPr lang="en-US" dirty="0" smtClean="0"/>
              <a:t> version??) </a:t>
            </a:r>
            <a:r>
              <a:rPr lang="en-US" dirty="0" smtClean="0">
                <a:hlinkClick r:id="rId3"/>
              </a:rPr>
              <a:t>https://github.com/ceph/ceph/pull/38911</a:t>
            </a:r>
            <a:endParaRPr lang="en-US" dirty="0" smtClean="0"/>
          </a:p>
          <a:p>
            <a:r>
              <a:rPr lang="en-US" dirty="0" smtClean="0"/>
              <a:t>When login </a:t>
            </a:r>
            <a:r>
              <a:rPr lang="en-US" dirty="0" err="1" smtClean="0"/>
              <a:t>dashbaoard</a:t>
            </a:r>
            <a:r>
              <a:rPr lang="en-US" dirty="0" smtClean="0"/>
              <a:t> first time, you will be asked to update password. Here I simply update the password.</a:t>
            </a:r>
          </a:p>
          <a:p>
            <a:r>
              <a:rPr lang="en-US" dirty="0" smtClean="0"/>
              <a:t>username/password: admin/</a:t>
            </a:r>
            <a:r>
              <a:rPr lang="en-US" dirty="0" err="1" smtClean="0"/>
              <a:t>cephadmin</a:t>
            </a:r>
            <a:r>
              <a:rPr lang="en-US" dirty="0" smtClean="0"/>
              <a:t> </a:t>
            </a:r>
          </a:p>
          <a:p>
            <a:r>
              <a:rPr lang="en-US" dirty="0" smtClean="0"/>
              <a:t>Check </a:t>
            </a:r>
            <a:r>
              <a:rPr lang="en-US" dirty="0" err="1" smtClean="0"/>
              <a:t>Ceph</a:t>
            </a:r>
            <a:r>
              <a:rPr lang="en-US" dirty="0" smtClean="0"/>
              <a:t> containers</a:t>
            </a:r>
          </a:p>
          <a:p>
            <a:r>
              <a:rPr lang="en-US" dirty="0" smtClean="0"/>
              <a:t>cephadmin@GPU111:~$ </a:t>
            </a:r>
            <a:r>
              <a:rPr lang="en-US" dirty="0" err="1" smtClean="0"/>
              <a:t>sudo</a:t>
            </a:r>
            <a:r>
              <a:rPr lang="en-US" dirty="0" smtClean="0"/>
              <a:t> </a:t>
            </a:r>
            <a:r>
              <a:rPr lang="en-US" dirty="0" err="1" smtClean="0"/>
              <a:t>docker</a:t>
            </a:r>
            <a:r>
              <a:rPr lang="en-US" dirty="0" smtClean="0"/>
              <a:t> </a:t>
            </a:r>
            <a:r>
              <a:rPr lang="en-US" dirty="0" err="1" smtClean="0"/>
              <a:t>ps</a:t>
            </a:r>
            <a:r>
              <a:rPr lang="en-US" dirty="0" smtClean="0"/>
              <a:t> CONTAINER ID IMAGE COMMAND CREATED STATUS PORTS NAMES 15225fbe7d8a quay.io/</a:t>
            </a:r>
            <a:r>
              <a:rPr lang="en-US" dirty="0" err="1" smtClean="0"/>
              <a:t>prometheus</a:t>
            </a:r>
            <a:r>
              <a:rPr lang="en-US" dirty="0" smtClean="0"/>
              <a:t>/alertmanager:v0.20.0 "/bin/</a:t>
            </a:r>
            <a:r>
              <a:rPr lang="en-US" dirty="0" err="1" smtClean="0"/>
              <a:t>alertmanager</a:t>
            </a:r>
            <a:r>
              <a:rPr lang="en-US" dirty="0" smtClean="0"/>
              <a:t> -…" 3 minutes ago Up 3 minutes ceph-16e21856-6030-11ed-8a24-db02e0e54b22-alertmanager.GPU111 23d37d214780 quay.io/</a:t>
            </a:r>
            <a:r>
              <a:rPr lang="en-US" dirty="0" err="1" smtClean="0"/>
              <a:t>ceph</a:t>
            </a:r>
            <a:r>
              <a:rPr lang="en-US" dirty="0" smtClean="0"/>
              <a:t>/ceph-grafana:6.7.4 "/bin/</a:t>
            </a:r>
            <a:r>
              <a:rPr lang="en-US" dirty="0" err="1" smtClean="0"/>
              <a:t>sh</a:t>
            </a:r>
            <a:r>
              <a:rPr lang="en-US" dirty="0" smtClean="0"/>
              <a:t> -c '</a:t>
            </a:r>
            <a:r>
              <a:rPr lang="en-US" dirty="0" err="1" smtClean="0"/>
              <a:t>grafana</a:t>
            </a:r>
            <a:r>
              <a:rPr lang="en-US" dirty="0" smtClean="0"/>
              <a:t>…" 3 minutes ago Up 3 minutes ceph-16e21856-6030-11ed-8a24-db02e0e54b22-grafana.GPU111 a506c9016de5 quay.io/</a:t>
            </a:r>
            <a:r>
              <a:rPr lang="en-US" dirty="0" err="1" smtClean="0"/>
              <a:t>prometheus</a:t>
            </a:r>
            <a:r>
              <a:rPr lang="en-US" dirty="0" smtClean="0"/>
              <a:t>/prometheus:v2.18.1 "/bin/</a:t>
            </a:r>
            <a:r>
              <a:rPr lang="en-US" dirty="0" err="1" smtClean="0"/>
              <a:t>prometheus</a:t>
            </a:r>
            <a:r>
              <a:rPr lang="en-US" dirty="0" smtClean="0"/>
              <a:t> --c…" 4 minutes ago Up 4 minutes ceph-16e21856-6030-11ed-8a24-db02e0e54b22-prometheus.GPU111 795ec188ff2a quay.io/</a:t>
            </a:r>
            <a:r>
              <a:rPr lang="en-US" dirty="0" err="1" smtClean="0"/>
              <a:t>prometheus</a:t>
            </a:r>
            <a:r>
              <a:rPr lang="en-US" dirty="0" smtClean="0"/>
              <a:t>/node-exporter:v0.18.1 "/bin/</a:t>
            </a:r>
            <a:r>
              <a:rPr lang="en-US" dirty="0" err="1" smtClean="0"/>
              <a:t>node_exporter</a:t>
            </a:r>
            <a:r>
              <a:rPr lang="en-US" dirty="0" smtClean="0"/>
              <a:t> …" 4 minutes ago Up 4 minutes ceph-16e21856-6030-11ed-8a24-db02e0e54b22-node-exporter.GPU111 a497030e7c57 quay.io/</a:t>
            </a:r>
            <a:r>
              <a:rPr lang="en-US" dirty="0" err="1" smtClean="0"/>
              <a:t>ceph</a:t>
            </a:r>
            <a:r>
              <a:rPr lang="en-US" dirty="0" smtClean="0"/>
              <a:t>/ceph:v15 "/</a:t>
            </a:r>
            <a:r>
              <a:rPr lang="en-US" dirty="0" err="1" smtClean="0"/>
              <a:t>usr</a:t>
            </a:r>
            <a:r>
              <a:rPr lang="en-US" dirty="0" smtClean="0"/>
              <a:t>/bin/</a:t>
            </a:r>
            <a:r>
              <a:rPr lang="en-US" dirty="0" err="1" smtClean="0"/>
              <a:t>ceph</a:t>
            </a:r>
            <a:r>
              <a:rPr lang="en-US" dirty="0" smtClean="0"/>
              <a:t>-crash…" 5 minutes ago Up 5 minutes ceph-16e21856-6030-11ed-8a24-db02e0e54b22-crash.GPU111 19e955a4dadc quay.io/</a:t>
            </a:r>
            <a:r>
              <a:rPr lang="en-US" dirty="0" err="1" smtClean="0"/>
              <a:t>ceph</a:t>
            </a:r>
            <a:r>
              <a:rPr lang="en-US" dirty="0" smtClean="0"/>
              <a:t>/ceph:v15 "/</a:t>
            </a:r>
            <a:r>
              <a:rPr lang="en-US" dirty="0" err="1" smtClean="0"/>
              <a:t>usr</a:t>
            </a:r>
            <a:r>
              <a:rPr lang="en-US" dirty="0" smtClean="0"/>
              <a:t>/bin/</a:t>
            </a:r>
            <a:r>
              <a:rPr lang="en-US" dirty="0" err="1" smtClean="0"/>
              <a:t>ceph-mgr</a:t>
            </a:r>
            <a:r>
              <a:rPr lang="en-US" dirty="0" smtClean="0"/>
              <a:t> -…" 6 minutes ago Up 6 minutes ceph-16e21856-6030-11ed-8a24-db02e0e54b22-mgr.GPU111.oezajx 6120dd3bf195 quay.io/</a:t>
            </a:r>
            <a:r>
              <a:rPr lang="en-US" dirty="0" err="1" smtClean="0"/>
              <a:t>ceph</a:t>
            </a:r>
            <a:r>
              <a:rPr lang="en-US" dirty="0" smtClean="0"/>
              <a:t>/ceph:v15 "/</a:t>
            </a:r>
            <a:r>
              <a:rPr lang="en-US" dirty="0" err="1" smtClean="0"/>
              <a:t>usr</a:t>
            </a:r>
            <a:r>
              <a:rPr lang="en-US" dirty="0" smtClean="0"/>
              <a:t>/bin/</a:t>
            </a:r>
            <a:r>
              <a:rPr lang="en-US" dirty="0" err="1" smtClean="0"/>
              <a:t>ceph</a:t>
            </a:r>
            <a:r>
              <a:rPr lang="en-US" dirty="0" smtClean="0"/>
              <a:t>-mon -…" 6 minutes ago Up 6 minutes ceph-16e21856-6030-11ed-8a24-db02e0e54b22-mon.GPU111 </a:t>
            </a:r>
          </a:p>
          <a:p>
            <a:r>
              <a:rPr lang="en-US" dirty="0" smtClean="0"/>
              <a:t>Check </a:t>
            </a:r>
            <a:r>
              <a:rPr lang="en-US" dirty="0" err="1" smtClean="0"/>
              <a:t>Ceph</a:t>
            </a:r>
            <a:r>
              <a:rPr lang="en-US" dirty="0" smtClean="0"/>
              <a:t> status</a:t>
            </a:r>
          </a:p>
          <a:p>
            <a:r>
              <a:rPr lang="en-US" dirty="0" smtClean="0"/>
              <a:t>cephadmin@GPU111:~$ </a:t>
            </a:r>
            <a:r>
              <a:rPr lang="en-US" dirty="0" err="1" smtClean="0"/>
              <a:t>sudo</a:t>
            </a:r>
            <a:r>
              <a:rPr lang="en-US" dirty="0" smtClean="0"/>
              <a:t> /</a:t>
            </a:r>
            <a:r>
              <a:rPr lang="en-US" dirty="0" err="1" smtClean="0"/>
              <a:t>usr</a:t>
            </a:r>
            <a:r>
              <a:rPr lang="en-US" dirty="0" smtClean="0"/>
              <a:t>/</a:t>
            </a:r>
            <a:r>
              <a:rPr lang="en-US" dirty="0" err="1" smtClean="0"/>
              <a:t>sbin</a:t>
            </a:r>
            <a:r>
              <a:rPr lang="en-US" dirty="0" smtClean="0"/>
              <a:t>/</a:t>
            </a:r>
            <a:r>
              <a:rPr lang="en-US" dirty="0" err="1" smtClean="0"/>
              <a:t>cephadm</a:t>
            </a:r>
            <a:r>
              <a:rPr lang="en-US" dirty="0" smtClean="0"/>
              <a:t> shell --</a:t>
            </a:r>
            <a:r>
              <a:rPr lang="en-US" dirty="0" err="1" smtClean="0"/>
              <a:t>fsid</a:t>
            </a:r>
            <a:r>
              <a:rPr lang="en-US" dirty="0" smtClean="0"/>
              <a:t> 16e21856-6030-11ed-8a24-db02e0e54b22 -c /</a:t>
            </a:r>
            <a:r>
              <a:rPr lang="en-US" dirty="0" err="1" smtClean="0"/>
              <a:t>etc</a:t>
            </a:r>
            <a:r>
              <a:rPr lang="en-US" dirty="0" smtClean="0"/>
              <a:t>/</a:t>
            </a:r>
            <a:r>
              <a:rPr lang="en-US" dirty="0" err="1" smtClean="0"/>
              <a:t>ceph</a:t>
            </a:r>
            <a:r>
              <a:rPr lang="en-US" dirty="0" smtClean="0"/>
              <a:t>/</a:t>
            </a:r>
            <a:r>
              <a:rPr lang="en-US" dirty="0" err="1" smtClean="0"/>
              <a:t>ceph.conf</a:t>
            </a:r>
            <a:r>
              <a:rPr lang="en-US" dirty="0" smtClean="0"/>
              <a:t> -k /</a:t>
            </a:r>
            <a:r>
              <a:rPr lang="en-US" dirty="0" err="1" smtClean="0"/>
              <a:t>etc</a:t>
            </a:r>
            <a:r>
              <a:rPr lang="en-US" dirty="0" smtClean="0"/>
              <a:t>/</a:t>
            </a:r>
            <a:r>
              <a:rPr lang="en-US" dirty="0" err="1" smtClean="0"/>
              <a:t>ceph</a:t>
            </a:r>
            <a:r>
              <a:rPr lang="en-US" dirty="0" smtClean="0"/>
              <a:t>/</a:t>
            </a:r>
            <a:r>
              <a:rPr lang="en-US" dirty="0" err="1" smtClean="0"/>
              <a:t>ceph.client.admin.keyring</a:t>
            </a:r>
            <a:r>
              <a:rPr lang="en-US" dirty="0" smtClean="0"/>
              <a:t> Using recent </a:t>
            </a:r>
            <a:r>
              <a:rPr lang="en-US" dirty="0" err="1" smtClean="0"/>
              <a:t>ceph</a:t>
            </a:r>
            <a:r>
              <a:rPr lang="en-US" dirty="0" smtClean="0"/>
              <a:t> image quay.io/</a:t>
            </a:r>
            <a:r>
              <a:rPr lang="en-US" dirty="0" err="1" smtClean="0"/>
              <a:t>ceph</a:t>
            </a:r>
            <a:r>
              <a:rPr lang="en-US" dirty="0" smtClean="0"/>
              <a:t>/ceph@sha256:c08064dde4bba4e72a1f55d90ca32df9ef5aafab82efe2e0a0722444a5aaacca root@GPU111:/# </a:t>
            </a:r>
            <a:r>
              <a:rPr lang="en-US" dirty="0" err="1" smtClean="0"/>
              <a:t>sudo</a:t>
            </a:r>
            <a:r>
              <a:rPr lang="en-US" dirty="0" smtClean="0"/>
              <a:t> </a:t>
            </a:r>
            <a:r>
              <a:rPr lang="en-US" dirty="0" err="1" smtClean="0"/>
              <a:t>ceph</a:t>
            </a:r>
            <a:r>
              <a:rPr lang="en-US" dirty="0" smtClean="0"/>
              <a:t> -s cluster: id: 16e21856-6030-11ed-8a24-db02e0e54b22 health: HEALTH_WARN OSD count 0 &lt; </a:t>
            </a:r>
            <a:r>
              <a:rPr lang="en-US" dirty="0" err="1" smtClean="0"/>
              <a:t>osd_pool_default_size</a:t>
            </a:r>
            <a:r>
              <a:rPr lang="en-US" dirty="0" smtClean="0"/>
              <a:t> 3 services: mon: 1 daemons, quorum GPU111 (age 8m) </a:t>
            </a:r>
            <a:r>
              <a:rPr lang="en-US" dirty="0" err="1" smtClean="0"/>
              <a:t>mgr</a:t>
            </a:r>
            <a:r>
              <a:rPr lang="en-US" dirty="0" smtClean="0"/>
              <a:t>: GPU111.oezajx(active, since 7m) </a:t>
            </a:r>
            <a:r>
              <a:rPr lang="en-US" dirty="0" err="1" smtClean="0"/>
              <a:t>osd</a:t>
            </a:r>
            <a:r>
              <a:rPr lang="en-US" dirty="0" smtClean="0"/>
              <a:t>: 0 </a:t>
            </a:r>
            <a:r>
              <a:rPr lang="en-US" dirty="0" err="1" smtClean="0"/>
              <a:t>osds</a:t>
            </a:r>
            <a:r>
              <a:rPr lang="en-US" dirty="0" smtClean="0"/>
              <a:t>: 0 up, 0 in data: pools: 0 pools, 0 </a:t>
            </a:r>
            <a:r>
              <a:rPr lang="en-US" dirty="0" err="1" smtClean="0"/>
              <a:t>pgs</a:t>
            </a:r>
            <a:r>
              <a:rPr lang="en-US" dirty="0" smtClean="0"/>
              <a:t> objects: 0 objects, 0 B usage: 0 B used, 0 B / 0 B avail </a:t>
            </a:r>
            <a:r>
              <a:rPr lang="en-US" dirty="0" err="1" smtClean="0"/>
              <a:t>pgs</a:t>
            </a:r>
            <a:r>
              <a:rPr lang="en-US" dirty="0" smtClean="0"/>
              <a:t>: </a:t>
            </a:r>
          </a:p>
          <a:p>
            <a:r>
              <a:rPr lang="en-US" dirty="0" smtClean="0"/>
              <a:t>Install </a:t>
            </a:r>
            <a:r>
              <a:rPr lang="en-US" dirty="0" err="1" smtClean="0"/>
              <a:t>Ceph</a:t>
            </a:r>
            <a:r>
              <a:rPr lang="en-US" dirty="0" smtClean="0"/>
              <a:t>-common package so we can use </a:t>
            </a:r>
            <a:r>
              <a:rPr lang="en-US" dirty="0" err="1" smtClean="0"/>
              <a:t>ceph</a:t>
            </a:r>
            <a:r>
              <a:rPr lang="en-US" dirty="0" smtClean="0"/>
              <a:t> command to check cluster directly</a:t>
            </a:r>
          </a:p>
          <a:p>
            <a:r>
              <a:rPr lang="en-US" dirty="0" smtClean="0"/>
              <a:t>cephadmin@GPU111:~$ </a:t>
            </a:r>
            <a:r>
              <a:rPr lang="en-US" dirty="0" err="1" smtClean="0"/>
              <a:t>sudo</a:t>
            </a:r>
            <a:r>
              <a:rPr lang="en-US" dirty="0" smtClean="0"/>
              <a:t> </a:t>
            </a:r>
            <a:r>
              <a:rPr lang="en-US" dirty="0" err="1" smtClean="0"/>
              <a:t>cephadm</a:t>
            </a:r>
            <a:r>
              <a:rPr lang="en-US" dirty="0" smtClean="0"/>
              <a:t> version Using recent </a:t>
            </a:r>
            <a:r>
              <a:rPr lang="en-US" dirty="0" err="1" smtClean="0"/>
              <a:t>ceph</a:t>
            </a:r>
            <a:r>
              <a:rPr lang="en-US" dirty="0" smtClean="0"/>
              <a:t> image quay.io/</a:t>
            </a:r>
            <a:r>
              <a:rPr lang="en-US" dirty="0" err="1" smtClean="0"/>
              <a:t>ceph</a:t>
            </a:r>
            <a:r>
              <a:rPr lang="en-US" dirty="0" smtClean="0"/>
              <a:t>/ceph@sha256:c08064dde4bba4e72a1f55d90ca32df9ef5aafab82efe2e0a0722444a5aaacca </a:t>
            </a:r>
            <a:r>
              <a:rPr lang="en-US" dirty="0" err="1" smtClean="0"/>
              <a:t>ceph</a:t>
            </a:r>
            <a:r>
              <a:rPr lang="en-US" dirty="0" smtClean="0"/>
              <a:t> version 15.2.17 (8a82819d84cf884bd39c17e3236e0632ac146dc4) octopus (stable) cephadmin@GPU111:~$ </a:t>
            </a:r>
            <a:r>
              <a:rPr lang="en-US" dirty="0" err="1" smtClean="0"/>
              <a:t>sudo</a:t>
            </a:r>
            <a:r>
              <a:rPr lang="en-US" dirty="0" smtClean="0"/>
              <a:t> </a:t>
            </a:r>
            <a:r>
              <a:rPr lang="en-US" dirty="0" err="1" smtClean="0"/>
              <a:t>cephadm</a:t>
            </a:r>
            <a:r>
              <a:rPr lang="en-US" dirty="0" smtClean="0"/>
              <a:t> add-repo --release octopus Installing repo GPG key from https://download.ceph.com/keys/</a:t>
            </a:r>
            <a:r>
              <a:rPr lang="en-US" dirty="0" err="1" smtClean="0"/>
              <a:t>release.asc</a:t>
            </a:r>
            <a:r>
              <a:rPr lang="en-US" dirty="0" smtClean="0"/>
              <a:t>... Installing repo file at /</a:t>
            </a:r>
            <a:r>
              <a:rPr lang="en-US" dirty="0" err="1" smtClean="0"/>
              <a:t>etc</a:t>
            </a:r>
            <a:r>
              <a:rPr lang="en-US" dirty="0" smtClean="0"/>
              <a:t>/apt/</a:t>
            </a:r>
            <a:r>
              <a:rPr lang="en-US" dirty="0" err="1" smtClean="0"/>
              <a:t>sources.list.d</a:t>
            </a:r>
            <a:r>
              <a:rPr lang="en-US" dirty="0" smtClean="0"/>
              <a:t>/</a:t>
            </a:r>
            <a:r>
              <a:rPr lang="en-US" dirty="0" err="1" smtClean="0"/>
              <a:t>ceph.list</a:t>
            </a:r>
            <a:r>
              <a:rPr lang="en-US" dirty="0" smtClean="0"/>
              <a:t>... cephadmin@GPU111:~$ </a:t>
            </a:r>
            <a:r>
              <a:rPr lang="en-US" dirty="0" err="1" smtClean="0"/>
              <a:t>sudo</a:t>
            </a:r>
            <a:r>
              <a:rPr lang="en-US" dirty="0" smtClean="0"/>
              <a:t> </a:t>
            </a:r>
            <a:r>
              <a:rPr lang="en-US" dirty="0" err="1" smtClean="0"/>
              <a:t>cephadm</a:t>
            </a:r>
            <a:r>
              <a:rPr lang="en-US" dirty="0" smtClean="0"/>
              <a:t> install </a:t>
            </a:r>
            <a:r>
              <a:rPr lang="en-US" dirty="0" err="1" smtClean="0"/>
              <a:t>ceph</a:t>
            </a:r>
            <a:r>
              <a:rPr lang="en-US" dirty="0" smtClean="0"/>
              <a:t>-common Installing packages ['</a:t>
            </a:r>
            <a:r>
              <a:rPr lang="en-US" dirty="0" err="1" smtClean="0"/>
              <a:t>ceph</a:t>
            </a:r>
            <a:r>
              <a:rPr lang="en-US" dirty="0" smtClean="0"/>
              <a:t>-common']... </a:t>
            </a:r>
          </a:p>
          <a:p>
            <a:r>
              <a:rPr lang="en-US" dirty="0" smtClean="0"/>
              <a:t>cephadmin@GPU111:~$ </a:t>
            </a:r>
            <a:r>
              <a:rPr lang="en-US" dirty="0" err="1" smtClean="0"/>
              <a:t>sudo</a:t>
            </a:r>
            <a:r>
              <a:rPr lang="en-US" dirty="0" smtClean="0"/>
              <a:t> </a:t>
            </a:r>
            <a:r>
              <a:rPr lang="en-US" dirty="0" err="1" smtClean="0"/>
              <a:t>ceph</a:t>
            </a:r>
            <a:r>
              <a:rPr lang="en-US" dirty="0" smtClean="0"/>
              <a:t> -s cluster: id: 16e21856-6030-11ed-8a24-db02e0e54b22 health: HEALTH_WARN OSD count 0 &lt; </a:t>
            </a:r>
            <a:r>
              <a:rPr lang="en-US" dirty="0" err="1" smtClean="0"/>
              <a:t>osd_pool_default_size</a:t>
            </a:r>
            <a:r>
              <a:rPr lang="en-US" dirty="0" smtClean="0"/>
              <a:t> 3 services: mon: 1 daemons, quorum GPU111 (age 12m) </a:t>
            </a:r>
            <a:r>
              <a:rPr lang="en-US" dirty="0" err="1" smtClean="0"/>
              <a:t>mgr</a:t>
            </a:r>
            <a:r>
              <a:rPr lang="en-US" dirty="0" smtClean="0"/>
              <a:t>: GPU111.oezajx(active, since 12m) </a:t>
            </a:r>
            <a:r>
              <a:rPr lang="en-US" dirty="0" err="1" smtClean="0"/>
              <a:t>osd</a:t>
            </a:r>
            <a:r>
              <a:rPr lang="en-US" dirty="0" smtClean="0"/>
              <a:t>: 0 </a:t>
            </a:r>
            <a:r>
              <a:rPr lang="en-US" dirty="0" err="1" smtClean="0"/>
              <a:t>osds</a:t>
            </a:r>
            <a:r>
              <a:rPr lang="en-US" dirty="0" smtClean="0"/>
              <a:t>: 0 up, 0 in data: pools: 0 pools, 0 </a:t>
            </a:r>
            <a:r>
              <a:rPr lang="en-US" dirty="0" err="1" smtClean="0"/>
              <a:t>pgs</a:t>
            </a:r>
            <a:r>
              <a:rPr lang="en-US" dirty="0" smtClean="0"/>
              <a:t> objects: 0 objects, 0 B usage: 0 B used, 0 B / 0 B avail </a:t>
            </a:r>
            <a:r>
              <a:rPr lang="en-US" dirty="0" err="1" smtClean="0"/>
              <a:t>pgs</a:t>
            </a:r>
            <a:r>
              <a:rPr lang="en-US" dirty="0" smtClean="0"/>
              <a:t>: </a:t>
            </a:r>
          </a:p>
          <a:p>
            <a:r>
              <a:rPr lang="en-US" dirty="0" smtClean="0"/>
              <a:t>Add host label to GPU111</a:t>
            </a:r>
          </a:p>
          <a:p>
            <a:r>
              <a:rPr lang="en-US" dirty="0" smtClean="0"/>
              <a:t>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ls HOST ADDR LABELS STATUS GPU111 </a:t>
            </a:r>
            <a:r>
              <a:rPr lang="en-US" dirty="0" err="1" smtClean="0"/>
              <a:t>GPU111</a:t>
            </a:r>
            <a:r>
              <a:rPr lang="en-US" dirty="0" smtClean="0"/>
              <a:t>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label add GPU111 _admin Added label _admin to host GPU111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ls HOST ADDR LABELS STATUS GPU111 </a:t>
            </a:r>
            <a:r>
              <a:rPr lang="en-US" dirty="0" err="1" smtClean="0"/>
              <a:t>GPU111</a:t>
            </a:r>
            <a:r>
              <a:rPr lang="en-US" dirty="0" smtClean="0"/>
              <a:t> _admin </a:t>
            </a:r>
          </a:p>
          <a:p>
            <a:r>
              <a:rPr lang="en-US" dirty="0" smtClean="0"/>
              <a:t>Copy public key of </a:t>
            </a:r>
            <a:r>
              <a:rPr lang="en-US" dirty="0" err="1" smtClean="0"/>
              <a:t>Ceph</a:t>
            </a:r>
            <a:r>
              <a:rPr lang="en-US" dirty="0" smtClean="0"/>
              <a:t> to OSD hosts</a:t>
            </a:r>
          </a:p>
          <a:p>
            <a:r>
              <a:rPr lang="en-US" dirty="0" smtClean="0"/>
              <a:t>cephadmin@GPU111:~$ </a:t>
            </a:r>
            <a:r>
              <a:rPr lang="en-US" dirty="0" err="1" smtClean="0"/>
              <a:t>ssh</a:t>
            </a:r>
            <a:r>
              <a:rPr lang="en-US" dirty="0" smtClean="0"/>
              <a:t>-copy-id -f -</a:t>
            </a:r>
            <a:r>
              <a:rPr lang="en-US" dirty="0" err="1" smtClean="0"/>
              <a:t>i</a:t>
            </a:r>
            <a:r>
              <a:rPr lang="en-US" dirty="0" smtClean="0"/>
              <a:t> /</a:t>
            </a:r>
            <a:r>
              <a:rPr lang="en-US" dirty="0" err="1" smtClean="0"/>
              <a:t>etc</a:t>
            </a:r>
            <a:r>
              <a:rPr lang="en-US" dirty="0" smtClean="0"/>
              <a:t>/</a:t>
            </a:r>
            <a:r>
              <a:rPr lang="en-US" dirty="0" err="1" smtClean="0"/>
              <a:t>ceph</a:t>
            </a:r>
            <a:r>
              <a:rPr lang="en-US" dirty="0" smtClean="0"/>
              <a:t>/ceph.pub root@GPU71 /</a:t>
            </a:r>
            <a:r>
              <a:rPr lang="en-US" dirty="0" err="1" smtClean="0"/>
              <a:t>usr</a:t>
            </a:r>
            <a:r>
              <a:rPr lang="en-US" dirty="0" smtClean="0"/>
              <a:t>/bin/</a:t>
            </a:r>
            <a:r>
              <a:rPr lang="en-US" dirty="0" err="1" smtClean="0"/>
              <a:t>ssh</a:t>
            </a:r>
            <a:r>
              <a:rPr lang="en-US" dirty="0" smtClean="0"/>
              <a:t>-copy-id: INFO: Source of key(s) to be installed: "/</a:t>
            </a:r>
            <a:r>
              <a:rPr lang="en-US" dirty="0" err="1" smtClean="0"/>
              <a:t>etc</a:t>
            </a:r>
            <a:r>
              <a:rPr lang="en-US" dirty="0" smtClean="0"/>
              <a:t>/</a:t>
            </a:r>
            <a:r>
              <a:rPr lang="en-US" dirty="0" err="1" smtClean="0"/>
              <a:t>ceph</a:t>
            </a:r>
            <a:r>
              <a:rPr lang="en-US" dirty="0" smtClean="0"/>
              <a:t>/ceph.pub" The authenticity of host 'GPU71 (192.168.1.24)' can't be established. ECDSA key fingerprint is SHA256:jwfxrwrwnLwLblfkfLJC3Yr894+FGQznY8+ylYTNXR8. Are you sure you want to continue connecting (yes/no/[fingerprint])? yes root@GPU71's password: Number of key(s) added: 1 Now try logging into the machine, with: "</a:t>
            </a:r>
            <a:r>
              <a:rPr lang="en-US" dirty="0" err="1" smtClean="0"/>
              <a:t>ssh</a:t>
            </a:r>
            <a:r>
              <a:rPr lang="en-US" dirty="0" smtClean="0"/>
              <a:t> 'root@GPU71'" and check to make sure that only the key(s) you wanted were added. cephadmin@GPU111:~$ </a:t>
            </a:r>
            <a:r>
              <a:rPr lang="en-US" dirty="0" err="1" smtClean="0"/>
              <a:t>ssh</a:t>
            </a:r>
            <a:r>
              <a:rPr lang="en-US" dirty="0" smtClean="0"/>
              <a:t>-copy-id -f -</a:t>
            </a:r>
            <a:r>
              <a:rPr lang="en-US" dirty="0" err="1" smtClean="0"/>
              <a:t>i</a:t>
            </a:r>
            <a:r>
              <a:rPr lang="en-US" dirty="0" smtClean="0"/>
              <a:t> /</a:t>
            </a:r>
            <a:r>
              <a:rPr lang="en-US" dirty="0" err="1" smtClean="0"/>
              <a:t>etc</a:t>
            </a:r>
            <a:r>
              <a:rPr lang="en-US" dirty="0" smtClean="0"/>
              <a:t>/</a:t>
            </a:r>
            <a:r>
              <a:rPr lang="en-US" dirty="0" err="1" smtClean="0"/>
              <a:t>ceph</a:t>
            </a:r>
            <a:r>
              <a:rPr lang="en-US" dirty="0" smtClean="0"/>
              <a:t>/ceph.pub root@GPU72 /</a:t>
            </a:r>
            <a:r>
              <a:rPr lang="en-US" dirty="0" err="1" smtClean="0"/>
              <a:t>usr</a:t>
            </a:r>
            <a:r>
              <a:rPr lang="en-US" dirty="0" smtClean="0"/>
              <a:t>/bin/</a:t>
            </a:r>
            <a:r>
              <a:rPr lang="en-US" dirty="0" err="1" smtClean="0"/>
              <a:t>ssh</a:t>
            </a:r>
            <a:r>
              <a:rPr lang="en-US" dirty="0" smtClean="0"/>
              <a:t>-copy-id: INFO: Source of key(s) to be installed: "/</a:t>
            </a:r>
            <a:r>
              <a:rPr lang="en-US" dirty="0" err="1" smtClean="0"/>
              <a:t>etc</a:t>
            </a:r>
            <a:r>
              <a:rPr lang="en-US" dirty="0" smtClean="0"/>
              <a:t>/</a:t>
            </a:r>
            <a:r>
              <a:rPr lang="en-US" dirty="0" err="1" smtClean="0"/>
              <a:t>ceph</a:t>
            </a:r>
            <a:r>
              <a:rPr lang="en-US" dirty="0" smtClean="0"/>
              <a:t>/ceph.pub" The authenticity of host 'GPU72 (192.168.1.25)' can't be established. ECDSA key fingerprint is SHA256:9gXSkvu9mZsfNu56cQgMcSYnfEr33h5haoYs8CVxh6E. Are you sure you want to continue connecting (yes/no/[fingerprint])? yes root@GPU72's password: Number of key(s) added: 1 Now try logging into the machine, with: "</a:t>
            </a:r>
            <a:r>
              <a:rPr lang="en-US" dirty="0" err="1" smtClean="0"/>
              <a:t>ssh</a:t>
            </a:r>
            <a:r>
              <a:rPr lang="en-US" dirty="0" smtClean="0"/>
              <a:t> 'root@GPU72'" and check to make sure that only the key(s) you wanted were added. cephadmin@GPU111:~$ </a:t>
            </a:r>
            <a:r>
              <a:rPr lang="en-US" dirty="0" err="1" smtClean="0"/>
              <a:t>ssh</a:t>
            </a:r>
            <a:r>
              <a:rPr lang="en-US" dirty="0" smtClean="0"/>
              <a:t>-copy-id -f -</a:t>
            </a:r>
            <a:r>
              <a:rPr lang="en-US" dirty="0" err="1" smtClean="0"/>
              <a:t>i</a:t>
            </a:r>
            <a:r>
              <a:rPr lang="en-US" dirty="0" smtClean="0"/>
              <a:t> /</a:t>
            </a:r>
            <a:r>
              <a:rPr lang="en-US" dirty="0" err="1" smtClean="0"/>
              <a:t>etc</a:t>
            </a:r>
            <a:r>
              <a:rPr lang="en-US" dirty="0" smtClean="0"/>
              <a:t>/</a:t>
            </a:r>
            <a:r>
              <a:rPr lang="en-US" dirty="0" err="1" smtClean="0"/>
              <a:t>ceph</a:t>
            </a:r>
            <a:r>
              <a:rPr lang="en-US" dirty="0" smtClean="0"/>
              <a:t>/ceph.pub root@GPU73 /</a:t>
            </a:r>
            <a:r>
              <a:rPr lang="en-US" dirty="0" err="1" smtClean="0"/>
              <a:t>usr</a:t>
            </a:r>
            <a:r>
              <a:rPr lang="en-US" dirty="0" smtClean="0"/>
              <a:t>/bin/</a:t>
            </a:r>
            <a:r>
              <a:rPr lang="en-US" dirty="0" err="1" smtClean="0"/>
              <a:t>ssh</a:t>
            </a:r>
            <a:r>
              <a:rPr lang="en-US" dirty="0" smtClean="0"/>
              <a:t>-copy-id: INFO: Source of key(s) to be installed: "/</a:t>
            </a:r>
            <a:r>
              <a:rPr lang="en-US" dirty="0" err="1" smtClean="0"/>
              <a:t>etc</a:t>
            </a:r>
            <a:r>
              <a:rPr lang="en-US" dirty="0" smtClean="0"/>
              <a:t>/</a:t>
            </a:r>
            <a:r>
              <a:rPr lang="en-US" dirty="0" err="1" smtClean="0"/>
              <a:t>ceph</a:t>
            </a:r>
            <a:r>
              <a:rPr lang="en-US" dirty="0" smtClean="0"/>
              <a:t>/ceph.pub" The authenticity of host 'GPU73 (192.168.1.26)' can't be established. ECDSA key fingerprint is SHA256:4GMMsd+hO9Zh71ZrI/cHneRFoPO3kBuV/f5K7JeMVhY. Are you sure you want to continue connecting (yes/no/[fingerprint])? yes root@GPU73's password: Number of key(s) added: 1 Now try logging into the machine, with: "</a:t>
            </a:r>
            <a:r>
              <a:rPr lang="en-US" dirty="0" err="1" smtClean="0"/>
              <a:t>ssh</a:t>
            </a:r>
            <a:r>
              <a:rPr lang="en-US" dirty="0" smtClean="0"/>
              <a:t> 'root@GPU73'" and check to make sure that only the key(s) you wanted were added. </a:t>
            </a:r>
          </a:p>
          <a:p>
            <a:r>
              <a:rPr lang="en-US" dirty="0" smtClean="0"/>
              <a:t>Add OSD host to cluster and set label</a:t>
            </a:r>
          </a:p>
          <a:p>
            <a:r>
              <a:rPr lang="en-US" dirty="0" smtClean="0"/>
              <a:t>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add GPU71 Added host 'GPU71'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add GPU72 Added host 'GPU72'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add GPU73 Added host 'GPU73'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ls HOST ADDR LABELS STATUS GPU111 </a:t>
            </a:r>
            <a:r>
              <a:rPr lang="en-US" dirty="0" err="1" smtClean="0"/>
              <a:t>GPU111</a:t>
            </a:r>
            <a:r>
              <a:rPr lang="en-US" dirty="0" smtClean="0"/>
              <a:t> _admin mon GPU71 </a:t>
            </a:r>
            <a:r>
              <a:rPr lang="en-US" dirty="0" err="1" smtClean="0"/>
              <a:t>GPU71</a:t>
            </a:r>
            <a:r>
              <a:rPr lang="en-US" dirty="0" smtClean="0"/>
              <a:t> GPU72 </a:t>
            </a:r>
            <a:r>
              <a:rPr lang="en-US" dirty="0" err="1" smtClean="0"/>
              <a:t>GPU72</a:t>
            </a:r>
            <a:r>
              <a:rPr lang="en-US" dirty="0" smtClean="0"/>
              <a:t> GPU73 </a:t>
            </a:r>
            <a:r>
              <a:rPr lang="en-US" dirty="0" err="1" smtClean="0"/>
              <a:t>GPU73</a:t>
            </a:r>
            <a:r>
              <a:rPr lang="en-US" dirty="0" smtClean="0"/>
              <a:t>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label add GPU71 </a:t>
            </a:r>
            <a:r>
              <a:rPr lang="en-US" dirty="0" err="1" smtClean="0"/>
              <a:t>osd</a:t>
            </a:r>
            <a:r>
              <a:rPr lang="en-US" dirty="0" smtClean="0"/>
              <a:t> Added label </a:t>
            </a:r>
            <a:r>
              <a:rPr lang="en-US" dirty="0" err="1" smtClean="0"/>
              <a:t>osd</a:t>
            </a:r>
            <a:r>
              <a:rPr lang="en-US" dirty="0" smtClean="0"/>
              <a:t> to host GPU71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label add GPU72 </a:t>
            </a:r>
            <a:r>
              <a:rPr lang="en-US" dirty="0" err="1" smtClean="0"/>
              <a:t>osd</a:t>
            </a:r>
            <a:r>
              <a:rPr lang="en-US" dirty="0" smtClean="0"/>
              <a:t> Added label </a:t>
            </a:r>
            <a:r>
              <a:rPr lang="en-US" dirty="0" err="1" smtClean="0"/>
              <a:t>osd</a:t>
            </a:r>
            <a:r>
              <a:rPr lang="en-US" dirty="0" smtClean="0"/>
              <a:t> to host GPU72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label add GPU73 </a:t>
            </a:r>
            <a:r>
              <a:rPr lang="en-US" dirty="0" err="1" smtClean="0"/>
              <a:t>osd</a:t>
            </a:r>
            <a:r>
              <a:rPr lang="en-US" dirty="0" smtClean="0"/>
              <a:t> Added label </a:t>
            </a:r>
            <a:r>
              <a:rPr lang="en-US" dirty="0" err="1" smtClean="0"/>
              <a:t>osd</a:t>
            </a:r>
            <a:r>
              <a:rPr lang="en-US" dirty="0" smtClean="0"/>
              <a:t> to host GPU73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host ls HOST ADDR LABELS STATUS GPU111 </a:t>
            </a:r>
            <a:r>
              <a:rPr lang="en-US" dirty="0" err="1" smtClean="0"/>
              <a:t>GPU111</a:t>
            </a:r>
            <a:r>
              <a:rPr lang="en-US" dirty="0" smtClean="0"/>
              <a:t> _admin mon GPU71 </a:t>
            </a:r>
            <a:r>
              <a:rPr lang="en-US" dirty="0" err="1" smtClean="0"/>
              <a:t>GPU71</a:t>
            </a:r>
            <a:r>
              <a:rPr lang="en-US" dirty="0" smtClean="0"/>
              <a:t> </a:t>
            </a:r>
            <a:r>
              <a:rPr lang="en-US" dirty="0" err="1" smtClean="0"/>
              <a:t>osd</a:t>
            </a:r>
            <a:r>
              <a:rPr lang="en-US" dirty="0" smtClean="0"/>
              <a:t> GPU72 </a:t>
            </a:r>
            <a:r>
              <a:rPr lang="en-US" dirty="0" err="1" smtClean="0"/>
              <a:t>GPU72</a:t>
            </a:r>
            <a:r>
              <a:rPr lang="en-US" dirty="0" smtClean="0"/>
              <a:t> </a:t>
            </a:r>
            <a:r>
              <a:rPr lang="en-US" dirty="0" err="1" smtClean="0"/>
              <a:t>osd</a:t>
            </a:r>
            <a:r>
              <a:rPr lang="en-US" dirty="0" smtClean="0"/>
              <a:t> GPU73 </a:t>
            </a:r>
            <a:r>
              <a:rPr lang="en-US" dirty="0" err="1" smtClean="0"/>
              <a:t>GPU73</a:t>
            </a:r>
            <a:r>
              <a:rPr lang="en-US" dirty="0" smtClean="0"/>
              <a:t> </a:t>
            </a:r>
            <a:r>
              <a:rPr lang="en-US" dirty="0" err="1" smtClean="0"/>
              <a:t>osd</a:t>
            </a:r>
            <a:r>
              <a:rPr lang="en-US" dirty="0" smtClean="0"/>
              <a:t> </a:t>
            </a:r>
          </a:p>
          <a:p>
            <a:r>
              <a:rPr lang="en-US" b="1" dirty="0" smtClean="0"/>
              <a:t>NOTE</a:t>
            </a:r>
            <a:r>
              <a:rPr lang="en-US" dirty="0" smtClean="0"/>
              <a:t>: you could tell </a:t>
            </a:r>
            <a:r>
              <a:rPr lang="en-US" dirty="0" err="1" smtClean="0"/>
              <a:t>cephadm</a:t>
            </a:r>
            <a:r>
              <a:rPr lang="en-US" dirty="0" smtClean="0"/>
              <a:t> to deploy daemons base on label. For example, to limit monitors run on host with "mon" label.</a:t>
            </a:r>
          </a:p>
          <a:p>
            <a:r>
              <a:rPr lang="en-US" dirty="0" smtClean="0"/>
              <a:t>$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apply mon --placement="</a:t>
            </a:r>
            <a:r>
              <a:rPr lang="en-US" dirty="0" err="1" smtClean="0"/>
              <a:t>label:mon</a:t>
            </a:r>
            <a:r>
              <a:rPr lang="en-US" dirty="0" smtClean="0"/>
              <a:t>" </a:t>
            </a:r>
          </a:p>
          <a:p>
            <a:r>
              <a:rPr lang="en-US" dirty="0" smtClean="0"/>
              <a:t>Add storage to cluster</a:t>
            </a:r>
          </a:p>
          <a:p>
            <a:r>
              <a:rPr lang="en-US" dirty="0" smtClean="0"/>
              <a:t>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daemon add </a:t>
            </a:r>
            <a:r>
              <a:rPr lang="en-US" dirty="0" err="1" smtClean="0"/>
              <a:t>osd</a:t>
            </a:r>
            <a:r>
              <a:rPr lang="en-US" dirty="0" smtClean="0"/>
              <a:t> GPU71:/dev/</a:t>
            </a:r>
            <a:r>
              <a:rPr lang="en-US" dirty="0" err="1" smtClean="0"/>
              <a:t>sdb</a:t>
            </a:r>
            <a:r>
              <a:rPr lang="en-US" dirty="0" smtClean="0"/>
              <a:t> Created </a:t>
            </a:r>
            <a:r>
              <a:rPr lang="en-US" dirty="0" err="1" smtClean="0"/>
              <a:t>osd</a:t>
            </a:r>
            <a:r>
              <a:rPr lang="en-US" dirty="0" smtClean="0"/>
              <a:t>(s) 0 on host 'GPU71'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daemon add </a:t>
            </a:r>
            <a:r>
              <a:rPr lang="en-US" dirty="0" err="1" smtClean="0"/>
              <a:t>osd</a:t>
            </a:r>
            <a:r>
              <a:rPr lang="en-US" dirty="0" smtClean="0"/>
              <a:t> GPU72:/dev/</a:t>
            </a:r>
            <a:r>
              <a:rPr lang="en-US" dirty="0" err="1" smtClean="0"/>
              <a:t>sdb</a:t>
            </a:r>
            <a:r>
              <a:rPr lang="en-US" dirty="0" smtClean="0"/>
              <a:t> Created </a:t>
            </a:r>
            <a:r>
              <a:rPr lang="en-US" dirty="0" err="1" smtClean="0"/>
              <a:t>osd</a:t>
            </a:r>
            <a:r>
              <a:rPr lang="en-US" dirty="0" smtClean="0"/>
              <a:t>(s) 1 on host 'GPU72' cephadmin@GPU111:~$ </a:t>
            </a:r>
            <a:r>
              <a:rPr lang="en-US" dirty="0" err="1" smtClean="0"/>
              <a:t>sudo</a:t>
            </a:r>
            <a:r>
              <a:rPr lang="en-US" dirty="0" smtClean="0"/>
              <a:t> </a:t>
            </a:r>
            <a:r>
              <a:rPr lang="en-US" dirty="0" err="1" smtClean="0"/>
              <a:t>ceph</a:t>
            </a:r>
            <a:r>
              <a:rPr lang="en-US" dirty="0" smtClean="0"/>
              <a:t> </a:t>
            </a:r>
            <a:r>
              <a:rPr lang="en-US" dirty="0" err="1" smtClean="0"/>
              <a:t>orch</a:t>
            </a:r>
            <a:r>
              <a:rPr lang="en-US" dirty="0" smtClean="0"/>
              <a:t> daemon add </a:t>
            </a:r>
            <a:r>
              <a:rPr lang="en-US" dirty="0" err="1" smtClean="0"/>
              <a:t>osd</a:t>
            </a:r>
            <a:r>
              <a:rPr lang="en-US" dirty="0" smtClean="0"/>
              <a:t> GPU73:/dev/</a:t>
            </a:r>
            <a:r>
              <a:rPr lang="en-US" dirty="0" err="1" smtClean="0"/>
              <a:t>sdb</a:t>
            </a:r>
            <a:r>
              <a:rPr lang="en-US" dirty="0" smtClean="0"/>
              <a:t> Created </a:t>
            </a:r>
            <a:r>
              <a:rPr lang="en-US" dirty="0" err="1" smtClean="0"/>
              <a:t>osd</a:t>
            </a:r>
            <a:r>
              <a:rPr lang="en-US" dirty="0" smtClean="0"/>
              <a:t>(s) 2 on host 'GPU73' </a:t>
            </a:r>
          </a:p>
          <a:p>
            <a:r>
              <a:rPr lang="en-US" dirty="0" smtClean="0"/>
              <a:t>Check cluster status</a:t>
            </a:r>
          </a:p>
          <a:p>
            <a:r>
              <a:rPr lang="en-US" dirty="0" smtClean="0"/>
              <a:t>cephadmin@GPU111:~$ </a:t>
            </a:r>
            <a:r>
              <a:rPr lang="en-US" dirty="0" err="1" smtClean="0"/>
              <a:t>sudo</a:t>
            </a:r>
            <a:r>
              <a:rPr lang="en-US" dirty="0" smtClean="0"/>
              <a:t> </a:t>
            </a:r>
            <a:r>
              <a:rPr lang="en-US" dirty="0" err="1" smtClean="0"/>
              <a:t>ceph</a:t>
            </a:r>
            <a:r>
              <a:rPr lang="en-US" dirty="0" smtClean="0"/>
              <a:t> -s cluster: id: 16e21856-6030-11ed-8a24-db02e0e54b22 health: HEALTH_OK services: mon: 3 daemons, quorum GPU111,GPU71,GPU72 (age 119s) </a:t>
            </a:r>
            <a:r>
              <a:rPr lang="en-US" dirty="0" err="1" smtClean="0"/>
              <a:t>mgr</a:t>
            </a:r>
            <a:r>
              <a:rPr lang="en-US" dirty="0" smtClean="0"/>
              <a:t>: GPU111.oezajx(active, since 36m), standbys: GPU71.pmlfuu </a:t>
            </a:r>
            <a:r>
              <a:rPr lang="en-US" dirty="0" err="1" smtClean="0"/>
              <a:t>osd</a:t>
            </a:r>
            <a:r>
              <a:rPr lang="en-US" dirty="0" smtClean="0"/>
              <a:t>: 3 </a:t>
            </a:r>
            <a:r>
              <a:rPr lang="en-US" dirty="0" err="1" smtClean="0"/>
              <a:t>osds</a:t>
            </a:r>
            <a:r>
              <a:rPr lang="en-US" dirty="0" smtClean="0"/>
              <a:t>: 3 up (since 24s), 3 in (since 24s) data: pools: 1 pools, 1 </a:t>
            </a:r>
            <a:r>
              <a:rPr lang="en-US" dirty="0" err="1" smtClean="0"/>
              <a:t>pgs</a:t>
            </a:r>
            <a:r>
              <a:rPr lang="en-US" dirty="0" smtClean="0"/>
              <a:t> objects: 0 objects, 0 B usage: 3.0 </a:t>
            </a:r>
            <a:r>
              <a:rPr lang="en-US" dirty="0" err="1" smtClean="0"/>
              <a:t>GiB</a:t>
            </a:r>
            <a:r>
              <a:rPr lang="en-US" dirty="0" smtClean="0"/>
              <a:t> used, 692 </a:t>
            </a:r>
            <a:r>
              <a:rPr lang="en-US" dirty="0" err="1" smtClean="0"/>
              <a:t>GiB</a:t>
            </a:r>
            <a:r>
              <a:rPr lang="en-US" dirty="0" smtClean="0"/>
              <a:t> / 695 </a:t>
            </a:r>
            <a:r>
              <a:rPr lang="en-US" dirty="0" err="1" smtClean="0"/>
              <a:t>GiB</a:t>
            </a:r>
            <a:r>
              <a:rPr lang="en-US" dirty="0" smtClean="0"/>
              <a:t> avail </a:t>
            </a:r>
            <a:r>
              <a:rPr lang="en-US" dirty="0" err="1" smtClean="0"/>
              <a:t>pgs</a:t>
            </a:r>
            <a:r>
              <a:rPr lang="en-US" dirty="0" smtClean="0"/>
              <a:t>: 1 </a:t>
            </a:r>
            <a:r>
              <a:rPr lang="en-US" dirty="0" err="1" smtClean="0"/>
              <a:t>active+clean</a:t>
            </a:r>
            <a:r>
              <a:rPr lang="en-US" dirty="0" smtClean="0"/>
              <a:t> </a:t>
            </a:r>
          </a:p>
          <a:p>
            <a:r>
              <a:rPr lang="en-US" dirty="0" smtClean="0"/>
              <a:t>Dashboard</a:t>
            </a:r>
            <a:br>
              <a:rPr lang="en-US" dirty="0" smtClean="0"/>
            </a:br>
            <a:endParaRPr lang="en-US" dirty="0" smtClean="0">
              <a:effectLst/>
            </a:endParaRPr>
          </a:p>
          <a:p>
            <a:r>
              <a:rPr lang="en-US" b="1" dirty="0" smtClean="0"/>
              <a:t>Purging cluster</a:t>
            </a:r>
          </a:p>
          <a:p>
            <a:r>
              <a:rPr lang="en-US" dirty="0" smtClean="0"/>
              <a:t>root@GPU111:~# </a:t>
            </a:r>
            <a:r>
              <a:rPr lang="en-US" dirty="0" err="1" smtClean="0"/>
              <a:t>ceph</a:t>
            </a:r>
            <a:r>
              <a:rPr lang="en-US" dirty="0" smtClean="0"/>
              <a:t> </a:t>
            </a:r>
            <a:r>
              <a:rPr lang="en-US" dirty="0" err="1" smtClean="0"/>
              <a:t>mgr</a:t>
            </a:r>
            <a:r>
              <a:rPr lang="en-US" dirty="0" smtClean="0"/>
              <a:t> module disable </a:t>
            </a:r>
            <a:r>
              <a:rPr lang="en-US" dirty="0" err="1" smtClean="0"/>
              <a:t>cephadm</a:t>
            </a:r>
            <a:r>
              <a:rPr lang="en-US" dirty="0" smtClean="0"/>
              <a:t> root@GPU111:~# </a:t>
            </a:r>
            <a:r>
              <a:rPr lang="en-US" dirty="0" err="1" smtClean="0"/>
              <a:t>ceph</a:t>
            </a:r>
            <a:r>
              <a:rPr lang="en-US" dirty="0" smtClean="0"/>
              <a:t> </a:t>
            </a:r>
            <a:r>
              <a:rPr lang="en-US" dirty="0" err="1" smtClean="0"/>
              <a:t>fsid</a:t>
            </a:r>
            <a:r>
              <a:rPr lang="en-US" dirty="0" smtClean="0"/>
              <a:t> 16e21856-6030-11ed-8a24-db02e0e54b22 </a:t>
            </a:r>
            <a:r>
              <a:rPr lang="en-US" dirty="0" err="1" smtClean="0"/>
              <a:t>cephadm</a:t>
            </a:r>
            <a:r>
              <a:rPr lang="en-US" dirty="0" smtClean="0"/>
              <a:t> </a:t>
            </a:r>
            <a:r>
              <a:rPr lang="en-US" dirty="0" err="1" smtClean="0"/>
              <a:t>rm</a:t>
            </a:r>
            <a:r>
              <a:rPr lang="en-US" dirty="0" smtClean="0"/>
              <a:t>-cluster --force --zap-</a:t>
            </a:r>
            <a:r>
              <a:rPr lang="en-US" dirty="0" err="1" smtClean="0"/>
              <a:t>osds</a:t>
            </a:r>
            <a:r>
              <a:rPr lang="en-US" dirty="0" smtClean="0"/>
              <a:t> --</a:t>
            </a:r>
            <a:r>
              <a:rPr lang="en-US" dirty="0" err="1" smtClean="0"/>
              <a:t>fsid</a:t>
            </a:r>
            <a:r>
              <a:rPr lang="en-US" dirty="0" smtClean="0"/>
              <a:t> 16e21856-6030-11ed-8a24-db02e0e54b22 </a:t>
            </a:r>
          </a:p>
          <a:p>
            <a:r>
              <a:rPr lang="en-US" dirty="0" smtClean="0"/>
              <a:t>https://hackmd.io/8tkrVJP7QU-MjO-0_W13jQ</a:t>
            </a:r>
          </a:p>
          <a:p>
            <a:endParaRPr lang="en-US" dirty="0" smtClean="0"/>
          </a:p>
          <a:p>
            <a:r>
              <a:rPr lang="en-US" dirty="0" smtClean="0"/>
              <a:t>Ref.:</a:t>
            </a:r>
            <a:br>
              <a:rPr lang="en-US" dirty="0" smtClean="0"/>
            </a:br>
            <a:r>
              <a:rPr lang="en-US" dirty="0" smtClean="0">
                <a:hlinkClick r:id="rId4"/>
              </a:rPr>
              <a:t>https://docs.ceph.com/en/quincy/cephadm/operations/#purging-a-cluster</a:t>
            </a:r>
            <a:r>
              <a:rPr lang="en-US" dirty="0" smtClean="0"/>
              <a:t/>
            </a:r>
            <a:br>
              <a:rPr lang="en-US" dirty="0" smtClean="0"/>
            </a:br>
            <a:r>
              <a:rPr lang="en-US" dirty="0" smtClean="0">
                <a:hlinkClick r:id="rId5"/>
              </a:rPr>
              <a:t>https://www.flamingbytes.com/posts/uninstall-ceph/</a:t>
            </a:r>
            <a:endParaRPr lang="en-US" dirty="0" smtClean="0"/>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331839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https://hackmd.io/@yujungcheng/ByXxq-_Vj#4-Access-OpenStack</a:t>
            </a:r>
          </a:p>
          <a:p>
            <a:endParaRPr lang="en-US" dirty="0" smtClean="0"/>
          </a:p>
          <a:p>
            <a:r>
              <a:rPr lang="en-US" b="1" dirty="0" smtClean="0"/>
              <a:t>Extra: Add </a:t>
            </a:r>
            <a:r>
              <a:rPr lang="en-US" b="1" dirty="0" err="1" smtClean="0"/>
              <a:t>Ceph</a:t>
            </a:r>
            <a:r>
              <a:rPr lang="en-US" b="1" dirty="0" smtClean="0"/>
              <a:t> storage as an Cinder backend</a:t>
            </a:r>
          </a:p>
          <a:p>
            <a:r>
              <a:rPr lang="en-US" b="1" dirty="0" smtClean="0"/>
              <a:t>NOTE</a:t>
            </a:r>
            <a:r>
              <a:rPr lang="en-US" dirty="0" smtClean="0"/>
              <a:t>: Refer to </a:t>
            </a:r>
            <a:r>
              <a:rPr lang="en-US" dirty="0" smtClean="0">
                <a:hlinkClick r:id="rId3"/>
              </a:rPr>
              <a:t>https://hackmd.io/8tkrVJP7QU-MjO-0_W13jQ</a:t>
            </a:r>
            <a:r>
              <a:rPr lang="en-US" dirty="0" smtClean="0"/>
              <a:t> for setup a </a:t>
            </a:r>
            <a:r>
              <a:rPr lang="en-US" dirty="0" err="1" smtClean="0"/>
              <a:t>Ceph</a:t>
            </a:r>
            <a:r>
              <a:rPr lang="en-US" dirty="0" smtClean="0"/>
              <a:t> storage.</a:t>
            </a:r>
          </a:p>
          <a:p>
            <a:r>
              <a:rPr lang="en-US" dirty="0" smtClean="0"/>
              <a:t>This section provides steps to add a </a:t>
            </a:r>
            <a:r>
              <a:rPr lang="en-US" dirty="0" err="1" smtClean="0"/>
              <a:t>Ceph</a:t>
            </a:r>
            <a:r>
              <a:rPr lang="en-US" dirty="0" smtClean="0"/>
              <a:t> storage into Cinder volume as backend; and set Nova to use the </a:t>
            </a:r>
            <a:r>
              <a:rPr lang="en-US" dirty="0" err="1" smtClean="0"/>
              <a:t>Ceph</a:t>
            </a:r>
            <a:r>
              <a:rPr lang="en-US" dirty="0" smtClean="0"/>
              <a:t> storage for running instance.</a:t>
            </a:r>
          </a:p>
          <a:p>
            <a:r>
              <a:rPr lang="en-US" dirty="0" smtClean="0"/>
              <a:t>Reference:</a:t>
            </a:r>
          </a:p>
          <a:p>
            <a:r>
              <a:rPr lang="en-US" dirty="0" smtClean="0">
                <a:hlinkClick r:id="rId4"/>
              </a:rPr>
              <a:t>https://docs.ceph.com/en/latest/rbd/rbd-openstack/</a:t>
            </a:r>
            <a:r>
              <a:rPr lang="en-US" dirty="0" smtClean="0"/>
              <a:t/>
            </a:r>
            <a:br>
              <a:rPr lang="en-US" dirty="0" smtClean="0"/>
            </a:br>
            <a:r>
              <a:rPr lang="en-US" dirty="0" smtClean="0">
                <a:hlinkClick r:id="rId5"/>
              </a:rPr>
              <a:t>https://docs.openstack.org/kolla-ansible/latest/reference/storage/external-ceph-guide.html</a:t>
            </a:r>
            <a:endParaRPr lang="en-US" dirty="0" smtClean="0"/>
          </a:p>
          <a:p>
            <a:r>
              <a:rPr lang="en-US" dirty="0" smtClean="0"/>
              <a:t>Create pool for volume</a:t>
            </a:r>
          </a:p>
          <a:p>
            <a:r>
              <a:rPr lang="en-US" dirty="0" smtClean="0"/>
              <a:t>root@GPU111:~# </a:t>
            </a:r>
            <a:r>
              <a:rPr lang="en-US" dirty="0" err="1" smtClean="0"/>
              <a:t>ceph</a:t>
            </a:r>
            <a:r>
              <a:rPr lang="en-US" dirty="0" smtClean="0"/>
              <a:t> </a:t>
            </a:r>
            <a:r>
              <a:rPr lang="en-US" dirty="0" err="1" smtClean="0"/>
              <a:t>osd</a:t>
            </a:r>
            <a:r>
              <a:rPr lang="en-US" dirty="0" smtClean="0"/>
              <a:t> pool create volumes pool 'volumes' created root@GPU111:~# </a:t>
            </a:r>
            <a:r>
              <a:rPr lang="en-US" dirty="0" err="1" smtClean="0"/>
              <a:t>ceph</a:t>
            </a:r>
            <a:r>
              <a:rPr lang="en-US" dirty="0" smtClean="0"/>
              <a:t> </a:t>
            </a:r>
            <a:r>
              <a:rPr lang="en-US" dirty="0" err="1" smtClean="0"/>
              <a:t>osd</a:t>
            </a:r>
            <a:r>
              <a:rPr lang="en-US" dirty="0" smtClean="0"/>
              <a:t> pool create </a:t>
            </a:r>
            <a:r>
              <a:rPr lang="en-US" dirty="0" err="1" smtClean="0"/>
              <a:t>vms</a:t>
            </a:r>
            <a:r>
              <a:rPr lang="en-US" dirty="0" smtClean="0"/>
              <a:t> pool '</a:t>
            </a:r>
            <a:r>
              <a:rPr lang="en-US" dirty="0" err="1" smtClean="0"/>
              <a:t>vms</a:t>
            </a:r>
            <a:r>
              <a:rPr lang="en-US" dirty="0" smtClean="0"/>
              <a:t>' created root@GPU111:~# </a:t>
            </a:r>
            <a:r>
              <a:rPr lang="en-US" dirty="0" err="1" smtClean="0"/>
              <a:t>ceph</a:t>
            </a:r>
            <a:r>
              <a:rPr lang="en-US" dirty="0" smtClean="0"/>
              <a:t> </a:t>
            </a:r>
            <a:r>
              <a:rPr lang="en-US" dirty="0" err="1" smtClean="0"/>
              <a:t>osd</a:t>
            </a:r>
            <a:r>
              <a:rPr lang="en-US" dirty="0" smtClean="0"/>
              <a:t> pool create backups pool 'backups' created </a:t>
            </a:r>
          </a:p>
          <a:p>
            <a:r>
              <a:rPr lang="en-US" dirty="0" smtClean="0"/>
              <a:t>root@GPU111:~# </a:t>
            </a:r>
            <a:r>
              <a:rPr lang="en-US" dirty="0" err="1" smtClean="0"/>
              <a:t>rbd</a:t>
            </a:r>
            <a:r>
              <a:rPr lang="en-US" dirty="0" smtClean="0"/>
              <a:t> pool </a:t>
            </a:r>
            <a:r>
              <a:rPr lang="en-US" dirty="0" err="1" smtClean="0"/>
              <a:t>init</a:t>
            </a:r>
            <a:r>
              <a:rPr lang="en-US" dirty="0" smtClean="0"/>
              <a:t> volumes root@GPU111:~# </a:t>
            </a:r>
            <a:r>
              <a:rPr lang="en-US" dirty="0" err="1" smtClean="0"/>
              <a:t>rbd</a:t>
            </a:r>
            <a:r>
              <a:rPr lang="en-US" dirty="0" smtClean="0"/>
              <a:t> pool </a:t>
            </a:r>
            <a:r>
              <a:rPr lang="en-US" dirty="0" err="1" smtClean="0"/>
              <a:t>init</a:t>
            </a:r>
            <a:r>
              <a:rPr lang="en-US" dirty="0" smtClean="0"/>
              <a:t> </a:t>
            </a:r>
            <a:r>
              <a:rPr lang="en-US" dirty="0" err="1" smtClean="0"/>
              <a:t>vms</a:t>
            </a:r>
            <a:r>
              <a:rPr lang="en-US" dirty="0" smtClean="0"/>
              <a:t> root@GPU111:~# </a:t>
            </a:r>
            <a:r>
              <a:rPr lang="en-US" dirty="0" err="1" smtClean="0"/>
              <a:t>rbd</a:t>
            </a:r>
            <a:r>
              <a:rPr lang="en-US" dirty="0" smtClean="0"/>
              <a:t> pool </a:t>
            </a:r>
            <a:r>
              <a:rPr lang="en-US" dirty="0" err="1" smtClean="0"/>
              <a:t>init</a:t>
            </a:r>
            <a:r>
              <a:rPr lang="en-US" dirty="0" smtClean="0"/>
              <a:t> backups </a:t>
            </a:r>
          </a:p>
          <a:p>
            <a:r>
              <a:rPr lang="en-US" b="1" dirty="0" smtClean="0"/>
              <a:t>Note</a:t>
            </a:r>
            <a:r>
              <a:rPr lang="en-US" dirty="0" smtClean="0"/>
              <a:t>: we still create "backups" pool because "</a:t>
            </a:r>
            <a:r>
              <a:rPr lang="en-US" dirty="0" err="1" smtClean="0"/>
              <a:t>Kolla-Ansible</a:t>
            </a:r>
            <a:r>
              <a:rPr lang="en-US" dirty="0" smtClean="0"/>
              <a:t>" playbook still add </a:t>
            </a:r>
            <a:r>
              <a:rPr lang="en-US" dirty="0" err="1" smtClean="0"/>
              <a:t>Ceph</a:t>
            </a:r>
            <a:r>
              <a:rPr lang="en-US" dirty="0" smtClean="0"/>
              <a:t> keyring for cinder-backup no matter "</a:t>
            </a:r>
            <a:r>
              <a:rPr lang="en-US" dirty="0" err="1" smtClean="0"/>
              <a:t>nfs</a:t>
            </a:r>
            <a:r>
              <a:rPr lang="en-US" dirty="0" smtClean="0"/>
              <a:t>" is configured to </a:t>
            </a:r>
            <a:r>
              <a:rPr lang="en-US" dirty="0" err="1" smtClean="0"/>
              <a:t>cinder_backup_driver</a:t>
            </a:r>
            <a:r>
              <a:rPr lang="en-US" dirty="0" smtClean="0"/>
              <a:t>. I think its </a:t>
            </a:r>
            <a:r>
              <a:rPr lang="en-US" dirty="0" err="1" smtClean="0"/>
              <a:t>kinda</a:t>
            </a:r>
            <a:r>
              <a:rPr lang="en-US" dirty="0" smtClean="0"/>
              <a:t> of bug. Fail message if no keyring for "cinder-backup" configured.</a:t>
            </a:r>
          </a:p>
          <a:p>
            <a:r>
              <a:rPr lang="en-US" dirty="0" smtClean="0"/>
              <a:t>TASK [cinder : Copy over </a:t>
            </a:r>
            <a:r>
              <a:rPr lang="en-US" dirty="0" err="1" smtClean="0"/>
              <a:t>Ceph</a:t>
            </a:r>
            <a:r>
              <a:rPr lang="en-US" dirty="0" smtClean="0"/>
              <a:t> keyring files for cinder-backup] *************************************************** An exception occurred during task execution. To see the full </a:t>
            </a:r>
            <a:r>
              <a:rPr lang="en-US" dirty="0" err="1" smtClean="0"/>
              <a:t>traceback</a:t>
            </a:r>
            <a:r>
              <a:rPr lang="en-US" dirty="0" smtClean="0"/>
              <a:t>, use -</a:t>
            </a:r>
            <a:r>
              <a:rPr lang="en-US" dirty="0" err="1" smtClean="0"/>
              <a:t>vvv</a:t>
            </a:r>
            <a:r>
              <a:rPr lang="en-US" dirty="0" smtClean="0"/>
              <a:t>. The error was: If you are using a module and expect the file to exist on the remote, see the </a:t>
            </a:r>
            <a:r>
              <a:rPr lang="en-US" dirty="0" err="1" smtClean="0"/>
              <a:t>remote_src</a:t>
            </a:r>
            <a:r>
              <a:rPr lang="en-US" dirty="0" smtClean="0"/>
              <a:t> option failed: [GPU111] (item=cinder-backup/</a:t>
            </a:r>
            <a:r>
              <a:rPr lang="en-US" dirty="0" err="1" smtClean="0"/>
              <a:t>ceph.client.cinder.keyring</a:t>
            </a:r>
            <a:r>
              <a:rPr lang="en-US" dirty="0" smtClean="0"/>
              <a:t>) =&gt; {"</a:t>
            </a:r>
            <a:r>
              <a:rPr lang="en-US" dirty="0" err="1" smtClean="0"/>
              <a:t>ansible_loop_var</a:t>
            </a:r>
            <a:r>
              <a:rPr lang="en-US" dirty="0" smtClean="0"/>
              <a:t>": "item", "changed": false, "item": "cinder-backup/</a:t>
            </a:r>
            <a:r>
              <a:rPr lang="en-US" dirty="0" err="1" smtClean="0"/>
              <a:t>ceph.client.cinder.keyring</a:t>
            </a:r>
            <a:r>
              <a:rPr lang="en-US" dirty="0" smtClean="0"/>
              <a:t>", "</a:t>
            </a:r>
            <a:r>
              <a:rPr lang="en-US" dirty="0" err="1" smtClean="0"/>
              <a:t>msg</a:t>
            </a:r>
            <a:r>
              <a:rPr lang="en-US" dirty="0" smtClean="0"/>
              <a:t>": "Could not find or access '/</a:t>
            </a:r>
            <a:r>
              <a:rPr lang="en-US" dirty="0" err="1" smtClean="0"/>
              <a:t>etc</a:t>
            </a:r>
            <a:r>
              <a:rPr lang="en-US" dirty="0" smtClean="0"/>
              <a:t>/</a:t>
            </a:r>
            <a:r>
              <a:rPr lang="en-US" dirty="0" err="1" smtClean="0"/>
              <a:t>kolla</a:t>
            </a:r>
            <a:r>
              <a:rPr lang="en-US" dirty="0" smtClean="0"/>
              <a:t>/</a:t>
            </a:r>
            <a:r>
              <a:rPr lang="en-US" dirty="0" err="1" smtClean="0"/>
              <a:t>config</a:t>
            </a:r>
            <a:r>
              <a:rPr lang="en-US" dirty="0" smtClean="0"/>
              <a:t>/cinder/cinder-backup/</a:t>
            </a:r>
            <a:r>
              <a:rPr lang="en-US" dirty="0" err="1" smtClean="0"/>
              <a:t>ceph.client.cinder.keyring</a:t>
            </a:r>
            <a:r>
              <a:rPr lang="en-US" dirty="0" smtClean="0"/>
              <a:t>' on the </a:t>
            </a:r>
            <a:r>
              <a:rPr lang="en-US" dirty="0" err="1" smtClean="0"/>
              <a:t>Ansible</a:t>
            </a:r>
            <a:r>
              <a:rPr lang="en-US" dirty="0" smtClean="0"/>
              <a:t> Controller.\</a:t>
            </a:r>
            <a:r>
              <a:rPr lang="en-US" dirty="0" err="1" smtClean="0"/>
              <a:t>nIf</a:t>
            </a:r>
            <a:r>
              <a:rPr lang="en-US" dirty="0" smtClean="0"/>
              <a:t> you are using a module and expect the file to exist on the remote, see the </a:t>
            </a:r>
            <a:r>
              <a:rPr lang="en-US" dirty="0" err="1" smtClean="0"/>
              <a:t>remote_src</a:t>
            </a:r>
            <a:r>
              <a:rPr lang="en-US" dirty="0" smtClean="0"/>
              <a:t> option"} An exception occurred during task execution. To see the full </a:t>
            </a:r>
            <a:r>
              <a:rPr lang="en-US" dirty="0" err="1" smtClean="0"/>
              <a:t>traceback</a:t>
            </a:r>
            <a:r>
              <a:rPr lang="en-US" dirty="0" smtClean="0"/>
              <a:t>, use -</a:t>
            </a:r>
            <a:r>
              <a:rPr lang="en-US" dirty="0" err="1" smtClean="0"/>
              <a:t>vvv</a:t>
            </a:r>
            <a:r>
              <a:rPr lang="en-US" dirty="0" smtClean="0"/>
              <a:t>. The error was: If you are using a module and expect the file to exist on the remote, see the </a:t>
            </a:r>
            <a:r>
              <a:rPr lang="en-US" dirty="0" err="1" smtClean="0"/>
              <a:t>remote_src</a:t>
            </a:r>
            <a:r>
              <a:rPr lang="en-US" dirty="0" smtClean="0"/>
              <a:t> option failed: [GPU111] (item=cinder-backup/</a:t>
            </a:r>
            <a:r>
              <a:rPr lang="en-US" dirty="0" err="1" smtClean="0"/>
              <a:t>ceph.client.cinder-backup.keyring</a:t>
            </a:r>
            <a:r>
              <a:rPr lang="en-US" dirty="0" smtClean="0"/>
              <a:t>) =&gt; {"</a:t>
            </a:r>
            <a:r>
              <a:rPr lang="en-US" dirty="0" err="1" smtClean="0"/>
              <a:t>ansible_loop_var</a:t>
            </a:r>
            <a:r>
              <a:rPr lang="en-US" dirty="0" smtClean="0"/>
              <a:t>": "item", "changed": false, "item": "cinder-backup/</a:t>
            </a:r>
            <a:r>
              <a:rPr lang="en-US" dirty="0" err="1" smtClean="0"/>
              <a:t>ceph.client.cinder-backup.keyring</a:t>
            </a:r>
            <a:r>
              <a:rPr lang="en-US" dirty="0" smtClean="0"/>
              <a:t>", "</a:t>
            </a:r>
            <a:r>
              <a:rPr lang="en-US" dirty="0" err="1" smtClean="0"/>
              <a:t>msg</a:t>
            </a:r>
            <a:r>
              <a:rPr lang="en-US" dirty="0" smtClean="0"/>
              <a:t>": "Could not find or access '/</a:t>
            </a:r>
            <a:r>
              <a:rPr lang="en-US" dirty="0" err="1" smtClean="0"/>
              <a:t>etc</a:t>
            </a:r>
            <a:r>
              <a:rPr lang="en-US" dirty="0" smtClean="0"/>
              <a:t>/</a:t>
            </a:r>
            <a:r>
              <a:rPr lang="en-US" dirty="0" err="1" smtClean="0"/>
              <a:t>kolla</a:t>
            </a:r>
            <a:r>
              <a:rPr lang="en-US" dirty="0" smtClean="0"/>
              <a:t>/</a:t>
            </a:r>
            <a:r>
              <a:rPr lang="en-US" dirty="0" err="1" smtClean="0"/>
              <a:t>config</a:t>
            </a:r>
            <a:r>
              <a:rPr lang="en-US" dirty="0" smtClean="0"/>
              <a:t>/cinder/cinder-backup/</a:t>
            </a:r>
            <a:r>
              <a:rPr lang="en-US" dirty="0" err="1" smtClean="0"/>
              <a:t>ceph.client.cinder-backup.keyring</a:t>
            </a:r>
            <a:r>
              <a:rPr lang="en-US" dirty="0" smtClean="0"/>
              <a:t>' on the </a:t>
            </a:r>
            <a:r>
              <a:rPr lang="en-US" dirty="0" err="1" smtClean="0"/>
              <a:t>Ansible</a:t>
            </a:r>
            <a:r>
              <a:rPr lang="en-US" dirty="0" smtClean="0"/>
              <a:t> Controller.\</a:t>
            </a:r>
            <a:r>
              <a:rPr lang="en-US" dirty="0" err="1" smtClean="0"/>
              <a:t>nIf</a:t>
            </a:r>
            <a:r>
              <a:rPr lang="en-US" dirty="0" smtClean="0"/>
              <a:t> you are using a module and expect the file to exist on the remote, see the </a:t>
            </a:r>
            <a:r>
              <a:rPr lang="en-US" dirty="0" err="1" smtClean="0"/>
              <a:t>remote_src</a:t>
            </a:r>
            <a:r>
              <a:rPr lang="en-US" dirty="0" smtClean="0"/>
              <a:t> option"} </a:t>
            </a:r>
          </a:p>
          <a:p>
            <a:r>
              <a:rPr lang="en-US" dirty="0" smtClean="0"/>
              <a:t>Setup </a:t>
            </a:r>
            <a:r>
              <a:rPr lang="en-US" dirty="0" err="1" smtClean="0"/>
              <a:t>Ceph</a:t>
            </a:r>
            <a:r>
              <a:rPr lang="en-US" dirty="0" smtClean="0"/>
              <a:t> client authentication to create cinder user for accessing volumes and </a:t>
            </a:r>
            <a:r>
              <a:rPr lang="en-US" dirty="0" err="1" smtClean="0"/>
              <a:t>vms</a:t>
            </a:r>
            <a:r>
              <a:rPr lang="en-US" dirty="0" smtClean="0"/>
              <a:t> pool.</a:t>
            </a:r>
          </a:p>
          <a:p>
            <a:r>
              <a:rPr lang="en-US" dirty="0" smtClean="0"/>
              <a:t>root@GPU111:~# </a:t>
            </a:r>
            <a:r>
              <a:rPr lang="en-US" dirty="0" err="1" smtClean="0"/>
              <a:t>ceph</a:t>
            </a:r>
            <a:r>
              <a:rPr lang="en-US" dirty="0" smtClean="0"/>
              <a:t> </a:t>
            </a:r>
            <a:r>
              <a:rPr lang="en-US" dirty="0" err="1" smtClean="0"/>
              <a:t>auth</a:t>
            </a:r>
            <a:r>
              <a:rPr lang="en-US" dirty="0" smtClean="0"/>
              <a:t> get-or-create </a:t>
            </a:r>
            <a:r>
              <a:rPr lang="en-US" dirty="0" err="1" smtClean="0"/>
              <a:t>client.cinder</a:t>
            </a:r>
            <a:r>
              <a:rPr lang="en-US" dirty="0" smtClean="0"/>
              <a:t> mon 'profile </a:t>
            </a:r>
            <a:r>
              <a:rPr lang="en-US" dirty="0" err="1" smtClean="0"/>
              <a:t>rbd</a:t>
            </a:r>
            <a:r>
              <a:rPr lang="en-US" dirty="0" smtClean="0"/>
              <a:t>' </a:t>
            </a:r>
            <a:r>
              <a:rPr lang="en-US" dirty="0" err="1" smtClean="0"/>
              <a:t>osd</a:t>
            </a:r>
            <a:r>
              <a:rPr lang="en-US" dirty="0" smtClean="0"/>
              <a:t> 'profile </a:t>
            </a:r>
            <a:r>
              <a:rPr lang="en-US" dirty="0" err="1" smtClean="0"/>
              <a:t>rbd</a:t>
            </a:r>
            <a:r>
              <a:rPr lang="en-US" dirty="0" smtClean="0"/>
              <a:t> pool=volumes, profile </a:t>
            </a:r>
            <a:r>
              <a:rPr lang="en-US" dirty="0" err="1" smtClean="0"/>
              <a:t>rbd</a:t>
            </a:r>
            <a:r>
              <a:rPr lang="en-US" dirty="0" smtClean="0"/>
              <a:t> pool=</a:t>
            </a:r>
            <a:r>
              <a:rPr lang="en-US" dirty="0" err="1" smtClean="0"/>
              <a:t>vms</a:t>
            </a:r>
            <a:r>
              <a:rPr lang="en-US" dirty="0" smtClean="0"/>
              <a:t>' </a:t>
            </a:r>
            <a:r>
              <a:rPr lang="en-US" dirty="0" err="1" smtClean="0"/>
              <a:t>mgr</a:t>
            </a:r>
            <a:r>
              <a:rPr lang="en-US" dirty="0" smtClean="0"/>
              <a:t> 'profile </a:t>
            </a:r>
            <a:r>
              <a:rPr lang="en-US" dirty="0" err="1" smtClean="0"/>
              <a:t>rbd</a:t>
            </a:r>
            <a:r>
              <a:rPr lang="en-US" dirty="0" smtClean="0"/>
              <a:t> pool=volumes, profile </a:t>
            </a:r>
            <a:r>
              <a:rPr lang="en-US" dirty="0" err="1" smtClean="0"/>
              <a:t>rbd</a:t>
            </a:r>
            <a:r>
              <a:rPr lang="en-US" dirty="0" smtClean="0"/>
              <a:t> pool=</a:t>
            </a:r>
            <a:r>
              <a:rPr lang="en-US" dirty="0" err="1" smtClean="0"/>
              <a:t>vms</a:t>
            </a:r>
            <a:r>
              <a:rPr lang="en-US" dirty="0" smtClean="0"/>
              <a:t>' [</a:t>
            </a:r>
            <a:r>
              <a:rPr lang="en-US" dirty="0" err="1" smtClean="0"/>
              <a:t>client.cinder</a:t>
            </a:r>
            <a:r>
              <a:rPr lang="en-US" dirty="0" smtClean="0"/>
              <a:t>] key = AQAC5nBjU4CrCRAAi3kUAheIpOz5dvWZKg9pNw==</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68925236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6302397"/>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https://hackmd.io/@yujungcheng/ByXxq-_Vj#4-Access-OpenStack</a:t>
            </a:r>
          </a:p>
          <a:p>
            <a:r>
              <a:rPr lang="en-US" dirty="0" smtClean="0"/>
              <a:t>https://hackmd.io/@yujungcheng/ByXxq-_Vj#4-Access-OpenStack</a:t>
            </a:r>
          </a:p>
          <a:p>
            <a:r>
              <a:rPr lang="en-US" dirty="0" smtClean="0"/>
              <a:t>https://blog.csdn.net/weixin_40579389/article/details/124595609#t5</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807356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https://hackmd.io/@yujungcheng/ByXxq-_Vj#4-Access-OpenStack</a:t>
            </a:r>
          </a:p>
          <a:p>
            <a:endParaRPr lang="en-US" dirty="0" smtClean="0"/>
          </a:p>
          <a:p>
            <a:r>
              <a:rPr lang="en-US" dirty="0" smtClean="0"/>
              <a:t>https://blog.csdn.net/weixin_40579389/article/details/124595609#t5</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63703077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https://hackmd.io/@yujungcheng/ByXxq-_Vj#4-Access-OpenStack</a:t>
            </a:r>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25131580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6013" cy="3486150"/>
          </a:xfrm>
        </p:spPr>
      </p:sp>
      <p:sp>
        <p:nvSpPr>
          <p:cNvPr id="3" name="Notes Placeholder 2"/>
          <p:cNvSpPr>
            <a:spLocks noGrp="1"/>
          </p:cNvSpPr>
          <p:nvPr>
            <p:ph type="body" idx="1"/>
          </p:nvPr>
        </p:nvSpPr>
        <p:spPr/>
        <p:txBody>
          <a:bodyPr/>
          <a:lstStyle/>
          <a:p>
            <a:r>
              <a:rPr lang="en-US" dirty="0" smtClean="0"/>
              <a:t>https://hackmd.io/@yujungcheng/ByXxq-_Vj#4-Access-OpenStack</a:t>
            </a:r>
          </a:p>
          <a:p>
            <a:r>
              <a:rPr lang="en-US" dirty="0" smtClean="0"/>
              <a:t>https://hackmd.io/@yujungcheng/Hy8obpwL5?utm_source=preview-mode&amp;utm_medium=rec</a:t>
            </a:r>
          </a:p>
          <a:p>
            <a:r>
              <a:rPr lang="en-US" b="1" dirty="0" err="1" smtClean="0"/>
              <a:t>Todo</a:t>
            </a:r>
            <a:endParaRPr lang="en-US" b="1" dirty="0" smtClean="0"/>
          </a:p>
          <a:p>
            <a:r>
              <a:rPr lang="en-US" dirty="0" smtClean="0"/>
              <a:t>Swift storage</a:t>
            </a:r>
          </a:p>
          <a:p>
            <a:r>
              <a:rPr lang="en-US" b="1" dirty="0" smtClean="0"/>
              <a:t>Reference</a:t>
            </a:r>
          </a:p>
          <a:p>
            <a:r>
              <a:rPr lang="en-US" dirty="0" smtClean="0"/>
              <a:t>- https://docs.openstack.org/kolla-ansible/latest/user/multinode.html - https://docs.openstack.org/project-deploy-guide/kolla-ansible/queens/multinode.html - https://www.packetcoders.io/openstack-installation-via-kolla-anisble/ - https://docs.openstack.org/kolla-ansible/latest/user/quickstart.html - https://zhuanlan.zhihu.com/p/143327139 - https://cdn.igene.tw/kolla-ansible-deploy - https://docs.openstack.org/kolla-ansible/queens/reference/cinder-guide.html - https://docs.openstack.org/python-openstackclient/pike/configuration/index.html - https://docs.openstack.org/kolla-ansible/latest/user/multinode.html - https://abayard.com/openstack-kolla-deploy-external-ceph-ansible/ - https://docs.openstack.org/cinder/latest/admin/default-volume-types.html - https://www.jianshu.com/p/56717aca4ab2 - https://www.linuxjournal.com/content/build-versatile-openstack-lab-kolla - https://ithelp.ithome.com.tw/articles/10271837 - https://docs.openstack.org/kolla-ansible/latest/user/operating-kolla.html - https://techglimpse.com/why-does-openstack-report-hypervisor-type-as-qemu-when-libvirt_type-is-kvm/</a:t>
            </a:r>
          </a:p>
          <a:p>
            <a:endParaRPr lang="en-US" dirty="0"/>
          </a:p>
        </p:txBody>
      </p:sp>
      <p:sp>
        <p:nvSpPr>
          <p:cNvPr id="4" name="Slide Number Placeholder 3"/>
          <p:cNvSpPr>
            <a:spLocks noGrp="1"/>
          </p:cNvSpPr>
          <p:nvPr>
            <p:ph type="sldNum" idx="10"/>
          </p:nvPr>
        </p:nvSpPr>
        <p:spPr/>
        <p:txBody>
          <a:bodyPr/>
          <a:lstStyle/>
          <a:p>
            <a:pPr marL="0" marR="0" lvl="0" indent="0" algn="r" rtl="0">
              <a:lnSpc>
                <a:spcPct val="100000"/>
              </a:lnSpc>
              <a:spcBef>
                <a:spcPts val="0"/>
              </a:spcBef>
              <a:spcAft>
                <a:spcPts val="0"/>
              </a:spcAft>
              <a:buClr>
                <a:srgbClr val="000000"/>
              </a:buClr>
              <a:buFont typeface="Arial"/>
              <a:buNone/>
            </a:pPr>
            <a:endParaRPr lang="en-US" sz="1200" b="0" i="0" u="none" strike="noStrike" cap="none" smtClean="0">
              <a:solidFill>
                <a:srgbClr val="000000"/>
              </a:solidFill>
              <a:latin typeface="Arial"/>
              <a:ea typeface="Arial"/>
              <a:cs typeface="Arial"/>
              <a:sym typeface="Arial"/>
            </a:endParaRPr>
          </a:p>
          <a:p>
            <a:pPr marL="0" marR="0" lvl="1"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2"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3"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4"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5"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6"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7" indent="0" algn="l" rtl="0">
              <a:lnSpc>
                <a:spcPct val="100000"/>
              </a:lnSpc>
              <a:spcBef>
                <a:spcPts val="0"/>
              </a:spcBef>
              <a:spcAft>
                <a:spcPts val="0"/>
              </a:spcAft>
              <a:buClr>
                <a:srgbClr val="000000"/>
              </a:buClr>
              <a:buFont typeface="Arial"/>
              <a:buNone/>
            </a:pPr>
            <a:endParaRPr lang="en-US" sz="1400" b="0" i="0" u="none" strike="noStrike" cap="none" smtClean="0">
              <a:solidFill>
                <a:srgbClr val="000000"/>
              </a:solidFill>
              <a:latin typeface="Arial"/>
              <a:ea typeface="Arial"/>
              <a:cs typeface="Arial"/>
              <a:sym typeface="Arial"/>
            </a:endParaRPr>
          </a:p>
          <a:p>
            <a:pPr marL="0" marR="0" lvl="8" indent="0" algn="l" rtl="0">
              <a:lnSpc>
                <a:spcPct val="100000"/>
              </a:lnSpc>
              <a:spcBef>
                <a:spcPts val="0"/>
              </a:spcBef>
              <a:spcAft>
                <a:spcPts val="0"/>
              </a:spcAft>
              <a:buClr>
                <a:srgbClr val="000000"/>
              </a:buClr>
              <a:buFont typeface="Arial"/>
              <a:buNone/>
            </a:pPr>
            <a:endParaRPr lang="en-US"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942870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smtClean="0"/>
              <a:t>Click to edit Master title style</a:t>
            </a:r>
            <a:endParaRPr lang="en-US"/>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407054981"/>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48A87A34-81AB-432B-8DAE-1953F412C126}" type="datetimeFigureOut">
              <a:rPr lang="en-US" smtClean="0"/>
              <a:t>9/18/2026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7229635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smtClean="0"/>
              <a:t>Click to edit Master title style</a:t>
            </a:r>
            <a:endParaRPr lang="en-US"/>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289552398"/>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286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29150" y="1369219"/>
            <a:ext cx="3886200" cy="326350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006283961"/>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A02337E-4703-49AB-8D81-EA2F8A6577FC}" type="datetimeFigureOut">
              <a:rPr lang="en-US" smtClean="0"/>
              <a:t>9/18/2026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143020674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A02337E-4703-49AB-8D81-EA2F8A6577FC}" type="datetimeFigureOut">
              <a:rPr lang="en-US" smtClean="0"/>
              <a:t>9/18/2026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946642112"/>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A02337E-4703-49AB-8D81-EA2F8A6577FC}" type="datetimeFigureOut">
              <a:rPr lang="en-US" smtClean="0"/>
              <a:t>9/18/2026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631873207"/>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126613202"/>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smtClean="0"/>
              <a:t>Click to edit Master title style</a:t>
            </a:r>
            <a:endParaRPr lang="en-US"/>
          </a:p>
        </p:txBody>
      </p:sp>
      <p:sp>
        <p:nvSpPr>
          <p:cNvPr id="3" name="Picture Placeholder 2"/>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7A02337E-4703-49AB-8D81-EA2F8A6577FC}" type="datetimeFigureOut">
              <a:rPr lang="en-US" smtClean="0"/>
              <a:t>9/18/2026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3606108239"/>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410284920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A02337E-4703-49AB-8D81-EA2F8A6577FC}" type="datetimeFigureOut">
              <a:rPr lang="en-US" smtClean="0"/>
              <a:t>9/18/2026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5B63887-955A-4111-8FF6-299906ED7E11}" type="slidenum">
              <a:rPr lang="en-US" smtClean="0"/>
              <a:t>‹#›</a:t>
            </a:fld>
            <a:endParaRPr lang="en-US"/>
          </a:p>
        </p:txBody>
      </p:sp>
    </p:spTree>
    <p:extLst>
      <p:ext uri="{BB962C8B-B14F-4D97-AF65-F5344CB8AC3E}">
        <p14:creationId xmlns:p14="http://schemas.microsoft.com/office/powerpoint/2010/main" val="2474430865"/>
      </p:ext>
    </p:extLst>
  </p:cSld>
  <p:clrMapOvr>
    <a:masterClrMapping/>
  </p:clrMapOvr>
  <p:hf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7A02337E-4703-49AB-8D81-EA2F8A6577FC}" type="datetimeFigureOut">
              <a:rPr lang="en-US" smtClean="0"/>
              <a:t>9/18/2026</a:t>
            </a:fld>
            <a:endParaRPr lang="en-US"/>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25B63887-955A-4111-8FF6-299906ED7E11}" type="slidenum">
              <a:rPr lang="en-US" smtClean="0"/>
              <a:t>‹#›</a:t>
            </a:fld>
            <a:endParaRPr lang="en-US"/>
          </a:p>
        </p:txBody>
      </p:sp>
    </p:spTree>
    <p:extLst>
      <p:ext uri="{BB962C8B-B14F-4D97-AF65-F5344CB8AC3E}">
        <p14:creationId xmlns:p14="http://schemas.microsoft.com/office/powerpoint/2010/main" val="2016646882"/>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github.com/amelcharolinesgn2/AWS" TargetMode="External"/><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hyperlink" Target="https://www.google.com/url?sa=i&amp;url=https://velog.io/@larshavin/Kolla-Ansible%EC%9D%84-%ED%99%9C%EC%9A%A9%ED%95%9C-OpenStack-%EC%84%A4%EC%B9%98-1&amp;psig=AOvVaw0SbRDwHOAZBXbbrYwPdPfv&amp;ust=1757640673691000&amp;source=images&amp;cd=vfe&amp;opi=89978449&amp;ved=2ahUKEwiKy6Dxx8-PAxUd_zgGHRI_GBEQjhx6BAgAEBs"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10.65.65.254/"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0.e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27.emf"/><Relationship Id="rId5" Type="http://schemas.openxmlformats.org/officeDocument/2006/relationships/image" Target="../media/image26.emf"/><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8" Type="http://schemas.openxmlformats.org/officeDocument/2006/relationships/hyperlink" Target="https://download.cirros-cloud.net/" TargetMode="External"/><Relationship Id="rId3" Type="http://schemas.openxmlformats.org/officeDocument/2006/relationships/image" Target="../media/image33.emf"/><Relationship Id="rId7" Type="http://schemas.openxmlformats.org/officeDocument/2006/relationships/hyperlink" Target="https://cloud.centos.org/centos/" TargetMode="Externa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hyperlink" Target="https://cloud-images.ubuntu.com/" TargetMode="External"/><Relationship Id="rId5" Type="http://schemas.openxmlformats.org/officeDocument/2006/relationships/image" Target="../media/image35.png"/><Relationship Id="rId4" Type="http://schemas.openxmlformats.org/officeDocument/2006/relationships/image" Target="../media/image34.png"/></Relationships>
</file>

<file path=ppt/slides/_rels/slide22.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5.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3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3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35.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61.emf"/></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2.emf"/><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64.emf"/><Relationship Id="rId4" Type="http://schemas.openxmlformats.org/officeDocument/2006/relationships/image" Target="../media/image63.png"/></Relationships>
</file>

<file path=ppt/slides/_rels/slide3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36.xml"/><Relationship Id="rId1" Type="http://schemas.openxmlformats.org/officeDocument/2006/relationships/slideLayout" Target="../slideLayouts/slideLayout2.xml"/><Relationship Id="rId4" Type="http://schemas.openxmlformats.org/officeDocument/2006/relationships/image" Target="../media/image66.png"/></Relationships>
</file>

<file path=ppt/slides/_rels/slide39.xml.rels><?xml version="1.0" encoding="UTF-8" standalone="yes"?>
<Relationships xmlns="http://schemas.openxmlformats.org/package/2006/relationships"><Relationship Id="rId3" Type="http://schemas.openxmlformats.org/officeDocument/2006/relationships/image" Target="../media/image67.emf"/><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69.emf"/></Relationships>
</file>

<file path=ppt/slides/_rels/slide4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3.png"/><Relationship Id="rId7" Type="http://schemas.openxmlformats.org/officeDocument/2006/relationships/image" Target="../media/image77.gif"/><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76.jpeg"/><Relationship Id="rId5" Type="http://schemas.openxmlformats.org/officeDocument/2006/relationships/image" Target="../media/image75.png"/><Relationship Id="rId4" Type="http://schemas.openxmlformats.org/officeDocument/2006/relationships/image" Target="../media/image74.png"/></Relationships>
</file>

<file path=ppt/slides/_rels/slide45.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44.xml"/><Relationship Id="rId1" Type="http://schemas.openxmlformats.org/officeDocument/2006/relationships/slideLayout" Target="../slideLayouts/slideLayout2.xml"/><Relationship Id="rId5" Type="http://schemas.openxmlformats.org/officeDocument/2006/relationships/image" Target="../media/image80.png"/><Relationship Id="rId4" Type="http://schemas.openxmlformats.org/officeDocument/2006/relationships/image" Target="../media/image79.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83.png"/><Relationship Id="rId7" Type="http://schemas.openxmlformats.org/officeDocument/2006/relationships/image" Target="../media/image87.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 Id="rId9" Type="http://schemas.openxmlformats.org/officeDocument/2006/relationships/image" Target="../media/image89.png"/></Relationships>
</file>

<file path=ppt/slides/_rels/slide51.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92.png"/><Relationship Id="rId4" Type="http://schemas.openxmlformats.org/officeDocument/2006/relationships/image" Target="../media/image91.png"/></Relationships>
</file>

<file path=ppt/slides/_rels/slide52.xml.rels><?xml version="1.0" encoding="UTF-8" standalone="yes"?>
<Relationships xmlns="http://schemas.openxmlformats.org/package/2006/relationships"><Relationship Id="rId8" Type="http://schemas.openxmlformats.org/officeDocument/2006/relationships/image" Target="../media/image98.png"/><Relationship Id="rId13" Type="http://schemas.openxmlformats.org/officeDocument/2006/relationships/image" Target="../media/image103.png"/><Relationship Id="rId18" Type="http://schemas.openxmlformats.org/officeDocument/2006/relationships/image" Target="../media/image108.png"/><Relationship Id="rId3" Type="http://schemas.openxmlformats.org/officeDocument/2006/relationships/image" Target="../media/image93.png"/><Relationship Id="rId21" Type="http://schemas.openxmlformats.org/officeDocument/2006/relationships/image" Target="../media/image111.png"/><Relationship Id="rId7" Type="http://schemas.openxmlformats.org/officeDocument/2006/relationships/image" Target="../media/image97.png"/><Relationship Id="rId12" Type="http://schemas.openxmlformats.org/officeDocument/2006/relationships/image" Target="../media/image102.png"/><Relationship Id="rId17" Type="http://schemas.openxmlformats.org/officeDocument/2006/relationships/image" Target="../media/image107.png"/><Relationship Id="rId25" Type="http://schemas.openxmlformats.org/officeDocument/2006/relationships/image" Target="../media/image115.png"/><Relationship Id="rId2" Type="http://schemas.openxmlformats.org/officeDocument/2006/relationships/notesSlide" Target="../notesSlides/notesSlide49.xml"/><Relationship Id="rId16" Type="http://schemas.openxmlformats.org/officeDocument/2006/relationships/image" Target="../media/image106.png"/><Relationship Id="rId20"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96.png"/><Relationship Id="rId11" Type="http://schemas.openxmlformats.org/officeDocument/2006/relationships/image" Target="../media/image101.png"/><Relationship Id="rId24" Type="http://schemas.openxmlformats.org/officeDocument/2006/relationships/image" Target="../media/image114.png"/><Relationship Id="rId5" Type="http://schemas.openxmlformats.org/officeDocument/2006/relationships/image" Target="../media/image95.png"/><Relationship Id="rId15" Type="http://schemas.openxmlformats.org/officeDocument/2006/relationships/image" Target="../media/image105.png"/><Relationship Id="rId23" Type="http://schemas.openxmlformats.org/officeDocument/2006/relationships/image" Target="../media/image113.png"/><Relationship Id="rId10" Type="http://schemas.openxmlformats.org/officeDocument/2006/relationships/image" Target="../media/image100.png"/><Relationship Id="rId19" Type="http://schemas.openxmlformats.org/officeDocument/2006/relationships/image" Target="../media/image109.png"/><Relationship Id="rId4" Type="http://schemas.openxmlformats.org/officeDocument/2006/relationships/image" Target="../media/image94.png"/><Relationship Id="rId9" Type="http://schemas.openxmlformats.org/officeDocument/2006/relationships/image" Target="../media/image99.png"/><Relationship Id="rId14" Type="http://schemas.openxmlformats.org/officeDocument/2006/relationships/image" Target="../media/image104.png"/><Relationship Id="rId22" Type="http://schemas.openxmlformats.org/officeDocument/2006/relationships/image" Target="../media/image112.png"/></Relationships>
</file>

<file path=ppt/slides/_rels/slide53.xml.rels><?xml version="1.0" encoding="UTF-8" standalone="yes"?>
<Relationships xmlns="http://schemas.openxmlformats.org/package/2006/relationships"><Relationship Id="rId8" Type="http://schemas.openxmlformats.org/officeDocument/2006/relationships/image" Target="../media/image120.png"/><Relationship Id="rId3" Type="http://schemas.openxmlformats.org/officeDocument/2006/relationships/hyperlink" Target="https://www.cnblogs.com/liujitao79/p/15330702.html" TargetMode="External"/><Relationship Id="rId7" Type="http://schemas.openxmlformats.org/officeDocument/2006/relationships/image" Target="../media/image119.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18.png"/><Relationship Id="rId5" Type="http://schemas.openxmlformats.org/officeDocument/2006/relationships/image" Target="../media/image117.png"/><Relationship Id="rId4" Type="http://schemas.openxmlformats.org/officeDocument/2006/relationships/image" Target="../media/image116.png"/></Relationships>
</file>

<file path=ppt/slides/_rels/slide54.xml.rels><?xml version="1.0" encoding="UTF-8" standalone="yes"?>
<Relationships xmlns="http://schemas.openxmlformats.org/package/2006/relationships"><Relationship Id="rId3" Type="http://schemas.openxmlformats.org/officeDocument/2006/relationships/image" Target="../media/image121.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s>
</file>

<file path=ppt/slides/_rels/slide55.xml.rels><?xml version="1.0" encoding="UTF-8" standalone="yes"?>
<Relationships xmlns="http://schemas.openxmlformats.org/package/2006/relationships"><Relationship Id="rId8" Type="http://schemas.openxmlformats.org/officeDocument/2006/relationships/image" Target="../media/image130.png"/><Relationship Id="rId3" Type="http://schemas.openxmlformats.org/officeDocument/2006/relationships/image" Target="../media/image125.png"/><Relationship Id="rId7" Type="http://schemas.openxmlformats.org/officeDocument/2006/relationships/image" Target="../media/image129.png"/><Relationship Id="rId2" Type="http://schemas.openxmlformats.org/officeDocument/2006/relationships/notesSlide" Target="../notesSlides/notesSlide52.xml"/><Relationship Id="rId1" Type="http://schemas.openxmlformats.org/officeDocument/2006/relationships/slideLayout" Target="../slideLayouts/slideLayout2.xml"/><Relationship Id="rId6" Type="http://schemas.openxmlformats.org/officeDocument/2006/relationships/image" Target="../media/image128.png"/><Relationship Id="rId5" Type="http://schemas.openxmlformats.org/officeDocument/2006/relationships/image" Target="../media/image127.png"/><Relationship Id="rId10" Type="http://schemas.openxmlformats.org/officeDocument/2006/relationships/image" Target="../media/image132.png"/><Relationship Id="rId4" Type="http://schemas.openxmlformats.org/officeDocument/2006/relationships/image" Target="../media/image126.png"/><Relationship Id="rId9" Type="http://schemas.openxmlformats.org/officeDocument/2006/relationships/image" Target="../media/image131.png"/></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admin-openrc.sh/"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34.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hyperlink" Target="http://quay.io/" TargetMode="External"/><Relationship Id="rId2" Type="http://schemas.openxmlformats.org/officeDocument/2006/relationships/notesSlide" Target="../notesSlides/notesSlide62.xml"/><Relationship Id="rId1" Type="http://schemas.openxmlformats.org/officeDocument/2006/relationships/slideLayout" Target="../slideLayouts/slideLayout2.xml"/><Relationship Id="rId4" Type="http://schemas.openxmlformats.org/officeDocument/2006/relationships/hyperlink" Target="https://registry-1.docker.io/" TargetMode="Externa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136.png"/><Relationship Id="rId2" Type="http://schemas.openxmlformats.org/officeDocument/2006/relationships/hyperlink" Target="https://platform9.com/docs/private-cloud-director/private-cloud-director/deploying-workloads"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p:cNvPicPr>
            <a:picLocks noGrp="1" noChangeAspect="1"/>
          </p:cNvPicPr>
          <p:nvPr>
            <p:ph idx="1"/>
          </p:nvPr>
        </p:nvPicPr>
        <p:blipFill>
          <a:blip r:embed="rId3"/>
          <a:stretch>
            <a:fillRect/>
          </a:stretch>
        </p:blipFill>
        <p:spPr>
          <a:xfrm>
            <a:off x="89919" y="1"/>
            <a:ext cx="3979069" cy="2536031"/>
          </a:xfrm>
          <a:prstGeom prst="rect">
            <a:avLst/>
          </a:prstGeom>
        </p:spPr>
      </p:pic>
      <p:grpSp>
        <p:nvGrpSpPr>
          <p:cNvPr id="9" name="Group 8"/>
          <p:cNvGrpSpPr/>
          <p:nvPr/>
        </p:nvGrpSpPr>
        <p:grpSpPr>
          <a:xfrm>
            <a:off x="277816" y="1346868"/>
            <a:ext cx="3603272" cy="1447266"/>
            <a:chOff x="89638" y="359621"/>
            <a:chExt cx="4804363" cy="1929688"/>
          </a:xfrm>
        </p:grpSpPr>
        <p:pic>
          <p:nvPicPr>
            <p:cNvPr id="10" name="Picture 9"/>
            <p:cNvPicPr>
              <a:picLocks noChangeAspect="1"/>
            </p:cNvPicPr>
            <p:nvPr/>
          </p:nvPicPr>
          <p:blipFill>
            <a:blip r:embed="rId4"/>
            <a:stretch>
              <a:fillRect/>
            </a:stretch>
          </p:blipFill>
          <p:spPr>
            <a:xfrm>
              <a:off x="235105" y="1881965"/>
              <a:ext cx="3104181" cy="263526"/>
            </a:xfrm>
            <a:prstGeom prst="rect">
              <a:avLst/>
            </a:prstGeom>
          </p:spPr>
        </p:pic>
        <p:sp>
          <p:nvSpPr>
            <p:cNvPr id="11" name="Title 4">
              <a:extLst>
                <a:ext uri="{FF2B5EF4-FFF2-40B4-BE49-F238E27FC236}">
                  <a16:creationId xmlns:a16="http://schemas.microsoft.com/office/drawing/2014/main" id="{27228BAE-048B-681E-DD8D-BD96B22560E0}"/>
                </a:ext>
              </a:extLst>
            </p:cNvPr>
            <p:cNvSpPr txBox="1">
              <a:spLocks/>
            </p:cNvSpPr>
            <p:nvPr/>
          </p:nvSpPr>
          <p:spPr>
            <a:xfrm>
              <a:off x="89638" y="1389204"/>
              <a:ext cx="4804363" cy="900105"/>
            </a:xfrm>
            <a:prstGeom prst="rect">
              <a:avLst/>
            </a:prstGeom>
          </p:spPr>
          <p:txBody>
            <a:bodyPr vert="horz" lIns="68580" tIns="34290" rIns="68580" bIns="3429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just"/>
              <a:r>
                <a:rPr lang="en-US" sz="3000" dirty="0">
                  <a:solidFill>
                    <a:schemeClr val="accent1">
                      <a:lumMod val="75000"/>
                    </a:schemeClr>
                  </a:solidFill>
                </a:rPr>
                <a:t>Computer </a:t>
              </a:r>
              <a:r>
                <a:rPr lang="en-US" sz="3000" dirty="0">
                  <a:solidFill>
                    <a:srgbClr val="00B0F0"/>
                  </a:solidFill>
                </a:rPr>
                <a:t>Vision</a:t>
              </a:r>
            </a:p>
          </p:txBody>
        </p:sp>
        <p:grpSp>
          <p:nvGrpSpPr>
            <p:cNvPr id="12" name="Group 11">
              <a:extLst>
                <a:ext uri="{FF2B5EF4-FFF2-40B4-BE49-F238E27FC236}">
                  <a16:creationId xmlns:a16="http://schemas.microsoft.com/office/drawing/2014/main" id="{2AABCB87-2ECC-4C03-B5BB-6EE11C8A4485}"/>
                </a:ext>
              </a:extLst>
            </p:cNvPr>
            <p:cNvGrpSpPr/>
            <p:nvPr/>
          </p:nvGrpSpPr>
          <p:grpSpPr>
            <a:xfrm>
              <a:off x="89638" y="359621"/>
              <a:ext cx="3064025" cy="1516520"/>
              <a:chOff x="4853562" y="1589418"/>
              <a:chExt cx="2609520" cy="1291565"/>
            </a:xfrm>
          </p:grpSpPr>
          <p:sp>
            <p:nvSpPr>
              <p:cNvPr id="19" name="Freeform 18">
                <a:extLst>
                  <a:ext uri="{FF2B5EF4-FFF2-40B4-BE49-F238E27FC236}">
                    <a16:creationId xmlns:a16="http://schemas.microsoft.com/office/drawing/2014/main" id="{03546B24-FABC-4B2A-A80F-B03654D56A7D}"/>
                  </a:ext>
                </a:extLst>
              </p:cNvPr>
              <p:cNvSpPr>
                <a:spLocks noChangeAspect="1"/>
              </p:cNvSpPr>
              <p:nvPr/>
            </p:nvSpPr>
            <p:spPr>
              <a:xfrm flipH="1">
                <a:off x="4853562" y="1589418"/>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a:solidFill>
                    <a:schemeClr val="tx1"/>
                  </a:solidFill>
                </a:endParaRPr>
              </a:p>
            </p:txBody>
          </p:sp>
          <p:sp>
            <p:nvSpPr>
              <p:cNvPr id="20" name="Freeform 19">
                <a:extLst>
                  <a:ext uri="{FF2B5EF4-FFF2-40B4-BE49-F238E27FC236}">
                    <a16:creationId xmlns:a16="http://schemas.microsoft.com/office/drawing/2014/main" id="{02E1A011-CDEA-4BBC-B725-C88AF5464891}"/>
                  </a:ext>
                </a:extLst>
              </p:cNvPr>
              <p:cNvSpPr>
                <a:spLocks noChangeAspect="1"/>
              </p:cNvSpPr>
              <p:nvPr/>
            </p:nvSpPr>
            <p:spPr>
              <a:xfrm flipH="1">
                <a:off x="5230834" y="1678285"/>
                <a:ext cx="2232248" cy="1202698"/>
              </a:xfrm>
              <a:custGeom>
                <a:avLst/>
                <a:gdLst/>
                <a:ahLst/>
                <a:cxnLst/>
                <a:rect l="l" t="t" r="r" b="b"/>
                <a:pathLst>
                  <a:path w="1872168" h="1008693">
                    <a:moveTo>
                      <a:pt x="699542" y="162"/>
                    </a:moveTo>
                    <a:cubicBezTo>
                      <a:pt x="683169" y="534"/>
                      <a:pt x="666273" y="1556"/>
                      <a:pt x="648845" y="3291"/>
                    </a:cubicBezTo>
                    <a:cubicBezTo>
                      <a:pt x="357120" y="49686"/>
                      <a:pt x="273885" y="284789"/>
                      <a:pt x="274981" y="413694"/>
                    </a:cubicBezTo>
                    <a:cubicBezTo>
                      <a:pt x="4451" y="471904"/>
                      <a:pt x="-11347" y="662854"/>
                      <a:pt x="4101" y="753457"/>
                    </a:cubicBezTo>
                    <a:cubicBezTo>
                      <a:pt x="42383" y="946818"/>
                      <a:pt x="296257" y="1004273"/>
                      <a:pt x="384912" y="1005378"/>
                    </a:cubicBezTo>
                    <a:lnTo>
                      <a:pt x="1507196" y="1008693"/>
                    </a:lnTo>
                    <a:cubicBezTo>
                      <a:pt x="1646895" y="1000406"/>
                      <a:pt x="1746295" y="947371"/>
                      <a:pt x="1825546" y="854557"/>
                    </a:cubicBezTo>
                    <a:cubicBezTo>
                      <a:pt x="1897410" y="760086"/>
                      <a:pt x="1873973" y="626012"/>
                      <a:pt x="1836613" y="558208"/>
                    </a:cubicBezTo>
                    <a:cubicBezTo>
                      <a:pt x="1808089" y="509360"/>
                      <a:pt x="1675919" y="402617"/>
                      <a:pt x="1507617" y="430504"/>
                    </a:cubicBezTo>
                    <a:cubicBezTo>
                      <a:pt x="1525469" y="335682"/>
                      <a:pt x="1477961" y="244522"/>
                      <a:pt x="1398003" y="206286"/>
                    </a:cubicBezTo>
                    <a:cubicBezTo>
                      <a:pt x="1299806" y="153261"/>
                      <a:pt x="1182195" y="177294"/>
                      <a:pt x="1108176" y="215068"/>
                    </a:cubicBezTo>
                    <a:cubicBezTo>
                      <a:pt x="1072916" y="135306"/>
                      <a:pt x="945134" y="-5422"/>
                      <a:pt x="699542" y="162"/>
                    </a:cubicBezTo>
                    <a:close/>
                  </a:path>
                </a:pathLst>
              </a:custGeom>
              <a:solidFill>
                <a:schemeClr val="bg1"/>
              </a:solidFill>
              <a:ln>
                <a:noFill/>
              </a:ln>
              <a:effectLst>
                <a:outerShdw blurRad="63500" sx="102000" sy="102000" algn="c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2701" dirty="0">
                  <a:solidFill>
                    <a:schemeClr val="tx1"/>
                  </a:solidFill>
                </a:endParaRPr>
              </a:p>
            </p:txBody>
          </p:sp>
        </p:grpSp>
        <p:grpSp>
          <p:nvGrpSpPr>
            <p:cNvPr id="13" name="Group 12">
              <a:extLst>
                <a:ext uri="{FF2B5EF4-FFF2-40B4-BE49-F238E27FC236}">
                  <a16:creationId xmlns:a16="http://schemas.microsoft.com/office/drawing/2014/main" id="{AB8BC7BC-BF58-402E-9A69-AA9226DE7CAA}"/>
                </a:ext>
              </a:extLst>
            </p:cNvPr>
            <p:cNvGrpSpPr/>
            <p:nvPr/>
          </p:nvGrpSpPr>
          <p:grpSpPr>
            <a:xfrm>
              <a:off x="1176068" y="503243"/>
              <a:ext cx="1334145" cy="620384"/>
              <a:chOff x="7439031" y="1585639"/>
              <a:chExt cx="2143740" cy="996849"/>
            </a:xfrm>
            <a:solidFill>
              <a:schemeClr val="accent6"/>
            </a:solidFill>
          </p:grpSpPr>
          <p:sp>
            <p:nvSpPr>
              <p:cNvPr id="17" name="Freeform: Shape 66">
                <a:extLst>
                  <a:ext uri="{FF2B5EF4-FFF2-40B4-BE49-F238E27FC236}">
                    <a16:creationId xmlns:a16="http://schemas.microsoft.com/office/drawing/2014/main" id="{2A081543-B9FF-49B1-8EEF-ABDF5438EDCD}"/>
                  </a:ext>
                </a:extLst>
              </p:cNvPr>
              <p:cNvSpPr/>
              <p:nvPr/>
            </p:nvSpPr>
            <p:spPr>
              <a:xfrm>
                <a:off x="7439031" y="1585639"/>
                <a:ext cx="2143740" cy="996849"/>
              </a:xfrm>
              <a:custGeom>
                <a:avLst/>
                <a:gdLst/>
                <a:ahLst/>
                <a:cxnLst/>
                <a:rect l="l" t="t" r="r" b="b"/>
                <a:pathLst>
                  <a:path w="1862733" h="866179">
                    <a:moveTo>
                      <a:pt x="794147" y="204787"/>
                    </a:moveTo>
                    <a:cubicBezTo>
                      <a:pt x="745605" y="204787"/>
                      <a:pt x="701637" y="218416"/>
                      <a:pt x="662244" y="245673"/>
                    </a:cubicBezTo>
                    <a:cubicBezTo>
                      <a:pt x="622851" y="272930"/>
                      <a:pt x="594798" y="309240"/>
                      <a:pt x="578086" y="354601"/>
                    </a:cubicBezTo>
                    <a:cubicBezTo>
                      <a:pt x="568536" y="380467"/>
                      <a:pt x="563761" y="406729"/>
                      <a:pt x="563761" y="433387"/>
                    </a:cubicBezTo>
                    <a:cubicBezTo>
                      <a:pt x="563761" y="488299"/>
                      <a:pt x="582064" y="537440"/>
                      <a:pt x="618670" y="580811"/>
                    </a:cubicBezTo>
                    <a:cubicBezTo>
                      <a:pt x="664031" y="634532"/>
                      <a:pt x="722524" y="661392"/>
                      <a:pt x="794147" y="661392"/>
                    </a:cubicBezTo>
                    <a:cubicBezTo>
                      <a:pt x="865771" y="661392"/>
                      <a:pt x="924462" y="634733"/>
                      <a:pt x="970220" y="581415"/>
                    </a:cubicBezTo>
                    <a:cubicBezTo>
                      <a:pt x="1006826" y="538838"/>
                      <a:pt x="1025128" y="489496"/>
                      <a:pt x="1025128" y="433387"/>
                    </a:cubicBezTo>
                    <a:cubicBezTo>
                      <a:pt x="1025128" y="376088"/>
                      <a:pt x="1006826" y="326547"/>
                      <a:pt x="970220" y="284764"/>
                    </a:cubicBezTo>
                    <a:cubicBezTo>
                      <a:pt x="923265" y="231446"/>
                      <a:pt x="864574" y="204787"/>
                      <a:pt x="794147" y="204787"/>
                    </a:cubicBezTo>
                    <a:close/>
                    <a:moveTo>
                      <a:pt x="1304330" y="24408"/>
                    </a:moveTo>
                    <a:lnTo>
                      <a:pt x="1862733" y="24408"/>
                    </a:lnTo>
                    <a:lnTo>
                      <a:pt x="1862733" y="200620"/>
                    </a:lnTo>
                    <a:lnTo>
                      <a:pt x="1687711" y="200620"/>
                    </a:lnTo>
                    <a:lnTo>
                      <a:pt x="1687711" y="837009"/>
                    </a:lnTo>
                    <a:lnTo>
                      <a:pt x="1476375" y="837009"/>
                    </a:lnTo>
                    <a:lnTo>
                      <a:pt x="1476375" y="200620"/>
                    </a:lnTo>
                    <a:lnTo>
                      <a:pt x="1304330" y="200620"/>
                    </a:lnTo>
                    <a:close/>
                    <a:moveTo>
                      <a:pt x="0" y="24408"/>
                    </a:moveTo>
                    <a:lnTo>
                      <a:pt x="211336" y="24408"/>
                    </a:lnTo>
                    <a:lnTo>
                      <a:pt x="211336" y="837009"/>
                    </a:lnTo>
                    <a:lnTo>
                      <a:pt x="0" y="837009"/>
                    </a:lnTo>
                    <a:close/>
                    <a:moveTo>
                      <a:pt x="794147" y="0"/>
                    </a:moveTo>
                    <a:cubicBezTo>
                      <a:pt x="937022" y="0"/>
                      <a:pt x="1050330" y="47426"/>
                      <a:pt x="1134071" y="142280"/>
                    </a:cubicBezTo>
                    <a:cubicBezTo>
                      <a:pt x="1207493" y="225623"/>
                      <a:pt x="1244204" y="322659"/>
                      <a:pt x="1244204" y="433387"/>
                    </a:cubicBezTo>
                    <a:cubicBezTo>
                      <a:pt x="1244204" y="543719"/>
                      <a:pt x="1207493" y="640556"/>
                      <a:pt x="1134071" y="723900"/>
                    </a:cubicBezTo>
                    <a:cubicBezTo>
                      <a:pt x="1050330" y="818753"/>
                      <a:pt x="937022" y="866179"/>
                      <a:pt x="794147" y="866179"/>
                    </a:cubicBezTo>
                    <a:cubicBezTo>
                      <a:pt x="651669" y="866179"/>
                      <a:pt x="538560" y="818753"/>
                      <a:pt x="454819" y="723900"/>
                    </a:cubicBezTo>
                    <a:cubicBezTo>
                      <a:pt x="381397" y="640556"/>
                      <a:pt x="344686" y="543719"/>
                      <a:pt x="344686" y="433387"/>
                    </a:cubicBezTo>
                    <a:cubicBezTo>
                      <a:pt x="344686" y="382984"/>
                      <a:pt x="354608" y="331291"/>
                      <a:pt x="374452" y="278308"/>
                    </a:cubicBezTo>
                    <a:cubicBezTo>
                      <a:pt x="394296" y="225326"/>
                      <a:pt x="420886" y="179983"/>
                      <a:pt x="454224" y="142280"/>
                    </a:cubicBezTo>
                    <a:cubicBezTo>
                      <a:pt x="537964" y="47426"/>
                      <a:pt x="651272" y="0"/>
                      <a:pt x="794147" y="0"/>
                    </a:cubicBezTo>
                    <a:close/>
                  </a:path>
                </a:pathLst>
              </a:custGeom>
              <a:solidFill>
                <a:srgbClr val="00B0F0"/>
              </a:solid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800" dirty="0"/>
              </a:p>
            </p:txBody>
          </p:sp>
          <p:sp>
            <p:nvSpPr>
              <p:cNvPr id="18" name="Freeform: Shape 67">
                <a:extLst>
                  <a:ext uri="{FF2B5EF4-FFF2-40B4-BE49-F238E27FC236}">
                    <a16:creationId xmlns:a16="http://schemas.microsoft.com/office/drawing/2014/main" id="{275D1FAA-C13F-4A6B-BA37-7704CFB7ADCD}"/>
                  </a:ext>
                </a:extLst>
              </p:cNvPr>
              <p:cNvSpPr/>
              <p:nvPr/>
            </p:nvSpPr>
            <p:spPr>
              <a:xfrm>
                <a:off x="8174174" y="1963600"/>
                <a:ext cx="443936" cy="326799"/>
              </a:xfrm>
              <a:custGeom>
                <a:avLst/>
                <a:gdLst>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788485 w 3738080"/>
                  <a:gd name="connsiteY5" fmla="*/ 1841061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2624294 w 3738080"/>
                  <a:gd name="connsiteY5" fmla="*/ 1992174 h 2751770"/>
                  <a:gd name="connsiteX6" fmla="*/ 2632248 w 3738080"/>
                  <a:gd name="connsiteY6" fmla="*/ 1992174 h 2751770"/>
                  <a:gd name="connsiteX7" fmla="*/ 2624294 w 3738080"/>
                  <a:gd name="connsiteY7" fmla="*/ 1992174 h 2751770"/>
                  <a:gd name="connsiteX8" fmla="*/ 1858846 w 3738080"/>
                  <a:gd name="connsiteY8" fmla="*/ 1306247 h 2751770"/>
                  <a:gd name="connsiteX9" fmla="*/ 2645621 w 3738080"/>
                  <a:gd name="connsiteY9" fmla="*/ 1504218 h 2751770"/>
                  <a:gd name="connsiteX10" fmla="*/ 2795575 w 3738080"/>
                  <a:gd name="connsiteY10" fmla="*/ 1757331 h 2751770"/>
                  <a:gd name="connsiteX11" fmla="*/ 2539052 w 3738080"/>
                  <a:gd name="connsiteY11" fmla="*/ 1841672 h 2751770"/>
                  <a:gd name="connsiteX12" fmla="*/ 1353947 w 3738080"/>
                  <a:gd name="connsiteY12" fmla="*/ 1778974 h 2751770"/>
                  <a:gd name="connsiteX13" fmla="*/ 982333 w 3738080"/>
                  <a:gd name="connsiteY13" fmla="*/ 1780833 h 2751770"/>
                  <a:gd name="connsiteX14" fmla="*/ 966756 w 3738080"/>
                  <a:gd name="connsiteY14" fmla="*/ 1667407 h 2751770"/>
                  <a:gd name="connsiteX15" fmla="*/ 1217540 w 3738080"/>
                  <a:gd name="connsiteY15" fmla="*/ 1445700 h 2751770"/>
                  <a:gd name="connsiteX16" fmla="*/ 1858846 w 3738080"/>
                  <a:gd name="connsiteY16" fmla="*/ 1306247 h 2751770"/>
                  <a:gd name="connsiteX17" fmla="*/ 1828129 w 3738080"/>
                  <a:gd name="connsiteY17" fmla="*/ 650059 h 2751770"/>
                  <a:gd name="connsiteX18" fmla="*/ 3108200 w 3738080"/>
                  <a:gd name="connsiteY18" fmla="*/ 1008980 h 2751770"/>
                  <a:gd name="connsiteX19" fmla="*/ 3258155 w 3738080"/>
                  <a:gd name="connsiteY19" fmla="*/ 1319033 h 2751770"/>
                  <a:gd name="connsiteX20" fmla="*/ 2937692 w 3738080"/>
                  <a:gd name="connsiteY20" fmla="*/ 1304637 h 2751770"/>
                  <a:gd name="connsiteX21" fmla="*/ 763561 w 3738080"/>
                  <a:gd name="connsiteY21" fmla="*/ 1325535 h 2751770"/>
                  <a:gd name="connsiteX22" fmla="*/ 464412 w 3738080"/>
                  <a:gd name="connsiteY22" fmla="*/ 1278813 h 2751770"/>
                  <a:gd name="connsiteX23" fmla="*/ 450482 w 3738080"/>
                  <a:gd name="connsiteY23" fmla="*/ 1202928 h 2751770"/>
                  <a:gd name="connsiteX24" fmla="*/ 622892 w 3738080"/>
                  <a:gd name="connsiteY24" fmla="*/ 1008979 h 2751770"/>
                  <a:gd name="connsiteX25" fmla="*/ 1828129 w 3738080"/>
                  <a:gd name="connsiteY25" fmla="*/ 650059 h 2751770"/>
                  <a:gd name="connsiteX26" fmla="*/ 1764313 w 3738080"/>
                  <a:gd name="connsiteY26" fmla="*/ 591 h 2751770"/>
                  <a:gd name="connsiteX27" fmla="*/ 3559697 w 3738080"/>
                  <a:gd name="connsiteY27" fmla="*/ 547180 h 2751770"/>
                  <a:gd name="connsiteX28" fmla="*/ 3709650 w 3738080"/>
                  <a:gd name="connsiteY28" fmla="*/ 882310 h 2751770"/>
                  <a:gd name="connsiteX29" fmla="*/ 3367875 w 3738080"/>
                  <a:gd name="connsiteY29" fmla="*/ 834477 h 2751770"/>
                  <a:gd name="connsiteX30" fmla="*/ 318417 w 3738080"/>
                  <a:gd name="connsiteY30" fmla="*/ 884635 h 2751770"/>
                  <a:gd name="connsiteX31" fmla="*/ 19267 w 3738080"/>
                  <a:gd name="connsiteY31" fmla="*/ 846272 h 2751770"/>
                  <a:gd name="connsiteX32" fmla="*/ 275 w 3738080"/>
                  <a:gd name="connsiteY32" fmla="*/ 760137 h 2751770"/>
                  <a:gd name="connsiteX33" fmla="*/ 173484 w 3738080"/>
                  <a:gd name="connsiteY33" fmla="*/ 547180 h 2751770"/>
                  <a:gd name="connsiteX34" fmla="*/ 1764313 w 3738080"/>
                  <a:gd name="connsiteY34" fmla="*/ 591 h 2751770"/>
                  <a:gd name="connsiteX0" fmla="*/ 1869041 w 3738080"/>
                  <a:gd name="connsiteY0" fmla="*/ 1997576 h 2751770"/>
                  <a:gd name="connsiteX1" fmla="*/ 2246138 w 3738080"/>
                  <a:gd name="connsiteY1" fmla="*/ 2374673 h 2751770"/>
                  <a:gd name="connsiteX2" fmla="*/ 1869041 w 3738080"/>
                  <a:gd name="connsiteY2" fmla="*/ 2751770 h 2751770"/>
                  <a:gd name="connsiteX3" fmla="*/ 1491944 w 3738080"/>
                  <a:gd name="connsiteY3" fmla="*/ 2374673 h 2751770"/>
                  <a:gd name="connsiteX4" fmla="*/ 1869041 w 3738080"/>
                  <a:gd name="connsiteY4" fmla="*/ 1997576 h 2751770"/>
                  <a:gd name="connsiteX5" fmla="*/ 1858846 w 3738080"/>
                  <a:gd name="connsiteY5" fmla="*/ 1306247 h 2751770"/>
                  <a:gd name="connsiteX6" fmla="*/ 2645621 w 3738080"/>
                  <a:gd name="connsiteY6" fmla="*/ 1504218 h 2751770"/>
                  <a:gd name="connsiteX7" fmla="*/ 2795575 w 3738080"/>
                  <a:gd name="connsiteY7" fmla="*/ 1757331 h 2751770"/>
                  <a:gd name="connsiteX8" fmla="*/ 2539052 w 3738080"/>
                  <a:gd name="connsiteY8" fmla="*/ 1841672 h 2751770"/>
                  <a:gd name="connsiteX9" fmla="*/ 1353947 w 3738080"/>
                  <a:gd name="connsiteY9" fmla="*/ 1778974 h 2751770"/>
                  <a:gd name="connsiteX10" fmla="*/ 982333 w 3738080"/>
                  <a:gd name="connsiteY10" fmla="*/ 1780833 h 2751770"/>
                  <a:gd name="connsiteX11" fmla="*/ 966756 w 3738080"/>
                  <a:gd name="connsiteY11" fmla="*/ 1667407 h 2751770"/>
                  <a:gd name="connsiteX12" fmla="*/ 1217540 w 3738080"/>
                  <a:gd name="connsiteY12" fmla="*/ 1445700 h 2751770"/>
                  <a:gd name="connsiteX13" fmla="*/ 1858846 w 3738080"/>
                  <a:gd name="connsiteY13" fmla="*/ 1306247 h 2751770"/>
                  <a:gd name="connsiteX14" fmla="*/ 1828129 w 3738080"/>
                  <a:gd name="connsiteY14" fmla="*/ 650059 h 2751770"/>
                  <a:gd name="connsiteX15" fmla="*/ 3108200 w 3738080"/>
                  <a:gd name="connsiteY15" fmla="*/ 1008980 h 2751770"/>
                  <a:gd name="connsiteX16" fmla="*/ 3258155 w 3738080"/>
                  <a:gd name="connsiteY16" fmla="*/ 1319033 h 2751770"/>
                  <a:gd name="connsiteX17" fmla="*/ 2937692 w 3738080"/>
                  <a:gd name="connsiteY17" fmla="*/ 1304637 h 2751770"/>
                  <a:gd name="connsiteX18" fmla="*/ 763561 w 3738080"/>
                  <a:gd name="connsiteY18" fmla="*/ 1325535 h 2751770"/>
                  <a:gd name="connsiteX19" fmla="*/ 464412 w 3738080"/>
                  <a:gd name="connsiteY19" fmla="*/ 1278813 h 2751770"/>
                  <a:gd name="connsiteX20" fmla="*/ 450482 w 3738080"/>
                  <a:gd name="connsiteY20" fmla="*/ 1202928 h 2751770"/>
                  <a:gd name="connsiteX21" fmla="*/ 622892 w 3738080"/>
                  <a:gd name="connsiteY21" fmla="*/ 1008979 h 2751770"/>
                  <a:gd name="connsiteX22" fmla="*/ 1828129 w 3738080"/>
                  <a:gd name="connsiteY22" fmla="*/ 650059 h 2751770"/>
                  <a:gd name="connsiteX23" fmla="*/ 1764313 w 3738080"/>
                  <a:gd name="connsiteY23" fmla="*/ 591 h 2751770"/>
                  <a:gd name="connsiteX24" fmla="*/ 3559697 w 3738080"/>
                  <a:gd name="connsiteY24" fmla="*/ 547180 h 2751770"/>
                  <a:gd name="connsiteX25" fmla="*/ 3709650 w 3738080"/>
                  <a:gd name="connsiteY25" fmla="*/ 882310 h 2751770"/>
                  <a:gd name="connsiteX26" fmla="*/ 3367875 w 3738080"/>
                  <a:gd name="connsiteY26" fmla="*/ 834477 h 2751770"/>
                  <a:gd name="connsiteX27" fmla="*/ 318417 w 3738080"/>
                  <a:gd name="connsiteY27" fmla="*/ 884635 h 2751770"/>
                  <a:gd name="connsiteX28" fmla="*/ 19267 w 3738080"/>
                  <a:gd name="connsiteY28" fmla="*/ 846272 h 2751770"/>
                  <a:gd name="connsiteX29" fmla="*/ 275 w 3738080"/>
                  <a:gd name="connsiteY29" fmla="*/ 760137 h 2751770"/>
                  <a:gd name="connsiteX30" fmla="*/ 173484 w 3738080"/>
                  <a:gd name="connsiteY30" fmla="*/ 547180 h 2751770"/>
                  <a:gd name="connsiteX31" fmla="*/ 1764313 w 3738080"/>
                  <a:gd name="connsiteY31" fmla="*/ 591 h 27517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738080" h="2751770">
                    <a:moveTo>
                      <a:pt x="1869041" y="1997576"/>
                    </a:moveTo>
                    <a:cubicBezTo>
                      <a:pt x="2077306" y="1997576"/>
                      <a:pt x="2246138" y="2166408"/>
                      <a:pt x="2246138" y="2374673"/>
                    </a:cubicBezTo>
                    <a:cubicBezTo>
                      <a:pt x="2246138" y="2582938"/>
                      <a:pt x="2077306" y="2751770"/>
                      <a:pt x="1869041" y="2751770"/>
                    </a:cubicBezTo>
                    <a:cubicBezTo>
                      <a:pt x="1660776" y="2751770"/>
                      <a:pt x="1491944" y="2582938"/>
                      <a:pt x="1491944" y="2374673"/>
                    </a:cubicBezTo>
                    <a:cubicBezTo>
                      <a:pt x="1491944" y="2166408"/>
                      <a:pt x="1660776" y="1997576"/>
                      <a:pt x="1869041" y="1997576"/>
                    </a:cubicBezTo>
                    <a:close/>
                    <a:moveTo>
                      <a:pt x="1858846" y="1306247"/>
                    </a:moveTo>
                    <a:cubicBezTo>
                      <a:pt x="2165924" y="1301758"/>
                      <a:pt x="2404940" y="1399722"/>
                      <a:pt x="2645621" y="1504218"/>
                    </a:cubicBezTo>
                    <a:cubicBezTo>
                      <a:pt x="2813424" y="1597955"/>
                      <a:pt x="2823993" y="1678797"/>
                      <a:pt x="2795575" y="1757331"/>
                    </a:cubicBezTo>
                    <a:cubicBezTo>
                      <a:pt x="2761471" y="1842158"/>
                      <a:pt x="2685239" y="1908552"/>
                      <a:pt x="2539052" y="1841672"/>
                    </a:cubicBezTo>
                    <a:cubicBezTo>
                      <a:pt x="2347207" y="1684231"/>
                      <a:pt x="1733351" y="1556050"/>
                      <a:pt x="1353947" y="1778974"/>
                    </a:cubicBezTo>
                    <a:cubicBezTo>
                      <a:pt x="1250080" y="1855218"/>
                      <a:pt x="1037749" y="1915097"/>
                      <a:pt x="982333" y="1780833"/>
                    </a:cubicBezTo>
                    <a:cubicBezTo>
                      <a:pt x="968480" y="1736637"/>
                      <a:pt x="963386" y="1699601"/>
                      <a:pt x="966756" y="1667407"/>
                    </a:cubicBezTo>
                    <a:cubicBezTo>
                      <a:pt x="976866" y="1570822"/>
                      <a:pt x="1063141" y="1517802"/>
                      <a:pt x="1217540" y="1445700"/>
                    </a:cubicBezTo>
                    <a:cubicBezTo>
                      <a:pt x="1465851" y="1348519"/>
                      <a:pt x="1674601" y="1308942"/>
                      <a:pt x="1858846" y="1306247"/>
                    </a:cubicBezTo>
                    <a:close/>
                    <a:moveTo>
                      <a:pt x="1828129" y="650059"/>
                    </a:moveTo>
                    <a:cubicBezTo>
                      <a:pt x="2445754" y="646836"/>
                      <a:pt x="2937662" y="894034"/>
                      <a:pt x="3108200" y="1008980"/>
                    </a:cubicBezTo>
                    <a:cubicBezTo>
                      <a:pt x="3228810" y="1075858"/>
                      <a:pt x="3343409" y="1171509"/>
                      <a:pt x="3258155" y="1319033"/>
                    </a:cubicBezTo>
                    <a:cubicBezTo>
                      <a:pt x="3134282" y="1435449"/>
                      <a:pt x="3057301" y="1393031"/>
                      <a:pt x="2937692" y="1304637"/>
                    </a:cubicBezTo>
                    <a:cubicBezTo>
                      <a:pt x="2647778" y="1191783"/>
                      <a:pt x="2008321" y="619142"/>
                      <a:pt x="763561" y="1325535"/>
                    </a:cubicBezTo>
                    <a:cubicBezTo>
                      <a:pt x="621636" y="1425852"/>
                      <a:pt x="511304" y="1376178"/>
                      <a:pt x="464412" y="1278813"/>
                    </a:cubicBezTo>
                    <a:cubicBezTo>
                      <a:pt x="452398" y="1252494"/>
                      <a:pt x="448110" y="1227223"/>
                      <a:pt x="450482" y="1202928"/>
                    </a:cubicBezTo>
                    <a:cubicBezTo>
                      <a:pt x="457599" y="1130049"/>
                      <a:pt x="524660" y="1065987"/>
                      <a:pt x="622892" y="1008979"/>
                    </a:cubicBezTo>
                    <a:cubicBezTo>
                      <a:pt x="1041721" y="744082"/>
                      <a:pt x="1457554" y="651995"/>
                      <a:pt x="1828129" y="650059"/>
                    </a:cubicBezTo>
                    <a:close/>
                    <a:moveTo>
                      <a:pt x="1764313" y="591"/>
                    </a:moveTo>
                    <a:cubicBezTo>
                      <a:pt x="2430887" y="-13278"/>
                      <a:pt x="3056659" y="218017"/>
                      <a:pt x="3559697" y="547180"/>
                    </a:cubicBezTo>
                    <a:cubicBezTo>
                      <a:pt x="3671781" y="597338"/>
                      <a:pt x="3794905" y="759863"/>
                      <a:pt x="3709650" y="882310"/>
                    </a:cubicBezTo>
                    <a:cubicBezTo>
                      <a:pt x="3594303" y="984791"/>
                      <a:pt x="3449118" y="907547"/>
                      <a:pt x="3367875" y="834477"/>
                    </a:cubicBezTo>
                    <a:cubicBezTo>
                      <a:pt x="3193985" y="725799"/>
                      <a:pt x="1920315" y="-235561"/>
                      <a:pt x="318417" y="884635"/>
                    </a:cubicBezTo>
                    <a:cubicBezTo>
                      <a:pt x="189280" y="993311"/>
                      <a:pt x="70419" y="922739"/>
                      <a:pt x="19267" y="846272"/>
                    </a:cubicBezTo>
                    <a:cubicBezTo>
                      <a:pt x="4410" y="817516"/>
                      <a:pt x="-1388" y="788500"/>
                      <a:pt x="275" y="760137"/>
                    </a:cubicBezTo>
                    <a:cubicBezTo>
                      <a:pt x="5260" y="675044"/>
                      <a:pt x="77384" y="595829"/>
                      <a:pt x="173484" y="547180"/>
                    </a:cubicBezTo>
                    <a:cubicBezTo>
                      <a:pt x="702741" y="170471"/>
                      <a:pt x="1245868" y="11376"/>
                      <a:pt x="1764313" y="591"/>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grpSp>
        <p:sp>
          <p:nvSpPr>
            <p:cNvPr id="14" name="Subtitle 2">
              <a:extLst>
                <a:ext uri="{FF2B5EF4-FFF2-40B4-BE49-F238E27FC236}">
                  <a16:creationId xmlns:a16="http://schemas.microsoft.com/office/drawing/2014/main" id="{53858C97-DA2F-8866-47CC-CDF4077BBF9D}"/>
                </a:ext>
              </a:extLst>
            </p:cNvPr>
            <p:cNvSpPr txBox="1">
              <a:spLocks/>
            </p:cNvSpPr>
            <p:nvPr/>
          </p:nvSpPr>
          <p:spPr>
            <a:xfrm>
              <a:off x="1560697" y="757061"/>
              <a:ext cx="729275" cy="203382"/>
            </a:xfrm>
            <a:prstGeom prst="rect">
              <a:avLst/>
            </a:prstGeom>
          </p:spPr>
          <p:txBody>
            <a:bodyPr vert="horz" lIns="68580" tIns="34290" rIns="68580" bIns="34290" rtlCol="0">
              <a:normAutofit fontScale="5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1200" dirty="0">
                  <a:solidFill>
                    <a:srgbClr val="7030A0"/>
                  </a:solidFill>
                </a:rPr>
                <a:t>PDS</a:t>
              </a:r>
            </a:p>
          </p:txBody>
        </p:sp>
      </p:grpSp>
      <p:pic>
        <p:nvPicPr>
          <p:cNvPr id="4" name="Picture 3"/>
          <p:cNvPicPr>
            <a:picLocks noChangeAspect="1"/>
          </p:cNvPicPr>
          <p:nvPr/>
        </p:nvPicPr>
        <p:blipFill>
          <a:blip r:embed="rId5"/>
          <a:stretch>
            <a:fillRect/>
          </a:stretch>
        </p:blipFill>
        <p:spPr>
          <a:xfrm>
            <a:off x="1958807" y="1979698"/>
            <a:ext cx="334565" cy="476897"/>
          </a:xfrm>
          <a:prstGeom prst="rect">
            <a:avLst/>
          </a:prstGeom>
        </p:spPr>
      </p:pic>
      <p:pic>
        <p:nvPicPr>
          <p:cNvPr id="5" name="Picture 4"/>
          <p:cNvPicPr>
            <a:picLocks noChangeAspect="1"/>
          </p:cNvPicPr>
          <p:nvPr/>
        </p:nvPicPr>
        <p:blipFill>
          <a:blip r:embed="rId6"/>
          <a:stretch>
            <a:fillRect/>
          </a:stretch>
        </p:blipFill>
        <p:spPr>
          <a:xfrm>
            <a:off x="1435773" y="1991577"/>
            <a:ext cx="460043" cy="437041"/>
          </a:xfrm>
          <a:prstGeom prst="rect">
            <a:avLst/>
          </a:prstGeom>
        </p:spPr>
      </p:pic>
      <p:pic>
        <p:nvPicPr>
          <p:cNvPr id="6" name="Picture 5"/>
          <p:cNvPicPr>
            <a:picLocks noChangeAspect="1"/>
          </p:cNvPicPr>
          <p:nvPr/>
        </p:nvPicPr>
        <p:blipFill>
          <a:blip r:embed="rId7"/>
          <a:stretch>
            <a:fillRect/>
          </a:stretch>
        </p:blipFill>
        <p:spPr>
          <a:xfrm>
            <a:off x="789784" y="1979697"/>
            <a:ext cx="449747" cy="433166"/>
          </a:xfrm>
          <a:prstGeom prst="rect">
            <a:avLst/>
          </a:prstGeom>
        </p:spPr>
      </p:pic>
      <p:sp>
        <p:nvSpPr>
          <p:cNvPr id="26" name="Subtitle 2"/>
          <p:cNvSpPr txBox="1">
            <a:spLocks/>
          </p:cNvSpPr>
          <p:nvPr/>
        </p:nvSpPr>
        <p:spPr>
          <a:xfrm>
            <a:off x="1928066" y="2722292"/>
            <a:ext cx="6768461" cy="390806"/>
          </a:xfrm>
          <a:prstGeom prst="rect">
            <a:avLst/>
          </a:prstGeom>
        </p:spPr>
        <p:txBody>
          <a:bodyPr vert="horz" lIns="68580" tIns="34290" rIns="68580" bIns="3429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sz="3200" dirty="0" err="1" smtClean="0"/>
              <a:t>Kolla</a:t>
            </a:r>
            <a:r>
              <a:rPr lang="en-US" sz="3200" dirty="0" smtClean="0"/>
              <a:t> </a:t>
            </a:r>
            <a:r>
              <a:rPr lang="en-US" sz="3200" dirty="0" err="1"/>
              <a:t>Ansible</a:t>
            </a:r>
            <a:r>
              <a:rPr lang="en-US" sz="3200" dirty="0"/>
              <a:t> OpenStack Installation (Ubuntu server 22.04</a:t>
            </a:r>
            <a:r>
              <a:rPr lang="en-US" sz="3200" dirty="0" smtClean="0"/>
              <a:t>)</a:t>
            </a:r>
          </a:p>
        </p:txBody>
      </p:sp>
      <p:sp>
        <p:nvSpPr>
          <p:cNvPr id="27" name="Title 1"/>
          <p:cNvSpPr txBox="1">
            <a:spLocks/>
          </p:cNvSpPr>
          <p:nvPr/>
        </p:nvSpPr>
        <p:spPr>
          <a:xfrm>
            <a:off x="1928067" y="3546558"/>
            <a:ext cx="6425543" cy="503071"/>
          </a:xfrm>
          <a:prstGeom prst="rect">
            <a:avLst/>
          </a:prstGeom>
        </p:spPr>
        <p:txBody>
          <a:bodyPr vert="horz" lIns="68580" tIns="34290" rIns="68580" bIns="3429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r>
              <a:rPr lang="en-US" sz="3300" dirty="0">
                <a:solidFill>
                  <a:srgbClr val="0070C0"/>
                </a:solidFill>
              </a:rPr>
              <a:t>.</a:t>
            </a:r>
            <a:endParaRPr lang="en-US" sz="3300" b="1" dirty="0"/>
          </a:p>
        </p:txBody>
      </p:sp>
      <p:sp>
        <p:nvSpPr>
          <p:cNvPr id="25" name="Rectangle 24"/>
          <p:cNvSpPr/>
          <p:nvPr/>
        </p:nvSpPr>
        <p:spPr>
          <a:xfrm>
            <a:off x="6732841" y="4678946"/>
            <a:ext cx="2218246" cy="169277"/>
          </a:xfrm>
          <a:prstGeom prst="rect">
            <a:avLst/>
          </a:prstGeom>
        </p:spPr>
        <p:txBody>
          <a:bodyPr wrap="square">
            <a:spAutoFit/>
          </a:bodyPr>
          <a:lstStyle/>
          <a:p>
            <a:r>
              <a:rPr lang="en-US" sz="500" dirty="0"/>
              <a:t>https</a:t>
            </a:r>
            <a:r>
              <a:rPr lang="en-US" sz="500" dirty="0" smtClean="0"/>
              <a:t>://github.com/amelcharolinesgn2/IoT_simulator-mqtt-NodeRed</a:t>
            </a:r>
            <a:endParaRPr lang="en-US" sz="500" dirty="0"/>
          </a:p>
        </p:txBody>
      </p:sp>
      <p:sp>
        <p:nvSpPr>
          <p:cNvPr id="28" name="Rectangle 27"/>
          <p:cNvSpPr/>
          <p:nvPr/>
        </p:nvSpPr>
        <p:spPr>
          <a:xfrm>
            <a:off x="7399424" y="4044032"/>
            <a:ext cx="1301349" cy="150490"/>
          </a:xfrm>
          <a:prstGeom prst="rect">
            <a:avLst/>
          </a:prstGeom>
        </p:spPr>
        <p:txBody>
          <a:bodyPr wrap="square">
            <a:spAutoFit/>
          </a:bodyPr>
          <a:lstStyle/>
          <a:p>
            <a:pPr algn="r"/>
            <a:r>
              <a:rPr lang="en-US" sz="378" dirty="0"/>
              <a:t>https://www.youtube.com/@AmelOline/videos</a:t>
            </a:r>
          </a:p>
        </p:txBody>
      </p:sp>
      <p:sp>
        <p:nvSpPr>
          <p:cNvPr id="29" name="Rectangle 28"/>
          <p:cNvSpPr/>
          <p:nvPr/>
        </p:nvSpPr>
        <p:spPr>
          <a:xfrm>
            <a:off x="7811995" y="3981732"/>
            <a:ext cx="879077" cy="150490"/>
          </a:xfrm>
          <a:prstGeom prst="rect">
            <a:avLst/>
          </a:prstGeom>
        </p:spPr>
        <p:txBody>
          <a:bodyPr wrap="square">
            <a:spAutoFit/>
          </a:bodyPr>
          <a:lstStyle/>
          <a:p>
            <a:pPr algn="r"/>
            <a:r>
              <a:rPr lang="en-US" sz="378" dirty="0"/>
              <a:t>https://github.com/siagianp</a:t>
            </a:r>
          </a:p>
        </p:txBody>
      </p:sp>
      <p:sp>
        <p:nvSpPr>
          <p:cNvPr id="30" name="Rectangle 29"/>
          <p:cNvSpPr/>
          <p:nvPr/>
        </p:nvSpPr>
        <p:spPr>
          <a:xfrm>
            <a:off x="7248692" y="4115631"/>
            <a:ext cx="1452642" cy="150490"/>
          </a:xfrm>
          <a:prstGeom prst="rect">
            <a:avLst/>
          </a:prstGeom>
        </p:spPr>
        <p:txBody>
          <a:bodyPr wrap="none">
            <a:spAutoFit/>
          </a:bodyPr>
          <a:lstStyle/>
          <a:p>
            <a:pPr algn="r"/>
            <a:r>
              <a:rPr lang="en-US" sz="378" dirty="0"/>
              <a:t>https://github.com/amelcharolinesgn2/Cloud-Infrastructures</a:t>
            </a:r>
          </a:p>
        </p:txBody>
      </p:sp>
      <p:sp>
        <p:nvSpPr>
          <p:cNvPr id="31" name="Rectangle 30"/>
          <p:cNvSpPr/>
          <p:nvPr/>
        </p:nvSpPr>
        <p:spPr>
          <a:xfrm>
            <a:off x="6982594" y="4179657"/>
            <a:ext cx="1718740" cy="150490"/>
          </a:xfrm>
          <a:prstGeom prst="rect">
            <a:avLst/>
          </a:prstGeom>
        </p:spPr>
        <p:txBody>
          <a:bodyPr wrap="none">
            <a:spAutoFit/>
          </a:bodyPr>
          <a:lstStyle/>
          <a:p>
            <a:pPr algn="r"/>
            <a:r>
              <a:rPr lang="en-US" sz="378" dirty="0"/>
              <a:t>https://github.com/amelcharolinesgn2/ClouD-Infrastructure-SISKA-2025</a:t>
            </a:r>
          </a:p>
        </p:txBody>
      </p:sp>
      <p:sp>
        <p:nvSpPr>
          <p:cNvPr id="32" name="Rectangle 31"/>
          <p:cNvSpPr/>
          <p:nvPr/>
        </p:nvSpPr>
        <p:spPr>
          <a:xfrm>
            <a:off x="7399424" y="4230600"/>
            <a:ext cx="1301349" cy="150490"/>
          </a:xfrm>
          <a:prstGeom prst="rect">
            <a:avLst/>
          </a:prstGeom>
        </p:spPr>
        <p:txBody>
          <a:bodyPr wrap="square">
            <a:spAutoFit/>
          </a:bodyPr>
          <a:lstStyle/>
          <a:p>
            <a:pPr algn="r"/>
            <a:r>
              <a:rPr lang="en-US" sz="378" dirty="0"/>
              <a:t>https://</a:t>
            </a:r>
            <a:r>
              <a:rPr lang="en-US" sz="378" dirty="0" smtClean="0"/>
              <a:t>github.com/amelcharolinesgn2/CCNA-1-v7</a:t>
            </a:r>
            <a:endParaRPr lang="en-US" sz="378" dirty="0"/>
          </a:p>
        </p:txBody>
      </p:sp>
      <p:sp>
        <p:nvSpPr>
          <p:cNvPr id="33" name="Rectangle 32"/>
          <p:cNvSpPr/>
          <p:nvPr/>
        </p:nvSpPr>
        <p:spPr>
          <a:xfrm>
            <a:off x="7399424" y="4292280"/>
            <a:ext cx="1301349" cy="150490"/>
          </a:xfrm>
          <a:prstGeom prst="rect">
            <a:avLst/>
          </a:prstGeom>
        </p:spPr>
        <p:txBody>
          <a:bodyPr wrap="square">
            <a:spAutoFit/>
          </a:bodyPr>
          <a:lstStyle/>
          <a:p>
            <a:pPr algn="r"/>
            <a:r>
              <a:rPr lang="en-US" sz="378" dirty="0"/>
              <a:t>https://</a:t>
            </a:r>
            <a:r>
              <a:rPr lang="en-US" sz="378" dirty="0" smtClean="0"/>
              <a:t>github.com/amelcharolinesgn2/CCNA-2-v7</a:t>
            </a:r>
            <a:endParaRPr lang="en-US" sz="378" dirty="0"/>
          </a:p>
        </p:txBody>
      </p:sp>
      <p:sp>
        <p:nvSpPr>
          <p:cNvPr id="34" name="Rectangle 33"/>
          <p:cNvSpPr/>
          <p:nvPr/>
        </p:nvSpPr>
        <p:spPr>
          <a:xfrm>
            <a:off x="7400546" y="4548168"/>
            <a:ext cx="1301349" cy="208647"/>
          </a:xfrm>
          <a:prstGeom prst="rect">
            <a:avLst/>
          </a:prstGeom>
        </p:spPr>
        <p:txBody>
          <a:bodyPr wrap="square">
            <a:spAutoFit/>
          </a:bodyPr>
          <a:lstStyle/>
          <a:p>
            <a:pPr algn="r"/>
            <a:r>
              <a:rPr lang="en-US" sz="378" dirty="0">
                <a:hlinkClick r:id="rId8"/>
              </a:rPr>
              <a:t>https://github.com/amelcharolinesgn2/AWS</a:t>
            </a:r>
            <a:r>
              <a:rPr lang="en-US" sz="378" dirty="0"/>
              <a:t> Certificate</a:t>
            </a:r>
          </a:p>
        </p:txBody>
      </p:sp>
      <p:sp>
        <p:nvSpPr>
          <p:cNvPr id="35" name="Rectangle 34"/>
          <p:cNvSpPr/>
          <p:nvPr/>
        </p:nvSpPr>
        <p:spPr>
          <a:xfrm>
            <a:off x="7400546" y="4606325"/>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github.com/amelcharolinesgn2/OpenStack</a:t>
            </a:r>
            <a:endParaRPr lang="en-US" sz="378" dirty="0"/>
          </a:p>
        </p:txBody>
      </p:sp>
      <p:sp>
        <p:nvSpPr>
          <p:cNvPr id="36" name="Rectangle 35"/>
          <p:cNvSpPr/>
          <p:nvPr/>
        </p:nvSpPr>
        <p:spPr>
          <a:xfrm>
            <a:off x="7399985" y="4489639"/>
            <a:ext cx="1301349" cy="150490"/>
          </a:xfrm>
          <a:prstGeom prst="rect">
            <a:avLst/>
          </a:prstGeom>
        </p:spPr>
        <p:txBody>
          <a:bodyPr wrap="square">
            <a:spAutoFit/>
          </a:bodyPr>
          <a:lstStyle/>
          <a:p>
            <a:pPr algn="r"/>
            <a:r>
              <a:rPr lang="en-US" sz="378" dirty="0">
                <a:hlinkClick r:id="rId8"/>
              </a:rPr>
              <a:t>https://</a:t>
            </a:r>
            <a:r>
              <a:rPr lang="en-US" sz="378" dirty="0" smtClean="0">
                <a:hlinkClick r:id="rId8"/>
              </a:rPr>
              <a:t>github.com/amelcharolinesgn2/CloudSim</a:t>
            </a:r>
            <a:endParaRPr lang="en-US" sz="378" dirty="0"/>
          </a:p>
        </p:txBody>
      </p:sp>
      <p:sp>
        <p:nvSpPr>
          <p:cNvPr id="37" name="Rectangle 36"/>
          <p:cNvSpPr/>
          <p:nvPr/>
        </p:nvSpPr>
        <p:spPr>
          <a:xfrm>
            <a:off x="7398863" y="4352390"/>
            <a:ext cx="1301349" cy="150490"/>
          </a:xfrm>
          <a:prstGeom prst="rect">
            <a:avLst/>
          </a:prstGeom>
        </p:spPr>
        <p:txBody>
          <a:bodyPr wrap="square">
            <a:spAutoFit/>
          </a:bodyPr>
          <a:lstStyle/>
          <a:p>
            <a:pPr algn="r"/>
            <a:r>
              <a:rPr lang="en-US" sz="378" dirty="0"/>
              <a:t>https://</a:t>
            </a:r>
            <a:r>
              <a:rPr lang="en-US" sz="378" dirty="0" smtClean="0"/>
              <a:t>github.com/amelcharolinesgn2/CCNA-3-v7</a:t>
            </a:r>
            <a:endParaRPr lang="en-US" sz="378" dirty="0"/>
          </a:p>
        </p:txBody>
      </p:sp>
      <p:sp>
        <p:nvSpPr>
          <p:cNvPr id="38" name="Rectangle 37"/>
          <p:cNvSpPr/>
          <p:nvPr/>
        </p:nvSpPr>
        <p:spPr>
          <a:xfrm>
            <a:off x="7398863" y="4401324"/>
            <a:ext cx="1301349" cy="150490"/>
          </a:xfrm>
          <a:prstGeom prst="rect">
            <a:avLst/>
          </a:prstGeom>
        </p:spPr>
        <p:txBody>
          <a:bodyPr wrap="square">
            <a:spAutoFit/>
          </a:bodyPr>
          <a:lstStyle/>
          <a:p>
            <a:pPr algn="r"/>
            <a:r>
              <a:rPr lang="en-US" sz="378" dirty="0"/>
              <a:t>https://</a:t>
            </a:r>
            <a:r>
              <a:rPr lang="en-US" sz="378" dirty="0" smtClean="0"/>
              <a:t>github.com/amelcharolinesgn2/CCNA-4-v7</a:t>
            </a:r>
            <a:endParaRPr lang="en-US" sz="378" dirty="0"/>
          </a:p>
        </p:txBody>
      </p:sp>
      <p:sp>
        <p:nvSpPr>
          <p:cNvPr id="39" name="Rectangle 38"/>
          <p:cNvSpPr/>
          <p:nvPr/>
        </p:nvSpPr>
        <p:spPr>
          <a:xfrm>
            <a:off x="7282182" y="4449065"/>
            <a:ext cx="1408890" cy="150490"/>
          </a:xfrm>
          <a:prstGeom prst="rect">
            <a:avLst/>
          </a:prstGeom>
        </p:spPr>
        <p:txBody>
          <a:bodyPr wrap="square">
            <a:spAutoFit/>
          </a:bodyPr>
          <a:lstStyle/>
          <a:p>
            <a:pPr algn="r"/>
            <a:r>
              <a:rPr lang="en-US" sz="378" dirty="0"/>
              <a:t>https://</a:t>
            </a:r>
            <a:r>
              <a:rPr lang="en-US" sz="378" dirty="0" smtClean="0"/>
              <a:t>github.com/amelcharolinesgn2/ANJAR_CCNP_Lab</a:t>
            </a:r>
            <a:endParaRPr lang="en-US" sz="378" dirty="0"/>
          </a:p>
        </p:txBody>
      </p:sp>
    </p:spTree>
    <p:extLst>
      <p:ext uri="{BB962C8B-B14F-4D97-AF65-F5344CB8AC3E}">
        <p14:creationId xmlns:p14="http://schemas.microsoft.com/office/powerpoint/2010/main" val="286422430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3"/>
          <a:stretch>
            <a:fillRect/>
          </a:stretch>
        </p:blipFill>
        <p:spPr>
          <a:xfrm>
            <a:off x="159361" y="80533"/>
            <a:ext cx="3790339" cy="4960573"/>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2</a:t>
            </a:fld>
            <a:endParaRPr lang="en-US" dirty="0"/>
          </a:p>
        </p:txBody>
      </p:sp>
      <p:pic>
        <p:nvPicPr>
          <p:cNvPr id="26626" name="Picture 2" descr="https://d1.awsstatic.com/what-is-aws/AWS-Types-of-Cloud-Computing_Infrastructure-as-a-Service.c2e061a42b68ec6d969880fb8768bcb8e5cc2e69.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7950" y="-210101"/>
            <a:ext cx="2628900" cy="1295401"/>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p:cNvSpPr/>
          <p:nvPr/>
        </p:nvSpPr>
        <p:spPr>
          <a:xfrm>
            <a:off x="7395591" y="812244"/>
            <a:ext cx="569387" cy="369332"/>
          </a:xfrm>
          <a:prstGeom prst="rect">
            <a:avLst/>
          </a:prstGeom>
        </p:spPr>
        <p:txBody>
          <a:bodyPr wrap="none">
            <a:spAutoFit/>
          </a:bodyPr>
          <a:lstStyle/>
          <a:p>
            <a:r>
              <a:rPr lang="en-US" dirty="0">
                <a:solidFill>
                  <a:srgbClr val="0642EA"/>
                </a:solidFill>
              </a:rPr>
              <a:t>IaaS</a:t>
            </a:r>
          </a:p>
        </p:txBody>
      </p:sp>
      <p:sp>
        <p:nvSpPr>
          <p:cNvPr id="8" name="Rectangle 7"/>
          <p:cNvSpPr/>
          <p:nvPr/>
        </p:nvSpPr>
        <p:spPr>
          <a:xfrm>
            <a:off x="7688172" y="3700113"/>
            <a:ext cx="617477" cy="369332"/>
          </a:xfrm>
          <a:prstGeom prst="rect">
            <a:avLst/>
          </a:prstGeom>
        </p:spPr>
        <p:txBody>
          <a:bodyPr wrap="none">
            <a:spAutoFit/>
          </a:bodyPr>
          <a:lstStyle/>
          <a:p>
            <a:r>
              <a:rPr lang="en-US" dirty="0" smtClean="0">
                <a:solidFill>
                  <a:srgbClr val="0642EA"/>
                </a:solidFill>
              </a:rPr>
              <a:t>SaaS</a:t>
            </a:r>
            <a:endParaRPr lang="en-US" dirty="0">
              <a:solidFill>
                <a:srgbClr val="0642EA"/>
              </a:solidFill>
            </a:endParaRPr>
          </a:p>
        </p:txBody>
      </p:sp>
      <p:pic>
        <p:nvPicPr>
          <p:cNvPr id="26628" name="Picture 4" descr="https://belajarlinux.id/content/images/wordpress/2020/10/saas.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15100" y="996910"/>
            <a:ext cx="2628900" cy="1295401"/>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7680285" y="2199978"/>
            <a:ext cx="625364" cy="369332"/>
          </a:xfrm>
          <a:prstGeom prst="rect">
            <a:avLst/>
          </a:prstGeom>
        </p:spPr>
        <p:txBody>
          <a:bodyPr wrap="none">
            <a:spAutoFit/>
          </a:bodyPr>
          <a:lstStyle/>
          <a:p>
            <a:r>
              <a:rPr lang="en-US" dirty="0" smtClean="0">
                <a:solidFill>
                  <a:srgbClr val="0642EA"/>
                </a:solidFill>
              </a:rPr>
              <a:t>PaaS</a:t>
            </a:r>
            <a:endParaRPr lang="en-US" dirty="0">
              <a:solidFill>
                <a:srgbClr val="0642EA"/>
              </a:solidFill>
            </a:endParaRPr>
          </a:p>
        </p:txBody>
      </p:sp>
      <p:pic>
        <p:nvPicPr>
          <p:cNvPr id="26630" name="Picture 6" descr="https://belajarlinux.id/content/images/wordpress/2020/10/saas-1.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82461" y="2589378"/>
            <a:ext cx="2628900" cy="129540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p:cNvPicPr>
            <a:picLocks noChangeAspect="1"/>
          </p:cNvPicPr>
          <p:nvPr/>
        </p:nvPicPr>
        <p:blipFill>
          <a:blip r:embed="rId7"/>
          <a:stretch>
            <a:fillRect/>
          </a:stretch>
        </p:blipFill>
        <p:spPr>
          <a:xfrm>
            <a:off x="4050393" y="3475776"/>
            <a:ext cx="3172075" cy="1412139"/>
          </a:xfrm>
          <a:prstGeom prst="rect">
            <a:avLst/>
          </a:prstGeom>
        </p:spPr>
      </p:pic>
    </p:spTree>
    <p:extLst>
      <p:ext uri="{BB962C8B-B14F-4D97-AF65-F5344CB8AC3E}">
        <p14:creationId xmlns:p14="http://schemas.microsoft.com/office/powerpoint/2010/main" val="44694957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solidFill>
                  <a:srgbClr val="002060"/>
                </a:solidFill>
              </a:rPr>
              <a:t>Arsitektur</a:t>
            </a:r>
            <a:r>
              <a:rPr lang="en-US" b="1" dirty="0">
                <a:solidFill>
                  <a:srgbClr val="002060"/>
                </a:solidFill>
              </a:rPr>
              <a:t> </a:t>
            </a:r>
            <a:r>
              <a:rPr lang="en-US" b="1" dirty="0" err="1">
                <a:solidFill>
                  <a:srgbClr val="002060"/>
                </a:solidFill>
              </a:rPr>
              <a:t>Openstack</a:t>
            </a:r>
            <a:endParaRPr lang="en-US" b="1" dirty="0">
              <a:solidFill>
                <a:srgbClr val="00206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3</a:t>
            </a:fld>
            <a:endParaRPr lang="en-US" dirty="0"/>
          </a:p>
        </p:txBody>
      </p:sp>
      <p:pic>
        <p:nvPicPr>
          <p:cNvPr id="5" name="Picture 4"/>
          <p:cNvPicPr>
            <a:picLocks noChangeAspect="1"/>
          </p:cNvPicPr>
          <p:nvPr/>
        </p:nvPicPr>
        <p:blipFill>
          <a:blip r:embed="rId3"/>
          <a:stretch>
            <a:fillRect/>
          </a:stretch>
        </p:blipFill>
        <p:spPr>
          <a:xfrm>
            <a:off x="763764" y="1094508"/>
            <a:ext cx="2793554" cy="2544474"/>
          </a:xfrm>
          <a:prstGeom prst="rect">
            <a:avLst/>
          </a:prstGeom>
        </p:spPr>
      </p:pic>
      <p:pic>
        <p:nvPicPr>
          <p:cNvPr id="6" name="Picture 5"/>
          <p:cNvPicPr>
            <a:picLocks noChangeAspect="1"/>
          </p:cNvPicPr>
          <p:nvPr/>
        </p:nvPicPr>
        <p:blipFill>
          <a:blip r:embed="rId4"/>
          <a:stretch>
            <a:fillRect/>
          </a:stretch>
        </p:blipFill>
        <p:spPr>
          <a:xfrm>
            <a:off x="3903357" y="1268016"/>
            <a:ext cx="4747107" cy="3151584"/>
          </a:xfrm>
          <a:prstGeom prst="rect">
            <a:avLst/>
          </a:prstGeom>
        </p:spPr>
      </p:pic>
    </p:spTree>
    <p:extLst>
      <p:ext uri="{BB962C8B-B14F-4D97-AF65-F5344CB8AC3E}">
        <p14:creationId xmlns:p14="http://schemas.microsoft.com/office/powerpoint/2010/main" val="58217616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7595" y="273844"/>
            <a:ext cx="3915641" cy="391174"/>
          </a:xfrm>
        </p:spPr>
        <p:txBody>
          <a:bodyPr>
            <a:normAutofit fontScale="90000"/>
          </a:bodyPr>
          <a:lstStyle/>
          <a:p>
            <a:r>
              <a:rPr lang="en-US" dirty="0" err="1">
                <a:solidFill>
                  <a:srgbClr val="002060"/>
                </a:solidFill>
              </a:rPr>
              <a:t>Openstack</a:t>
            </a:r>
            <a:r>
              <a:rPr lang="en-US" dirty="0">
                <a:solidFill>
                  <a:srgbClr val="002060"/>
                </a:solidFill>
              </a:rPr>
              <a:t> Services</a:t>
            </a:r>
          </a:p>
        </p:txBody>
      </p:sp>
      <p:sp>
        <p:nvSpPr>
          <p:cNvPr id="4" name="Slide Number Placeholder 3"/>
          <p:cNvSpPr>
            <a:spLocks noGrp="1"/>
          </p:cNvSpPr>
          <p:nvPr>
            <p:ph type="sldNum" sz="quarter" idx="12"/>
          </p:nvPr>
        </p:nvSpPr>
        <p:spPr/>
        <p:txBody>
          <a:bodyPr/>
          <a:lstStyle/>
          <a:p>
            <a:fld id="{6D22F896-40B5-4ADD-8801-0D06FADFA095}" type="slidenum">
              <a:rPr lang="en-US" smtClean="0"/>
              <a:t>4</a:t>
            </a:fld>
            <a:endParaRPr lang="en-US" dirty="0"/>
          </a:p>
        </p:txBody>
      </p:sp>
      <p:sp>
        <p:nvSpPr>
          <p:cNvPr id="5" name="Rectangle 4"/>
          <p:cNvSpPr/>
          <p:nvPr/>
        </p:nvSpPr>
        <p:spPr>
          <a:xfrm>
            <a:off x="157595" y="665018"/>
            <a:ext cx="3777095" cy="7848302"/>
          </a:xfrm>
          <a:prstGeom prst="rect">
            <a:avLst/>
          </a:prstGeom>
        </p:spPr>
        <p:txBody>
          <a:bodyPr wrap="square">
            <a:spAutoFit/>
          </a:bodyPr>
          <a:lstStyle/>
          <a:p>
            <a:pPr algn="just"/>
            <a:r>
              <a:rPr lang="en-US" sz="1400" dirty="0" err="1"/>
              <a:t>Kolla</a:t>
            </a:r>
            <a:r>
              <a:rPr lang="en-US" sz="1400" dirty="0"/>
              <a:t> </a:t>
            </a:r>
            <a:r>
              <a:rPr lang="en-US" sz="1400" dirty="0" err="1"/>
              <a:t>Ansible</a:t>
            </a:r>
            <a:r>
              <a:rPr lang="en-US" sz="1400" dirty="0"/>
              <a:t> </a:t>
            </a:r>
            <a:r>
              <a:rPr lang="en-US" sz="1400" dirty="0" err="1"/>
              <a:t>melakukan</a:t>
            </a:r>
            <a:r>
              <a:rPr lang="en-US" sz="1400" dirty="0"/>
              <a:t> deploy container </a:t>
            </a:r>
            <a:r>
              <a:rPr lang="en-US" sz="1400" dirty="0" err="1"/>
              <a:t>untuk</a:t>
            </a:r>
            <a:r>
              <a:rPr lang="en-US" sz="1400" dirty="0"/>
              <a:t> project </a:t>
            </a:r>
            <a:r>
              <a:rPr lang="en-US" sz="1400" dirty="0" err="1"/>
              <a:t>Openstack</a:t>
            </a:r>
            <a:r>
              <a:rPr lang="en-US" sz="1400" dirty="0"/>
              <a:t> </a:t>
            </a:r>
            <a:r>
              <a:rPr lang="en-US" sz="1400" dirty="0" err="1"/>
              <a:t>berikut</a:t>
            </a:r>
            <a:r>
              <a:rPr lang="en-US" sz="1400" dirty="0"/>
              <a:t>:</a:t>
            </a:r>
          </a:p>
          <a:p>
            <a:endParaRPr lang="en-US" sz="1200" dirty="0"/>
          </a:p>
          <a:p>
            <a:r>
              <a:rPr lang="en-US" sz="1200" dirty="0" err="1"/>
              <a:t>Aodh</a:t>
            </a:r>
            <a:endParaRPr lang="en-US" sz="1200" dirty="0"/>
          </a:p>
          <a:p>
            <a:r>
              <a:rPr lang="en-US" sz="1200" dirty="0"/>
              <a:t>Barbican</a:t>
            </a:r>
          </a:p>
          <a:p>
            <a:r>
              <a:rPr lang="en-US" sz="1200" dirty="0" err="1"/>
              <a:t>Bifrost</a:t>
            </a:r>
            <a:endParaRPr lang="en-US" sz="1200" dirty="0"/>
          </a:p>
          <a:p>
            <a:r>
              <a:rPr lang="en-US" sz="1200" dirty="0"/>
              <a:t>Blazar</a:t>
            </a:r>
          </a:p>
          <a:p>
            <a:r>
              <a:rPr lang="en-US" sz="1200" dirty="0"/>
              <a:t>Ceilometer</a:t>
            </a:r>
          </a:p>
          <a:p>
            <a:r>
              <a:rPr lang="en-US" sz="1200" dirty="0"/>
              <a:t>Cinder</a:t>
            </a:r>
          </a:p>
          <a:p>
            <a:r>
              <a:rPr lang="en-US" sz="1200" dirty="0" err="1"/>
              <a:t>CloudKitty</a:t>
            </a:r>
            <a:endParaRPr lang="en-US" sz="1200" dirty="0"/>
          </a:p>
          <a:p>
            <a:r>
              <a:rPr lang="en-US" sz="1200" dirty="0"/>
              <a:t>Congress</a:t>
            </a:r>
          </a:p>
          <a:p>
            <a:r>
              <a:rPr lang="en-US" sz="1200" dirty="0"/>
              <a:t>Designate</a:t>
            </a:r>
          </a:p>
          <a:p>
            <a:r>
              <a:rPr lang="en-US" sz="1200" dirty="0"/>
              <a:t>Freezer</a:t>
            </a:r>
          </a:p>
          <a:p>
            <a:r>
              <a:rPr lang="en-US" sz="1200" dirty="0"/>
              <a:t>Glance</a:t>
            </a:r>
          </a:p>
          <a:p>
            <a:r>
              <a:rPr lang="en-US" sz="1200" dirty="0"/>
              <a:t>Heat</a:t>
            </a:r>
          </a:p>
          <a:p>
            <a:r>
              <a:rPr lang="en-US" sz="1200" dirty="0"/>
              <a:t>Horizon</a:t>
            </a:r>
          </a:p>
          <a:p>
            <a:r>
              <a:rPr lang="en-US" sz="1200" dirty="0"/>
              <a:t>Ironic</a:t>
            </a:r>
          </a:p>
          <a:p>
            <a:r>
              <a:rPr lang="en-US" sz="1200" dirty="0" err="1"/>
              <a:t>Karbor</a:t>
            </a:r>
            <a:endParaRPr lang="en-US" sz="1200" dirty="0"/>
          </a:p>
          <a:p>
            <a:r>
              <a:rPr lang="en-US" sz="1200" dirty="0"/>
              <a:t>Keystone</a:t>
            </a:r>
          </a:p>
          <a:p>
            <a:r>
              <a:rPr lang="en-US" sz="1200" dirty="0" err="1"/>
              <a:t>Kuryr</a:t>
            </a:r>
            <a:endParaRPr lang="en-US" sz="1200" dirty="0"/>
          </a:p>
          <a:p>
            <a:r>
              <a:rPr lang="en-US" sz="1200" dirty="0"/>
              <a:t>Magnum</a:t>
            </a:r>
          </a:p>
          <a:p>
            <a:r>
              <a:rPr lang="en-US" sz="1200" dirty="0"/>
              <a:t>Manila</a:t>
            </a:r>
          </a:p>
          <a:p>
            <a:r>
              <a:rPr lang="en-US" sz="1200" dirty="0"/>
              <a:t>Mistral</a:t>
            </a:r>
          </a:p>
          <a:p>
            <a:r>
              <a:rPr lang="en-US" sz="1200" dirty="0"/>
              <a:t>Murano</a:t>
            </a:r>
          </a:p>
          <a:p>
            <a:r>
              <a:rPr lang="en-US" sz="1200" dirty="0"/>
              <a:t>Neutron</a:t>
            </a:r>
          </a:p>
          <a:p>
            <a:r>
              <a:rPr lang="en-US" sz="1200" dirty="0"/>
              <a:t>Nova</a:t>
            </a:r>
          </a:p>
          <a:p>
            <a:r>
              <a:rPr lang="en-US" sz="1200" dirty="0"/>
              <a:t>Octavia</a:t>
            </a:r>
          </a:p>
          <a:p>
            <a:r>
              <a:rPr lang="en-US" sz="1200" dirty="0"/>
              <a:t>Panko</a:t>
            </a:r>
          </a:p>
          <a:p>
            <a:r>
              <a:rPr lang="en-US" sz="1200" dirty="0"/>
              <a:t>Rally</a:t>
            </a:r>
          </a:p>
          <a:p>
            <a:r>
              <a:rPr lang="en-US" sz="1200" dirty="0"/>
              <a:t>Sahara</a:t>
            </a:r>
          </a:p>
          <a:p>
            <a:r>
              <a:rPr lang="en-US" sz="1200" dirty="0"/>
              <a:t>Searchlight</a:t>
            </a:r>
          </a:p>
          <a:p>
            <a:r>
              <a:rPr lang="en-US" sz="1200" dirty="0" err="1"/>
              <a:t>Senlin</a:t>
            </a:r>
            <a:endParaRPr lang="en-US" sz="1200" dirty="0"/>
          </a:p>
          <a:p>
            <a:r>
              <a:rPr lang="en-US" sz="1200" dirty="0" err="1"/>
              <a:t>Solum</a:t>
            </a:r>
            <a:endParaRPr lang="en-US" sz="1200" dirty="0"/>
          </a:p>
          <a:p>
            <a:r>
              <a:rPr lang="en-US" sz="1200" dirty="0"/>
              <a:t>Swift</a:t>
            </a:r>
          </a:p>
          <a:p>
            <a:r>
              <a:rPr lang="en-US" sz="1200" dirty="0"/>
              <a:t>Tacker</a:t>
            </a:r>
          </a:p>
          <a:p>
            <a:r>
              <a:rPr lang="en-US" sz="1200" dirty="0"/>
              <a:t>Tempest</a:t>
            </a:r>
          </a:p>
          <a:p>
            <a:r>
              <a:rPr lang="en-US" sz="1200" dirty="0"/>
              <a:t>Trove</a:t>
            </a:r>
          </a:p>
          <a:p>
            <a:r>
              <a:rPr lang="en-US" sz="1200" dirty="0" err="1"/>
              <a:t>Vitrage</a:t>
            </a:r>
            <a:endParaRPr lang="en-US" sz="1200" dirty="0"/>
          </a:p>
          <a:p>
            <a:r>
              <a:rPr lang="en-US" sz="1200" dirty="0" err="1"/>
              <a:t>Vmtp</a:t>
            </a:r>
            <a:endParaRPr lang="en-US" sz="1200" dirty="0"/>
          </a:p>
          <a:p>
            <a:r>
              <a:rPr lang="en-US" sz="1200" dirty="0"/>
              <a:t>Watcher</a:t>
            </a:r>
          </a:p>
          <a:p>
            <a:r>
              <a:rPr lang="en-US" sz="1200" dirty="0" err="1"/>
              <a:t>Zun</a:t>
            </a:r>
            <a:endParaRPr lang="en-US" sz="1200" dirty="0"/>
          </a:p>
        </p:txBody>
      </p:sp>
      <p:sp>
        <p:nvSpPr>
          <p:cNvPr id="6" name="Title 1"/>
          <p:cNvSpPr txBox="1">
            <a:spLocks/>
          </p:cNvSpPr>
          <p:nvPr/>
        </p:nvSpPr>
        <p:spPr>
          <a:xfrm>
            <a:off x="4401415" y="284452"/>
            <a:ext cx="3915641" cy="391174"/>
          </a:xfrm>
          <a:prstGeom prst="rect">
            <a:avLst/>
          </a:prstGeom>
        </p:spPr>
        <p:txBody>
          <a:bodyPr vert="horz" lIns="91440" tIns="45720" rIns="91440" bIns="45720" rtlCol="0" anchor="ctr">
            <a:normAutofit fontScale="82500" lnSpcReduction="20000"/>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b="1" dirty="0">
                <a:solidFill>
                  <a:srgbClr val="002060"/>
                </a:solidFill>
              </a:rPr>
              <a:t>Infrastructure components</a:t>
            </a:r>
          </a:p>
        </p:txBody>
      </p:sp>
      <p:sp>
        <p:nvSpPr>
          <p:cNvPr id="7" name="Rectangle 6"/>
          <p:cNvSpPr/>
          <p:nvPr/>
        </p:nvSpPr>
        <p:spPr>
          <a:xfrm>
            <a:off x="4401415" y="665018"/>
            <a:ext cx="4572000" cy="4678204"/>
          </a:xfrm>
          <a:prstGeom prst="rect">
            <a:avLst/>
          </a:prstGeom>
        </p:spPr>
        <p:txBody>
          <a:bodyPr>
            <a:spAutoFit/>
          </a:bodyPr>
          <a:lstStyle/>
          <a:p>
            <a:pPr algn="just"/>
            <a:r>
              <a:rPr lang="en-US" dirty="0" smtClean="0"/>
              <a:t>Service </a:t>
            </a:r>
            <a:r>
              <a:rPr lang="en-US" dirty="0" err="1"/>
              <a:t>Openstack</a:t>
            </a:r>
            <a:r>
              <a:rPr lang="en-US" dirty="0"/>
              <a:t> </a:t>
            </a:r>
            <a:r>
              <a:rPr lang="en-US" dirty="0" err="1"/>
              <a:t>berikut</a:t>
            </a:r>
            <a:r>
              <a:rPr lang="en-US" dirty="0"/>
              <a:t>:</a:t>
            </a:r>
          </a:p>
          <a:p>
            <a:pPr marL="285750" indent="-285750" algn="just">
              <a:buFont typeface="Wingdings" panose="05000000000000000000" pitchFamily="2" charset="2"/>
              <a:buChar char="ü"/>
            </a:pPr>
            <a:r>
              <a:rPr lang="en-US" sz="1400" dirty="0" err="1"/>
              <a:t>Ceph</a:t>
            </a:r>
            <a:r>
              <a:rPr lang="en-US" sz="1400" dirty="0"/>
              <a:t> implementation for Cinder, Glance and Nova.</a:t>
            </a:r>
          </a:p>
          <a:p>
            <a:pPr marL="285750" indent="-285750" algn="just">
              <a:buFont typeface="Wingdings" panose="05000000000000000000" pitchFamily="2" charset="2"/>
              <a:buChar char="ü"/>
            </a:pPr>
            <a:r>
              <a:rPr lang="en-US" sz="1400" dirty="0" err="1"/>
              <a:t>Collectd</a:t>
            </a:r>
            <a:r>
              <a:rPr lang="en-US" sz="1400" dirty="0"/>
              <a:t>, </a:t>
            </a:r>
            <a:r>
              <a:rPr lang="en-US" sz="1400" dirty="0" err="1"/>
              <a:t>Telegraf</a:t>
            </a:r>
            <a:r>
              <a:rPr lang="en-US" sz="1400" dirty="0"/>
              <a:t>, </a:t>
            </a:r>
            <a:r>
              <a:rPr lang="en-US" sz="1400" dirty="0" err="1"/>
              <a:t>InfluxDB</a:t>
            </a:r>
            <a:r>
              <a:rPr lang="en-US" sz="1400" dirty="0"/>
              <a:t>, Prometheus, and </a:t>
            </a:r>
            <a:r>
              <a:rPr lang="en-US" sz="1400" dirty="0" err="1"/>
              <a:t>Grafana</a:t>
            </a:r>
            <a:r>
              <a:rPr lang="en-US" sz="1400" dirty="0"/>
              <a:t> for performance monitoring.</a:t>
            </a:r>
          </a:p>
          <a:p>
            <a:pPr marL="285750" indent="-285750" algn="just">
              <a:buFont typeface="Wingdings" panose="05000000000000000000" pitchFamily="2" charset="2"/>
              <a:buChar char="ü"/>
            </a:pPr>
            <a:r>
              <a:rPr lang="en-US" sz="1400" dirty="0" err="1"/>
              <a:t>Elasticsearch</a:t>
            </a:r>
            <a:r>
              <a:rPr lang="en-US" sz="1400" dirty="0"/>
              <a:t> and </a:t>
            </a:r>
            <a:r>
              <a:rPr lang="en-US" sz="1400" dirty="0" err="1"/>
              <a:t>Kibana</a:t>
            </a:r>
            <a:r>
              <a:rPr lang="en-US" sz="1400" dirty="0"/>
              <a:t> to search, analyze, and visualize log messages.</a:t>
            </a:r>
          </a:p>
          <a:p>
            <a:pPr marL="285750" indent="-285750" algn="just">
              <a:buFont typeface="Wingdings" panose="05000000000000000000" pitchFamily="2" charset="2"/>
              <a:buChar char="ü"/>
            </a:pPr>
            <a:r>
              <a:rPr lang="en-US" sz="1400" dirty="0" err="1"/>
              <a:t>Etcd</a:t>
            </a:r>
            <a:r>
              <a:rPr lang="en-US" sz="1400" dirty="0"/>
              <a:t> a distributed reliable key-value store.</a:t>
            </a:r>
          </a:p>
          <a:p>
            <a:pPr marL="285750" indent="-285750" algn="just">
              <a:buFont typeface="Wingdings" panose="05000000000000000000" pitchFamily="2" charset="2"/>
              <a:buChar char="ü"/>
            </a:pPr>
            <a:r>
              <a:rPr lang="en-US" sz="1400" dirty="0" err="1"/>
              <a:t>Fluentd</a:t>
            </a:r>
            <a:r>
              <a:rPr lang="en-US" sz="1400" dirty="0"/>
              <a:t> as an open source data collector for unified logging layer.</a:t>
            </a:r>
          </a:p>
          <a:p>
            <a:pPr marL="285750" indent="-285750" algn="just">
              <a:buFont typeface="Wingdings" panose="05000000000000000000" pitchFamily="2" charset="2"/>
              <a:buChar char="ü"/>
            </a:pPr>
            <a:r>
              <a:rPr lang="en-US" sz="1400" dirty="0"/>
              <a:t>Gnocchi A time-series storage database.</a:t>
            </a:r>
          </a:p>
          <a:p>
            <a:pPr marL="285750" indent="-285750" algn="just">
              <a:buFont typeface="Wingdings" panose="05000000000000000000" pitchFamily="2" charset="2"/>
              <a:buChar char="ü"/>
            </a:pPr>
            <a:r>
              <a:rPr lang="en-US" sz="1400" dirty="0" err="1"/>
              <a:t>HAProxy</a:t>
            </a:r>
            <a:r>
              <a:rPr lang="en-US" sz="1400" dirty="0"/>
              <a:t> and </a:t>
            </a:r>
            <a:r>
              <a:rPr lang="en-US" sz="1400" dirty="0" err="1"/>
              <a:t>Keepalived</a:t>
            </a:r>
            <a:r>
              <a:rPr lang="en-US" sz="1400" dirty="0"/>
              <a:t> for high availability of services and their endpoints.</a:t>
            </a:r>
          </a:p>
          <a:p>
            <a:pPr marL="285750" indent="-285750" algn="just">
              <a:buFont typeface="Wingdings" panose="05000000000000000000" pitchFamily="2" charset="2"/>
              <a:buChar char="ü"/>
            </a:pPr>
            <a:r>
              <a:rPr lang="en-US" sz="1400" dirty="0" err="1"/>
              <a:t>MariaDB</a:t>
            </a:r>
            <a:r>
              <a:rPr lang="en-US" sz="1400" dirty="0"/>
              <a:t> and </a:t>
            </a:r>
            <a:r>
              <a:rPr lang="en-US" sz="1400" dirty="0" err="1"/>
              <a:t>Galera</a:t>
            </a:r>
            <a:r>
              <a:rPr lang="en-US" sz="1400" dirty="0"/>
              <a:t> Cluster for highly available MySQL databases.</a:t>
            </a:r>
          </a:p>
          <a:p>
            <a:pPr marL="285750" indent="-285750" algn="just">
              <a:buFont typeface="Wingdings" panose="05000000000000000000" pitchFamily="2" charset="2"/>
              <a:buChar char="ü"/>
            </a:pPr>
            <a:r>
              <a:rPr lang="en-US" sz="1400" dirty="0" err="1"/>
              <a:t>Memcached</a:t>
            </a:r>
            <a:r>
              <a:rPr lang="en-US" sz="1400" dirty="0"/>
              <a:t> a distributed memory object caching system.</a:t>
            </a:r>
          </a:p>
          <a:p>
            <a:pPr marL="285750" indent="-285750" algn="just">
              <a:buFont typeface="Wingdings" panose="05000000000000000000" pitchFamily="2" charset="2"/>
              <a:buChar char="ü"/>
            </a:pPr>
            <a:r>
              <a:rPr lang="en-US" sz="1400" dirty="0"/>
              <a:t>MongoDB as a database back end for Panko.</a:t>
            </a:r>
          </a:p>
          <a:p>
            <a:pPr marL="285750" indent="-285750" algn="just">
              <a:buFont typeface="Wingdings" panose="05000000000000000000" pitchFamily="2" charset="2"/>
              <a:buChar char="ü"/>
            </a:pPr>
            <a:r>
              <a:rPr lang="en-US" sz="1400" dirty="0"/>
              <a:t>Open </a:t>
            </a:r>
            <a:r>
              <a:rPr lang="en-US" sz="1400" dirty="0" err="1"/>
              <a:t>vSwitch</a:t>
            </a:r>
            <a:r>
              <a:rPr lang="en-US" sz="1400" dirty="0"/>
              <a:t> and </a:t>
            </a:r>
            <a:r>
              <a:rPr lang="en-US" sz="1400" dirty="0" err="1"/>
              <a:t>Linuxbridge</a:t>
            </a:r>
            <a:r>
              <a:rPr lang="en-US" sz="1400" dirty="0"/>
              <a:t> </a:t>
            </a:r>
            <a:r>
              <a:rPr lang="en-US" sz="1400" dirty="0" err="1"/>
              <a:t>backends</a:t>
            </a:r>
            <a:r>
              <a:rPr lang="en-US" sz="1400" dirty="0"/>
              <a:t> for Neutron.</a:t>
            </a:r>
          </a:p>
          <a:p>
            <a:pPr marL="285750" indent="-285750" algn="just">
              <a:buFont typeface="Wingdings" panose="05000000000000000000" pitchFamily="2" charset="2"/>
              <a:buChar char="ü"/>
            </a:pPr>
            <a:r>
              <a:rPr lang="en-US" sz="1400" dirty="0" err="1"/>
              <a:t>RabbitMQ</a:t>
            </a:r>
            <a:r>
              <a:rPr lang="en-US" sz="1400" dirty="0"/>
              <a:t> as a messaging backend for communication between services.</a:t>
            </a:r>
          </a:p>
          <a:p>
            <a:pPr marL="285750" indent="-285750" algn="just">
              <a:buFont typeface="Wingdings" panose="05000000000000000000" pitchFamily="2" charset="2"/>
              <a:buChar char="ü"/>
            </a:pPr>
            <a:r>
              <a:rPr lang="en-US" sz="1400" dirty="0" err="1"/>
              <a:t>Redis</a:t>
            </a:r>
            <a:r>
              <a:rPr lang="en-US" sz="1400" dirty="0"/>
              <a:t> an in-memory data structure store.</a:t>
            </a:r>
          </a:p>
        </p:txBody>
      </p:sp>
    </p:spTree>
    <p:extLst>
      <p:ext uri="{BB962C8B-B14F-4D97-AF65-F5344CB8AC3E}">
        <p14:creationId xmlns:p14="http://schemas.microsoft.com/office/powerpoint/2010/main" val="357605354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a:t>
            </a:fld>
            <a:endParaRPr lang="en-US" dirty="0"/>
          </a:p>
        </p:txBody>
      </p:sp>
      <p:sp>
        <p:nvSpPr>
          <p:cNvPr id="12" name="Rectangle 7"/>
          <p:cNvSpPr>
            <a:spLocks noChangeArrowheads="1"/>
          </p:cNvSpPr>
          <p:nvPr/>
        </p:nvSpPr>
        <p:spPr bwMode="auto">
          <a:xfrm>
            <a:off x="244186" y="295854"/>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400" b="1" i="0" u="none" strike="noStrike" cap="none" normalizeH="0" baseline="0" dirty="0" smtClean="0">
                <a:ln>
                  <a:noFill/>
                </a:ln>
                <a:solidFill>
                  <a:srgbClr val="404040"/>
                </a:solidFill>
                <a:effectLst/>
                <a:latin typeface="Helvetica" panose="020B0604020202020204" pitchFamily="34" charset="0"/>
              </a:rPr>
              <a:t>Oracle® OpenStack</a:t>
            </a:r>
            <a:endParaRPr kumimoji="0" lang="en-US" altLang="en-US" sz="600" b="0" i="0" u="none" strike="noStrike" cap="none" normalizeH="0" baseline="0" dirty="0" smtClean="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3078" name="Picture 6" descr="Oracle log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186" y="278607"/>
            <a:ext cx="2124075" cy="36195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p:cNvPicPr>
            <a:picLocks noChangeAspect="1"/>
          </p:cNvPicPr>
          <p:nvPr/>
        </p:nvPicPr>
        <p:blipFill>
          <a:blip r:embed="rId4"/>
          <a:stretch>
            <a:fillRect/>
          </a:stretch>
        </p:blipFill>
        <p:spPr>
          <a:xfrm>
            <a:off x="244186" y="800966"/>
            <a:ext cx="2826327" cy="1295400"/>
          </a:xfrm>
          <a:prstGeom prst="rect">
            <a:avLst/>
          </a:prstGeom>
        </p:spPr>
      </p:pic>
      <p:pic>
        <p:nvPicPr>
          <p:cNvPr id="15" name="Picture 14"/>
          <p:cNvPicPr>
            <a:picLocks noChangeAspect="1"/>
          </p:cNvPicPr>
          <p:nvPr/>
        </p:nvPicPr>
        <p:blipFill>
          <a:blip r:embed="rId5"/>
          <a:stretch>
            <a:fillRect/>
          </a:stretch>
        </p:blipFill>
        <p:spPr>
          <a:xfrm>
            <a:off x="426028" y="2256774"/>
            <a:ext cx="2857500" cy="1666875"/>
          </a:xfrm>
          <a:prstGeom prst="rect">
            <a:avLst/>
          </a:prstGeom>
        </p:spPr>
      </p:pic>
    </p:spTree>
    <p:extLst>
      <p:ext uri="{BB962C8B-B14F-4D97-AF65-F5344CB8AC3E}">
        <p14:creationId xmlns:p14="http://schemas.microsoft.com/office/powerpoint/2010/main" val="277575921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hlinkClick r:id="rId3"/>
              </a:rPr>
              <a:t>Kolla-Ansible</a:t>
            </a:r>
            <a:r>
              <a:rPr lang="ko-KR" altLang="en-US" dirty="0">
                <a:hlinkClick r:id="rId3"/>
              </a:rPr>
              <a:t>과 </a:t>
            </a:r>
            <a:r>
              <a:rPr lang="en-US" dirty="0">
                <a:hlinkClick r:id="rId3"/>
              </a:rPr>
              <a:t>OpenStack</a:t>
            </a:r>
            <a:r>
              <a:rPr lang="en-US" dirty="0"/>
              <a:t/>
            </a:r>
            <a:br>
              <a:rPr lang="en-US" dirty="0"/>
            </a:b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6</a:t>
            </a:fld>
            <a:endParaRPr lang="en-US" dirty="0"/>
          </a:p>
        </p:txBody>
      </p:sp>
      <p:pic>
        <p:nvPicPr>
          <p:cNvPr id="5" name="Picture 4"/>
          <p:cNvPicPr>
            <a:picLocks noChangeAspect="1"/>
          </p:cNvPicPr>
          <p:nvPr/>
        </p:nvPicPr>
        <p:blipFill>
          <a:blip r:embed="rId4"/>
          <a:stretch>
            <a:fillRect/>
          </a:stretch>
        </p:blipFill>
        <p:spPr>
          <a:xfrm>
            <a:off x="-1" y="770930"/>
            <a:ext cx="4667539" cy="2721570"/>
          </a:xfrm>
          <a:prstGeom prst="rect">
            <a:avLst/>
          </a:prstGeom>
        </p:spPr>
      </p:pic>
      <p:pic>
        <p:nvPicPr>
          <p:cNvPr id="6" name="Picture 5"/>
          <p:cNvPicPr>
            <a:picLocks noChangeAspect="1"/>
          </p:cNvPicPr>
          <p:nvPr/>
        </p:nvPicPr>
        <p:blipFill>
          <a:blip r:embed="rId5"/>
          <a:stretch>
            <a:fillRect/>
          </a:stretch>
        </p:blipFill>
        <p:spPr>
          <a:xfrm>
            <a:off x="244186" y="3136214"/>
            <a:ext cx="2602923" cy="1767971"/>
          </a:xfrm>
          <a:prstGeom prst="rect">
            <a:avLst/>
          </a:prstGeom>
        </p:spPr>
      </p:pic>
      <p:graphicFrame>
        <p:nvGraphicFramePr>
          <p:cNvPr id="7" name="Table 6"/>
          <p:cNvGraphicFramePr>
            <a:graphicFrameLocks noGrp="1"/>
          </p:cNvGraphicFramePr>
          <p:nvPr>
            <p:extLst>
              <p:ext uri="{D42A27DB-BD31-4B8C-83A1-F6EECF244321}">
                <p14:modId xmlns:p14="http://schemas.microsoft.com/office/powerpoint/2010/main" val="885862929"/>
              </p:ext>
            </p:extLst>
          </p:nvPr>
        </p:nvGraphicFramePr>
        <p:xfrm>
          <a:off x="3013363" y="3706989"/>
          <a:ext cx="5879297" cy="1214736"/>
        </p:xfrm>
        <a:graphic>
          <a:graphicData uri="http://schemas.openxmlformats.org/drawingml/2006/table">
            <a:tbl>
              <a:tblPr/>
              <a:tblGrid>
                <a:gridCol w="2876118">
                  <a:extLst>
                    <a:ext uri="{9D8B030D-6E8A-4147-A177-3AD203B41FA5}">
                      <a16:colId xmlns:a16="http://schemas.microsoft.com/office/drawing/2014/main" val="3787651418"/>
                    </a:ext>
                  </a:extLst>
                </a:gridCol>
                <a:gridCol w="1467811">
                  <a:extLst>
                    <a:ext uri="{9D8B030D-6E8A-4147-A177-3AD203B41FA5}">
                      <a16:colId xmlns:a16="http://schemas.microsoft.com/office/drawing/2014/main" val="2982184033"/>
                    </a:ext>
                  </a:extLst>
                </a:gridCol>
                <a:gridCol w="495883">
                  <a:extLst>
                    <a:ext uri="{9D8B030D-6E8A-4147-A177-3AD203B41FA5}">
                      <a16:colId xmlns:a16="http://schemas.microsoft.com/office/drawing/2014/main" val="3616096304"/>
                    </a:ext>
                  </a:extLst>
                </a:gridCol>
                <a:gridCol w="466130">
                  <a:extLst>
                    <a:ext uri="{9D8B030D-6E8A-4147-A177-3AD203B41FA5}">
                      <a16:colId xmlns:a16="http://schemas.microsoft.com/office/drawing/2014/main" val="2844053129"/>
                    </a:ext>
                  </a:extLst>
                </a:gridCol>
                <a:gridCol w="573355">
                  <a:extLst>
                    <a:ext uri="{9D8B030D-6E8A-4147-A177-3AD203B41FA5}">
                      <a16:colId xmlns:a16="http://schemas.microsoft.com/office/drawing/2014/main" val="1693015973"/>
                    </a:ext>
                  </a:extLst>
                </a:gridCol>
              </a:tblGrid>
              <a:tr h="162016">
                <a:tc>
                  <a:txBody>
                    <a:bodyPr/>
                    <a:lstStyle/>
                    <a:p>
                      <a:r>
                        <a:rPr lang="en-US" sz="900">
                          <a:effectLst/>
                        </a:rPr>
                        <a:t>Node/Hostname</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Management/Floating IP</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DISK</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RAM</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CPU</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extLst>
                  <a:ext uri="{0D108BD9-81ED-4DB2-BD59-A6C34878D82A}">
                    <a16:rowId xmlns:a16="http://schemas.microsoft.com/office/drawing/2014/main" val="143776538"/>
                  </a:ext>
                </a:extLst>
              </a:tr>
              <a:tr h="257788">
                <a:tc>
                  <a:txBody>
                    <a:bodyPr/>
                    <a:lstStyle/>
                    <a:p>
                      <a:r>
                        <a:rPr lang="en-US" sz="900">
                          <a:effectLst/>
                        </a:rPr>
                        <a:t>controller01</a:t>
                      </a:r>
                      <a:br>
                        <a:rPr lang="en-US" sz="900">
                          <a:effectLst/>
                        </a:rPr>
                      </a:br>
                      <a:r>
                        <a:rPr lang="en-US" sz="900" b="1">
                          <a:effectLst/>
                        </a:rPr>
                        <a:t>Also acts as Kolla-ansible deployment node</a:t>
                      </a:r>
                      <a:endParaRPr lang="en-US" sz="900">
                        <a:effectLst/>
                      </a:endParaRP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Mgt: 192.168.200.100/24</a:t>
                      </a:r>
                      <a:br>
                        <a:rPr lang="en-US" sz="900">
                          <a:effectLst/>
                        </a:rPr>
                      </a:br>
                      <a:r>
                        <a:rPr lang="en-US" sz="900">
                          <a:effectLst/>
                        </a:rPr>
                        <a:t>Floating: 10.100.0.100/24</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100G</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8G</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2 cores</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extLst>
                  <a:ext uri="{0D108BD9-81ED-4DB2-BD59-A6C34878D82A}">
                    <a16:rowId xmlns:a16="http://schemas.microsoft.com/office/drawing/2014/main" val="290942108"/>
                  </a:ext>
                </a:extLst>
              </a:tr>
              <a:tr h="293518">
                <a:tc>
                  <a:txBody>
                    <a:bodyPr/>
                    <a:lstStyle/>
                    <a:p>
                      <a:r>
                        <a:rPr lang="en-US" sz="900">
                          <a:effectLst/>
                        </a:rPr>
                        <a:t>compute01</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Mgt: 192.168.200.120/24</a:t>
                      </a:r>
                      <a:br>
                        <a:rPr lang="en-US" sz="900">
                          <a:effectLst/>
                        </a:rPr>
                      </a:br>
                      <a:r>
                        <a:rPr lang="en-US" sz="900">
                          <a:effectLst/>
                        </a:rPr>
                        <a:t>Floating: 10.100.0.110/24</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100G</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8G</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2 cores</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extLst>
                  <a:ext uri="{0D108BD9-81ED-4DB2-BD59-A6C34878D82A}">
                    <a16:rowId xmlns:a16="http://schemas.microsoft.com/office/drawing/2014/main" val="4187088935"/>
                  </a:ext>
                </a:extLst>
              </a:tr>
              <a:tr h="293518">
                <a:tc>
                  <a:txBody>
                    <a:bodyPr/>
                    <a:lstStyle/>
                    <a:p>
                      <a:r>
                        <a:rPr lang="en-US" sz="900">
                          <a:effectLst/>
                        </a:rPr>
                        <a:t>strorage01 (</a:t>
                      </a:r>
                      <a:r>
                        <a:rPr lang="en-US" sz="900" i="1">
                          <a:effectLst/>
                        </a:rPr>
                        <a:t>provides NFS share for image storage</a:t>
                      </a:r>
                      <a:r>
                        <a:rPr lang="en-US" sz="900">
                          <a:effectLst/>
                        </a:rPr>
                        <a:t> </a:t>
                      </a:r>
                      <a:r>
                        <a:rPr lang="en-US" sz="900" i="1">
                          <a:effectLst/>
                        </a:rPr>
                        <a:t>and cinder block storage</a:t>
                      </a:r>
                      <a:r>
                        <a:rPr lang="en-US" sz="900">
                          <a:effectLst/>
                        </a:rPr>
                        <a:t>)</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192.168.200.110/24</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250G</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a:effectLst/>
                        </a:rPr>
                        <a:t>8G</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tc>
                  <a:txBody>
                    <a:bodyPr/>
                    <a:lstStyle/>
                    <a:p>
                      <a:r>
                        <a:rPr lang="en-US" sz="900" dirty="0">
                          <a:effectLst/>
                        </a:rPr>
                        <a:t>2 cores</a:t>
                      </a:r>
                    </a:p>
                  </a:txBody>
                  <a:tcPr marL="63655" marR="63655" marT="31827" marB="31827" anchor="ctr">
                    <a:lnL w="9525" cap="flat" cmpd="sng" algn="ctr">
                      <a:solidFill>
                        <a:srgbClr val="A80916"/>
                      </a:solidFill>
                      <a:prstDash val="solid"/>
                      <a:round/>
                      <a:headEnd type="none" w="med" len="med"/>
                      <a:tailEnd type="none" w="med" len="med"/>
                    </a:lnL>
                    <a:lnR w="9525" cap="flat" cmpd="sng" algn="ctr">
                      <a:solidFill>
                        <a:srgbClr val="A80916"/>
                      </a:solidFill>
                      <a:prstDash val="solid"/>
                      <a:round/>
                      <a:headEnd type="none" w="med" len="med"/>
                      <a:tailEnd type="none" w="med" len="med"/>
                    </a:lnR>
                    <a:lnT w="9525" cap="flat" cmpd="sng" algn="ctr">
                      <a:solidFill>
                        <a:srgbClr val="A80916"/>
                      </a:solidFill>
                      <a:prstDash val="solid"/>
                      <a:round/>
                      <a:headEnd type="none" w="med" len="med"/>
                      <a:tailEnd type="none" w="med" len="med"/>
                    </a:lnT>
                    <a:lnB w="9525" cap="flat" cmpd="sng" algn="ctr">
                      <a:solidFill>
                        <a:srgbClr val="A80916"/>
                      </a:solidFill>
                      <a:prstDash val="solid"/>
                      <a:round/>
                      <a:headEnd type="none" w="med" len="med"/>
                      <a:tailEnd type="none" w="med" len="med"/>
                    </a:lnB>
                    <a:solidFill>
                      <a:srgbClr val="FFFFFF"/>
                    </a:solidFill>
                  </a:tcPr>
                </a:tc>
                <a:extLst>
                  <a:ext uri="{0D108BD9-81ED-4DB2-BD59-A6C34878D82A}">
                    <a16:rowId xmlns:a16="http://schemas.microsoft.com/office/drawing/2014/main" val="1027711572"/>
                  </a:ext>
                </a:extLst>
              </a:tr>
            </a:tbl>
          </a:graphicData>
        </a:graphic>
      </p:graphicFrame>
    </p:spTree>
    <p:extLst>
      <p:ext uri="{BB962C8B-B14F-4D97-AF65-F5344CB8AC3E}">
        <p14:creationId xmlns:p14="http://schemas.microsoft.com/office/powerpoint/2010/main" val="305261635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75264" y="165336"/>
            <a:ext cx="6044045" cy="280338"/>
          </a:xfrm>
        </p:spPr>
        <p:txBody>
          <a:bodyPr>
            <a:normAutofit fontScale="90000"/>
          </a:bodyPr>
          <a:lstStyle/>
          <a:p>
            <a:r>
              <a:rPr lang="en-US" b="1" dirty="0" smtClean="0"/>
              <a:t>Lab: </a:t>
            </a:r>
            <a:r>
              <a:rPr lang="en-US" b="1" dirty="0" err="1" smtClean="0"/>
              <a:t>Kolla</a:t>
            </a:r>
            <a:r>
              <a:rPr lang="en-US" b="1" dirty="0" smtClean="0"/>
              <a:t> </a:t>
            </a:r>
            <a:r>
              <a:rPr lang="en-US" b="1" dirty="0" err="1"/>
              <a:t>Ansible</a:t>
            </a:r>
            <a:r>
              <a:rPr lang="en-US" b="1" dirty="0"/>
              <a:t> All in One </a:t>
            </a:r>
            <a:r>
              <a:rPr lang="en-US" b="1" dirty="0" err="1"/>
              <a:t>Openstack</a:t>
            </a:r>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7</a:t>
            </a:fld>
            <a:endParaRPr lang="en-US" dirty="0"/>
          </a:p>
        </p:txBody>
      </p:sp>
      <p:sp>
        <p:nvSpPr>
          <p:cNvPr id="5" name="Rectangle 4"/>
          <p:cNvSpPr/>
          <p:nvPr/>
        </p:nvSpPr>
        <p:spPr>
          <a:xfrm>
            <a:off x="5250873" y="1112927"/>
            <a:ext cx="3768436" cy="2246769"/>
          </a:xfrm>
          <a:prstGeom prst="rect">
            <a:avLst/>
          </a:prstGeom>
        </p:spPr>
        <p:txBody>
          <a:bodyPr wrap="square">
            <a:spAutoFit/>
          </a:bodyPr>
          <a:lstStyle/>
          <a:p>
            <a:r>
              <a:rPr lang="en-US" sz="1400" b="1" dirty="0" smtClean="0">
                <a:solidFill>
                  <a:srgbClr val="002060"/>
                </a:solidFill>
              </a:rPr>
              <a:t>Requirement</a:t>
            </a:r>
          </a:p>
          <a:p>
            <a:endParaRPr lang="en-US" sz="1400" b="1" dirty="0">
              <a:solidFill>
                <a:srgbClr val="002060"/>
              </a:solidFill>
            </a:endParaRPr>
          </a:p>
          <a:p>
            <a:pPr algn="just"/>
            <a:r>
              <a:rPr lang="en-US" sz="1400" dirty="0"/>
              <a:t>Kali </a:t>
            </a:r>
            <a:r>
              <a:rPr lang="en-US" sz="1400" dirty="0" err="1"/>
              <a:t>ini</a:t>
            </a:r>
            <a:r>
              <a:rPr lang="en-US" sz="1400" dirty="0"/>
              <a:t> kami </a:t>
            </a:r>
            <a:r>
              <a:rPr lang="en-US" sz="1400" dirty="0" err="1"/>
              <a:t>akan</a:t>
            </a:r>
            <a:r>
              <a:rPr lang="en-US" sz="1400" dirty="0"/>
              <a:t> </a:t>
            </a:r>
            <a:r>
              <a:rPr lang="en-US" sz="1400" dirty="0" err="1"/>
              <a:t>menggunakan</a:t>
            </a:r>
            <a:r>
              <a:rPr lang="en-US" sz="1400" dirty="0"/>
              <a:t> </a:t>
            </a:r>
            <a:r>
              <a:rPr lang="en-US" sz="1400" dirty="0" err="1"/>
              <a:t>spesifikasi</a:t>
            </a:r>
            <a:r>
              <a:rPr lang="en-US" sz="1400" dirty="0"/>
              <a:t> </a:t>
            </a:r>
            <a:r>
              <a:rPr lang="en-US" sz="1400" dirty="0" err="1"/>
              <a:t>mesin</a:t>
            </a:r>
            <a:r>
              <a:rPr lang="en-US" sz="1400" dirty="0"/>
              <a:t> </a:t>
            </a:r>
            <a:r>
              <a:rPr lang="en-US" sz="1400" dirty="0" err="1"/>
              <a:t>dan</a:t>
            </a:r>
            <a:r>
              <a:rPr lang="en-US" sz="1400" dirty="0"/>
              <a:t> </a:t>
            </a:r>
            <a:r>
              <a:rPr lang="en-US" sz="1400" dirty="0" err="1"/>
              <a:t>os</a:t>
            </a:r>
            <a:r>
              <a:rPr lang="en-US" sz="1400" dirty="0"/>
              <a:t> </a:t>
            </a:r>
            <a:r>
              <a:rPr lang="en-US" sz="1400" dirty="0" err="1"/>
              <a:t>seperti</a:t>
            </a:r>
            <a:r>
              <a:rPr lang="en-US" sz="1400" dirty="0"/>
              <a:t> </a:t>
            </a:r>
            <a:r>
              <a:rPr lang="en-US" sz="1400" dirty="0" err="1"/>
              <a:t>berikut</a:t>
            </a:r>
            <a:r>
              <a:rPr lang="en-US" sz="1400" dirty="0"/>
              <a:t>, </a:t>
            </a:r>
            <a:r>
              <a:rPr lang="en-US" sz="1400" dirty="0" err="1"/>
              <a:t>silakan</a:t>
            </a:r>
            <a:r>
              <a:rPr lang="en-US" sz="1400" dirty="0"/>
              <a:t> </a:t>
            </a:r>
            <a:r>
              <a:rPr lang="en-US" sz="1400" dirty="0" err="1"/>
              <a:t>dapat</a:t>
            </a:r>
            <a:r>
              <a:rPr lang="en-US" sz="1400" dirty="0"/>
              <a:t> </a:t>
            </a:r>
            <a:r>
              <a:rPr lang="en-US" sz="1400" dirty="0" err="1"/>
              <a:t>diikuti</a:t>
            </a:r>
            <a:r>
              <a:rPr lang="en-US" sz="1400" dirty="0"/>
              <a:t> </a:t>
            </a:r>
            <a:r>
              <a:rPr lang="en-US" sz="1400" dirty="0" err="1"/>
              <a:t>atau</a:t>
            </a:r>
            <a:r>
              <a:rPr lang="en-US" sz="1400" dirty="0"/>
              <a:t> </a:t>
            </a:r>
            <a:r>
              <a:rPr lang="en-US" sz="1400" dirty="0" err="1"/>
              <a:t>dapat</a:t>
            </a:r>
            <a:r>
              <a:rPr lang="en-US" sz="1400" dirty="0"/>
              <a:t> </a:t>
            </a:r>
            <a:r>
              <a:rPr lang="en-US" sz="1400" dirty="0" err="1"/>
              <a:t>disesuaikan</a:t>
            </a:r>
            <a:r>
              <a:rPr lang="en-US" sz="1400" dirty="0"/>
              <a:t> </a:t>
            </a:r>
            <a:r>
              <a:rPr lang="en-US" sz="1400" dirty="0" err="1"/>
              <a:t>dengan</a:t>
            </a:r>
            <a:r>
              <a:rPr lang="en-US" sz="1400" dirty="0"/>
              <a:t> </a:t>
            </a:r>
            <a:r>
              <a:rPr lang="en-US" sz="1400" dirty="0" err="1"/>
              <a:t>kebutuhan</a:t>
            </a:r>
            <a:r>
              <a:rPr lang="en-US" sz="1400" dirty="0"/>
              <a:t> </a:t>
            </a:r>
            <a:r>
              <a:rPr lang="en-US" sz="1400" dirty="0" err="1"/>
              <a:t>Anda</a:t>
            </a:r>
            <a:r>
              <a:rPr lang="en-US" sz="1400" dirty="0"/>
              <a:t>:</a:t>
            </a:r>
          </a:p>
          <a:p>
            <a:pPr marL="285750" indent="-285750">
              <a:buFont typeface="Wingdings" panose="05000000000000000000" pitchFamily="2" charset="2"/>
              <a:buChar char="ü"/>
            </a:pPr>
            <a:r>
              <a:rPr lang="en-US" sz="1400" dirty="0" smtClean="0"/>
              <a:t>8 </a:t>
            </a:r>
            <a:r>
              <a:rPr lang="en-US" sz="1400" dirty="0"/>
              <a:t>CPU</a:t>
            </a:r>
          </a:p>
          <a:p>
            <a:pPr marL="285750" indent="-285750">
              <a:buFont typeface="Wingdings" panose="05000000000000000000" pitchFamily="2" charset="2"/>
              <a:buChar char="ü"/>
            </a:pPr>
            <a:r>
              <a:rPr lang="en-US" sz="1400" dirty="0"/>
              <a:t>8 GB RAM</a:t>
            </a:r>
          </a:p>
          <a:p>
            <a:pPr marL="285750" indent="-285750">
              <a:buFont typeface="Wingdings" panose="05000000000000000000" pitchFamily="2" charset="2"/>
              <a:buChar char="ü"/>
            </a:pPr>
            <a:r>
              <a:rPr lang="en-US" sz="1400" dirty="0"/>
              <a:t>100 GB Disk</a:t>
            </a:r>
          </a:p>
          <a:p>
            <a:pPr marL="285750" indent="-285750">
              <a:buFont typeface="Wingdings" panose="05000000000000000000" pitchFamily="2" charset="2"/>
              <a:buChar char="ü"/>
            </a:pPr>
            <a:r>
              <a:rPr lang="en-US" sz="1400" dirty="0"/>
              <a:t>Ubuntu 20.04</a:t>
            </a:r>
          </a:p>
          <a:p>
            <a:pPr marL="285750" indent="-285750">
              <a:buFont typeface="Wingdings" panose="05000000000000000000" pitchFamily="2" charset="2"/>
              <a:buChar char="ü"/>
            </a:pPr>
            <a:r>
              <a:rPr lang="en-US" sz="1400" dirty="0"/>
              <a:t>2 Network Interface</a:t>
            </a:r>
          </a:p>
        </p:txBody>
      </p:sp>
      <p:pic>
        <p:nvPicPr>
          <p:cNvPr id="6" name="Picture 5"/>
          <p:cNvPicPr>
            <a:picLocks noChangeAspect="1"/>
          </p:cNvPicPr>
          <p:nvPr/>
        </p:nvPicPr>
        <p:blipFill rotWithShape="1">
          <a:blip r:embed="rId3"/>
          <a:srcRect b="13194"/>
          <a:stretch/>
        </p:blipFill>
        <p:spPr>
          <a:xfrm>
            <a:off x="355889" y="951836"/>
            <a:ext cx="4391025" cy="3356928"/>
          </a:xfrm>
          <a:prstGeom prst="rect">
            <a:avLst/>
          </a:prstGeom>
        </p:spPr>
      </p:pic>
      <p:sp>
        <p:nvSpPr>
          <p:cNvPr id="7" name="Rectangle 6"/>
          <p:cNvSpPr/>
          <p:nvPr/>
        </p:nvSpPr>
        <p:spPr>
          <a:xfrm>
            <a:off x="1981661" y="4308764"/>
            <a:ext cx="1472967" cy="646331"/>
          </a:xfrm>
          <a:prstGeom prst="rect">
            <a:avLst/>
          </a:prstGeom>
        </p:spPr>
        <p:txBody>
          <a:bodyPr wrap="none">
            <a:spAutoFit/>
          </a:bodyPr>
          <a:lstStyle/>
          <a:p>
            <a:r>
              <a:rPr lang="en-US" dirty="0" smtClean="0"/>
              <a:t>Ubuntu 20.04</a:t>
            </a:r>
          </a:p>
          <a:p>
            <a:r>
              <a:rPr lang="en-US" dirty="0" err="1" smtClean="0"/>
              <a:t>Openstack</a:t>
            </a:r>
            <a:endParaRPr lang="en-US" dirty="0"/>
          </a:p>
        </p:txBody>
      </p:sp>
    </p:spTree>
    <p:extLst>
      <p:ext uri="{BB962C8B-B14F-4D97-AF65-F5344CB8AC3E}">
        <p14:creationId xmlns:p14="http://schemas.microsoft.com/office/powerpoint/2010/main" val="29731091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8</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80109" y="535675"/>
            <a:ext cx="4197927" cy="4616648"/>
          </a:xfrm>
          <a:prstGeom prst="rect">
            <a:avLst/>
          </a:prstGeom>
          <a:solidFill>
            <a:schemeClr val="accent1">
              <a:lumMod val="40000"/>
              <a:lumOff val="60000"/>
            </a:schemeClr>
          </a:solidFill>
        </p:spPr>
        <p:txBody>
          <a:bodyPr wrap="square">
            <a:spAutoFit/>
          </a:bodyPr>
          <a:lstStyle/>
          <a:p>
            <a:r>
              <a:rPr lang="en-US" sz="1400" b="1" dirty="0" smtClean="0">
                <a:solidFill>
                  <a:srgbClr val="002060"/>
                </a:solidFill>
              </a:rPr>
              <a:t>2 NIC</a:t>
            </a:r>
          </a:p>
          <a:p>
            <a:endParaRPr lang="en-US" sz="1400" b="1" dirty="0">
              <a:solidFill>
                <a:srgbClr val="002060"/>
              </a:solidFill>
            </a:endParaRPr>
          </a:p>
          <a:p>
            <a:pPr algn="just"/>
            <a:r>
              <a:rPr lang="en-US" sz="1400" dirty="0" err="1" smtClean="0"/>
              <a:t>Membutuhkan</a:t>
            </a:r>
            <a:r>
              <a:rPr lang="en-US" sz="1400" dirty="0" smtClean="0"/>
              <a:t> </a:t>
            </a:r>
            <a:r>
              <a:rPr lang="en-US" sz="1400" dirty="0"/>
              <a:t>minimal 2 network interface yang </a:t>
            </a:r>
            <a:r>
              <a:rPr lang="en-US" sz="1400" dirty="0" err="1"/>
              <a:t>nantinya</a:t>
            </a:r>
            <a:r>
              <a:rPr lang="en-US" sz="1400" dirty="0"/>
              <a:t> </a:t>
            </a:r>
            <a:r>
              <a:rPr lang="en-US" sz="1400" dirty="0" err="1"/>
              <a:t>akan</a:t>
            </a:r>
            <a:r>
              <a:rPr lang="en-US" sz="1400" dirty="0"/>
              <a:t> </a:t>
            </a:r>
            <a:r>
              <a:rPr lang="en-US" sz="1400" dirty="0" err="1"/>
              <a:t>digunakan</a:t>
            </a:r>
            <a:r>
              <a:rPr lang="en-US" sz="1400" dirty="0"/>
              <a:t> </a:t>
            </a:r>
            <a:r>
              <a:rPr lang="en-US" sz="1400" dirty="0" err="1"/>
              <a:t>sebagai</a:t>
            </a:r>
            <a:r>
              <a:rPr lang="en-US" sz="1400" dirty="0"/>
              <a:t>:</a:t>
            </a:r>
          </a:p>
          <a:p>
            <a:pPr algn="just"/>
            <a:endParaRPr lang="en-US" sz="1400" dirty="0"/>
          </a:p>
          <a:p>
            <a:pPr algn="just"/>
            <a:r>
              <a:rPr lang="en-US" sz="1400" b="1" dirty="0">
                <a:solidFill>
                  <a:srgbClr val="002060"/>
                </a:solidFill>
              </a:rPr>
              <a:t>1. Management Network</a:t>
            </a:r>
          </a:p>
          <a:p>
            <a:pPr algn="just"/>
            <a:endParaRPr lang="en-US" sz="1400" dirty="0"/>
          </a:p>
          <a:p>
            <a:pPr algn="just"/>
            <a:r>
              <a:rPr lang="en-US" sz="1400" dirty="0"/>
              <a:t>Interface: ens224 IP: 10.65.65.2/24 VIP: 10.65.65.254/24 </a:t>
            </a:r>
            <a:r>
              <a:rPr lang="en-US" sz="1400" dirty="0" err="1"/>
              <a:t>Gw</a:t>
            </a:r>
            <a:r>
              <a:rPr lang="en-US" sz="1400" dirty="0"/>
              <a:t>; 10.65.65.1/24</a:t>
            </a:r>
          </a:p>
          <a:p>
            <a:pPr algn="just"/>
            <a:endParaRPr lang="en-US" sz="1400" dirty="0"/>
          </a:p>
          <a:p>
            <a:pPr algn="just"/>
            <a:r>
              <a:rPr lang="en-US" sz="1400" b="1" dirty="0">
                <a:solidFill>
                  <a:srgbClr val="002060"/>
                </a:solidFill>
              </a:rPr>
              <a:t>2. External Network</a:t>
            </a:r>
          </a:p>
          <a:p>
            <a:pPr algn="just"/>
            <a:endParaRPr lang="en-US" sz="1400" dirty="0"/>
          </a:p>
          <a:p>
            <a:pPr algn="just"/>
            <a:r>
              <a:rPr lang="en-US" sz="1400" dirty="0"/>
              <a:t>Interface: ens192 IP: </a:t>
            </a:r>
            <a:r>
              <a:rPr lang="en-US" sz="1400" dirty="0" err="1"/>
              <a:t>kosongkan</a:t>
            </a:r>
            <a:r>
              <a:rPr lang="en-US" sz="1400" dirty="0"/>
              <a:t> Bridge: 10.25.25.1/24</a:t>
            </a:r>
          </a:p>
          <a:p>
            <a:pPr algn="just"/>
            <a:endParaRPr lang="en-US" sz="1400" dirty="0"/>
          </a:p>
          <a:p>
            <a:pPr algn="just"/>
            <a:r>
              <a:rPr lang="en-US" sz="1400" dirty="0"/>
              <a:t>Management Network </a:t>
            </a:r>
            <a:r>
              <a:rPr lang="en-US" sz="1400" dirty="0" err="1"/>
              <a:t>digunakan</a:t>
            </a:r>
            <a:r>
              <a:rPr lang="en-US" sz="1400" dirty="0"/>
              <a:t> </a:t>
            </a:r>
            <a:r>
              <a:rPr lang="en-US" sz="1400" dirty="0" err="1"/>
              <a:t>sebagai</a:t>
            </a:r>
            <a:r>
              <a:rPr lang="en-US" sz="1400" dirty="0"/>
              <a:t> media </a:t>
            </a:r>
            <a:r>
              <a:rPr lang="en-US" sz="1400" dirty="0" err="1"/>
              <a:t>komunikasi</a:t>
            </a:r>
            <a:r>
              <a:rPr lang="en-US" sz="1400" dirty="0"/>
              <a:t> </a:t>
            </a:r>
            <a:r>
              <a:rPr lang="en-US" sz="1400" dirty="0" err="1"/>
              <a:t>antar</a:t>
            </a:r>
            <a:r>
              <a:rPr lang="en-US" sz="1400" dirty="0"/>
              <a:t> service yang </a:t>
            </a:r>
            <a:r>
              <a:rPr lang="en-US" sz="1400" dirty="0" err="1"/>
              <a:t>menjalankan</a:t>
            </a:r>
            <a:r>
              <a:rPr lang="en-US" sz="1400" dirty="0"/>
              <a:t> </a:t>
            </a:r>
            <a:r>
              <a:rPr lang="en-US" sz="1400" dirty="0" err="1"/>
              <a:t>openstack</a:t>
            </a:r>
            <a:r>
              <a:rPr lang="en-US" sz="1400" dirty="0"/>
              <a:t>, </a:t>
            </a:r>
            <a:r>
              <a:rPr lang="en-US" sz="1400" dirty="0" err="1"/>
              <a:t>sedangkan</a:t>
            </a:r>
            <a:r>
              <a:rPr lang="en-US" sz="1400" dirty="0"/>
              <a:t> External Network </a:t>
            </a:r>
            <a:r>
              <a:rPr lang="en-US" sz="1400" dirty="0" err="1"/>
              <a:t>digunakan</a:t>
            </a:r>
            <a:r>
              <a:rPr lang="en-US" sz="1400" dirty="0"/>
              <a:t> service neutron </a:t>
            </a:r>
            <a:r>
              <a:rPr lang="en-US" sz="1400" dirty="0" err="1"/>
              <a:t>untuk</a:t>
            </a:r>
            <a:r>
              <a:rPr lang="en-US" sz="1400" dirty="0"/>
              <a:t> </a:t>
            </a:r>
            <a:r>
              <a:rPr lang="en-US" sz="1400" dirty="0" err="1"/>
              <a:t>berkomunikasi</a:t>
            </a:r>
            <a:r>
              <a:rPr lang="en-US" sz="1400" dirty="0"/>
              <a:t> </a:t>
            </a:r>
            <a:r>
              <a:rPr lang="en-US" sz="1400" dirty="0" err="1"/>
              <a:t>antara</a:t>
            </a:r>
            <a:r>
              <a:rPr lang="en-US" sz="1400" dirty="0"/>
              <a:t> network internal (private) </a:t>
            </a:r>
            <a:r>
              <a:rPr lang="en-US" sz="1400" dirty="0" err="1"/>
              <a:t>pada</a:t>
            </a:r>
            <a:r>
              <a:rPr lang="en-US" sz="1400" dirty="0"/>
              <a:t> instances </a:t>
            </a:r>
            <a:r>
              <a:rPr lang="en-US" sz="1400" dirty="0" err="1"/>
              <a:t>dan</a:t>
            </a:r>
            <a:r>
              <a:rPr lang="en-US" sz="1400" dirty="0"/>
              <a:t> host (internet/</a:t>
            </a:r>
            <a:r>
              <a:rPr lang="en-US" sz="1400" dirty="0" err="1"/>
              <a:t>publik</a:t>
            </a:r>
            <a:r>
              <a:rPr lang="en-US" sz="1400" dirty="0"/>
              <a:t>), </a:t>
            </a:r>
            <a:r>
              <a:rPr lang="en-US" sz="1400" dirty="0" err="1"/>
              <a:t>untuk</a:t>
            </a:r>
            <a:r>
              <a:rPr lang="en-US" sz="1400" dirty="0"/>
              <a:t> interface </a:t>
            </a:r>
            <a:r>
              <a:rPr lang="en-US" sz="1400" dirty="0" err="1"/>
              <a:t>ini</a:t>
            </a:r>
            <a:r>
              <a:rPr lang="en-US" sz="1400" dirty="0"/>
              <a:t> </a:t>
            </a:r>
            <a:r>
              <a:rPr lang="en-US" sz="1400" dirty="0" err="1"/>
              <a:t>diharuskan</a:t>
            </a:r>
            <a:r>
              <a:rPr lang="en-US" sz="1400" dirty="0"/>
              <a:t> </a:t>
            </a:r>
            <a:r>
              <a:rPr lang="en-US" sz="1400" dirty="0" err="1"/>
              <a:t>berstatus</a:t>
            </a:r>
            <a:r>
              <a:rPr lang="en-US" sz="1400" dirty="0"/>
              <a:t> </a:t>
            </a:r>
            <a:r>
              <a:rPr lang="en-US" sz="1400" dirty="0" err="1"/>
              <a:t>aktif</a:t>
            </a:r>
            <a:r>
              <a:rPr lang="en-US" sz="1400" dirty="0"/>
              <a:t> (up) </a:t>
            </a:r>
            <a:r>
              <a:rPr lang="en-US" sz="1400" dirty="0" err="1"/>
              <a:t>dan</a:t>
            </a:r>
            <a:r>
              <a:rPr lang="en-US" sz="1400" dirty="0"/>
              <a:t> </a:t>
            </a:r>
            <a:r>
              <a:rPr lang="en-US" sz="1400" dirty="0" err="1"/>
              <a:t>tidak</a:t>
            </a:r>
            <a:r>
              <a:rPr lang="en-US" sz="1400" dirty="0"/>
              <a:t> </a:t>
            </a:r>
            <a:r>
              <a:rPr lang="en-US" sz="1400" dirty="0" err="1"/>
              <a:t>dialokasikan</a:t>
            </a:r>
            <a:r>
              <a:rPr lang="en-US" sz="1400" dirty="0"/>
              <a:t> IP </a:t>
            </a:r>
            <a:r>
              <a:rPr lang="en-US" sz="1400" dirty="0" err="1"/>
              <a:t>pada</a:t>
            </a:r>
            <a:r>
              <a:rPr lang="en-US" sz="1400" dirty="0"/>
              <a:t> </a:t>
            </a:r>
            <a:r>
              <a:rPr lang="en-US" sz="1400" dirty="0" err="1"/>
              <a:t>interfacenya</a:t>
            </a:r>
            <a:r>
              <a:rPr lang="en-US" sz="1400" dirty="0"/>
              <a:t>.</a:t>
            </a:r>
          </a:p>
        </p:txBody>
      </p:sp>
      <p:sp>
        <p:nvSpPr>
          <p:cNvPr id="8" name="Rectangle 7"/>
          <p:cNvSpPr/>
          <p:nvPr/>
        </p:nvSpPr>
        <p:spPr>
          <a:xfrm>
            <a:off x="4572000" y="535675"/>
            <a:ext cx="4405745" cy="4616648"/>
          </a:xfrm>
          <a:prstGeom prst="rect">
            <a:avLst/>
          </a:prstGeom>
          <a:solidFill>
            <a:schemeClr val="accent1">
              <a:lumMod val="20000"/>
              <a:lumOff val="80000"/>
            </a:schemeClr>
          </a:solidFill>
          <a:ln>
            <a:solidFill>
              <a:schemeClr val="bg1"/>
            </a:solidFill>
          </a:ln>
        </p:spPr>
        <p:txBody>
          <a:bodyPr wrap="square">
            <a:spAutoFit/>
          </a:bodyPr>
          <a:lstStyle/>
          <a:p>
            <a:r>
              <a:rPr lang="en-US" sz="1400" b="1" dirty="0" err="1" smtClean="0">
                <a:solidFill>
                  <a:srgbClr val="002060"/>
                </a:solidFill>
              </a:rPr>
              <a:t>Konfigurasi</a:t>
            </a:r>
            <a:r>
              <a:rPr lang="en-US" sz="1400" b="1" dirty="0" smtClean="0">
                <a:solidFill>
                  <a:srgbClr val="002060"/>
                </a:solidFill>
              </a:rPr>
              <a:t> Network</a:t>
            </a:r>
          </a:p>
          <a:p>
            <a:endParaRPr lang="en-US" sz="1400" b="1" dirty="0" smtClean="0">
              <a:solidFill>
                <a:srgbClr val="002060"/>
              </a:solidFill>
            </a:endParaRPr>
          </a:p>
          <a:p>
            <a:pPr algn="just"/>
            <a:r>
              <a:rPr lang="en-US" sz="1400" dirty="0" smtClean="0"/>
              <a:t>Saran…!!!!</a:t>
            </a:r>
          </a:p>
          <a:p>
            <a:pPr algn="just"/>
            <a:r>
              <a:rPr lang="en-US" sz="1400" dirty="0" err="1"/>
              <a:t>M</a:t>
            </a:r>
            <a:r>
              <a:rPr lang="en-US" sz="1400" dirty="0" err="1" smtClean="0"/>
              <a:t>enggunakan</a:t>
            </a:r>
            <a:r>
              <a:rPr lang="en-US" sz="1400" dirty="0" smtClean="0"/>
              <a:t> </a:t>
            </a:r>
            <a:r>
              <a:rPr lang="en-US" sz="1400" dirty="0" err="1"/>
              <a:t>ip</a:t>
            </a:r>
            <a:r>
              <a:rPr lang="en-US" sz="1400" dirty="0"/>
              <a:t> </a:t>
            </a:r>
            <a:r>
              <a:rPr lang="en-US" sz="1400" dirty="0" err="1"/>
              <a:t>statis</a:t>
            </a:r>
            <a:r>
              <a:rPr lang="en-US" sz="1400" dirty="0"/>
              <a:t> </a:t>
            </a:r>
            <a:r>
              <a:rPr lang="en-US" sz="1400" dirty="0" err="1"/>
              <a:t>pada</a:t>
            </a:r>
            <a:r>
              <a:rPr lang="en-US" sz="1400" dirty="0"/>
              <a:t> </a:t>
            </a:r>
            <a:r>
              <a:rPr lang="en-US" sz="1400" dirty="0" err="1"/>
              <a:t>setiap</a:t>
            </a:r>
            <a:r>
              <a:rPr lang="en-US" sz="1400" dirty="0"/>
              <a:t> interface </a:t>
            </a:r>
            <a:r>
              <a:rPr lang="en-US" sz="1400" dirty="0" err="1"/>
              <a:t>untuk</a:t>
            </a:r>
            <a:r>
              <a:rPr lang="en-US" sz="1400" dirty="0"/>
              <a:t> </a:t>
            </a:r>
            <a:r>
              <a:rPr lang="en-US" sz="1400" dirty="0" err="1"/>
              <a:t>menghindari</a:t>
            </a:r>
            <a:r>
              <a:rPr lang="en-US" sz="1400" dirty="0"/>
              <a:t> </a:t>
            </a:r>
            <a:r>
              <a:rPr lang="en-US" sz="1400" dirty="0" err="1"/>
              <a:t>perubahan</a:t>
            </a:r>
            <a:r>
              <a:rPr lang="en-US" sz="1400" dirty="0"/>
              <a:t> IP address / routing </a:t>
            </a:r>
            <a:r>
              <a:rPr lang="en-US" sz="1400" dirty="0" err="1"/>
              <a:t>pada</a:t>
            </a:r>
            <a:r>
              <a:rPr lang="en-US" sz="1400" dirty="0"/>
              <a:t> </a:t>
            </a:r>
            <a:r>
              <a:rPr lang="en-US" sz="1400" dirty="0" err="1"/>
              <a:t>saat</a:t>
            </a:r>
            <a:r>
              <a:rPr lang="en-US" sz="1400" dirty="0"/>
              <a:t> host restart.</a:t>
            </a:r>
          </a:p>
          <a:p>
            <a:pPr algn="just"/>
            <a:r>
              <a:rPr lang="en-US" sz="1400" dirty="0" smtClean="0"/>
              <a:t>Network </a:t>
            </a:r>
            <a:r>
              <a:rPr lang="en-US" sz="1400" dirty="0"/>
              <a:t>manager </a:t>
            </a:r>
            <a:r>
              <a:rPr lang="en-US" sz="1400" dirty="0" err="1"/>
              <a:t>saya</a:t>
            </a:r>
            <a:r>
              <a:rPr lang="en-US" sz="1400" dirty="0"/>
              <a:t> </a:t>
            </a:r>
            <a:r>
              <a:rPr lang="en-US" sz="1400" dirty="0" err="1"/>
              <a:t>menggunakan</a:t>
            </a:r>
            <a:r>
              <a:rPr lang="en-US" sz="1400" dirty="0"/>
              <a:t> </a:t>
            </a:r>
            <a:r>
              <a:rPr lang="en-US" sz="1400" dirty="0" err="1"/>
              <a:t>netplan</a:t>
            </a:r>
            <a:r>
              <a:rPr lang="en-US" sz="1400" dirty="0"/>
              <a:t>, </a:t>
            </a:r>
            <a:r>
              <a:rPr lang="en-US" sz="1400" dirty="0" err="1"/>
              <a:t>berikut</a:t>
            </a:r>
            <a:r>
              <a:rPr lang="en-US" sz="1400" dirty="0"/>
              <a:t> </a:t>
            </a:r>
            <a:r>
              <a:rPr lang="en-US" sz="1400" dirty="0" err="1"/>
              <a:t>adalah</a:t>
            </a:r>
            <a:r>
              <a:rPr lang="en-US" sz="1400" dirty="0"/>
              <a:t> </a:t>
            </a:r>
            <a:r>
              <a:rPr lang="en-US" sz="1400" dirty="0" err="1"/>
              <a:t>konfigurasi</a:t>
            </a:r>
            <a:r>
              <a:rPr lang="en-US" sz="1400" dirty="0"/>
              <a:t> </a:t>
            </a:r>
            <a:r>
              <a:rPr lang="en-US" sz="1400" dirty="0" err="1"/>
              <a:t>interfacenya</a:t>
            </a:r>
            <a:r>
              <a:rPr lang="en-US" sz="1400" dirty="0" smtClean="0"/>
              <a:t>:</a:t>
            </a:r>
          </a:p>
          <a:p>
            <a:pPr algn="just"/>
            <a:endParaRPr lang="en-US" sz="1400" dirty="0">
              <a:solidFill>
                <a:srgbClr val="0070C0"/>
              </a:solidFill>
            </a:endParaRPr>
          </a:p>
          <a:p>
            <a:pPr algn="just"/>
            <a:r>
              <a:rPr lang="en-US" sz="1200" dirty="0">
                <a:solidFill>
                  <a:srgbClr val="0070C0"/>
                </a:solidFill>
              </a:rPr>
              <a:t>vi /</a:t>
            </a:r>
            <a:r>
              <a:rPr lang="en-US" sz="1200" dirty="0" err="1">
                <a:solidFill>
                  <a:srgbClr val="0070C0"/>
                </a:solidFill>
              </a:rPr>
              <a:t>etc</a:t>
            </a:r>
            <a:r>
              <a:rPr lang="en-US" sz="1200" dirty="0">
                <a:solidFill>
                  <a:srgbClr val="0070C0"/>
                </a:solidFill>
              </a:rPr>
              <a:t>/</a:t>
            </a:r>
            <a:r>
              <a:rPr lang="en-US" sz="1200" dirty="0" err="1">
                <a:solidFill>
                  <a:srgbClr val="0070C0"/>
                </a:solidFill>
              </a:rPr>
              <a:t>netplan</a:t>
            </a:r>
            <a:r>
              <a:rPr lang="en-US" sz="1200" dirty="0">
                <a:solidFill>
                  <a:srgbClr val="0070C0"/>
                </a:solidFill>
              </a:rPr>
              <a:t>/01-iface.yaml</a:t>
            </a:r>
          </a:p>
          <a:p>
            <a:pPr algn="just"/>
            <a:r>
              <a:rPr lang="en-US" sz="1200" dirty="0">
                <a:solidFill>
                  <a:srgbClr val="0070C0"/>
                </a:solidFill>
              </a:rPr>
              <a:t>...</a:t>
            </a:r>
          </a:p>
          <a:p>
            <a:pPr algn="just"/>
            <a:r>
              <a:rPr lang="en-US" sz="1200" dirty="0">
                <a:solidFill>
                  <a:srgbClr val="0070C0"/>
                </a:solidFill>
              </a:rPr>
              <a:t># This is the network </a:t>
            </a:r>
            <a:r>
              <a:rPr lang="en-US" sz="1200" dirty="0" err="1">
                <a:solidFill>
                  <a:srgbClr val="0070C0"/>
                </a:solidFill>
              </a:rPr>
              <a:t>config</a:t>
            </a:r>
            <a:r>
              <a:rPr lang="en-US" sz="1200" dirty="0">
                <a:solidFill>
                  <a:srgbClr val="0070C0"/>
                </a:solidFill>
              </a:rPr>
              <a:t> written by '</a:t>
            </a:r>
            <a:r>
              <a:rPr lang="en-US" sz="1200" dirty="0" err="1">
                <a:solidFill>
                  <a:srgbClr val="0070C0"/>
                </a:solidFill>
              </a:rPr>
              <a:t>subiquity</a:t>
            </a:r>
            <a:r>
              <a:rPr lang="en-US" sz="1200" dirty="0">
                <a:solidFill>
                  <a:srgbClr val="0070C0"/>
                </a:solidFill>
              </a:rPr>
              <a:t>'</a:t>
            </a:r>
          </a:p>
          <a:p>
            <a:pPr algn="just"/>
            <a:r>
              <a:rPr lang="en-US" sz="1200" dirty="0">
                <a:solidFill>
                  <a:srgbClr val="0070C0"/>
                </a:solidFill>
              </a:rPr>
              <a:t>network:</a:t>
            </a:r>
          </a:p>
          <a:p>
            <a:pPr algn="just"/>
            <a:r>
              <a:rPr lang="en-US" sz="1200" dirty="0">
                <a:solidFill>
                  <a:srgbClr val="0070C0"/>
                </a:solidFill>
              </a:rPr>
              <a:t>  </a:t>
            </a:r>
            <a:r>
              <a:rPr lang="en-US" sz="1200" dirty="0" err="1">
                <a:solidFill>
                  <a:srgbClr val="0070C0"/>
                </a:solidFill>
              </a:rPr>
              <a:t>ethernets</a:t>
            </a:r>
            <a:r>
              <a:rPr lang="en-US" sz="1200" dirty="0">
                <a:solidFill>
                  <a:srgbClr val="0070C0"/>
                </a:solidFill>
              </a:rPr>
              <a:t>:</a:t>
            </a:r>
          </a:p>
          <a:p>
            <a:pPr algn="just"/>
            <a:r>
              <a:rPr lang="en-US" sz="1200" dirty="0">
                <a:solidFill>
                  <a:srgbClr val="0070C0"/>
                </a:solidFill>
              </a:rPr>
              <a:t>    ens224:</a:t>
            </a:r>
          </a:p>
          <a:p>
            <a:pPr algn="just"/>
            <a:r>
              <a:rPr lang="en-US" sz="1200" dirty="0">
                <a:solidFill>
                  <a:srgbClr val="0070C0"/>
                </a:solidFill>
              </a:rPr>
              <a:t>      dhcp4: false</a:t>
            </a:r>
          </a:p>
          <a:p>
            <a:pPr algn="just"/>
            <a:r>
              <a:rPr lang="en-US" sz="1200" dirty="0">
                <a:solidFill>
                  <a:srgbClr val="0070C0"/>
                </a:solidFill>
              </a:rPr>
              <a:t>      addresses: [10.65.65.2/24]</a:t>
            </a:r>
          </a:p>
          <a:p>
            <a:pPr algn="just"/>
            <a:r>
              <a:rPr lang="en-US" sz="1200" dirty="0">
                <a:solidFill>
                  <a:srgbClr val="0070C0"/>
                </a:solidFill>
              </a:rPr>
              <a:t>      </a:t>
            </a:r>
            <a:r>
              <a:rPr lang="en-US" sz="1200" dirty="0" err="1">
                <a:solidFill>
                  <a:srgbClr val="0070C0"/>
                </a:solidFill>
              </a:rPr>
              <a:t>nameservers</a:t>
            </a:r>
            <a:r>
              <a:rPr lang="en-US" sz="1200" dirty="0">
                <a:solidFill>
                  <a:srgbClr val="0070C0"/>
                </a:solidFill>
              </a:rPr>
              <a:t>:</a:t>
            </a:r>
          </a:p>
          <a:p>
            <a:pPr algn="just"/>
            <a:r>
              <a:rPr lang="en-US" sz="1200" dirty="0">
                <a:solidFill>
                  <a:srgbClr val="0070C0"/>
                </a:solidFill>
              </a:rPr>
              <a:t>         addresses: [1.1.1.1,1.0.0.1]</a:t>
            </a:r>
          </a:p>
          <a:p>
            <a:pPr algn="just"/>
            <a:r>
              <a:rPr lang="en-US" sz="1200" dirty="0">
                <a:solidFill>
                  <a:srgbClr val="0070C0"/>
                </a:solidFill>
              </a:rPr>
              <a:t>    ens192: {}</a:t>
            </a:r>
          </a:p>
          <a:p>
            <a:pPr algn="just"/>
            <a:r>
              <a:rPr lang="en-US" sz="1200" dirty="0">
                <a:solidFill>
                  <a:srgbClr val="0070C0"/>
                </a:solidFill>
              </a:rPr>
              <a:t>  version: 2</a:t>
            </a:r>
          </a:p>
          <a:p>
            <a:pPr algn="just"/>
            <a:r>
              <a:rPr lang="en-US" sz="1200" dirty="0">
                <a:solidFill>
                  <a:srgbClr val="0070C0"/>
                </a:solidFill>
              </a:rPr>
              <a:t>  ...</a:t>
            </a:r>
          </a:p>
          <a:p>
            <a:pPr algn="just"/>
            <a:r>
              <a:rPr lang="en-US" sz="1200" dirty="0">
                <a:solidFill>
                  <a:srgbClr val="0070C0"/>
                </a:solidFill>
              </a:rPr>
              <a:t>  </a:t>
            </a:r>
            <a:r>
              <a:rPr lang="en-US" sz="1200" dirty="0" smtClean="0">
                <a:solidFill>
                  <a:srgbClr val="0070C0"/>
                </a:solidFill>
              </a:rPr>
              <a:t>  </a:t>
            </a:r>
            <a:r>
              <a:rPr lang="en-US" sz="1200" dirty="0" err="1">
                <a:solidFill>
                  <a:srgbClr val="0070C0"/>
                </a:solidFill>
              </a:rPr>
              <a:t>netplan</a:t>
            </a:r>
            <a:r>
              <a:rPr lang="en-US" sz="1200" dirty="0">
                <a:solidFill>
                  <a:srgbClr val="0070C0"/>
                </a:solidFill>
              </a:rPr>
              <a:t> </a:t>
            </a:r>
            <a:r>
              <a:rPr lang="en-US" sz="1200" dirty="0" smtClean="0">
                <a:solidFill>
                  <a:srgbClr val="0070C0"/>
                </a:solidFill>
              </a:rPr>
              <a:t>apply</a:t>
            </a:r>
          </a:p>
        </p:txBody>
      </p:sp>
      <p:sp>
        <p:nvSpPr>
          <p:cNvPr id="9" name="Rectangle 8"/>
          <p:cNvSpPr/>
          <p:nvPr/>
        </p:nvSpPr>
        <p:spPr>
          <a:xfrm>
            <a:off x="4572000" y="2369127"/>
            <a:ext cx="3657600" cy="277437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14479762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9</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93963" y="654809"/>
            <a:ext cx="4156364" cy="4247317"/>
          </a:xfrm>
          <a:prstGeom prst="rect">
            <a:avLst/>
          </a:prstGeom>
        </p:spPr>
        <p:txBody>
          <a:bodyPr wrap="square">
            <a:spAutoFit/>
          </a:bodyPr>
          <a:lstStyle/>
          <a:p>
            <a:r>
              <a:rPr lang="en-US" b="1" dirty="0" err="1"/>
              <a:t>Instalasi</a:t>
            </a:r>
            <a:r>
              <a:rPr lang="en-US" b="1" dirty="0"/>
              <a:t> </a:t>
            </a:r>
            <a:r>
              <a:rPr lang="en-US" b="1" dirty="0" err="1"/>
              <a:t>dependensi</a:t>
            </a:r>
            <a:endParaRPr lang="en-US" b="1" dirty="0"/>
          </a:p>
          <a:p>
            <a:endParaRPr lang="en-US" sz="1400" b="1" dirty="0">
              <a:solidFill>
                <a:srgbClr val="002060"/>
              </a:solidFill>
            </a:endParaRPr>
          </a:p>
          <a:p>
            <a:pPr algn="just"/>
            <a:r>
              <a:rPr lang="en-US" sz="1400" dirty="0" err="1" smtClean="0"/>
              <a:t>Menggunakan</a:t>
            </a:r>
            <a:r>
              <a:rPr lang="en-US" sz="1400" dirty="0" smtClean="0"/>
              <a:t> </a:t>
            </a:r>
            <a:r>
              <a:rPr lang="en-US" sz="1400" dirty="0"/>
              <a:t>media virtual environment yang </a:t>
            </a:r>
            <a:r>
              <a:rPr lang="en-US" sz="1400" dirty="0" err="1"/>
              <a:t>disediakan</a:t>
            </a:r>
            <a:r>
              <a:rPr lang="en-US" sz="1400" dirty="0"/>
              <a:t> python, </a:t>
            </a:r>
            <a:r>
              <a:rPr lang="en-US" sz="1400" dirty="0" err="1"/>
              <a:t>adapun</a:t>
            </a:r>
            <a:r>
              <a:rPr lang="en-US" sz="1400" dirty="0"/>
              <a:t> </a:t>
            </a:r>
            <a:r>
              <a:rPr lang="en-US" sz="1400" dirty="0" err="1"/>
              <a:t>dependensi</a:t>
            </a:r>
            <a:r>
              <a:rPr lang="en-US" sz="1400" dirty="0"/>
              <a:t> yang </a:t>
            </a:r>
            <a:r>
              <a:rPr lang="en-US" sz="1400" dirty="0" err="1"/>
              <a:t>perlu</a:t>
            </a:r>
            <a:r>
              <a:rPr lang="en-US" sz="1400" dirty="0"/>
              <a:t> </a:t>
            </a:r>
            <a:r>
              <a:rPr lang="en-US" sz="1400" dirty="0" err="1"/>
              <a:t>diinstall</a:t>
            </a:r>
            <a:r>
              <a:rPr lang="en-US" sz="1400" dirty="0"/>
              <a:t> </a:t>
            </a:r>
            <a:r>
              <a:rPr lang="en-US" sz="1400" dirty="0" err="1"/>
              <a:t>adalah</a:t>
            </a:r>
            <a:r>
              <a:rPr lang="en-US" sz="1400" dirty="0"/>
              <a:t> </a:t>
            </a:r>
            <a:r>
              <a:rPr lang="en-US" sz="1400" dirty="0" err="1"/>
              <a:t>berikut</a:t>
            </a:r>
            <a:r>
              <a:rPr lang="en-US" sz="1400" dirty="0"/>
              <a:t>:</a:t>
            </a:r>
          </a:p>
          <a:p>
            <a:pPr algn="just"/>
            <a:endParaRPr lang="en-US" sz="1400" dirty="0"/>
          </a:p>
          <a:p>
            <a:pPr algn="just"/>
            <a:r>
              <a:rPr lang="en-US" sz="1400" b="1" dirty="0" err="1">
                <a:solidFill>
                  <a:srgbClr val="002060"/>
                </a:solidFill>
              </a:rPr>
              <a:t>root@administrator</a:t>
            </a:r>
            <a:r>
              <a:rPr lang="en-US" sz="1400" b="1" dirty="0">
                <a:solidFill>
                  <a:srgbClr val="002060"/>
                </a:solidFill>
              </a:rPr>
              <a:t>:/</a:t>
            </a:r>
            <a:r>
              <a:rPr lang="en-US" sz="1400" b="1" dirty="0" smtClean="0">
                <a:solidFill>
                  <a:srgbClr val="002060"/>
                </a:solidFill>
              </a:rPr>
              <a:t>home/panda/Deploy#</a:t>
            </a:r>
          </a:p>
          <a:p>
            <a:pPr algn="just"/>
            <a:endParaRPr lang="en-US" sz="1400" b="1" dirty="0">
              <a:solidFill>
                <a:srgbClr val="002060"/>
              </a:solidFill>
            </a:endParaRPr>
          </a:p>
          <a:p>
            <a:pPr algn="just"/>
            <a:r>
              <a:rPr lang="en-US" sz="1400" b="1" dirty="0" smtClean="0">
                <a:solidFill>
                  <a:srgbClr val="002060"/>
                </a:solidFill>
              </a:rPr>
              <a:t>Update </a:t>
            </a:r>
            <a:r>
              <a:rPr lang="en-US" sz="1400" b="1" dirty="0" err="1">
                <a:solidFill>
                  <a:srgbClr val="002060"/>
                </a:solidFill>
              </a:rPr>
              <a:t>paket</a:t>
            </a:r>
            <a:r>
              <a:rPr lang="en-US" sz="1400" b="1" dirty="0">
                <a:solidFill>
                  <a:srgbClr val="002060"/>
                </a:solidFill>
              </a:rPr>
              <a:t> </a:t>
            </a:r>
            <a:r>
              <a:rPr lang="en-US" sz="1400" b="1" dirty="0" smtClean="0">
                <a:solidFill>
                  <a:srgbClr val="002060"/>
                </a:solidFill>
              </a:rPr>
              <a:t>manager:</a:t>
            </a:r>
          </a:p>
          <a:p>
            <a:pPr algn="just"/>
            <a:r>
              <a:rPr lang="en-US" sz="1400" b="1" dirty="0" smtClean="0">
                <a:solidFill>
                  <a:srgbClr val="002060"/>
                </a:solidFill>
              </a:rPr>
              <a:t># </a:t>
            </a:r>
            <a:r>
              <a:rPr lang="en-US" sz="1400" b="1" dirty="0" err="1">
                <a:solidFill>
                  <a:srgbClr val="0070C0"/>
                </a:solidFill>
              </a:rPr>
              <a:t>sudo</a:t>
            </a:r>
            <a:r>
              <a:rPr lang="en-US" sz="1400" b="1" dirty="0">
                <a:solidFill>
                  <a:srgbClr val="0070C0"/>
                </a:solidFill>
              </a:rPr>
              <a:t> apt update</a:t>
            </a:r>
          </a:p>
          <a:p>
            <a:pPr algn="just"/>
            <a:r>
              <a:rPr lang="en-US" sz="1400" b="1" dirty="0">
                <a:solidFill>
                  <a:srgbClr val="002060"/>
                </a:solidFill>
              </a:rPr>
              <a:t>Install </a:t>
            </a:r>
            <a:r>
              <a:rPr lang="en-US" sz="1400" b="1" dirty="0" err="1">
                <a:solidFill>
                  <a:srgbClr val="002060"/>
                </a:solidFill>
              </a:rPr>
              <a:t>dependensi</a:t>
            </a:r>
            <a:r>
              <a:rPr lang="en-US" sz="1400" b="1" dirty="0">
                <a:solidFill>
                  <a:srgbClr val="002060"/>
                </a:solidFill>
              </a:rPr>
              <a:t> </a:t>
            </a:r>
            <a:r>
              <a:rPr lang="en-US" sz="1400" b="1" dirty="0" smtClean="0">
                <a:solidFill>
                  <a:srgbClr val="002060"/>
                </a:solidFill>
              </a:rPr>
              <a:t>python3-venv:</a:t>
            </a:r>
            <a:endParaRPr lang="en-US" sz="1400" b="1" dirty="0">
              <a:solidFill>
                <a:srgbClr val="002060"/>
              </a:solidFill>
            </a:endParaRPr>
          </a:p>
          <a:p>
            <a:pPr algn="just"/>
            <a:r>
              <a:rPr lang="en-US" sz="1400" b="1" dirty="0">
                <a:solidFill>
                  <a:srgbClr val="002060"/>
                </a:solidFill>
              </a:rPr>
              <a:t># </a:t>
            </a:r>
            <a:r>
              <a:rPr lang="en-US" sz="1400" b="1" dirty="0" err="1">
                <a:solidFill>
                  <a:srgbClr val="0070C0"/>
                </a:solidFill>
              </a:rPr>
              <a:t>sudo</a:t>
            </a:r>
            <a:r>
              <a:rPr lang="en-US" sz="1400" b="1" dirty="0">
                <a:solidFill>
                  <a:srgbClr val="0070C0"/>
                </a:solidFill>
              </a:rPr>
              <a:t> apt install </a:t>
            </a:r>
            <a:r>
              <a:rPr lang="en-US" sz="1400" b="1" dirty="0" smtClean="0">
                <a:solidFill>
                  <a:srgbClr val="0070C0"/>
                </a:solidFill>
              </a:rPr>
              <a:t>python3-venv</a:t>
            </a:r>
          </a:p>
          <a:p>
            <a:pPr algn="just"/>
            <a:endParaRPr lang="en-US" sz="1400" b="1" dirty="0" smtClean="0">
              <a:solidFill>
                <a:srgbClr val="0070C0"/>
              </a:solidFill>
            </a:endParaRPr>
          </a:p>
          <a:p>
            <a:pPr algn="just"/>
            <a:r>
              <a:rPr lang="en-US" sz="1400" dirty="0" err="1"/>
              <a:t>Buat</a:t>
            </a:r>
            <a:r>
              <a:rPr lang="en-US" sz="1400" dirty="0"/>
              <a:t> </a:t>
            </a:r>
            <a:r>
              <a:rPr lang="en-US" sz="1400" dirty="0" err="1"/>
              <a:t>sebuah</a:t>
            </a:r>
            <a:r>
              <a:rPr lang="en-US" sz="1400" dirty="0"/>
              <a:t> virtual environment </a:t>
            </a:r>
            <a:r>
              <a:rPr lang="en-US" sz="1400" dirty="0" err="1"/>
              <a:t>lalu</a:t>
            </a:r>
            <a:r>
              <a:rPr lang="en-US" sz="1400" dirty="0"/>
              <a:t> </a:t>
            </a:r>
            <a:r>
              <a:rPr lang="en-US" sz="1400" dirty="0" err="1"/>
              <a:t>aktifkan</a:t>
            </a:r>
            <a:r>
              <a:rPr lang="en-US" sz="1400" dirty="0"/>
              <a:t> </a:t>
            </a:r>
            <a:r>
              <a:rPr lang="en-US" sz="1400" dirty="0" err="1"/>
              <a:t>untuk</a:t>
            </a:r>
            <a:r>
              <a:rPr lang="en-US" sz="1400" dirty="0"/>
              <a:t> </a:t>
            </a:r>
            <a:r>
              <a:rPr lang="en-US" sz="1400" dirty="0" err="1"/>
              <a:t>mulai</a:t>
            </a:r>
            <a:r>
              <a:rPr lang="en-US" sz="1400" dirty="0"/>
              <a:t> </a:t>
            </a:r>
            <a:r>
              <a:rPr lang="en-US" sz="1400" dirty="0" err="1"/>
              <a:t>menggunakannya</a:t>
            </a:r>
            <a:r>
              <a:rPr lang="en-US" sz="1400" dirty="0"/>
              <a:t>:</a:t>
            </a:r>
          </a:p>
          <a:p>
            <a:pPr marL="285750" indent="-285750" algn="just">
              <a:buFont typeface="Arial" panose="020B0604020202020204" pitchFamily="34" charset="0"/>
              <a:buChar char="•"/>
            </a:pPr>
            <a:r>
              <a:rPr lang="en-US" sz="1400" dirty="0" err="1" smtClean="0"/>
              <a:t>Buat</a:t>
            </a:r>
            <a:r>
              <a:rPr lang="en-US" sz="1400" dirty="0" smtClean="0"/>
              <a:t> </a:t>
            </a:r>
            <a:r>
              <a:rPr lang="en-US" sz="1400" dirty="0"/>
              <a:t>folder </a:t>
            </a:r>
            <a:r>
              <a:rPr lang="en-US" sz="1400" dirty="0" err="1"/>
              <a:t>baru</a:t>
            </a:r>
            <a:r>
              <a:rPr lang="en-US" sz="1400" dirty="0"/>
              <a:t> </a:t>
            </a:r>
            <a:r>
              <a:rPr lang="en-US" sz="1400" dirty="0" err="1"/>
              <a:t>pada</a:t>
            </a:r>
            <a:r>
              <a:rPr lang="en-US" sz="1400" dirty="0"/>
              <a:t> </a:t>
            </a:r>
            <a:r>
              <a:rPr lang="en-US" sz="1400" dirty="0" err="1"/>
              <a:t>direktori</a:t>
            </a:r>
            <a:r>
              <a:rPr lang="en-US" sz="1400" dirty="0"/>
              <a:t> home </a:t>
            </a:r>
            <a:r>
              <a:rPr lang="en-US" sz="1400" b="1" i="1" dirty="0" smtClean="0">
                <a:solidFill>
                  <a:srgbClr val="002060"/>
                </a:solidFill>
              </a:rPr>
              <a:t>panda </a:t>
            </a:r>
            <a:r>
              <a:rPr lang="en-US" sz="1400" dirty="0" err="1"/>
              <a:t>denga</a:t>
            </a:r>
            <a:r>
              <a:rPr lang="en-US" sz="1400" dirty="0"/>
              <a:t> </a:t>
            </a:r>
            <a:r>
              <a:rPr lang="en-US" sz="1400" dirty="0" err="1"/>
              <a:t>nama</a:t>
            </a:r>
            <a:r>
              <a:rPr lang="en-US" sz="1400" dirty="0"/>
              <a:t> </a:t>
            </a:r>
            <a:r>
              <a:rPr lang="en-US" sz="1400" b="1" dirty="0" smtClean="0">
                <a:solidFill>
                  <a:srgbClr val="002060"/>
                </a:solidFill>
              </a:rPr>
              <a:t>Deploy</a:t>
            </a:r>
            <a:r>
              <a:rPr lang="en-US" sz="1400" dirty="0" smtClean="0"/>
              <a:t>, </a:t>
            </a:r>
            <a:r>
              <a:rPr lang="en-US" sz="1400" dirty="0" err="1"/>
              <a:t>bisa</a:t>
            </a:r>
            <a:r>
              <a:rPr lang="en-US" sz="1400" dirty="0"/>
              <a:t> </a:t>
            </a:r>
            <a:r>
              <a:rPr lang="en-US" sz="1400" dirty="0" err="1"/>
              <a:t>disesuaikan</a:t>
            </a:r>
            <a:r>
              <a:rPr lang="en-US" sz="1400" dirty="0"/>
              <a:t> </a:t>
            </a:r>
            <a:r>
              <a:rPr lang="en-US" sz="1400" dirty="0" err="1"/>
              <a:t>dengan</a:t>
            </a:r>
            <a:r>
              <a:rPr lang="en-US" sz="1400" dirty="0"/>
              <a:t> </a:t>
            </a:r>
            <a:r>
              <a:rPr lang="en-US" sz="1400" dirty="0" err="1" smtClean="0"/>
              <a:t>fungsinya</a:t>
            </a:r>
            <a:r>
              <a:rPr lang="en-US" sz="1400" dirty="0" smtClean="0"/>
              <a:t> :)</a:t>
            </a:r>
          </a:p>
          <a:p>
            <a:pPr marL="285750" indent="-285750" algn="just">
              <a:buFont typeface="Arial" panose="020B0604020202020204" pitchFamily="34" charset="0"/>
              <a:buChar char="•"/>
            </a:pPr>
            <a:r>
              <a:rPr lang="en-US" sz="1400" dirty="0" err="1" smtClean="0"/>
              <a:t>mengaktifkan</a:t>
            </a:r>
            <a:r>
              <a:rPr lang="en-US" sz="1400" dirty="0" smtClean="0"/>
              <a:t> </a:t>
            </a:r>
            <a:r>
              <a:rPr lang="en-US" sz="1400" dirty="0"/>
              <a:t>virtual environment </a:t>
            </a:r>
            <a:r>
              <a:rPr lang="en-US" sz="1400" dirty="0" err="1"/>
              <a:t>dahulu</a:t>
            </a:r>
            <a:r>
              <a:rPr lang="en-US" sz="1400" dirty="0"/>
              <a:t> </a:t>
            </a:r>
            <a:r>
              <a:rPr lang="en-US" sz="1400" dirty="0" err="1"/>
              <a:t>sebelum</a:t>
            </a:r>
            <a:r>
              <a:rPr lang="en-US" sz="1400" dirty="0"/>
              <a:t> </a:t>
            </a:r>
            <a:r>
              <a:rPr lang="en-US" sz="1400" dirty="0" err="1"/>
              <a:t>memulai</a:t>
            </a:r>
            <a:r>
              <a:rPr lang="en-US" sz="1400" dirty="0"/>
              <a:t> </a:t>
            </a:r>
            <a:r>
              <a:rPr lang="en-US" sz="1400" dirty="0" err="1"/>
              <a:t>menggunakan</a:t>
            </a:r>
            <a:r>
              <a:rPr lang="en-US" sz="1400" dirty="0"/>
              <a:t> </a:t>
            </a:r>
            <a:r>
              <a:rPr lang="en-US" sz="1400" dirty="0" err="1"/>
              <a:t>perintah</a:t>
            </a:r>
            <a:r>
              <a:rPr lang="en-US" sz="1400" dirty="0"/>
              <a:t> python</a:t>
            </a:r>
          </a:p>
        </p:txBody>
      </p:sp>
      <p:sp>
        <p:nvSpPr>
          <p:cNvPr id="7" name="Rectangle 6"/>
          <p:cNvSpPr/>
          <p:nvPr/>
        </p:nvSpPr>
        <p:spPr>
          <a:xfrm>
            <a:off x="4572000" y="535675"/>
            <a:ext cx="4405745" cy="646331"/>
          </a:xfrm>
          <a:prstGeom prst="rect">
            <a:avLst/>
          </a:prstGeom>
          <a:solidFill>
            <a:schemeClr val="accent1">
              <a:lumMod val="20000"/>
              <a:lumOff val="80000"/>
            </a:schemeClr>
          </a:solidFill>
          <a:ln>
            <a:solidFill>
              <a:schemeClr val="bg1"/>
            </a:solidFill>
          </a:ln>
        </p:spPr>
        <p:txBody>
          <a:bodyPr wrap="square">
            <a:spAutoFit/>
          </a:bodyPr>
          <a:lstStyle/>
          <a:p>
            <a:pPr algn="just"/>
            <a:r>
              <a:rPr lang="en-US" sz="1200" dirty="0" err="1">
                <a:solidFill>
                  <a:srgbClr val="0070C0"/>
                </a:solidFill>
              </a:rPr>
              <a:t>mkdir</a:t>
            </a:r>
            <a:r>
              <a:rPr lang="en-US" sz="1200" dirty="0">
                <a:solidFill>
                  <a:srgbClr val="0070C0"/>
                </a:solidFill>
              </a:rPr>
              <a:t> deploy</a:t>
            </a:r>
          </a:p>
          <a:p>
            <a:pPr algn="just"/>
            <a:r>
              <a:rPr lang="en-US" sz="1200" dirty="0">
                <a:solidFill>
                  <a:srgbClr val="0070C0"/>
                </a:solidFill>
              </a:rPr>
              <a:t>python3 -m </a:t>
            </a:r>
            <a:r>
              <a:rPr lang="en-US" sz="1200" dirty="0" err="1">
                <a:solidFill>
                  <a:srgbClr val="0070C0"/>
                </a:solidFill>
              </a:rPr>
              <a:t>venv</a:t>
            </a:r>
            <a:r>
              <a:rPr lang="en-US" sz="1200" dirty="0">
                <a:solidFill>
                  <a:srgbClr val="0070C0"/>
                </a:solidFill>
              </a:rPr>
              <a:t> /</a:t>
            </a:r>
            <a:r>
              <a:rPr lang="en-US" sz="1200" dirty="0" smtClean="0">
                <a:solidFill>
                  <a:srgbClr val="0070C0"/>
                </a:solidFill>
              </a:rPr>
              <a:t>home/panda/Deploy</a:t>
            </a:r>
            <a:endParaRPr lang="en-US" sz="1200" dirty="0">
              <a:solidFill>
                <a:srgbClr val="0070C0"/>
              </a:solidFill>
            </a:endParaRPr>
          </a:p>
          <a:p>
            <a:pPr algn="just"/>
            <a:r>
              <a:rPr lang="en-US" sz="1200" dirty="0">
                <a:solidFill>
                  <a:srgbClr val="0070C0"/>
                </a:solidFill>
              </a:rPr>
              <a:t>source /</a:t>
            </a:r>
            <a:r>
              <a:rPr lang="en-US" sz="1200" dirty="0" smtClean="0">
                <a:solidFill>
                  <a:srgbClr val="0070C0"/>
                </a:solidFill>
              </a:rPr>
              <a:t>home/panda/Deploy/bin/activate</a:t>
            </a:r>
          </a:p>
        </p:txBody>
      </p:sp>
      <p:sp>
        <p:nvSpPr>
          <p:cNvPr id="8" name="Rectangle 7"/>
          <p:cNvSpPr/>
          <p:nvPr/>
        </p:nvSpPr>
        <p:spPr>
          <a:xfrm>
            <a:off x="4629150" y="535675"/>
            <a:ext cx="3886200" cy="64633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4572000" y="1371531"/>
            <a:ext cx="4156364" cy="2677656"/>
          </a:xfrm>
          <a:prstGeom prst="rect">
            <a:avLst/>
          </a:prstGeom>
        </p:spPr>
        <p:txBody>
          <a:bodyPr wrap="square">
            <a:spAutoFit/>
          </a:bodyPr>
          <a:lstStyle/>
          <a:p>
            <a:r>
              <a:rPr lang="en-US" sz="1400" b="1" dirty="0">
                <a:solidFill>
                  <a:srgbClr val="002060"/>
                </a:solidFill>
              </a:rPr>
              <a:t>Upgrade </a:t>
            </a:r>
            <a:r>
              <a:rPr lang="en-US" sz="1400" b="1" dirty="0" err="1">
                <a:solidFill>
                  <a:srgbClr val="002060"/>
                </a:solidFill>
              </a:rPr>
              <a:t>versi</a:t>
            </a:r>
            <a:r>
              <a:rPr lang="en-US" sz="1400" b="1" dirty="0">
                <a:solidFill>
                  <a:srgbClr val="002060"/>
                </a:solidFill>
              </a:rPr>
              <a:t> pip</a:t>
            </a:r>
          </a:p>
          <a:p>
            <a:pPr algn="just"/>
            <a:r>
              <a:rPr lang="en-US" sz="1400" dirty="0" err="1"/>
              <a:t>Pastikan</a:t>
            </a:r>
            <a:r>
              <a:rPr lang="en-US" sz="1400" dirty="0"/>
              <a:t> virtual environment </a:t>
            </a:r>
            <a:r>
              <a:rPr lang="en-US" sz="1400" dirty="0" err="1"/>
              <a:t>sudah</a:t>
            </a:r>
            <a:r>
              <a:rPr lang="en-US" sz="1400" dirty="0"/>
              <a:t> </a:t>
            </a:r>
            <a:r>
              <a:rPr lang="en-US" sz="1400" dirty="0" err="1"/>
              <a:t>aktif</a:t>
            </a:r>
            <a:r>
              <a:rPr lang="en-US" sz="1400" dirty="0"/>
              <a:t> </a:t>
            </a:r>
            <a:r>
              <a:rPr lang="en-US" sz="1400" dirty="0" err="1"/>
              <a:t>sebelum</a:t>
            </a:r>
            <a:r>
              <a:rPr lang="en-US" sz="1400" dirty="0"/>
              <a:t> </a:t>
            </a:r>
            <a:r>
              <a:rPr lang="en-US" sz="1400" dirty="0" err="1"/>
              <a:t>menjalankan</a:t>
            </a:r>
            <a:r>
              <a:rPr lang="en-US" sz="1400" dirty="0"/>
              <a:t> command </a:t>
            </a:r>
            <a:r>
              <a:rPr lang="en-US" sz="1400" dirty="0" err="1"/>
              <a:t>ini</a:t>
            </a:r>
            <a:r>
              <a:rPr lang="en-US" sz="1400" dirty="0" smtClean="0"/>
              <a:t>:</a:t>
            </a:r>
          </a:p>
          <a:p>
            <a:pPr algn="just"/>
            <a:r>
              <a:rPr lang="en-US" sz="1400" b="1" dirty="0" err="1" smtClean="0">
                <a:solidFill>
                  <a:srgbClr val="002060"/>
                </a:solidFill>
              </a:rPr>
              <a:t>root@administrator</a:t>
            </a:r>
            <a:r>
              <a:rPr lang="en-US" sz="1400" b="1" dirty="0">
                <a:solidFill>
                  <a:srgbClr val="002060"/>
                </a:solidFill>
              </a:rPr>
              <a:t>:/</a:t>
            </a:r>
            <a:r>
              <a:rPr lang="en-US" sz="1400" b="1" dirty="0" smtClean="0">
                <a:solidFill>
                  <a:srgbClr val="002060"/>
                </a:solidFill>
              </a:rPr>
              <a:t>home/panda/Deploy#</a:t>
            </a:r>
          </a:p>
          <a:p>
            <a:pPr algn="just"/>
            <a:r>
              <a:rPr lang="en-US" sz="1400" b="1" dirty="0" smtClean="0">
                <a:solidFill>
                  <a:srgbClr val="002060"/>
                </a:solidFill>
              </a:rPr>
              <a:t># </a:t>
            </a:r>
            <a:r>
              <a:rPr lang="en-US" sz="1400" b="1" dirty="0" smtClean="0">
                <a:solidFill>
                  <a:srgbClr val="0070C0"/>
                </a:solidFill>
              </a:rPr>
              <a:t>pip install –U pip</a:t>
            </a:r>
          </a:p>
          <a:p>
            <a:pPr algn="just"/>
            <a:endParaRPr lang="en-US" sz="1400" b="1" dirty="0">
              <a:solidFill>
                <a:srgbClr val="0070C0"/>
              </a:solidFill>
            </a:endParaRPr>
          </a:p>
          <a:p>
            <a:pPr algn="just"/>
            <a:r>
              <a:rPr lang="en-US" sz="1400" b="1" dirty="0">
                <a:solidFill>
                  <a:srgbClr val="002060"/>
                </a:solidFill>
              </a:rPr>
              <a:t>Install </a:t>
            </a:r>
            <a:r>
              <a:rPr lang="en-US" sz="1400" b="1" dirty="0" err="1">
                <a:solidFill>
                  <a:srgbClr val="002060"/>
                </a:solidFill>
              </a:rPr>
              <a:t>paket</a:t>
            </a:r>
            <a:r>
              <a:rPr lang="en-US" sz="1400" b="1" dirty="0">
                <a:solidFill>
                  <a:srgbClr val="002060"/>
                </a:solidFill>
              </a:rPr>
              <a:t> </a:t>
            </a:r>
            <a:r>
              <a:rPr lang="en-US" sz="1400" b="1" dirty="0" err="1" smtClean="0">
                <a:solidFill>
                  <a:srgbClr val="002060"/>
                </a:solidFill>
              </a:rPr>
              <a:t>ansible</a:t>
            </a:r>
            <a:r>
              <a:rPr lang="en-US" sz="1400" b="1" dirty="0" smtClean="0">
                <a:solidFill>
                  <a:srgbClr val="002060"/>
                </a:solidFill>
              </a:rPr>
              <a:t> :</a:t>
            </a:r>
          </a:p>
          <a:p>
            <a:pPr algn="just"/>
            <a:r>
              <a:rPr lang="sv-SE" sz="1400" dirty="0"/>
              <a:t>Kolla ansible membutuhkan paket ansible minimal versi 4 dan mendukung hingga versi 5 keatas.</a:t>
            </a:r>
          </a:p>
          <a:p>
            <a:pPr algn="just"/>
            <a:r>
              <a:rPr lang="sv-SE" sz="1400" dirty="0" smtClean="0"/>
              <a:t>Pastikan </a:t>
            </a:r>
            <a:r>
              <a:rPr lang="sv-SE" sz="1400" dirty="0"/>
              <a:t>virtual environment sudah aktif sebelum menjalankan command ini:</a:t>
            </a:r>
            <a:endParaRPr lang="en-US" sz="1400" dirty="0"/>
          </a:p>
          <a:p>
            <a:pPr lvl="0" eaLnBrk="0" fontAlgn="base" hangingPunct="0">
              <a:spcBef>
                <a:spcPct val="0"/>
              </a:spcBef>
              <a:spcAft>
                <a:spcPct val="0"/>
              </a:spcAft>
            </a:pPr>
            <a:r>
              <a:rPr lang="en-US" sz="1400" b="1" dirty="0" smtClean="0">
                <a:solidFill>
                  <a:srgbClr val="002060"/>
                </a:solidFill>
              </a:rPr>
              <a:t># </a:t>
            </a:r>
            <a:r>
              <a:rPr lang="en-US" altLang="en-US" sz="1400" b="1" dirty="0">
                <a:solidFill>
                  <a:srgbClr val="0070C0"/>
                </a:solidFill>
                <a:latin typeface="Courier New" panose="02070309020205020404" pitchFamily="49" charset="0"/>
                <a:cs typeface="Courier New" panose="02070309020205020404" pitchFamily="49" charset="0"/>
              </a:rPr>
              <a:t>pip install '</a:t>
            </a:r>
            <a:r>
              <a:rPr lang="en-US" altLang="en-US" sz="1400" b="1" dirty="0" err="1">
                <a:solidFill>
                  <a:srgbClr val="0070C0"/>
                </a:solidFill>
                <a:latin typeface="Courier New" panose="02070309020205020404" pitchFamily="49" charset="0"/>
                <a:cs typeface="Courier New" panose="02070309020205020404" pitchFamily="49" charset="0"/>
              </a:rPr>
              <a:t>ansible</a:t>
            </a:r>
            <a:r>
              <a:rPr lang="en-US" altLang="en-US" sz="1400" b="1" dirty="0">
                <a:solidFill>
                  <a:srgbClr val="0070C0"/>
                </a:solidFill>
                <a:latin typeface="Courier New" panose="02070309020205020404" pitchFamily="49" charset="0"/>
                <a:cs typeface="Courier New" panose="02070309020205020404" pitchFamily="49" charset="0"/>
              </a:rPr>
              <a:t>&gt;=4,&lt;6'</a:t>
            </a:r>
            <a:r>
              <a:rPr lang="en-US" altLang="en-US" sz="800" b="1" dirty="0">
                <a:solidFill>
                  <a:srgbClr val="0070C0"/>
                </a:solidFill>
              </a:rPr>
              <a:t> </a:t>
            </a:r>
            <a:endParaRPr lang="en-US" altLang="en-US" sz="3200" b="1" dirty="0">
              <a:solidFill>
                <a:srgbClr val="0070C0"/>
              </a:solidFill>
              <a:latin typeface="Arial" panose="020B0604020202020204" pitchFamily="34" charset="0"/>
            </a:endParaRPr>
          </a:p>
        </p:txBody>
      </p:sp>
      <p:sp>
        <p:nvSpPr>
          <p:cNvPr id="15" name="Rectangle 14"/>
          <p:cNvSpPr/>
          <p:nvPr/>
        </p:nvSpPr>
        <p:spPr>
          <a:xfrm>
            <a:off x="207818" y="2710359"/>
            <a:ext cx="3886200" cy="29094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6" name="Rectangle 15"/>
          <p:cNvSpPr/>
          <p:nvPr/>
        </p:nvSpPr>
        <p:spPr>
          <a:xfrm>
            <a:off x="232930" y="3164490"/>
            <a:ext cx="3886200" cy="29094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7" name="Rectangle 16"/>
          <p:cNvSpPr/>
          <p:nvPr/>
        </p:nvSpPr>
        <p:spPr>
          <a:xfrm>
            <a:off x="4629150" y="2250090"/>
            <a:ext cx="3886200" cy="29094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8" name="Rectangle 17"/>
          <p:cNvSpPr/>
          <p:nvPr/>
        </p:nvSpPr>
        <p:spPr>
          <a:xfrm>
            <a:off x="4629150" y="3704820"/>
            <a:ext cx="3886200" cy="29094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93686822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10</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93963" y="654809"/>
            <a:ext cx="4156364" cy="4185761"/>
          </a:xfrm>
          <a:prstGeom prst="rect">
            <a:avLst/>
          </a:prstGeom>
        </p:spPr>
        <p:txBody>
          <a:bodyPr wrap="square">
            <a:spAutoFit/>
          </a:bodyPr>
          <a:lstStyle/>
          <a:p>
            <a:pPr algn="just"/>
            <a:r>
              <a:rPr lang="en-US" sz="1400" b="1" dirty="0" err="1" smtClean="0">
                <a:solidFill>
                  <a:srgbClr val="002060"/>
                </a:solidFill>
              </a:rPr>
              <a:t>root@administrator</a:t>
            </a:r>
            <a:r>
              <a:rPr lang="en-US" sz="1400" b="1" dirty="0">
                <a:solidFill>
                  <a:srgbClr val="002060"/>
                </a:solidFill>
              </a:rPr>
              <a:t>:/</a:t>
            </a:r>
            <a:r>
              <a:rPr lang="en-US" sz="1400" b="1" dirty="0" smtClean="0">
                <a:solidFill>
                  <a:srgbClr val="002060"/>
                </a:solidFill>
              </a:rPr>
              <a:t>home/panda/Deploy#</a:t>
            </a:r>
          </a:p>
          <a:p>
            <a:pPr algn="just"/>
            <a:endParaRPr lang="en-US" sz="1400" b="1" dirty="0">
              <a:solidFill>
                <a:srgbClr val="002060"/>
              </a:solidFill>
            </a:endParaRPr>
          </a:p>
          <a:p>
            <a:pPr algn="just"/>
            <a:r>
              <a:rPr lang="en-US" sz="1400" b="1" dirty="0">
                <a:solidFill>
                  <a:srgbClr val="002060"/>
                </a:solidFill>
              </a:rPr>
              <a:t>Install </a:t>
            </a:r>
            <a:r>
              <a:rPr lang="en-US" sz="1400" b="1" dirty="0" err="1">
                <a:solidFill>
                  <a:srgbClr val="002060"/>
                </a:solidFill>
              </a:rPr>
              <a:t>paket</a:t>
            </a:r>
            <a:r>
              <a:rPr lang="en-US" sz="1400" b="1" dirty="0">
                <a:solidFill>
                  <a:srgbClr val="002060"/>
                </a:solidFill>
              </a:rPr>
              <a:t> </a:t>
            </a:r>
            <a:r>
              <a:rPr lang="en-US" sz="1400" b="1" dirty="0" err="1">
                <a:solidFill>
                  <a:srgbClr val="002060"/>
                </a:solidFill>
              </a:rPr>
              <a:t>docker</a:t>
            </a:r>
            <a:r>
              <a:rPr lang="en-US" sz="1400" b="1" dirty="0" smtClean="0">
                <a:solidFill>
                  <a:srgbClr val="002060"/>
                </a:solidFill>
              </a:rPr>
              <a:t>:</a:t>
            </a:r>
          </a:p>
          <a:p>
            <a:pPr algn="just"/>
            <a:r>
              <a:rPr lang="en-US" sz="1400" dirty="0" err="1"/>
              <a:t>Pastikan</a:t>
            </a:r>
            <a:r>
              <a:rPr lang="en-US" sz="1400" dirty="0"/>
              <a:t> virtual environment </a:t>
            </a:r>
            <a:r>
              <a:rPr lang="en-US" sz="1400" dirty="0" err="1"/>
              <a:t>sudah</a:t>
            </a:r>
            <a:r>
              <a:rPr lang="en-US" sz="1400" dirty="0"/>
              <a:t> </a:t>
            </a:r>
            <a:r>
              <a:rPr lang="en-US" sz="1400" dirty="0" err="1"/>
              <a:t>aktif</a:t>
            </a:r>
            <a:r>
              <a:rPr lang="en-US" sz="1400" dirty="0"/>
              <a:t> </a:t>
            </a:r>
            <a:r>
              <a:rPr lang="en-US" sz="1400" dirty="0" err="1"/>
              <a:t>sebelum</a:t>
            </a:r>
            <a:r>
              <a:rPr lang="en-US" sz="1400" dirty="0"/>
              <a:t> </a:t>
            </a:r>
            <a:r>
              <a:rPr lang="en-US" sz="1400" dirty="0" err="1"/>
              <a:t>menjalankan</a:t>
            </a:r>
            <a:r>
              <a:rPr lang="en-US" sz="1400" dirty="0"/>
              <a:t> command </a:t>
            </a:r>
            <a:r>
              <a:rPr lang="en-US" sz="1400" dirty="0" err="1"/>
              <a:t>ini</a:t>
            </a:r>
            <a:r>
              <a:rPr lang="en-US" sz="1400" dirty="0"/>
              <a:t>:</a:t>
            </a:r>
            <a:endParaRPr lang="en-US" sz="1400" b="1" dirty="0" smtClean="0">
              <a:solidFill>
                <a:srgbClr val="002060"/>
              </a:solidFill>
            </a:endParaRPr>
          </a:p>
          <a:p>
            <a:pPr algn="just"/>
            <a:r>
              <a:rPr lang="en-US" sz="1400" b="1" dirty="0" smtClean="0">
                <a:solidFill>
                  <a:srgbClr val="002060"/>
                </a:solidFill>
              </a:rPr>
              <a:t># </a:t>
            </a:r>
            <a:r>
              <a:rPr lang="en-US" sz="1400" b="1" dirty="0" smtClean="0">
                <a:solidFill>
                  <a:srgbClr val="0070C0"/>
                </a:solidFill>
              </a:rPr>
              <a:t>pip install </a:t>
            </a:r>
            <a:r>
              <a:rPr lang="en-US" sz="1400" b="1" dirty="0" err="1" smtClean="0">
                <a:solidFill>
                  <a:srgbClr val="0070C0"/>
                </a:solidFill>
              </a:rPr>
              <a:t>docker</a:t>
            </a:r>
            <a:endParaRPr lang="en-US" sz="1400" b="1" dirty="0" smtClean="0">
              <a:solidFill>
                <a:srgbClr val="0070C0"/>
              </a:solidFill>
            </a:endParaRPr>
          </a:p>
          <a:p>
            <a:pPr algn="just"/>
            <a:endParaRPr lang="en-US" sz="1400" b="1" dirty="0">
              <a:solidFill>
                <a:srgbClr val="0070C0"/>
              </a:solidFill>
            </a:endParaRPr>
          </a:p>
          <a:p>
            <a:pPr algn="just"/>
            <a:endParaRPr lang="en-US" sz="2800" b="1" dirty="0">
              <a:solidFill>
                <a:srgbClr val="0070C0"/>
              </a:solidFill>
            </a:endParaRPr>
          </a:p>
          <a:p>
            <a:pPr algn="just"/>
            <a:r>
              <a:rPr lang="en-US" sz="2800" b="1" dirty="0">
                <a:solidFill>
                  <a:srgbClr val="002060"/>
                </a:solidFill>
              </a:rPr>
              <a:t>Install </a:t>
            </a:r>
            <a:r>
              <a:rPr lang="en-US" sz="2800" b="1" dirty="0" err="1" smtClean="0">
                <a:solidFill>
                  <a:srgbClr val="002060"/>
                </a:solidFill>
              </a:rPr>
              <a:t>Kolla-ansible</a:t>
            </a:r>
            <a:endParaRPr lang="en-US" sz="2800" b="1" dirty="0">
              <a:solidFill>
                <a:srgbClr val="002060"/>
              </a:solidFill>
            </a:endParaRPr>
          </a:p>
          <a:p>
            <a:pPr algn="just"/>
            <a:r>
              <a:rPr lang="en-US" sz="1400" dirty="0"/>
              <a:t>Install </a:t>
            </a:r>
            <a:r>
              <a:rPr lang="en-US" sz="1400" dirty="0" err="1"/>
              <a:t>kolla-ansible</a:t>
            </a:r>
            <a:r>
              <a:rPr lang="en-US" sz="1400" dirty="0"/>
              <a:t> </a:t>
            </a:r>
            <a:r>
              <a:rPr lang="en-US" sz="1400" dirty="0" err="1"/>
              <a:t>beserta</a:t>
            </a:r>
            <a:r>
              <a:rPr lang="en-US" sz="1400" dirty="0"/>
              <a:t> </a:t>
            </a:r>
            <a:r>
              <a:rPr lang="en-US" sz="1400" dirty="0" err="1"/>
              <a:t>dependensinya</a:t>
            </a:r>
            <a:r>
              <a:rPr lang="en-US" sz="1400" dirty="0"/>
              <a:t> </a:t>
            </a:r>
            <a:r>
              <a:rPr lang="en-US" sz="1400" dirty="0" err="1"/>
              <a:t>menggunakan</a:t>
            </a:r>
            <a:r>
              <a:rPr lang="en-US" sz="1400" dirty="0"/>
              <a:t> python-pip</a:t>
            </a:r>
          </a:p>
          <a:p>
            <a:pPr algn="just"/>
            <a:r>
              <a:rPr lang="en-US" sz="1400" dirty="0" err="1"/>
              <a:t>Pastikan</a:t>
            </a:r>
            <a:r>
              <a:rPr lang="en-US" sz="1400" dirty="0"/>
              <a:t> virtual environment </a:t>
            </a:r>
            <a:r>
              <a:rPr lang="en-US" sz="1400" dirty="0" err="1"/>
              <a:t>sudah</a:t>
            </a:r>
            <a:r>
              <a:rPr lang="en-US" sz="1400" dirty="0"/>
              <a:t> </a:t>
            </a:r>
            <a:r>
              <a:rPr lang="en-US" sz="1400" dirty="0" err="1"/>
              <a:t>aktif</a:t>
            </a:r>
            <a:r>
              <a:rPr lang="en-US" sz="1400" dirty="0"/>
              <a:t> </a:t>
            </a:r>
            <a:r>
              <a:rPr lang="en-US" sz="1400" dirty="0" err="1"/>
              <a:t>sebelum</a:t>
            </a:r>
            <a:r>
              <a:rPr lang="en-US" sz="1400" dirty="0"/>
              <a:t> </a:t>
            </a:r>
            <a:r>
              <a:rPr lang="en-US" sz="1400" dirty="0" err="1"/>
              <a:t>menjalankan</a:t>
            </a:r>
            <a:r>
              <a:rPr lang="en-US" sz="1400" dirty="0"/>
              <a:t> command </a:t>
            </a:r>
            <a:r>
              <a:rPr lang="en-US" sz="1400" dirty="0" err="1"/>
              <a:t>ini</a:t>
            </a:r>
            <a:r>
              <a:rPr lang="en-US" sz="1400" dirty="0"/>
              <a:t>:</a:t>
            </a:r>
          </a:p>
          <a:p>
            <a:pPr algn="just"/>
            <a:endParaRPr lang="en-US" sz="1400" b="1" dirty="0" smtClean="0">
              <a:solidFill>
                <a:srgbClr val="002060"/>
              </a:solidFill>
            </a:endParaRPr>
          </a:p>
          <a:p>
            <a:pPr lvl="0" eaLnBrk="0" fontAlgn="base" hangingPunct="0">
              <a:spcBef>
                <a:spcPct val="0"/>
              </a:spcBef>
              <a:spcAft>
                <a:spcPct val="0"/>
              </a:spcAft>
            </a:pPr>
            <a:r>
              <a:rPr lang="en-US" sz="1400" b="1" dirty="0" smtClean="0">
                <a:solidFill>
                  <a:srgbClr val="002060"/>
                </a:solidFill>
              </a:rPr>
              <a:t># </a:t>
            </a:r>
            <a:r>
              <a:rPr lang="en-US" altLang="en-US" sz="1400" b="1" dirty="0">
                <a:solidFill>
                  <a:srgbClr val="0070C0"/>
                </a:solidFill>
                <a:latin typeface="Courier New" panose="02070309020205020404" pitchFamily="49" charset="0"/>
                <a:cs typeface="Courier New" panose="02070309020205020404" pitchFamily="49" charset="0"/>
              </a:rPr>
              <a:t>pip install </a:t>
            </a:r>
            <a:r>
              <a:rPr lang="en-US" altLang="en-US" sz="1400" b="1" dirty="0" err="1">
                <a:solidFill>
                  <a:srgbClr val="0070C0"/>
                </a:solidFill>
                <a:latin typeface="Courier New" panose="02070309020205020404" pitchFamily="49" charset="0"/>
                <a:cs typeface="Courier New" panose="02070309020205020404" pitchFamily="49" charset="0"/>
              </a:rPr>
              <a:t>git+https</a:t>
            </a:r>
            <a:r>
              <a:rPr lang="en-US" altLang="en-US" sz="1400" b="1" dirty="0">
                <a:solidFill>
                  <a:srgbClr val="0070C0"/>
                </a:solidFill>
                <a:latin typeface="Courier New" panose="02070309020205020404" pitchFamily="49" charset="0"/>
                <a:cs typeface="Courier New" panose="02070309020205020404" pitchFamily="49" charset="0"/>
              </a:rPr>
              <a:t>://opendev.org/</a:t>
            </a:r>
            <a:r>
              <a:rPr lang="en-US" altLang="en-US" sz="1400" b="1" dirty="0" err="1">
                <a:solidFill>
                  <a:srgbClr val="0070C0"/>
                </a:solidFill>
                <a:latin typeface="Courier New" panose="02070309020205020404" pitchFamily="49" charset="0"/>
                <a:cs typeface="Courier New" panose="02070309020205020404" pitchFamily="49" charset="0"/>
              </a:rPr>
              <a:t>openstack</a:t>
            </a:r>
            <a:r>
              <a:rPr lang="en-US" altLang="en-US" sz="1400" b="1" dirty="0">
                <a:solidFill>
                  <a:srgbClr val="0070C0"/>
                </a:solidFill>
                <a:latin typeface="Courier New" panose="02070309020205020404" pitchFamily="49" charset="0"/>
                <a:cs typeface="Courier New" panose="02070309020205020404" pitchFamily="49" charset="0"/>
              </a:rPr>
              <a:t>/</a:t>
            </a:r>
            <a:r>
              <a:rPr lang="en-US" altLang="en-US" sz="1400" b="1" dirty="0" err="1">
                <a:solidFill>
                  <a:srgbClr val="0070C0"/>
                </a:solidFill>
                <a:latin typeface="Courier New" panose="02070309020205020404" pitchFamily="49" charset="0"/>
                <a:cs typeface="Courier New" panose="02070309020205020404" pitchFamily="49" charset="0"/>
              </a:rPr>
              <a:t>kolla-ansible@master</a:t>
            </a:r>
            <a:r>
              <a:rPr lang="en-US" altLang="en-US" sz="800" b="1" dirty="0">
                <a:solidFill>
                  <a:srgbClr val="0070C0"/>
                </a:solidFill>
              </a:rPr>
              <a:t> </a:t>
            </a:r>
            <a:endParaRPr lang="en-US" altLang="en-US" sz="3200" b="1" dirty="0">
              <a:solidFill>
                <a:srgbClr val="0070C0"/>
              </a:solidFill>
              <a:latin typeface="Arial" panose="020B0604020202020204" pitchFamily="34" charset="0"/>
            </a:endParaRPr>
          </a:p>
        </p:txBody>
      </p:sp>
      <p:sp>
        <p:nvSpPr>
          <p:cNvPr id="8" name="Rectangle 7"/>
          <p:cNvSpPr/>
          <p:nvPr/>
        </p:nvSpPr>
        <p:spPr>
          <a:xfrm>
            <a:off x="4629150" y="654810"/>
            <a:ext cx="3886200" cy="93228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4572000" y="469499"/>
            <a:ext cx="4156364" cy="4585871"/>
          </a:xfrm>
          <a:prstGeom prst="rect">
            <a:avLst/>
          </a:prstGeom>
        </p:spPr>
        <p:txBody>
          <a:bodyPr wrap="square">
            <a:spAutoFit/>
          </a:bodyPr>
          <a:lstStyle/>
          <a:p>
            <a:r>
              <a:rPr lang="en-US" sz="1400" b="1" dirty="0" err="1">
                <a:solidFill>
                  <a:srgbClr val="002060"/>
                </a:solidFill>
              </a:rPr>
              <a:t>Buat</a:t>
            </a:r>
            <a:r>
              <a:rPr lang="en-US" sz="1400" b="1" dirty="0">
                <a:solidFill>
                  <a:srgbClr val="002060"/>
                </a:solidFill>
              </a:rPr>
              <a:t> directory /</a:t>
            </a:r>
            <a:r>
              <a:rPr lang="en-US" sz="1400" b="1" dirty="0" err="1" smtClean="0">
                <a:solidFill>
                  <a:srgbClr val="002060"/>
                </a:solidFill>
              </a:rPr>
              <a:t>etc</a:t>
            </a:r>
            <a:r>
              <a:rPr lang="en-US" sz="1400" b="1" dirty="0" smtClean="0">
                <a:solidFill>
                  <a:srgbClr val="002060"/>
                </a:solidFill>
              </a:rPr>
              <a:t>/kola</a:t>
            </a:r>
          </a:p>
          <a:p>
            <a:pPr algn="just"/>
            <a:r>
              <a:rPr lang="en-US" sz="1400" b="1" dirty="0" err="1" smtClean="0">
                <a:solidFill>
                  <a:srgbClr val="002060"/>
                </a:solidFill>
              </a:rPr>
              <a:t>root@administrator</a:t>
            </a:r>
            <a:r>
              <a:rPr lang="en-US" sz="1400" b="1" dirty="0">
                <a:solidFill>
                  <a:srgbClr val="002060"/>
                </a:solidFill>
              </a:rPr>
              <a:t>:/</a:t>
            </a:r>
            <a:r>
              <a:rPr lang="en-US" sz="1400" b="1" dirty="0" smtClean="0">
                <a:solidFill>
                  <a:srgbClr val="002060"/>
                </a:solidFill>
              </a:rPr>
              <a:t>home/panda/Deploy#</a:t>
            </a:r>
          </a:p>
          <a:p>
            <a:pPr lvl="0" eaLnBrk="0" fontAlgn="base" hangingPunct="0">
              <a:spcBef>
                <a:spcPct val="0"/>
              </a:spcBef>
              <a:spcAft>
                <a:spcPct val="0"/>
              </a:spcAft>
            </a:pPr>
            <a:r>
              <a:rPr lang="en-US" sz="1400" b="1" dirty="0" smtClean="0">
                <a:solidFill>
                  <a:srgbClr val="002060"/>
                </a:solidFill>
              </a:rPr>
              <a:t># </a:t>
            </a:r>
            <a:r>
              <a:rPr lang="en-US" altLang="en-US" sz="1400" dirty="0" err="1">
                <a:solidFill>
                  <a:srgbClr val="0070C0"/>
                </a:solidFill>
                <a:latin typeface="Courier New" panose="02070309020205020404" pitchFamily="49" charset="0"/>
                <a:cs typeface="Courier New" panose="02070309020205020404" pitchFamily="49" charset="0"/>
              </a:rPr>
              <a:t>sudo</a:t>
            </a:r>
            <a:r>
              <a:rPr lang="en-US" altLang="en-US" sz="1400" dirty="0">
                <a:solidFill>
                  <a:srgbClr val="0070C0"/>
                </a:solidFill>
                <a:latin typeface="Courier New" panose="02070309020205020404" pitchFamily="49" charset="0"/>
                <a:cs typeface="Courier New" panose="02070309020205020404" pitchFamily="49" charset="0"/>
              </a:rPr>
              <a:t> </a:t>
            </a:r>
            <a:r>
              <a:rPr lang="en-US" altLang="en-US" sz="1400" dirty="0" err="1">
                <a:solidFill>
                  <a:srgbClr val="0070C0"/>
                </a:solidFill>
                <a:latin typeface="Courier New" panose="02070309020205020404" pitchFamily="49" charset="0"/>
                <a:cs typeface="Courier New" panose="02070309020205020404" pitchFamily="49" charset="0"/>
              </a:rPr>
              <a:t>mkdir</a:t>
            </a:r>
            <a:r>
              <a:rPr lang="en-US" altLang="en-US" sz="1400" dirty="0">
                <a:solidFill>
                  <a:srgbClr val="0070C0"/>
                </a:solidFill>
                <a:latin typeface="Courier New" panose="02070309020205020404" pitchFamily="49" charset="0"/>
                <a:cs typeface="Courier New" panose="02070309020205020404" pitchFamily="49" charset="0"/>
              </a:rPr>
              <a:t> -p /</a:t>
            </a:r>
            <a:r>
              <a:rPr lang="en-US" altLang="en-US" sz="1400" dirty="0" err="1">
                <a:solidFill>
                  <a:srgbClr val="0070C0"/>
                </a:solidFill>
                <a:latin typeface="Courier New" panose="02070309020205020404" pitchFamily="49" charset="0"/>
                <a:cs typeface="Courier New" panose="02070309020205020404" pitchFamily="49" charset="0"/>
              </a:rPr>
              <a:t>etc</a:t>
            </a:r>
            <a:r>
              <a:rPr lang="en-US" altLang="en-US" sz="1400" dirty="0">
                <a:solidFill>
                  <a:srgbClr val="0070C0"/>
                </a:solidFill>
                <a:latin typeface="Courier New" panose="02070309020205020404" pitchFamily="49" charset="0"/>
                <a:cs typeface="Courier New" panose="02070309020205020404" pitchFamily="49" charset="0"/>
              </a:rPr>
              <a:t>/</a:t>
            </a:r>
            <a:r>
              <a:rPr lang="en-US" altLang="en-US" sz="1400" dirty="0" err="1">
                <a:solidFill>
                  <a:srgbClr val="0070C0"/>
                </a:solidFill>
                <a:latin typeface="Courier New" panose="02070309020205020404" pitchFamily="49" charset="0"/>
                <a:cs typeface="Courier New" panose="02070309020205020404" pitchFamily="49" charset="0"/>
              </a:rPr>
              <a:t>kolla</a:t>
            </a:r>
            <a:r>
              <a:rPr lang="en-US" altLang="en-US" sz="1400" dirty="0">
                <a:solidFill>
                  <a:srgbClr val="0070C0"/>
                </a:solidFill>
                <a:latin typeface="Courier New" panose="02070309020205020404" pitchFamily="49" charset="0"/>
                <a:cs typeface="Courier New" panose="02070309020205020404" pitchFamily="49" charset="0"/>
              </a:rPr>
              <a:t> </a:t>
            </a:r>
            <a:endParaRPr lang="en-US" altLang="en-US" sz="1400" dirty="0" smtClean="0">
              <a:solidFill>
                <a:srgbClr val="0070C0"/>
              </a:solidFill>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en-US" sz="1400" b="1" dirty="0">
                <a:solidFill>
                  <a:srgbClr val="002060"/>
                </a:solidFill>
              </a:rPr>
              <a:t># </a:t>
            </a:r>
            <a:r>
              <a:rPr lang="en-US" altLang="en-US" sz="1400" dirty="0" err="1" smtClean="0">
                <a:solidFill>
                  <a:srgbClr val="0070C0"/>
                </a:solidFill>
                <a:latin typeface="Courier New" panose="02070309020205020404" pitchFamily="49" charset="0"/>
                <a:cs typeface="Courier New" panose="02070309020205020404" pitchFamily="49" charset="0"/>
              </a:rPr>
              <a:t>sudo</a:t>
            </a:r>
            <a:r>
              <a:rPr lang="en-US" altLang="en-US" sz="1400" dirty="0" smtClean="0">
                <a:solidFill>
                  <a:srgbClr val="0070C0"/>
                </a:solidFill>
                <a:latin typeface="Courier New" panose="02070309020205020404" pitchFamily="49" charset="0"/>
                <a:cs typeface="Courier New" panose="02070309020205020404" pitchFamily="49" charset="0"/>
              </a:rPr>
              <a:t> </a:t>
            </a:r>
            <a:r>
              <a:rPr lang="en-US" altLang="en-US" sz="1400" dirty="0" err="1">
                <a:solidFill>
                  <a:srgbClr val="0070C0"/>
                </a:solidFill>
                <a:latin typeface="Courier New" panose="02070309020205020404" pitchFamily="49" charset="0"/>
                <a:cs typeface="Courier New" panose="02070309020205020404" pitchFamily="49" charset="0"/>
              </a:rPr>
              <a:t>chown</a:t>
            </a:r>
            <a:r>
              <a:rPr lang="en-US" altLang="en-US" sz="1400" dirty="0">
                <a:solidFill>
                  <a:srgbClr val="0070C0"/>
                </a:solidFill>
                <a:latin typeface="Courier New" panose="02070309020205020404" pitchFamily="49" charset="0"/>
                <a:cs typeface="Courier New" panose="02070309020205020404" pitchFamily="49" charset="0"/>
              </a:rPr>
              <a:t> </a:t>
            </a:r>
            <a:r>
              <a:rPr lang="en-US" altLang="en-US" sz="1400" dirty="0" smtClean="0">
                <a:solidFill>
                  <a:srgbClr val="0070C0"/>
                </a:solidFill>
                <a:latin typeface="Courier New" panose="02070309020205020404" pitchFamily="49" charset="0"/>
                <a:cs typeface="Courier New" panose="02070309020205020404" pitchFamily="49" charset="0"/>
              </a:rPr>
              <a:t>$panda:$panda </a:t>
            </a:r>
            <a:r>
              <a:rPr lang="en-US" altLang="en-US" sz="1400" dirty="0">
                <a:solidFill>
                  <a:srgbClr val="0070C0"/>
                </a:solidFill>
                <a:latin typeface="Courier New" panose="02070309020205020404" pitchFamily="49" charset="0"/>
                <a:cs typeface="Courier New" panose="02070309020205020404" pitchFamily="49" charset="0"/>
              </a:rPr>
              <a:t>/</a:t>
            </a:r>
            <a:r>
              <a:rPr lang="en-US" altLang="en-US" sz="1400" dirty="0" err="1">
                <a:solidFill>
                  <a:srgbClr val="0070C0"/>
                </a:solidFill>
                <a:latin typeface="Courier New" panose="02070309020205020404" pitchFamily="49" charset="0"/>
                <a:cs typeface="Courier New" panose="02070309020205020404" pitchFamily="49" charset="0"/>
              </a:rPr>
              <a:t>etc</a:t>
            </a:r>
            <a:r>
              <a:rPr lang="en-US" altLang="en-US" sz="1400" dirty="0">
                <a:solidFill>
                  <a:srgbClr val="0070C0"/>
                </a:solidFill>
                <a:latin typeface="Courier New" panose="02070309020205020404" pitchFamily="49" charset="0"/>
                <a:cs typeface="Courier New" panose="02070309020205020404" pitchFamily="49" charset="0"/>
              </a:rPr>
              <a:t>/</a:t>
            </a:r>
            <a:r>
              <a:rPr lang="en-US" altLang="en-US" sz="1400" dirty="0" err="1">
                <a:solidFill>
                  <a:srgbClr val="0070C0"/>
                </a:solidFill>
                <a:latin typeface="Courier New" panose="02070309020205020404" pitchFamily="49" charset="0"/>
                <a:cs typeface="Courier New" panose="02070309020205020404" pitchFamily="49" charset="0"/>
              </a:rPr>
              <a:t>kolla</a:t>
            </a:r>
            <a:r>
              <a:rPr lang="en-US" altLang="en-US" sz="800" dirty="0">
                <a:solidFill>
                  <a:srgbClr val="0070C0"/>
                </a:solidFill>
              </a:rPr>
              <a:t> </a:t>
            </a:r>
            <a:endParaRPr lang="en-US" altLang="en-US" sz="3200" dirty="0">
              <a:solidFill>
                <a:srgbClr val="0070C0"/>
              </a:solidFill>
              <a:latin typeface="Arial" panose="020B0604020202020204" pitchFamily="34" charset="0"/>
            </a:endParaRPr>
          </a:p>
          <a:p>
            <a:pPr algn="just"/>
            <a:endParaRPr lang="en-US" sz="1400" b="1" dirty="0">
              <a:solidFill>
                <a:srgbClr val="0070C0"/>
              </a:solidFill>
            </a:endParaRPr>
          </a:p>
          <a:p>
            <a:pPr algn="just"/>
            <a:r>
              <a:rPr lang="en-US" sz="1400" b="1" dirty="0" err="1">
                <a:solidFill>
                  <a:srgbClr val="002060"/>
                </a:solidFill>
              </a:rPr>
              <a:t>Salin</a:t>
            </a:r>
            <a:r>
              <a:rPr lang="en-US" sz="1400" b="1" dirty="0">
                <a:solidFill>
                  <a:srgbClr val="002060"/>
                </a:solidFill>
              </a:rPr>
              <a:t> file </a:t>
            </a:r>
            <a:r>
              <a:rPr lang="en-US" sz="1400" b="1" dirty="0" err="1">
                <a:solidFill>
                  <a:srgbClr val="002060"/>
                </a:solidFill>
              </a:rPr>
              <a:t>global.yml</a:t>
            </a:r>
            <a:r>
              <a:rPr lang="en-US" sz="1400" b="1" dirty="0">
                <a:solidFill>
                  <a:srgbClr val="002060"/>
                </a:solidFill>
              </a:rPr>
              <a:t> </a:t>
            </a:r>
            <a:r>
              <a:rPr lang="en-US" sz="1400" b="1" dirty="0" err="1">
                <a:solidFill>
                  <a:srgbClr val="002060"/>
                </a:solidFill>
              </a:rPr>
              <a:t>dan</a:t>
            </a:r>
            <a:r>
              <a:rPr lang="en-US" sz="1400" b="1" dirty="0">
                <a:solidFill>
                  <a:srgbClr val="002060"/>
                </a:solidFill>
              </a:rPr>
              <a:t> </a:t>
            </a:r>
            <a:r>
              <a:rPr lang="en-US" sz="1400" b="1" dirty="0" err="1">
                <a:solidFill>
                  <a:srgbClr val="002060"/>
                </a:solidFill>
              </a:rPr>
              <a:t>password.yml</a:t>
            </a:r>
            <a:r>
              <a:rPr lang="en-US" sz="1400" b="1" dirty="0">
                <a:solidFill>
                  <a:srgbClr val="002060"/>
                </a:solidFill>
              </a:rPr>
              <a:t> </a:t>
            </a:r>
            <a:r>
              <a:rPr lang="en-US" sz="1400" b="1" dirty="0" err="1">
                <a:solidFill>
                  <a:srgbClr val="002060"/>
                </a:solidFill>
              </a:rPr>
              <a:t>ke</a:t>
            </a:r>
            <a:r>
              <a:rPr lang="en-US" sz="1400" b="1" dirty="0">
                <a:solidFill>
                  <a:srgbClr val="002060"/>
                </a:solidFill>
              </a:rPr>
              <a:t> directory /</a:t>
            </a:r>
            <a:r>
              <a:rPr lang="en-US" sz="1400" b="1" dirty="0" err="1">
                <a:solidFill>
                  <a:srgbClr val="002060"/>
                </a:solidFill>
              </a:rPr>
              <a:t>etc</a:t>
            </a:r>
            <a:r>
              <a:rPr lang="en-US" sz="1400" b="1" dirty="0">
                <a:solidFill>
                  <a:srgbClr val="002060"/>
                </a:solidFill>
              </a:rPr>
              <a:t>/</a:t>
            </a:r>
            <a:r>
              <a:rPr lang="en-US" sz="1400" b="1" dirty="0" err="1">
                <a:solidFill>
                  <a:srgbClr val="002060"/>
                </a:solidFill>
              </a:rPr>
              <a:t>kolla</a:t>
            </a:r>
            <a:r>
              <a:rPr lang="en-US" sz="1400" b="1" dirty="0">
                <a:solidFill>
                  <a:srgbClr val="002060"/>
                </a:solidFill>
              </a:rPr>
              <a:t>:</a:t>
            </a:r>
            <a:endParaRPr lang="en-US" sz="1400" b="1" dirty="0" smtClean="0">
              <a:solidFill>
                <a:srgbClr val="002060"/>
              </a:solidFill>
            </a:endParaRPr>
          </a:p>
          <a:p>
            <a:pPr lvl="0" eaLnBrk="0" fontAlgn="base" hangingPunct="0">
              <a:spcBef>
                <a:spcPct val="0"/>
              </a:spcBef>
              <a:spcAft>
                <a:spcPct val="0"/>
              </a:spcAft>
            </a:pPr>
            <a:r>
              <a:rPr lang="en-US" sz="1400" b="1" dirty="0" smtClean="0">
                <a:solidFill>
                  <a:srgbClr val="002060"/>
                </a:solidFill>
              </a:rPr>
              <a:t># </a:t>
            </a:r>
            <a:r>
              <a:rPr lang="en-US" altLang="en-US" sz="1400" dirty="0" err="1">
                <a:solidFill>
                  <a:srgbClr val="333333"/>
                </a:solidFill>
                <a:latin typeface="Courier New" panose="02070309020205020404" pitchFamily="49" charset="0"/>
                <a:cs typeface="Courier New" panose="02070309020205020404" pitchFamily="49" charset="0"/>
              </a:rPr>
              <a:t>cp</a:t>
            </a:r>
            <a:r>
              <a:rPr lang="en-US" altLang="en-US" sz="1400" dirty="0">
                <a:solidFill>
                  <a:srgbClr val="333333"/>
                </a:solidFill>
                <a:latin typeface="Courier New" panose="02070309020205020404" pitchFamily="49" charset="0"/>
                <a:cs typeface="Courier New" panose="02070309020205020404" pitchFamily="49" charset="0"/>
              </a:rPr>
              <a:t> -r /</a:t>
            </a:r>
            <a:r>
              <a:rPr lang="en-US" altLang="en-US" sz="1400" dirty="0" smtClean="0">
                <a:solidFill>
                  <a:srgbClr val="333333"/>
                </a:solidFill>
                <a:latin typeface="Courier New" panose="02070309020205020404" pitchFamily="49" charset="0"/>
                <a:cs typeface="Courier New" panose="02070309020205020404" pitchFamily="49" charset="0"/>
              </a:rPr>
              <a:t>home/panda/deploy/share/</a:t>
            </a:r>
            <a:r>
              <a:rPr lang="en-US" altLang="en-US" sz="1400" dirty="0" err="1" smtClean="0">
                <a:solidFill>
                  <a:srgbClr val="333333"/>
                </a:solidFill>
                <a:latin typeface="Courier New" panose="02070309020205020404" pitchFamily="49" charset="0"/>
                <a:cs typeface="Courier New" panose="02070309020205020404" pitchFamily="49" charset="0"/>
              </a:rPr>
              <a:t>kolla-ansible</a:t>
            </a:r>
            <a:r>
              <a:rPr lang="en-US" altLang="en-US" sz="1400" dirty="0" smtClean="0">
                <a:solidFill>
                  <a:srgbClr val="333333"/>
                </a:solidFill>
                <a:latin typeface="Courier New" panose="02070309020205020404" pitchFamily="49" charset="0"/>
                <a:cs typeface="Courier New" panose="02070309020205020404" pitchFamily="49" charset="0"/>
              </a:rPr>
              <a:t>/</a:t>
            </a:r>
            <a:r>
              <a:rPr lang="en-US" altLang="en-US" sz="1400" dirty="0" err="1" smtClean="0">
                <a:solidFill>
                  <a:srgbClr val="333333"/>
                </a:solidFill>
                <a:latin typeface="Courier New" panose="02070309020205020404" pitchFamily="49" charset="0"/>
                <a:cs typeface="Courier New" panose="02070309020205020404" pitchFamily="49" charset="0"/>
              </a:rPr>
              <a:t>etc_examples</a:t>
            </a:r>
            <a:r>
              <a:rPr lang="en-US" altLang="en-US" sz="1400" dirty="0" smtClean="0">
                <a:solidFill>
                  <a:srgbClr val="333333"/>
                </a:solidFill>
                <a:latin typeface="Courier New" panose="02070309020205020404" pitchFamily="49" charset="0"/>
                <a:cs typeface="Courier New" panose="02070309020205020404" pitchFamily="49" charset="0"/>
              </a:rPr>
              <a:t>/</a:t>
            </a:r>
            <a:r>
              <a:rPr lang="en-US" altLang="en-US" sz="1400" dirty="0" err="1" smtClean="0">
                <a:solidFill>
                  <a:srgbClr val="333333"/>
                </a:solidFill>
                <a:latin typeface="Courier New" panose="02070309020205020404" pitchFamily="49" charset="0"/>
                <a:cs typeface="Courier New" panose="02070309020205020404" pitchFamily="49" charset="0"/>
              </a:rPr>
              <a:t>kolla</a:t>
            </a:r>
            <a:r>
              <a:rPr lang="en-US" altLang="en-US" sz="1400" dirty="0">
                <a:solidFill>
                  <a:srgbClr val="333333"/>
                </a:solidFill>
                <a:latin typeface="Courier New" panose="02070309020205020404" pitchFamily="49" charset="0"/>
                <a:cs typeface="Courier New" panose="02070309020205020404" pitchFamily="49" charset="0"/>
              </a:rPr>
              <a:t>/* /</a:t>
            </a:r>
            <a:r>
              <a:rPr lang="en-US" altLang="en-US" sz="1400" dirty="0" err="1">
                <a:solidFill>
                  <a:srgbClr val="333333"/>
                </a:solidFill>
                <a:latin typeface="Courier New" panose="02070309020205020404" pitchFamily="49" charset="0"/>
                <a:cs typeface="Courier New" panose="02070309020205020404" pitchFamily="49" charset="0"/>
              </a:rPr>
              <a:t>etc</a:t>
            </a:r>
            <a:r>
              <a:rPr lang="en-US" altLang="en-US" sz="1400" dirty="0">
                <a:solidFill>
                  <a:srgbClr val="333333"/>
                </a:solidFill>
                <a:latin typeface="Courier New" panose="02070309020205020404" pitchFamily="49" charset="0"/>
                <a:cs typeface="Courier New" panose="02070309020205020404" pitchFamily="49" charset="0"/>
              </a:rPr>
              <a:t>/</a:t>
            </a:r>
            <a:r>
              <a:rPr lang="en-US" altLang="en-US" sz="1400" dirty="0" err="1">
                <a:solidFill>
                  <a:srgbClr val="333333"/>
                </a:solidFill>
                <a:latin typeface="Courier New" panose="02070309020205020404" pitchFamily="49" charset="0"/>
                <a:cs typeface="Courier New" panose="02070309020205020404" pitchFamily="49" charset="0"/>
              </a:rPr>
              <a:t>kolla</a:t>
            </a:r>
            <a:r>
              <a:rPr lang="en-US" altLang="en-US" sz="800" dirty="0"/>
              <a:t> </a:t>
            </a:r>
            <a:endParaRPr lang="en-US" altLang="en-US" sz="800" dirty="0" smtClean="0"/>
          </a:p>
          <a:p>
            <a:pPr lvl="0" eaLnBrk="0" fontAlgn="base" hangingPunct="0">
              <a:spcBef>
                <a:spcPct val="0"/>
              </a:spcBef>
              <a:spcAft>
                <a:spcPct val="0"/>
              </a:spcAft>
            </a:pPr>
            <a:endParaRPr lang="en-US" altLang="en-US" sz="800" dirty="0">
              <a:latin typeface="Arial" panose="020B0604020202020204" pitchFamily="34" charset="0"/>
            </a:endParaRPr>
          </a:p>
          <a:p>
            <a:pPr lvl="0" eaLnBrk="0" fontAlgn="base" hangingPunct="0">
              <a:spcBef>
                <a:spcPct val="0"/>
              </a:spcBef>
              <a:spcAft>
                <a:spcPct val="0"/>
              </a:spcAft>
            </a:pPr>
            <a:endParaRPr lang="en-US" altLang="en-US" sz="800" dirty="0" smtClean="0">
              <a:latin typeface="Arial" panose="020B0604020202020204" pitchFamily="34" charset="0"/>
            </a:endParaRPr>
          </a:p>
          <a:p>
            <a:pPr eaLnBrk="0" fontAlgn="base" hangingPunct="0">
              <a:spcBef>
                <a:spcPct val="0"/>
              </a:spcBef>
              <a:spcAft>
                <a:spcPct val="0"/>
              </a:spcAft>
            </a:pPr>
            <a:r>
              <a:rPr lang="en-US" sz="1400" b="1" dirty="0" err="1">
                <a:solidFill>
                  <a:srgbClr val="002060"/>
                </a:solidFill>
              </a:rPr>
              <a:t>Salin</a:t>
            </a:r>
            <a:r>
              <a:rPr lang="en-US" sz="1400" b="1" dirty="0">
                <a:solidFill>
                  <a:srgbClr val="002060"/>
                </a:solidFill>
              </a:rPr>
              <a:t> file </a:t>
            </a:r>
            <a:r>
              <a:rPr lang="en-US" sz="1400" b="1" dirty="0" err="1">
                <a:solidFill>
                  <a:srgbClr val="002060"/>
                </a:solidFill>
              </a:rPr>
              <a:t>konfigurasi</a:t>
            </a:r>
            <a:r>
              <a:rPr lang="en-US" sz="1400" b="1" dirty="0">
                <a:solidFill>
                  <a:srgbClr val="002060"/>
                </a:solidFill>
              </a:rPr>
              <a:t> </a:t>
            </a:r>
            <a:r>
              <a:rPr lang="en-US" sz="1400" b="1" dirty="0" smtClean="0">
                <a:solidFill>
                  <a:srgbClr val="002060"/>
                </a:solidFill>
              </a:rPr>
              <a:t>all-in-one:</a:t>
            </a:r>
          </a:p>
          <a:p>
            <a:pPr eaLnBrk="0" fontAlgn="base" hangingPunct="0">
              <a:spcBef>
                <a:spcPct val="0"/>
              </a:spcBef>
              <a:spcAft>
                <a:spcPct val="0"/>
              </a:spcAft>
            </a:pPr>
            <a:r>
              <a:rPr lang="en-US" sz="1400" b="1" dirty="0" smtClean="0">
                <a:solidFill>
                  <a:srgbClr val="002060"/>
                </a:solidFill>
              </a:rPr>
              <a:t># </a:t>
            </a:r>
            <a:r>
              <a:rPr lang="en-US" altLang="en-US" sz="1400" dirty="0" err="1">
                <a:solidFill>
                  <a:srgbClr val="333333"/>
                </a:solidFill>
                <a:latin typeface="Courier New" panose="02070309020205020404" pitchFamily="49" charset="0"/>
                <a:cs typeface="Courier New" panose="02070309020205020404" pitchFamily="49" charset="0"/>
              </a:rPr>
              <a:t>cp</a:t>
            </a:r>
            <a:r>
              <a:rPr lang="en-US" altLang="en-US" sz="1400" dirty="0">
                <a:solidFill>
                  <a:srgbClr val="333333"/>
                </a:solidFill>
                <a:latin typeface="Courier New" panose="02070309020205020404" pitchFamily="49" charset="0"/>
                <a:cs typeface="Courier New" panose="02070309020205020404" pitchFamily="49" charset="0"/>
              </a:rPr>
              <a:t> /path/to/</a:t>
            </a:r>
            <a:r>
              <a:rPr lang="en-US" altLang="en-US" sz="1400" dirty="0" err="1">
                <a:solidFill>
                  <a:srgbClr val="333333"/>
                </a:solidFill>
                <a:latin typeface="Courier New" panose="02070309020205020404" pitchFamily="49" charset="0"/>
                <a:cs typeface="Courier New" panose="02070309020205020404" pitchFamily="49" charset="0"/>
              </a:rPr>
              <a:t>venv</a:t>
            </a:r>
            <a:r>
              <a:rPr lang="en-US" altLang="en-US" sz="1400" dirty="0">
                <a:solidFill>
                  <a:srgbClr val="333333"/>
                </a:solidFill>
                <a:latin typeface="Courier New" panose="02070309020205020404" pitchFamily="49" charset="0"/>
                <a:cs typeface="Courier New" panose="02070309020205020404" pitchFamily="49" charset="0"/>
              </a:rPr>
              <a:t>/share/</a:t>
            </a:r>
            <a:r>
              <a:rPr lang="en-US" altLang="en-US" sz="1400" dirty="0" err="1">
                <a:solidFill>
                  <a:srgbClr val="333333"/>
                </a:solidFill>
                <a:latin typeface="Courier New" panose="02070309020205020404" pitchFamily="49" charset="0"/>
                <a:cs typeface="Courier New" panose="02070309020205020404" pitchFamily="49" charset="0"/>
              </a:rPr>
              <a:t>kolla-ansible</a:t>
            </a:r>
            <a:r>
              <a:rPr lang="en-US" altLang="en-US" sz="1400" dirty="0">
                <a:solidFill>
                  <a:srgbClr val="333333"/>
                </a:solidFill>
                <a:latin typeface="Courier New" panose="02070309020205020404" pitchFamily="49" charset="0"/>
                <a:cs typeface="Courier New" panose="02070309020205020404" pitchFamily="49" charset="0"/>
              </a:rPr>
              <a:t>/</a:t>
            </a:r>
            <a:r>
              <a:rPr lang="en-US" altLang="en-US" sz="1400" dirty="0" err="1">
                <a:solidFill>
                  <a:srgbClr val="333333"/>
                </a:solidFill>
                <a:latin typeface="Courier New" panose="02070309020205020404" pitchFamily="49" charset="0"/>
                <a:cs typeface="Courier New" panose="02070309020205020404" pitchFamily="49" charset="0"/>
              </a:rPr>
              <a:t>ansible</a:t>
            </a:r>
            <a:r>
              <a:rPr lang="en-US" altLang="en-US" sz="1400" dirty="0">
                <a:solidFill>
                  <a:srgbClr val="333333"/>
                </a:solidFill>
                <a:latin typeface="Courier New" panose="02070309020205020404" pitchFamily="49" charset="0"/>
                <a:cs typeface="Courier New" panose="02070309020205020404" pitchFamily="49" charset="0"/>
              </a:rPr>
              <a:t>/inventory/all-in-one /</a:t>
            </a:r>
            <a:r>
              <a:rPr lang="en-US" altLang="en-US" sz="1400" dirty="0" smtClean="0">
                <a:solidFill>
                  <a:srgbClr val="333333"/>
                </a:solidFill>
                <a:latin typeface="Courier New" panose="02070309020205020404" pitchFamily="49" charset="0"/>
                <a:cs typeface="Courier New" panose="02070309020205020404" pitchFamily="49" charset="0"/>
              </a:rPr>
              <a:t>home/panda/</a:t>
            </a:r>
            <a:r>
              <a:rPr lang="en-US" altLang="en-US" sz="800" dirty="0" smtClean="0"/>
              <a:t> </a:t>
            </a:r>
            <a:endParaRPr lang="en-US" altLang="en-US" sz="3200" dirty="0">
              <a:latin typeface="Arial" panose="020B0604020202020204" pitchFamily="34" charset="0"/>
            </a:endParaRPr>
          </a:p>
          <a:p>
            <a:r>
              <a:rPr lang="en-US" sz="1400" b="1" dirty="0" err="1" smtClean="0">
                <a:solidFill>
                  <a:srgbClr val="002060"/>
                </a:solidFill>
              </a:rPr>
              <a:t>Tambahkan</a:t>
            </a:r>
            <a:r>
              <a:rPr lang="en-US" sz="1400" b="1" dirty="0" smtClean="0">
                <a:solidFill>
                  <a:srgbClr val="002060"/>
                </a:solidFill>
              </a:rPr>
              <a:t> </a:t>
            </a:r>
            <a:r>
              <a:rPr lang="en-US" sz="1400" b="1" dirty="0">
                <a:solidFill>
                  <a:srgbClr val="002060"/>
                </a:solidFill>
              </a:rPr>
              <a:t>python interpreter </a:t>
            </a:r>
            <a:r>
              <a:rPr lang="en-US" sz="1400" b="1" dirty="0" err="1">
                <a:solidFill>
                  <a:srgbClr val="002060"/>
                </a:solidFill>
              </a:rPr>
              <a:t>pada</a:t>
            </a:r>
            <a:r>
              <a:rPr lang="en-US" sz="1400" b="1" dirty="0">
                <a:solidFill>
                  <a:srgbClr val="002060"/>
                </a:solidFill>
              </a:rPr>
              <a:t> </a:t>
            </a:r>
            <a:r>
              <a:rPr lang="en-US" sz="1400" b="1" dirty="0" err="1">
                <a:solidFill>
                  <a:srgbClr val="002060"/>
                </a:solidFill>
              </a:rPr>
              <a:t>konfigurasi</a:t>
            </a:r>
            <a:r>
              <a:rPr lang="en-US" sz="1400" b="1" dirty="0">
                <a:solidFill>
                  <a:srgbClr val="002060"/>
                </a:solidFill>
              </a:rPr>
              <a:t> all-in-one</a:t>
            </a:r>
            <a:endParaRPr lang="en-US" sz="1400" dirty="0">
              <a:solidFill>
                <a:srgbClr val="002060"/>
              </a:solidFill>
            </a:endParaRPr>
          </a:p>
          <a:p>
            <a:r>
              <a:rPr lang="en-US" sz="1200" dirty="0" err="1"/>
              <a:t>Pastikan</a:t>
            </a:r>
            <a:r>
              <a:rPr lang="en-US" sz="1200" dirty="0"/>
              <a:t> virtual environment </a:t>
            </a:r>
            <a:r>
              <a:rPr lang="en-US" sz="1200" dirty="0" err="1"/>
              <a:t>sudah</a:t>
            </a:r>
            <a:r>
              <a:rPr lang="en-US" sz="1200" dirty="0"/>
              <a:t> </a:t>
            </a:r>
            <a:r>
              <a:rPr lang="en-US" sz="1200" dirty="0" err="1"/>
              <a:t>aktif</a:t>
            </a:r>
            <a:r>
              <a:rPr lang="en-US" sz="1200" dirty="0"/>
              <a:t> </a:t>
            </a:r>
            <a:r>
              <a:rPr lang="en-US" sz="1200" dirty="0" err="1"/>
              <a:t>sebelum</a:t>
            </a:r>
            <a:r>
              <a:rPr lang="en-US" sz="1200" dirty="0"/>
              <a:t> </a:t>
            </a:r>
            <a:r>
              <a:rPr lang="en-US" sz="1200" dirty="0" err="1"/>
              <a:t>menjalankan</a:t>
            </a:r>
            <a:r>
              <a:rPr lang="en-US" sz="1200" dirty="0"/>
              <a:t> command </a:t>
            </a:r>
            <a:r>
              <a:rPr lang="en-US" sz="1200" dirty="0" err="1"/>
              <a:t>ini</a:t>
            </a:r>
            <a:r>
              <a:rPr lang="en-US" sz="1200" dirty="0"/>
              <a:t>:</a:t>
            </a:r>
          </a:p>
          <a:p>
            <a:pPr eaLnBrk="0" fontAlgn="base" hangingPunct="0">
              <a:spcBef>
                <a:spcPct val="0"/>
              </a:spcBef>
              <a:spcAft>
                <a:spcPct val="0"/>
              </a:spcAft>
            </a:pPr>
            <a:r>
              <a:rPr lang="en-US" sz="1400" b="1" dirty="0" smtClean="0">
                <a:solidFill>
                  <a:srgbClr val="002060"/>
                </a:solidFill>
              </a:rPr>
              <a:t>#  </a:t>
            </a:r>
            <a:r>
              <a:rPr lang="en-US" sz="1400" dirty="0" smtClean="0">
                <a:solidFill>
                  <a:srgbClr val="0070C0"/>
                </a:solidFill>
              </a:rPr>
              <a:t>source </a:t>
            </a:r>
            <a:r>
              <a:rPr lang="en-US" sz="1400" dirty="0">
                <a:solidFill>
                  <a:srgbClr val="0070C0"/>
                </a:solidFill>
              </a:rPr>
              <a:t>/</a:t>
            </a:r>
            <a:r>
              <a:rPr lang="en-US" sz="1400" dirty="0" smtClean="0">
                <a:solidFill>
                  <a:srgbClr val="0070C0"/>
                </a:solidFill>
              </a:rPr>
              <a:t>home/panda/deploy/bin/activate</a:t>
            </a:r>
            <a:endParaRPr lang="en-US" sz="1400" dirty="0">
              <a:solidFill>
                <a:srgbClr val="0070C0"/>
              </a:solidFill>
            </a:endParaRPr>
          </a:p>
        </p:txBody>
      </p:sp>
      <p:sp>
        <p:nvSpPr>
          <p:cNvPr id="10" name="Rectangle 9"/>
          <p:cNvSpPr/>
          <p:nvPr/>
        </p:nvSpPr>
        <p:spPr>
          <a:xfrm>
            <a:off x="205220" y="1778193"/>
            <a:ext cx="3886200" cy="31384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1" name="Rectangle 10"/>
          <p:cNvSpPr/>
          <p:nvPr/>
        </p:nvSpPr>
        <p:spPr>
          <a:xfrm>
            <a:off x="193963" y="4049188"/>
            <a:ext cx="4156364" cy="79138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6" name="Rectangle 15"/>
          <p:cNvSpPr/>
          <p:nvPr/>
        </p:nvSpPr>
        <p:spPr>
          <a:xfrm>
            <a:off x="4629150" y="2083300"/>
            <a:ext cx="4099214" cy="63296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7" name="Rectangle 16"/>
          <p:cNvSpPr/>
          <p:nvPr/>
        </p:nvSpPr>
        <p:spPr>
          <a:xfrm>
            <a:off x="4600575" y="3108797"/>
            <a:ext cx="4099214" cy="63296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64622480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11</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93963" y="654809"/>
            <a:ext cx="4156364" cy="3554819"/>
          </a:xfrm>
          <a:prstGeom prst="rect">
            <a:avLst/>
          </a:prstGeom>
        </p:spPr>
        <p:txBody>
          <a:bodyPr wrap="square">
            <a:spAutoFit/>
          </a:bodyPr>
          <a:lstStyle/>
          <a:p>
            <a:pPr algn="just"/>
            <a:r>
              <a:rPr lang="en-US" sz="1400" b="1" dirty="0" err="1">
                <a:solidFill>
                  <a:srgbClr val="002060"/>
                </a:solidFill>
              </a:rPr>
              <a:t>Cari</a:t>
            </a:r>
            <a:r>
              <a:rPr lang="en-US" sz="1400" b="1" dirty="0">
                <a:solidFill>
                  <a:srgbClr val="002060"/>
                </a:solidFill>
              </a:rPr>
              <a:t> </a:t>
            </a:r>
            <a:r>
              <a:rPr lang="en-US" sz="1400" b="1" dirty="0" err="1">
                <a:solidFill>
                  <a:srgbClr val="002060"/>
                </a:solidFill>
              </a:rPr>
              <a:t>lokasi</a:t>
            </a:r>
            <a:r>
              <a:rPr lang="en-US" sz="1400" b="1" dirty="0">
                <a:solidFill>
                  <a:srgbClr val="002060"/>
                </a:solidFill>
              </a:rPr>
              <a:t> binary </a:t>
            </a:r>
            <a:r>
              <a:rPr lang="en-US" sz="1400" b="1" dirty="0" smtClean="0">
                <a:solidFill>
                  <a:srgbClr val="002060"/>
                </a:solidFill>
              </a:rPr>
              <a:t>python:</a:t>
            </a:r>
          </a:p>
          <a:p>
            <a:pPr algn="just"/>
            <a:r>
              <a:rPr lang="en-US" sz="1400" b="1" dirty="0" smtClean="0">
                <a:solidFill>
                  <a:srgbClr val="0070C0"/>
                </a:solidFill>
              </a:rPr>
              <a:t>which </a:t>
            </a:r>
            <a:r>
              <a:rPr lang="en-US" sz="1400" b="1" dirty="0">
                <a:solidFill>
                  <a:srgbClr val="0070C0"/>
                </a:solidFill>
              </a:rPr>
              <a:t>python</a:t>
            </a:r>
          </a:p>
          <a:p>
            <a:pPr algn="just"/>
            <a:r>
              <a:rPr lang="en-US" sz="1400" b="1" dirty="0">
                <a:solidFill>
                  <a:srgbClr val="0070C0"/>
                </a:solidFill>
              </a:rPr>
              <a:t>/</a:t>
            </a:r>
            <a:r>
              <a:rPr lang="en-US" sz="1400" b="1" dirty="0" smtClean="0">
                <a:solidFill>
                  <a:srgbClr val="0070C0"/>
                </a:solidFill>
              </a:rPr>
              <a:t>home/panda/Deploy/bin/python</a:t>
            </a:r>
          </a:p>
          <a:p>
            <a:pPr algn="just"/>
            <a:endParaRPr lang="en-US" sz="1400" b="1" dirty="0">
              <a:solidFill>
                <a:srgbClr val="0070C0"/>
              </a:solidFill>
            </a:endParaRPr>
          </a:p>
          <a:p>
            <a:r>
              <a:rPr lang="nb-NO" sz="1400" b="1" dirty="0">
                <a:solidFill>
                  <a:srgbClr val="002060"/>
                </a:solidFill>
              </a:rPr>
              <a:t>Tambahkan interpreter sesuai lokasi </a:t>
            </a:r>
            <a:endParaRPr lang="nb-NO" sz="1400" b="1" dirty="0" smtClean="0">
              <a:solidFill>
                <a:srgbClr val="002060"/>
              </a:solidFill>
            </a:endParaRPr>
          </a:p>
          <a:p>
            <a:pPr lvl="0" eaLnBrk="0" fontAlgn="base" hangingPunct="0">
              <a:spcBef>
                <a:spcPct val="0"/>
              </a:spcBef>
              <a:spcAft>
                <a:spcPct val="0"/>
              </a:spcAft>
            </a:pPr>
            <a:r>
              <a:rPr lang="en-US" altLang="en-US" sz="1400" dirty="0">
                <a:solidFill>
                  <a:srgbClr val="333333"/>
                </a:solidFill>
                <a:latin typeface="Courier New" panose="02070309020205020404" pitchFamily="49" charset="0"/>
                <a:cs typeface="Courier New" panose="02070309020205020404" pitchFamily="49" charset="0"/>
              </a:rPr>
              <a:t>vi all-in-one </a:t>
            </a:r>
            <a:endParaRPr lang="en-US" altLang="en-US" sz="1400" dirty="0" smtClean="0">
              <a:solidFill>
                <a:srgbClr val="333333"/>
              </a:solidFill>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en-US" altLang="en-US" sz="1400" dirty="0" smtClean="0">
                <a:solidFill>
                  <a:srgbClr val="333333"/>
                </a:solidFill>
                <a:latin typeface="Courier New" panose="02070309020205020404" pitchFamily="49" charset="0"/>
                <a:cs typeface="Courier New" panose="02070309020205020404" pitchFamily="49" charset="0"/>
              </a:rPr>
              <a:t>... </a:t>
            </a:r>
          </a:p>
          <a:p>
            <a:pPr lvl="0" eaLnBrk="0" fontAlgn="base" hangingPunct="0">
              <a:spcBef>
                <a:spcPct val="0"/>
              </a:spcBef>
              <a:spcAft>
                <a:spcPct val="0"/>
              </a:spcAft>
            </a:pPr>
            <a:r>
              <a:rPr lang="en-US" altLang="en-US" sz="1400" dirty="0" smtClean="0">
                <a:solidFill>
                  <a:srgbClr val="333333"/>
                </a:solidFill>
                <a:latin typeface="Courier New" panose="02070309020205020404" pitchFamily="49" charset="0"/>
                <a:cs typeface="Courier New" panose="02070309020205020404" pitchFamily="49" charset="0"/>
              </a:rPr>
              <a:t>Localhost </a:t>
            </a:r>
            <a:r>
              <a:rPr lang="en-US" altLang="en-US" sz="1400" dirty="0" err="1" smtClean="0">
                <a:solidFill>
                  <a:srgbClr val="333333"/>
                </a:solidFill>
                <a:latin typeface="Courier New" panose="02070309020205020404" pitchFamily="49" charset="0"/>
                <a:cs typeface="Courier New" panose="02070309020205020404" pitchFamily="49" charset="0"/>
              </a:rPr>
              <a:t>ansible_python_interpreter</a:t>
            </a:r>
            <a:r>
              <a:rPr lang="en-US" altLang="en-US" sz="1400" dirty="0">
                <a:solidFill>
                  <a:srgbClr val="333333"/>
                </a:solidFill>
                <a:latin typeface="Courier New" panose="02070309020205020404" pitchFamily="49" charset="0"/>
                <a:cs typeface="Courier New" panose="02070309020205020404" pitchFamily="49" charset="0"/>
              </a:rPr>
              <a:t>=/</a:t>
            </a:r>
            <a:r>
              <a:rPr lang="en-US" altLang="en-US" sz="1400" dirty="0" smtClean="0">
                <a:solidFill>
                  <a:srgbClr val="333333"/>
                </a:solidFill>
                <a:latin typeface="Courier New" panose="02070309020205020404" pitchFamily="49" charset="0"/>
                <a:cs typeface="Courier New" panose="02070309020205020404" pitchFamily="49" charset="0"/>
              </a:rPr>
              <a:t>home/panda/deploy/bin/python</a:t>
            </a:r>
            <a:r>
              <a:rPr lang="en-US" altLang="en-US" sz="800" dirty="0" smtClean="0"/>
              <a:t> </a:t>
            </a:r>
            <a:endParaRPr lang="en-US" altLang="en-US" sz="3200" dirty="0">
              <a:latin typeface="Arial" panose="020B0604020202020204" pitchFamily="34" charset="0"/>
            </a:endParaRPr>
          </a:p>
          <a:p>
            <a:endParaRPr lang="nb-NO" sz="1400" b="1" dirty="0" smtClean="0">
              <a:solidFill>
                <a:srgbClr val="002060"/>
              </a:solidFill>
            </a:endParaRPr>
          </a:p>
          <a:p>
            <a:pPr lvl="0" eaLnBrk="0" fontAlgn="base" hangingPunct="0">
              <a:spcBef>
                <a:spcPct val="0"/>
              </a:spcBef>
              <a:spcAft>
                <a:spcPct val="0"/>
              </a:spcAft>
            </a:pPr>
            <a:endParaRPr lang="en-US" altLang="en-US" sz="900" b="1" dirty="0">
              <a:solidFill>
                <a:srgbClr val="002060"/>
              </a:solidFill>
              <a:latin typeface="Arial" panose="020B0604020202020204" pitchFamily="34" charset="0"/>
            </a:endParaRPr>
          </a:p>
          <a:p>
            <a:pPr lvl="0" eaLnBrk="0" fontAlgn="base" hangingPunct="0">
              <a:spcBef>
                <a:spcPct val="0"/>
              </a:spcBef>
              <a:spcAft>
                <a:spcPct val="0"/>
              </a:spcAft>
            </a:pPr>
            <a:r>
              <a:rPr lang="en-US" altLang="en-US" b="1" dirty="0">
                <a:solidFill>
                  <a:srgbClr val="002060"/>
                </a:solidFill>
                <a:latin typeface="Arial" panose="020B0604020202020204" pitchFamily="34" charset="0"/>
              </a:rPr>
              <a:t>Install </a:t>
            </a:r>
            <a:r>
              <a:rPr lang="en-US" altLang="en-US" b="1" dirty="0" err="1">
                <a:solidFill>
                  <a:srgbClr val="002060"/>
                </a:solidFill>
                <a:latin typeface="Arial" panose="020B0604020202020204" pitchFamily="34" charset="0"/>
              </a:rPr>
              <a:t>Ansible</a:t>
            </a:r>
            <a:r>
              <a:rPr lang="en-US" altLang="en-US" b="1" dirty="0">
                <a:solidFill>
                  <a:srgbClr val="002060"/>
                </a:solidFill>
                <a:latin typeface="Arial" panose="020B0604020202020204" pitchFamily="34" charset="0"/>
              </a:rPr>
              <a:t> Galaxy requirements</a:t>
            </a:r>
          </a:p>
          <a:p>
            <a:pPr lvl="0" algn="just" eaLnBrk="0" fontAlgn="base" hangingPunct="0">
              <a:spcBef>
                <a:spcPct val="0"/>
              </a:spcBef>
              <a:spcAft>
                <a:spcPct val="0"/>
              </a:spcAft>
            </a:pPr>
            <a:r>
              <a:rPr lang="en-US" altLang="en-US" sz="1400" dirty="0" err="1">
                <a:latin typeface="Arial" panose="020B0604020202020204" pitchFamily="34" charset="0"/>
              </a:rPr>
              <a:t>Pastikan</a:t>
            </a:r>
            <a:r>
              <a:rPr lang="en-US" altLang="en-US" sz="1400" dirty="0">
                <a:latin typeface="Arial" panose="020B0604020202020204" pitchFamily="34" charset="0"/>
              </a:rPr>
              <a:t> virtual environment </a:t>
            </a:r>
            <a:r>
              <a:rPr lang="en-US" altLang="en-US" sz="1400" dirty="0" err="1">
                <a:latin typeface="Arial" panose="020B0604020202020204" pitchFamily="34" charset="0"/>
              </a:rPr>
              <a:t>sudah</a:t>
            </a:r>
            <a:r>
              <a:rPr lang="en-US" altLang="en-US" sz="1400" dirty="0">
                <a:latin typeface="Arial" panose="020B0604020202020204" pitchFamily="34" charset="0"/>
              </a:rPr>
              <a:t> </a:t>
            </a:r>
            <a:r>
              <a:rPr lang="en-US" altLang="en-US" sz="1400" dirty="0" err="1">
                <a:latin typeface="Arial" panose="020B0604020202020204" pitchFamily="34" charset="0"/>
              </a:rPr>
              <a:t>aktif</a:t>
            </a:r>
            <a:r>
              <a:rPr lang="en-US" altLang="en-US" sz="1400" dirty="0">
                <a:latin typeface="Arial" panose="020B0604020202020204" pitchFamily="34" charset="0"/>
              </a:rPr>
              <a:t> </a:t>
            </a:r>
            <a:r>
              <a:rPr lang="en-US" altLang="en-US" sz="1400" dirty="0" err="1">
                <a:latin typeface="Arial" panose="020B0604020202020204" pitchFamily="34" charset="0"/>
              </a:rPr>
              <a:t>sebelum</a:t>
            </a:r>
            <a:r>
              <a:rPr lang="en-US" altLang="en-US" sz="1400" dirty="0">
                <a:latin typeface="Arial" panose="020B0604020202020204" pitchFamily="34" charset="0"/>
              </a:rPr>
              <a:t> </a:t>
            </a:r>
            <a:r>
              <a:rPr lang="en-US" altLang="en-US" sz="1400" dirty="0" err="1">
                <a:latin typeface="Arial" panose="020B0604020202020204" pitchFamily="34" charset="0"/>
              </a:rPr>
              <a:t>menjalankan</a:t>
            </a:r>
            <a:r>
              <a:rPr lang="en-US" altLang="en-US" sz="1400" dirty="0">
                <a:latin typeface="Arial" panose="020B0604020202020204" pitchFamily="34" charset="0"/>
              </a:rPr>
              <a:t> command </a:t>
            </a:r>
            <a:r>
              <a:rPr lang="en-US" altLang="en-US" sz="1400" dirty="0" err="1">
                <a:latin typeface="Arial" panose="020B0604020202020204" pitchFamily="34" charset="0"/>
              </a:rPr>
              <a:t>ini</a:t>
            </a:r>
            <a:r>
              <a:rPr lang="en-US" altLang="en-US" sz="1400" dirty="0">
                <a:latin typeface="Arial" panose="020B0604020202020204" pitchFamily="34" charset="0"/>
              </a:rPr>
              <a:t>:</a:t>
            </a:r>
          </a:p>
          <a:p>
            <a:pPr eaLnBrk="0" fontAlgn="base" hangingPunct="0">
              <a:spcBef>
                <a:spcPct val="0"/>
              </a:spcBef>
              <a:spcAft>
                <a:spcPct val="0"/>
              </a:spcAft>
            </a:pPr>
            <a:r>
              <a:rPr lang="en-US" sz="1600" b="1" dirty="0">
                <a:solidFill>
                  <a:srgbClr val="002060"/>
                </a:solidFill>
              </a:rPr>
              <a:t># </a:t>
            </a:r>
            <a:r>
              <a:rPr lang="en-US" altLang="en-US" sz="1600" dirty="0" err="1">
                <a:solidFill>
                  <a:srgbClr val="0070C0"/>
                </a:solidFill>
                <a:latin typeface="Courier New" panose="02070309020205020404" pitchFamily="49" charset="0"/>
                <a:cs typeface="Courier New" panose="02070309020205020404" pitchFamily="49" charset="0"/>
              </a:rPr>
              <a:t>kolla-ansible</a:t>
            </a:r>
            <a:r>
              <a:rPr lang="en-US" altLang="en-US" sz="1600" dirty="0">
                <a:solidFill>
                  <a:srgbClr val="0070C0"/>
                </a:solidFill>
                <a:latin typeface="Courier New" panose="02070309020205020404" pitchFamily="49" charset="0"/>
                <a:cs typeface="Courier New" panose="02070309020205020404" pitchFamily="49" charset="0"/>
              </a:rPr>
              <a:t> install-deps</a:t>
            </a:r>
            <a:r>
              <a:rPr lang="en-US" altLang="en-US" sz="900" dirty="0">
                <a:solidFill>
                  <a:srgbClr val="0070C0"/>
                </a:solidFill>
              </a:rPr>
              <a:t> </a:t>
            </a:r>
            <a:endParaRPr lang="en-US" altLang="en-US" sz="3600" dirty="0">
              <a:solidFill>
                <a:srgbClr val="0070C0"/>
              </a:solidFill>
              <a:latin typeface="Arial" panose="020B0604020202020204" pitchFamily="34" charset="0"/>
            </a:endParaRPr>
          </a:p>
        </p:txBody>
      </p:sp>
      <p:sp>
        <p:nvSpPr>
          <p:cNvPr id="9" name="Rectangle 8"/>
          <p:cNvSpPr/>
          <p:nvPr/>
        </p:nvSpPr>
        <p:spPr>
          <a:xfrm>
            <a:off x="4540827" y="644187"/>
            <a:ext cx="4156364" cy="4339650"/>
          </a:xfrm>
          <a:prstGeom prst="rect">
            <a:avLst/>
          </a:prstGeom>
        </p:spPr>
        <p:txBody>
          <a:bodyPr wrap="square">
            <a:spAutoFit/>
          </a:bodyPr>
          <a:lstStyle/>
          <a:p>
            <a:pPr lvl="0" eaLnBrk="0" fontAlgn="base" hangingPunct="0">
              <a:spcBef>
                <a:spcPct val="0"/>
              </a:spcBef>
              <a:spcAft>
                <a:spcPct val="0"/>
              </a:spcAft>
            </a:pPr>
            <a:endParaRPr lang="en-US" altLang="en-US" sz="800" b="1" dirty="0" smtClean="0">
              <a:solidFill>
                <a:srgbClr val="002060"/>
              </a:solidFill>
              <a:latin typeface="Arial" panose="020B0604020202020204" pitchFamily="34" charset="0"/>
            </a:endParaRPr>
          </a:p>
          <a:p>
            <a:pPr lvl="0" eaLnBrk="0" fontAlgn="base" hangingPunct="0">
              <a:spcBef>
                <a:spcPct val="0"/>
              </a:spcBef>
              <a:spcAft>
                <a:spcPct val="0"/>
              </a:spcAft>
            </a:pPr>
            <a:r>
              <a:rPr lang="en-US" altLang="en-US" sz="1600" b="1" dirty="0" err="1" smtClean="0">
                <a:solidFill>
                  <a:srgbClr val="002060"/>
                </a:solidFill>
                <a:latin typeface="Arial" panose="020B0604020202020204" pitchFamily="34" charset="0"/>
              </a:rPr>
              <a:t>Konfigurasi</a:t>
            </a:r>
            <a:r>
              <a:rPr lang="en-US" altLang="en-US" sz="1600" b="1" dirty="0" smtClean="0">
                <a:solidFill>
                  <a:srgbClr val="002060"/>
                </a:solidFill>
                <a:latin typeface="Arial" panose="020B0604020202020204" pitchFamily="34" charset="0"/>
              </a:rPr>
              <a:t> </a:t>
            </a:r>
            <a:r>
              <a:rPr lang="en-US" altLang="en-US" sz="1600" b="1" dirty="0" err="1" smtClean="0">
                <a:solidFill>
                  <a:srgbClr val="002060"/>
                </a:solidFill>
                <a:latin typeface="Arial" panose="020B0604020202020204" pitchFamily="34" charset="0"/>
              </a:rPr>
              <a:t>Awal</a:t>
            </a:r>
            <a:endParaRPr lang="en-US" altLang="en-US" sz="1600" b="1" dirty="0" smtClean="0">
              <a:solidFill>
                <a:srgbClr val="002060"/>
              </a:solidFill>
              <a:latin typeface="Arial" panose="020B0604020202020204" pitchFamily="34" charset="0"/>
            </a:endParaRPr>
          </a:p>
          <a:p>
            <a:pPr algn="just"/>
            <a:r>
              <a:rPr lang="en-US" sz="1400" b="1" dirty="0"/>
              <a:t>Generate Password</a:t>
            </a:r>
            <a:endParaRPr lang="en-US" sz="1400" dirty="0"/>
          </a:p>
          <a:p>
            <a:pPr algn="just"/>
            <a:r>
              <a:rPr lang="en-US" sz="1400" dirty="0"/>
              <a:t>Password yang </a:t>
            </a:r>
            <a:r>
              <a:rPr lang="en-US" sz="1400" dirty="0" err="1"/>
              <a:t>digunakan</a:t>
            </a:r>
            <a:r>
              <a:rPr lang="en-US" sz="1400" dirty="0"/>
              <a:t> </a:t>
            </a:r>
            <a:r>
              <a:rPr lang="en-US" sz="1400" dirty="0" err="1"/>
              <a:t>oleh</a:t>
            </a:r>
            <a:r>
              <a:rPr lang="en-US" sz="1400" dirty="0"/>
              <a:t> </a:t>
            </a:r>
            <a:r>
              <a:rPr lang="en-US" sz="1400" dirty="0" err="1"/>
              <a:t>kolla</a:t>
            </a:r>
            <a:r>
              <a:rPr lang="en-US" sz="1400" dirty="0"/>
              <a:t> </a:t>
            </a:r>
            <a:r>
              <a:rPr lang="en-US" sz="1400" dirty="0" err="1"/>
              <a:t>ansible</a:t>
            </a:r>
            <a:r>
              <a:rPr lang="en-US" sz="1400" dirty="0"/>
              <a:t> </a:t>
            </a:r>
            <a:r>
              <a:rPr lang="en-US" sz="1400" dirty="0" err="1"/>
              <a:t>disimpan</a:t>
            </a:r>
            <a:r>
              <a:rPr lang="en-US" sz="1400" dirty="0"/>
              <a:t> di </a:t>
            </a:r>
            <a:r>
              <a:rPr lang="en-US" sz="1400" dirty="0" err="1"/>
              <a:t>direktori</a:t>
            </a:r>
            <a:r>
              <a:rPr lang="en-US" sz="1400" dirty="0"/>
              <a:t> </a:t>
            </a:r>
            <a:r>
              <a:rPr lang="en-US" sz="1400" b="1" dirty="0"/>
              <a:t>/</a:t>
            </a:r>
            <a:r>
              <a:rPr lang="en-US" sz="1400" b="1" dirty="0" err="1"/>
              <a:t>etc</a:t>
            </a:r>
            <a:r>
              <a:rPr lang="en-US" sz="1400" b="1" dirty="0"/>
              <a:t>/</a:t>
            </a:r>
            <a:r>
              <a:rPr lang="en-US" sz="1400" b="1" dirty="0" err="1"/>
              <a:t>kolla</a:t>
            </a:r>
            <a:r>
              <a:rPr lang="en-US" sz="1400" b="1" dirty="0"/>
              <a:t>/</a:t>
            </a:r>
            <a:r>
              <a:rPr lang="en-US" sz="1400" b="1" dirty="0" err="1"/>
              <a:t>passwords.yml</a:t>
            </a:r>
            <a:endParaRPr lang="en-US" sz="1400" dirty="0"/>
          </a:p>
          <a:p>
            <a:pPr algn="just"/>
            <a:r>
              <a:rPr lang="en-US" sz="1400" dirty="0" err="1"/>
              <a:t>Pastikan</a:t>
            </a:r>
            <a:r>
              <a:rPr lang="en-US" sz="1400" dirty="0"/>
              <a:t> virtual environment </a:t>
            </a:r>
            <a:r>
              <a:rPr lang="en-US" sz="1400" dirty="0" err="1"/>
              <a:t>sudah</a:t>
            </a:r>
            <a:r>
              <a:rPr lang="en-US" sz="1400" dirty="0"/>
              <a:t> </a:t>
            </a:r>
            <a:r>
              <a:rPr lang="en-US" sz="1400" dirty="0" err="1"/>
              <a:t>aktif</a:t>
            </a:r>
            <a:r>
              <a:rPr lang="en-US" sz="1400" dirty="0"/>
              <a:t> </a:t>
            </a:r>
            <a:r>
              <a:rPr lang="en-US" sz="1400" dirty="0" err="1"/>
              <a:t>sebelum</a:t>
            </a:r>
            <a:r>
              <a:rPr lang="en-US" sz="1400" dirty="0"/>
              <a:t> </a:t>
            </a:r>
            <a:r>
              <a:rPr lang="en-US" sz="1400" dirty="0" err="1"/>
              <a:t>menjalankan</a:t>
            </a:r>
            <a:r>
              <a:rPr lang="en-US" sz="1400" dirty="0"/>
              <a:t> command </a:t>
            </a:r>
            <a:r>
              <a:rPr lang="en-US" sz="1400" dirty="0" err="1"/>
              <a:t>ini</a:t>
            </a:r>
            <a:r>
              <a:rPr lang="en-US" sz="1400" dirty="0"/>
              <a:t>:</a:t>
            </a:r>
          </a:p>
          <a:p>
            <a:pPr algn="just" eaLnBrk="0" fontAlgn="base" hangingPunct="0">
              <a:spcBef>
                <a:spcPct val="0"/>
              </a:spcBef>
              <a:spcAft>
                <a:spcPct val="0"/>
              </a:spcAft>
            </a:pPr>
            <a:r>
              <a:rPr lang="en-US" sz="1400" b="1" dirty="0" smtClean="0">
                <a:solidFill>
                  <a:srgbClr val="002060"/>
                </a:solidFill>
              </a:rPr>
              <a:t># </a:t>
            </a:r>
            <a:r>
              <a:rPr lang="en-US" altLang="en-US" sz="1400" dirty="0" err="1" smtClean="0">
                <a:solidFill>
                  <a:srgbClr val="0070C0"/>
                </a:solidFill>
                <a:latin typeface="Courier New" panose="02070309020205020404" pitchFamily="49" charset="0"/>
                <a:cs typeface="Courier New" panose="02070309020205020404" pitchFamily="49" charset="0"/>
              </a:rPr>
              <a:t>kolla-genpwd</a:t>
            </a:r>
            <a:r>
              <a:rPr lang="en-US" altLang="en-US" sz="1400" dirty="0" smtClean="0">
                <a:solidFill>
                  <a:srgbClr val="0070C0"/>
                </a:solidFill>
              </a:rPr>
              <a:t> </a:t>
            </a:r>
            <a:endParaRPr lang="en-US" altLang="en-US" sz="1400" dirty="0">
              <a:solidFill>
                <a:srgbClr val="0070C0"/>
              </a:solidFill>
              <a:latin typeface="Arial" panose="020B0604020202020204" pitchFamily="34" charset="0"/>
            </a:endParaRPr>
          </a:p>
          <a:p>
            <a:pPr lvl="0" eaLnBrk="0" fontAlgn="base" hangingPunct="0">
              <a:spcBef>
                <a:spcPct val="0"/>
              </a:spcBef>
              <a:spcAft>
                <a:spcPct val="0"/>
              </a:spcAft>
            </a:pPr>
            <a:endParaRPr lang="en-US" sz="1400" b="1" dirty="0" smtClean="0">
              <a:solidFill>
                <a:srgbClr val="002060"/>
              </a:solidFill>
            </a:endParaRPr>
          </a:p>
          <a:p>
            <a:pPr lvl="0" eaLnBrk="0" fontAlgn="base" hangingPunct="0">
              <a:spcBef>
                <a:spcPct val="0"/>
              </a:spcBef>
              <a:spcAft>
                <a:spcPct val="0"/>
              </a:spcAft>
            </a:pPr>
            <a:r>
              <a:rPr lang="en-US" sz="1400" b="1" dirty="0" err="1">
                <a:solidFill>
                  <a:srgbClr val="002060"/>
                </a:solidFill>
              </a:rPr>
              <a:t>Konfigurasi</a:t>
            </a:r>
            <a:r>
              <a:rPr lang="en-US" sz="1400" b="1" dirty="0">
                <a:solidFill>
                  <a:srgbClr val="002060"/>
                </a:solidFill>
              </a:rPr>
              <a:t> </a:t>
            </a:r>
            <a:r>
              <a:rPr lang="en-US" sz="1400" b="1" dirty="0" err="1" smtClean="0">
                <a:solidFill>
                  <a:srgbClr val="002060"/>
                </a:solidFill>
              </a:rPr>
              <a:t>global.yml</a:t>
            </a:r>
            <a:endParaRPr lang="en-US" sz="1400" b="1" dirty="0" smtClean="0">
              <a:solidFill>
                <a:srgbClr val="002060"/>
              </a:solidFill>
            </a:endParaRPr>
          </a:p>
          <a:p>
            <a:pPr lvl="0" eaLnBrk="0" fontAlgn="base" hangingPunct="0">
              <a:spcBef>
                <a:spcPct val="0"/>
              </a:spcBef>
              <a:spcAft>
                <a:spcPct val="0"/>
              </a:spcAft>
            </a:pPr>
            <a:r>
              <a:rPr lang="en-US" sz="1400" dirty="0">
                <a:solidFill>
                  <a:srgbClr val="00B0F0"/>
                </a:solidFill>
              </a:rPr>
              <a:t>vi /</a:t>
            </a:r>
            <a:r>
              <a:rPr lang="en-US" sz="1400" dirty="0" err="1">
                <a:solidFill>
                  <a:srgbClr val="00B0F0"/>
                </a:solidFill>
              </a:rPr>
              <a:t>etc</a:t>
            </a:r>
            <a:r>
              <a:rPr lang="en-US" sz="1400" dirty="0">
                <a:solidFill>
                  <a:srgbClr val="00B0F0"/>
                </a:solidFill>
              </a:rPr>
              <a:t>/</a:t>
            </a:r>
            <a:r>
              <a:rPr lang="en-US" sz="1400" dirty="0" err="1">
                <a:solidFill>
                  <a:srgbClr val="00B0F0"/>
                </a:solidFill>
              </a:rPr>
              <a:t>kolla</a:t>
            </a:r>
            <a:r>
              <a:rPr lang="en-US" sz="1400" dirty="0">
                <a:solidFill>
                  <a:srgbClr val="00B0F0"/>
                </a:solidFill>
              </a:rPr>
              <a:t>/</a:t>
            </a:r>
            <a:r>
              <a:rPr lang="en-US" sz="1400" dirty="0" err="1">
                <a:solidFill>
                  <a:srgbClr val="00B0F0"/>
                </a:solidFill>
              </a:rPr>
              <a:t>global.yml</a:t>
            </a:r>
            <a:endParaRPr lang="en-US" sz="1400" dirty="0">
              <a:solidFill>
                <a:srgbClr val="00B0F0"/>
              </a:solidFill>
            </a:endParaRPr>
          </a:p>
          <a:p>
            <a:pPr lvl="0" eaLnBrk="0" fontAlgn="base" hangingPunct="0">
              <a:spcBef>
                <a:spcPct val="0"/>
              </a:spcBef>
              <a:spcAft>
                <a:spcPct val="0"/>
              </a:spcAft>
            </a:pPr>
            <a:r>
              <a:rPr lang="en-US" sz="1400" dirty="0">
                <a:solidFill>
                  <a:srgbClr val="00B0F0"/>
                </a:solidFill>
              </a:rPr>
              <a:t>...</a:t>
            </a:r>
          </a:p>
          <a:p>
            <a:pPr lvl="0" eaLnBrk="0" fontAlgn="base" hangingPunct="0">
              <a:spcBef>
                <a:spcPct val="0"/>
              </a:spcBef>
              <a:spcAft>
                <a:spcPct val="0"/>
              </a:spcAft>
            </a:pPr>
            <a:r>
              <a:rPr lang="en-US" sz="1400" dirty="0" err="1">
                <a:solidFill>
                  <a:srgbClr val="00B0F0"/>
                </a:solidFill>
              </a:rPr>
              <a:t>kolla_base_distro</a:t>
            </a:r>
            <a:r>
              <a:rPr lang="en-US" sz="1400" dirty="0">
                <a:solidFill>
                  <a:srgbClr val="00B0F0"/>
                </a:solidFill>
              </a:rPr>
              <a:t>: "</a:t>
            </a:r>
            <a:r>
              <a:rPr lang="en-US" sz="1400" dirty="0" err="1">
                <a:solidFill>
                  <a:srgbClr val="00B0F0"/>
                </a:solidFill>
              </a:rPr>
              <a:t>ubuntu</a:t>
            </a:r>
            <a:r>
              <a:rPr lang="en-US" sz="1400" dirty="0">
                <a:solidFill>
                  <a:srgbClr val="00B0F0"/>
                </a:solidFill>
              </a:rPr>
              <a:t>"</a:t>
            </a:r>
          </a:p>
          <a:p>
            <a:pPr lvl="0" eaLnBrk="0" fontAlgn="base" hangingPunct="0">
              <a:spcBef>
                <a:spcPct val="0"/>
              </a:spcBef>
              <a:spcAft>
                <a:spcPct val="0"/>
              </a:spcAft>
            </a:pPr>
            <a:r>
              <a:rPr lang="en-US" sz="1400" dirty="0" err="1">
                <a:solidFill>
                  <a:srgbClr val="00B0F0"/>
                </a:solidFill>
              </a:rPr>
              <a:t>openstack_release</a:t>
            </a:r>
            <a:r>
              <a:rPr lang="en-US" sz="1400" dirty="0">
                <a:solidFill>
                  <a:srgbClr val="00B0F0"/>
                </a:solidFill>
              </a:rPr>
              <a:t>: "master"</a:t>
            </a:r>
          </a:p>
          <a:p>
            <a:pPr lvl="0" eaLnBrk="0" fontAlgn="base" hangingPunct="0">
              <a:spcBef>
                <a:spcPct val="0"/>
              </a:spcBef>
              <a:spcAft>
                <a:spcPct val="0"/>
              </a:spcAft>
            </a:pPr>
            <a:r>
              <a:rPr lang="en-US" sz="1400" dirty="0" err="1">
                <a:solidFill>
                  <a:srgbClr val="00B0F0"/>
                </a:solidFill>
              </a:rPr>
              <a:t>kolla_internal_vip_address</a:t>
            </a:r>
            <a:r>
              <a:rPr lang="en-US" sz="1400" dirty="0">
                <a:solidFill>
                  <a:srgbClr val="00B0F0"/>
                </a:solidFill>
              </a:rPr>
              <a:t>: "10.65.65.254"</a:t>
            </a:r>
          </a:p>
          <a:p>
            <a:pPr lvl="0" eaLnBrk="0" fontAlgn="base" hangingPunct="0">
              <a:spcBef>
                <a:spcPct val="0"/>
              </a:spcBef>
              <a:spcAft>
                <a:spcPct val="0"/>
              </a:spcAft>
            </a:pPr>
            <a:r>
              <a:rPr lang="en-US" sz="1400" dirty="0" err="1">
                <a:solidFill>
                  <a:srgbClr val="00B0F0"/>
                </a:solidFill>
              </a:rPr>
              <a:t>network_interface</a:t>
            </a:r>
            <a:r>
              <a:rPr lang="en-US" sz="1400" dirty="0">
                <a:solidFill>
                  <a:srgbClr val="00B0F0"/>
                </a:solidFill>
              </a:rPr>
              <a:t>: "ens224"</a:t>
            </a:r>
          </a:p>
          <a:p>
            <a:pPr lvl="0" eaLnBrk="0" fontAlgn="base" hangingPunct="0">
              <a:spcBef>
                <a:spcPct val="0"/>
              </a:spcBef>
              <a:spcAft>
                <a:spcPct val="0"/>
              </a:spcAft>
            </a:pPr>
            <a:r>
              <a:rPr lang="en-US" sz="1400" dirty="0" err="1">
                <a:solidFill>
                  <a:srgbClr val="00B0F0"/>
                </a:solidFill>
              </a:rPr>
              <a:t>neutron_external_interface</a:t>
            </a:r>
            <a:r>
              <a:rPr lang="en-US" sz="1400" dirty="0">
                <a:solidFill>
                  <a:srgbClr val="00B0F0"/>
                </a:solidFill>
              </a:rPr>
              <a:t>: "ens192"</a:t>
            </a:r>
          </a:p>
          <a:p>
            <a:pPr lvl="0" eaLnBrk="0" fontAlgn="base" hangingPunct="0">
              <a:spcBef>
                <a:spcPct val="0"/>
              </a:spcBef>
              <a:spcAft>
                <a:spcPct val="0"/>
              </a:spcAft>
            </a:pPr>
            <a:r>
              <a:rPr lang="en-US" sz="1400" dirty="0" err="1">
                <a:solidFill>
                  <a:srgbClr val="00B0F0"/>
                </a:solidFill>
              </a:rPr>
              <a:t>neutron_plugin_agent</a:t>
            </a:r>
            <a:r>
              <a:rPr lang="en-US" sz="1400" dirty="0">
                <a:solidFill>
                  <a:srgbClr val="00B0F0"/>
                </a:solidFill>
              </a:rPr>
              <a:t>: "</a:t>
            </a:r>
            <a:r>
              <a:rPr lang="en-US" sz="1400" dirty="0" err="1">
                <a:solidFill>
                  <a:srgbClr val="00B0F0"/>
                </a:solidFill>
              </a:rPr>
              <a:t>openvswitch</a:t>
            </a:r>
            <a:r>
              <a:rPr lang="en-US" sz="1400" dirty="0">
                <a:solidFill>
                  <a:srgbClr val="00B0F0"/>
                </a:solidFill>
              </a:rPr>
              <a:t>"</a:t>
            </a:r>
          </a:p>
          <a:p>
            <a:pPr lvl="0" eaLnBrk="0" fontAlgn="base" hangingPunct="0">
              <a:spcBef>
                <a:spcPct val="0"/>
              </a:spcBef>
              <a:spcAft>
                <a:spcPct val="0"/>
              </a:spcAft>
            </a:pPr>
            <a:r>
              <a:rPr lang="en-US" sz="1400" dirty="0" err="1">
                <a:solidFill>
                  <a:srgbClr val="00B0F0"/>
                </a:solidFill>
              </a:rPr>
              <a:t>enable_neutron_provider_networks</a:t>
            </a:r>
            <a:r>
              <a:rPr lang="en-US" sz="1400" dirty="0">
                <a:solidFill>
                  <a:srgbClr val="00B0F0"/>
                </a:solidFill>
              </a:rPr>
              <a:t>: "yes"</a:t>
            </a:r>
          </a:p>
          <a:p>
            <a:pPr lvl="0" eaLnBrk="0" fontAlgn="base" hangingPunct="0">
              <a:spcBef>
                <a:spcPct val="0"/>
              </a:spcBef>
              <a:spcAft>
                <a:spcPct val="0"/>
              </a:spcAft>
            </a:pPr>
            <a:r>
              <a:rPr lang="en-US" sz="1400" dirty="0" err="1">
                <a:solidFill>
                  <a:srgbClr val="00B0F0"/>
                </a:solidFill>
              </a:rPr>
              <a:t>nova_compute_virt_type</a:t>
            </a:r>
            <a:r>
              <a:rPr lang="en-US" sz="1400" dirty="0">
                <a:solidFill>
                  <a:srgbClr val="00B0F0"/>
                </a:solidFill>
              </a:rPr>
              <a:t>: "</a:t>
            </a:r>
            <a:r>
              <a:rPr lang="en-US" sz="1400" dirty="0" err="1">
                <a:solidFill>
                  <a:srgbClr val="00B0F0"/>
                </a:solidFill>
              </a:rPr>
              <a:t>kvm</a:t>
            </a:r>
            <a:r>
              <a:rPr lang="en-US" sz="1400" dirty="0">
                <a:solidFill>
                  <a:srgbClr val="00B0F0"/>
                </a:solidFill>
              </a:rPr>
              <a:t>"</a:t>
            </a:r>
          </a:p>
        </p:txBody>
      </p:sp>
      <p:sp>
        <p:nvSpPr>
          <p:cNvPr id="10" name="Rectangle 9"/>
          <p:cNvSpPr/>
          <p:nvPr/>
        </p:nvSpPr>
        <p:spPr>
          <a:xfrm>
            <a:off x="193963" y="964029"/>
            <a:ext cx="4045528" cy="47684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1" name="Rectangle 10"/>
          <p:cNvSpPr/>
          <p:nvPr/>
        </p:nvSpPr>
        <p:spPr>
          <a:xfrm>
            <a:off x="193963" y="3968547"/>
            <a:ext cx="4156364" cy="24108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6" name="Rectangle 15"/>
          <p:cNvSpPr/>
          <p:nvPr/>
        </p:nvSpPr>
        <p:spPr>
          <a:xfrm>
            <a:off x="4569402" y="2143723"/>
            <a:ext cx="4099214" cy="21508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7" name="Rectangle 16"/>
          <p:cNvSpPr/>
          <p:nvPr/>
        </p:nvSpPr>
        <p:spPr>
          <a:xfrm>
            <a:off x="4597977" y="2831705"/>
            <a:ext cx="4099214" cy="220940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3" name="Rectangle 12"/>
          <p:cNvSpPr/>
          <p:nvPr/>
        </p:nvSpPr>
        <p:spPr>
          <a:xfrm>
            <a:off x="193963" y="1750092"/>
            <a:ext cx="4045528" cy="110394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2" name="Rectangle 11"/>
          <p:cNvSpPr/>
          <p:nvPr/>
        </p:nvSpPr>
        <p:spPr>
          <a:xfrm>
            <a:off x="4350327" y="4856441"/>
            <a:ext cx="3722622" cy="369332"/>
          </a:xfrm>
          <a:prstGeom prst="rect">
            <a:avLst/>
          </a:prstGeom>
        </p:spPr>
        <p:txBody>
          <a:bodyPr wrap="none">
            <a:spAutoFit/>
          </a:bodyPr>
          <a:lstStyle/>
          <a:p>
            <a:r>
              <a:rPr lang="en-US" dirty="0" err="1">
                <a:solidFill>
                  <a:srgbClr val="0070C0"/>
                </a:solidFill>
              </a:rPr>
              <a:t>Simpan</a:t>
            </a:r>
            <a:r>
              <a:rPr lang="en-US" sz="1400" dirty="0">
                <a:solidFill>
                  <a:srgbClr val="FFC000"/>
                </a:solidFill>
              </a:rPr>
              <a:t> </a:t>
            </a:r>
            <a:r>
              <a:rPr lang="en-US" sz="1400" dirty="0" err="1">
                <a:solidFill>
                  <a:srgbClr val="FFC000"/>
                </a:solidFill>
              </a:rPr>
              <a:t>konfigurasi</a:t>
            </a:r>
            <a:r>
              <a:rPr lang="en-US" sz="1400" dirty="0">
                <a:solidFill>
                  <a:srgbClr val="FFC000"/>
                </a:solidFill>
              </a:rPr>
              <a:t> </a:t>
            </a:r>
            <a:r>
              <a:rPr lang="en-US" sz="1400" dirty="0" err="1">
                <a:solidFill>
                  <a:srgbClr val="FFC000"/>
                </a:solidFill>
              </a:rPr>
              <a:t>dan</a:t>
            </a:r>
            <a:r>
              <a:rPr lang="en-US" sz="1400" dirty="0">
                <a:solidFill>
                  <a:srgbClr val="FFC000"/>
                </a:solidFill>
              </a:rPr>
              <a:t> </a:t>
            </a:r>
            <a:r>
              <a:rPr lang="en-US" sz="1400" dirty="0" err="1">
                <a:solidFill>
                  <a:srgbClr val="FFC000"/>
                </a:solidFill>
              </a:rPr>
              <a:t>lanjut</a:t>
            </a:r>
            <a:r>
              <a:rPr lang="en-US" sz="1400" dirty="0">
                <a:solidFill>
                  <a:srgbClr val="FFC000"/>
                </a:solidFill>
              </a:rPr>
              <a:t> </a:t>
            </a:r>
            <a:r>
              <a:rPr lang="en-US" sz="1400" dirty="0" err="1">
                <a:solidFill>
                  <a:srgbClr val="FFC000"/>
                </a:solidFill>
              </a:rPr>
              <a:t>ke</a:t>
            </a:r>
            <a:r>
              <a:rPr lang="en-US" sz="1400" dirty="0">
                <a:solidFill>
                  <a:srgbClr val="FFC000"/>
                </a:solidFill>
              </a:rPr>
              <a:t> deployment !</a:t>
            </a:r>
          </a:p>
        </p:txBody>
      </p:sp>
    </p:spTree>
    <p:extLst>
      <p:ext uri="{BB962C8B-B14F-4D97-AF65-F5344CB8AC3E}">
        <p14:creationId xmlns:p14="http://schemas.microsoft.com/office/powerpoint/2010/main" val="178953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grpId="0" nodeType="clickEffect">
                                  <p:stCondLst>
                                    <p:cond delay="0"/>
                                  </p:stCondLst>
                                  <p:childTnLst>
                                    <p:animEffect transition="out" filter="fade">
                                      <p:cBhvr>
                                        <p:cTn id="6" dur="500" tmFilter="0, 0; .2, .5; .8, .5; 1, 0"/>
                                        <p:tgtEl>
                                          <p:spTgt spid="12"/>
                                        </p:tgtEl>
                                      </p:cBhvr>
                                    </p:animEffect>
                                    <p:animScale>
                                      <p:cBhvr>
                                        <p:cTn id="7" dur="250" autoRev="1" fill="hold"/>
                                        <p:tgtEl>
                                          <p:spTgt spid="12"/>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12</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7" name="Rectangle 6"/>
          <p:cNvSpPr/>
          <p:nvPr/>
        </p:nvSpPr>
        <p:spPr>
          <a:xfrm>
            <a:off x="204354" y="346150"/>
            <a:ext cx="4156364" cy="5693866"/>
          </a:xfrm>
          <a:prstGeom prst="rect">
            <a:avLst/>
          </a:prstGeom>
        </p:spPr>
        <p:txBody>
          <a:bodyPr wrap="square">
            <a:spAutoFit/>
          </a:bodyPr>
          <a:lstStyle/>
          <a:p>
            <a:pPr lvl="0" eaLnBrk="0" fontAlgn="base" hangingPunct="0">
              <a:spcBef>
                <a:spcPct val="0"/>
              </a:spcBef>
              <a:spcAft>
                <a:spcPct val="0"/>
              </a:spcAft>
            </a:pPr>
            <a:endParaRPr lang="en-US" altLang="en-US" sz="800" b="1" dirty="0" smtClean="0">
              <a:solidFill>
                <a:srgbClr val="002060"/>
              </a:solidFill>
              <a:latin typeface="Arial" panose="020B0604020202020204" pitchFamily="34" charset="0"/>
            </a:endParaRPr>
          </a:p>
          <a:p>
            <a:r>
              <a:rPr lang="en-US" b="1" dirty="0">
                <a:solidFill>
                  <a:srgbClr val="002060"/>
                </a:solidFill>
              </a:rPr>
              <a:t>Deployment</a:t>
            </a:r>
          </a:p>
          <a:p>
            <a:pPr algn="just"/>
            <a:r>
              <a:rPr lang="en-US" sz="1400" dirty="0" err="1"/>
              <a:t>Kolla</a:t>
            </a:r>
            <a:r>
              <a:rPr lang="en-US" sz="1400" dirty="0"/>
              <a:t> </a:t>
            </a:r>
            <a:r>
              <a:rPr lang="en-US" sz="1400" dirty="0" err="1"/>
              <a:t>Ansible</a:t>
            </a:r>
            <a:r>
              <a:rPr lang="en-US" sz="1400" dirty="0"/>
              <a:t> </a:t>
            </a:r>
            <a:r>
              <a:rPr lang="en-US" sz="1400" dirty="0" err="1"/>
              <a:t>sudah</a:t>
            </a:r>
            <a:r>
              <a:rPr lang="en-US" sz="1400" dirty="0"/>
              <a:t> </a:t>
            </a:r>
            <a:r>
              <a:rPr lang="en-US" sz="1400" dirty="0" err="1"/>
              <a:t>menyediakan</a:t>
            </a:r>
            <a:r>
              <a:rPr lang="en-US" sz="1400" dirty="0"/>
              <a:t> playbook list yang </a:t>
            </a:r>
            <a:r>
              <a:rPr lang="en-US" sz="1400" dirty="0" err="1"/>
              <a:t>akan</a:t>
            </a:r>
            <a:r>
              <a:rPr lang="en-US" sz="1400" dirty="0"/>
              <a:t> </a:t>
            </a:r>
            <a:r>
              <a:rPr lang="en-US" sz="1400" dirty="0" err="1"/>
              <a:t>menginstal</a:t>
            </a:r>
            <a:r>
              <a:rPr lang="en-US" sz="1400" dirty="0"/>
              <a:t> </a:t>
            </a:r>
            <a:r>
              <a:rPr lang="en-US" sz="1400" dirty="0" err="1"/>
              <a:t>semua</a:t>
            </a:r>
            <a:r>
              <a:rPr lang="en-US" sz="1400" dirty="0"/>
              <a:t> service yang </a:t>
            </a:r>
            <a:r>
              <a:rPr lang="en-US" sz="1400" dirty="0" err="1"/>
              <a:t>sudah</a:t>
            </a:r>
            <a:r>
              <a:rPr lang="en-US" sz="1400" dirty="0"/>
              <a:t> di set </a:t>
            </a:r>
            <a:r>
              <a:rPr lang="en-US" sz="1400" dirty="0" err="1"/>
              <a:t>pada</a:t>
            </a:r>
            <a:r>
              <a:rPr lang="en-US" sz="1400" dirty="0"/>
              <a:t> </a:t>
            </a:r>
            <a:r>
              <a:rPr lang="en-US" sz="1400" dirty="0" err="1"/>
              <a:t>konfigurasi</a:t>
            </a:r>
            <a:r>
              <a:rPr lang="en-US" sz="1400" dirty="0"/>
              <a:t> </a:t>
            </a:r>
            <a:r>
              <a:rPr lang="en-US" sz="1400" dirty="0" err="1"/>
              <a:t>sebelumnya</a:t>
            </a:r>
            <a:r>
              <a:rPr lang="en-US" sz="1400" dirty="0"/>
              <a:t>.</a:t>
            </a:r>
          </a:p>
          <a:p>
            <a:pPr algn="just"/>
            <a:endParaRPr lang="en-US" sz="1400" dirty="0"/>
          </a:p>
          <a:p>
            <a:pPr algn="just"/>
            <a:r>
              <a:rPr lang="en-US" sz="1400" dirty="0" err="1"/>
              <a:t>Pastikan</a:t>
            </a:r>
            <a:r>
              <a:rPr lang="en-US" sz="1400" dirty="0"/>
              <a:t> virtual environment </a:t>
            </a:r>
            <a:r>
              <a:rPr lang="en-US" sz="1400" dirty="0" err="1"/>
              <a:t>sudah</a:t>
            </a:r>
            <a:r>
              <a:rPr lang="en-US" sz="1400" dirty="0"/>
              <a:t> </a:t>
            </a:r>
            <a:r>
              <a:rPr lang="en-US" sz="1400" dirty="0" err="1"/>
              <a:t>aktif</a:t>
            </a:r>
            <a:r>
              <a:rPr lang="en-US" sz="1400" dirty="0"/>
              <a:t> </a:t>
            </a:r>
            <a:r>
              <a:rPr lang="en-US" sz="1400" dirty="0" err="1"/>
              <a:t>sebelum</a:t>
            </a:r>
            <a:r>
              <a:rPr lang="en-US" sz="1400" dirty="0"/>
              <a:t> </a:t>
            </a:r>
            <a:r>
              <a:rPr lang="en-US" sz="1400" dirty="0" err="1"/>
              <a:t>menjalankan</a:t>
            </a:r>
            <a:r>
              <a:rPr lang="en-US" sz="1400" dirty="0"/>
              <a:t> command </a:t>
            </a:r>
            <a:r>
              <a:rPr lang="en-US" sz="1400" dirty="0" err="1"/>
              <a:t>ini</a:t>
            </a:r>
            <a:r>
              <a:rPr lang="en-US" sz="1400" dirty="0" smtClean="0"/>
              <a:t>:</a:t>
            </a:r>
          </a:p>
          <a:p>
            <a:pPr algn="just"/>
            <a:endParaRPr lang="en-US" sz="1400" b="1" dirty="0" smtClean="0"/>
          </a:p>
          <a:p>
            <a:pPr algn="just"/>
            <a:r>
              <a:rPr lang="en-US" sz="1400" b="1" dirty="0" smtClean="0"/>
              <a:t>@ </a:t>
            </a:r>
            <a:r>
              <a:rPr lang="en-US" sz="1400" b="1" dirty="0" err="1" smtClean="0"/>
              <a:t>Lakukan</a:t>
            </a:r>
            <a:r>
              <a:rPr lang="en-US" sz="1400" b="1" dirty="0" smtClean="0"/>
              <a:t> </a:t>
            </a:r>
            <a:r>
              <a:rPr lang="en-US" sz="1400" b="1" dirty="0" err="1"/>
              <a:t>bootstraping</a:t>
            </a:r>
            <a:r>
              <a:rPr lang="en-US" sz="1400" b="1" dirty="0"/>
              <a:t> </a:t>
            </a:r>
            <a:r>
              <a:rPr lang="en-US" sz="1400" b="1" dirty="0" err="1"/>
              <a:t>pada</a:t>
            </a:r>
            <a:r>
              <a:rPr lang="en-US" sz="1400" b="1" dirty="0"/>
              <a:t> host </a:t>
            </a:r>
            <a:r>
              <a:rPr lang="en-US" sz="1400" b="1" dirty="0" err="1"/>
              <a:t>menggunakan</a:t>
            </a:r>
            <a:r>
              <a:rPr lang="en-US" sz="1400" b="1" dirty="0"/>
              <a:t> </a:t>
            </a:r>
            <a:r>
              <a:rPr lang="en-US" sz="1400" b="1" dirty="0" err="1"/>
              <a:t>dependensi</a:t>
            </a:r>
            <a:r>
              <a:rPr lang="en-US" sz="1400" b="1" dirty="0"/>
              <a:t> </a:t>
            </a:r>
            <a:r>
              <a:rPr lang="en-US" sz="1400" b="1" dirty="0" err="1"/>
              <a:t>kolla</a:t>
            </a:r>
            <a:r>
              <a:rPr lang="en-US" sz="1400" b="1" dirty="0"/>
              <a:t> </a:t>
            </a:r>
            <a:r>
              <a:rPr lang="en-US" sz="1400" b="1" dirty="0" err="1"/>
              <a:t>ansible</a:t>
            </a:r>
            <a:r>
              <a:rPr lang="en-US" sz="1400" b="1" dirty="0" smtClean="0"/>
              <a:t>:</a:t>
            </a:r>
          </a:p>
          <a:p>
            <a:pPr lvl="0" eaLnBrk="0" fontAlgn="base" hangingPunct="0">
              <a:spcBef>
                <a:spcPct val="0"/>
              </a:spcBef>
              <a:spcAft>
                <a:spcPct val="0"/>
              </a:spcAft>
            </a:pPr>
            <a:r>
              <a:rPr lang="en-US" sz="1400" b="1" dirty="0" smtClean="0">
                <a:solidFill>
                  <a:srgbClr val="002060"/>
                </a:solidFill>
              </a:rPr>
              <a:t># </a:t>
            </a:r>
            <a:r>
              <a:rPr lang="en-US" altLang="en-US" sz="1400" dirty="0" err="1">
                <a:solidFill>
                  <a:srgbClr val="0070C0"/>
                </a:solidFill>
                <a:latin typeface="Courier New" panose="02070309020205020404" pitchFamily="49" charset="0"/>
                <a:cs typeface="Courier New" panose="02070309020205020404" pitchFamily="49" charset="0"/>
              </a:rPr>
              <a:t>kolla-ansible</a:t>
            </a:r>
            <a:r>
              <a:rPr lang="en-US" altLang="en-US" sz="1400" dirty="0">
                <a:solidFill>
                  <a:srgbClr val="0070C0"/>
                </a:solidFill>
                <a:latin typeface="Courier New" panose="02070309020205020404" pitchFamily="49" charset="0"/>
                <a:cs typeface="Courier New" panose="02070309020205020404" pitchFamily="49" charset="0"/>
              </a:rPr>
              <a:t> -</a:t>
            </a:r>
            <a:r>
              <a:rPr lang="en-US" altLang="en-US" sz="1400" dirty="0" err="1">
                <a:solidFill>
                  <a:srgbClr val="0070C0"/>
                </a:solidFill>
                <a:latin typeface="Courier New" panose="02070309020205020404" pitchFamily="49" charset="0"/>
                <a:cs typeface="Courier New" panose="02070309020205020404" pitchFamily="49" charset="0"/>
              </a:rPr>
              <a:t>i</a:t>
            </a:r>
            <a:r>
              <a:rPr lang="en-US" altLang="en-US" sz="1400" dirty="0">
                <a:solidFill>
                  <a:srgbClr val="0070C0"/>
                </a:solidFill>
                <a:latin typeface="Courier New" panose="02070309020205020404" pitchFamily="49" charset="0"/>
                <a:cs typeface="Courier New" panose="02070309020205020404" pitchFamily="49" charset="0"/>
              </a:rPr>
              <a:t> all-in-one bootstrap-servers</a:t>
            </a:r>
            <a:r>
              <a:rPr lang="en-US" altLang="en-US" sz="800" dirty="0">
                <a:solidFill>
                  <a:srgbClr val="0070C0"/>
                </a:solidFill>
              </a:rPr>
              <a:t> </a:t>
            </a:r>
            <a:endParaRPr lang="en-US" altLang="en-US" sz="3200" dirty="0">
              <a:solidFill>
                <a:srgbClr val="0070C0"/>
              </a:solidFill>
              <a:latin typeface="Arial" panose="020B0604020202020204" pitchFamily="34" charset="0"/>
            </a:endParaRPr>
          </a:p>
          <a:p>
            <a:pPr lvl="0" eaLnBrk="0" fontAlgn="base" hangingPunct="0">
              <a:spcBef>
                <a:spcPct val="0"/>
              </a:spcBef>
              <a:spcAft>
                <a:spcPct val="0"/>
              </a:spcAft>
            </a:pPr>
            <a:endParaRPr lang="en-US" sz="1400" b="1" dirty="0" smtClean="0">
              <a:solidFill>
                <a:srgbClr val="002060"/>
              </a:solidFill>
            </a:endParaRPr>
          </a:p>
          <a:p>
            <a:r>
              <a:rPr lang="en-US" sz="1400" b="1" dirty="0">
                <a:solidFill>
                  <a:srgbClr val="002060"/>
                </a:solidFill>
              </a:rPr>
              <a:t>@ </a:t>
            </a:r>
            <a:r>
              <a:rPr lang="en-US" sz="1400" b="1" dirty="0" err="1">
                <a:solidFill>
                  <a:srgbClr val="002060"/>
                </a:solidFill>
              </a:rPr>
              <a:t>Lakukan</a:t>
            </a:r>
            <a:r>
              <a:rPr lang="en-US" sz="1400" b="1" dirty="0">
                <a:solidFill>
                  <a:srgbClr val="002060"/>
                </a:solidFill>
              </a:rPr>
              <a:t> pre-checks </a:t>
            </a:r>
            <a:r>
              <a:rPr lang="en-US" sz="1400" b="1" dirty="0" err="1">
                <a:solidFill>
                  <a:srgbClr val="002060"/>
                </a:solidFill>
              </a:rPr>
              <a:t>konfigurasi</a:t>
            </a:r>
            <a:endParaRPr lang="en-US" sz="1400" b="1" dirty="0">
              <a:solidFill>
                <a:srgbClr val="002060"/>
              </a:solidFill>
            </a:endParaRPr>
          </a:p>
          <a:p>
            <a:pPr eaLnBrk="0" fontAlgn="base" hangingPunct="0">
              <a:spcBef>
                <a:spcPct val="0"/>
              </a:spcBef>
              <a:spcAft>
                <a:spcPct val="0"/>
              </a:spcAft>
            </a:pPr>
            <a:r>
              <a:rPr lang="en-US" sz="1400" b="1" dirty="0" smtClean="0">
                <a:solidFill>
                  <a:srgbClr val="002060"/>
                </a:solidFill>
              </a:rPr>
              <a:t># </a:t>
            </a:r>
            <a:r>
              <a:rPr lang="en-US" sz="1400" dirty="0" err="1">
                <a:solidFill>
                  <a:srgbClr val="0070C0"/>
                </a:solidFill>
              </a:rPr>
              <a:t>kolla-ansible</a:t>
            </a:r>
            <a:r>
              <a:rPr lang="en-US" sz="1400" dirty="0">
                <a:solidFill>
                  <a:srgbClr val="0070C0"/>
                </a:solidFill>
              </a:rPr>
              <a:t> -</a:t>
            </a:r>
            <a:r>
              <a:rPr lang="en-US" sz="1400" dirty="0" err="1">
                <a:solidFill>
                  <a:srgbClr val="0070C0"/>
                </a:solidFill>
              </a:rPr>
              <a:t>i</a:t>
            </a:r>
            <a:r>
              <a:rPr lang="en-US" sz="1400" dirty="0">
                <a:solidFill>
                  <a:srgbClr val="0070C0"/>
                </a:solidFill>
              </a:rPr>
              <a:t> all-in-one </a:t>
            </a:r>
            <a:r>
              <a:rPr lang="en-US" sz="1400" dirty="0" err="1" smtClean="0">
                <a:solidFill>
                  <a:srgbClr val="0070C0"/>
                </a:solidFill>
              </a:rPr>
              <a:t>prechecks</a:t>
            </a:r>
            <a:endParaRPr lang="en-US" sz="1400" dirty="0" smtClean="0">
              <a:solidFill>
                <a:srgbClr val="0070C0"/>
              </a:solidFill>
            </a:endParaRPr>
          </a:p>
          <a:p>
            <a:pPr eaLnBrk="0" fontAlgn="base" hangingPunct="0">
              <a:spcBef>
                <a:spcPct val="0"/>
              </a:spcBef>
              <a:spcAft>
                <a:spcPct val="0"/>
              </a:spcAft>
            </a:pPr>
            <a:endParaRPr lang="en-US" sz="1400" dirty="0">
              <a:solidFill>
                <a:srgbClr val="0070C0"/>
              </a:solidFill>
            </a:endParaRPr>
          </a:p>
          <a:p>
            <a:r>
              <a:rPr lang="en-US" sz="1400" b="1" dirty="0">
                <a:solidFill>
                  <a:srgbClr val="002060"/>
                </a:solidFill>
              </a:rPr>
              <a:t>@ </a:t>
            </a:r>
            <a:r>
              <a:rPr lang="en-US" dirty="0" err="1"/>
              <a:t>Jika</a:t>
            </a:r>
            <a:r>
              <a:rPr lang="en-US" dirty="0"/>
              <a:t> </a:t>
            </a:r>
            <a:r>
              <a:rPr lang="en-US" dirty="0" err="1"/>
              <a:t>dari</a:t>
            </a:r>
            <a:r>
              <a:rPr lang="en-US" dirty="0"/>
              <a:t> </a:t>
            </a:r>
            <a:r>
              <a:rPr lang="en-US" dirty="0" err="1"/>
              <a:t>hasil</a:t>
            </a:r>
            <a:r>
              <a:rPr lang="en-US" dirty="0"/>
              <a:t> check </a:t>
            </a:r>
            <a:r>
              <a:rPr lang="en-US" dirty="0" err="1"/>
              <a:t>sudah</a:t>
            </a:r>
            <a:r>
              <a:rPr lang="en-US" dirty="0"/>
              <a:t> </a:t>
            </a:r>
            <a:r>
              <a:rPr lang="en-US" dirty="0" err="1"/>
              <a:t>tidak</a:t>
            </a:r>
            <a:r>
              <a:rPr lang="en-US" dirty="0"/>
              <a:t> </a:t>
            </a:r>
            <a:r>
              <a:rPr lang="en-US" dirty="0" err="1"/>
              <a:t>ada</a:t>
            </a:r>
            <a:r>
              <a:rPr lang="en-US" dirty="0"/>
              <a:t> error, </a:t>
            </a:r>
            <a:r>
              <a:rPr lang="en-US" dirty="0" err="1"/>
              <a:t>selanjutnya</a:t>
            </a:r>
            <a:r>
              <a:rPr lang="en-US" dirty="0"/>
              <a:t> deploy server</a:t>
            </a:r>
          </a:p>
          <a:p>
            <a:pPr eaLnBrk="0" fontAlgn="base" hangingPunct="0">
              <a:spcBef>
                <a:spcPct val="0"/>
              </a:spcBef>
              <a:spcAft>
                <a:spcPct val="0"/>
              </a:spcAft>
            </a:pPr>
            <a:r>
              <a:rPr lang="en-US" sz="1400" b="1" dirty="0" smtClean="0">
                <a:solidFill>
                  <a:srgbClr val="002060"/>
                </a:solidFill>
              </a:rPr>
              <a:t># </a:t>
            </a:r>
            <a:r>
              <a:rPr lang="en-US" sz="1400" dirty="0" err="1">
                <a:solidFill>
                  <a:srgbClr val="0070C0"/>
                </a:solidFill>
              </a:rPr>
              <a:t>kolla-ansible</a:t>
            </a:r>
            <a:r>
              <a:rPr lang="en-US" sz="1400" dirty="0">
                <a:solidFill>
                  <a:srgbClr val="0070C0"/>
                </a:solidFill>
              </a:rPr>
              <a:t> -</a:t>
            </a:r>
            <a:r>
              <a:rPr lang="en-US" sz="1400" dirty="0" err="1">
                <a:solidFill>
                  <a:srgbClr val="0070C0"/>
                </a:solidFill>
              </a:rPr>
              <a:t>i</a:t>
            </a:r>
            <a:r>
              <a:rPr lang="en-US" sz="1400" dirty="0">
                <a:solidFill>
                  <a:srgbClr val="0070C0"/>
                </a:solidFill>
              </a:rPr>
              <a:t> all-in-one deploy</a:t>
            </a:r>
          </a:p>
          <a:p>
            <a:pPr eaLnBrk="0" fontAlgn="base" hangingPunct="0">
              <a:spcBef>
                <a:spcPct val="0"/>
              </a:spcBef>
              <a:spcAft>
                <a:spcPct val="0"/>
              </a:spcAft>
            </a:pPr>
            <a:endParaRPr lang="en-US" sz="1400" dirty="0">
              <a:solidFill>
                <a:srgbClr val="0070C0"/>
              </a:solidFill>
            </a:endParaRPr>
          </a:p>
          <a:p>
            <a:pPr eaLnBrk="0" fontAlgn="base" hangingPunct="0">
              <a:spcBef>
                <a:spcPct val="0"/>
              </a:spcBef>
              <a:spcAft>
                <a:spcPct val="0"/>
              </a:spcAft>
            </a:pPr>
            <a:endParaRPr lang="en-US" sz="1400" dirty="0">
              <a:solidFill>
                <a:srgbClr val="0070C0"/>
              </a:solidFill>
            </a:endParaRPr>
          </a:p>
          <a:p>
            <a:pPr lvl="0" eaLnBrk="0" fontAlgn="base" hangingPunct="0">
              <a:spcBef>
                <a:spcPct val="0"/>
              </a:spcBef>
              <a:spcAft>
                <a:spcPct val="0"/>
              </a:spcAft>
            </a:pPr>
            <a:endParaRPr lang="en-US" altLang="en-US" sz="3200" dirty="0">
              <a:solidFill>
                <a:srgbClr val="00B0F0"/>
              </a:solidFill>
              <a:latin typeface="Arial" panose="020B0604020202020204" pitchFamily="34" charset="0"/>
            </a:endParaRPr>
          </a:p>
          <a:p>
            <a:pPr lvl="0" eaLnBrk="0" fontAlgn="base" hangingPunct="0">
              <a:spcBef>
                <a:spcPct val="0"/>
              </a:spcBef>
              <a:spcAft>
                <a:spcPct val="0"/>
              </a:spcAft>
            </a:pPr>
            <a:endParaRPr lang="en-US" sz="1400" b="1" dirty="0">
              <a:solidFill>
                <a:srgbClr val="002060"/>
              </a:solidFill>
            </a:endParaRPr>
          </a:p>
        </p:txBody>
      </p:sp>
      <p:sp>
        <p:nvSpPr>
          <p:cNvPr id="8" name="Rectangle 7"/>
          <p:cNvSpPr/>
          <p:nvPr/>
        </p:nvSpPr>
        <p:spPr>
          <a:xfrm>
            <a:off x="232929" y="2728144"/>
            <a:ext cx="4099214" cy="43069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0" name="Rectangle 9"/>
          <p:cNvSpPr/>
          <p:nvPr/>
        </p:nvSpPr>
        <p:spPr>
          <a:xfrm>
            <a:off x="232929" y="3444401"/>
            <a:ext cx="4099214" cy="43069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2" name="Rectangle 11"/>
          <p:cNvSpPr/>
          <p:nvPr/>
        </p:nvSpPr>
        <p:spPr>
          <a:xfrm>
            <a:off x="232929" y="4526862"/>
            <a:ext cx="4099214" cy="43069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3" name="Rectangle 12"/>
          <p:cNvSpPr/>
          <p:nvPr/>
        </p:nvSpPr>
        <p:spPr>
          <a:xfrm>
            <a:off x="4674177" y="401355"/>
            <a:ext cx="4156364" cy="4308872"/>
          </a:xfrm>
          <a:prstGeom prst="rect">
            <a:avLst/>
          </a:prstGeom>
        </p:spPr>
        <p:txBody>
          <a:bodyPr wrap="square">
            <a:spAutoFit/>
          </a:bodyPr>
          <a:lstStyle/>
          <a:p>
            <a:pPr lvl="0" eaLnBrk="0" fontAlgn="base" hangingPunct="0">
              <a:spcBef>
                <a:spcPct val="0"/>
              </a:spcBef>
              <a:spcAft>
                <a:spcPct val="0"/>
              </a:spcAft>
            </a:pPr>
            <a:endParaRPr lang="en-US" altLang="en-US" sz="800" b="1" dirty="0" smtClean="0">
              <a:solidFill>
                <a:srgbClr val="002060"/>
              </a:solidFill>
              <a:latin typeface="Arial" panose="020B0604020202020204" pitchFamily="34" charset="0"/>
            </a:endParaRPr>
          </a:p>
          <a:p>
            <a:pPr algn="just"/>
            <a:r>
              <a:rPr lang="en-US" sz="1400" dirty="0"/>
              <a:t>P</a:t>
            </a:r>
            <a:r>
              <a:rPr lang="en-US" sz="1400" dirty="0" smtClean="0"/>
              <a:t>roses </a:t>
            </a:r>
            <a:r>
              <a:rPr lang="en-US" sz="1400" dirty="0"/>
              <a:t>deployment </a:t>
            </a:r>
            <a:r>
              <a:rPr lang="en-US" sz="1400" dirty="0" err="1"/>
              <a:t>akan</a:t>
            </a:r>
            <a:r>
              <a:rPr lang="en-US" sz="1400" dirty="0"/>
              <a:t> </a:t>
            </a:r>
            <a:r>
              <a:rPr lang="en-US" sz="1400" dirty="0" err="1"/>
              <a:t>membutuhkan</a:t>
            </a:r>
            <a:r>
              <a:rPr lang="en-US" sz="1400" dirty="0"/>
              <a:t> </a:t>
            </a:r>
            <a:r>
              <a:rPr lang="en-US" sz="1400" dirty="0" err="1"/>
              <a:t>waktu</a:t>
            </a:r>
            <a:r>
              <a:rPr lang="en-US" sz="1400" dirty="0"/>
              <a:t> yang </a:t>
            </a:r>
            <a:r>
              <a:rPr lang="en-US" sz="1400" dirty="0" err="1"/>
              <a:t>agak</a:t>
            </a:r>
            <a:r>
              <a:rPr lang="en-US" sz="1400" dirty="0"/>
              <a:t> lama, </a:t>
            </a:r>
            <a:r>
              <a:rPr lang="en-US" sz="1400" dirty="0" err="1"/>
              <a:t>pastikan</a:t>
            </a:r>
            <a:r>
              <a:rPr lang="en-US" sz="1400" dirty="0"/>
              <a:t> </a:t>
            </a:r>
            <a:r>
              <a:rPr lang="en-US" sz="1400" dirty="0" err="1"/>
              <a:t>saja</a:t>
            </a:r>
            <a:r>
              <a:rPr lang="en-US" sz="1400" dirty="0"/>
              <a:t> kalian </a:t>
            </a:r>
            <a:r>
              <a:rPr lang="en-US" sz="1400" dirty="0" err="1"/>
              <a:t>sudah</a:t>
            </a:r>
            <a:r>
              <a:rPr lang="en-US" sz="1400" dirty="0"/>
              <a:t> </a:t>
            </a:r>
            <a:r>
              <a:rPr lang="en-US" sz="1400" dirty="0" err="1"/>
              <a:t>menjalankan</a:t>
            </a:r>
            <a:r>
              <a:rPr lang="en-US" sz="1400" dirty="0"/>
              <a:t> </a:t>
            </a:r>
            <a:r>
              <a:rPr lang="en-US" sz="1400" b="1" dirty="0"/>
              <a:t>screen</a:t>
            </a:r>
            <a:r>
              <a:rPr lang="en-US" sz="1400" dirty="0"/>
              <a:t> </a:t>
            </a:r>
            <a:r>
              <a:rPr lang="en-US" sz="1400" dirty="0" err="1"/>
              <a:t>bila</a:t>
            </a:r>
            <a:r>
              <a:rPr lang="en-US" sz="1400" dirty="0"/>
              <a:t> </a:t>
            </a:r>
            <a:r>
              <a:rPr lang="en-US" sz="1400" dirty="0" err="1"/>
              <a:t>menggunakan</a:t>
            </a:r>
            <a:r>
              <a:rPr lang="en-US" sz="1400" dirty="0"/>
              <a:t> remote SSH</a:t>
            </a:r>
            <a:r>
              <a:rPr lang="en-US" sz="1400" dirty="0" smtClean="0"/>
              <a:t>.</a:t>
            </a:r>
          </a:p>
          <a:p>
            <a:pPr algn="just"/>
            <a:endParaRPr lang="en-US" sz="1400" dirty="0"/>
          </a:p>
          <a:p>
            <a:pPr algn="just"/>
            <a:r>
              <a:rPr lang="en-US" sz="1400" dirty="0" err="1"/>
              <a:t>Jika</a:t>
            </a:r>
            <a:r>
              <a:rPr lang="en-US" sz="1400" dirty="0"/>
              <a:t> deployment </a:t>
            </a:r>
            <a:r>
              <a:rPr lang="en-US" sz="1400" dirty="0" err="1"/>
              <a:t>berhasil</a:t>
            </a:r>
            <a:r>
              <a:rPr lang="en-US" sz="1400" dirty="0"/>
              <a:t> output </a:t>
            </a:r>
            <a:r>
              <a:rPr lang="en-US" sz="1400" dirty="0" err="1"/>
              <a:t>akhirnya</a:t>
            </a:r>
            <a:r>
              <a:rPr lang="en-US" sz="1400" dirty="0"/>
              <a:t> </a:t>
            </a:r>
            <a:r>
              <a:rPr lang="en-US" sz="1400" dirty="0" err="1"/>
              <a:t>kurang</a:t>
            </a:r>
            <a:r>
              <a:rPr lang="en-US" sz="1400" dirty="0"/>
              <a:t> </a:t>
            </a:r>
            <a:r>
              <a:rPr lang="en-US" sz="1400" dirty="0" err="1"/>
              <a:t>lebih</a:t>
            </a:r>
            <a:r>
              <a:rPr lang="en-US" sz="1400" dirty="0"/>
              <a:t> </a:t>
            </a:r>
            <a:r>
              <a:rPr lang="en-US" sz="1400" dirty="0" err="1"/>
              <a:t>seperti</a:t>
            </a:r>
            <a:r>
              <a:rPr lang="en-US" sz="1400" dirty="0"/>
              <a:t> </a:t>
            </a:r>
            <a:r>
              <a:rPr lang="en-US" sz="1400" dirty="0" err="1"/>
              <a:t>berikut</a:t>
            </a:r>
            <a:r>
              <a:rPr lang="en-US" sz="1400" dirty="0"/>
              <a:t>:</a:t>
            </a:r>
          </a:p>
          <a:p>
            <a:pPr algn="just"/>
            <a:endParaRPr lang="en-US" sz="1400" b="1" dirty="0" smtClean="0"/>
          </a:p>
          <a:p>
            <a:pPr algn="just"/>
            <a:r>
              <a:rPr lang="en-US" sz="1400" b="1" dirty="0" smtClean="0"/>
              <a:t>@ </a:t>
            </a:r>
            <a:r>
              <a:rPr lang="en-US" sz="1400" b="1" dirty="0" err="1" smtClean="0"/>
              <a:t>Lakukan</a:t>
            </a:r>
            <a:r>
              <a:rPr lang="en-US" sz="1400" b="1" dirty="0" smtClean="0"/>
              <a:t> </a:t>
            </a:r>
            <a:r>
              <a:rPr lang="en-US" sz="1400" b="1" dirty="0" err="1"/>
              <a:t>bootstraping</a:t>
            </a:r>
            <a:r>
              <a:rPr lang="en-US" sz="1400" b="1" dirty="0"/>
              <a:t> </a:t>
            </a:r>
            <a:r>
              <a:rPr lang="en-US" sz="1400" b="1" dirty="0" err="1"/>
              <a:t>pada</a:t>
            </a:r>
            <a:r>
              <a:rPr lang="en-US" sz="1400" b="1" dirty="0"/>
              <a:t> host </a:t>
            </a:r>
            <a:r>
              <a:rPr lang="en-US" sz="1400" b="1" dirty="0" err="1"/>
              <a:t>menggunakan</a:t>
            </a:r>
            <a:r>
              <a:rPr lang="en-US" sz="1400" b="1" dirty="0"/>
              <a:t> </a:t>
            </a:r>
            <a:r>
              <a:rPr lang="en-US" sz="1400" b="1" dirty="0" err="1"/>
              <a:t>dependensi</a:t>
            </a:r>
            <a:r>
              <a:rPr lang="en-US" sz="1400" b="1" dirty="0"/>
              <a:t> </a:t>
            </a:r>
            <a:r>
              <a:rPr lang="en-US" sz="1400" b="1" dirty="0" err="1"/>
              <a:t>kolla</a:t>
            </a:r>
            <a:r>
              <a:rPr lang="en-US" sz="1400" b="1" dirty="0"/>
              <a:t> </a:t>
            </a:r>
            <a:r>
              <a:rPr lang="en-US" sz="1400" b="1" dirty="0" err="1"/>
              <a:t>ansible</a:t>
            </a:r>
            <a:r>
              <a:rPr lang="en-US" sz="1400" b="1" dirty="0" smtClean="0"/>
              <a:t>:</a:t>
            </a:r>
          </a:p>
          <a:p>
            <a:pPr lvl="0" eaLnBrk="0" fontAlgn="base" hangingPunct="0">
              <a:spcBef>
                <a:spcPct val="0"/>
              </a:spcBef>
              <a:spcAft>
                <a:spcPct val="0"/>
              </a:spcAft>
            </a:pPr>
            <a:r>
              <a:rPr lang="en-US" sz="1400" b="1" dirty="0">
                <a:solidFill>
                  <a:srgbClr val="00B0F0"/>
                </a:solidFill>
              </a:rPr>
              <a:t>...</a:t>
            </a:r>
          </a:p>
          <a:p>
            <a:pPr lvl="0" eaLnBrk="0" fontAlgn="base" hangingPunct="0">
              <a:spcBef>
                <a:spcPct val="0"/>
              </a:spcBef>
              <a:spcAft>
                <a:spcPct val="0"/>
              </a:spcAft>
            </a:pPr>
            <a:r>
              <a:rPr lang="en-US" sz="1400" b="1" dirty="0">
                <a:solidFill>
                  <a:srgbClr val="00B0F0"/>
                </a:solidFill>
              </a:rPr>
              <a:t>PLAY RECAP *****************************************************************************************************************************************************************</a:t>
            </a:r>
          </a:p>
          <a:p>
            <a:pPr lvl="0" eaLnBrk="0" fontAlgn="base" hangingPunct="0">
              <a:spcBef>
                <a:spcPct val="0"/>
              </a:spcBef>
              <a:spcAft>
                <a:spcPct val="0"/>
              </a:spcAft>
            </a:pPr>
            <a:r>
              <a:rPr lang="en-US" sz="1400" b="1" dirty="0">
                <a:solidFill>
                  <a:srgbClr val="00B0F0"/>
                </a:solidFill>
              </a:rPr>
              <a:t>localhost                  : ok=366  changed=72   unreachable=0    **failed=0**    skipped=245  rescued=0    </a:t>
            </a:r>
            <a:r>
              <a:rPr lang="en-US" sz="1400" b="1" dirty="0" smtClean="0">
                <a:solidFill>
                  <a:srgbClr val="00B0F0"/>
                </a:solidFill>
              </a:rPr>
              <a:t>ignored=0</a:t>
            </a:r>
            <a:endParaRPr lang="en-US" altLang="en-US" sz="3200" dirty="0">
              <a:solidFill>
                <a:srgbClr val="00B0F0"/>
              </a:solidFill>
              <a:latin typeface="Arial" panose="020B0604020202020204" pitchFamily="34" charset="0"/>
            </a:endParaRPr>
          </a:p>
          <a:p>
            <a:pPr lvl="0" eaLnBrk="0" fontAlgn="base" hangingPunct="0">
              <a:spcBef>
                <a:spcPct val="0"/>
              </a:spcBef>
              <a:spcAft>
                <a:spcPct val="0"/>
              </a:spcAft>
            </a:pPr>
            <a:endParaRPr lang="en-US" sz="1400" b="1" dirty="0">
              <a:solidFill>
                <a:srgbClr val="002060"/>
              </a:solidFill>
            </a:endParaRPr>
          </a:p>
        </p:txBody>
      </p:sp>
      <p:sp>
        <p:nvSpPr>
          <p:cNvPr id="14" name="Rectangle 13"/>
          <p:cNvSpPr/>
          <p:nvPr/>
        </p:nvSpPr>
        <p:spPr>
          <a:xfrm>
            <a:off x="4645602" y="2555791"/>
            <a:ext cx="4099214" cy="221147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40082710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13</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7" name="Rectangle 6"/>
          <p:cNvSpPr/>
          <p:nvPr/>
        </p:nvSpPr>
        <p:spPr>
          <a:xfrm>
            <a:off x="135082" y="427613"/>
            <a:ext cx="4156364" cy="4093428"/>
          </a:xfrm>
          <a:prstGeom prst="rect">
            <a:avLst/>
          </a:prstGeom>
        </p:spPr>
        <p:txBody>
          <a:bodyPr wrap="square">
            <a:spAutoFit/>
          </a:bodyPr>
          <a:lstStyle/>
          <a:p>
            <a:pPr lvl="0" eaLnBrk="0" fontAlgn="base" hangingPunct="0">
              <a:spcBef>
                <a:spcPct val="0"/>
              </a:spcBef>
              <a:spcAft>
                <a:spcPct val="0"/>
              </a:spcAft>
            </a:pPr>
            <a:endParaRPr lang="en-US" altLang="en-US" sz="1600" b="1" dirty="0" smtClean="0">
              <a:solidFill>
                <a:srgbClr val="002060"/>
              </a:solidFill>
              <a:latin typeface="Arial" panose="020B0604020202020204" pitchFamily="34" charset="0"/>
            </a:endParaRPr>
          </a:p>
          <a:p>
            <a:r>
              <a:rPr lang="en-US" sz="2000" b="1" dirty="0">
                <a:solidFill>
                  <a:srgbClr val="002060"/>
                </a:solidFill>
              </a:rPr>
              <a:t>List Running </a:t>
            </a:r>
            <a:r>
              <a:rPr lang="en-US" sz="1600" b="1" dirty="0">
                <a:solidFill>
                  <a:srgbClr val="002060"/>
                </a:solidFill>
              </a:rPr>
              <a:t>OpenStack Docker Containers</a:t>
            </a:r>
          </a:p>
          <a:p>
            <a:r>
              <a:rPr lang="en-US" sz="1400" dirty="0" err="1"/>
              <a:t>Untuk</a:t>
            </a:r>
            <a:r>
              <a:rPr lang="en-US" sz="1400" dirty="0"/>
              <a:t> </a:t>
            </a:r>
            <a:r>
              <a:rPr lang="en-US" sz="1400" dirty="0" err="1"/>
              <a:t>mengecek</a:t>
            </a:r>
            <a:r>
              <a:rPr lang="en-US" sz="1400" dirty="0"/>
              <a:t> service </a:t>
            </a:r>
            <a:r>
              <a:rPr lang="en-US" sz="1400" dirty="0" err="1"/>
              <a:t>docker</a:t>
            </a:r>
            <a:r>
              <a:rPr lang="en-US" sz="1400" dirty="0"/>
              <a:t> yang </a:t>
            </a:r>
            <a:r>
              <a:rPr lang="en-US" sz="1400" dirty="0" err="1"/>
              <a:t>berjalan</a:t>
            </a:r>
            <a:r>
              <a:rPr lang="en-US" sz="1400" dirty="0"/>
              <a:t> </a:t>
            </a:r>
            <a:r>
              <a:rPr lang="en-US" sz="1400" dirty="0" err="1"/>
              <a:t>silakan</a:t>
            </a:r>
            <a:r>
              <a:rPr lang="en-US" sz="1400" dirty="0"/>
              <a:t> </a:t>
            </a:r>
            <a:r>
              <a:rPr lang="en-US" sz="1400" dirty="0" err="1"/>
              <a:t>menggunakan</a:t>
            </a:r>
            <a:r>
              <a:rPr lang="en-US" sz="1400" dirty="0"/>
              <a:t> command </a:t>
            </a:r>
            <a:r>
              <a:rPr lang="en-US" sz="1400" dirty="0" err="1"/>
              <a:t>ini</a:t>
            </a:r>
            <a:r>
              <a:rPr lang="en-US" sz="1400" dirty="0"/>
              <a:t>:</a:t>
            </a:r>
          </a:p>
          <a:p>
            <a:pPr algn="just" eaLnBrk="0" fontAlgn="base" hangingPunct="0">
              <a:spcBef>
                <a:spcPct val="0"/>
              </a:spcBef>
              <a:spcAft>
                <a:spcPct val="0"/>
              </a:spcAft>
            </a:pPr>
            <a:r>
              <a:rPr lang="en-US" sz="1400" b="1" dirty="0" smtClean="0">
                <a:solidFill>
                  <a:srgbClr val="002060"/>
                </a:solidFill>
              </a:rPr>
              <a:t># </a:t>
            </a:r>
            <a:r>
              <a:rPr lang="en-US" altLang="en-US" sz="1400" dirty="0" err="1" smtClean="0">
                <a:solidFill>
                  <a:srgbClr val="0070C0"/>
                </a:solidFill>
                <a:latin typeface="Courier New" panose="02070309020205020404" pitchFamily="49" charset="0"/>
                <a:cs typeface="Courier New" panose="02070309020205020404" pitchFamily="49" charset="0"/>
              </a:rPr>
              <a:t>docker</a:t>
            </a:r>
            <a:r>
              <a:rPr lang="en-US" altLang="en-US" sz="1400" dirty="0" smtClean="0">
                <a:solidFill>
                  <a:srgbClr val="0070C0"/>
                </a:solidFill>
                <a:latin typeface="Courier New" panose="02070309020205020404" pitchFamily="49" charset="0"/>
                <a:cs typeface="Courier New" panose="02070309020205020404" pitchFamily="49" charset="0"/>
              </a:rPr>
              <a:t> </a:t>
            </a:r>
            <a:r>
              <a:rPr lang="en-US" altLang="en-US" sz="1400" dirty="0" err="1" smtClean="0">
                <a:solidFill>
                  <a:srgbClr val="0070C0"/>
                </a:solidFill>
                <a:latin typeface="Courier New" panose="02070309020205020404" pitchFamily="49" charset="0"/>
                <a:cs typeface="Courier New" panose="02070309020205020404" pitchFamily="49" charset="0"/>
              </a:rPr>
              <a:t>ps</a:t>
            </a:r>
            <a:endParaRPr lang="en-US" altLang="en-US" sz="1400" dirty="0">
              <a:solidFill>
                <a:srgbClr val="0070C0"/>
              </a:solidFill>
              <a:latin typeface="Arial" panose="020B0604020202020204" pitchFamily="34" charset="0"/>
            </a:endParaRPr>
          </a:p>
          <a:p>
            <a:pPr lvl="0" eaLnBrk="0" fontAlgn="base" hangingPunct="0">
              <a:spcBef>
                <a:spcPct val="0"/>
              </a:spcBef>
              <a:spcAft>
                <a:spcPct val="0"/>
              </a:spcAft>
            </a:pPr>
            <a:endParaRPr lang="en-US" sz="1400" b="1" dirty="0" smtClean="0">
              <a:solidFill>
                <a:srgbClr val="002060"/>
              </a:solidFill>
            </a:endParaRPr>
          </a:p>
          <a:p>
            <a:r>
              <a:rPr lang="en-US" sz="1400" b="1" dirty="0">
                <a:solidFill>
                  <a:srgbClr val="002060"/>
                </a:solidFill>
              </a:rPr>
              <a:t>OpenStack Post Deployment</a:t>
            </a:r>
          </a:p>
          <a:p>
            <a:pPr algn="just"/>
            <a:r>
              <a:rPr lang="en-US" sz="1400" dirty="0" err="1"/>
              <a:t>Pastikan</a:t>
            </a:r>
            <a:r>
              <a:rPr lang="en-US" sz="1400" dirty="0"/>
              <a:t> virtual environment </a:t>
            </a:r>
            <a:r>
              <a:rPr lang="en-US" sz="1400" dirty="0" err="1"/>
              <a:t>sudah</a:t>
            </a:r>
            <a:r>
              <a:rPr lang="en-US" sz="1400" dirty="0"/>
              <a:t> </a:t>
            </a:r>
            <a:r>
              <a:rPr lang="en-US" sz="1400" dirty="0" err="1"/>
              <a:t>aktif</a:t>
            </a:r>
            <a:r>
              <a:rPr lang="en-US" sz="1400" dirty="0"/>
              <a:t> </a:t>
            </a:r>
            <a:r>
              <a:rPr lang="en-US" sz="1400" dirty="0" err="1"/>
              <a:t>sebelum</a:t>
            </a:r>
            <a:r>
              <a:rPr lang="en-US" sz="1400" dirty="0"/>
              <a:t> </a:t>
            </a:r>
            <a:r>
              <a:rPr lang="en-US" sz="1400" dirty="0" err="1"/>
              <a:t>menjalankan</a:t>
            </a:r>
            <a:r>
              <a:rPr lang="en-US" sz="1400" dirty="0"/>
              <a:t> command </a:t>
            </a:r>
            <a:r>
              <a:rPr lang="en-US" sz="1400" dirty="0" err="1"/>
              <a:t>ini</a:t>
            </a:r>
            <a:r>
              <a:rPr lang="en-US" sz="1400" dirty="0" smtClean="0"/>
              <a:t>:</a:t>
            </a:r>
          </a:p>
          <a:p>
            <a:pPr algn="just"/>
            <a:endParaRPr lang="en-US" sz="1400" dirty="0"/>
          </a:p>
          <a:p>
            <a:r>
              <a:rPr lang="en-US" sz="1400" b="1" dirty="0">
                <a:solidFill>
                  <a:srgbClr val="002060"/>
                </a:solidFill>
              </a:rPr>
              <a:t>Install </a:t>
            </a:r>
            <a:r>
              <a:rPr lang="en-US" sz="1400" b="1" dirty="0" err="1">
                <a:solidFill>
                  <a:srgbClr val="002060"/>
                </a:solidFill>
              </a:rPr>
              <a:t>Openstack</a:t>
            </a:r>
            <a:r>
              <a:rPr lang="en-US" sz="1400" b="1" dirty="0">
                <a:solidFill>
                  <a:srgbClr val="002060"/>
                </a:solidFill>
              </a:rPr>
              <a:t> Client</a:t>
            </a:r>
          </a:p>
          <a:p>
            <a:pPr lvl="0" eaLnBrk="0" fontAlgn="base" hangingPunct="0">
              <a:spcBef>
                <a:spcPct val="0"/>
              </a:spcBef>
              <a:spcAft>
                <a:spcPct val="0"/>
              </a:spcAft>
            </a:pPr>
            <a:r>
              <a:rPr lang="en-US" sz="1400" dirty="0">
                <a:solidFill>
                  <a:srgbClr val="002060"/>
                </a:solidFill>
              </a:rPr>
              <a:t># </a:t>
            </a:r>
            <a:r>
              <a:rPr lang="en-US" sz="1400" dirty="0" smtClean="0">
                <a:solidFill>
                  <a:srgbClr val="00B0F0"/>
                </a:solidFill>
              </a:rPr>
              <a:t>pip </a:t>
            </a:r>
            <a:r>
              <a:rPr lang="en-US" sz="1400" dirty="0">
                <a:solidFill>
                  <a:srgbClr val="00B0F0"/>
                </a:solidFill>
              </a:rPr>
              <a:t>install python-</a:t>
            </a:r>
            <a:r>
              <a:rPr lang="en-US" sz="1400" dirty="0" err="1">
                <a:solidFill>
                  <a:srgbClr val="00B0F0"/>
                </a:solidFill>
              </a:rPr>
              <a:t>openstackclient</a:t>
            </a:r>
            <a:r>
              <a:rPr lang="en-US" sz="1400" dirty="0">
                <a:solidFill>
                  <a:srgbClr val="00B0F0"/>
                </a:solidFill>
              </a:rPr>
              <a:t> python-</a:t>
            </a:r>
            <a:r>
              <a:rPr lang="en-US" sz="1400" dirty="0" err="1">
                <a:solidFill>
                  <a:srgbClr val="00B0F0"/>
                </a:solidFill>
              </a:rPr>
              <a:t>neutronclient</a:t>
            </a:r>
            <a:r>
              <a:rPr lang="en-US" sz="1400" dirty="0">
                <a:solidFill>
                  <a:srgbClr val="00B0F0"/>
                </a:solidFill>
              </a:rPr>
              <a:t> </a:t>
            </a:r>
            <a:r>
              <a:rPr lang="en-US" sz="1400" dirty="0" smtClean="0">
                <a:solidFill>
                  <a:srgbClr val="00B0F0"/>
                </a:solidFill>
              </a:rPr>
              <a:t>python-</a:t>
            </a:r>
            <a:r>
              <a:rPr lang="en-US" sz="1400" dirty="0" err="1" smtClean="0">
                <a:solidFill>
                  <a:srgbClr val="00B0F0"/>
                </a:solidFill>
              </a:rPr>
              <a:t>glanceclient</a:t>
            </a:r>
            <a:endParaRPr lang="en-US" sz="1400" dirty="0" smtClean="0">
              <a:solidFill>
                <a:srgbClr val="00B0F0"/>
              </a:solidFill>
            </a:endParaRPr>
          </a:p>
          <a:p>
            <a:pPr algn="just"/>
            <a:endParaRPr lang="en-US" sz="1400" dirty="0"/>
          </a:p>
          <a:p>
            <a:r>
              <a:rPr lang="en-US" sz="1400" b="1" dirty="0">
                <a:solidFill>
                  <a:srgbClr val="002060"/>
                </a:solidFill>
              </a:rPr>
              <a:t>Generate </a:t>
            </a:r>
            <a:r>
              <a:rPr lang="en-US" sz="1400" b="1" dirty="0" err="1" smtClean="0">
                <a:solidFill>
                  <a:srgbClr val="002060"/>
                </a:solidFill>
              </a:rPr>
              <a:t>AdminRC</a:t>
            </a:r>
            <a:endParaRPr lang="en-US" sz="1400" b="1" dirty="0" smtClean="0">
              <a:solidFill>
                <a:srgbClr val="002060"/>
              </a:solidFill>
            </a:endParaRPr>
          </a:p>
          <a:p>
            <a:r>
              <a:rPr lang="en-US" sz="1400" dirty="0" smtClean="0">
                <a:solidFill>
                  <a:srgbClr val="002060"/>
                </a:solidFill>
              </a:rPr>
              <a:t># </a:t>
            </a:r>
            <a:r>
              <a:rPr lang="en-US" sz="1400" dirty="0" err="1">
                <a:solidFill>
                  <a:srgbClr val="00B0F0"/>
                </a:solidFill>
              </a:rPr>
              <a:t>kolla-ansible</a:t>
            </a:r>
            <a:r>
              <a:rPr lang="en-US" sz="1400" dirty="0">
                <a:solidFill>
                  <a:srgbClr val="00B0F0"/>
                </a:solidFill>
              </a:rPr>
              <a:t> post-deploy</a:t>
            </a:r>
            <a:endParaRPr lang="en-US" sz="1400" dirty="0"/>
          </a:p>
          <a:p>
            <a:r>
              <a:rPr lang="en-US" sz="1400" b="1" dirty="0" err="1">
                <a:solidFill>
                  <a:srgbClr val="002060"/>
                </a:solidFill>
              </a:rPr>
              <a:t>Gunakan</a:t>
            </a:r>
            <a:r>
              <a:rPr lang="en-US" sz="1400" b="1" dirty="0">
                <a:solidFill>
                  <a:srgbClr val="002060"/>
                </a:solidFill>
              </a:rPr>
              <a:t> </a:t>
            </a:r>
            <a:r>
              <a:rPr lang="en-US" sz="1400" b="1" dirty="0" err="1" smtClean="0">
                <a:solidFill>
                  <a:srgbClr val="002060"/>
                </a:solidFill>
              </a:rPr>
              <a:t>AdminRC</a:t>
            </a:r>
            <a:endParaRPr lang="en-US" sz="1400" b="1" dirty="0" smtClean="0">
              <a:solidFill>
                <a:srgbClr val="002060"/>
              </a:solidFill>
            </a:endParaRPr>
          </a:p>
          <a:p>
            <a:r>
              <a:rPr lang="en-US" sz="1400" dirty="0" smtClean="0">
                <a:solidFill>
                  <a:srgbClr val="002060"/>
                </a:solidFill>
              </a:rPr>
              <a:t># </a:t>
            </a:r>
            <a:r>
              <a:rPr lang="en-US" sz="1400" dirty="0">
                <a:solidFill>
                  <a:srgbClr val="00B0F0"/>
                </a:solidFill>
              </a:rPr>
              <a:t>source /etc/kolla/admin-openrc.sh</a:t>
            </a:r>
          </a:p>
        </p:txBody>
      </p:sp>
      <p:sp>
        <p:nvSpPr>
          <p:cNvPr id="8" name="Rectangle 7"/>
          <p:cNvSpPr/>
          <p:nvPr/>
        </p:nvSpPr>
        <p:spPr>
          <a:xfrm>
            <a:off x="192232" y="1413403"/>
            <a:ext cx="4099214" cy="21508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192232" y="2910821"/>
            <a:ext cx="4099214" cy="53300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0" name="Rectangle 9"/>
          <p:cNvSpPr/>
          <p:nvPr/>
        </p:nvSpPr>
        <p:spPr>
          <a:xfrm>
            <a:off x="192232" y="3767349"/>
            <a:ext cx="4099214" cy="21508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1" name="Rectangle 10"/>
          <p:cNvSpPr/>
          <p:nvPr/>
        </p:nvSpPr>
        <p:spPr>
          <a:xfrm>
            <a:off x="192232" y="4261926"/>
            <a:ext cx="4099214" cy="21508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2" name="Rectangle 11"/>
          <p:cNvSpPr/>
          <p:nvPr/>
        </p:nvSpPr>
        <p:spPr>
          <a:xfrm>
            <a:off x="4762500" y="549678"/>
            <a:ext cx="4156364" cy="4093428"/>
          </a:xfrm>
          <a:prstGeom prst="rect">
            <a:avLst/>
          </a:prstGeom>
        </p:spPr>
        <p:txBody>
          <a:bodyPr wrap="square">
            <a:spAutoFit/>
          </a:bodyPr>
          <a:lstStyle/>
          <a:p>
            <a:pPr lvl="0" eaLnBrk="0" fontAlgn="base" hangingPunct="0">
              <a:spcBef>
                <a:spcPct val="0"/>
              </a:spcBef>
              <a:spcAft>
                <a:spcPct val="0"/>
              </a:spcAft>
            </a:pPr>
            <a:endParaRPr lang="en-US" altLang="en-US" sz="1600" b="1" dirty="0" smtClean="0">
              <a:solidFill>
                <a:srgbClr val="002060"/>
              </a:solidFill>
              <a:latin typeface="Arial" panose="020B0604020202020204" pitchFamily="34" charset="0"/>
            </a:endParaRPr>
          </a:p>
          <a:p>
            <a:r>
              <a:rPr lang="fi-FI" sz="2000" b="1" dirty="0">
                <a:solidFill>
                  <a:srgbClr val="002060"/>
                </a:solidFill>
              </a:rPr>
              <a:t>Jalankan script untuk inisiasi </a:t>
            </a:r>
            <a:r>
              <a:rPr lang="fi-FI" sz="2000" b="1" dirty="0" smtClean="0">
                <a:solidFill>
                  <a:srgbClr val="002060"/>
                </a:solidFill>
              </a:rPr>
              <a:t>awal</a:t>
            </a:r>
          </a:p>
          <a:p>
            <a:pPr algn="just"/>
            <a:endParaRPr lang="fi-FI" sz="1400" b="1" dirty="0">
              <a:solidFill>
                <a:srgbClr val="002060"/>
              </a:solidFill>
            </a:endParaRPr>
          </a:p>
          <a:p>
            <a:pPr algn="just"/>
            <a:r>
              <a:rPr lang="en-US" sz="1400" dirty="0" err="1"/>
              <a:t>Secara</a:t>
            </a:r>
            <a:r>
              <a:rPr lang="en-US" sz="1400" dirty="0"/>
              <a:t> default </a:t>
            </a:r>
            <a:r>
              <a:rPr lang="en-US" sz="1400" dirty="0" err="1"/>
              <a:t>kolla</a:t>
            </a:r>
            <a:r>
              <a:rPr lang="en-US" sz="1400" dirty="0"/>
              <a:t> </a:t>
            </a:r>
            <a:r>
              <a:rPr lang="en-US" sz="1400" dirty="0" err="1"/>
              <a:t>ansible</a:t>
            </a:r>
            <a:r>
              <a:rPr lang="en-US" sz="1400" dirty="0"/>
              <a:t> </a:t>
            </a:r>
            <a:r>
              <a:rPr lang="en-US" sz="1400" dirty="0" err="1"/>
              <a:t>sudah</a:t>
            </a:r>
            <a:r>
              <a:rPr lang="en-US" sz="1400" dirty="0"/>
              <a:t> </a:t>
            </a:r>
            <a:r>
              <a:rPr lang="en-US" sz="1400" dirty="0" err="1"/>
              <a:t>menyiapkan</a:t>
            </a:r>
            <a:r>
              <a:rPr lang="en-US" sz="1400" dirty="0"/>
              <a:t> script </a:t>
            </a:r>
            <a:r>
              <a:rPr lang="en-US" sz="1400" dirty="0" err="1"/>
              <a:t>inisiasi</a:t>
            </a:r>
            <a:r>
              <a:rPr lang="en-US" sz="1400" dirty="0"/>
              <a:t> </a:t>
            </a:r>
            <a:r>
              <a:rPr lang="en-US" sz="1400" dirty="0" err="1"/>
              <a:t>awal</a:t>
            </a:r>
            <a:r>
              <a:rPr lang="en-US" sz="1400" dirty="0"/>
              <a:t> yang </a:t>
            </a:r>
            <a:r>
              <a:rPr lang="en-US" sz="1400" dirty="0" err="1"/>
              <a:t>digunakan</a:t>
            </a:r>
            <a:r>
              <a:rPr lang="en-US" sz="1400" dirty="0"/>
              <a:t> </a:t>
            </a:r>
            <a:r>
              <a:rPr lang="en-US" sz="1400" dirty="0" err="1"/>
              <a:t>untuk</a:t>
            </a:r>
            <a:r>
              <a:rPr lang="en-US" sz="1400" dirty="0"/>
              <a:t> create network demo </a:t>
            </a:r>
            <a:r>
              <a:rPr lang="en-US" sz="1400" dirty="0" err="1"/>
              <a:t>didalam</a:t>
            </a:r>
            <a:r>
              <a:rPr lang="en-US" sz="1400" dirty="0"/>
              <a:t> </a:t>
            </a:r>
            <a:r>
              <a:rPr lang="en-US" sz="1400" dirty="0" err="1"/>
              <a:t>openstack</a:t>
            </a:r>
            <a:r>
              <a:rPr lang="en-US" sz="1400" dirty="0" smtClean="0"/>
              <a:t>.</a:t>
            </a:r>
          </a:p>
          <a:p>
            <a:pPr algn="just"/>
            <a:endParaRPr lang="en-US" sz="1400" dirty="0">
              <a:solidFill>
                <a:srgbClr val="002060"/>
              </a:solidFill>
            </a:endParaRPr>
          </a:p>
          <a:p>
            <a:pPr algn="just"/>
            <a:r>
              <a:rPr lang="en-US" sz="1400" dirty="0">
                <a:solidFill>
                  <a:srgbClr val="00B0F0"/>
                </a:solidFill>
              </a:rPr>
              <a:t>vim /</a:t>
            </a:r>
            <a:r>
              <a:rPr lang="en-US" sz="1400" dirty="0" smtClean="0">
                <a:solidFill>
                  <a:srgbClr val="00B0F0"/>
                </a:solidFill>
              </a:rPr>
              <a:t>home/panda/deploy/share/</a:t>
            </a:r>
            <a:r>
              <a:rPr lang="en-US" sz="1400" dirty="0" err="1" smtClean="0">
                <a:solidFill>
                  <a:srgbClr val="00B0F0"/>
                </a:solidFill>
              </a:rPr>
              <a:t>kolla-ansible</a:t>
            </a:r>
            <a:r>
              <a:rPr lang="en-US" sz="1400" dirty="0" smtClean="0">
                <a:solidFill>
                  <a:srgbClr val="00B0F0"/>
                </a:solidFill>
              </a:rPr>
              <a:t>/</a:t>
            </a:r>
            <a:r>
              <a:rPr lang="en-US" sz="1400" dirty="0" err="1" smtClean="0">
                <a:solidFill>
                  <a:srgbClr val="00B0F0"/>
                </a:solidFill>
              </a:rPr>
              <a:t>init-runonce</a:t>
            </a:r>
            <a:endParaRPr lang="en-US" sz="1400" dirty="0">
              <a:solidFill>
                <a:srgbClr val="00B0F0"/>
              </a:solidFill>
            </a:endParaRPr>
          </a:p>
          <a:p>
            <a:pPr algn="just"/>
            <a:r>
              <a:rPr lang="en-US" sz="1400" dirty="0">
                <a:solidFill>
                  <a:srgbClr val="00B0F0"/>
                </a:solidFill>
              </a:rPr>
              <a:t>...</a:t>
            </a:r>
          </a:p>
          <a:p>
            <a:pPr algn="just"/>
            <a:r>
              <a:rPr lang="en-US" sz="1400" dirty="0">
                <a:solidFill>
                  <a:srgbClr val="00B0F0"/>
                </a:solidFill>
              </a:rPr>
              <a:t># This EXT_NET_CIDR is your public </a:t>
            </a:r>
            <a:r>
              <a:rPr lang="en-US" sz="1400" dirty="0" err="1">
                <a:solidFill>
                  <a:srgbClr val="00B0F0"/>
                </a:solidFill>
              </a:rPr>
              <a:t>network,that</a:t>
            </a:r>
            <a:r>
              <a:rPr lang="en-US" sz="1400" dirty="0">
                <a:solidFill>
                  <a:srgbClr val="00B0F0"/>
                </a:solidFill>
              </a:rPr>
              <a:t> you want to connect to the internet via.</a:t>
            </a:r>
          </a:p>
          <a:p>
            <a:pPr algn="just"/>
            <a:r>
              <a:rPr lang="en-US" sz="1400" dirty="0">
                <a:solidFill>
                  <a:srgbClr val="00B0F0"/>
                </a:solidFill>
              </a:rPr>
              <a:t>ENABLE_EXT_NET=${ENABLE_EXT_NET:-1}</a:t>
            </a:r>
          </a:p>
          <a:p>
            <a:pPr algn="just"/>
            <a:r>
              <a:rPr lang="en-US" sz="1400" dirty="0">
                <a:solidFill>
                  <a:srgbClr val="00B0F0"/>
                </a:solidFill>
              </a:rPr>
              <a:t>EXT_NET_CIDR=${EXT_NET_CIDR:-'10.25.25.0/24'}</a:t>
            </a:r>
          </a:p>
          <a:p>
            <a:pPr algn="just"/>
            <a:r>
              <a:rPr lang="en-US" sz="1400" dirty="0">
                <a:solidFill>
                  <a:srgbClr val="00B0F0"/>
                </a:solidFill>
              </a:rPr>
              <a:t>EXT_NET_RANGE=${EXT_NET_RANGE:-'start=10.25.25.4,end=10.25.25.253'}</a:t>
            </a:r>
          </a:p>
          <a:p>
            <a:pPr algn="just"/>
            <a:r>
              <a:rPr lang="en-US" sz="1400" dirty="0">
                <a:solidFill>
                  <a:srgbClr val="00B0F0"/>
                </a:solidFill>
              </a:rPr>
              <a:t>EXT_NET_GATEWAY=${EXT_NET_GATEWAY:-'10.25.25.1'}</a:t>
            </a:r>
          </a:p>
        </p:txBody>
      </p:sp>
      <p:sp>
        <p:nvSpPr>
          <p:cNvPr id="13" name="Rectangle 12"/>
          <p:cNvSpPr/>
          <p:nvPr/>
        </p:nvSpPr>
        <p:spPr>
          <a:xfrm>
            <a:off x="4819650" y="2037048"/>
            <a:ext cx="4099214" cy="260605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345397425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14</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7" name="Rectangle 6"/>
          <p:cNvSpPr/>
          <p:nvPr/>
        </p:nvSpPr>
        <p:spPr>
          <a:xfrm>
            <a:off x="204354" y="346150"/>
            <a:ext cx="4156364" cy="5570756"/>
          </a:xfrm>
          <a:prstGeom prst="rect">
            <a:avLst/>
          </a:prstGeom>
        </p:spPr>
        <p:txBody>
          <a:bodyPr wrap="square">
            <a:spAutoFit/>
          </a:bodyPr>
          <a:lstStyle/>
          <a:p>
            <a:pPr lvl="0" eaLnBrk="0" fontAlgn="base" hangingPunct="0">
              <a:spcBef>
                <a:spcPct val="0"/>
              </a:spcBef>
              <a:spcAft>
                <a:spcPct val="0"/>
              </a:spcAft>
            </a:pPr>
            <a:endParaRPr lang="en-US" altLang="en-US" sz="800" b="1" dirty="0" smtClean="0">
              <a:solidFill>
                <a:srgbClr val="002060"/>
              </a:solidFill>
              <a:latin typeface="Arial" panose="020B0604020202020204" pitchFamily="34" charset="0"/>
            </a:endParaRPr>
          </a:p>
          <a:p>
            <a:r>
              <a:rPr lang="en-US" b="1" dirty="0" err="1">
                <a:solidFill>
                  <a:srgbClr val="002060"/>
                </a:solidFill>
              </a:rPr>
              <a:t>Eksekusi</a:t>
            </a:r>
            <a:r>
              <a:rPr lang="en-US" b="1" dirty="0">
                <a:solidFill>
                  <a:srgbClr val="002060"/>
                </a:solidFill>
              </a:rPr>
              <a:t> </a:t>
            </a:r>
            <a:r>
              <a:rPr lang="en-US" b="1" dirty="0" smtClean="0">
                <a:solidFill>
                  <a:srgbClr val="002060"/>
                </a:solidFill>
              </a:rPr>
              <a:t>script</a:t>
            </a:r>
          </a:p>
          <a:p>
            <a:pPr lvl="0" eaLnBrk="0" fontAlgn="base" hangingPunct="0">
              <a:spcBef>
                <a:spcPct val="0"/>
              </a:spcBef>
              <a:spcAft>
                <a:spcPct val="0"/>
              </a:spcAft>
            </a:pPr>
            <a:r>
              <a:rPr lang="en-US" sz="1400" b="1" dirty="0" smtClean="0">
                <a:solidFill>
                  <a:srgbClr val="002060"/>
                </a:solidFill>
              </a:rPr>
              <a:t> </a:t>
            </a:r>
            <a:r>
              <a:rPr lang="en-US" altLang="en-US" sz="1400" dirty="0">
                <a:solidFill>
                  <a:srgbClr val="00B0F0"/>
                </a:solidFill>
                <a:latin typeface="Courier New" panose="02070309020205020404" pitchFamily="49" charset="0"/>
                <a:cs typeface="Courier New" panose="02070309020205020404" pitchFamily="49" charset="0"/>
              </a:rPr>
              <a:t>/</a:t>
            </a:r>
            <a:r>
              <a:rPr lang="en-US" altLang="en-US" sz="1400" dirty="0" smtClean="0">
                <a:solidFill>
                  <a:srgbClr val="00B0F0"/>
                </a:solidFill>
                <a:latin typeface="Courier New" panose="02070309020205020404" pitchFamily="49" charset="0"/>
                <a:cs typeface="Courier New" panose="02070309020205020404" pitchFamily="49" charset="0"/>
              </a:rPr>
              <a:t>home/panda/deploy/share/</a:t>
            </a:r>
            <a:r>
              <a:rPr lang="en-US" altLang="en-US" sz="1400" dirty="0" err="1" smtClean="0">
                <a:solidFill>
                  <a:srgbClr val="00B0F0"/>
                </a:solidFill>
                <a:latin typeface="Courier New" panose="02070309020205020404" pitchFamily="49" charset="0"/>
                <a:cs typeface="Courier New" panose="02070309020205020404" pitchFamily="49" charset="0"/>
              </a:rPr>
              <a:t>kolla-ansible</a:t>
            </a:r>
            <a:r>
              <a:rPr lang="en-US" altLang="en-US" sz="1400" dirty="0" smtClean="0">
                <a:solidFill>
                  <a:srgbClr val="00B0F0"/>
                </a:solidFill>
                <a:latin typeface="Courier New" panose="02070309020205020404" pitchFamily="49" charset="0"/>
                <a:cs typeface="Courier New" panose="02070309020205020404" pitchFamily="49" charset="0"/>
              </a:rPr>
              <a:t>/</a:t>
            </a:r>
            <a:r>
              <a:rPr lang="en-US" altLang="en-US" sz="1400" dirty="0" err="1" smtClean="0">
                <a:solidFill>
                  <a:srgbClr val="00B0F0"/>
                </a:solidFill>
                <a:latin typeface="Courier New" panose="02070309020205020404" pitchFamily="49" charset="0"/>
                <a:cs typeface="Courier New" panose="02070309020205020404" pitchFamily="49" charset="0"/>
              </a:rPr>
              <a:t>init-runonce</a:t>
            </a:r>
            <a:r>
              <a:rPr lang="en-US" altLang="en-US" sz="800" dirty="0" smtClean="0">
                <a:solidFill>
                  <a:srgbClr val="00B0F0"/>
                </a:solidFill>
              </a:rPr>
              <a:t> </a:t>
            </a:r>
            <a:endParaRPr lang="en-US" altLang="en-US" sz="3200" dirty="0">
              <a:solidFill>
                <a:srgbClr val="00B0F0"/>
              </a:solidFill>
              <a:latin typeface="Arial" panose="020B0604020202020204" pitchFamily="34" charset="0"/>
            </a:endParaRPr>
          </a:p>
          <a:p>
            <a:pPr lvl="0" eaLnBrk="0" fontAlgn="base" hangingPunct="0">
              <a:spcBef>
                <a:spcPct val="0"/>
              </a:spcBef>
              <a:spcAft>
                <a:spcPct val="0"/>
              </a:spcAft>
            </a:pPr>
            <a:endParaRPr lang="en-US" sz="1400" b="1" dirty="0" smtClean="0">
              <a:solidFill>
                <a:srgbClr val="002060"/>
              </a:solidFill>
            </a:endParaRPr>
          </a:p>
          <a:p>
            <a:r>
              <a:rPr lang="en-US" b="1" dirty="0" err="1"/>
              <a:t>Aktifkan</a:t>
            </a:r>
            <a:r>
              <a:rPr lang="en-US" b="1" dirty="0"/>
              <a:t> ipv4 </a:t>
            </a:r>
            <a:r>
              <a:rPr lang="en-US" b="1" dirty="0" smtClean="0"/>
              <a:t>forwarding</a:t>
            </a:r>
          </a:p>
          <a:p>
            <a:pPr eaLnBrk="0" fontAlgn="base" hangingPunct="0">
              <a:spcBef>
                <a:spcPct val="0"/>
              </a:spcBef>
              <a:spcAft>
                <a:spcPct val="0"/>
              </a:spcAft>
            </a:pPr>
            <a:r>
              <a:rPr lang="en-US" sz="1400" dirty="0">
                <a:solidFill>
                  <a:srgbClr val="0070C0"/>
                </a:solidFill>
              </a:rPr>
              <a:t>vi /</a:t>
            </a:r>
            <a:r>
              <a:rPr lang="en-US" sz="1400" dirty="0" err="1">
                <a:solidFill>
                  <a:srgbClr val="0070C0"/>
                </a:solidFill>
              </a:rPr>
              <a:t>etc</a:t>
            </a:r>
            <a:r>
              <a:rPr lang="en-US" sz="1400" dirty="0">
                <a:solidFill>
                  <a:srgbClr val="0070C0"/>
                </a:solidFill>
              </a:rPr>
              <a:t>/</a:t>
            </a:r>
            <a:r>
              <a:rPr lang="en-US" sz="1400" dirty="0" err="1">
                <a:solidFill>
                  <a:srgbClr val="0070C0"/>
                </a:solidFill>
              </a:rPr>
              <a:t>sysctl.conf</a:t>
            </a:r>
            <a:endParaRPr lang="en-US" sz="1400" dirty="0">
              <a:solidFill>
                <a:srgbClr val="0070C0"/>
              </a:solidFill>
            </a:endParaRPr>
          </a:p>
          <a:p>
            <a:pPr eaLnBrk="0" fontAlgn="base" hangingPunct="0">
              <a:spcBef>
                <a:spcPct val="0"/>
              </a:spcBef>
              <a:spcAft>
                <a:spcPct val="0"/>
              </a:spcAft>
            </a:pPr>
            <a:r>
              <a:rPr lang="en-US" sz="1400" dirty="0">
                <a:solidFill>
                  <a:srgbClr val="0070C0"/>
                </a:solidFill>
              </a:rPr>
              <a:t>...</a:t>
            </a:r>
          </a:p>
          <a:p>
            <a:pPr eaLnBrk="0" fontAlgn="base" hangingPunct="0">
              <a:spcBef>
                <a:spcPct val="0"/>
              </a:spcBef>
              <a:spcAft>
                <a:spcPct val="0"/>
              </a:spcAft>
            </a:pPr>
            <a:r>
              <a:rPr lang="en-US" sz="1400" dirty="0">
                <a:solidFill>
                  <a:srgbClr val="0070C0"/>
                </a:solidFill>
              </a:rPr>
              <a:t>net.ipv4.ip_forward=1</a:t>
            </a:r>
          </a:p>
          <a:p>
            <a:pPr eaLnBrk="0" fontAlgn="base" hangingPunct="0">
              <a:spcBef>
                <a:spcPct val="0"/>
              </a:spcBef>
              <a:spcAft>
                <a:spcPct val="0"/>
              </a:spcAft>
            </a:pPr>
            <a:r>
              <a:rPr lang="en-US" sz="1400" dirty="0">
                <a:solidFill>
                  <a:srgbClr val="0070C0"/>
                </a:solidFill>
              </a:rPr>
              <a:t>net.ipv4.ip_nonlocal_bind=1</a:t>
            </a:r>
          </a:p>
          <a:p>
            <a:pPr eaLnBrk="0" fontAlgn="base" hangingPunct="0">
              <a:spcBef>
                <a:spcPct val="0"/>
              </a:spcBef>
              <a:spcAft>
                <a:spcPct val="0"/>
              </a:spcAft>
            </a:pPr>
            <a:r>
              <a:rPr lang="en-US" sz="1400" dirty="0">
                <a:solidFill>
                  <a:srgbClr val="0070C0"/>
                </a:solidFill>
              </a:rPr>
              <a:t>net.ipv6.ip_nonlocal_bind=1</a:t>
            </a:r>
          </a:p>
          <a:p>
            <a:pPr eaLnBrk="0" fontAlgn="base" hangingPunct="0">
              <a:spcBef>
                <a:spcPct val="0"/>
              </a:spcBef>
              <a:spcAft>
                <a:spcPct val="0"/>
              </a:spcAft>
            </a:pPr>
            <a:r>
              <a:rPr lang="en-US" sz="1400" dirty="0" err="1">
                <a:solidFill>
                  <a:srgbClr val="0070C0"/>
                </a:solidFill>
              </a:rPr>
              <a:t>net.unix.max_dgram_qlen</a:t>
            </a:r>
            <a:r>
              <a:rPr lang="en-US" sz="1400" dirty="0">
                <a:solidFill>
                  <a:srgbClr val="0070C0"/>
                </a:solidFill>
              </a:rPr>
              <a:t>=128</a:t>
            </a:r>
          </a:p>
          <a:p>
            <a:pPr eaLnBrk="0" fontAlgn="base" hangingPunct="0">
              <a:spcBef>
                <a:spcPct val="0"/>
              </a:spcBef>
              <a:spcAft>
                <a:spcPct val="0"/>
              </a:spcAft>
            </a:pPr>
            <a:r>
              <a:rPr lang="en-US" sz="1400" dirty="0" err="1">
                <a:solidFill>
                  <a:srgbClr val="0070C0"/>
                </a:solidFill>
              </a:rPr>
              <a:t>net.bridge.bridge</a:t>
            </a:r>
            <a:r>
              <a:rPr lang="en-US" sz="1400" dirty="0">
                <a:solidFill>
                  <a:srgbClr val="0070C0"/>
                </a:solidFill>
              </a:rPr>
              <a:t>-</a:t>
            </a:r>
            <a:r>
              <a:rPr lang="en-US" sz="1400" dirty="0" err="1">
                <a:solidFill>
                  <a:srgbClr val="0070C0"/>
                </a:solidFill>
              </a:rPr>
              <a:t>nf</a:t>
            </a:r>
            <a:r>
              <a:rPr lang="en-US" sz="1400" dirty="0">
                <a:solidFill>
                  <a:srgbClr val="0070C0"/>
                </a:solidFill>
              </a:rPr>
              <a:t>-call-</a:t>
            </a:r>
            <a:r>
              <a:rPr lang="en-US" sz="1400" dirty="0" err="1">
                <a:solidFill>
                  <a:srgbClr val="0070C0"/>
                </a:solidFill>
              </a:rPr>
              <a:t>iptables</a:t>
            </a:r>
            <a:r>
              <a:rPr lang="en-US" sz="1400" dirty="0">
                <a:solidFill>
                  <a:srgbClr val="0070C0"/>
                </a:solidFill>
              </a:rPr>
              <a:t>=1</a:t>
            </a:r>
          </a:p>
          <a:p>
            <a:pPr eaLnBrk="0" fontAlgn="base" hangingPunct="0">
              <a:spcBef>
                <a:spcPct val="0"/>
              </a:spcBef>
              <a:spcAft>
                <a:spcPct val="0"/>
              </a:spcAft>
            </a:pPr>
            <a:r>
              <a:rPr lang="en-US" sz="1400" dirty="0">
                <a:solidFill>
                  <a:srgbClr val="0070C0"/>
                </a:solidFill>
              </a:rPr>
              <a:t>net.bridge.bridge-nf-call-ip6tables=1</a:t>
            </a:r>
          </a:p>
          <a:p>
            <a:pPr eaLnBrk="0" fontAlgn="base" hangingPunct="0">
              <a:spcBef>
                <a:spcPct val="0"/>
              </a:spcBef>
              <a:spcAft>
                <a:spcPct val="0"/>
              </a:spcAft>
            </a:pPr>
            <a:r>
              <a:rPr lang="en-US" sz="1400" dirty="0">
                <a:solidFill>
                  <a:srgbClr val="0070C0"/>
                </a:solidFill>
              </a:rPr>
              <a:t>net.ipv4.neigh.default.gc_thresh1=128</a:t>
            </a:r>
          </a:p>
          <a:p>
            <a:pPr eaLnBrk="0" fontAlgn="base" hangingPunct="0">
              <a:spcBef>
                <a:spcPct val="0"/>
              </a:spcBef>
              <a:spcAft>
                <a:spcPct val="0"/>
              </a:spcAft>
            </a:pPr>
            <a:r>
              <a:rPr lang="en-US" sz="1400" dirty="0">
                <a:solidFill>
                  <a:srgbClr val="0070C0"/>
                </a:solidFill>
              </a:rPr>
              <a:t>net.ipv4.neigh.default.gc_thresh2=28672</a:t>
            </a:r>
          </a:p>
          <a:p>
            <a:pPr eaLnBrk="0" fontAlgn="base" hangingPunct="0">
              <a:spcBef>
                <a:spcPct val="0"/>
              </a:spcBef>
              <a:spcAft>
                <a:spcPct val="0"/>
              </a:spcAft>
            </a:pPr>
            <a:r>
              <a:rPr lang="en-US" sz="1400" dirty="0">
                <a:solidFill>
                  <a:srgbClr val="0070C0"/>
                </a:solidFill>
              </a:rPr>
              <a:t>net.ipv4.neigh.default.gc_thresh3=32768</a:t>
            </a:r>
          </a:p>
          <a:p>
            <a:pPr eaLnBrk="0" fontAlgn="base" hangingPunct="0">
              <a:spcBef>
                <a:spcPct val="0"/>
              </a:spcBef>
              <a:spcAft>
                <a:spcPct val="0"/>
              </a:spcAft>
            </a:pPr>
            <a:r>
              <a:rPr lang="en-US" sz="1400" dirty="0">
                <a:solidFill>
                  <a:srgbClr val="0070C0"/>
                </a:solidFill>
              </a:rPr>
              <a:t>net.ipv6.neigh.default.gc_thresh1=128</a:t>
            </a:r>
          </a:p>
          <a:p>
            <a:pPr eaLnBrk="0" fontAlgn="base" hangingPunct="0">
              <a:spcBef>
                <a:spcPct val="0"/>
              </a:spcBef>
              <a:spcAft>
                <a:spcPct val="0"/>
              </a:spcAft>
            </a:pPr>
            <a:r>
              <a:rPr lang="en-US" sz="1400" dirty="0">
                <a:solidFill>
                  <a:srgbClr val="0070C0"/>
                </a:solidFill>
              </a:rPr>
              <a:t>net.ipv6.neigh.default.gc_thresh2=28672</a:t>
            </a:r>
          </a:p>
          <a:p>
            <a:pPr eaLnBrk="0" fontAlgn="base" hangingPunct="0">
              <a:spcBef>
                <a:spcPct val="0"/>
              </a:spcBef>
              <a:spcAft>
                <a:spcPct val="0"/>
              </a:spcAft>
            </a:pPr>
            <a:r>
              <a:rPr lang="en-US" sz="1400" dirty="0">
                <a:solidFill>
                  <a:srgbClr val="0070C0"/>
                </a:solidFill>
              </a:rPr>
              <a:t>net.ipv6.neigh.default.gc_thresh3=32768</a:t>
            </a:r>
          </a:p>
          <a:p>
            <a:pPr eaLnBrk="0" fontAlgn="base" hangingPunct="0">
              <a:spcBef>
                <a:spcPct val="0"/>
              </a:spcBef>
              <a:spcAft>
                <a:spcPct val="0"/>
              </a:spcAft>
            </a:pPr>
            <a:endParaRPr lang="en-US" sz="1400" dirty="0">
              <a:solidFill>
                <a:srgbClr val="0070C0"/>
              </a:solidFill>
            </a:endParaRPr>
          </a:p>
          <a:p>
            <a:pPr eaLnBrk="0" fontAlgn="base" hangingPunct="0">
              <a:spcBef>
                <a:spcPct val="0"/>
              </a:spcBef>
              <a:spcAft>
                <a:spcPct val="0"/>
              </a:spcAft>
            </a:pPr>
            <a:endParaRPr lang="en-US" sz="1400" dirty="0">
              <a:solidFill>
                <a:srgbClr val="0070C0"/>
              </a:solidFill>
            </a:endParaRPr>
          </a:p>
          <a:p>
            <a:pPr lvl="0" eaLnBrk="0" fontAlgn="base" hangingPunct="0">
              <a:spcBef>
                <a:spcPct val="0"/>
              </a:spcBef>
              <a:spcAft>
                <a:spcPct val="0"/>
              </a:spcAft>
            </a:pPr>
            <a:endParaRPr lang="en-US" altLang="en-US" sz="3200" dirty="0">
              <a:solidFill>
                <a:srgbClr val="00B0F0"/>
              </a:solidFill>
              <a:latin typeface="Arial" panose="020B0604020202020204" pitchFamily="34" charset="0"/>
            </a:endParaRPr>
          </a:p>
          <a:p>
            <a:pPr lvl="0" eaLnBrk="0" fontAlgn="base" hangingPunct="0">
              <a:spcBef>
                <a:spcPct val="0"/>
              </a:spcBef>
              <a:spcAft>
                <a:spcPct val="0"/>
              </a:spcAft>
            </a:pPr>
            <a:endParaRPr lang="en-US" sz="1400" b="1" dirty="0">
              <a:solidFill>
                <a:srgbClr val="002060"/>
              </a:solidFill>
            </a:endParaRPr>
          </a:p>
        </p:txBody>
      </p:sp>
      <p:sp>
        <p:nvSpPr>
          <p:cNvPr id="8" name="Rectangle 7"/>
          <p:cNvSpPr/>
          <p:nvPr/>
        </p:nvSpPr>
        <p:spPr>
          <a:xfrm>
            <a:off x="232929" y="803350"/>
            <a:ext cx="4099214" cy="43069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0" name="Rectangle 9"/>
          <p:cNvSpPr/>
          <p:nvPr/>
        </p:nvSpPr>
        <p:spPr>
          <a:xfrm>
            <a:off x="204354" y="1726437"/>
            <a:ext cx="4099214" cy="304082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3" name="Rectangle 12"/>
          <p:cNvSpPr/>
          <p:nvPr/>
        </p:nvSpPr>
        <p:spPr>
          <a:xfrm>
            <a:off x="4674177" y="401355"/>
            <a:ext cx="4156364" cy="3985706"/>
          </a:xfrm>
          <a:prstGeom prst="rect">
            <a:avLst/>
          </a:prstGeom>
        </p:spPr>
        <p:txBody>
          <a:bodyPr wrap="square">
            <a:spAutoFit/>
          </a:bodyPr>
          <a:lstStyle/>
          <a:p>
            <a:r>
              <a:rPr lang="en-US" sz="1400" b="1" dirty="0" err="1" smtClean="0">
                <a:solidFill>
                  <a:srgbClr val="002060"/>
                </a:solidFill>
              </a:rPr>
              <a:t>Sysctl</a:t>
            </a:r>
            <a:endParaRPr lang="en-US" sz="1400" b="1" dirty="0">
              <a:solidFill>
                <a:srgbClr val="002060"/>
              </a:solidFill>
            </a:endParaRPr>
          </a:p>
          <a:p>
            <a:pPr lvl="0" eaLnBrk="0" fontAlgn="base" hangingPunct="0">
              <a:spcBef>
                <a:spcPct val="0"/>
              </a:spcBef>
              <a:spcAft>
                <a:spcPct val="0"/>
              </a:spcAft>
            </a:pPr>
            <a:r>
              <a:rPr lang="en-US" sz="1100" b="1" dirty="0">
                <a:solidFill>
                  <a:srgbClr val="002060"/>
                </a:solidFill>
              </a:rPr>
              <a:t># </a:t>
            </a:r>
            <a:r>
              <a:rPr lang="en-US" altLang="en-US" sz="1100" dirty="0" err="1" smtClean="0">
                <a:solidFill>
                  <a:srgbClr val="00B0F0"/>
                </a:solidFill>
                <a:latin typeface="Courier New" panose="02070309020205020404" pitchFamily="49" charset="0"/>
                <a:cs typeface="Courier New" panose="02070309020205020404" pitchFamily="49" charset="0"/>
              </a:rPr>
              <a:t>sysctl</a:t>
            </a:r>
            <a:r>
              <a:rPr lang="en-US" altLang="en-US" sz="1100" dirty="0" smtClean="0">
                <a:solidFill>
                  <a:srgbClr val="00B0F0"/>
                </a:solidFill>
                <a:latin typeface="Courier New" panose="02070309020205020404" pitchFamily="49" charset="0"/>
                <a:cs typeface="Courier New" panose="02070309020205020404" pitchFamily="49" charset="0"/>
              </a:rPr>
              <a:t> –p</a:t>
            </a:r>
          </a:p>
          <a:p>
            <a:pPr lvl="0" eaLnBrk="0" fontAlgn="base" hangingPunct="0">
              <a:spcBef>
                <a:spcPct val="0"/>
              </a:spcBef>
              <a:spcAft>
                <a:spcPct val="0"/>
              </a:spcAft>
            </a:pPr>
            <a:endParaRPr lang="en-US" altLang="en-US" sz="1100" b="1" dirty="0">
              <a:solidFill>
                <a:srgbClr val="00B0F0"/>
              </a:solidFill>
              <a:latin typeface="Courier New" panose="02070309020205020404" pitchFamily="49" charset="0"/>
              <a:cs typeface="Courier New" panose="02070309020205020404" pitchFamily="49" charset="0"/>
            </a:endParaRPr>
          </a:p>
          <a:p>
            <a:r>
              <a:rPr lang="en-US" sz="1600" b="1" dirty="0" err="1">
                <a:solidFill>
                  <a:srgbClr val="002060"/>
                </a:solidFill>
              </a:rPr>
              <a:t>Atur</a:t>
            </a:r>
            <a:r>
              <a:rPr lang="en-US" sz="1600" b="1" dirty="0">
                <a:solidFill>
                  <a:srgbClr val="002060"/>
                </a:solidFill>
              </a:rPr>
              <a:t> interface bridge</a:t>
            </a:r>
          </a:p>
          <a:p>
            <a:r>
              <a:rPr lang="en-US" sz="1400" dirty="0" err="1"/>
              <a:t>Jalankan</a:t>
            </a:r>
            <a:r>
              <a:rPr lang="en-US" sz="1400" dirty="0"/>
              <a:t> </a:t>
            </a:r>
            <a:r>
              <a:rPr lang="en-US" sz="1400" dirty="0" err="1"/>
              <a:t>perintah</a:t>
            </a:r>
            <a:r>
              <a:rPr lang="en-US" sz="1400" dirty="0"/>
              <a:t> </a:t>
            </a:r>
            <a:r>
              <a:rPr lang="en-US" sz="1400" dirty="0" err="1"/>
              <a:t>berikut</a:t>
            </a:r>
            <a:r>
              <a:rPr lang="en-US" sz="1400" dirty="0"/>
              <a:t> </a:t>
            </a:r>
            <a:r>
              <a:rPr lang="en-US" sz="1400" dirty="0" err="1"/>
              <a:t>ini</a:t>
            </a:r>
            <a:r>
              <a:rPr lang="en-US" sz="1400" dirty="0"/>
              <a:t> :</a:t>
            </a:r>
          </a:p>
          <a:p>
            <a:pPr lvl="0" eaLnBrk="0" fontAlgn="base" hangingPunct="0">
              <a:spcBef>
                <a:spcPct val="0"/>
              </a:spcBef>
              <a:spcAft>
                <a:spcPct val="0"/>
              </a:spcAft>
            </a:pPr>
            <a:r>
              <a:rPr lang="en-US" altLang="en-US" sz="1100" dirty="0">
                <a:solidFill>
                  <a:srgbClr val="00B0F0"/>
                </a:solidFill>
                <a:latin typeface="Courier New" panose="02070309020205020404" pitchFamily="49" charset="0"/>
                <a:cs typeface="Courier New" panose="02070309020205020404" pitchFamily="49" charset="0"/>
              </a:rPr>
              <a:t>export ENABLE_EXT_NET=${ENABLE_EXT_NET:-1}  </a:t>
            </a:r>
          </a:p>
          <a:p>
            <a:pPr lvl="0" eaLnBrk="0" fontAlgn="base" hangingPunct="0">
              <a:spcBef>
                <a:spcPct val="0"/>
              </a:spcBef>
              <a:spcAft>
                <a:spcPct val="0"/>
              </a:spcAft>
            </a:pPr>
            <a:r>
              <a:rPr lang="en-US" altLang="en-US" sz="1100" dirty="0">
                <a:solidFill>
                  <a:srgbClr val="00B0F0"/>
                </a:solidFill>
                <a:latin typeface="Courier New" panose="02070309020205020404" pitchFamily="49" charset="0"/>
                <a:cs typeface="Courier New" panose="02070309020205020404" pitchFamily="49" charset="0"/>
              </a:rPr>
              <a:t>export EXT_NET_CIDR=${EXT_NET_CIDR:-'10.25.25.0/24'}  </a:t>
            </a:r>
          </a:p>
          <a:p>
            <a:pPr lvl="0" eaLnBrk="0" fontAlgn="base" hangingPunct="0">
              <a:spcBef>
                <a:spcPct val="0"/>
              </a:spcBef>
              <a:spcAft>
                <a:spcPct val="0"/>
              </a:spcAft>
            </a:pPr>
            <a:r>
              <a:rPr lang="en-US" altLang="en-US" sz="1100" dirty="0">
                <a:solidFill>
                  <a:srgbClr val="00B0F0"/>
                </a:solidFill>
                <a:latin typeface="Courier New" panose="02070309020205020404" pitchFamily="49" charset="0"/>
                <a:cs typeface="Courier New" panose="02070309020205020404" pitchFamily="49" charset="0"/>
              </a:rPr>
              <a:t>export EXT_NET_RANGE=${EXT_NET_RANGE:-'start=10.25.25.3,end=10.25.25.253'}  </a:t>
            </a:r>
          </a:p>
          <a:p>
            <a:pPr lvl="0" eaLnBrk="0" fontAlgn="base" hangingPunct="0">
              <a:spcBef>
                <a:spcPct val="0"/>
              </a:spcBef>
              <a:spcAft>
                <a:spcPct val="0"/>
              </a:spcAft>
            </a:pPr>
            <a:r>
              <a:rPr lang="en-US" altLang="en-US" sz="1100" dirty="0">
                <a:solidFill>
                  <a:srgbClr val="00B0F0"/>
                </a:solidFill>
                <a:latin typeface="Courier New" panose="02070309020205020404" pitchFamily="49" charset="0"/>
                <a:cs typeface="Courier New" panose="02070309020205020404" pitchFamily="49" charset="0"/>
              </a:rPr>
              <a:t>export EXT_NET_GATEWAY=${EXT_NET_GATEWAY:-'10.25.25.1'}  </a:t>
            </a:r>
          </a:p>
          <a:p>
            <a:pPr lvl="0" eaLnBrk="0" fontAlgn="base" hangingPunct="0">
              <a:spcBef>
                <a:spcPct val="0"/>
              </a:spcBef>
              <a:spcAft>
                <a:spcPct val="0"/>
              </a:spcAft>
            </a:pPr>
            <a:endParaRPr lang="en-US" altLang="en-US" sz="1100" dirty="0">
              <a:solidFill>
                <a:srgbClr val="00B0F0"/>
              </a:solidFill>
              <a:latin typeface="Courier New" panose="02070309020205020404" pitchFamily="49" charset="0"/>
              <a:cs typeface="Courier New" panose="02070309020205020404" pitchFamily="49" charset="0"/>
            </a:endParaRPr>
          </a:p>
          <a:p>
            <a:pPr lvl="0" eaLnBrk="0" fontAlgn="base" hangingPunct="0">
              <a:spcBef>
                <a:spcPct val="0"/>
              </a:spcBef>
              <a:spcAft>
                <a:spcPct val="0"/>
              </a:spcAft>
            </a:pPr>
            <a:r>
              <a:rPr lang="en-US" altLang="en-US" sz="1100" dirty="0">
                <a:solidFill>
                  <a:srgbClr val="00B0F0"/>
                </a:solidFill>
                <a:latin typeface="Courier New" panose="02070309020205020404" pitchFamily="49" charset="0"/>
                <a:cs typeface="Courier New" panose="02070309020205020404" pitchFamily="49" charset="0"/>
              </a:rPr>
              <a:t>## </a:t>
            </a:r>
            <a:r>
              <a:rPr lang="en-US" altLang="en-US" sz="1100" dirty="0" err="1">
                <a:solidFill>
                  <a:srgbClr val="00B0F0"/>
                </a:solidFill>
                <a:latin typeface="Courier New" panose="02070309020205020404" pitchFamily="49" charset="0"/>
                <a:cs typeface="Courier New" panose="02070309020205020404" pitchFamily="49" charset="0"/>
              </a:rPr>
              <a:t>Akses</a:t>
            </a:r>
            <a:r>
              <a:rPr lang="en-US" altLang="en-US" sz="1100" dirty="0">
                <a:solidFill>
                  <a:srgbClr val="00B0F0"/>
                </a:solidFill>
                <a:latin typeface="Courier New" panose="02070309020205020404" pitchFamily="49" charset="0"/>
                <a:cs typeface="Courier New" panose="02070309020205020404" pitchFamily="49" charset="0"/>
              </a:rPr>
              <a:t> internet </a:t>
            </a:r>
            <a:r>
              <a:rPr lang="en-US" altLang="en-US" sz="1100" dirty="0" err="1">
                <a:solidFill>
                  <a:srgbClr val="00B0F0"/>
                </a:solidFill>
                <a:latin typeface="Courier New" panose="02070309020205020404" pitchFamily="49" charset="0"/>
                <a:cs typeface="Courier New" panose="02070309020205020404" pitchFamily="49" charset="0"/>
              </a:rPr>
              <a:t>ke</a:t>
            </a:r>
            <a:r>
              <a:rPr lang="en-US" altLang="en-US" sz="1100" dirty="0">
                <a:solidFill>
                  <a:srgbClr val="00B0F0"/>
                </a:solidFill>
                <a:latin typeface="Courier New" panose="02070309020205020404" pitchFamily="49" charset="0"/>
                <a:cs typeface="Courier New" panose="02070309020205020404" pitchFamily="49" charset="0"/>
              </a:rPr>
              <a:t> instances</a:t>
            </a:r>
          </a:p>
          <a:p>
            <a:pPr lvl="0" eaLnBrk="0" fontAlgn="base" hangingPunct="0">
              <a:spcBef>
                <a:spcPct val="0"/>
              </a:spcBef>
              <a:spcAft>
                <a:spcPct val="0"/>
              </a:spcAft>
            </a:pPr>
            <a:r>
              <a:rPr lang="en-US" altLang="en-US" sz="1100" dirty="0" err="1">
                <a:solidFill>
                  <a:srgbClr val="00B0F0"/>
                </a:solidFill>
                <a:latin typeface="Courier New" panose="02070309020205020404" pitchFamily="49" charset="0"/>
                <a:cs typeface="Courier New" panose="02070309020205020404" pitchFamily="49" charset="0"/>
              </a:rPr>
              <a:t>sudo</a:t>
            </a:r>
            <a:r>
              <a:rPr lang="en-US" altLang="en-US" sz="1100" dirty="0">
                <a:solidFill>
                  <a:srgbClr val="00B0F0"/>
                </a:solidFill>
                <a:latin typeface="Courier New" panose="02070309020205020404" pitchFamily="49" charset="0"/>
                <a:cs typeface="Courier New" panose="02070309020205020404" pitchFamily="49" charset="0"/>
              </a:rPr>
              <a:t> </a:t>
            </a:r>
            <a:r>
              <a:rPr lang="en-US" altLang="en-US" sz="1100" dirty="0" err="1">
                <a:solidFill>
                  <a:srgbClr val="00B0F0"/>
                </a:solidFill>
                <a:latin typeface="Courier New" panose="02070309020205020404" pitchFamily="49" charset="0"/>
                <a:cs typeface="Courier New" panose="02070309020205020404" pitchFamily="49" charset="0"/>
              </a:rPr>
              <a:t>ifconfig</a:t>
            </a:r>
            <a:r>
              <a:rPr lang="en-US" altLang="en-US" sz="1100" dirty="0">
                <a:solidFill>
                  <a:srgbClr val="00B0F0"/>
                </a:solidFill>
                <a:latin typeface="Courier New" panose="02070309020205020404" pitchFamily="49" charset="0"/>
                <a:cs typeface="Courier New" panose="02070309020205020404" pitchFamily="49" charset="0"/>
              </a:rPr>
              <a:t> </a:t>
            </a:r>
            <a:r>
              <a:rPr lang="en-US" altLang="en-US" sz="1100" dirty="0" err="1">
                <a:solidFill>
                  <a:srgbClr val="00B0F0"/>
                </a:solidFill>
                <a:latin typeface="Courier New" panose="02070309020205020404" pitchFamily="49" charset="0"/>
                <a:cs typeface="Courier New" panose="02070309020205020404" pitchFamily="49" charset="0"/>
              </a:rPr>
              <a:t>br</a:t>
            </a:r>
            <a:r>
              <a:rPr lang="en-US" altLang="en-US" sz="1100" dirty="0">
                <a:solidFill>
                  <a:srgbClr val="00B0F0"/>
                </a:solidFill>
                <a:latin typeface="Courier New" panose="02070309020205020404" pitchFamily="49" charset="0"/>
                <a:cs typeface="Courier New" panose="02070309020205020404" pitchFamily="49" charset="0"/>
              </a:rPr>
              <a:t>-ex $EXT_NET_GATEWAY </a:t>
            </a:r>
            <a:r>
              <a:rPr lang="en-US" altLang="en-US" sz="1100" dirty="0" err="1">
                <a:solidFill>
                  <a:srgbClr val="00B0F0"/>
                </a:solidFill>
                <a:latin typeface="Courier New" panose="02070309020205020404" pitchFamily="49" charset="0"/>
                <a:cs typeface="Courier New" panose="02070309020205020404" pitchFamily="49" charset="0"/>
              </a:rPr>
              <a:t>netmask</a:t>
            </a:r>
            <a:r>
              <a:rPr lang="en-US" altLang="en-US" sz="1100" dirty="0">
                <a:solidFill>
                  <a:srgbClr val="00B0F0"/>
                </a:solidFill>
                <a:latin typeface="Courier New" panose="02070309020205020404" pitchFamily="49" charset="0"/>
                <a:cs typeface="Courier New" panose="02070309020205020404" pitchFamily="49" charset="0"/>
              </a:rPr>
              <a:t> 255.255.255.0 up  </a:t>
            </a:r>
          </a:p>
          <a:p>
            <a:pPr lvl="0" eaLnBrk="0" fontAlgn="base" hangingPunct="0">
              <a:spcBef>
                <a:spcPct val="0"/>
              </a:spcBef>
              <a:spcAft>
                <a:spcPct val="0"/>
              </a:spcAft>
            </a:pPr>
            <a:r>
              <a:rPr lang="en-US" altLang="en-US" sz="1100" dirty="0" err="1">
                <a:solidFill>
                  <a:srgbClr val="00B0F0"/>
                </a:solidFill>
                <a:latin typeface="Courier New" panose="02070309020205020404" pitchFamily="49" charset="0"/>
                <a:cs typeface="Courier New" panose="02070309020205020404" pitchFamily="49" charset="0"/>
              </a:rPr>
              <a:t>sudo</a:t>
            </a:r>
            <a:r>
              <a:rPr lang="en-US" altLang="en-US" sz="1100" dirty="0">
                <a:solidFill>
                  <a:srgbClr val="00B0F0"/>
                </a:solidFill>
                <a:latin typeface="Courier New" panose="02070309020205020404" pitchFamily="49" charset="0"/>
                <a:cs typeface="Courier New" panose="02070309020205020404" pitchFamily="49" charset="0"/>
              </a:rPr>
              <a:t> </a:t>
            </a:r>
            <a:r>
              <a:rPr lang="en-US" altLang="en-US" sz="1100" dirty="0" err="1">
                <a:solidFill>
                  <a:srgbClr val="00B0F0"/>
                </a:solidFill>
                <a:latin typeface="Courier New" panose="02070309020205020404" pitchFamily="49" charset="0"/>
                <a:cs typeface="Courier New" panose="02070309020205020404" pitchFamily="49" charset="0"/>
              </a:rPr>
              <a:t>iptables</a:t>
            </a:r>
            <a:r>
              <a:rPr lang="en-US" altLang="en-US" sz="1100" dirty="0">
                <a:solidFill>
                  <a:srgbClr val="00B0F0"/>
                </a:solidFill>
                <a:latin typeface="Courier New" panose="02070309020205020404" pitchFamily="49" charset="0"/>
                <a:cs typeface="Courier New" panose="02070309020205020404" pitchFamily="49" charset="0"/>
              </a:rPr>
              <a:t> -t </a:t>
            </a:r>
            <a:r>
              <a:rPr lang="en-US" altLang="en-US" sz="1100" dirty="0" err="1">
                <a:solidFill>
                  <a:srgbClr val="00B0F0"/>
                </a:solidFill>
                <a:latin typeface="Courier New" panose="02070309020205020404" pitchFamily="49" charset="0"/>
                <a:cs typeface="Courier New" panose="02070309020205020404" pitchFamily="49" charset="0"/>
              </a:rPr>
              <a:t>nat</a:t>
            </a:r>
            <a:r>
              <a:rPr lang="en-US" altLang="en-US" sz="1100" dirty="0">
                <a:solidFill>
                  <a:srgbClr val="00B0F0"/>
                </a:solidFill>
                <a:latin typeface="Courier New" panose="02070309020205020404" pitchFamily="49" charset="0"/>
                <a:cs typeface="Courier New" panose="02070309020205020404" pitchFamily="49" charset="0"/>
              </a:rPr>
              <a:t> -A POSTROUTING -s $EXT_NET_CIDR -o ens224 -j MASQUERADE  </a:t>
            </a:r>
          </a:p>
          <a:p>
            <a:pPr lvl="0" eaLnBrk="0" fontAlgn="base" hangingPunct="0">
              <a:spcBef>
                <a:spcPct val="0"/>
              </a:spcBef>
              <a:spcAft>
                <a:spcPct val="0"/>
              </a:spcAft>
            </a:pPr>
            <a:r>
              <a:rPr lang="en-US" altLang="en-US" sz="1100" dirty="0" err="1">
                <a:solidFill>
                  <a:srgbClr val="00B0F0"/>
                </a:solidFill>
                <a:latin typeface="Courier New" panose="02070309020205020404" pitchFamily="49" charset="0"/>
                <a:cs typeface="Courier New" panose="02070309020205020404" pitchFamily="49" charset="0"/>
              </a:rPr>
              <a:t>sudo</a:t>
            </a:r>
            <a:r>
              <a:rPr lang="en-US" altLang="en-US" sz="1100" dirty="0">
                <a:solidFill>
                  <a:srgbClr val="00B0F0"/>
                </a:solidFill>
                <a:latin typeface="Courier New" panose="02070309020205020404" pitchFamily="49" charset="0"/>
                <a:cs typeface="Courier New" panose="02070309020205020404" pitchFamily="49" charset="0"/>
              </a:rPr>
              <a:t> </a:t>
            </a:r>
            <a:r>
              <a:rPr lang="en-US" altLang="en-US" sz="1100" dirty="0" err="1">
                <a:solidFill>
                  <a:srgbClr val="00B0F0"/>
                </a:solidFill>
                <a:latin typeface="Courier New" panose="02070309020205020404" pitchFamily="49" charset="0"/>
                <a:cs typeface="Courier New" panose="02070309020205020404" pitchFamily="49" charset="0"/>
              </a:rPr>
              <a:t>iptables</a:t>
            </a:r>
            <a:r>
              <a:rPr lang="en-US" altLang="en-US" sz="1100" dirty="0">
                <a:solidFill>
                  <a:srgbClr val="00B0F0"/>
                </a:solidFill>
                <a:latin typeface="Courier New" panose="02070309020205020404" pitchFamily="49" charset="0"/>
                <a:cs typeface="Courier New" panose="02070309020205020404" pitchFamily="49" charset="0"/>
              </a:rPr>
              <a:t> -A FORWARD -o ens224 -</a:t>
            </a:r>
            <a:r>
              <a:rPr lang="en-US" altLang="en-US" sz="1100" dirty="0" err="1">
                <a:solidFill>
                  <a:srgbClr val="00B0F0"/>
                </a:solidFill>
                <a:latin typeface="Courier New" panose="02070309020205020404" pitchFamily="49" charset="0"/>
                <a:cs typeface="Courier New" panose="02070309020205020404" pitchFamily="49" charset="0"/>
              </a:rPr>
              <a:t>i</a:t>
            </a:r>
            <a:r>
              <a:rPr lang="en-US" altLang="en-US" sz="1100" dirty="0">
                <a:solidFill>
                  <a:srgbClr val="00B0F0"/>
                </a:solidFill>
                <a:latin typeface="Courier New" panose="02070309020205020404" pitchFamily="49" charset="0"/>
                <a:cs typeface="Courier New" panose="02070309020205020404" pitchFamily="49" charset="0"/>
              </a:rPr>
              <a:t> </a:t>
            </a:r>
            <a:r>
              <a:rPr lang="en-US" altLang="en-US" sz="1100" dirty="0" err="1">
                <a:solidFill>
                  <a:srgbClr val="00B0F0"/>
                </a:solidFill>
                <a:latin typeface="Courier New" panose="02070309020205020404" pitchFamily="49" charset="0"/>
                <a:cs typeface="Courier New" panose="02070309020205020404" pitchFamily="49" charset="0"/>
              </a:rPr>
              <a:t>br</a:t>
            </a:r>
            <a:r>
              <a:rPr lang="en-US" altLang="en-US" sz="1100" dirty="0">
                <a:solidFill>
                  <a:srgbClr val="00B0F0"/>
                </a:solidFill>
                <a:latin typeface="Courier New" panose="02070309020205020404" pitchFamily="49" charset="0"/>
                <a:cs typeface="Courier New" panose="02070309020205020404" pitchFamily="49" charset="0"/>
              </a:rPr>
              <a:t>-ex -j ACCEPT  </a:t>
            </a:r>
          </a:p>
          <a:p>
            <a:pPr lvl="0" eaLnBrk="0" fontAlgn="base" hangingPunct="0">
              <a:spcBef>
                <a:spcPct val="0"/>
              </a:spcBef>
              <a:spcAft>
                <a:spcPct val="0"/>
              </a:spcAft>
            </a:pPr>
            <a:r>
              <a:rPr lang="en-US" altLang="en-US" sz="1100" dirty="0" err="1">
                <a:solidFill>
                  <a:srgbClr val="00B0F0"/>
                </a:solidFill>
                <a:latin typeface="Courier New" panose="02070309020205020404" pitchFamily="49" charset="0"/>
                <a:cs typeface="Courier New" panose="02070309020205020404" pitchFamily="49" charset="0"/>
              </a:rPr>
              <a:t>sudo</a:t>
            </a:r>
            <a:r>
              <a:rPr lang="en-US" altLang="en-US" sz="1100" dirty="0">
                <a:solidFill>
                  <a:srgbClr val="00B0F0"/>
                </a:solidFill>
                <a:latin typeface="Courier New" panose="02070309020205020404" pitchFamily="49" charset="0"/>
                <a:cs typeface="Courier New" panose="02070309020205020404" pitchFamily="49" charset="0"/>
              </a:rPr>
              <a:t> </a:t>
            </a:r>
            <a:r>
              <a:rPr lang="en-US" altLang="en-US" sz="1100" dirty="0" err="1">
                <a:solidFill>
                  <a:srgbClr val="00B0F0"/>
                </a:solidFill>
                <a:latin typeface="Courier New" panose="02070309020205020404" pitchFamily="49" charset="0"/>
                <a:cs typeface="Courier New" panose="02070309020205020404" pitchFamily="49" charset="0"/>
              </a:rPr>
              <a:t>iptables</a:t>
            </a:r>
            <a:r>
              <a:rPr lang="en-US" altLang="en-US" sz="1100" dirty="0">
                <a:solidFill>
                  <a:srgbClr val="00B0F0"/>
                </a:solidFill>
                <a:latin typeface="Courier New" panose="02070309020205020404" pitchFamily="49" charset="0"/>
                <a:cs typeface="Courier New" panose="02070309020205020404" pitchFamily="49" charset="0"/>
              </a:rPr>
              <a:t> -A FORWARD -</a:t>
            </a:r>
            <a:r>
              <a:rPr lang="en-US" altLang="en-US" sz="1100" dirty="0" err="1">
                <a:solidFill>
                  <a:srgbClr val="00B0F0"/>
                </a:solidFill>
                <a:latin typeface="Courier New" panose="02070309020205020404" pitchFamily="49" charset="0"/>
                <a:cs typeface="Courier New" panose="02070309020205020404" pitchFamily="49" charset="0"/>
              </a:rPr>
              <a:t>i</a:t>
            </a:r>
            <a:r>
              <a:rPr lang="en-US" altLang="en-US" sz="1100" dirty="0">
                <a:solidFill>
                  <a:srgbClr val="00B0F0"/>
                </a:solidFill>
                <a:latin typeface="Courier New" panose="02070309020205020404" pitchFamily="49" charset="0"/>
                <a:cs typeface="Courier New" panose="02070309020205020404" pitchFamily="49" charset="0"/>
              </a:rPr>
              <a:t> ens224 -o </a:t>
            </a:r>
            <a:r>
              <a:rPr lang="en-US" altLang="en-US" sz="1100" dirty="0" err="1">
                <a:solidFill>
                  <a:srgbClr val="00B0F0"/>
                </a:solidFill>
                <a:latin typeface="Courier New" panose="02070309020205020404" pitchFamily="49" charset="0"/>
                <a:cs typeface="Courier New" panose="02070309020205020404" pitchFamily="49" charset="0"/>
              </a:rPr>
              <a:t>br</a:t>
            </a:r>
            <a:r>
              <a:rPr lang="en-US" altLang="en-US" sz="1100" dirty="0">
                <a:solidFill>
                  <a:srgbClr val="00B0F0"/>
                </a:solidFill>
                <a:latin typeface="Courier New" panose="02070309020205020404" pitchFamily="49" charset="0"/>
                <a:cs typeface="Courier New" panose="02070309020205020404" pitchFamily="49" charset="0"/>
              </a:rPr>
              <a:t>-ex -j ACCEPT</a:t>
            </a:r>
            <a:endParaRPr lang="en-US" sz="1400" b="1" dirty="0">
              <a:solidFill>
                <a:srgbClr val="002060"/>
              </a:solidFill>
            </a:endParaRPr>
          </a:p>
        </p:txBody>
      </p:sp>
      <p:sp>
        <p:nvSpPr>
          <p:cNvPr id="14" name="Rectangle 13"/>
          <p:cNvSpPr/>
          <p:nvPr/>
        </p:nvSpPr>
        <p:spPr>
          <a:xfrm>
            <a:off x="4702752" y="1450054"/>
            <a:ext cx="4099214" cy="299221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219171433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15</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7" name="Rectangle 6"/>
          <p:cNvSpPr/>
          <p:nvPr/>
        </p:nvSpPr>
        <p:spPr>
          <a:xfrm>
            <a:off x="204354" y="346150"/>
            <a:ext cx="4156364" cy="1415772"/>
          </a:xfrm>
          <a:prstGeom prst="rect">
            <a:avLst/>
          </a:prstGeom>
        </p:spPr>
        <p:txBody>
          <a:bodyPr wrap="square">
            <a:spAutoFit/>
          </a:bodyPr>
          <a:lstStyle/>
          <a:p>
            <a:pPr lvl="0" eaLnBrk="0" fontAlgn="base" hangingPunct="0">
              <a:spcBef>
                <a:spcPct val="0"/>
              </a:spcBef>
              <a:spcAft>
                <a:spcPct val="0"/>
              </a:spcAft>
            </a:pPr>
            <a:endParaRPr lang="en-US" altLang="en-US" sz="800" b="1" dirty="0" smtClean="0">
              <a:solidFill>
                <a:srgbClr val="002060"/>
              </a:solidFill>
              <a:latin typeface="Arial" panose="020B0604020202020204" pitchFamily="34" charset="0"/>
            </a:endParaRPr>
          </a:p>
          <a:p>
            <a:r>
              <a:rPr lang="en-US" b="1" dirty="0" err="1">
                <a:solidFill>
                  <a:srgbClr val="002060"/>
                </a:solidFill>
              </a:rPr>
              <a:t>Akses</a:t>
            </a:r>
            <a:r>
              <a:rPr lang="en-US" b="1" dirty="0">
                <a:solidFill>
                  <a:srgbClr val="002060"/>
                </a:solidFill>
              </a:rPr>
              <a:t> dashboard </a:t>
            </a:r>
            <a:r>
              <a:rPr lang="en-US" b="1" dirty="0" err="1">
                <a:solidFill>
                  <a:srgbClr val="002060"/>
                </a:solidFill>
              </a:rPr>
              <a:t>dan</a:t>
            </a:r>
            <a:r>
              <a:rPr lang="en-US" b="1" dirty="0">
                <a:solidFill>
                  <a:srgbClr val="002060"/>
                </a:solidFill>
              </a:rPr>
              <a:t> </a:t>
            </a:r>
            <a:r>
              <a:rPr lang="en-US" b="1" dirty="0" err="1">
                <a:solidFill>
                  <a:srgbClr val="002060"/>
                </a:solidFill>
              </a:rPr>
              <a:t>uji</a:t>
            </a:r>
            <a:r>
              <a:rPr lang="en-US" b="1" dirty="0">
                <a:solidFill>
                  <a:srgbClr val="002060"/>
                </a:solidFill>
              </a:rPr>
              <a:t> </a:t>
            </a:r>
            <a:r>
              <a:rPr lang="en-US" b="1" dirty="0" err="1">
                <a:solidFill>
                  <a:srgbClr val="002060"/>
                </a:solidFill>
              </a:rPr>
              <a:t>konektifitas</a:t>
            </a:r>
            <a:r>
              <a:rPr lang="en-US" b="1" dirty="0">
                <a:solidFill>
                  <a:srgbClr val="002060"/>
                </a:solidFill>
              </a:rPr>
              <a:t> </a:t>
            </a:r>
            <a:r>
              <a:rPr lang="en-US" b="1" dirty="0" smtClean="0">
                <a:solidFill>
                  <a:srgbClr val="002060"/>
                </a:solidFill>
              </a:rPr>
              <a:t>instance</a:t>
            </a:r>
          </a:p>
          <a:p>
            <a:endParaRPr lang="en-US" sz="1400" b="1" dirty="0">
              <a:solidFill>
                <a:srgbClr val="002060"/>
              </a:solidFill>
            </a:endParaRPr>
          </a:p>
          <a:p>
            <a:r>
              <a:rPr lang="en-US" sz="1400" dirty="0"/>
              <a:t>Dashboard </a:t>
            </a:r>
            <a:r>
              <a:rPr lang="en-US" sz="1400" dirty="0" err="1"/>
              <a:t>dapat</a:t>
            </a:r>
            <a:r>
              <a:rPr lang="en-US" sz="1400" dirty="0"/>
              <a:t> </a:t>
            </a:r>
            <a:r>
              <a:rPr lang="en-US" sz="1400" dirty="0" err="1"/>
              <a:t>diakses</a:t>
            </a:r>
            <a:r>
              <a:rPr lang="en-US" sz="1400" dirty="0"/>
              <a:t> </a:t>
            </a:r>
            <a:r>
              <a:rPr lang="en-US" sz="1400" dirty="0" err="1"/>
              <a:t>menggunakan</a:t>
            </a:r>
            <a:r>
              <a:rPr lang="en-US" sz="1400" dirty="0"/>
              <a:t> Virtual IP yang </a:t>
            </a:r>
            <a:r>
              <a:rPr lang="en-US" sz="1400" dirty="0" err="1"/>
              <a:t>sudah</a:t>
            </a:r>
            <a:r>
              <a:rPr lang="en-US" sz="1400" dirty="0"/>
              <a:t> </a:t>
            </a:r>
            <a:r>
              <a:rPr lang="en-US" sz="1400" dirty="0" err="1"/>
              <a:t>diset</a:t>
            </a:r>
            <a:r>
              <a:rPr lang="en-US" sz="1400" dirty="0"/>
              <a:t> </a:t>
            </a:r>
            <a:r>
              <a:rPr lang="en-US" sz="1400" dirty="0" err="1"/>
              <a:t>sebelumnya</a:t>
            </a:r>
            <a:r>
              <a:rPr lang="en-US" sz="1400" dirty="0"/>
              <a:t> </a:t>
            </a:r>
            <a:r>
              <a:rPr lang="en-US" sz="1400" dirty="0" err="1"/>
              <a:t>yaitu</a:t>
            </a:r>
            <a:r>
              <a:rPr lang="en-US" sz="1400" dirty="0"/>
              <a:t> : </a:t>
            </a:r>
            <a:r>
              <a:rPr lang="en-US" sz="1400" dirty="0">
                <a:hlinkClick r:id="rId3"/>
              </a:rPr>
              <a:t>http://</a:t>
            </a:r>
            <a:r>
              <a:rPr lang="en-US" sz="1400" dirty="0" smtClean="0">
                <a:hlinkClick r:id="rId3"/>
              </a:rPr>
              <a:t>10.65.65.254</a:t>
            </a:r>
            <a:endParaRPr lang="en-US" sz="1400" dirty="0" smtClean="0"/>
          </a:p>
        </p:txBody>
      </p:sp>
      <p:sp>
        <p:nvSpPr>
          <p:cNvPr id="13" name="Rectangle 12"/>
          <p:cNvSpPr/>
          <p:nvPr/>
        </p:nvSpPr>
        <p:spPr>
          <a:xfrm>
            <a:off x="4674177" y="401355"/>
            <a:ext cx="4156364" cy="4247317"/>
          </a:xfrm>
          <a:prstGeom prst="rect">
            <a:avLst/>
          </a:prstGeom>
        </p:spPr>
        <p:txBody>
          <a:bodyPr wrap="square">
            <a:spAutoFit/>
          </a:bodyPr>
          <a:lstStyle/>
          <a:p>
            <a:pPr lvl="0" algn="just" eaLnBrk="0" fontAlgn="base" hangingPunct="0">
              <a:spcBef>
                <a:spcPct val="0"/>
              </a:spcBef>
              <a:spcAft>
                <a:spcPct val="0"/>
              </a:spcAft>
            </a:pPr>
            <a:r>
              <a:rPr lang="en-US" altLang="en-US" sz="1400" dirty="0">
                <a:latin typeface="Arial" panose="020B0604020202020204" pitchFamily="34" charset="0"/>
              </a:rPr>
              <a:t>Password </a:t>
            </a:r>
            <a:r>
              <a:rPr lang="en-US" altLang="en-US" sz="1400" dirty="0" err="1">
                <a:latin typeface="Arial" panose="020B0604020202020204" pitchFamily="34" charset="0"/>
              </a:rPr>
              <a:t>dapat</a:t>
            </a:r>
            <a:r>
              <a:rPr lang="en-US" altLang="en-US" sz="1400" dirty="0">
                <a:latin typeface="Arial" panose="020B0604020202020204" pitchFamily="34" charset="0"/>
              </a:rPr>
              <a:t> </a:t>
            </a:r>
            <a:r>
              <a:rPr lang="en-US" altLang="en-US" sz="1400" dirty="0" err="1">
                <a:latin typeface="Arial" panose="020B0604020202020204" pitchFamily="34" charset="0"/>
              </a:rPr>
              <a:t>dilihat</a:t>
            </a:r>
            <a:r>
              <a:rPr lang="en-US" altLang="en-US" sz="1400" dirty="0">
                <a:latin typeface="Arial" panose="020B0604020202020204" pitchFamily="34" charset="0"/>
              </a:rPr>
              <a:t> </a:t>
            </a:r>
            <a:r>
              <a:rPr lang="en-US" altLang="en-US" sz="1400" dirty="0" err="1">
                <a:latin typeface="Arial" panose="020B0604020202020204" pitchFamily="34" charset="0"/>
              </a:rPr>
              <a:t>menggunakan</a:t>
            </a:r>
            <a:r>
              <a:rPr lang="en-US" altLang="en-US" sz="1400" dirty="0">
                <a:latin typeface="Arial" panose="020B0604020202020204" pitchFamily="34" charset="0"/>
              </a:rPr>
              <a:t> command </a:t>
            </a:r>
            <a:r>
              <a:rPr lang="en-US" altLang="en-US" sz="1400" dirty="0" err="1">
                <a:latin typeface="Arial" panose="020B0604020202020204" pitchFamily="34" charset="0"/>
              </a:rPr>
              <a:t>berikut</a:t>
            </a:r>
            <a:r>
              <a:rPr lang="en-US" altLang="en-US" sz="1400" dirty="0">
                <a:latin typeface="Arial" panose="020B0604020202020204" pitchFamily="34" charset="0"/>
              </a:rPr>
              <a:t> </a:t>
            </a:r>
            <a:r>
              <a:rPr lang="en-US" altLang="en-US" sz="1400" dirty="0" err="1">
                <a:latin typeface="Arial" panose="020B0604020202020204" pitchFamily="34" charset="0"/>
              </a:rPr>
              <a:t>ini</a:t>
            </a:r>
            <a:r>
              <a:rPr lang="en-US" altLang="en-US" sz="1400" dirty="0" smtClean="0">
                <a:latin typeface="Arial" panose="020B0604020202020204" pitchFamily="34" charset="0"/>
              </a:rPr>
              <a:t>:</a:t>
            </a:r>
          </a:p>
          <a:p>
            <a:pPr lvl="0" algn="just" eaLnBrk="0" fontAlgn="base" hangingPunct="0">
              <a:spcBef>
                <a:spcPct val="0"/>
              </a:spcBef>
              <a:spcAft>
                <a:spcPct val="0"/>
              </a:spcAft>
            </a:pPr>
            <a:endParaRPr lang="en-US" altLang="en-US" sz="1400" b="1" dirty="0">
              <a:latin typeface="Arial" panose="020B0604020202020204" pitchFamily="34" charset="0"/>
            </a:endParaRPr>
          </a:p>
          <a:p>
            <a:pPr lvl="0" eaLnBrk="0" fontAlgn="base" hangingPunct="0">
              <a:spcBef>
                <a:spcPct val="0"/>
              </a:spcBef>
              <a:spcAft>
                <a:spcPct val="0"/>
              </a:spcAft>
            </a:pPr>
            <a:r>
              <a:rPr lang="en-US" altLang="en-US" sz="1400" b="1" dirty="0" smtClean="0">
                <a:latin typeface="Arial" panose="020B0604020202020204" pitchFamily="34" charset="0"/>
              </a:rPr>
              <a:t># </a:t>
            </a:r>
            <a:r>
              <a:rPr lang="en-US" altLang="en-US" sz="1400" dirty="0" err="1">
                <a:solidFill>
                  <a:srgbClr val="333333"/>
                </a:solidFill>
                <a:latin typeface="Courier New" panose="02070309020205020404" pitchFamily="49" charset="0"/>
                <a:cs typeface="Courier New" panose="02070309020205020404" pitchFamily="49" charset="0"/>
              </a:rPr>
              <a:t>grep</a:t>
            </a:r>
            <a:r>
              <a:rPr lang="en-US" altLang="en-US" sz="1400" dirty="0">
                <a:solidFill>
                  <a:srgbClr val="333333"/>
                </a:solidFill>
                <a:latin typeface="Courier New" panose="02070309020205020404" pitchFamily="49" charset="0"/>
                <a:cs typeface="Courier New" panose="02070309020205020404" pitchFamily="49" charset="0"/>
              </a:rPr>
              <a:t> </a:t>
            </a:r>
            <a:r>
              <a:rPr lang="en-US" altLang="en-US" sz="1400" dirty="0" err="1">
                <a:solidFill>
                  <a:srgbClr val="333333"/>
                </a:solidFill>
                <a:latin typeface="Courier New" panose="02070309020205020404" pitchFamily="49" charset="0"/>
                <a:cs typeface="Courier New" panose="02070309020205020404" pitchFamily="49" charset="0"/>
              </a:rPr>
              <a:t>keystone_admin_password</a:t>
            </a:r>
            <a:r>
              <a:rPr lang="en-US" altLang="en-US" sz="1400" dirty="0">
                <a:solidFill>
                  <a:srgbClr val="333333"/>
                </a:solidFill>
                <a:latin typeface="Courier New" panose="02070309020205020404" pitchFamily="49" charset="0"/>
                <a:cs typeface="Courier New" panose="02070309020205020404" pitchFamily="49" charset="0"/>
              </a:rPr>
              <a:t> /</a:t>
            </a:r>
            <a:r>
              <a:rPr lang="en-US" altLang="en-US" sz="1400" dirty="0" err="1">
                <a:solidFill>
                  <a:srgbClr val="333333"/>
                </a:solidFill>
                <a:latin typeface="Courier New" panose="02070309020205020404" pitchFamily="49" charset="0"/>
                <a:cs typeface="Courier New" panose="02070309020205020404" pitchFamily="49" charset="0"/>
              </a:rPr>
              <a:t>etc</a:t>
            </a:r>
            <a:r>
              <a:rPr lang="en-US" altLang="en-US" sz="1400" dirty="0">
                <a:solidFill>
                  <a:srgbClr val="333333"/>
                </a:solidFill>
                <a:latin typeface="Courier New" panose="02070309020205020404" pitchFamily="49" charset="0"/>
                <a:cs typeface="Courier New" panose="02070309020205020404" pitchFamily="49" charset="0"/>
              </a:rPr>
              <a:t>/</a:t>
            </a:r>
            <a:r>
              <a:rPr lang="en-US" altLang="en-US" sz="1400" dirty="0" err="1">
                <a:solidFill>
                  <a:srgbClr val="333333"/>
                </a:solidFill>
                <a:latin typeface="Courier New" panose="02070309020205020404" pitchFamily="49" charset="0"/>
                <a:cs typeface="Courier New" panose="02070309020205020404" pitchFamily="49" charset="0"/>
              </a:rPr>
              <a:t>kolla</a:t>
            </a:r>
            <a:r>
              <a:rPr lang="en-US" altLang="en-US" sz="1400" dirty="0">
                <a:solidFill>
                  <a:srgbClr val="333333"/>
                </a:solidFill>
                <a:latin typeface="Courier New" panose="02070309020205020404" pitchFamily="49" charset="0"/>
                <a:cs typeface="Courier New" panose="02070309020205020404" pitchFamily="49" charset="0"/>
              </a:rPr>
              <a:t>/</a:t>
            </a:r>
            <a:r>
              <a:rPr lang="en-US" altLang="en-US" sz="1400" dirty="0" err="1">
                <a:solidFill>
                  <a:srgbClr val="333333"/>
                </a:solidFill>
                <a:latin typeface="Courier New" panose="02070309020205020404" pitchFamily="49" charset="0"/>
                <a:cs typeface="Courier New" panose="02070309020205020404" pitchFamily="49" charset="0"/>
              </a:rPr>
              <a:t>passwords.yml</a:t>
            </a:r>
            <a:r>
              <a:rPr lang="en-US" altLang="en-US" sz="800" dirty="0"/>
              <a:t> </a:t>
            </a:r>
            <a:endParaRPr lang="en-US" altLang="en-US" sz="3200" dirty="0">
              <a:latin typeface="Arial" panose="020B0604020202020204" pitchFamily="34" charset="0"/>
            </a:endParaRPr>
          </a:p>
          <a:p>
            <a:pPr algn="just"/>
            <a:endParaRPr lang="en-US" sz="1400" b="1" dirty="0" smtClean="0"/>
          </a:p>
          <a:p>
            <a:pPr lvl="0" eaLnBrk="0" fontAlgn="base" hangingPunct="0">
              <a:spcBef>
                <a:spcPct val="0"/>
              </a:spcBef>
              <a:spcAft>
                <a:spcPct val="0"/>
              </a:spcAft>
            </a:pPr>
            <a:endParaRPr lang="en-US" sz="1400" b="1" dirty="0" smtClean="0">
              <a:solidFill>
                <a:srgbClr val="002060"/>
              </a:solidFill>
            </a:endParaRPr>
          </a:p>
          <a:p>
            <a:pPr lvl="0" eaLnBrk="0" fontAlgn="base" hangingPunct="0">
              <a:spcBef>
                <a:spcPct val="0"/>
              </a:spcBef>
              <a:spcAft>
                <a:spcPct val="0"/>
              </a:spcAft>
            </a:pPr>
            <a:endParaRPr lang="en-US" sz="2400" b="1" dirty="0">
              <a:solidFill>
                <a:srgbClr val="FFC000"/>
              </a:solidFill>
            </a:endParaRPr>
          </a:p>
          <a:p>
            <a:pPr lvl="0" algn="just" eaLnBrk="0" fontAlgn="base" hangingPunct="0">
              <a:spcBef>
                <a:spcPct val="0"/>
              </a:spcBef>
              <a:spcAft>
                <a:spcPct val="0"/>
              </a:spcAft>
            </a:pPr>
            <a:r>
              <a:rPr lang="en-US" altLang="en-US" sz="2400" dirty="0">
                <a:solidFill>
                  <a:srgbClr val="FFC000"/>
                </a:solidFill>
                <a:latin typeface="Arial" panose="020B0604020202020204" pitchFamily="34" charset="0"/>
              </a:rPr>
              <a:t>Troubleshoot</a:t>
            </a:r>
          </a:p>
          <a:p>
            <a:pPr lvl="0" algn="just" eaLnBrk="0" fontAlgn="base" hangingPunct="0">
              <a:spcBef>
                <a:spcPct val="0"/>
              </a:spcBef>
              <a:spcAft>
                <a:spcPct val="0"/>
              </a:spcAft>
            </a:pPr>
            <a:r>
              <a:rPr lang="en-US" altLang="en-US" sz="1400" dirty="0" err="1">
                <a:latin typeface="Arial" panose="020B0604020202020204" pitchFamily="34" charset="0"/>
              </a:rPr>
              <a:t>Ketika</a:t>
            </a:r>
            <a:r>
              <a:rPr lang="en-US" altLang="en-US" sz="1400" dirty="0">
                <a:latin typeface="Arial" panose="020B0604020202020204" pitchFamily="34" charset="0"/>
              </a:rPr>
              <a:t> host </a:t>
            </a:r>
            <a:r>
              <a:rPr lang="en-US" altLang="en-US" sz="1400" dirty="0" err="1">
                <a:latin typeface="Arial" panose="020B0604020202020204" pitchFamily="34" charset="0"/>
              </a:rPr>
              <a:t>mengalami</a:t>
            </a:r>
            <a:r>
              <a:rPr lang="en-US" altLang="en-US" sz="1400" dirty="0">
                <a:latin typeface="Arial" panose="020B0604020202020204" pitchFamily="34" charset="0"/>
              </a:rPr>
              <a:t> </a:t>
            </a:r>
            <a:r>
              <a:rPr lang="en-US" altLang="en-US" sz="1400" dirty="0" smtClean="0">
                <a:latin typeface="Arial" panose="020B0604020202020204" pitchFamily="34" charset="0"/>
              </a:rPr>
              <a:t>restart:</a:t>
            </a:r>
            <a:endParaRPr lang="en-US" altLang="en-US" sz="1400" dirty="0">
              <a:latin typeface="Arial" panose="020B0604020202020204" pitchFamily="34" charset="0"/>
            </a:endParaRPr>
          </a:p>
          <a:p>
            <a:pPr lvl="0" algn="just" eaLnBrk="0" fontAlgn="base" hangingPunct="0">
              <a:spcBef>
                <a:spcPct val="0"/>
              </a:spcBef>
              <a:spcAft>
                <a:spcPct val="0"/>
              </a:spcAft>
            </a:pPr>
            <a:endParaRPr lang="en-US" altLang="en-US" sz="1000" b="1" dirty="0">
              <a:solidFill>
                <a:srgbClr val="00B0F0"/>
              </a:solidFill>
              <a:latin typeface="Arial" panose="020B0604020202020204" pitchFamily="34" charset="0"/>
            </a:endParaRPr>
          </a:p>
          <a:p>
            <a:pPr lvl="0" eaLnBrk="0" fontAlgn="base" hangingPunct="0">
              <a:spcBef>
                <a:spcPct val="0"/>
              </a:spcBef>
              <a:spcAft>
                <a:spcPct val="0"/>
              </a:spcAft>
            </a:pPr>
            <a:r>
              <a:rPr lang="en-US" altLang="en-US" sz="1000" b="1" dirty="0">
                <a:solidFill>
                  <a:srgbClr val="00B0F0"/>
                </a:solidFill>
                <a:latin typeface="Arial" panose="020B0604020202020204" pitchFamily="34" charset="0"/>
              </a:rPr>
              <a:t>export EXT_NET_CIDR='10.25.25.0/24'</a:t>
            </a:r>
          </a:p>
          <a:p>
            <a:pPr lvl="0" eaLnBrk="0" fontAlgn="base" hangingPunct="0">
              <a:spcBef>
                <a:spcPct val="0"/>
              </a:spcBef>
              <a:spcAft>
                <a:spcPct val="0"/>
              </a:spcAft>
            </a:pPr>
            <a:r>
              <a:rPr lang="en-US" altLang="en-US" sz="1000" b="1" dirty="0">
                <a:solidFill>
                  <a:srgbClr val="00B0F0"/>
                </a:solidFill>
                <a:latin typeface="Arial" panose="020B0604020202020204" pitchFamily="34" charset="0"/>
              </a:rPr>
              <a:t>export EXT_NET_RANGE='start=10.25.25.3,end=10.25.25.253'</a:t>
            </a:r>
          </a:p>
          <a:p>
            <a:pPr lvl="0" eaLnBrk="0" fontAlgn="base" hangingPunct="0">
              <a:spcBef>
                <a:spcPct val="0"/>
              </a:spcBef>
              <a:spcAft>
                <a:spcPct val="0"/>
              </a:spcAft>
            </a:pPr>
            <a:r>
              <a:rPr lang="en-US" altLang="en-US" sz="1000" b="1" dirty="0">
                <a:solidFill>
                  <a:srgbClr val="00B0F0"/>
                </a:solidFill>
                <a:latin typeface="Arial" panose="020B0604020202020204" pitchFamily="34" charset="0"/>
              </a:rPr>
              <a:t>export EXT_NET_GATEWAY='10.25.25.1'</a:t>
            </a:r>
          </a:p>
          <a:p>
            <a:pPr lvl="0" eaLnBrk="0" fontAlgn="base" hangingPunct="0">
              <a:spcBef>
                <a:spcPct val="0"/>
              </a:spcBef>
              <a:spcAft>
                <a:spcPct val="0"/>
              </a:spcAft>
            </a:pPr>
            <a:r>
              <a:rPr lang="en-US" altLang="en-US" sz="1000" b="1" dirty="0" err="1">
                <a:solidFill>
                  <a:srgbClr val="00B0F0"/>
                </a:solidFill>
                <a:latin typeface="Arial" panose="020B0604020202020204" pitchFamily="34" charset="0"/>
              </a:rPr>
              <a:t>sudo</a:t>
            </a:r>
            <a:r>
              <a:rPr lang="en-US" altLang="en-US" sz="1000" b="1" dirty="0">
                <a:solidFill>
                  <a:srgbClr val="00B0F0"/>
                </a:solidFill>
                <a:latin typeface="Arial" panose="020B0604020202020204" pitchFamily="34" charset="0"/>
              </a:rPr>
              <a:t> </a:t>
            </a:r>
            <a:r>
              <a:rPr lang="en-US" altLang="en-US" sz="1000" b="1" dirty="0" err="1">
                <a:solidFill>
                  <a:srgbClr val="00B0F0"/>
                </a:solidFill>
                <a:latin typeface="Arial" panose="020B0604020202020204" pitchFamily="34" charset="0"/>
              </a:rPr>
              <a:t>ifconfig</a:t>
            </a:r>
            <a:r>
              <a:rPr lang="en-US" altLang="en-US" sz="1000" b="1" dirty="0">
                <a:solidFill>
                  <a:srgbClr val="00B0F0"/>
                </a:solidFill>
                <a:latin typeface="Arial" panose="020B0604020202020204" pitchFamily="34" charset="0"/>
              </a:rPr>
              <a:t> </a:t>
            </a:r>
            <a:r>
              <a:rPr lang="en-US" altLang="en-US" sz="1000" b="1" dirty="0" err="1">
                <a:solidFill>
                  <a:srgbClr val="00B0F0"/>
                </a:solidFill>
                <a:latin typeface="Arial" panose="020B0604020202020204" pitchFamily="34" charset="0"/>
              </a:rPr>
              <a:t>br</a:t>
            </a:r>
            <a:r>
              <a:rPr lang="en-US" altLang="en-US" sz="1000" b="1" dirty="0">
                <a:solidFill>
                  <a:srgbClr val="00B0F0"/>
                </a:solidFill>
                <a:latin typeface="Arial" panose="020B0604020202020204" pitchFamily="34" charset="0"/>
              </a:rPr>
              <a:t>-ex $EXT_NET_GATEWAY </a:t>
            </a:r>
            <a:r>
              <a:rPr lang="en-US" altLang="en-US" sz="1000" b="1" dirty="0" err="1">
                <a:solidFill>
                  <a:srgbClr val="00B0F0"/>
                </a:solidFill>
                <a:latin typeface="Arial" panose="020B0604020202020204" pitchFamily="34" charset="0"/>
              </a:rPr>
              <a:t>netmask</a:t>
            </a:r>
            <a:r>
              <a:rPr lang="en-US" altLang="en-US" sz="1000" b="1" dirty="0">
                <a:solidFill>
                  <a:srgbClr val="00B0F0"/>
                </a:solidFill>
                <a:latin typeface="Arial" panose="020B0604020202020204" pitchFamily="34" charset="0"/>
              </a:rPr>
              <a:t> 255.255.255.0 up</a:t>
            </a:r>
          </a:p>
          <a:p>
            <a:pPr lvl="0" eaLnBrk="0" fontAlgn="base" hangingPunct="0">
              <a:spcBef>
                <a:spcPct val="0"/>
              </a:spcBef>
              <a:spcAft>
                <a:spcPct val="0"/>
              </a:spcAft>
            </a:pPr>
            <a:r>
              <a:rPr lang="en-US" altLang="en-US" sz="1000" b="1" dirty="0" err="1">
                <a:solidFill>
                  <a:srgbClr val="00B0F0"/>
                </a:solidFill>
                <a:latin typeface="Arial" panose="020B0604020202020204" pitchFamily="34" charset="0"/>
              </a:rPr>
              <a:t>sudo</a:t>
            </a:r>
            <a:r>
              <a:rPr lang="en-US" altLang="en-US" sz="1000" b="1" dirty="0">
                <a:solidFill>
                  <a:srgbClr val="00B0F0"/>
                </a:solidFill>
                <a:latin typeface="Arial" panose="020B0604020202020204" pitchFamily="34" charset="0"/>
              </a:rPr>
              <a:t> </a:t>
            </a:r>
            <a:r>
              <a:rPr lang="en-US" altLang="en-US" sz="1000" b="1" dirty="0" err="1">
                <a:solidFill>
                  <a:srgbClr val="00B0F0"/>
                </a:solidFill>
                <a:latin typeface="Arial" panose="020B0604020202020204" pitchFamily="34" charset="0"/>
              </a:rPr>
              <a:t>iptables</a:t>
            </a:r>
            <a:r>
              <a:rPr lang="en-US" altLang="en-US" sz="1000" b="1" dirty="0">
                <a:solidFill>
                  <a:srgbClr val="00B0F0"/>
                </a:solidFill>
                <a:latin typeface="Arial" panose="020B0604020202020204" pitchFamily="34" charset="0"/>
              </a:rPr>
              <a:t> -t </a:t>
            </a:r>
            <a:r>
              <a:rPr lang="en-US" altLang="en-US" sz="1000" b="1" dirty="0" err="1">
                <a:solidFill>
                  <a:srgbClr val="00B0F0"/>
                </a:solidFill>
                <a:latin typeface="Arial" panose="020B0604020202020204" pitchFamily="34" charset="0"/>
              </a:rPr>
              <a:t>nat</a:t>
            </a:r>
            <a:r>
              <a:rPr lang="en-US" altLang="en-US" sz="1000" b="1" dirty="0">
                <a:solidFill>
                  <a:srgbClr val="00B0F0"/>
                </a:solidFill>
                <a:latin typeface="Arial" panose="020B0604020202020204" pitchFamily="34" charset="0"/>
              </a:rPr>
              <a:t> -A POSTROUTING -s $EXT_NET_CIDR -o ens224 -j MASQUERADE</a:t>
            </a:r>
          </a:p>
          <a:p>
            <a:pPr lvl="0" eaLnBrk="0" fontAlgn="base" hangingPunct="0">
              <a:spcBef>
                <a:spcPct val="0"/>
              </a:spcBef>
              <a:spcAft>
                <a:spcPct val="0"/>
              </a:spcAft>
            </a:pPr>
            <a:r>
              <a:rPr lang="en-US" altLang="en-US" sz="1000" b="1" dirty="0">
                <a:solidFill>
                  <a:srgbClr val="00B0F0"/>
                </a:solidFill>
                <a:latin typeface="Arial" panose="020B0604020202020204" pitchFamily="34" charset="0"/>
              </a:rPr>
              <a:t>echo 1 &gt; /</a:t>
            </a:r>
            <a:r>
              <a:rPr lang="en-US" altLang="en-US" sz="1000" b="1" dirty="0" err="1">
                <a:solidFill>
                  <a:srgbClr val="00B0F0"/>
                </a:solidFill>
                <a:latin typeface="Arial" panose="020B0604020202020204" pitchFamily="34" charset="0"/>
              </a:rPr>
              <a:t>proc</a:t>
            </a:r>
            <a:r>
              <a:rPr lang="en-US" altLang="en-US" sz="1000" b="1" dirty="0">
                <a:solidFill>
                  <a:srgbClr val="00B0F0"/>
                </a:solidFill>
                <a:latin typeface="Arial" panose="020B0604020202020204" pitchFamily="34" charset="0"/>
              </a:rPr>
              <a:t>/sys/net/ipv4/</a:t>
            </a:r>
            <a:r>
              <a:rPr lang="en-US" altLang="en-US" sz="1000" b="1" dirty="0" err="1">
                <a:solidFill>
                  <a:srgbClr val="00B0F0"/>
                </a:solidFill>
                <a:latin typeface="Arial" panose="020B0604020202020204" pitchFamily="34" charset="0"/>
              </a:rPr>
              <a:t>ip_forward</a:t>
            </a:r>
            <a:endParaRPr lang="en-US" altLang="en-US" sz="1000" b="1" dirty="0">
              <a:solidFill>
                <a:srgbClr val="00B0F0"/>
              </a:solidFill>
              <a:latin typeface="Arial" panose="020B0604020202020204" pitchFamily="34" charset="0"/>
            </a:endParaRPr>
          </a:p>
          <a:p>
            <a:pPr lvl="0" eaLnBrk="0" fontAlgn="base" hangingPunct="0">
              <a:spcBef>
                <a:spcPct val="0"/>
              </a:spcBef>
              <a:spcAft>
                <a:spcPct val="0"/>
              </a:spcAft>
            </a:pPr>
            <a:r>
              <a:rPr lang="en-US" altLang="en-US" sz="1000" b="1" dirty="0" err="1">
                <a:solidFill>
                  <a:srgbClr val="00B0F0"/>
                </a:solidFill>
                <a:latin typeface="Arial" panose="020B0604020202020204" pitchFamily="34" charset="0"/>
              </a:rPr>
              <a:t>sudo</a:t>
            </a:r>
            <a:r>
              <a:rPr lang="en-US" altLang="en-US" sz="1000" b="1" dirty="0">
                <a:solidFill>
                  <a:srgbClr val="00B0F0"/>
                </a:solidFill>
                <a:latin typeface="Arial" panose="020B0604020202020204" pitchFamily="34" charset="0"/>
              </a:rPr>
              <a:t> </a:t>
            </a:r>
            <a:r>
              <a:rPr lang="en-US" altLang="en-US" sz="1000" b="1" dirty="0" err="1">
                <a:solidFill>
                  <a:srgbClr val="00B0F0"/>
                </a:solidFill>
                <a:latin typeface="Arial" panose="020B0604020202020204" pitchFamily="34" charset="0"/>
              </a:rPr>
              <a:t>iptables</a:t>
            </a:r>
            <a:r>
              <a:rPr lang="en-US" altLang="en-US" sz="1000" b="1" dirty="0">
                <a:solidFill>
                  <a:srgbClr val="00B0F0"/>
                </a:solidFill>
                <a:latin typeface="Arial" panose="020B0604020202020204" pitchFamily="34" charset="0"/>
              </a:rPr>
              <a:t> -A FORWARD -o ens224 -</a:t>
            </a:r>
            <a:r>
              <a:rPr lang="en-US" altLang="en-US" sz="1000" b="1" dirty="0" err="1">
                <a:solidFill>
                  <a:srgbClr val="00B0F0"/>
                </a:solidFill>
                <a:latin typeface="Arial" panose="020B0604020202020204" pitchFamily="34" charset="0"/>
              </a:rPr>
              <a:t>i</a:t>
            </a:r>
            <a:r>
              <a:rPr lang="en-US" altLang="en-US" sz="1000" b="1" dirty="0">
                <a:solidFill>
                  <a:srgbClr val="00B0F0"/>
                </a:solidFill>
                <a:latin typeface="Arial" panose="020B0604020202020204" pitchFamily="34" charset="0"/>
              </a:rPr>
              <a:t> </a:t>
            </a:r>
            <a:r>
              <a:rPr lang="en-US" altLang="en-US" sz="1000" b="1" dirty="0" err="1">
                <a:solidFill>
                  <a:srgbClr val="00B0F0"/>
                </a:solidFill>
                <a:latin typeface="Arial" panose="020B0604020202020204" pitchFamily="34" charset="0"/>
              </a:rPr>
              <a:t>br</a:t>
            </a:r>
            <a:r>
              <a:rPr lang="en-US" altLang="en-US" sz="1000" b="1" dirty="0">
                <a:solidFill>
                  <a:srgbClr val="00B0F0"/>
                </a:solidFill>
                <a:latin typeface="Arial" panose="020B0604020202020204" pitchFamily="34" charset="0"/>
              </a:rPr>
              <a:t>-ex -j ACCEPT  </a:t>
            </a:r>
          </a:p>
          <a:p>
            <a:pPr lvl="0" eaLnBrk="0" fontAlgn="base" hangingPunct="0">
              <a:spcBef>
                <a:spcPct val="0"/>
              </a:spcBef>
              <a:spcAft>
                <a:spcPct val="0"/>
              </a:spcAft>
            </a:pPr>
            <a:r>
              <a:rPr lang="en-US" altLang="en-US" sz="1000" b="1" dirty="0" err="1">
                <a:solidFill>
                  <a:srgbClr val="00B0F0"/>
                </a:solidFill>
                <a:latin typeface="Arial" panose="020B0604020202020204" pitchFamily="34" charset="0"/>
              </a:rPr>
              <a:t>sudo</a:t>
            </a:r>
            <a:r>
              <a:rPr lang="en-US" altLang="en-US" sz="1000" b="1" dirty="0">
                <a:solidFill>
                  <a:srgbClr val="00B0F0"/>
                </a:solidFill>
                <a:latin typeface="Arial" panose="020B0604020202020204" pitchFamily="34" charset="0"/>
              </a:rPr>
              <a:t> </a:t>
            </a:r>
            <a:r>
              <a:rPr lang="en-US" altLang="en-US" sz="1000" b="1" dirty="0" err="1">
                <a:solidFill>
                  <a:srgbClr val="00B0F0"/>
                </a:solidFill>
                <a:latin typeface="Arial" panose="020B0604020202020204" pitchFamily="34" charset="0"/>
              </a:rPr>
              <a:t>iptables</a:t>
            </a:r>
            <a:r>
              <a:rPr lang="en-US" altLang="en-US" sz="1000" b="1" dirty="0">
                <a:solidFill>
                  <a:srgbClr val="00B0F0"/>
                </a:solidFill>
                <a:latin typeface="Arial" panose="020B0604020202020204" pitchFamily="34" charset="0"/>
              </a:rPr>
              <a:t> -A FORWARD -</a:t>
            </a:r>
            <a:r>
              <a:rPr lang="en-US" altLang="en-US" sz="1000" b="1" dirty="0" err="1">
                <a:solidFill>
                  <a:srgbClr val="00B0F0"/>
                </a:solidFill>
                <a:latin typeface="Arial" panose="020B0604020202020204" pitchFamily="34" charset="0"/>
              </a:rPr>
              <a:t>i</a:t>
            </a:r>
            <a:r>
              <a:rPr lang="en-US" altLang="en-US" sz="1000" b="1" dirty="0">
                <a:solidFill>
                  <a:srgbClr val="00B0F0"/>
                </a:solidFill>
                <a:latin typeface="Arial" panose="020B0604020202020204" pitchFamily="34" charset="0"/>
              </a:rPr>
              <a:t> ens224 -o </a:t>
            </a:r>
            <a:r>
              <a:rPr lang="en-US" altLang="en-US" sz="1000" b="1" dirty="0" err="1">
                <a:solidFill>
                  <a:srgbClr val="00B0F0"/>
                </a:solidFill>
                <a:latin typeface="Arial" panose="020B0604020202020204" pitchFamily="34" charset="0"/>
              </a:rPr>
              <a:t>br</a:t>
            </a:r>
            <a:r>
              <a:rPr lang="en-US" altLang="en-US" sz="1000" b="1" dirty="0">
                <a:solidFill>
                  <a:srgbClr val="00B0F0"/>
                </a:solidFill>
                <a:latin typeface="Arial" panose="020B0604020202020204" pitchFamily="34" charset="0"/>
              </a:rPr>
              <a:t>-ex -j ACCEPT</a:t>
            </a:r>
            <a:endParaRPr lang="en-US" sz="1000" b="1" dirty="0">
              <a:solidFill>
                <a:srgbClr val="00B0F0"/>
              </a:solidFill>
            </a:endParaRPr>
          </a:p>
        </p:txBody>
      </p:sp>
      <p:sp>
        <p:nvSpPr>
          <p:cNvPr id="14" name="Rectangle 13"/>
          <p:cNvSpPr/>
          <p:nvPr/>
        </p:nvSpPr>
        <p:spPr>
          <a:xfrm>
            <a:off x="4702752" y="896057"/>
            <a:ext cx="4099214" cy="64179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14"/>
          <p:cNvSpPr/>
          <p:nvPr/>
        </p:nvSpPr>
        <p:spPr>
          <a:xfrm>
            <a:off x="4702752" y="2914549"/>
            <a:ext cx="4099214" cy="185271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grpSp>
        <p:nvGrpSpPr>
          <p:cNvPr id="9" name="Group 8"/>
          <p:cNvGrpSpPr/>
          <p:nvPr/>
        </p:nvGrpSpPr>
        <p:grpSpPr>
          <a:xfrm>
            <a:off x="492760" y="1940574"/>
            <a:ext cx="4024688" cy="2170800"/>
            <a:chOff x="492760" y="1940574"/>
            <a:chExt cx="4024688" cy="2170800"/>
          </a:xfrm>
        </p:grpSpPr>
        <p:pic>
          <p:nvPicPr>
            <p:cNvPr id="6" name="Picture 5"/>
            <p:cNvPicPr>
              <a:picLocks noChangeAspect="1"/>
            </p:cNvPicPr>
            <p:nvPr/>
          </p:nvPicPr>
          <p:blipFill>
            <a:blip r:embed="rId4"/>
            <a:stretch>
              <a:fillRect/>
            </a:stretch>
          </p:blipFill>
          <p:spPr>
            <a:xfrm>
              <a:off x="492760" y="1940574"/>
              <a:ext cx="4024688" cy="2170800"/>
            </a:xfrm>
            <a:prstGeom prst="rect">
              <a:avLst/>
            </a:prstGeom>
          </p:spPr>
        </p:pic>
        <p:sp>
          <p:nvSpPr>
            <p:cNvPr id="16" name="Rectangle 15"/>
            <p:cNvSpPr/>
            <p:nvPr/>
          </p:nvSpPr>
          <p:spPr>
            <a:xfrm>
              <a:off x="1289700" y="1961455"/>
              <a:ext cx="1548867" cy="184666"/>
            </a:xfrm>
            <a:prstGeom prst="rect">
              <a:avLst/>
            </a:prstGeom>
          </p:spPr>
          <p:txBody>
            <a:bodyPr wrap="square">
              <a:spAutoFit/>
            </a:bodyPr>
            <a:lstStyle/>
            <a:p>
              <a:pPr algn="just"/>
              <a:r>
                <a:rPr lang="en-US" sz="600" dirty="0" smtClean="0">
                  <a:solidFill>
                    <a:schemeClr val="bg1">
                      <a:lumMod val="65000"/>
                    </a:schemeClr>
                  </a:solidFill>
                </a:rPr>
                <a:t>Openstack.panda.id/</a:t>
              </a:r>
              <a:r>
                <a:rPr lang="en-US" sz="600" dirty="0" err="1" smtClean="0">
                  <a:solidFill>
                    <a:schemeClr val="bg1">
                      <a:lumMod val="65000"/>
                    </a:schemeClr>
                  </a:solidFill>
                </a:rPr>
                <a:t>Ddasboard</a:t>
              </a:r>
              <a:r>
                <a:rPr lang="en-US" sz="600" dirty="0" smtClean="0">
                  <a:solidFill>
                    <a:schemeClr val="bg1">
                      <a:lumMod val="65000"/>
                    </a:schemeClr>
                  </a:solidFill>
                </a:rPr>
                <a:t>/</a:t>
              </a:r>
              <a:r>
                <a:rPr lang="en-US" sz="600" dirty="0" err="1" smtClean="0">
                  <a:solidFill>
                    <a:schemeClr val="bg1">
                      <a:lumMod val="65000"/>
                    </a:schemeClr>
                  </a:solidFill>
                </a:rPr>
                <a:t>auth</a:t>
              </a:r>
              <a:r>
                <a:rPr lang="en-US" sz="600" dirty="0" smtClean="0">
                  <a:solidFill>
                    <a:schemeClr val="bg1">
                      <a:lumMod val="65000"/>
                    </a:schemeClr>
                  </a:solidFill>
                </a:rPr>
                <a:t>/login/</a:t>
              </a:r>
              <a:endParaRPr lang="en-US" sz="600" dirty="0">
                <a:solidFill>
                  <a:schemeClr val="bg1">
                    <a:lumMod val="65000"/>
                  </a:schemeClr>
                </a:solidFill>
              </a:endParaRPr>
            </a:p>
          </p:txBody>
        </p:sp>
      </p:grpSp>
    </p:spTree>
    <p:extLst>
      <p:ext uri="{BB962C8B-B14F-4D97-AF65-F5344CB8AC3E}">
        <p14:creationId xmlns:p14="http://schemas.microsoft.com/office/powerpoint/2010/main" val="260672340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64777" y="847049"/>
            <a:ext cx="6645606" cy="994172"/>
          </a:xfrm>
        </p:spPr>
        <p:txBody>
          <a:bodyPr>
            <a:normAutofit/>
          </a:bodyPr>
          <a:lstStyle/>
          <a:p>
            <a:r>
              <a:rPr lang="en-US" dirty="0" err="1">
                <a:solidFill>
                  <a:srgbClr val="002060"/>
                </a:solidFill>
              </a:rPr>
              <a:t>Membuat</a:t>
            </a:r>
            <a:r>
              <a:rPr lang="en-US" dirty="0">
                <a:solidFill>
                  <a:srgbClr val="002060"/>
                </a:solidFill>
              </a:rPr>
              <a:t> Instance </a:t>
            </a:r>
            <a:r>
              <a:rPr lang="en-US" dirty="0" err="1">
                <a:solidFill>
                  <a:srgbClr val="002060"/>
                </a:solidFill>
              </a:rPr>
              <a:t>Melalui</a:t>
            </a:r>
            <a:r>
              <a:rPr lang="en-US" dirty="0">
                <a:solidFill>
                  <a:srgbClr val="002060"/>
                </a:solidFill>
              </a:rPr>
              <a:t> Horizon</a:t>
            </a:r>
          </a:p>
        </p:txBody>
      </p:sp>
      <p:sp>
        <p:nvSpPr>
          <p:cNvPr id="4" name="Slide Number Placeholder 3"/>
          <p:cNvSpPr>
            <a:spLocks noGrp="1"/>
          </p:cNvSpPr>
          <p:nvPr>
            <p:ph type="sldNum" sz="quarter" idx="12"/>
          </p:nvPr>
        </p:nvSpPr>
        <p:spPr/>
        <p:txBody>
          <a:bodyPr/>
          <a:lstStyle/>
          <a:p>
            <a:fld id="{6D22F896-40B5-4ADD-8801-0D06FADFA095}" type="slidenum">
              <a:rPr lang="en-US" smtClean="0"/>
              <a:t>16</a:t>
            </a:fld>
            <a:endParaRPr lang="en-US" dirty="0"/>
          </a:p>
        </p:txBody>
      </p:sp>
      <p:sp>
        <p:nvSpPr>
          <p:cNvPr id="3" name="Rectangle 2"/>
          <p:cNvSpPr/>
          <p:nvPr/>
        </p:nvSpPr>
        <p:spPr>
          <a:xfrm>
            <a:off x="1753737" y="1826914"/>
            <a:ext cx="6066430" cy="1477328"/>
          </a:xfrm>
          <a:prstGeom prst="rect">
            <a:avLst/>
          </a:prstGeom>
        </p:spPr>
        <p:txBody>
          <a:bodyPr wrap="square">
            <a:spAutoFit/>
          </a:bodyPr>
          <a:lstStyle/>
          <a:p>
            <a:pPr marL="285750" indent="-285750">
              <a:buFont typeface="Wingdings" panose="05000000000000000000" pitchFamily="2" charset="2"/>
              <a:buChar char="ü"/>
            </a:pPr>
            <a:r>
              <a:rPr lang="en-US" dirty="0" err="1"/>
              <a:t>Openstack</a:t>
            </a:r>
            <a:r>
              <a:rPr lang="en-US" dirty="0"/>
              <a:t>: Upload Image </a:t>
            </a:r>
            <a:r>
              <a:rPr lang="en-US" dirty="0" err="1"/>
              <a:t>atau</a:t>
            </a:r>
            <a:r>
              <a:rPr lang="en-US" dirty="0"/>
              <a:t> ISO</a:t>
            </a:r>
          </a:p>
          <a:p>
            <a:pPr marL="285750" indent="-285750">
              <a:buFont typeface="Wingdings" panose="05000000000000000000" pitchFamily="2" charset="2"/>
              <a:buChar char="ü"/>
            </a:pPr>
            <a:r>
              <a:rPr lang="en-US" dirty="0" err="1"/>
              <a:t>Openstack</a:t>
            </a:r>
            <a:r>
              <a:rPr lang="en-US" dirty="0"/>
              <a:t>: </a:t>
            </a:r>
            <a:r>
              <a:rPr lang="en-US" dirty="0" err="1"/>
              <a:t>Membuat</a:t>
            </a:r>
            <a:r>
              <a:rPr lang="en-US" dirty="0"/>
              <a:t> Network</a:t>
            </a:r>
          </a:p>
          <a:p>
            <a:pPr marL="285750" indent="-285750">
              <a:buFont typeface="Wingdings" panose="05000000000000000000" pitchFamily="2" charset="2"/>
              <a:buChar char="ü"/>
            </a:pPr>
            <a:r>
              <a:rPr lang="en-US" dirty="0" err="1"/>
              <a:t>Openstack</a:t>
            </a:r>
            <a:r>
              <a:rPr lang="en-US" dirty="0"/>
              <a:t>: </a:t>
            </a:r>
            <a:r>
              <a:rPr lang="en-US" dirty="0" err="1"/>
              <a:t>Membuat</a:t>
            </a:r>
            <a:r>
              <a:rPr lang="en-US" dirty="0"/>
              <a:t> Router</a:t>
            </a:r>
          </a:p>
          <a:p>
            <a:pPr marL="285750" indent="-285750">
              <a:buFont typeface="Wingdings" panose="05000000000000000000" pitchFamily="2" charset="2"/>
              <a:buChar char="ü"/>
            </a:pPr>
            <a:r>
              <a:rPr lang="en-US" dirty="0" err="1"/>
              <a:t>Openstack</a:t>
            </a:r>
            <a:r>
              <a:rPr lang="en-US" dirty="0"/>
              <a:t>: </a:t>
            </a:r>
            <a:r>
              <a:rPr lang="en-US" dirty="0" err="1"/>
              <a:t>Menambahkan</a:t>
            </a:r>
            <a:r>
              <a:rPr lang="en-US" dirty="0"/>
              <a:t> SSH Key</a:t>
            </a:r>
          </a:p>
          <a:p>
            <a:pPr marL="285750" indent="-285750">
              <a:buFont typeface="Wingdings" panose="05000000000000000000" pitchFamily="2" charset="2"/>
              <a:buChar char="ü"/>
            </a:pPr>
            <a:r>
              <a:rPr lang="en-US" dirty="0" err="1"/>
              <a:t>Openstack</a:t>
            </a:r>
            <a:r>
              <a:rPr lang="en-US" dirty="0"/>
              <a:t>: </a:t>
            </a:r>
            <a:r>
              <a:rPr lang="en-US" dirty="0" err="1"/>
              <a:t>Menambah</a:t>
            </a:r>
            <a:r>
              <a:rPr lang="en-US" dirty="0"/>
              <a:t> </a:t>
            </a:r>
            <a:r>
              <a:rPr lang="en-US" dirty="0" err="1"/>
              <a:t>dan</a:t>
            </a:r>
            <a:r>
              <a:rPr lang="en-US" dirty="0"/>
              <a:t> </a:t>
            </a:r>
            <a:r>
              <a:rPr lang="en-US" dirty="0" err="1"/>
              <a:t>Menggunakan</a:t>
            </a:r>
            <a:r>
              <a:rPr lang="en-US" dirty="0"/>
              <a:t> Security Group</a:t>
            </a:r>
          </a:p>
        </p:txBody>
      </p:sp>
    </p:spTree>
    <p:extLst>
      <p:ext uri="{BB962C8B-B14F-4D97-AF65-F5344CB8AC3E}">
        <p14:creationId xmlns:p14="http://schemas.microsoft.com/office/powerpoint/2010/main" val="127774371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4922" y="3227746"/>
            <a:ext cx="4748568" cy="994172"/>
          </a:xfrm>
        </p:spPr>
        <p:txBody>
          <a:bodyPr>
            <a:normAutofit fontScale="90000"/>
          </a:bodyPr>
          <a:lstStyle/>
          <a:p>
            <a:pPr marL="457200" indent="-457200">
              <a:buFont typeface="Wingdings" panose="05000000000000000000" pitchFamily="2" charset="2"/>
              <a:buChar char="ü"/>
            </a:pPr>
            <a:r>
              <a:rPr lang="en-US" dirty="0">
                <a:solidFill>
                  <a:srgbClr val="002060"/>
                </a:solidFill>
              </a:rPr>
              <a:t>Upload Image </a:t>
            </a:r>
            <a:r>
              <a:rPr lang="en-US" dirty="0" err="1">
                <a:solidFill>
                  <a:srgbClr val="002060"/>
                </a:solidFill>
              </a:rPr>
              <a:t>atau</a:t>
            </a:r>
            <a:r>
              <a:rPr lang="en-US" dirty="0">
                <a:solidFill>
                  <a:srgbClr val="002060"/>
                </a:solidFill>
              </a:rPr>
              <a:t> </a:t>
            </a:r>
            <a:r>
              <a:rPr lang="en-US" dirty="0" smtClean="0">
                <a:solidFill>
                  <a:srgbClr val="002060"/>
                </a:solidFill>
              </a:rPr>
              <a:t>ISO</a:t>
            </a:r>
            <a:br>
              <a:rPr lang="en-US" dirty="0" smtClean="0">
                <a:solidFill>
                  <a:srgbClr val="002060"/>
                </a:solidFill>
              </a:rPr>
            </a:br>
            <a:r>
              <a:rPr lang="en-US" dirty="0">
                <a:solidFill>
                  <a:srgbClr val="002060"/>
                </a:solidFill>
              </a:rPr>
              <a:t/>
            </a:r>
            <a:br>
              <a:rPr lang="en-US" dirty="0">
                <a:solidFill>
                  <a:srgbClr val="002060"/>
                </a:solidFill>
              </a:rPr>
            </a:br>
            <a:r>
              <a:rPr lang="en-US" b="1" dirty="0" smtClean="0">
                <a:solidFill>
                  <a:srgbClr val="002060"/>
                </a:solidFill>
              </a:rPr>
              <a:t>Create Instance</a:t>
            </a:r>
            <a:endParaRPr lang="en-US" b="1" dirty="0">
              <a:solidFill>
                <a:srgbClr val="00206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17</a:t>
            </a:fld>
            <a:endParaRPr lang="en-US" dirty="0"/>
          </a:p>
        </p:txBody>
      </p:sp>
      <p:sp>
        <p:nvSpPr>
          <p:cNvPr id="5" name="Rectangle 4"/>
          <p:cNvSpPr/>
          <p:nvPr/>
        </p:nvSpPr>
        <p:spPr>
          <a:xfrm>
            <a:off x="133484" y="190619"/>
            <a:ext cx="6066430" cy="1477328"/>
          </a:xfrm>
          <a:prstGeom prst="rect">
            <a:avLst/>
          </a:prstGeom>
        </p:spPr>
        <p:txBody>
          <a:bodyPr wrap="square">
            <a:spAutoFit/>
          </a:bodyPr>
          <a:lstStyle/>
          <a:p>
            <a:pPr marL="285750" indent="-285750">
              <a:buFont typeface="Wingdings" panose="05000000000000000000" pitchFamily="2" charset="2"/>
              <a:buChar char="ü"/>
            </a:pPr>
            <a:r>
              <a:rPr lang="en-US" b="1" dirty="0" err="1">
                <a:solidFill>
                  <a:srgbClr val="002060"/>
                </a:solidFill>
              </a:rPr>
              <a:t>Openstack</a:t>
            </a:r>
            <a:r>
              <a:rPr lang="en-US" b="1" dirty="0">
                <a:solidFill>
                  <a:srgbClr val="002060"/>
                </a:solidFill>
              </a:rPr>
              <a:t>: Upload Image </a:t>
            </a:r>
            <a:r>
              <a:rPr lang="en-US" b="1" dirty="0" err="1">
                <a:solidFill>
                  <a:srgbClr val="002060"/>
                </a:solidFill>
              </a:rPr>
              <a:t>atau</a:t>
            </a:r>
            <a:r>
              <a:rPr lang="en-US" b="1" dirty="0">
                <a:solidFill>
                  <a:srgbClr val="002060"/>
                </a:solidFill>
              </a:rPr>
              <a:t> ISO</a:t>
            </a:r>
          </a:p>
          <a:p>
            <a:pPr marL="285750" indent="-285750">
              <a:buFont typeface="Wingdings" panose="05000000000000000000" pitchFamily="2" charset="2"/>
              <a:buChar char="ü"/>
            </a:pPr>
            <a:r>
              <a:rPr lang="en-US" dirty="0" err="1">
                <a:solidFill>
                  <a:schemeClr val="bg1">
                    <a:lumMod val="85000"/>
                  </a:schemeClr>
                </a:solidFill>
              </a:rPr>
              <a:t>Openstack</a:t>
            </a:r>
            <a:r>
              <a:rPr lang="en-US" dirty="0">
                <a:solidFill>
                  <a:schemeClr val="bg1">
                    <a:lumMod val="85000"/>
                  </a:schemeClr>
                </a:solidFill>
              </a:rPr>
              <a:t>: </a:t>
            </a:r>
            <a:r>
              <a:rPr lang="en-US" dirty="0" err="1">
                <a:solidFill>
                  <a:schemeClr val="bg1">
                    <a:lumMod val="85000"/>
                  </a:schemeClr>
                </a:solidFill>
              </a:rPr>
              <a:t>Membuat</a:t>
            </a:r>
            <a:r>
              <a:rPr lang="en-US" dirty="0">
                <a:solidFill>
                  <a:schemeClr val="bg1">
                    <a:lumMod val="85000"/>
                  </a:schemeClr>
                </a:solidFill>
              </a:rPr>
              <a:t> Network</a:t>
            </a:r>
          </a:p>
          <a:p>
            <a:pPr marL="285750" indent="-285750">
              <a:buFont typeface="Wingdings" panose="05000000000000000000" pitchFamily="2" charset="2"/>
              <a:buChar char="ü"/>
            </a:pPr>
            <a:r>
              <a:rPr lang="en-US" dirty="0" err="1">
                <a:solidFill>
                  <a:schemeClr val="bg1">
                    <a:lumMod val="85000"/>
                  </a:schemeClr>
                </a:solidFill>
              </a:rPr>
              <a:t>Openstack</a:t>
            </a:r>
            <a:r>
              <a:rPr lang="en-US" dirty="0">
                <a:solidFill>
                  <a:schemeClr val="bg1">
                    <a:lumMod val="85000"/>
                  </a:schemeClr>
                </a:solidFill>
              </a:rPr>
              <a:t>: </a:t>
            </a:r>
            <a:r>
              <a:rPr lang="en-US" dirty="0" err="1">
                <a:solidFill>
                  <a:schemeClr val="bg1">
                    <a:lumMod val="85000"/>
                  </a:schemeClr>
                </a:solidFill>
              </a:rPr>
              <a:t>Membuat</a:t>
            </a:r>
            <a:r>
              <a:rPr lang="en-US" dirty="0">
                <a:solidFill>
                  <a:schemeClr val="bg1">
                    <a:lumMod val="85000"/>
                  </a:schemeClr>
                </a:solidFill>
              </a:rPr>
              <a:t> Router</a:t>
            </a:r>
          </a:p>
          <a:p>
            <a:pPr marL="285750" indent="-285750">
              <a:buFont typeface="Wingdings" panose="05000000000000000000" pitchFamily="2" charset="2"/>
              <a:buChar char="ü"/>
            </a:pPr>
            <a:r>
              <a:rPr lang="en-US" dirty="0" err="1">
                <a:solidFill>
                  <a:schemeClr val="bg1">
                    <a:lumMod val="85000"/>
                  </a:schemeClr>
                </a:solidFill>
              </a:rPr>
              <a:t>Openstack</a:t>
            </a:r>
            <a:r>
              <a:rPr lang="en-US" dirty="0">
                <a:solidFill>
                  <a:schemeClr val="bg1">
                    <a:lumMod val="85000"/>
                  </a:schemeClr>
                </a:solidFill>
              </a:rPr>
              <a:t>: </a:t>
            </a:r>
            <a:r>
              <a:rPr lang="en-US" dirty="0" err="1">
                <a:solidFill>
                  <a:schemeClr val="bg1">
                    <a:lumMod val="85000"/>
                  </a:schemeClr>
                </a:solidFill>
              </a:rPr>
              <a:t>Menambahkan</a:t>
            </a:r>
            <a:r>
              <a:rPr lang="en-US" dirty="0">
                <a:solidFill>
                  <a:schemeClr val="bg1">
                    <a:lumMod val="85000"/>
                  </a:schemeClr>
                </a:solidFill>
              </a:rPr>
              <a:t> SSH Key</a:t>
            </a:r>
          </a:p>
          <a:p>
            <a:pPr marL="285750" indent="-285750">
              <a:buFont typeface="Wingdings" panose="05000000000000000000" pitchFamily="2" charset="2"/>
              <a:buChar char="ü"/>
            </a:pPr>
            <a:r>
              <a:rPr lang="en-US" dirty="0" err="1">
                <a:solidFill>
                  <a:schemeClr val="bg1">
                    <a:lumMod val="85000"/>
                  </a:schemeClr>
                </a:solidFill>
              </a:rPr>
              <a:t>Openstack</a:t>
            </a:r>
            <a:r>
              <a:rPr lang="en-US" dirty="0">
                <a:solidFill>
                  <a:schemeClr val="bg1">
                    <a:lumMod val="85000"/>
                  </a:schemeClr>
                </a:solidFill>
              </a:rPr>
              <a:t>: </a:t>
            </a:r>
            <a:r>
              <a:rPr lang="en-US" dirty="0" err="1">
                <a:solidFill>
                  <a:schemeClr val="bg1">
                    <a:lumMod val="85000"/>
                  </a:schemeClr>
                </a:solidFill>
              </a:rPr>
              <a:t>Menambah</a:t>
            </a:r>
            <a:r>
              <a:rPr lang="en-US" dirty="0">
                <a:solidFill>
                  <a:schemeClr val="bg1">
                    <a:lumMod val="85000"/>
                  </a:schemeClr>
                </a:solidFill>
              </a:rPr>
              <a:t> </a:t>
            </a:r>
            <a:r>
              <a:rPr lang="en-US" dirty="0" err="1">
                <a:solidFill>
                  <a:schemeClr val="bg1">
                    <a:lumMod val="85000"/>
                  </a:schemeClr>
                </a:solidFill>
              </a:rPr>
              <a:t>dan</a:t>
            </a:r>
            <a:r>
              <a:rPr lang="en-US" dirty="0">
                <a:solidFill>
                  <a:schemeClr val="bg1">
                    <a:lumMod val="85000"/>
                  </a:schemeClr>
                </a:solidFill>
              </a:rPr>
              <a:t> </a:t>
            </a:r>
            <a:r>
              <a:rPr lang="en-US" dirty="0" err="1">
                <a:solidFill>
                  <a:schemeClr val="bg1">
                    <a:lumMod val="85000"/>
                  </a:schemeClr>
                </a:solidFill>
              </a:rPr>
              <a:t>Menggunakan</a:t>
            </a:r>
            <a:r>
              <a:rPr lang="en-US" dirty="0">
                <a:solidFill>
                  <a:schemeClr val="bg1">
                    <a:lumMod val="85000"/>
                  </a:schemeClr>
                </a:solidFill>
              </a:rPr>
              <a:t> Security Group</a:t>
            </a:r>
          </a:p>
        </p:txBody>
      </p:sp>
    </p:spTree>
    <p:extLst>
      <p:ext uri="{BB962C8B-B14F-4D97-AF65-F5344CB8AC3E}">
        <p14:creationId xmlns:p14="http://schemas.microsoft.com/office/powerpoint/2010/main" val="13620259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18</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0" y="1011154"/>
            <a:ext cx="4284319" cy="646331"/>
          </a:xfrm>
          <a:prstGeom prst="rect">
            <a:avLst/>
          </a:prstGeom>
        </p:spPr>
        <p:txBody>
          <a:bodyPr wrap="square">
            <a:spAutoFit/>
          </a:bodyPr>
          <a:lstStyle/>
          <a:p>
            <a:pPr algn="just"/>
            <a:r>
              <a:rPr lang="en-US" sz="1200" dirty="0" smtClean="0"/>
              <a:t>Upload </a:t>
            </a:r>
            <a:r>
              <a:rPr lang="en-US" sz="1200" dirty="0"/>
              <a:t>image </a:t>
            </a:r>
            <a:r>
              <a:rPr lang="en-US" sz="1200" dirty="0" err="1"/>
              <a:t>atau</a:t>
            </a:r>
            <a:r>
              <a:rPr lang="en-US" sz="1200" dirty="0"/>
              <a:t> </a:t>
            </a:r>
            <a:r>
              <a:rPr lang="en-US" sz="1200" dirty="0" err="1"/>
              <a:t>iso</a:t>
            </a:r>
            <a:r>
              <a:rPr lang="en-US" sz="1200" dirty="0"/>
              <a:t> </a:t>
            </a:r>
            <a:r>
              <a:rPr lang="en-US" sz="1200" dirty="0" err="1"/>
              <a:t>menggunakan</a:t>
            </a:r>
            <a:r>
              <a:rPr lang="en-US" sz="1200" dirty="0"/>
              <a:t> </a:t>
            </a:r>
            <a:r>
              <a:rPr lang="en-US" sz="1200" dirty="0" err="1"/>
              <a:t>cirros</a:t>
            </a:r>
            <a:r>
              <a:rPr lang="en-US" sz="1200" dirty="0"/>
              <a:t>, </a:t>
            </a:r>
            <a:r>
              <a:rPr lang="en-US" sz="1200" dirty="0" err="1"/>
              <a:t>silakan</a:t>
            </a:r>
            <a:r>
              <a:rPr lang="en-US" sz="1200" dirty="0"/>
              <a:t> </a:t>
            </a:r>
            <a:endParaRPr lang="en-US" sz="1200" dirty="0" smtClean="0"/>
          </a:p>
          <a:p>
            <a:pPr algn="just"/>
            <a:r>
              <a:rPr lang="en-US" sz="1200" dirty="0" smtClean="0"/>
              <a:t>Login </a:t>
            </a:r>
            <a:r>
              <a:rPr lang="en-US" sz="1200" dirty="0"/>
              <a:t>Horizon &gt;&gt; </a:t>
            </a:r>
            <a:r>
              <a:rPr lang="en-US" sz="1200" dirty="0" smtClean="0"/>
              <a:t>Project </a:t>
            </a:r>
            <a:r>
              <a:rPr lang="en-US" sz="1200" dirty="0"/>
              <a:t>&gt;&gt; Compute &gt;&gt; </a:t>
            </a:r>
            <a:r>
              <a:rPr lang="en-US" sz="1200" dirty="0" smtClean="0"/>
              <a:t>Instances </a:t>
            </a:r>
            <a:r>
              <a:rPr lang="en-US" sz="1200" dirty="0"/>
              <a:t>&gt;&gt; </a:t>
            </a:r>
            <a:r>
              <a:rPr lang="en-US" sz="1200" dirty="0" smtClean="0"/>
              <a:t>Launch Instance</a:t>
            </a:r>
            <a:endParaRPr lang="en-US" sz="1200" dirty="0"/>
          </a:p>
        </p:txBody>
      </p:sp>
      <p:sp>
        <p:nvSpPr>
          <p:cNvPr id="9" name="Rectangle 8"/>
          <p:cNvSpPr/>
          <p:nvPr/>
        </p:nvSpPr>
        <p:spPr>
          <a:xfrm>
            <a:off x="4570922" y="555700"/>
            <a:ext cx="4139117" cy="276999"/>
          </a:xfrm>
          <a:prstGeom prst="rect">
            <a:avLst/>
          </a:prstGeom>
        </p:spPr>
        <p:txBody>
          <a:bodyPr wrap="square">
            <a:spAutoFit/>
          </a:bodyPr>
          <a:lstStyle/>
          <a:p>
            <a:pPr algn="just"/>
            <a:r>
              <a:rPr lang="en-US" sz="1200" dirty="0"/>
              <a:t>M</a:t>
            </a:r>
            <a:r>
              <a:rPr lang="en-US" sz="1200" dirty="0" smtClean="0"/>
              <a:t>enu</a:t>
            </a:r>
            <a:r>
              <a:rPr lang="en-US" sz="1200" dirty="0"/>
              <a:t> </a:t>
            </a:r>
            <a:r>
              <a:rPr lang="en-US" sz="1200" b="1" dirty="0"/>
              <a:t>Flavor</a:t>
            </a:r>
            <a:r>
              <a:rPr lang="en-US" sz="1200" dirty="0"/>
              <a:t> </a:t>
            </a:r>
            <a:r>
              <a:rPr lang="en-US" sz="1200" dirty="0" err="1"/>
              <a:t>silakan</a:t>
            </a:r>
            <a:r>
              <a:rPr lang="en-US" sz="1200" dirty="0"/>
              <a:t> </a:t>
            </a:r>
            <a:r>
              <a:rPr lang="en-US" sz="1200" dirty="0" err="1"/>
              <a:t>pilih</a:t>
            </a:r>
            <a:r>
              <a:rPr lang="en-US" sz="1200" dirty="0"/>
              <a:t> </a:t>
            </a:r>
            <a:r>
              <a:rPr lang="en-US" sz="1200" dirty="0" err="1"/>
              <a:t>spesifikasi</a:t>
            </a:r>
            <a:r>
              <a:rPr lang="en-US" sz="1200" dirty="0"/>
              <a:t> instance</a:t>
            </a:r>
          </a:p>
        </p:txBody>
      </p:sp>
      <p:sp>
        <p:nvSpPr>
          <p:cNvPr id="2" name="Rectangle 1"/>
          <p:cNvSpPr/>
          <p:nvPr/>
        </p:nvSpPr>
        <p:spPr>
          <a:xfrm>
            <a:off x="143301" y="512112"/>
            <a:ext cx="2325830" cy="646331"/>
          </a:xfrm>
          <a:prstGeom prst="rect">
            <a:avLst/>
          </a:prstGeom>
        </p:spPr>
        <p:txBody>
          <a:bodyPr wrap="none">
            <a:spAutoFit/>
          </a:bodyPr>
          <a:lstStyle/>
          <a:p>
            <a:r>
              <a:rPr lang="en-US" dirty="0">
                <a:solidFill>
                  <a:srgbClr val="002060"/>
                </a:solidFill>
              </a:rPr>
              <a:t>Upload Image </a:t>
            </a:r>
            <a:r>
              <a:rPr lang="en-US" dirty="0" err="1">
                <a:solidFill>
                  <a:srgbClr val="002060"/>
                </a:solidFill>
              </a:rPr>
              <a:t>atau</a:t>
            </a:r>
            <a:r>
              <a:rPr lang="en-US" dirty="0">
                <a:solidFill>
                  <a:srgbClr val="002060"/>
                </a:solidFill>
              </a:rPr>
              <a:t> ISO</a:t>
            </a:r>
          </a:p>
          <a:p>
            <a:r>
              <a:rPr lang="en-US" b="1" dirty="0">
                <a:solidFill>
                  <a:srgbClr val="002060"/>
                </a:solidFill>
              </a:rPr>
              <a:t>Create Instance</a:t>
            </a:r>
          </a:p>
        </p:txBody>
      </p:sp>
      <p:grpSp>
        <p:nvGrpSpPr>
          <p:cNvPr id="16" name="Group 15"/>
          <p:cNvGrpSpPr/>
          <p:nvPr/>
        </p:nvGrpSpPr>
        <p:grpSpPr>
          <a:xfrm>
            <a:off x="267205" y="1657485"/>
            <a:ext cx="4160414" cy="1460183"/>
            <a:chOff x="267206" y="1371953"/>
            <a:chExt cx="4160414" cy="1071938"/>
          </a:xfrm>
        </p:grpSpPr>
        <p:pic>
          <p:nvPicPr>
            <p:cNvPr id="3" name="Picture 2"/>
            <p:cNvPicPr>
              <a:picLocks noChangeAspect="1"/>
            </p:cNvPicPr>
            <p:nvPr/>
          </p:nvPicPr>
          <p:blipFill>
            <a:blip r:embed="rId3"/>
            <a:stretch>
              <a:fillRect/>
            </a:stretch>
          </p:blipFill>
          <p:spPr>
            <a:xfrm>
              <a:off x="267206" y="1371953"/>
              <a:ext cx="4160414" cy="1071938"/>
            </a:xfrm>
            <a:prstGeom prst="rect">
              <a:avLst/>
            </a:prstGeom>
          </p:spPr>
        </p:pic>
        <p:sp>
          <p:nvSpPr>
            <p:cNvPr id="15" name="Rectangle 14"/>
            <p:cNvSpPr/>
            <p:nvPr/>
          </p:nvSpPr>
          <p:spPr>
            <a:xfrm>
              <a:off x="1046743" y="1413891"/>
              <a:ext cx="1950633" cy="184666"/>
            </a:xfrm>
            <a:prstGeom prst="rect">
              <a:avLst/>
            </a:prstGeom>
          </p:spPr>
          <p:txBody>
            <a:bodyPr wrap="square">
              <a:spAutoFit/>
            </a:bodyPr>
            <a:lstStyle/>
            <a:p>
              <a:pPr algn="just"/>
              <a:r>
                <a:rPr lang="en-US" sz="600" dirty="0" smtClean="0">
                  <a:solidFill>
                    <a:schemeClr val="bg1">
                      <a:lumMod val="65000"/>
                    </a:schemeClr>
                  </a:solidFill>
                </a:rPr>
                <a:t>Openstack.panda.id/dashboard/project/instances</a:t>
              </a:r>
              <a:endParaRPr lang="en-US" sz="600" dirty="0">
                <a:solidFill>
                  <a:schemeClr val="bg1">
                    <a:lumMod val="65000"/>
                  </a:schemeClr>
                </a:solidFill>
              </a:endParaRPr>
            </a:p>
          </p:txBody>
        </p:sp>
      </p:grpSp>
      <p:pic>
        <p:nvPicPr>
          <p:cNvPr id="17" name="Picture 16"/>
          <p:cNvPicPr>
            <a:picLocks noChangeAspect="1"/>
          </p:cNvPicPr>
          <p:nvPr/>
        </p:nvPicPr>
        <p:blipFill>
          <a:blip r:embed="rId4"/>
          <a:stretch>
            <a:fillRect/>
          </a:stretch>
        </p:blipFill>
        <p:spPr>
          <a:xfrm>
            <a:off x="267205" y="3341982"/>
            <a:ext cx="4079277" cy="1801518"/>
          </a:xfrm>
          <a:prstGeom prst="rect">
            <a:avLst/>
          </a:prstGeom>
        </p:spPr>
      </p:pic>
      <p:sp>
        <p:nvSpPr>
          <p:cNvPr id="18" name="Rectangle 17"/>
          <p:cNvSpPr/>
          <p:nvPr/>
        </p:nvSpPr>
        <p:spPr>
          <a:xfrm>
            <a:off x="205252" y="2970379"/>
            <a:ext cx="4284319" cy="646331"/>
          </a:xfrm>
          <a:prstGeom prst="rect">
            <a:avLst/>
          </a:prstGeom>
        </p:spPr>
        <p:txBody>
          <a:bodyPr wrap="square">
            <a:spAutoFit/>
          </a:bodyPr>
          <a:lstStyle/>
          <a:p>
            <a:pPr algn="just"/>
            <a:r>
              <a:rPr lang="en-US" sz="1200" dirty="0" err="1"/>
              <a:t>Pada</a:t>
            </a:r>
            <a:r>
              <a:rPr lang="en-US" sz="1200" dirty="0"/>
              <a:t> menu Source </a:t>
            </a:r>
            <a:r>
              <a:rPr lang="en-US" sz="1200" dirty="0" err="1"/>
              <a:t>silakan</a:t>
            </a:r>
            <a:r>
              <a:rPr lang="en-US" sz="1200" dirty="0"/>
              <a:t> </a:t>
            </a:r>
            <a:r>
              <a:rPr lang="en-US" sz="1200" dirty="0" err="1"/>
              <a:t>pilih</a:t>
            </a:r>
            <a:r>
              <a:rPr lang="en-US" sz="1200" dirty="0"/>
              <a:t> OS </a:t>
            </a:r>
            <a:r>
              <a:rPr lang="en-US" sz="1200" dirty="0" err="1"/>
              <a:t>atau</a:t>
            </a:r>
            <a:r>
              <a:rPr lang="en-US" sz="1200" dirty="0"/>
              <a:t> image yang </a:t>
            </a:r>
            <a:r>
              <a:rPr lang="en-US" sz="1200" dirty="0" err="1"/>
              <a:t>ingin</a:t>
            </a:r>
            <a:r>
              <a:rPr lang="en-US" sz="1200" dirty="0"/>
              <a:t> </a:t>
            </a:r>
            <a:r>
              <a:rPr lang="en-US" sz="1200" dirty="0" err="1"/>
              <a:t>Anda</a:t>
            </a:r>
            <a:r>
              <a:rPr lang="en-US" sz="1200" dirty="0"/>
              <a:t> </a:t>
            </a:r>
            <a:r>
              <a:rPr lang="en-US" sz="1200" dirty="0" err="1"/>
              <a:t>gunakan</a:t>
            </a:r>
            <a:r>
              <a:rPr lang="en-US" sz="1200" dirty="0"/>
              <a:t>, </a:t>
            </a:r>
            <a:r>
              <a:rPr lang="en-US" sz="1200" dirty="0" err="1"/>
              <a:t>disini</a:t>
            </a:r>
            <a:r>
              <a:rPr lang="en-US" sz="1200" dirty="0"/>
              <a:t> kami </a:t>
            </a:r>
            <a:r>
              <a:rPr lang="en-US" sz="1200" dirty="0" err="1"/>
              <a:t>contohkan</a:t>
            </a:r>
            <a:r>
              <a:rPr lang="en-US" sz="1200" dirty="0"/>
              <a:t> OS yang kami </a:t>
            </a:r>
            <a:r>
              <a:rPr lang="en-US" sz="1200" dirty="0" err="1"/>
              <a:t>gunakan</a:t>
            </a:r>
            <a:r>
              <a:rPr lang="en-US" sz="1200" dirty="0"/>
              <a:t> </a:t>
            </a:r>
            <a:r>
              <a:rPr lang="en-US" sz="1200" dirty="0" err="1"/>
              <a:t>yaitu</a:t>
            </a:r>
            <a:r>
              <a:rPr lang="en-US" sz="1200" dirty="0"/>
              <a:t> </a:t>
            </a:r>
            <a:r>
              <a:rPr lang="en-US" sz="1200" dirty="0" err="1"/>
              <a:t>Cirros</a:t>
            </a:r>
            <a:endParaRPr lang="en-US" sz="1200" dirty="0"/>
          </a:p>
          <a:p>
            <a:pPr algn="just"/>
            <a:endParaRPr lang="en-US" sz="1200" dirty="0"/>
          </a:p>
        </p:txBody>
      </p:sp>
      <p:pic>
        <p:nvPicPr>
          <p:cNvPr id="19" name="Picture 18"/>
          <p:cNvPicPr>
            <a:picLocks noChangeAspect="1"/>
          </p:cNvPicPr>
          <p:nvPr/>
        </p:nvPicPr>
        <p:blipFill>
          <a:blip r:embed="rId5"/>
          <a:stretch>
            <a:fillRect/>
          </a:stretch>
        </p:blipFill>
        <p:spPr>
          <a:xfrm>
            <a:off x="4570921" y="832699"/>
            <a:ext cx="4442449" cy="2067255"/>
          </a:xfrm>
          <a:prstGeom prst="rect">
            <a:avLst/>
          </a:prstGeom>
        </p:spPr>
      </p:pic>
      <p:sp>
        <p:nvSpPr>
          <p:cNvPr id="20" name="Rectangle 19"/>
          <p:cNvSpPr/>
          <p:nvPr/>
        </p:nvSpPr>
        <p:spPr>
          <a:xfrm>
            <a:off x="4722586" y="2970379"/>
            <a:ext cx="4139117" cy="461665"/>
          </a:xfrm>
          <a:prstGeom prst="rect">
            <a:avLst/>
          </a:prstGeom>
        </p:spPr>
        <p:txBody>
          <a:bodyPr wrap="square">
            <a:spAutoFit/>
          </a:bodyPr>
          <a:lstStyle/>
          <a:p>
            <a:pPr algn="just"/>
            <a:r>
              <a:rPr lang="en-US" sz="1200" dirty="0" smtClean="0"/>
              <a:t>Menu</a:t>
            </a:r>
            <a:r>
              <a:rPr lang="en-US" sz="1200" dirty="0"/>
              <a:t> </a:t>
            </a:r>
            <a:r>
              <a:rPr lang="en-US" sz="1200" b="1" dirty="0"/>
              <a:t>Networks</a:t>
            </a:r>
            <a:r>
              <a:rPr lang="en-US" sz="1200" dirty="0"/>
              <a:t> </a:t>
            </a:r>
            <a:r>
              <a:rPr lang="en-US" sz="1200" dirty="0" err="1"/>
              <a:t>silakan</a:t>
            </a:r>
            <a:r>
              <a:rPr lang="en-US" sz="1200" dirty="0"/>
              <a:t> </a:t>
            </a:r>
            <a:r>
              <a:rPr lang="en-US" sz="1200" dirty="0" err="1"/>
              <a:t>pilih</a:t>
            </a:r>
            <a:r>
              <a:rPr lang="en-US" sz="1200" dirty="0"/>
              <a:t> network internal yang </a:t>
            </a:r>
            <a:r>
              <a:rPr lang="en-US" sz="1200" dirty="0" err="1"/>
              <a:t>telah</a:t>
            </a:r>
            <a:r>
              <a:rPr lang="en-US" sz="1200" dirty="0"/>
              <a:t> </a:t>
            </a:r>
            <a:r>
              <a:rPr lang="en-US" sz="1200" dirty="0" err="1"/>
              <a:t>dibuat</a:t>
            </a:r>
            <a:r>
              <a:rPr lang="en-US" sz="1200" dirty="0"/>
              <a:t> </a:t>
            </a:r>
            <a:r>
              <a:rPr lang="en-US" sz="1200" dirty="0" err="1"/>
              <a:t>sebelumnya</a:t>
            </a:r>
            <a:r>
              <a:rPr lang="en-US" sz="1200" dirty="0"/>
              <a:t>.</a:t>
            </a:r>
          </a:p>
        </p:txBody>
      </p:sp>
      <p:pic>
        <p:nvPicPr>
          <p:cNvPr id="21" name="Picture 20"/>
          <p:cNvPicPr>
            <a:picLocks noChangeAspect="1"/>
          </p:cNvPicPr>
          <p:nvPr/>
        </p:nvPicPr>
        <p:blipFill>
          <a:blip r:embed="rId6"/>
          <a:stretch>
            <a:fillRect/>
          </a:stretch>
        </p:blipFill>
        <p:spPr>
          <a:xfrm>
            <a:off x="4579497" y="3432044"/>
            <a:ext cx="4433873" cy="1514425"/>
          </a:xfrm>
          <a:prstGeom prst="rect">
            <a:avLst/>
          </a:prstGeom>
        </p:spPr>
      </p:pic>
    </p:spTree>
    <p:extLst>
      <p:ext uri="{BB962C8B-B14F-4D97-AF65-F5344CB8AC3E}">
        <p14:creationId xmlns:p14="http://schemas.microsoft.com/office/powerpoint/2010/main" val="344492392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19</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0" y="1011154"/>
            <a:ext cx="4284319" cy="461665"/>
          </a:xfrm>
          <a:prstGeom prst="rect">
            <a:avLst/>
          </a:prstGeom>
        </p:spPr>
        <p:txBody>
          <a:bodyPr wrap="square">
            <a:spAutoFit/>
          </a:bodyPr>
          <a:lstStyle/>
          <a:p>
            <a:pPr algn="just"/>
            <a:r>
              <a:rPr lang="en-US" sz="1200" dirty="0" smtClean="0"/>
              <a:t>Menu </a:t>
            </a:r>
            <a:r>
              <a:rPr lang="en-US" sz="1200" dirty="0"/>
              <a:t>Security Groups , </a:t>
            </a:r>
            <a:r>
              <a:rPr lang="en-US" sz="1200" dirty="0" err="1"/>
              <a:t>silakan</a:t>
            </a:r>
            <a:r>
              <a:rPr lang="en-US" sz="1200" dirty="0"/>
              <a:t> </a:t>
            </a:r>
            <a:r>
              <a:rPr lang="en-US" sz="1200" dirty="0" err="1"/>
              <a:t>pilih</a:t>
            </a:r>
            <a:r>
              <a:rPr lang="en-US" sz="1200" dirty="0"/>
              <a:t> Security Groups yang </a:t>
            </a:r>
            <a:r>
              <a:rPr lang="en-US" sz="1200" dirty="0" err="1"/>
              <a:t>telah</a:t>
            </a:r>
            <a:r>
              <a:rPr lang="en-US" sz="1200" dirty="0"/>
              <a:t> </a:t>
            </a:r>
            <a:r>
              <a:rPr lang="en-US" sz="1200" dirty="0" err="1"/>
              <a:t>dibuat</a:t>
            </a:r>
            <a:r>
              <a:rPr lang="en-US" sz="1200" dirty="0"/>
              <a:t> </a:t>
            </a:r>
            <a:r>
              <a:rPr lang="en-US" sz="1200" dirty="0" err="1"/>
              <a:t>sebelumnya</a:t>
            </a:r>
            <a:r>
              <a:rPr lang="en-US" sz="1200" dirty="0"/>
              <a:t>.</a:t>
            </a:r>
          </a:p>
        </p:txBody>
      </p:sp>
      <p:sp>
        <p:nvSpPr>
          <p:cNvPr id="9" name="Rectangle 8"/>
          <p:cNvSpPr/>
          <p:nvPr/>
        </p:nvSpPr>
        <p:spPr>
          <a:xfrm>
            <a:off x="4570922" y="555700"/>
            <a:ext cx="4139117" cy="461665"/>
          </a:xfrm>
          <a:prstGeom prst="rect">
            <a:avLst/>
          </a:prstGeom>
        </p:spPr>
        <p:txBody>
          <a:bodyPr wrap="square">
            <a:spAutoFit/>
          </a:bodyPr>
          <a:lstStyle/>
          <a:p>
            <a:pPr algn="just"/>
            <a:r>
              <a:rPr lang="en-US" sz="1200" dirty="0" err="1" smtClean="0"/>
              <a:t>J</a:t>
            </a:r>
            <a:r>
              <a:rPr lang="en-US" sz="1200" dirty="0" err="1"/>
              <a:t>ika</a:t>
            </a:r>
            <a:r>
              <a:rPr lang="en-US" sz="1200" dirty="0"/>
              <a:t> </a:t>
            </a:r>
            <a:r>
              <a:rPr lang="en-US" sz="1200" dirty="0" err="1"/>
              <a:t>sudah</a:t>
            </a:r>
            <a:r>
              <a:rPr lang="en-US" sz="1200" dirty="0"/>
              <a:t> </a:t>
            </a:r>
            <a:r>
              <a:rPr lang="en-US" sz="1200" dirty="0" err="1"/>
              <a:t>silakan</a:t>
            </a:r>
            <a:r>
              <a:rPr lang="en-US" sz="1200" dirty="0"/>
              <a:t>, create </a:t>
            </a:r>
            <a:r>
              <a:rPr lang="en-US" sz="1200" b="1" dirty="0"/>
              <a:t>Launch Instance</a:t>
            </a:r>
            <a:r>
              <a:rPr lang="en-US" sz="1200" dirty="0"/>
              <a:t> </a:t>
            </a:r>
            <a:r>
              <a:rPr lang="en-US" sz="1200" dirty="0" err="1"/>
              <a:t>silakan</a:t>
            </a:r>
            <a:r>
              <a:rPr lang="en-US" sz="1200" dirty="0"/>
              <a:t> </a:t>
            </a:r>
            <a:r>
              <a:rPr lang="en-US" sz="1200" dirty="0" err="1"/>
              <a:t>tunggu</a:t>
            </a:r>
            <a:r>
              <a:rPr lang="en-US" sz="1200" dirty="0"/>
              <a:t> proses </a:t>
            </a:r>
            <a:r>
              <a:rPr lang="en-US" sz="1200" dirty="0" err="1"/>
              <a:t>pembuatan</a:t>
            </a:r>
            <a:r>
              <a:rPr lang="en-US" sz="1200" dirty="0"/>
              <a:t> Instance </a:t>
            </a:r>
            <a:r>
              <a:rPr lang="en-US" sz="1200" dirty="0" err="1"/>
              <a:t>selesai</a:t>
            </a:r>
            <a:endParaRPr lang="en-US" sz="1200" dirty="0"/>
          </a:p>
        </p:txBody>
      </p:sp>
      <p:sp>
        <p:nvSpPr>
          <p:cNvPr id="2" name="Rectangle 1"/>
          <p:cNvSpPr/>
          <p:nvPr/>
        </p:nvSpPr>
        <p:spPr>
          <a:xfrm>
            <a:off x="143301" y="512112"/>
            <a:ext cx="2325830" cy="646331"/>
          </a:xfrm>
          <a:prstGeom prst="rect">
            <a:avLst/>
          </a:prstGeom>
        </p:spPr>
        <p:txBody>
          <a:bodyPr wrap="none">
            <a:spAutoFit/>
          </a:bodyPr>
          <a:lstStyle/>
          <a:p>
            <a:r>
              <a:rPr lang="en-US" dirty="0">
                <a:solidFill>
                  <a:srgbClr val="002060"/>
                </a:solidFill>
              </a:rPr>
              <a:t>Upload Image </a:t>
            </a:r>
            <a:r>
              <a:rPr lang="en-US" dirty="0" err="1">
                <a:solidFill>
                  <a:srgbClr val="002060"/>
                </a:solidFill>
              </a:rPr>
              <a:t>atau</a:t>
            </a:r>
            <a:r>
              <a:rPr lang="en-US" dirty="0">
                <a:solidFill>
                  <a:srgbClr val="002060"/>
                </a:solidFill>
              </a:rPr>
              <a:t> ISO</a:t>
            </a:r>
          </a:p>
          <a:p>
            <a:r>
              <a:rPr lang="en-US" b="1" dirty="0">
                <a:solidFill>
                  <a:srgbClr val="002060"/>
                </a:solidFill>
              </a:rPr>
              <a:t>Create Instance</a:t>
            </a:r>
          </a:p>
        </p:txBody>
      </p:sp>
      <p:sp>
        <p:nvSpPr>
          <p:cNvPr id="18" name="Rectangle 17"/>
          <p:cNvSpPr/>
          <p:nvPr/>
        </p:nvSpPr>
        <p:spPr>
          <a:xfrm>
            <a:off x="205252" y="2970379"/>
            <a:ext cx="4284319" cy="461665"/>
          </a:xfrm>
          <a:prstGeom prst="rect">
            <a:avLst/>
          </a:prstGeom>
        </p:spPr>
        <p:txBody>
          <a:bodyPr wrap="square">
            <a:spAutoFit/>
          </a:bodyPr>
          <a:lstStyle/>
          <a:p>
            <a:r>
              <a:rPr lang="en-US" sz="1200" dirty="0" smtClean="0"/>
              <a:t>Menu</a:t>
            </a:r>
            <a:r>
              <a:rPr lang="en-US" sz="1200" dirty="0"/>
              <a:t> </a:t>
            </a:r>
            <a:r>
              <a:rPr lang="en-US" sz="1200" b="1" dirty="0"/>
              <a:t>Key Pair</a:t>
            </a:r>
            <a:r>
              <a:rPr lang="en-US" sz="1200" dirty="0"/>
              <a:t> </a:t>
            </a:r>
            <a:r>
              <a:rPr lang="en-US" sz="1200" dirty="0" err="1"/>
              <a:t>silakan</a:t>
            </a:r>
            <a:r>
              <a:rPr lang="en-US" sz="1200" dirty="0"/>
              <a:t> </a:t>
            </a:r>
            <a:r>
              <a:rPr lang="en-US" sz="1200" dirty="0" err="1"/>
              <a:t>pilih</a:t>
            </a:r>
            <a:r>
              <a:rPr lang="en-US" sz="1200" dirty="0"/>
              <a:t> key pair yang </a:t>
            </a:r>
            <a:r>
              <a:rPr lang="en-US" sz="1200" dirty="0" err="1"/>
              <a:t>telah</a:t>
            </a:r>
            <a:r>
              <a:rPr lang="en-US" sz="1200" dirty="0"/>
              <a:t> di </a:t>
            </a:r>
            <a:r>
              <a:rPr lang="en-US" sz="1200" dirty="0" err="1"/>
              <a:t>buat</a:t>
            </a:r>
            <a:r>
              <a:rPr lang="en-US" sz="1200" dirty="0"/>
              <a:t> </a:t>
            </a:r>
            <a:r>
              <a:rPr lang="en-US" sz="1200" dirty="0" err="1"/>
              <a:t>juga</a:t>
            </a:r>
            <a:r>
              <a:rPr lang="en-US" sz="1200" dirty="0"/>
              <a:t> </a:t>
            </a:r>
            <a:r>
              <a:rPr lang="en-US" sz="1200" dirty="0" err="1" smtClean="0"/>
              <a:t>sebelumnya</a:t>
            </a:r>
            <a:endParaRPr lang="en-US" sz="1200" dirty="0"/>
          </a:p>
        </p:txBody>
      </p:sp>
      <p:sp>
        <p:nvSpPr>
          <p:cNvPr id="20" name="Rectangle 19"/>
          <p:cNvSpPr/>
          <p:nvPr/>
        </p:nvSpPr>
        <p:spPr>
          <a:xfrm>
            <a:off x="4683154" y="2805454"/>
            <a:ext cx="4139117" cy="646331"/>
          </a:xfrm>
          <a:prstGeom prst="rect">
            <a:avLst/>
          </a:prstGeom>
        </p:spPr>
        <p:txBody>
          <a:bodyPr wrap="square">
            <a:spAutoFit/>
          </a:bodyPr>
          <a:lstStyle/>
          <a:p>
            <a:pPr algn="just"/>
            <a:r>
              <a:rPr lang="en-US" sz="1200" dirty="0" err="1"/>
              <a:t>Saat</a:t>
            </a:r>
            <a:r>
              <a:rPr lang="en-US" sz="1200" dirty="0"/>
              <a:t> </a:t>
            </a:r>
            <a:r>
              <a:rPr lang="en-US" sz="1200" dirty="0" err="1"/>
              <a:t>ini</a:t>
            </a:r>
            <a:r>
              <a:rPr lang="en-US" sz="1200" dirty="0"/>
              <a:t> instance </a:t>
            </a:r>
            <a:r>
              <a:rPr lang="en-US" sz="1200" dirty="0" err="1"/>
              <a:t>sudah</a:t>
            </a:r>
            <a:r>
              <a:rPr lang="en-US" sz="1200" dirty="0"/>
              <a:t> </a:t>
            </a:r>
            <a:r>
              <a:rPr lang="en-US" sz="1200" dirty="0" err="1"/>
              <a:t>mendapatkan</a:t>
            </a:r>
            <a:r>
              <a:rPr lang="en-US" sz="1200" dirty="0"/>
              <a:t> IP internal </a:t>
            </a:r>
            <a:r>
              <a:rPr lang="en-US" sz="1200" dirty="0" err="1"/>
              <a:t>secara</a:t>
            </a:r>
            <a:r>
              <a:rPr lang="en-US" sz="1200" dirty="0"/>
              <a:t> </a:t>
            </a:r>
            <a:r>
              <a:rPr lang="en-US" sz="1200" dirty="0" err="1"/>
              <a:t>otomatis</a:t>
            </a:r>
            <a:r>
              <a:rPr lang="en-US" sz="1200" dirty="0"/>
              <a:t>, </a:t>
            </a:r>
            <a:r>
              <a:rPr lang="en-US" sz="1200" dirty="0" err="1"/>
              <a:t>supaya</a:t>
            </a:r>
            <a:r>
              <a:rPr lang="en-US" sz="1200" dirty="0"/>
              <a:t> </a:t>
            </a:r>
            <a:r>
              <a:rPr lang="en-US" sz="1200" dirty="0" err="1"/>
              <a:t>dapat</a:t>
            </a:r>
            <a:r>
              <a:rPr lang="en-US" sz="1200" dirty="0"/>
              <a:t> </a:t>
            </a:r>
            <a:r>
              <a:rPr lang="en-US" sz="1200" dirty="0" err="1"/>
              <a:t>diakses</a:t>
            </a:r>
            <a:r>
              <a:rPr lang="en-US" sz="1200" dirty="0"/>
              <a:t> </a:t>
            </a:r>
            <a:r>
              <a:rPr lang="en-US" sz="1200" dirty="0" err="1"/>
              <a:t>dari</a:t>
            </a:r>
            <a:r>
              <a:rPr lang="en-US" sz="1200" dirty="0"/>
              <a:t> public </a:t>
            </a:r>
            <a:r>
              <a:rPr lang="en-US" sz="1200" dirty="0" err="1"/>
              <a:t>silakan</a:t>
            </a:r>
            <a:r>
              <a:rPr lang="en-US" sz="1200" dirty="0"/>
              <a:t> </a:t>
            </a:r>
            <a:r>
              <a:rPr lang="en-US" sz="1200" dirty="0" err="1"/>
              <a:t>membuat</a:t>
            </a:r>
            <a:r>
              <a:rPr lang="en-US" sz="1200" dirty="0"/>
              <a:t> floating IP </a:t>
            </a:r>
            <a:r>
              <a:rPr lang="en-US" sz="1200" dirty="0" err="1"/>
              <a:t>pada</a:t>
            </a:r>
            <a:r>
              <a:rPr lang="en-US" sz="1200" dirty="0"/>
              <a:t> instance </a:t>
            </a:r>
            <a:r>
              <a:rPr lang="en-US" sz="1200" dirty="0" err="1"/>
              <a:t>silakan</a:t>
            </a:r>
            <a:r>
              <a:rPr lang="en-US" sz="1200" dirty="0"/>
              <a:t> </a:t>
            </a:r>
            <a:r>
              <a:rPr lang="en-US" sz="1200" dirty="0" err="1"/>
              <a:t>klik</a:t>
            </a:r>
            <a:r>
              <a:rPr lang="en-US" sz="1200" dirty="0"/>
              <a:t> menu Associate Floating IP</a:t>
            </a:r>
          </a:p>
        </p:txBody>
      </p:sp>
      <p:pic>
        <p:nvPicPr>
          <p:cNvPr id="7" name="Picture 6"/>
          <p:cNvPicPr>
            <a:picLocks noChangeAspect="1"/>
          </p:cNvPicPr>
          <p:nvPr/>
        </p:nvPicPr>
        <p:blipFill>
          <a:blip r:embed="rId3"/>
          <a:stretch>
            <a:fillRect/>
          </a:stretch>
        </p:blipFill>
        <p:spPr>
          <a:xfrm>
            <a:off x="336883" y="1441636"/>
            <a:ext cx="4090736" cy="1528744"/>
          </a:xfrm>
          <a:prstGeom prst="rect">
            <a:avLst/>
          </a:prstGeom>
        </p:spPr>
      </p:pic>
      <p:pic>
        <p:nvPicPr>
          <p:cNvPr id="8" name="Picture 7"/>
          <p:cNvPicPr>
            <a:picLocks noChangeAspect="1"/>
          </p:cNvPicPr>
          <p:nvPr/>
        </p:nvPicPr>
        <p:blipFill>
          <a:blip r:embed="rId4"/>
          <a:stretch>
            <a:fillRect/>
          </a:stretch>
        </p:blipFill>
        <p:spPr>
          <a:xfrm>
            <a:off x="336883" y="3400862"/>
            <a:ext cx="4090736" cy="1528742"/>
          </a:xfrm>
          <a:prstGeom prst="rect">
            <a:avLst/>
          </a:prstGeom>
        </p:spPr>
      </p:pic>
      <p:grpSp>
        <p:nvGrpSpPr>
          <p:cNvPr id="14" name="Group 13"/>
          <p:cNvGrpSpPr/>
          <p:nvPr/>
        </p:nvGrpSpPr>
        <p:grpSpPr>
          <a:xfrm>
            <a:off x="4698013" y="1017365"/>
            <a:ext cx="4163690" cy="1785993"/>
            <a:chOff x="4698013" y="1017365"/>
            <a:chExt cx="4163690" cy="1785993"/>
          </a:xfrm>
        </p:grpSpPr>
        <p:pic>
          <p:nvPicPr>
            <p:cNvPr id="10" name="Picture 9"/>
            <p:cNvPicPr>
              <a:picLocks noChangeAspect="1"/>
            </p:cNvPicPr>
            <p:nvPr/>
          </p:nvPicPr>
          <p:blipFill>
            <a:blip r:embed="rId5"/>
            <a:stretch>
              <a:fillRect/>
            </a:stretch>
          </p:blipFill>
          <p:spPr>
            <a:xfrm>
              <a:off x="4698013" y="1017365"/>
              <a:ext cx="4163690" cy="1785993"/>
            </a:xfrm>
            <a:prstGeom prst="rect">
              <a:avLst/>
            </a:prstGeom>
          </p:spPr>
        </p:pic>
        <p:sp>
          <p:nvSpPr>
            <p:cNvPr id="15" name="Rectangle 14"/>
            <p:cNvSpPr/>
            <p:nvPr/>
          </p:nvSpPr>
          <p:spPr>
            <a:xfrm>
              <a:off x="5482633" y="1096151"/>
              <a:ext cx="1950633" cy="251550"/>
            </a:xfrm>
            <a:prstGeom prst="rect">
              <a:avLst/>
            </a:prstGeom>
          </p:spPr>
          <p:txBody>
            <a:bodyPr wrap="square">
              <a:spAutoFit/>
            </a:bodyPr>
            <a:lstStyle/>
            <a:p>
              <a:pPr algn="just"/>
              <a:r>
                <a:rPr lang="en-US" sz="600" dirty="0" smtClean="0">
                  <a:solidFill>
                    <a:schemeClr val="bg1">
                      <a:lumMod val="65000"/>
                    </a:schemeClr>
                  </a:solidFill>
                </a:rPr>
                <a:t>Openstack.panda.id/dashboard/project/instances</a:t>
              </a:r>
              <a:endParaRPr lang="en-US" sz="600" dirty="0">
                <a:solidFill>
                  <a:schemeClr val="bg1">
                    <a:lumMod val="65000"/>
                  </a:schemeClr>
                </a:solidFill>
              </a:endParaRPr>
            </a:p>
          </p:txBody>
        </p:sp>
      </p:grpSp>
      <p:grpSp>
        <p:nvGrpSpPr>
          <p:cNvPr id="13" name="Group 12"/>
          <p:cNvGrpSpPr/>
          <p:nvPr/>
        </p:nvGrpSpPr>
        <p:grpSpPr>
          <a:xfrm>
            <a:off x="4829262" y="3451635"/>
            <a:ext cx="3993009" cy="1427196"/>
            <a:chOff x="4829262" y="3451635"/>
            <a:chExt cx="3993009" cy="1427196"/>
          </a:xfrm>
        </p:grpSpPr>
        <p:pic>
          <p:nvPicPr>
            <p:cNvPr id="12" name="Picture 11"/>
            <p:cNvPicPr>
              <a:picLocks noChangeAspect="1"/>
            </p:cNvPicPr>
            <p:nvPr/>
          </p:nvPicPr>
          <p:blipFill>
            <a:blip r:embed="rId6"/>
            <a:stretch>
              <a:fillRect/>
            </a:stretch>
          </p:blipFill>
          <p:spPr>
            <a:xfrm>
              <a:off x="4829262" y="3451635"/>
              <a:ext cx="3993009" cy="1427196"/>
            </a:xfrm>
            <a:prstGeom prst="rect">
              <a:avLst/>
            </a:prstGeom>
          </p:spPr>
        </p:pic>
        <p:sp>
          <p:nvSpPr>
            <p:cNvPr id="22" name="Rectangle 21"/>
            <p:cNvSpPr/>
            <p:nvPr/>
          </p:nvSpPr>
          <p:spPr>
            <a:xfrm>
              <a:off x="5584049" y="3481947"/>
              <a:ext cx="1950633" cy="251550"/>
            </a:xfrm>
            <a:prstGeom prst="rect">
              <a:avLst/>
            </a:prstGeom>
          </p:spPr>
          <p:txBody>
            <a:bodyPr wrap="square">
              <a:spAutoFit/>
            </a:bodyPr>
            <a:lstStyle/>
            <a:p>
              <a:pPr algn="just"/>
              <a:r>
                <a:rPr lang="en-US" sz="600" dirty="0" smtClean="0">
                  <a:solidFill>
                    <a:schemeClr val="bg1">
                      <a:lumMod val="65000"/>
                    </a:schemeClr>
                  </a:solidFill>
                </a:rPr>
                <a:t>Openstack.panda.id/dashboard/project/instances</a:t>
              </a:r>
              <a:endParaRPr lang="en-US" sz="600" dirty="0">
                <a:solidFill>
                  <a:schemeClr val="bg1">
                    <a:lumMod val="65000"/>
                  </a:schemeClr>
                </a:solidFill>
              </a:endParaRPr>
            </a:p>
          </p:txBody>
        </p:sp>
      </p:grpSp>
      <p:sp>
        <p:nvSpPr>
          <p:cNvPr id="23" name="Rectangle 22"/>
          <p:cNvSpPr/>
          <p:nvPr/>
        </p:nvSpPr>
        <p:spPr>
          <a:xfrm>
            <a:off x="4784920" y="4767263"/>
            <a:ext cx="1271387" cy="307777"/>
          </a:xfrm>
          <a:prstGeom prst="rect">
            <a:avLst/>
          </a:prstGeom>
        </p:spPr>
        <p:txBody>
          <a:bodyPr wrap="square">
            <a:spAutoFit/>
          </a:bodyPr>
          <a:lstStyle/>
          <a:p>
            <a:r>
              <a:rPr lang="en-US" sz="1400" dirty="0" err="1"/>
              <a:t>Klik</a:t>
            </a:r>
            <a:r>
              <a:rPr lang="en-US" sz="1400" dirty="0"/>
              <a:t> </a:t>
            </a:r>
            <a:r>
              <a:rPr lang="en-US" sz="1400" dirty="0" err="1"/>
              <a:t>tanda</a:t>
            </a:r>
            <a:r>
              <a:rPr lang="en-US" sz="1400" dirty="0"/>
              <a:t> </a:t>
            </a:r>
            <a:r>
              <a:rPr lang="en-US" sz="1400" dirty="0" smtClean="0"/>
              <a:t>+</a:t>
            </a:r>
            <a:endParaRPr lang="en-US" sz="1400" dirty="0"/>
          </a:p>
        </p:txBody>
      </p:sp>
    </p:spTree>
    <p:extLst>
      <p:ext uri="{BB962C8B-B14F-4D97-AF65-F5344CB8AC3E}">
        <p14:creationId xmlns:p14="http://schemas.microsoft.com/office/powerpoint/2010/main" val="303558825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20</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1" y="1158443"/>
            <a:ext cx="2325830" cy="276999"/>
          </a:xfrm>
          <a:prstGeom prst="rect">
            <a:avLst/>
          </a:prstGeom>
        </p:spPr>
        <p:txBody>
          <a:bodyPr wrap="square">
            <a:spAutoFit/>
          </a:bodyPr>
          <a:lstStyle/>
          <a:p>
            <a:pPr algn="just"/>
            <a:r>
              <a:rPr lang="en-US" sz="1200" dirty="0" smtClean="0"/>
              <a:t>Manage Floating IP Associations </a:t>
            </a:r>
            <a:endParaRPr lang="en-US" sz="1200" dirty="0"/>
          </a:p>
        </p:txBody>
      </p:sp>
      <p:sp>
        <p:nvSpPr>
          <p:cNvPr id="9" name="Rectangle 8"/>
          <p:cNvSpPr/>
          <p:nvPr/>
        </p:nvSpPr>
        <p:spPr>
          <a:xfrm>
            <a:off x="330227" y="3526213"/>
            <a:ext cx="2915669" cy="646331"/>
          </a:xfrm>
          <a:prstGeom prst="rect">
            <a:avLst/>
          </a:prstGeom>
        </p:spPr>
        <p:txBody>
          <a:bodyPr wrap="square">
            <a:spAutoFit/>
          </a:bodyPr>
          <a:lstStyle/>
          <a:p>
            <a:pPr algn="just"/>
            <a:r>
              <a:rPr lang="sv-SE" sz="1200" dirty="0"/>
              <a:t>Saat ini kita sudah mendapatkan IP nya, silakan klik </a:t>
            </a:r>
            <a:r>
              <a:rPr lang="sv-SE" sz="1200" b="1" dirty="0"/>
              <a:t>Associate</a:t>
            </a:r>
            <a:r>
              <a:rPr lang="sv-SE" sz="1200" dirty="0"/>
              <a:t> untuk dapat di assign ke instance Anda</a:t>
            </a:r>
            <a:endParaRPr lang="en-US" sz="1200" dirty="0"/>
          </a:p>
        </p:txBody>
      </p:sp>
      <p:sp>
        <p:nvSpPr>
          <p:cNvPr id="2" name="Rectangle 1"/>
          <p:cNvSpPr/>
          <p:nvPr/>
        </p:nvSpPr>
        <p:spPr>
          <a:xfrm>
            <a:off x="143301" y="512112"/>
            <a:ext cx="2325830" cy="646331"/>
          </a:xfrm>
          <a:prstGeom prst="rect">
            <a:avLst/>
          </a:prstGeom>
        </p:spPr>
        <p:txBody>
          <a:bodyPr wrap="none">
            <a:spAutoFit/>
          </a:bodyPr>
          <a:lstStyle/>
          <a:p>
            <a:r>
              <a:rPr lang="en-US" dirty="0">
                <a:solidFill>
                  <a:srgbClr val="002060"/>
                </a:solidFill>
              </a:rPr>
              <a:t>Upload Image </a:t>
            </a:r>
            <a:r>
              <a:rPr lang="en-US" dirty="0" err="1">
                <a:solidFill>
                  <a:srgbClr val="002060"/>
                </a:solidFill>
              </a:rPr>
              <a:t>atau</a:t>
            </a:r>
            <a:r>
              <a:rPr lang="en-US" dirty="0">
                <a:solidFill>
                  <a:srgbClr val="002060"/>
                </a:solidFill>
              </a:rPr>
              <a:t> ISO</a:t>
            </a:r>
          </a:p>
          <a:p>
            <a:r>
              <a:rPr lang="en-US" b="1" dirty="0">
                <a:solidFill>
                  <a:srgbClr val="002060"/>
                </a:solidFill>
              </a:rPr>
              <a:t>Create Instance</a:t>
            </a:r>
          </a:p>
        </p:txBody>
      </p:sp>
      <p:sp>
        <p:nvSpPr>
          <p:cNvPr id="18" name="Rectangle 17"/>
          <p:cNvSpPr/>
          <p:nvPr/>
        </p:nvSpPr>
        <p:spPr>
          <a:xfrm>
            <a:off x="252572" y="2302712"/>
            <a:ext cx="2582193" cy="276999"/>
          </a:xfrm>
          <a:prstGeom prst="rect">
            <a:avLst/>
          </a:prstGeom>
        </p:spPr>
        <p:txBody>
          <a:bodyPr wrap="square">
            <a:spAutoFit/>
          </a:bodyPr>
          <a:lstStyle/>
          <a:p>
            <a:pPr algn="just"/>
            <a:r>
              <a:rPr lang="en-US" sz="1200" dirty="0" err="1" smtClean="0"/>
              <a:t>Pilih</a:t>
            </a:r>
            <a:r>
              <a:rPr lang="en-US" sz="1200" dirty="0" smtClean="0"/>
              <a:t> network external &gt;&gt; Allocate IP</a:t>
            </a:r>
            <a:endParaRPr lang="en-US" sz="1200" dirty="0"/>
          </a:p>
        </p:txBody>
      </p:sp>
      <p:sp>
        <p:nvSpPr>
          <p:cNvPr id="20" name="Rectangle 19"/>
          <p:cNvSpPr/>
          <p:nvPr/>
        </p:nvSpPr>
        <p:spPr>
          <a:xfrm>
            <a:off x="3245896" y="397808"/>
            <a:ext cx="5365462" cy="830997"/>
          </a:xfrm>
          <a:prstGeom prst="rect">
            <a:avLst/>
          </a:prstGeom>
        </p:spPr>
        <p:txBody>
          <a:bodyPr wrap="square">
            <a:spAutoFit/>
          </a:bodyPr>
          <a:lstStyle/>
          <a:p>
            <a:r>
              <a:rPr lang="en-US" sz="1200" dirty="0" err="1" smtClean="0"/>
              <a:t>Saat</a:t>
            </a:r>
            <a:r>
              <a:rPr lang="en-US" sz="1200" dirty="0" smtClean="0"/>
              <a:t> </a:t>
            </a:r>
            <a:r>
              <a:rPr lang="en-US" sz="1200" dirty="0" err="1"/>
              <a:t>ini</a:t>
            </a:r>
            <a:r>
              <a:rPr lang="en-US" sz="1200" dirty="0"/>
              <a:t> instance </a:t>
            </a:r>
            <a:r>
              <a:rPr lang="en-US" sz="1200" dirty="0" err="1"/>
              <a:t>sudah</a:t>
            </a:r>
            <a:r>
              <a:rPr lang="en-US" sz="1200" dirty="0"/>
              <a:t> </a:t>
            </a:r>
            <a:r>
              <a:rPr lang="en-US" sz="1200" dirty="0" err="1"/>
              <a:t>mendapatkan</a:t>
            </a:r>
            <a:r>
              <a:rPr lang="en-US" sz="1200" dirty="0"/>
              <a:t> </a:t>
            </a:r>
            <a:r>
              <a:rPr lang="en-US" sz="1200" dirty="0" err="1"/>
              <a:t>dan</a:t>
            </a:r>
            <a:r>
              <a:rPr lang="en-US" sz="1200" dirty="0"/>
              <a:t> </a:t>
            </a:r>
            <a:r>
              <a:rPr lang="en-US" sz="1200" dirty="0" err="1"/>
              <a:t>menggunakan</a:t>
            </a:r>
            <a:r>
              <a:rPr lang="en-US" sz="1200" dirty="0"/>
              <a:t> IP </a:t>
            </a:r>
            <a:r>
              <a:rPr lang="en-US" sz="1200" dirty="0" err="1"/>
              <a:t>dari</a:t>
            </a:r>
            <a:r>
              <a:rPr lang="en-US" sz="1200" dirty="0"/>
              <a:t> network internal </a:t>
            </a:r>
            <a:r>
              <a:rPr lang="en-US" sz="1200" dirty="0" err="1"/>
              <a:t>dan</a:t>
            </a:r>
            <a:r>
              <a:rPr lang="en-US" sz="1200" dirty="0"/>
              <a:t> external </a:t>
            </a:r>
            <a:r>
              <a:rPr lang="en-US" sz="1200" dirty="0" err="1"/>
              <a:t>dan</a:t>
            </a:r>
            <a:r>
              <a:rPr lang="en-US" sz="1200" dirty="0"/>
              <a:t> </a:t>
            </a:r>
            <a:r>
              <a:rPr lang="en-US" sz="1200" dirty="0" err="1"/>
              <a:t>silakan</a:t>
            </a:r>
            <a:r>
              <a:rPr lang="en-US" sz="1200" dirty="0"/>
              <a:t> test ping </a:t>
            </a:r>
            <a:r>
              <a:rPr lang="en-US" sz="1200" dirty="0" err="1"/>
              <a:t>ke</a:t>
            </a:r>
            <a:r>
              <a:rPr lang="en-US" sz="1200" dirty="0"/>
              <a:t> IP floating</a:t>
            </a:r>
          </a:p>
          <a:p>
            <a:r>
              <a:rPr lang="en-US" sz="1200" dirty="0"/>
              <a:t/>
            </a:r>
            <a:br>
              <a:rPr lang="en-US" sz="1200" dirty="0"/>
            </a:br>
            <a:endParaRPr lang="en-US" sz="1200" dirty="0"/>
          </a:p>
        </p:txBody>
      </p:sp>
      <p:pic>
        <p:nvPicPr>
          <p:cNvPr id="7" name="Picture 6"/>
          <p:cNvPicPr>
            <a:picLocks noChangeAspect="1"/>
          </p:cNvPicPr>
          <p:nvPr/>
        </p:nvPicPr>
        <p:blipFill>
          <a:blip r:embed="rId3"/>
          <a:stretch>
            <a:fillRect/>
          </a:stretch>
        </p:blipFill>
        <p:spPr>
          <a:xfrm>
            <a:off x="205252" y="1496716"/>
            <a:ext cx="2893603" cy="831672"/>
          </a:xfrm>
          <a:prstGeom prst="rect">
            <a:avLst/>
          </a:prstGeom>
        </p:spPr>
      </p:pic>
      <p:pic>
        <p:nvPicPr>
          <p:cNvPr id="8" name="Picture 7"/>
          <p:cNvPicPr>
            <a:picLocks noChangeAspect="1"/>
          </p:cNvPicPr>
          <p:nvPr/>
        </p:nvPicPr>
        <p:blipFill>
          <a:blip r:embed="rId4"/>
          <a:stretch>
            <a:fillRect/>
          </a:stretch>
        </p:blipFill>
        <p:spPr>
          <a:xfrm>
            <a:off x="252572" y="2590861"/>
            <a:ext cx="2829389" cy="996045"/>
          </a:xfrm>
          <a:prstGeom prst="rect">
            <a:avLst/>
          </a:prstGeom>
        </p:spPr>
      </p:pic>
      <p:pic>
        <p:nvPicPr>
          <p:cNvPr id="10" name="Picture 9"/>
          <p:cNvPicPr>
            <a:picLocks noChangeAspect="1"/>
          </p:cNvPicPr>
          <p:nvPr/>
        </p:nvPicPr>
        <p:blipFill>
          <a:blip r:embed="rId5"/>
          <a:stretch>
            <a:fillRect/>
          </a:stretch>
        </p:blipFill>
        <p:spPr>
          <a:xfrm>
            <a:off x="252573" y="4172060"/>
            <a:ext cx="2947828" cy="869047"/>
          </a:xfrm>
          <a:prstGeom prst="rect">
            <a:avLst/>
          </a:prstGeom>
        </p:spPr>
      </p:pic>
      <p:sp>
        <p:nvSpPr>
          <p:cNvPr id="22" name="Rectangle 21"/>
          <p:cNvSpPr/>
          <p:nvPr/>
        </p:nvSpPr>
        <p:spPr>
          <a:xfrm>
            <a:off x="3425612" y="2702504"/>
            <a:ext cx="3157566" cy="646331"/>
          </a:xfrm>
          <a:prstGeom prst="rect">
            <a:avLst/>
          </a:prstGeom>
        </p:spPr>
        <p:txBody>
          <a:bodyPr wrap="square">
            <a:spAutoFit/>
          </a:bodyPr>
          <a:lstStyle/>
          <a:p>
            <a:r>
              <a:rPr lang="en-US" sz="1200" dirty="0"/>
              <a:t>Test login </a:t>
            </a:r>
            <a:r>
              <a:rPr lang="en-US" sz="1200" dirty="0" err="1"/>
              <a:t>ke</a:t>
            </a:r>
            <a:r>
              <a:rPr lang="en-US" sz="1200" dirty="0"/>
              <a:t> </a:t>
            </a:r>
            <a:r>
              <a:rPr lang="en-US" sz="1200" dirty="0" err="1"/>
              <a:t>sisi</a:t>
            </a:r>
            <a:r>
              <a:rPr lang="en-US" sz="1200" dirty="0"/>
              <a:t> instance</a:t>
            </a:r>
          </a:p>
          <a:p>
            <a:r>
              <a:rPr lang="en-US" sz="1200" dirty="0"/>
              <a:t/>
            </a:r>
            <a:br>
              <a:rPr lang="en-US" sz="1200" dirty="0"/>
            </a:br>
            <a:endParaRPr lang="en-US" sz="1200" dirty="0"/>
          </a:p>
        </p:txBody>
      </p:sp>
      <p:pic>
        <p:nvPicPr>
          <p:cNvPr id="12" name="Picture 11"/>
          <p:cNvPicPr>
            <a:picLocks noChangeAspect="1"/>
          </p:cNvPicPr>
          <p:nvPr/>
        </p:nvPicPr>
        <p:blipFill>
          <a:blip r:embed="rId6"/>
          <a:stretch>
            <a:fillRect/>
          </a:stretch>
        </p:blipFill>
        <p:spPr>
          <a:xfrm>
            <a:off x="3543310" y="3730997"/>
            <a:ext cx="4412832" cy="1390650"/>
          </a:xfrm>
          <a:prstGeom prst="rect">
            <a:avLst/>
          </a:prstGeom>
        </p:spPr>
      </p:pic>
      <p:sp>
        <p:nvSpPr>
          <p:cNvPr id="23" name="Rectangle 22"/>
          <p:cNvSpPr/>
          <p:nvPr/>
        </p:nvSpPr>
        <p:spPr>
          <a:xfrm>
            <a:off x="3245897" y="838159"/>
            <a:ext cx="3973050" cy="400110"/>
          </a:xfrm>
          <a:prstGeom prst="rect">
            <a:avLst/>
          </a:prstGeom>
          <a:solidFill>
            <a:schemeClr val="bg1"/>
          </a:solidFill>
        </p:spPr>
        <p:txBody>
          <a:bodyPr wrap="square">
            <a:spAutoFit/>
          </a:bodyPr>
          <a:lstStyle/>
          <a:p>
            <a:pPr lvl="0" algn="just" eaLnBrk="0" fontAlgn="base" hangingPunct="0">
              <a:spcBef>
                <a:spcPct val="0"/>
              </a:spcBef>
              <a:spcAft>
                <a:spcPct val="0"/>
              </a:spcAft>
            </a:pPr>
            <a:r>
              <a:rPr lang="en-US" altLang="en-US" sz="1000" dirty="0" smtClean="0">
                <a:latin typeface="Courier New" panose="02070309020205020404" pitchFamily="49" charset="0"/>
                <a:cs typeface="Courier New" panose="02070309020205020404" pitchFamily="49" charset="0"/>
              </a:rPr>
              <a:t>[</a:t>
            </a:r>
            <a:r>
              <a:rPr lang="en-US" altLang="en-US" sz="1000" dirty="0" err="1" smtClean="0">
                <a:latin typeface="Courier New" panose="02070309020205020404" pitchFamily="49" charset="0"/>
                <a:cs typeface="Courier New" panose="02070309020205020404" pitchFamily="49" charset="0"/>
              </a:rPr>
              <a:t>root@controller</a:t>
            </a:r>
            <a:r>
              <a:rPr lang="en-US" altLang="en-US" sz="1000" dirty="0" smtClean="0">
                <a:latin typeface="Courier New" panose="02070309020205020404" pitchFamily="49" charset="0"/>
                <a:cs typeface="Courier New" panose="02070309020205020404" pitchFamily="49" charset="0"/>
              </a:rPr>
              <a:t> ~]#</a:t>
            </a:r>
          </a:p>
          <a:p>
            <a:pPr algn="just" eaLnBrk="0" fontAlgn="base" hangingPunct="0">
              <a:spcBef>
                <a:spcPct val="0"/>
              </a:spcBef>
              <a:spcAft>
                <a:spcPct val="0"/>
              </a:spcAft>
            </a:pPr>
            <a:r>
              <a:rPr lang="en-US" altLang="en-US" sz="1000" dirty="0">
                <a:latin typeface="Courier New" panose="02070309020205020404" pitchFamily="49" charset="0"/>
                <a:cs typeface="Courier New" panose="02070309020205020404" pitchFamily="49" charset="0"/>
              </a:rPr>
              <a:t>[</a:t>
            </a:r>
            <a:r>
              <a:rPr lang="en-US" altLang="en-US" sz="1000" dirty="0" err="1">
                <a:latin typeface="Courier New" panose="02070309020205020404" pitchFamily="49" charset="0"/>
                <a:cs typeface="Courier New" panose="02070309020205020404" pitchFamily="49" charset="0"/>
              </a:rPr>
              <a:t>root@controller</a:t>
            </a:r>
            <a:r>
              <a:rPr lang="en-US" altLang="en-US" sz="1000" dirty="0">
                <a:latin typeface="Courier New" panose="02070309020205020404" pitchFamily="49" charset="0"/>
                <a:cs typeface="Courier New" panose="02070309020205020404" pitchFamily="49" charset="0"/>
              </a:rPr>
              <a:t> </a:t>
            </a:r>
            <a:r>
              <a:rPr lang="en-US" altLang="en-US" sz="1000" dirty="0" smtClean="0">
                <a:latin typeface="Courier New" panose="02070309020205020404" pitchFamily="49" charset="0"/>
                <a:cs typeface="Courier New" panose="02070309020205020404" pitchFamily="49" charset="0"/>
              </a:rPr>
              <a:t>~]#</a:t>
            </a:r>
            <a:r>
              <a:rPr lang="en-US" altLang="en-US" sz="1000" dirty="0">
                <a:latin typeface="Courier New" panose="02070309020205020404" pitchFamily="49" charset="0"/>
                <a:cs typeface="Courier New" panose="02070309020205020404" pitchFamily="49" charset="0"/>
              </a:rPr>
              <a:t> </a:t>
            </a:r>
            <a:r>
              <a:rPr lang="en-US" altLang="en-US" sz="1000" dirty="0" smtClean="0">
                <a:latin typeface="Courier New" panose="02070309020205020404" pitchFamily="49" charset="0"/>
                <a:cs typeface="Courier New" panose="02070309020205020404" pitchFamily="49" charset="0"/>
              </a:rPr>
              <a:t>ping 10.136.136.112 –c4 </a:t>
            </a:r>
            <a:endParaRPr lang="en-US" altLang="en-US" sz="1000" dirty="0">
              <a:latin typeface="Courier New" panose="02070309020205020404" pitchFamily="49" charset="0"/>
              <a:cs typeface="Courier New" panose="02070309020205020404" pitchFamily="49" charset="0"/>
            </a:endParaRPr>
          </a:p>
        </p:txBody>
      </p:sp>
      <p:sp>
        <p:nvSpPr>
          <p:cNvPr id="24" name="Rectangle 23"/>
          <p:cNvSpPr/>
          <p:nvPr/>
        </p:nvSpPr>
        <p:spPr>
          <a:xfrm>
            <a:off x="3245896" y="854004"/>
            <a:ext cx="3604083" cy="40445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5" name="Rectangle 24"/>
          <p:cNvSpPr/>
          <p:nvPr/>
        </p:nvSpPr>
        <p:spPr>
          <a:xfrm>
            <a:off x="4130915" y="2105808"/>
            <a:ext cx="2205718" cy="222580"/>
          </a:xfrm>
          <a:prstGeom prst="rect">
            <a:avLst/>
          </a:prstGeom>
          <a:solidFill>
            <a:schemeClr val="tx1"/>
          </a:solidFill>
        </p:spPr>
        <p:txBody>
          <a:bodyPr wrap="square">
            <a:spAutoFit/>
          </a:bodyPr>
          <a:lstStyle/>
          <a:p>
            <a:pPr lvl="0" algn="just" eaLnBrk="0" fontAlgn="base" hangingPunct="0">
              <a:spcBef>
                <a:spcPct val="0"/>
              </a:spcBef>
              <a:spcAft>
                <a:spcPct val="0"/>
              </a:spcAft>
            </a:pPr>
            <a:r>
              <a:rPr lang="en-US" altLang="en-US" sz="400" dirty="0" smtClean="0">
                <a:solidFill>
                  <a:schemeClr val="bg1"/>
                </a:solidFill>
                <a:latin typeface="Courier New" panose="02070309020205020404" pitchFamily="49" charset="0"/>
                <a:cs typeface="Courier New" panose="02070309020205020404" pitchFamily="49" charset="0"/>
              </a:rPr>
              <a:t>[</a:t>
            </a:r>
            <a:r>
              <a:rPr lang="en-US" altLang="en-US" sz="400" dirty="0" err="1" smtClean="0">
                <a:solidFill>
                  <a:schemeClr val="bg1"/>
                </a:solidFill>
                <a:latin typeface="Courier New" panose="02070309020205020404" pitchFamily="49" charset="0"/>
                <a:cs typeface="Courier New" panose="02070309020205020404" pitchFamily="49" charset="0"/>
              </a:rPr>
              <a:t>root@controller</a:t>
            </a:r>
            <a:r>
              <a:rPr lang="en-US" altLang="en-US" sz="400" dirty="0" smtClean="0">
                <a:solidFill>
                  <a:schemeClr val="bg1"/>
                </a:solidFill>
                <a:latin typeface="Courier New" panose="02070309020205020404" pitchFamily="49" charset="0"/>
                <a:cs typeface="Courier New" panose="02070309020205020404" pitchFamily="49" charset="0"/>
              </a:rPr>
              <a:t> ~]#</a:t>
            </a:r>
          </a:p>
          <a:p>
            <a:pPr algn="just" eaLnBrk="0" fontAlgn="base" hangingPunct="0">
              <a:spcBef>
                <a:spcPct val="0"/>
              </a:spcBef>
              <a:spcAft>
                <a:spcPct val="0"/>
              </a:spcAft>
            </a:pPr>
            <a:r>
              <a:rPr lang="en-US" altLang="en-US" sz="400" dirty="0">
                <a:solidFill>
                  <a:schemeClr val="bg1"/>
                </a:solidFill>
                <a:latin typeface="Courier New" panose="02070309020205020404" pitchFamily="49" charset="0"/>
                <a:cs typeface="Courier New" panose="02070309020205020404" pitchFamily="49" charset="0"/>
              </a:rPr>
              <a:t>[</a:t>
            </a:r>
            <a:r>
              <a:rPr lang="en-US" altLang="en-US" sz="400" dirty="0" err="1">
                <a:solidFill>
                  <a:schemeClr val="bg1"/>
                </a:solidFill>
                <a:latin typeface="Courier New" panose="02070309020205020404" pitchFamily="49" charset="0"/>
                <a:cs typeface="Courier New" panose="02070309020205020404" pitchFamily="49" charset="0"/>
              </a:rPr>
              <a:t>root@controller</a:t>
            </a:r>
            <a:r>
              <a:rPr lang="en-US" altLang="en-US" sz="400" dirty="0">
                <a:solidFill>
                  <a:schemeClr val="bg1"/>
                </a:solidFill>
                <a:latin typeface="Courier New" panose="02070309020205020404" pitchFamily="49" charset="0"/>
                <a:cs typeface="Courier New" panose="02070309020205020404" pitchFamily="49" charset="0"/>
              </a:rPr>
              <a:t> </a:t>
            </a:r>
            <a:r>
              <a:rPr lang="en-US" altLang="en-US" sz="400" dirty="0" smtClean="0">
                <a:solidFill>
                  <a:schemeClr val="bg1"/>
                </a:solidFill>
                <a:latin typeface="Courier New" panose="02070309020205020404" pitchFamily="49" charset="0"/>
                <a:cs typeface="Courier New" panose="02070309020205020404" pitchFamily="49" charset="0"/>
              </a:rPr>
              <a:t>~]#</a:t>
            </a:r>
            <a:r>
              <a:rPr lang="en-US" altLang="en-US" sz="400" dirty="0">
                <a:solidFill>
                  <a:schemeClr val="bg1"/>
                </a:solidFill>
                <a:latin typeface="Courier New" panose="02070309020205020404" pitchFamily="49" charset="0"/>
                <a:cs typeface="Courier New" panose="02070309020205020404" pitchFamily="49" charset="0"/>
              </a:rPr>
              <a:t> </a:t>
            </a:r>
            <a:r>
              <a:rPr lang="en-US" altLang="en-US" sz="400" dirty="0" smtClean="0">
                <a:solidFill>
                  <a:schemeClr val="bg1"/>
                </a:solidFill>
                <a:latin typeface="Courier New" panose="02070309020205020404" pitchFamily="49" charset="0"/>
                <a:cs typeface="Courier New" panose="02070309020205020404" pitchFamily="49" charset="0"/>
              </a:rPr>
              <a:t>ping 10.136.136.112 –c4 </a:t>
            </a:r>
            <a:endParaRPr lang="en-US" altLang="en-US" sz="400" dirty="0">
              <a:solidFill>
                <a:schemeClr val="bg1"/>
              </a:solidFill>
              <a:latin typeface="Courier New" panose="02070309020205020404" pitchFamily="49" charset="0"/>
              <a:cs typeface="Courier New" panose="02070309020205020404" pitchFamily="49" charset="0"/>
            </a:endParaRPr>
          </a:p>
        </p:txBody>
      </p:sp>
      <p:sp>
        <p:nvSpPr>
          <p:cNvPr id="26" name="Rectangle 25"/>
          <p:cNvSpPr/>
          <p:nvPr/>
        </p:nvSpPr>
        <p:spPr>
          <a:xfrm>
            <a:off x="3543310" y="3522122"/>
            <a:ext cx="4412832" cy="215444"/>
          </a:xfrm>
          <a:prstGeom prst="rect">
            <a:avLst/>
          </a:prstGeom>
          <a:solidFill>
            <a:schemeClr val="tx1"/>
          </a:solidFill>
        </p:spPr>
        <p:txBody>
          <a:bodyPr wrap="square">
            <a:spAutoFit/>
          </a:bodyPr>
          <a:lstStyle/>
          <a:p>
            <a:pPr lvl="0" algn="just" eaLnBrk="0" fontAlgn="base" hangingPunct="0">
              <a:spcBef>
                <a:spcPct val="0"/>
              </a:spcBef>
              <a:spcAft>
                <a:spcPct val="0"/>
              </a:spcAft>
            </a:pPr>
            <a:r>
              <a:rPr lang="en-US" altLang="en-US" sz="400" dirty="0" smtClean="0">
                <a:solidFill>
                  <a:schemeClr val="bg1"/>
                </a:solidFill>
                <a:latin typeface="Courier New" panose="02070309020205020404" pitchFamily="49" charset="0"/>
                <a:cs typeface="Courier New" panose="02070309020205020404" pitchFamily="49" charset="0"/>
              </a:rPr>
              <a:t>[</a:t>
            </a:r>
            <a:r>
              <a:rPr lang="en-US" altLang="en-US" sz="400" dirty="0" err="1" smtClean="0">
                <a:solidFill>
                  <a:schemeClr val="bg1"/>
                </a:solidFill>
                <a:latin typeface="Courier New" panose="02070309020205020404" pitchFamily="49" charset="0"/>
                <a:cs typeface="Courier New" panose="02070309020205020404" pitchFamily="49" charset="0"/>
              </a:rPr>
              <a:t>root@controller</a:t>
            </a:r>
            <a:r>
              <a:rPr lang="en-US" altLang="en-US" sz="400" dirty="0" smtClean="0">
                <a:solidFill>
                  <a:schemeClr val="bg1"/>
                </a:solidFill>
                <a:latin typeface="Courier New" panose="02070309020205020404" pitchFamily="49" charset="0"/>
                <a:cs typeface="Courier New" panose="02070309020205020404" pitchFamily="49" charset="0"/>
              </a:rPr>
              <a:t> ~]#</a:t>
            </a:r>
          </a:p>
          <a:p>
            <a:pPr algn="just" eaLnBrk="0" fontAlgn="base" hangingPunct="0">
              <a:spcBef>
                <a:spcPct val="0"/>
              </a:spcBef>
              <a:spcAft>
                <a:spcPct val="0"/>
              </a:spcAft>
            </a:pPr>
            <a:r>
              <a:rPr lang="en-US" altLang="en-US" sz="400" dirty="0">
                <a:solidFill>
                  <a:schemeClr val="bg1"/>
                </a:solidFill>
                <a:latin typeface="Courier New" panose="02070309020205020404" pitchFamily="49" charset="0"/>
                <a:cs typeface="Courier New" panose="02070309020205020404" pitchFamily="49" charset="0"/>
              </a:rPr>
              <a:t>[</a:t>
            </a:r>
            <a:r>
              <a:rPr lang="en-US" altLang="en-US" sz="400" dirty="0" err="1">
                <a:solidFill>
                  <a:schemeClr val="bg1"/>
                </a:solidFill>
                <a:latin typeface="Courier New" panose="02070309020205020404" pitchFamily="49" charset="0"/>
                <a:cs typeface="Courier New" panose="02070309020205020404" pitchFamily="49" charset="0"/>
              </a:rPr>
              <a:t>root@controller</a:t>
            </a:r>
            <a:r>
              <a:rPr lang="en-US" altLang="en-US" sz="400" dirty="0">
                <a:solidFill>
                  <a:schemeClr val="bg1"/>
                </a:solidFill>
                <a:latin typeface="Courier New" panose="02070309020205020404" pitchFamily="49" charset="0"/>
                <a:cs typeface="Courier New" panose="02070309020205020404" pitchFamily="49" charset="0"/>
              </a:rPr>
              <a:t> </a:t>
            </a:r>
            <a:r>
              <a:rPr lang="en-US" altLang="en-US" sz="400" dirty="0" smtClean="0">
                <a:solidFill>
                  <a:schemeClr val="bg1"/>
                </a:solidFill>
                <a:latin typeface="Courier New" panose="02070309020205020404" pitchFamily="49" charset="0"/>
                <a:cs typeface="Courier New" panose="02070309020205020404" pitchFamily="49" charset="0"/>
              </a:rPr>
              <a:t>~]#</a:t>
            </a:r>
            <a:r>
              <a:rPr lang="en-US" altLang="en-US" sz="400" dirty="0">
                <a:solidFill>
                  <a:schemeClr val="bg1"/>
                </a:solidFill>
                <a:latin typeface="Courier New" panose="02070309020205020404" pitchFamily="49" charset="0"/>
                <a:cs typeface="Courier New" panose="02070309020205020404" pitchFamily="49" charset="0"/>
              </a:rPr>
              <a:t> </a:t>
            </a:r>
            <a:r>
              <a:rPr lang="en-US" altLang="en-US" sz="400" dirty="0" smtClean="0">
                <a:solidFill>
                  <a:schemeClr val="bg1"/>
                </a:solidFill>
                <a:latin typeface="Courier New" panose="02070309020205020404" pitchFamily="49" charset="0"/>
                <a:cs typeface="Courier New" panose="02070309020205020404" pitchFamily="49" charset="0"/>
              </a:rPr>
              <a:t>ping 10.136.136.112 –c2 |</a:t>
            </a:r>
            <a:r>
              <a:rPr lang="en-US" altLang="en-US" sz="400" dirty="0" err="1" smtClean="0">
                <a:solidFill>
                  <a:schemeClr val="bg1"/>
                </a:solidFill>
                <a:latin typeface="Courier New" panose="02070309020205020404" pitchFamily="49" charset="0"/>
                <a:cs typeface="Courier New" panose="02070309020205020404" pitchFamily="49" charset="0"/>
              </a:rPr>
              <a:t>grep</a:t>
            </a:r>
            <a:r>
              <a:rPr lang="en-US" altLang="en-US" sz="400" dirty="0" smtClean="0">
                <a:solidFill>
                  <a:schemeClr val="bg1"/>
                </a:solidFill>
                <a:latin typeface="Courier New" panose="02070309020205020404" pitchFamily="49" charset="0"/>
                <a:cs typeface="Courier New" panose="02070309020205020404" pitchFamily="49" charset="0"/>
              </a:rPr>
              <a:t> </a:t>
            </a:r>
            <a:r>
              <a:rPr lang="en-US" altLang="en-US" sz="400" dirty="0" err="1" smtClean="0">
                <a:solidFill>
                  <a:schemeClr val="bg1"/>
                </a:solidFill>
                <a:latin typeface="Courier New" panose="02070309020205020404" pitchFamily="49" charset="0"/>
                <a:cs typeface="Courier New" panose="02070309020205020404" pitchFamily="49" charset="0"/>
              </a:rPr>
              <a:t>icmp</a:t>
            </a:r>
            <a:r>
              <a:rPr lang="en-US" altLang="en-US" sz="400" dirty="0" smtClean="0">
                <a:solidFill>
                  <a:schemeClr val="bg1"/>
                </a:solidFill>
                <a:latin typeface="Courier New" panose="02070309020205020404" pitchFamily="49" charset="0"/>
                <a:cs typeface="Courier New" panose="02070309020205020404" pitchFamily="49" charset="0"/>
              </a:rPr>
              <a:t> </a:t>
            </a:r>
            <a:endParaRPr lang="en-US" altLang="en-US" sz="400" dirty="0">
              <a:solidFill>
                <a:schemeClr val="bg1"/>
              </a:solidFill>
              <a:latin typeface="Courier New" panose="02070309020205020404" pitchFamily="49" charset="0"/>
              <a:cs typeface="Courier New" panose="02070309020205020404" pitchFamily="49" charset="0"/>
            </a:endParaRPr>
          </a:p>
        </p:txBody>
      </p:sp>
      <p:sp>
        <p:nvSpPr>
          <p:cNvPr id="27" name="Rectangle 26"/>
          <p:cNvSpPr/>
          <p:nvPr/>
        </p:nvSpPr>
        <p:spPr>
          <a:xfrm>
            <a:off x="3425612" y="2975685"/>
            <a:ext cx="5089738" cy="400110"/>
          </a:xfrm>
          <a:prstGeom prst="rect">
            <a:avLst/>
          </a:prstGeom>
          <a:solidFill>
            <a:schemeClr val="bg1"/>
          </a:solidFill>
        </p:spPr>
        <p:txBody>
          <a:bodyPr wrap="square">
            <a:spAutoFit/>
          </a:bodyPr>
          <a:lstStyle/>
          <a:p>
            <a:pPr lvl="0" algn="just" eaLnBrk="0" fontAlgn="base" hangingPunct="0">
              <a:spcBef>
                <a:spcPct val="0"/>
              </a:spcBef>
              <a:spcAft>
                <a:spcPct val="0"/>
              </a:spcAft>
            </a:pPr>
            <a:r>
              <a:rPr lang="en-US" altLang="en-US" sz="1000" dirty="0" smtClean="0">
                <a:latin typeface="Courier New" panose="02070309020205020404" pitchFamily="49" charset="0"/>
                <a:cs typeface="Courier New" panose="02070309020205020404" pitchFamily="49" charset="0"/>
              </a:rPr>
              <a:t>[</a:t>
            </a:r>
            <a:r>
              <a:rPr lang="en-US" altLang="en-US" sz="1000" dirty="0" err="1" smtClean="0">
                <a:latin typeface="Courier New" panose="02070309020205020404" pitchFamily="49" charset="0"/>
                <a:cs typeface="Courier New" panose="02070309020205020404" pitchFamily="49" charset="0"/>
              </a:rPr>
              <a:t>root@controller</a:t>
            </a:r>
            <a:r>
              <a:rPr lang="en-US" altLang="en-US" sz="1000" dirty="0" smtClean="0">
                <a:latin typeface="Courier New" panose="02070309020205020404" pitchFamily="49" charset="0"/>
                <a:cs typeface="Courier New" panose="02070309020205020404" pitchFamily="49" charset="0"/>
              </a:rPr>
              <a:t> ~]#</a:t>
            </a:r>
          </a:p>
          <a:p>
            <a:pPr algn="just" eaLnBrk="0" fontAlgn="base" hangingPunct="0">
              <a:spcBef>
                <a:spcPct val="0"/>
              </a:spcBef>
              <a:spcAft>
                <a:spcPct val="0"/>
              </a:spcAft>
            </a:pPr>
            <a:r>
              <a:rPr lang="en-US" altLang="en-US" sz="1000" dirty="0">
                <a:latin typeface="Courier New" panose="02070309020205020404" pitchFamily="49" charset="0"/>
                <a:cs typeface="Courier New" panose="02070309020205020404" pitchFamily="49" charset="0"/>
              </a:rPr>
              <a:t>[</a:t>
            </a:r>
            <a:r>
              <a:rPr lang="en-US" altLang="en-US" sz="1000" dirty="0" err="1">
                <a:latin typeface="Courier New" panose="02070309020205020404" pitchFamily="49" charset="0"/>
                <a:cs typeface="Courier New" panose="02070309020205020404" pitchFamily="49" charset="0"/>
              </a:rPr>
              <a:t>root@controller</a:t>
            </a:r>
            <a:r>
              <a:rPr lang="en-US" altLang="en-US" sz="1000" dirty="0">
                <a:latin typeface="Courier New" panose="02070309020205020404" pitchFamily="49" charset="0"/>
                <a:cs typeface="Courier New" panose="02070309020205020404" pitchFamily="49" charset="0"/>
              </a:rPr>
              <a:t> </a:t>
            </a:r>
            <a:r>
              <a:rPr lang="en-US" altLang="en-US" sz="1000" dirty="0" smtClean="0">
                <a:latin typeface="Courier New" panose="02070309020205020404" pitchFamily="49" charset="0"/>
                <a:cs typeface="Courier New" panose="02070309020205020404" pitchFamily="49" charset="0"/>
              </a:rPr>
              <a:t>~]#</a:t>
            </a:r>
            <a:r>
              <a:rPr lang="en-US" altLang="en-US" sz="1000" dirty="0">
                <a:latin typeface="Courier New" panose="02070309020205020404" pitchFamily="49" charset="0"/>
                <a:cs typeface="Courier New" panose="02070309020205020404" pitchFamily="49" charset="0"/>
              </a:rPr>
              <a:t> </a:t>
            </a:r>
            <a:r>
              <a:rPr lang="en-US" altLang="en-US" sz="1000" dirty="0" smtClean="0">
                <a:latin typeface="Courier New" panose="02070309020205020404" pitchFamily="49" charset="0"/>
                <a:cs typeface="Courier New" panose="02070309020205020404" pitchFamily="49" charset="0"/>
              </a:rPr>
              <a:t>ping 10.136.136.112 –c2 </a:t>
            </a:r>
            <a:r>
              <a:rPr lang="en-US" altLang="en-US" sz="1000" dirty="0">
                <a:latin typeface="Courier New" panose="02070309020205020404" pitchFamily="49" charset="0"/>
                <a:cs typeface="Courier New" panose="02070309020205020404" pitchFamily="49" charset="0"/>
              </a:rPr>
              <a:t>|</a:t>
            </a:r>
            <a:r>
              <a:rPr lang="en-US" altLang="en-US" sz="1000" dirty="0" err="1">
                <a:latin typeface="Courier New" panose="02070309020205020404" pitchFamily="49" charset="0"/>
                <a:cs typeface="Courier New" panose="02070309020205020404" pitchFamily="49" charset="0"/>
              </a:rPr>
              <a:t>grep</a:t>
            </a:r>
            <a:r>
              <a:rPr lang="en-US" altLang="en-US" sz="1000" dirty="0">
                <a:latin typeface="Courier New" panose="02070309020205020404" pitchFamily="49" charset="0"/>
                <a:cs typeface="Courier New" panose="02070309020205020404" pitchFamily="49" charset="0"/>
              </a:rPr>
              <a:t> </a:t>
            </a:r>
            <a:r>
              <a:rPr lang="en-US" altLang="en-US" sz="1000" dirty="0" err="1">
                <a:latin typeface="Courier New" panose="02070309020205020404" pitchFamily="49" charset="0"/>
                <a:cs typeface="Courier New" panose="02070309020205020404" pitchFamily="49" charset="0"/>
              </a:rPr>
              <a:t>icmp</a:t>
            </a:r>
            <a:r>
              <a:rPr lang="en-US" altLang="en-US" sz="1000" dirty="0">
                <a:latin typeface="Courier New" panose="02070309020205020404" pitchFamily="49" charset="0"/>
                <a:cs typeface="Courier New" panose="02070309020205020404" pitchFamily="49" charset="0"/>
              </a:rPr>
              <a:t> </a:t>
            </a:r>
            <a:r>
              <a:rPr lang="en-US" altLang="en-US" sz="1000" dirty="0" smtClean="0">
                <a:latin typeface="Courier New" panose="02070309020205020404" pitchFamily="49" charset="0"/>
                <a:cs typeface="Courier New" panose="02070309020205020404" pitchFamily="49" charset="0"/>
              </a:rPr>
              <a:t> </a:t>
            </a:r>
            <a:endParaRPr lang="en-US" altLang="en-US" sz="1000" dirty="0">
              <a:latin typeface="Courier New" panose="02070309020205020404" pitchFamily="49" charset="0"/>
              <a:cs typeface="Courier New" panose="02070309020205020404" pitchFamily="49" charset="0"/>
            </a:endParaRPr>
          </a:p>
        </p:txBody>
      </p:sp>
      <p:sp>
        <p:nvSpPr>
          <p:cNvPr id="28" name="Rectangle 27"/>
          <p:cNvSpPr/>
          <p:nvPr/>
        </p:nvSpPr>
        <p:spPr>
          <a:xfrm>
            <a:off x="3425611" y="2991530"/>
            <a:ext cx="4531273" cy="40445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pic>
        <p:nvPicPr>
          <p:cNvPr id="13" name="Picture 12"/>
          <p:cNvPicPr>
            <a:picLocks noChangeAspect="1"/>
          </p:cNvPicPr>
          <p:nvPr/>
        </p:nvPicPr>
        <p:blipFill>
          <a:blip r:embed="rId7"/>
          <a:stretch>
            <a:fillRect/>
          </a:stretch>
        </p:blipFill>
        <p:spPr>
          <a:xfrm>
            <a:off x="3401621" y="1364025"/>
            <a:ext cx="4362450" cy="1390650"/>
          </a:xfrm>
          <a:prstGeom prst="rect">
            <a:avLst/>
          </a:prstGeom>
        </p:spPr>
      </p:pic>
      <p:sp>
        <p:nvSpPr>
          <p:cNvPr id="29" name="Rectangle 28"/>
          <p:cNvSpPr/>
          <p:nvPr/>
        </p:nvSpPr>
        <p:spPr>
          <a:xfrm>
            <a:off x="3903579" y="2147239"/>
            <a:ext cx="2554371" cy="215444"/>
          </a:xfrm>
          <a:prstGeom prst="rect">
            <a:avLst/>
          </a:prstGeom>
          <a:solidFill>
            <a:schemeClr val="tx1"/>
          </a:solidFill>
        </p:spPr>
        <p:txBody>
          <a:bodyPr wrap="square">
            <a:spAutoFit/>
          </a:bodyPr>
          <a:lstStyle/>
          <a:p>
            <a:pPr lvl="0" algn="just" eaLnBrk="0" fontAlgn="base" hangingPunct="0">
              <a:spcBef>
                <a:spcPct val="0"/>
              </a:spcBef>
              <a:spcAft>
                <a:spcPct val="0"/>
              </a:spcAft>
            </a:pPr>
            <a:r>
              <a:rPr lang="en-US" altLang="en-US" sz="400" dirty="0" smtClean="0">
                <a:solidFill>
                  <a:schemeClr val="bg1"/>
                </a:solidFill>
                <a:latin typeface="Courier New" panose="02070309020205020404" pitchFamily="49" charset="0"/>
                <a:cs typeface="Courier New" panose="02070309020205020404" pitchFamily="49" charset="0"/>
              </a:rPr>
              <a:t>[</a:t>
            </a:r>
            <a:r>
              <a:rPr lang="en-US" altLang="en-US" sz="400" dirty="0" err="1" smtClean="0">
                <a:solidFill>
                  <a:schemeClr val="bg1"/>
                </a:solidFill>
                <a:latin typeface="Courier New" panose="02070309020205020404" pitchFamily="49" charset="0"/>
                <a:cs typeface="Courier New" panose="02070309020205020404" pitchFamily="49" charset="0"/>
              </a:rPr>
              <a:t>root@controller</a:t>
            </a:r>
            <a:r>
              <a:rPr lang="en-US" altLang="en-US" sz="400" dirty="0" smtClean="0">
                <a:solidFill>
                  <a:schemeClr val="bg1"/>
                </a:solidFill>
                <a:latin typeface="Courier New" panose="02070309020205020404" pitchFamily="49" charset="0"/>
                <a:cs typeface="Courier New" panose="02070309020205020404" pitchFamily="49" charset="0"/>
              </a:rPr>
              <a:t> ~]#</a:t>
            </a:r>
          </a:p>
          <a:p>
            <a:pPr algn="just" eaLnBrk="0" fontAlgn="base" hangingPunct="0">
              <a:spcBef>
                <a:spcPct val="0"/>
              </a:spcBef>
              <a:spcAft>
                <a:spcPct val="0"/>
              </a:spcAft>
            </a:pPr>
            <a:r>
              <a:rPr lang="en-US" altLang="en-US" sz="400" dirty="0">
                <a:solidFill>
                  <a:schemeClr val="bg1"/>
                </a:solidFill>
                <a:latin typeface="Courier New" panose="02070309020205020404" pitchFamily="49" charset="0"/>
                <a:cs typeface="Courier New" panose="02070309020205020404" pitchFamily="49" charset="0"/>
              </a:rPr>
              <a:t>[</a:t>
            </a:r>
            <a:r>
              <a:rPr lang="en-US" altLang="en-US" sz="400" dirty="0" err="1">
                <a:solidFill>
                  <a:schemeClr val="bg1"/>
                </a:solidFill>
                <a:latin typeface="Courier New" panose="02070309020205020404" pitchFamily="49" charset="0"/>
                <a:cs typeface="Courier New" panose="02070309020205020404" pitchFamily="49" charset="0"/>
              </a:rPr>
              <a:t>root@controller</a:t>
            </a:r>
            <a:r>
              <a:rPr lang="en-US" altLang="en-US" sz="400" dirty="0">
                <a:solidFill>
                  <a:schemeClr val="bg1"/>
                </a:solidFill>
                <a:latin typeface="Courier New" panose="02070309020205020404" pitchFamily="49" charset="0"/>
                <a:cs typeface="Courier New" panose="02070309020205020404" pitchFamily="49" charset="0"/>
              </a:rPr>
              <a:t> </a:t>
            </a:r>
            <a:r>
              <a:rPr lang="en-US" altLang="en-US" sz="400" dirty="0" smtClean="0">
                <a:solidFill>
                  <a:schemeClr val="bg1"/>
                </a:solidFill>
                <a:latin typeface="Courier New" panose="02070309020205020404" pitchFamily="49" charset="0"/>
                <a:cs typeface="Courier New" panose="02070309020205020404" pitchFamily="49" charset="0"/>
              </a:rPr>
              <a:t>~]#</a:t>
            </a:r>
            <a:r>
              <a:rPr lang="en-US" altLang="en-US" sz="400" dirty="0">
                <a:solidFill>
                  <a:schemeClr val="bg1"/>
                </a:solidFill>
                <a:latin typeface="Courier New" panose="02070309020205020404" pitchFamily="49" charset="0"/>
                <a:cs typeface="Courier New" panose="02070309020205020404" pitchFamily="49" charset="0"/>
              </a:rPr>
              <a:t> </a:t>
            </a:r>
            <a:r>
              <a:rPr lang="en-US" altLang="en-US" sz="400" dirty="0" smtClean="0">
                <a:solidFill>
                  <a:schemeClr val="bg1"/>
                </a:solidFill>
                <a:latin typeface="Courier New" panose="02070309020205020404" pitchFamily="49" charset="0"/>
                <a:cs typeface="Courier New" panose="02070309020205020404" pitchFamily="49" charset="0"/>
              </a:rPr>
              <a:t>ping 10.136.136.112 –c4</a:t>
            </a:r>
            <a:endParaRPr lang="en-US" altLang="en-US" sz="400" dirty="0">
              <a:solidFill>
                <a:schemeClr val="bg1"/>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93984482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21</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64270" y="2310258"/>
            <a:ext cx="4284319" cy="738664"/>
          </a:xfrm>
          <a:prstGeom prst="rect">
            <a:avLst/>
          </a:prstGeom>
        </p:spPr>
        <p:txBody>
          <a:bodyPr wrap="square">
            <a:spAutoFit/>
          </a:bodyPr>
          <a:lstStyle/>
          <a:p>
            <a:pPr algn="just"/>
            <a:r>
              <a:rPr lang="en-US" sz="1400" dirty="0" smtClean="0"/>
              <a:t>Upload </a:t>
            </a:r>
            <a:r>
              <a:rPr lang="en-US" sz="1400" dirty="0"/>
              <a:t>image </a:t>
            </a:r>
            <a:r>
              <a:rPr lang="en-US" sz="1400" dirty="0" err="1"/>
              <a:t>atau</a:t>
            </a:r>
            <a:r>
              <a:rPr lang="en-US" sz="1400" dirty="0"/>
              <a:t> </a:t>
            </a:r>
            <a:r>
              <a:rPr lang="en-US" sz="1400" dirty="0" err="1"/>
              <a:t>iso</a:t>
            </a:r>
            <a:r>
              <a:rPr lang="en-US" sz="1400" dirty="0"/>
              <a:t> </a:t>
            </a:r>
            <a:r>
              <a:rPr lang="en-US" sz="1400" dirty="0" err="1"/>
              <a:t>menggunakan</a:t>
            </a:r>
            <a:r>
              <a:rPr lang="en-US" sz="1400" dirty="0"/>
              <a:t> </a:t>
            </a:r>
            <a:r>
              <a:rPr lang="en-US" sz="1400" dirty="0" err="1"/>
              <a:t>cirros</a:t>
            </a:r>
            <a:r>
              <a:rPr lang="en-US" sz="1400" dirty="0"/>
              <a:t>, </a:t>
            </a:r>
            <a:r>
              <a:rPr lang="en-US" sz="1400" dirty="0" err="1"/>
              <a:t>silakan</a:t>
            </a:r>
            <a:r>
              <a:rPr lang="en-US" sz="1400" dirty="0"/>
              <a:t> login Horizon &gt;&gt; Admin &gt;&gt; Compute &gt;&gt; Images &gt;&gt; Create Images</a:t>
            </a:r>
          </a:p>
        </p:txBody>
      </p:sp>
      <p:grpSp>
        <p:nvGrpSpPr>
          <p:cNvPr id="10" name="Group 9"/>
          <p:cNvGrpSpPr/>
          <p:nvPr/>
        </p:nvGrpSpPr>
        <p:grpSpPr>
          <a:xfrm>
            <a:off x="286603" y="3115221"/>
            <a:ext cx="4141017" cy="1981108"/>
            <a:chOff x="286603" y="1402086"/>
            <a:chExt cx="4141017" cy="1981108"/>
          </a:xfrm>
        </p:grpSpPr>
        <p:pic>
          <p:nvPicPr>
            <p:cNvPr id="7" name="Picture 6"/>
            <p:cNvPicPr>
              <a:picLocks noChangeAspect="1"/>
            </p:cNvPicPr>
            <p:nvPr/>
          </p:nvPicPr>
          <p:blipFill>
            <a:blip r:embed="rId3"/>
            <a:stretch>
              <a:fillRect/>
            </a:stretch>
          </p:blipFill>
          <p:spPr>
            <a:xfrm>
              <a:off x="286603" y="1402086"/>
              <a:ext cx="4141017" cy="1981108"/>
            </a:xfrm>
            <a:prstGeom prst="rect">
              <a:avLst/>
            </a:prstGeom>
          </p:spPr>
        </p:pic>
        <p:sp>
          <p:nvSpPr>
            <p:cNvPr id="8" name="Rectangle 7"/>
            <p:cNvSpPr/>
            <p:nvPr/>
          </p:nvSpPr>
          <p:spPr>
            <a:xfrm>
              <a:off x="1046743" y="1513947"/>
              <a:ext cx="1687340" cy="184666"/>
            </a:xfrm>
            <a:prstGeom prst="rect">
              <a:avLst/>
            </a:prstGeom>
          </p:spPr>
          <p:txBody>
            <a:bodyPr wrap="square">
              <a:spAutoFit/>
            </a:bodyPr>
            <a:lstStyle/>
            <a:p>
              <a:pPr algn="just"/>
              <a:r>
                <a:rPr lang="en-US" sz="600" dirty="0" smtClean="0">
                  <a:solidFill>
                    <a:schemeClr val="bg1">
                      <a:lumMod val="65000"/>
                    </a:schemeClr>
                  </a:solidFill>
                </a:rPr>
                <a:t>Openstack.panda.id/dashboard/admin/images</a:t>
              </a:r>
              <a:endParaRPr lang="en-US" sz="600" dirty="0">
                <a:solidFill>
                  <a:schemeClr val="bg1">
                    <a:lumMod val="65000"/>
                  </a:schemeClr>
                </a:solidFill>
              </a:endParaRPr>
            </a:p>
          </p:txBody>
        </p:sp>
      </p:grpSp>
      <p:sp>
        <p:nvSpPr>
          <p:cNvPr id="9" name="Rectangle 8"/>
          <p:cNvSpPr/>
          <p:nvPr/>
        </p:nvSpPr>
        <p:spPr>
          <a:xfrm>
            <a:off x="4570922" y="555700"/>
            <a:ext cx="4139117" cy="954107"/>
          </a:xfrm>
          <a:prstGeom prst="rect">
            <a:avLst/>
          </a:prstGeom>
        </p:spPr>
        <p:txBody>
          <a:bodyPr wrap="square">
            <a:spAutoFit/>
          </a:bodyPr>
          <a:lstStyle/>
          <a:p>
            <a:pPr algn="just"/>
            <a:r>
              <a:rPr lang="en-US" sz="1400" dirty="0" err="1"/>
              <a:t>Selanjutnya</a:t>
            </a:r>
            <a:r>
              <a:rPr lang="en-US" sz="1400" dirty="0"/>
              <a:t>, </a:t>
            </a:r>
            <a:r>
              <a:rPr lang="en-US" sz="1400" dirty="0" err="1"/>
              <a:t>isi</a:t>
            </a:r>
            <a:r>
              <a:rPr lang="en-US" sz="1400" dirty="0"/>
              <a:t> </a:t>
            </a:r>
            <a:r>
              <a:rPr lang="en-US" sz="1400" i="1" dirty="0"/>
              <a:t>Image Name</a:t>
            </a:r>
            <a:r>
              <a:rPr lang="en-US" sz="1400" dirty="0"/>
              <a:t> </a:t>
            </a:r>
            <a:r>
              <a:rPr lang="en-US" sz="1400" dirty="0" err="1"/>
              <a:t>dengan</a:t>
            </a:r>
            <a:r>
              <a:rPr lang="en-US" sz="1400" dirty="0"/>
              <a:t> </a:t>
            </a:r>
            <a:r>
              <a:rPr lang="en-US" sz="1400" dirty="0" err="1"/>
              <a:t>nama</a:t>
            </a:r>
            <a:r>
              <a:rPr lang="en-US" sz="1400" dirty="0"/>
              <a:t> image yang </a:t>
            </a:r>
            <a:r>
              <a:rPr lang="en-US" sz="1400" dirty="0" err="1"/>
              <a:t>Anda</a:t>
            </a:r>
            <a:r>
              <a:rPr lang="en-US" sz="1400" dirty="0"/>
              <a:t> </a:t>
            </a:r>
            <a:r>
              <a:rPr lang="en-US" sz="1400" dirty="0" err="1"/>
              <a:t>inginkan</a:t>
            </a:r>
            <a:r>
              <a:rPr lang="en-US" sz="1400" dirty="0"/>
              <a:t> </a:t>
            </a:r>
            <a:r>
              <a:rPr lang="en-US" sz="1400" dirty="0" err="1"/>
              <a:t>dan</a:t>
            </a:r>
            <a:r>
              <a:rPr lang="en-US" sz="1400" dirty="0"/>
              <a:t> </a:t>
            </a:r>
            <a:r>
              <a:rPr lang="en-US" sz="1400" dirty="0" err="1"/>
              <a:t>klik</a:t>
            </a:r>
            <a:r>
              <a:rPr lang="en-US" sz="1400" dirty="0"/>
              <a:t> </a:t>
            </a:r>
            <a:r>
              <a:rPr lang="en-US" sz="1400" i="1" dirty="0"/>
              <a:t>Browser</a:t>
            </a:r>
            <a:r>
              <a:rPr lang="en-US" sz="1400" dirty="0"/>
              <a:t> &gt;&gt; </a:t>
            </a:r>
            <a:r>
              <a:rPr lang="en-US" sz="1400" i="1" dirty="0"/>
              <a:t>Upload Image</a:t>
            </a:r>
            <a:r>
              <a:rPr lang="en-US" sz="1400" dirty="0"/>
              <a:t> </a:t>
            </a:r>
            <a:r>
              <a:rPr lang="en-US" sz="1400" i="1" dirty="0"/>
              <a:t>&gt;&gt; Format (QCOW2 – QEMU Emulator)</a:t>
            </a:r>
            <a:r>
              <a:rPr lang="en-US" sz="1400" dirty="0"/>
              <a:t> </a:t>
            </a:r>
            <a:r>
              <a:rPr lang="en-US" sz="1400" i="1" dirty="0"/>
              <a:t>&gt;&gt; </a:t>
            </a:r>
            <a:r>
              <a:rPr lang="en-US" sz="1400" i="1" dirty="0" err="1"/>
              <a:t>Klik</a:t>
            </a:r>
            <a:r>
              <a:rPr lang="en-US" sz="1400" i="1" dirty="0"/>
              <a:t> Create Image</a:t>
            </a:r>
            <a:endParaRPr lang="en-US" sz="1400" dirty="0"/>
          </a:p>
        </p:txBody>
      </p:sp>
      <p:pic>
        <p:nvPicPr>
          <p:cNvPr id="11" name="Picture 10"/>
          <p:cNvPicPr>
            <a:picLocks noChangeAspect="1"/>
          </p:cNvPicPr>
          <p:nvPr/>
        </p:nvPicPr>
        <p:blipFill>
          <a:blip r:embed="rId4"/>
          <a:stretch>
            <a:fillRect/>
          </a:stretch>
        </p:blipFill>
        <p:spPr>
          <a:xfrm>
            <a:off x="4651132" y="1509807"/>
            <a:ext cx="4058907" cy="1580874"/>
          </a:xfrm>
          <a:prstGeom prst="rect">
            <a:avLst/>
          </a:prstGeom>
        </p:spPr>
      </p:pic>
      <p:pic>
        <p:nvPicPr>
          <p:cNvPr id="12" name="Picture 11"/>
          <p:cNvPicPr>
            <a:picLocks noChangeAspect="1"/>
          </p:cNvPicPr>
          <p:nvPr/>
        </p:nvPicPr>
        <p:blipFill>
          <a:blip r:embed="rId5"/>
          <a:stretch>
            <a:fillRect/>
          </a:stretch>
        </p:blipFill>
        <p:spPr>
          <a:xfrm>
            <a:off x="4651132" y="3383194"/>
            <a:ext cx="4268279" cy="1384069"/>
          </a:xfrm>
          <a:prstGeom prst="rect">
            <a:avLst/>
          </a:prstGeom>
        </p:spPr>
      </p:pic>
      <p:sp>
        <p:nvSpPr>
          <p:cNvPr id="2" name="Rectangle 1"/>
          <p:cNvSpPr/>
          <p:nvPr/>
        </p:nvSpPr>
        <p:spPr>
          <a:xfrm>
            <a:off x="214951" y="253705"/>
            <a:ext cx="2325830" cy="646331"/>
          </a:xfrm>
          <a:prstGeom prst="rect">
            <a:avLst/>
          </a:prstGeom>
        </p:spPr>
        <p:txBody>
          <a:bodyPr wrap="none">
            <a:spAutoFit/>
          </a:bodyPr>
          <a:lstStyle/>
          <a:p>
            <a:r>
              <a:rPr lang="en-US" dirty="0">
                <a:solidFill>
                  <a:srgbClr val="002060"/>
                </a:solidFill>
              </a:rPr>
              <a:t>Upload Image </a:t>
            </a:r>
            <a:r>
              <a:rPr lang="en-US" dirty="0" err="1">
                <a:solidFill>
                  <a:srgbClr val="002060"/>
                </a:solidFill>
              </a:rPr>
              <a:t>atau</a:t>
            </a:r>
            <a:r>
              <a:rPr lang="en-US" dirty="0">
                <a:solidFill>
                  <a:srgbClr val="002060"/>
                </a:solidFill>
              </a:rPr>
              <a:t> </a:t>
            </a:r>
            <a:r>
              <a:rPr lang="en-US" dirty="0" smtClean="0">
                <a:solidFill>
                  <a:srgbClr val="002060"/>
                </a:solidFill>
              </a:rPr>
              <a:t>ISO</a:t>
            </a:r>
          </a:p>
          <a:p>
            <a:r>
              <a:rPr lang="en-US" b="1" dirty="0">
                <a:solidFill>
                  <a:srgbClr val="002060"/>
                </a:solidFill>
              </a:rPr>
              <a:t>Create </a:t>
            </a:r>
            <a:r>
              <a:rPr lang="en-US" b="1" dirty="0" smtClean="0">
                <a:solidFill>
                  <a:srgbClr val="002060"/>
                </a:solidFill>
              </a:rPr>
              <a:t>Image</a:t>
            </a:r>
            <a:endParaRPr lang="en-US" b="1" dirty="0">
              <a:solidFill>
                <a:srgbClr val="002060"/>
              </a:solidFill>
            </a:endParaRPr>
          </a:p>
        </p:txBody>
      </p:sp>
      <p:sp>
        <p:nvSpPr>
          <p:cNvPr id="13" name="Rectangle 12"/>
          <p:cNvSpPr/>
          <p:nvPr/>
        </p:nvSpPr>
        <p:spPr>
          <a:xfrm>
            <a:off x="214951" y="800737"/>
            <a:ext cx="4284319" cy="1615827"/>
          </a:xfrm>
          <a:prstGeom prst="rect">
            <a:avLst/>
          </a:prstGeom>
        </p:spPr>
        <p:txBody>
          <a:bodyPr wrap="square">
            <a:spAutoFit/>
          </a:bodyPr>
          <a:lstStyle/>
          <a:p>
            <a:pPr algn="just"/>
            <a:r>
              <a:rPr lang="en-US" sz="1100" dirty="0"/>
              <a:t>upload image </a:t>
            </a:r>
            <a:r>
              <a:rPr lang="en-US" sz="1100" dirty="0" err="1"/>
              <a:t>atau</a:t>
            </a:r>
            <a:r>
              <a:rPr lang="en-US" sz="1100" dirty="0"/>
              <a:t> </a:t>
            </a:r>
            <a:r>
              <a:rPr lang="en-US" sz="1100" dirty="0" err="1"/>
              <a:t>iso</a:t>
            </a:r>
            <a:r>
              <a:rPr lang="en-US" sz="1100" dirty="0"/>
              <a:t> di </a:t>
            </a:r>
            <a:r>
              <a:rPr lang="en-US" sz="1100" dirty="0" err="1"/>
              <a:t>openstack</a:t>
            </a:r>
            <a:r>
              <a:rPr lang="en-US" sz="1100" dirty="0"/>
              <a:t> </a:t>
            </a:r>
            <a:r>
              <a:rPr lang="en-US" sz="1100" dirty="0" err="1"/>
              <a:t>terdapat</a:t>
            </a:r>
            <a:r>
              <a:rPr lang="en-US" sz="1100" dirty="0"/>
              <a:t> 2 </a:t>
            </a:r>
            <a:r>
              <a:rPr lang="en-US" sz="1100" dirty="0" err="1"/>
              <a:t>cara</a:t>
            </a:r>
            <a:r>
              <a:rPr lang="en-US" sz="1100" dirty="0"/>
              <a:t> yang </a:t>
            </a:r>
            <a:r>
              <a:rPr lang="en-US" sz="1100" dirty="0" err="1"/>
              <a:t>dapat</a:t>
            </a:r>
            <a:r>
              <a:rPr lang="en-US" sz="1100" dirty="0"/>
              <a:t> </a:t>
            </a:r>
            <a:r>
              <a:rPr lang="en-US" sz="1100" dirty="0" err="1"/>
              <a:t>dilakukan</a:t>
            </a:r>
            <a:r>
              <a:rPr lang="en-US" sz="1100" dirty="0"/>
              <a:t> </a:t>
            </a:r>
            <a:r>
              <a:rPr lang="en-US" sz="1100" dirty="0" err="1"/>
              <a:t>yaitu</a:t>
            </a:r>
            <a:r>
              <a:rPr lang="en-US" sz="1100" dirty="0"/>
              <a:t> </a:t>
            </a:r>
            <a:r>
              <a:rPr lang="en-US" sz="1100" dirty="0" err="1"/>
              <a:t>melalui</a:t>
            </a:r>
            <a:r>
              <a:rPr lang="en-US" sz="1100" dirty="0"/>
              <a:t> horizon (</a:t>
            </a:r>
            <a:r>
              <a:rPr lang="en-US" sz="1100" dirty="0" err="1"/>
              <a:t>melalui</a:t>
            </a:r>
            <a:r>
              <a:rPr lang="en-US" sz="1100" dirty="0"/>
              <a:t> web) </a:t>
            </a:r>
            <a:r>
              <a:rPr lang="en-US" sz="1100" dirty="0" err="1"/>
              <a:t>atau</a:t>
            </a:r>
            <a:r>
              <a:rPr lang="en-US" sz="1100" dirty="0"/>
              <a:t> CLI</a:t>
            </a:r>
            <a:r>
              <a:rPr lang="en-US" sz="1100" dirty="0" smtClean="0"/>
              <a:t>.</a:t>
            </a:r>
          </a:p>
          <a:p>
            <a:pPr algn="just"/>
            <a:r>
              <a:rPr lang="en-US" sz="1100" dirty="0" smtClean="0"/>
              <a:t>U</a:t>
            </a:r>
            <a:r>
              <a:rPr lang="en-US" sz="1100" dirty="0"/>
              <a:t>pload image </a:t>
            </a:r>
            <a:r>
              <a:rPr lang="en-US" sz="1100" dirty="0" err="1"/>
              <a:t>atau</a:t>
            </a:r>
            <a:r>
              <a:rPr lang="en-US" sz="1100" dirty="0"/>
              <a:t> </a:t>
            </a:r>
            <a:r>
              <a:rPr lang="en-US" sz="1100" dirty="0" err="1"/>
              <a:t>iso</a:t>
            </a:r>
            <a:r>
              <a:rPr lang="en-US" sz="1100" dirty="0"/>
              <a:t> </a:t>
            </a:r>
            <a:r>
              <a:rPr lang="en-US" sz="1100" dirty="0" err="1"/>
              <a:t>pastikan</a:t>
            </a:r>
            <a:r>
              <a:rPr lang="en-US" sz="1100" dirty="0"/>
              <a:t> </a:t>
            </a:r>
            <a:r>
              <a:rPr lang="en-US" sz="1100" dirty="0" err="1"/>
              <a:t>Anda</a:t>
            </a:r>
            <a:r>
              <a:rPr lang="en-US" sz="1100" dirty="0"/>
              <a:t> </a:t>
            </a:r>
            <a:r>
              <a:rPr lang="en-US" sz="1100" dirty="0" err="1"/>
              <a:t>sudah</a:t>
            </a:r>
            <a:r>
              <a:rPr lang="en-US" sz="1100" dirty="0"/>
              <a:t> </a:t>
            </a:r>
            <a:r>
              <a:rPr lang="en-US" sz="1100" dirty="0" err="1"/>
              <a:t>mengunguh</a:t>
            </a:r>
            <a:r>
              <a:rPr lang="en-US" sz="1100" dirty="0"/>
              <a:t> image </a:t>
            </a:r>
            <a:r>
              <a:rPr lang="en-US" sz="1100" dirty="0" err="1"/>
              <a:t>nya</a:t>
            </a:r>
            <a:r>
              <a:rPr lang="en-US" sz="1100" dirty="0"/>
              <a:t> </a:t>
            </a:r>
            <a:r>
              <a:rPr lang="en-US" sz="1100" dirty="0" err="1"/>
              <a:t>terlebih</a:t>
            </a:r>
            <a:r>
              <a:rPr lang="en-US" sz="1100" dirty="0"/>
              <a:t> </a:t>
            </a:r>
            <a:r>
              <a:rPr lang="en-US" sz="1100" dirty="0" err="1"/>
              <a:t>dahulu</a:t>
            </a:r>
            <a:r>
              <a:rPr lang="en-US" sz="1100" dirty="0"/>
              <a:t> </a:t>
            </a:r>
            <a:r>
              <a:rPr lang="en-US" sz="1100" dirty="0" err="1"/>
              <a:t>berikut</a:t>
            </a:r>
            <a:r>
              <a:rPr lang="en-US" sz="1100" dirty="0"/>
              <a:t> link </a:t>
            </a:r>
            <a:r>
              <a:rPr lang="en-US" sz="1100" dirty="0" err="1"/>
              <a:t>jika</a:t>
            </a:r>
            <a:r>
              <a:rPr lang="en-US" sz="1100" dirty="0"/>
              <a:t> </a:t>
            </a:r>
            <a:r>
              <a:rPr lang="en-US" sz="1100" dirty="0" err="1"/>
              <a:t>menggunakan</a:t>
            </a:r>
            <a:r>
              <a:rPr lang="en-US" sz="1100" dirty="0"/>
              <a:t> Ubuntu, CentOS </a:t>
            </a:r>
            <a:r>
              <a:rPr lang="en-US" sz="1100" dirty="0" err="1"/>
              <a:t>dan</a:t>
            </a:r>
            <a:r>
              <a:rPr lang="en-US" sz="1100" dirty="0"/>
              <a:t> </a:t>
            </a:r>
            <a:r>
              <a:rPr lang="en-US" sz="1100" dirty="0" err="1"/>
              <a:t>Cirros</a:t>
            </a:r>
            <a:endParaRPr lang="en-US" sz="1100" dirty="0"/>
          </a:p>
          <a:p>
            <a:pPr lvl="1" algn="just"/>
            <a:r>
              <a:rPr lang="en-US" sz="1100" dirty="0">
                <a:hlinkClick r:id="rId6"/>
              </a:rPr>
              <a:t>Ubuntu Cloud Images</a:t>
            </a:r>
            <a:endParaRPr lang="en-US" sz="1100" dirty="0"/>
          </a:p>
          <a:p>
            <a:pPr lvl="1" algn="just"/>
            <a:r>
              <a:rPr lang="en-US" sz="1100" dirty="0">
                <a:hlinkClick r:id="rId7"/>
              </a:rPr>
              <a:t>CentOS Cloud Images</a:t>
            </a:r>
            <a:endParaRPr lang="en-US" sz="1100" dirty="0"/>
          </a:p>
          <a:p>
            <a:pPr lvl="1" algn="just"/>
            <a:r>
              <a:rPr lang="en-US" sz="1100" dirty="0" err="1">
                <a:hlinkClick r:id="rId8"/>
              </a:rPr>
              <a:t>Cirros</a:t>
            </a:r>
            <a:endParaRPr lang="en-US" sz="1100" dirty="0"/>
          </a:p>
          <a:p>
            <a:pPr algn="just"/>
            <a:endParaRPr lang="en-US" sz="1100" dirty="0"/>
          </a:p>
        </p:txBody>
      </p:sp>
    </p:spTree>
    <p:extLst>
      <p:ext uri="{BB962C8B-B14F-4D97-AF65-F5344CB8AC3E}">
        <p14:creationId xmlns:p14="http://schemas.microsoft.com/office/powerpoint/2010/main" val="82214938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22</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1" y="663422"/>
            <a:ext cx="4284319" cy="738664"/>
          </a:xfrm>
          <a:prstGeom prst="rect">
            <a:avLst/>
          </a:prstGeom>
        </p:spPr>
        <p:txBody>
          <a:bodyPr wrap="square">
            <a:spAutoFit/>
          </a:bodyPr>
          <a:lstStyle/>
          <a:p>
            <a:pPr algn="just"/>
            <a:r>
              <a:rPr lang="en-US" sz="1400" dirty="0" smtClean="0"/>
              <a:t>Upload </a:t>
            </a:r>
            <a:r>
              <a:rPr lang="en-US" sz="1400" dirty="0"/>
              <a:t>image </a:t>
            </a:r>
            <a:r>
              <a:rPr lang="en-US" sz="1400" dirty="0" err="1"/>
              <a:t>atau</a:t>
            </a:r>
            <a:r>
              <a:rPr lang="en-US" sz="1400" dirty="0"/>
              <a:t> </a:t>
            </a:r>
            <a:r>
              <a:rPr lang="en-US" sz="1400" dirty="0" err="1"/>
              <a:t>iso</a:t>
            </a:r>
            <a:r>
              <a:rPr lang="en-US" sz="1400" dirty="0"/>
              <a:t> </a:t>
            </a:r>
            <a:r>
              <a:rPr lang="en-US" sz="1400" dirty="0" err="1"/>
              <a:t>menggunakan</a:t>
            </a:r>
            <a:r>
              <a:rPr lang="en-US" sz="1400" dirty="0"/>
              <a:t> </a:t>
            </a:r>
            <a:r>
              <a:rPr lang="en-US" sz="1400" dirty="0" err="1"/>
              <a:t>cirros</a:t>
            </a:r>
            <a:r>
              <a:rPr lang="en-US" sz="1400" dirty="0"/>
              <a:t>, </a:t>
            </a:r>
            <a:r>
              <a:rPr lang="en-US" sz="1400" dirty="0" err="1"/>
              <a:t>silakan</a:t>
            </a:r>
            <a:r>
              <a:rPr lang="en-US" sz="1400" dirty="0"/>
              <a:t> login Horizon &gt;&gt; Admin &gt;&gt; Compute &gt;&gt; Images &gt;&gt; Create Images</a:t>
            </a:r>
          </a:p>
        </p:txBody>
      </p:sp>
      <p:grpSp>
        <p:nvGrpSpPr>
          <p:cNvPr id="10" name="Group 9"/>
          <p:cNvGrpSpPr/>
          <p:nvPr/>
        </p:nvGrpSpPr>
        <p:grpSpPr>
          <a:xfrm>
            <a:off x="286603" y="1402086"/>
            <a:ext cx="4141017" cy="1981108"/>
            <a:chOff x="286603" y="1402086"/>
            <a:chExt cx="4141017" cy="1981108"/>
          </a:xfrm>
        </p:grpSpPr>
        <p:pic>
          <p:nvPicPr>
            <p:cNvPr id="7" name="Picture 6"/>
            <p:cNvPicPr>
              <a:picLocks noChangeAspect="1"/>
            </p:cNvPicPr>
            <p:nvPr/>
          </p:nvPicPr>
          <p:blipFill>
            <a:blip r:embed="rId3"/>
            <a:stretch>
              <a:fillRect/>
            </a:stretch>
          </p:blipFill>
          <p:spPr>
            <a:xfrm>
              <a:off x="286603" y="1402086"/>
              <a:ext cx="4141017" cy="1981108"/>
            </a:xfrm>
            <a:prstGeom prst="rect">
              <a:avLst/>
            </a:prstGeom>
          </p:spPr>
        </p:pic>
        <p:sp>
          <p:nvSpPr>
            <p:cNvPr id="8" name="Rectangle 7"/>
            <p:cNvSpPr/>
            <p:nvPr/>
          </p:nvSpPr>
          <p:spPr>
            <a:xfrm>
              <a:off x="1046743" y="1513947"/>
              <a:ext cx="1687340" cy="184666"/>
            </a:xfrm>
            <a:prstGeom prst="rect">
              <a:avLst/>
            </a:prstGeom>
          </p:spPr>
          <p:txBody>
            <a:bodyPr wrap="square">
              <a:spAutoFit/>
            </a:bodyPr>
            <a:lstStyle/>
            <a:p>
              <a:pPr algn="just"/>
              <a:r>
                <a:rPr lang="en-US" sz="600" dirty="0" smtClean="0">
                  <a:solidFill>
                    <a:schemeClr val="bg1">
                      <a:lumMod val="65000"/>
                    </a:schemeClr>
                  </a:solidFill>
                </a:rPr>
                <a:t>Openstack.panda.id/dashboard/admin/images</a:t>
              </a:r>
              <a:endParaRPr lang="en-US" sz="600" dirty="0">
                <a:solidFill>
                  <a:schemeClr val="bg1">
                    <a:lumMod val="65000"/>
                  </a:schemeClr>
                </a:solidFill>
              </a:endParaRPr>
            </a:p>
          </p:txBody>
        </p:sp>
      </p:grpSp>
      <p:sp>
        <p:nvSpPr>
          <p:cNvPr id="9" name="Rectangle 8"/>
          <p:cNvSpPr/>
          <p:nvPr/>
        </p:nvSpPr>
        <p:spPr>
          <a:xfrm>
            <a:off x="4570922" y="555700"/>
            <a:ext cx="4139117" cy="954107"/>
          </a:xfrm>
          <a:prstGeom prst="rect">
            <a:avLst/>
          </a:prstGeom>
        </p:spPr>
        <p:txBody>
          <a:bodyPr wrap="square">
            <a:spAutoFit/>
          </a:bodyPr>
          <a:lstStyle/>
          <a:p>
            <a:pPr algn="just"/>
            <a:r>
              <a:rPr lang="en-US" sz="1400" dirty="0" err="1"/>
              <a:t>Selanjutnya</a:t>
            </a:r>
            <a:r>
              <a:rPr lang="en-US" sz="1400" dirty="0"/>
              <a:t>, </a:t>
            </a:r>
            <a:r>
              <a:rPr lang="en-US" sz="1400" dirty="0" err="1"/>
              <a:t>isi</a:t>
            </a:r>
            <a:r>
              <a:rPr lang="en-US" sz="1400" dirty="0"/>
              <a:t> </a:t>
            </a:r>
            <a:r>
              <a:rPr lang="en-US" sz="1400" i="1" dirty="0"/>
              <a:t>Image Name</a:t>
            </a:r>
            <a:r>
              <a:rPr lang="en-US" sz="1400" dirty="0"/>
              <a:t> </a:t>
            </a:r>
            <a:r>
              <a:rPr lang="en-US" sz="1400" dirty="0" err="1"/>
              <a:t>dengan</a:t>
            </a:r>
            <a:r>
              <a:rPr lang="en-US" sz="1400" dirty="0"/>
              <a:t> </a:t>
            </a:r>
            <a:r>
              <a:rPr lang="en-US" sz="1400" dirty="0" err="1"/>
              <a:t>nama</a:t>
            </a:r>
            <a:r>
              <a:rPr lang="en-US" sz="1400" dirty="0"/>
              <a:t> image yang </a:t>
            </a:r>
            <a:r>
              <a:rPr lang="en-US" sz="1400" dirty="0" err="1"/>
              <a:t>Anda</a:t>
            </a:r>
            <a:r>
              <a:rPr lang="en-US" sz="1400" dirty="0"/>
              <a:t> </a:t>
            </a:r>
            <a:r>
              <a:rPr lang="en-US" sz="1400" dirty="0" err="1"/>
              <a:t>inginkan</a:t>
            </a:r>
            <a:r>
              <a:rPr lang="en-US" sz="1400" dirty="0"/>
              <a:t> </a:t>
            </a:r>
            <a:r>
              <a:rPr lang="en-US" sz="1400" dirty="0" err="1"/>
              <a:t>dan</a:t>
            </a:r>
            <a:r>
              <a:rPr lang="en-US" sz="1400" dirty="0"/>
              <a:t> </a:t>
            </a:r>
            <a:r>
              <a:rPr lang="en-US" sz="1400" dirty="0" err="1"/>
              <a:t>klik</a:t>
            </a:r>
            <a:r>
              <a:rPr lang="en-US" sz="1400" dirty="0"/>
              <a:t> </a:t>
            </a:r>
            <a:r>
              <a:rPr lang="en-US" sz="1400" i="1" dirty="0"/>
              <a:t>Browser</a:t>
            </a:r>
            <a:r>
              <a:rPr lang="en-US" sz="1400" dirty="0"/>
              <a:t> &gt;&gt; </a:t>
            </a:r>
            <a:r>
              <a:rPr lang="en-US" sz="1400" i="1" dirty="0"/>
              <a:t>Upload Image</a:t>
            </a:r>
            <a:r>
              <a:rPr lang="en-US" sz="1400" dirty="0"/>
              <a:t> </a:t>
            </a:r>
            <a:r>
              <a:rPr lang="en-US" sz="1400" i="1" dirty="0"/>
              <a:t>&gt;&gt; Format (QCOW2 – QEMU Emulator)</a:t>
            </a:r>
            <a:r>
              <a:rPr lang="en-US" sz="1400" dirty="0"/>
              <a:t> </a:t>
            </a:r>
            <a:r>
              <a:rPr lang="en-US" sz="1400" i="1" dirty="0"/>
              <a:t>&gt;&gt; </a:t>
            </a:r>
            <a:r>
              <a:rPr lang="en-US" sz="1400" i="1" dirty="0" err="1"/>
              <a:t>Klik</a:t>
            </a:r>
            <a:r>
              <a:rPr lang="en-US" sz="1400" i="1" dirty="0"/>
              <a:t> Create Image</a:t>
            </a:r>
            <a:endParaRPr lang="en-US" sz="1400" dirty="0"/>
          </a:p>
        </p:txBody>
      </p:sp>
      <p:pic>
        <p:nvPicPr>
          <p:cNvPr id="11" name="Picture 10"/>
          <p:cNvPicPr>
            <a:picLocks noChangeAspect="1"/>
          </p:cNvPicPr>
          <p:nvPr/>
        </p:nvPicPr>
        <p:blipFill>
          <a:blip r:embed="rId4"/>
          <a:stretch>
            <a:fillRect/>
          </a:stretch>
        </p:blipFill>
        <p:spPr>
          <a:xfrm>
            <a:off x="4651132" y="1509807"/>
            <a:ext cx="4058907" cy="1580874"/>
          </a:xfrm>
          <a:prstGeom prst="rect">
            <a:avLst/>
          </a:prstGeom>
        </p:spPr>
      </p:pic>
      <p:pic>
        <p:nvPicPr>
          <p:cNvPr id="12" name="Picture 11"/>
          <p:cNvPicPr>
            <a:picLocks noChangeAspect="1"/>
          </p:cNvPicPr>
          <p:nvPr/>
        </p:nvPicPr>
        <p:blipFill>
          <a:blip r:embed="rId5"/>
          <a:stretch>
            <a:fillRect/>
          </a:stretch>
        </p:blipFill>
        <p:spPr>
          <a:xfrm>
            <a:off x="4651132" y="3383194"/>
            <a:ext cx="4268279" cy="1384069"/>
          </a:xfrm>
          <a:prstGeom prst="rect">
            <a:avLst/>
          </a:prstGeom>
        </p:spPr>
      </p:pic>
      <p:sp>
        <p:nvSpPr>
          <p:cNvPr id="2" name="Rectangle 1"/>
          <p:cNvSpPr/>
          <p:nvPr/>
        </p:nvSpPr>
        <p:spPr>
          <a:xfrm>
            <a:off x="143301" y="399212"/>
            <a:ext cx="3228513" cy="369332"/>
          </a:xfrm>
          <a:prstGeom prst="rect">
            <a:avLst/>
          </a:prstGeom>
        </p:spPr>
        <p:txBody>
          <a:bodyPr wrap="none">
            <a:spAutoFit/>
          </a:bodyPr>
          <a:lstStyle/>
          <a:p>
            <a:r>
              <a:rPr lang="en-US" b="1" dirty="0" smtClean="0">
                <a:solidFill>
                  <a:srgbClr val="002060"/>
                </a:solidFill>
              </a:rPr>
              <a:t>Create </a:t>
            </a:r>
            <a:r>
              <a:rPr lang="en-US" b="1" dirty="0">
                <a:solidFill>
                  <a:srgbClr val="002060"/>
                </a:solidFill>
              </a:rPr>
              <a:t>Instance </a:t>
            </a:r>
            <a:r>
              <a:rPr lang="en-US" b="1" dirty="0" err="1">
                <a:solidFill>
                  <a:srgbClr val="002060"/>
                </a:solidFill>
              </a:rPr>
              <a:t>Melalui</a:t>
            </a:r>
            <a:r>
              <a:rPr lang="en-US" b="1" dirty="0">
                <a:solidFill>
                  <a:srgbClr val="002060"/>
                </a:solidFill>
              </a:rPr>
              <a:t> Horizon</a:t>
            </a:r>
          </a:p>
        </p:txBody>
      </p:sp>
    </p:spTree>
    <p:extLst>
      <p:ext uri="{BB962C8B-B14F-4D97-AF65-F5344CB8AC3E}">
        <p14:creationId xmlns:p14="http://schemas.microsoft.com/office/powerpoint/2010/main" val="184161137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23</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1" y="663422"/>
            <a:ext cx="4284319" cy="738664"/>
          </a:xfrm>
          <a:prstGeom prst="rect">
            <a:avLst/>
          </a:prstGeom>
        </p:spPr>
        <p:txBody>
          <a:bodyPr wrap="square">
            <a:spAutoFit/>
          </a:bodyPr>
          <a:lstStyle/>
          <a:p>
            <a:pPr algn="just"/>
            <a:r>
              <a:rPr lang="en-US" sz="1400" dirty="0" smtClean="0"/>
              <a:t>Upload </a:t>
            </a:r>
            <a:r>
              <a:rPr lang="en-US" sz="1400" dirty="0"/>
              <a:t>image </a:t>
            </a:r>
            <a:r>
              <a:rPr lang="en-US" sz="1400" dirty="0" err="1"/>
              <a:t>atau</a:t>
            </a:r>
            <a:r>
              <a:rPr lang="en-US" sz="1400" dirty="0"/>
              <a:t> </a:t>
            </a:r>
            <a:r>
              <a:rPr lang="en-US" sz="1400" dirty="0" err="1"/>
              <a:t>iso</a:t>
            </a:r>
            <a:r>
              <a:rPr lang="en-US" sz="1400" dirty="0"/>
              <a:t> </a:t>
            </a:r>
            <a:r>
              <a:rPr lang="en-US" sz="1400" dirty="0" err="1"/>
              <a:t>menggunakan</a:t>
            </a:r>
            <a:r>
              <a:rPr lang="en-US" sz="1400" dirty="0"/>
              <a:t> </a:t>
            </a:r>
            <a:r>
              <a:rPr lang="en-US" sz="1400" dirty="0" err="1"/>
              <a:t>cirros</a:t>
            </a:r>
            <a:r>
              <a:rPr lang="en-US" sz="1400" dirty="0"/>
              <a:t>, </a:t>
            </a:r>
            <a:r>
              <a:rPr lang="en-US" sz="1400" dirty="0" err="1"/>
              <a:t>silakan</a:t>
            </a:r>
            <a:r>
              <a:rPr lang="en-US" sz="1400" dirty="0"/>
              <a:t> login Horizon &gt;&gt; Admin &gt;&gt; Compute &gt;&gt; Images &gt;&gt; Create Images</a:t>
            </a:r>
          </a:p>
        </p:txBody>
      </p:sp>
      <p:grpSp>
        <p:nvGrpSpPr>
          <p:cNvPr id="10" name="Group 9"/>
          <p:cNvGrpSpPr/>
          <p:nvPr/>
        </p:nvGrpSpPr>
        <p:grpSpPr>
          <a:xfrm>
            <a:off x="286603" y="1402086"/>
            <a:ext cx="4141017" cy="1981108"/>
            <a:chOff x="286603" y="1402086"/>
            <a:chExt cx="4141017" cy="1981108"/>
          </a:xfrm>
        </p:grpSpPr>
        <p:pic>
          <p:nvPicPr>
            <p:cNvPr id="7" name="Picture 6"/>
            <p:cNvPicPr>
              <a:picLocks noChangeAspect="1"/>
            </p:cNvPicPr>
            <p:nvPr/>
          </p:nvPicPr>
          <p:blipFill>
            <a:blip r:embed="rId3"/>
            <a:stretch>
              <a:fillRect/>
            </a:stretch>
          </p:blipFill>
          <p:spPr>
            <a:xfrm>
              <a:off x="286603" y="1402086"/>
              <a:ext cx="4141017" cy="1981108"/>
            </a:xfrm>
            <a:prstGeom prst="rect">
              <a:avLst/>
            </a:prstGeom>
          </p:spPr>
        </p:pic>
        <p:sp>
          <p:nvSpPr>
            <p:cNvPr id="8" name="Rectangle 7"/>
            <p:cNvSpPr/>
            <p:nvPr/>
          </p:nvSpPr>
          <p:spPr>
            <a:xfrm>
              <a:off x="1046743" y="1513947"/>
              <a:ext cx="1687340" cy="184666"/>
            </a:xfrm>
            <a:prstGeom prst="rect">
              <a:avLst/>
            </a:prstGeom>
          </p:spPr>
          <p:txBody>
            <a:bodyPr wrap="square">
              <a:spAutoFit/>
            </a:bodyPr>
            <a:lstStyle/>
            <a:p>
              <a:pPr algn="just"/>
              <a:r>
                <a:rPr lang="en-US" sz="600" dirty="0" smtClean="0">
                  <a:solidFill>
                    <a:schemeClr val="bg1">
                      <a:lumMod val="65000"/>
                    </a:schemeClr>
                  </a:solidFill>
                </a:rPr>
                <a:t>Openstack.panda.id/dashboard/admin/images</a:t>
              </a:r>
              <a:endParaRPr lang="en-US" sz="600" dirty="0">
                <a:solidFill>
                  <a:schemeClr val="bg1">
                    <a:lumMod val="65000"/>
                  </a:schemeClr>
                </a:solidFill>
              </a:endParaRPr>
            </a:p>
          </p:txBody>
        </p:sp>
      </p:grpSp>
      <p:sp>
        <p:nvSpPr>
          <p:cNvPr id="9" name="Rectangle 8"/>
          <p:cNvSpPr/>
          <p:nvPr/>
        </p:nvSpPr>
        <p:spPr>
          <a:xfrm>
            <a:off x="4570922" y="555700"/>
            <a:ext cx="4139117" cy="954107"/>
          </a:xfrm>
          <a:prstGeom prst="rect">
            <a:avLst/>
          </a:prstGeom>
        </p:spPr>
        <p:txBody>
          <a:bodyPr wrap="square">
            <a:spAutoFit/>
          </a:bodyPr>
          <a:lstStyle/>
          <a:p>
            <a:pPr algn="just"/>
            <a:r>
              <a:rPr lang="en-US" sz="1400" dirty="0" err="1"/>
              <a:t>Selanjutnya</a:t>
            </a:r>
            <a:r>
              <a:rPr lang="en-US" sz="1400" dirty="0"/>
              <a:t>, </a:t>
            </a:r>
            <a:r>
              <a:rPr lang="en-US" sz="1400" dirty="0" err="1"/>
              <a:t>isi</a:t>
            </a:r>
            <a:r>
              <a:rPr lang="en-US" sz="1400" dirty="0"/>
              <a:t> </a:t>
            </a:r>
            <a:r>
              <a:rPr lang="en-US" sz="1400" i="1" dirty="0"/>
              <a:t>Image Name</a:t>
            </a:r>
            <a:r>
              <a:rPr lang="en-US" sz="1400" dirty="0"/>
              <a:t> </a:t>
            </a:r>
            <a:r>
              <a:rPr lang="en-US" sz="1400" dirty="0" err="1"/>
              <a:t>dengan</a:t>
            </a:r>
            <a:r>
              <a:rPr lang="en-US" sz="1400" dirty="0"/>
              <a:t> </a:t>
            </a:r>
            <a:r>
              <a:rPr lang="en-US" sz="1400" dirty="0" err="1"/>
              <a:t>nama</a:t>
            </a:r>
            <a:r>
              <a:rPr lang="en-US" sz="1400" dirty="0"/>
              <a:t> image yang </a:t>
            </a:r>
            <a:r>
              <a:rPr lang="en-US" sz="1400" dirty="0" err="1"/>
              <a:t>Anda</a:t>
            </a:r>
            <a:r>
              <a:rPr lang="en-US" sz="1400" dirty="0"/>
              <a:t> </a:t>
            </a:r>
            <a:r>
              <a:rPr lang="en-US" sz="1400" dirty="0" err="1"/>
              <a:t>inginkan</a:t>
            </a:r>
            <a:r>
              <a:rPr lang="en-US" sz="1400" dirty="0"/>
              <a:t> </a:t>
            </a:r>
            <a:r>
              <a:rPr lang="en-US" sz="1400" dirty="0" err="1"/>
              <a:t>dan</a:t>
            </a:r>
            <a:r>
              <a:rPr lang="en-US" sz="1400" dirty="0"/>
              <a:t> </a:t>
            </a:r>
            <a:r>
              <a:rPr lang="en-US" sz="1400" dirty="0" err="1"/>
              <a:t>klik</a:t>
            </a:r>
            <a:r>
              <a:rPr lang="en-US" sz="1400" dirty="0"/>
              <a:t> </a:t>
            </a:r>
            <a:r>
              <a:rPr lang="en-US" sz="1400" i="1" dirty="0"/>
              <a:t>Browser</a:t>
            </a:r>
            <a:r>
              <a:rPr lang="en-US" sz="1400" dirty="0"/>
              <a:t> &gt;&gt; </a:t>
            </a:r>
            <a:r>
              <a:rPr lang="en-US" sz="1400" i="1" dirty="0"/>
              <a:t>Upload Image</a:t>
            </a:r>
            <a:r>
              <a:rPr lang="en-US" sz="1400" dirty="0"/>
              <a:t> </a:t>
            </a:r>
            <a:r>
              <a:rPr lang="en-US" sz="1400" i="1" dirty="0"/>
              <a:t>&gt;&gt; Format (QCOW2 – QEMU Emulator)</a:t>
            </a:r>
            <a:r>
              <a:rPr lang="en-US" sz="1400" dirty="0"/>
              <a:t> </a:t>
            </a:r>
            <a:r>
              <a:rPr lang="en-US" sz="1400" i="1" dirty="0"/>
              <a:t>&gt;&gt; </a:t>
            </a:r>
            <a:r>
              <a:rPr lang="en-US" sz="1400" i="1" dirty="0" err="1"/>
              <a:t>Klik</a:t>
            </a:r>
            <a:r>
              <a:rPr lang="en-US" sz="1400" i="1" dirty="0"/>
              <a:t> Create Image</a:t>
            </a:r>
            <a:endParaRPr lang="en-US" sz="1400" dirty="0"/>
          </a:p>
        </p:txBody>
      </p:sp>
      <p:pic>
        <p:nvPicPr>
          <p:cNvPr id="11" name="Picture 10"/>
          <p:cNvPicPr>
            <a:picLocks noChangeAspect="1"/>
          </p:cNvPicPr>
          <p:nvPr/>
        </p:nvPicPr>
        <p:blipFill>
          <a:blip r:embed="rId4"/>
          <a:stretch>
            <a:fillRect/>
          </a:stretch>
        </p:blipFill>
        <p:spPr>
          <a:xfrm>
            <a:off x="4651132" y="1509807"/>
            <a:ext cx="4058907" cy="1580874"/>
          </a:xfrm>
          <a:prstGeom prst="rect">
            <a:avLst/>
          </a:prstGeom>
        </p:spPr>
      </p:pic>
      <p:pic>
        <p:nvPicPr>
          <p:cNvPr id="12" name="Picture 11"/>
          <p:cNvPicPr>
            <a:picLocks noChangeAspect="1"/>
          </p:cNvPicPr>
          <p:nvPr/>
        </p:nvPicPr>
        <p:blipFill>
          <a:blip r:embed="rId5"/>
          <a:stretch>
            <a:fillRect/>
          </a:stretch>
        </p:blipFill>
        <p:spPr>
          <a:xfrm>
            <a:off x="4651132" y="3383194"/>
            <a:ext cx="4268279" cy="1384069"/>
          </a:xfrm>
          <a:prstGeom prst="rect">
            <a:avLst/>
          </a:prstGeom>
        </p:spPr>
      </p:pic>
      <p:sp>
        <p:nvSpPr>
          <p:cNvPr id="2" name="Rectangle 1"/>
          <p:cNvSpPr/>
          <p:nvPr/>
        </p:nvSpPr>
        <p:spPr>
          <a:xfrm>
            <a:off x="143301" y="399212"/>
            <a:ext cx="3228513" cy="369332"/>
          </a:xfrm>
          <a:prstGeom prst="rect">
            <a:avLst/>
          </a:prstGeom>
        </p:spPr>
        <p:txBody>
          <a:bodyPr wrap="none">
            <a:spAutoFit/>
          </a:bodyPr>
          <a:lstStyle/>
          <a:p>
            <a:r>
              <a:rPr lang="en-US" b="1" dirty="0" smtClean="0">
                <a:solidFill>
                  <a:srgbClr val="002060"/>
                </a:solidFill>
              </a:rPr>
              <a:t>Create </a:t>
            </a:r>
            <a:r>
              <a:rPr lang="en-US" b="1" dirty="0">
                <a:solidFill>
                  <a:srgbClr val="002060"/>
                </a:solidFill>
              </a:rPr>
              <a:t>Instance </a:t>
            </a:r>
            <a:r>
              <a:rPr lang="en-US" b="1" dirty="0" err="1">
                <a:solidFill>
                  <a:srgbClr val="002060"/>
                </a:solidFill>
              </a:rPr>
              <a:t>Melalui</a:t>
            </a:r>
            <a:r>
              <a:rPr lang="en-US" b="1" dirty="0">
                <a:solidFill>
                  <a:srgbClr val="002060"/>
                </a:solidFill>
              </a:rPr>
              <a:t> Horizon</a:t>
            </a:r>
          </a:p>
        </p:txBody>
      </p:sp>
    </p:spTree>
    <p:extLst>
      <p:ext uri="{BB962C8B-B14F-4D97-AF65-F5344CB8AC3E}">
        <p14:creationId xmlns:p14="http://schemas.microsoft.com/office/powerpoint/2010/main" val="1186227310"/>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4922" y="3227746"/>
            <a:ext cx="4748568" cy="994172"/>
          </a:xfrm>
        </p:spPr>
        <p:txBody>
          <a:bodyPr>
            <a:normAutofit fontScale="90000"/>
          </a:bodyPr>
          <a:lstStyle/>
          <a:p>
            <a:pPr marL="457200" indent="-457200">
              <a:buFont typeface="Wingdings" panose="05000000000000000000" pitchFamily="2" charset="2"/>
              <a:buChar char="ü"/>
            </a:pPr>
            <a:r>
              <a:rPr lang="en-US" dirty="0" err="1">
                <a:solidFill>
                  <a:srgbClr val="002060"/>
                </a:solidFill>
              </a:rPr>
              <a:t>Membuat</a:t>
            </a:r>
            <a:r>
              <a:rPr lang="en-US" dirty="0">
                <a:solidFill>
                  <a:srgbClr val="002060"/>
                </a:solidFill>
              </a:rPr>
              <a:t> Network</a:t>
            </a:r>
            <a:r>
              <a:rPr lang="en-US" dirty="0">
                <a:solidFill>
                  <a:schemeClr val="bg1">
                    <a:lumMod val="85000"/>
                  </a:schemeClr>
                </a:solidFill>
              </a:rPr>
              <a:t/>
            </a:r>
            <a:br>
              <a:rPr lang="en-US" dirty="0">
                <a:solidFill>
                  <a:schemeClr val="bg1">
                    <a:lumMod val="85000"/>
                  </a:schemeClr>
                </a:solidFill>
              </a:rPr>
            </a:br>
            <a:r>
              <a:rPr lang="en-US" dirty="0">
                <a:solidFill>
                  <a:srgbClr val="002060"/>
                </a:solidFill>
              </a:rPr>
              <a:t/>
            </a:r>
            <a:br>
              <a:rPr lang="en-US" dirty="0">
                <a:solidFill>
                  <a:srgbClr val="002060"/>
                </a:solidFill>
              </a:rPr>
            </a:br>
            <a:r>
              <a:rPr lang="en-US" b="1" dirty="0" smtClean="0">
                <a:solidFill>
                  <a:srgbClr val="002060"/>
                </a:solidFill>
              </a:rPr>
              <a:t>Create Network</a:t>
            </a:r>
            <a:endParaRPr lang="en-US" b="1" dirty="0">
              <a:solidFill>
                <a:srgbClr val="00206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24</a:t>
            </a:fld>
            <a:endParaRPr lang="en-US" dirty="0"/>
          </a:p>
        </p:txBody>
      </p:sp>
      <p:sp>
        <p:nvSpPr>
          <p:cNvPr id="5" name="Rectangle 4"/>
          <p:cNvSpPr/>
          <p:nvPr/>
        </p:nvSpPr>
        <p:spPr>
          <a:xfrm>
            <a:off x="133484" y="190619"/>
            <a:ext cx="6066430" cy="1477328"/>
          </a:xfrm>
          <a:prstGeom prst="rect">
            <a:avLst/>
          </a:prstGeom>
        </p:spPr>
        <p:txBody>
          <a:bodyPr wrap="square">
            <a:spAutoFit/>
          </a:bodyPr>
          <a:lstStyle/>
          <a:p>
            <a:pPr marL="285750" indent="-285750">
              <a:buFont typeface="Wingdings" panose="05000000000000000000" pitchFamily="2" charset="2"/>
              <a:buChar char="ü"/>
            </a:pPr>
            <a:r>
              <a:rPr lang="en-US" b="1" dirty="0" err="1">
                <a:solidFill>
                  <a:schemeClr val="bg1">
                    <a:lumMod val="85000"/>
                  </a:schemeClr>
                </a:solidFill>
              </a:rPr>
              <a:t>Openstack</a:t>
            </a:r>
            <a:r>
              <a:rPr lang="en-US" b="1" dirty="0">
                <a:solidFill>
                  <a:schemeClr val="bg1">
                    <a:lumMod val="85000"/>
                  </a:schemeClr>
                </a:solidFill>
              </a:rPr>
              <a:t>: Upload Image </a:t>
            </a:r>
            <a:r>
              <a:rPr lang="en-US" b="1" dirty="0" err="1">
                <a:solidFill>
                  <a:schemeClr val="bg1">
                    <a:lumMod val="85000"/>
                  </a:schemeClr>
                </a:solidFill>
              </a:rPr>
              <a:t>atau</a:t>
            </a:r>
            <a:r>
              <a:rPr lang="en-US" b="1" dirty="0">
                <a:solidFill>
                  <a:schemeClr val="bg1">
                    <a:lumMod val="85000"/>
                  </a:schemeClr>
                </a:solidFill>
              </a:rPr>
              <a:t> ISO</a:t>
            </a:r>
          </a:p>
          <a:p>
            <a:pPr marL="285750" indent="-285750">
              <a:buFont typeface="Wingdings" panose="05000000000000000000" pitchFamily="2" charset="2"/>
              <a:buChar char="ü"/>
            </a:pPr>
            <a:r>
              <a:rPr lang="en-US" b="1" dirty="0" err="1">
                <a:solidFill>
                  <a:srgbClr val="002060"/>
                </a:solidFill>
              </a:rPr>
              <a:t>Openstack</a:t>
            </a:r>
            <a:r>
              <a:rPr lang="en-US" b="1" dirty="0">
                <a:solidFill>
                  <a:srgbClr val="002060"/>
                </a:solidFill>
              </a:rPr>
              <a:t>: </a:t>
            </a:r>
            <a:r>
              <a:rPr lang="en-US" b="1" dirty="0" err="1">
                <a:solidFill>
                  <a:srgbClr val="002060"/>
                </a:solidFill>
              </a:rPr>
              <a:t>Membuat</a:t>
            </a:r>
            <a:r>
              <a:rPr lang="en-US" b="1" dirty="0">
                <a:solidFill>
                  <a:srgbClr val="002060"/>
                </a:solidFill>
              </a:rPr>
              <a:t> Network</a:t>
            </a:r>
          </a:p>
          <a:p>
            <a:pPr marL="285750" indent="-285750">
              <a:buFont typeface="Wingdings" panose="05000000000000000000" pitchFamily="2" charset="2"/>
              <a:buChar char="ü"/>
            </a:pPr>
            <a:r>
              <a:rPr lang="en-US" dirty="0" err="1">
                <a:solidFill>
                  <a:schemeClr val="bg1">
                    <a:lumMod val="85000"/>
                  </a:schemeClr>
                </a:solidFill>
              </a:rPr>
              <a:t>Openstack</a:t>
            </a:r>
            <a:r>
              <a:rPr lang="en-US" dirty="0">
                <a:solidFill>
                  <a:schemeClr val="bg1">
                    <a:lumMod val="85000"/>
                  </a:schemeClr>
                </a:solidFill>
              </a:rPr>
              <a:t>: </a:t>
            </a:r>
            <a:r>
              <a:rPr lang="en-US" dirty="0" err="1">
                <a:solidFill>
                  <a:schemeClr val="bg1">
                    <a:lumMod val="85000"/>
                  </a:schemeClr>
                </a:solidFill>
              </a:rPr>
              <a:t>Membuat</a:t>
            </a:r>
            <a:r>
              <a:rPr lang="en-US" dirty="0">
                <a:solidFill>
                  <a:schemeClr val="bg1">
                    <a:lumMod val="85000"/>
                  </a:schemeClr>
                </a:solidFill>
              </a:rPr>
              <a:t> Router</a:t>
            </a:r>
          </a:p>
          <a:p>
            <a:pPr marL="285750" indent="-285750">
              <a:buFont typeface="Wingdings" panose="05000000000000000000" pitchFamily="2" charset="2"/>
              <a:buChar char="ü"/>
            </a:pPr>
            <a:r>
              <a:rPr lang="en-US" dirty="0" err="1">
                <a:solidFill>
                  <a:schemeClr val="bg1">
                    <a:lumMod val="85000"/>
                  </a:schemeClr>
                </a:solidFill>
              </a:rPr>
              <a:t>Openstack</a:t>
            </a:r>
            <a:r>
              <a:rPr lang="en-US" dirty="0">
                <a:solidFill>
                  <a:schemeClr val="bg1">
                    <a:lumMod val="85000"/>
                  </a:schemeClr>
                </a:solidFill>
              </a:rPr>
              <a:t>: </a:t>
            </a:r>
            <a:r>
              <a:rPr lang="en-US" dirty="0" err="1">
                <a:solidFill>
                  <a:schemeClr val="bg1">
                    <a:lumMod val="85000"/>
                  </a:schemeClr>
                </a:solidFill>
              </a:rPr>
              <a:t>Menambahkan</a:t>
            </a:r>
            <a:r>
              <a:rPr lang="en-US" dirty="0">
                <a:solidFill>
                  <a:schemeClr val="bg1">
                    <a:lumMod val="85000"/>
                  </a:schemeClr>
                </a:solidFill>
              </a:rPr>
              <a:t> SSH Key</a:t>
            </a:r>
          </a:p>
          <a:p>
            <a:pPr marL="285750" indent="-285750">
              <a:buFont typeface="Wingdings" panose="05000000000000000000" pitchFamily="2" charset="2"/>
              <a:buChar char="ü"/>
            </a:pPr>
            <a:r>
              <a:rPr lang="en-US" dirty="0" err="1">
                <a:solidFill>
                  <a:schemeClr val="bg1">
                    <a:lumMod val="85000"/>
                  </a:schemeClr>
                </a:solidFill>
              </a:rPr>
              <a:t>Openstack</a:t>
            </a:r>
            <a:r>
              <a:rPr lang="en-US" dirty="0">
                <a:solidFill>
                  <a:schemeClr val="bg1">
                    <a:lumMod val="85000"/>
                  </a:schemeClr>
                </a:solidFill>
              </a:rPr>
              <a:t>: </a:t>
            </a:r>
            <a:r>
              <a:rPr lang="en-US" dirty="0" err="1">
                <a:solidFill>
                  <a:schemeClr val="bg1">
                    <a:lumMod val="85000"/>
                  </a:schemeClr>
                </a:solidFill>
              </a:rPr>
              <a:t>Menambah</a:t>
            </a:r>
            <a:r>
              <a:rPr lang="en-US" dirty="0">
                <a:solidFill>
                  <a:schemeClr val="bg1">
                    <a:lumMod val="85000"/>
                  </a:schemeClr>
                </a:solidFill>
              </a:rPr>
              <a:t> </a:t>
            </a:r>
            <a:r>
              <a:rPr lang="en-US" dirty="0" err="1">
                <a:solidFill>
                  <a:schemeClr val="bg1">
                    <a:lumMod val="85000"/>
                  </a:schemeClr>
                </a:solidFill>
              </a:rPr>
              <a:t>dan</a:t>
            </a:r>
            <a:r>
              <a:rPr lang="en-US" dirty="0">
                <a:solidFill>
                  <a:schemeClr val="bg1">
                    <a:lumMod val="85000"/>
                  </a:schemeClr>
                </a:solidFill>
              </a:rPr>
              <a:t> </a:t>
            </a:r>
            <a:r>
              <a:rPr lang="en-US" dirty="0" err="1">
                <a:solidFill>
                  <a:schemeClr val="bg1">
                    <a:lumMod val="85000"/>
                  </a:schemeClr>
                </a:solidFill>
              </a:rPr>
              <a:t>Menggunakan</a:t>
            </a:r>
            <a:r>
              <a:rPr lang="en-US" dirty="0">
                <a:solidFill>
                  <a:schemeClr val="bg1">
                    <a:lumMod val="85000"/>
                  </a:schemeClr>
                </a:solidFill>
              </a:rPr>
              <a:t> Security Group</a:t>
            </a:r>
          </a:p>
        </p:txBody>
      </p:sp>
      <p:pic>
        <p:nvPicPr>
          <p:cNvPr id="3" name="Picture 2"/>
          <p:cNvPicPr>
            <a:picLocks noChangeAspect="1"/>
          </p:cNvPicPr>
          <p:nvPr/>
        </p:nvPicPr>
        <p:blipFill>
          <a:blip r:embed="rId3"/>
          <a:stretch>
            <a:fillRect/>
          </a:stretch>
        </p:blipFill>
        <p:spPr>
          <a:xfrm>
            <a:off x="6324600" y="3526632"/>
            <a:ext cx="2819400" cy="1514475"/>
          </a:xfrm>
          <a:prstGeom prst="rect">
            <a:avLst/>
          </a:prstGeom>
        </p:spPr>
      </p:pic>
      <p:pic>
        <p:nvPicPr>
          <p:cNvPr id="6" name="Picture 5"/>
          <p:cNvPicPr>
            <a:picLocks noChangeAspect="1"/>
          </p:cNvPicPr>
          <p:nvPr/>
        </p:nvPicPr>
        <p:blipFill>
          <a:blip r:embed="rId4"/>
          <a:stretch>
            <a:fillRect/>
          </a:stretch>
        </p:blipFill>
        <p:spPr>
          <a:xfrm>
            <a:off x="7425079" y="0"/>
            <a:ext cx="1718921" cy="3526632"/>
          </a:xfrm>
          <a:prstGeom prst="rect">
            <a:avLst/>
          </a:prstGeom>
        </p:spPr>
      </p:pic>
    </p:spTree>
    <p:extLst>
      <p:ext uri="{BB962C8B-B14F-4D97-AF65-F5344CB8AC3E}">
        <p14:creationId xmlns:p14="http://schemas.microsoft.com/office/powerpoint/2010/main" val="29944624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25</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1" y="1047758"/>
            <a:ext cx="4284319" cy="954107"/>
          </a:xfrm>
          <a:prstGeom prst="rect">
            <a:avLst/>
          </a:prstGeom>
        </p:spPr>
        <p:txBody>
          <a:bodyPr wrap="square">
            <a:spAutoFit/>
          </a:bodyPr>
          <a:lstStyle/>
          <a:p>
            <a:pPr marL="285750" indent="-285750" algn="just">
              <a:buFont typeface="Arial" panose="020B0604020202020204" pitchFamily="34" charset="0"/>
              <a:buChar char="•"/>
            </a:pPr>
            <a:r>
              <a:rPr lang="en-US" sz="1400" dirty="0" smtClean="0"/>
              <a:t>Network </a:t>
            </a:r>
            <a:r>
              <a:rPr lang="en-US" sz="1400" dirty="0"/>
              <a:t>External: Network yang </a:t>
            </a:r>
            <a:r>
              <a:rPr lang="en-US" sz="1400" dirty="0" err="1"/>
              <a:t>tersambung</a:t>
            </a:r>
            <a:r>
              <a:rPr lang="en-US" sz="1400" dirty="0"/>
              <a:t> </a:t>
            </a:r>
            <a:r>
              <a:rPr lang="en-US" sz="1400" dirty="0" err="1"/>
              <a:t>keluar</a:t>
            </a:r>
            <a:r>
              <a:rPr lang="en-US" sz="1400" dirty="0"/>
              <a:t> (node controller </a:t>
            </a:r>
            <a:r>
              <a:rPr lang="en-US" sz="1400" dirty="0" err="1"/>
              <a:t>dan</a:t>
            </a:r>
            <a:r>
              <a:rPr lang="en-US" sz="1400" dirty="0"/>
              <a:t> compute).</a:t>
            </a:r>
          </a:p>
          <a:p>
            <a:pPr marL="285750" indent="-285750" algn="just">
              <a:buFont typeface="Arial" panose="020B0604020202020204" pitchFamily="34" charset="0"/>
              <a:buChar char="•"/>
            </a:pPr>
            <a:r>
              <a:rPr lang="en-US" sz="1400" dirty="0" smtClean="0"/>
              <a:t>Network </a:t>
            </a:r>
            <a:r>
              <a:rPr lang="en-US" sz="1400" dirty="0"/>
              <a:t>internal: Network yang </a:t>
            </a:r>
            <a:r>
              <a:rPr lang="en-US" sz="1400" dirty="0" err="1"/>
              <a:t>akan</a:t>
            </a:r>
            <a:r>
              <a:rPr lang="en-US" sz="1400" dirty="0"/>
              <a:t> </a:t>
            </a:r>
            <a:r>
              <a:rPr lang="en-US" sz="1400" dirty="0" err="1"/>
              <a:t>terhubung</a:t>
            </a:r>
            <a:r>
              <a:rPr lang="en-US" sz="1400" dirty="0"/>
              <a:t> </a:t>
            </a:r>
            <a:r>
              <a:rPr lang="en-US" sz="1400" dirty="0" err="1"/>
              <a:t>dan</a:t>
            </a:r>
            <a:r>
              <a:rPr lang="en-US" sz="1400" dirty="0"/>
              <a:t> </a:t>
            </a:r>
            <a:r>
              <a:rPr lang="en-US" sz="1400" dirty="0" err="1"/>
              <a:t>digunakan</a:t>
            </a:r>
            <a:r>
              <a:rPr lang="en-US" sz="1400" dirty="0"/>
              <a:t> </a:t>
            </a:r>
            <a:r>
              <a:rPr lang="en-US" sz="1400" dirty="0" err="1"/>
              <a:t>oleh</a:t>
            </a:r>
            <a:r>
              <a:rPr lang="en-US" sz="1400" dirty="0"/>
              <a:t> instance/</a:t>
            </a:r>
            <a:r>
              <a:rPr lang="en-US" sz="1400" dirty="0" err="1"/>
              <a:t>vm</a:t>
            </a:r>
            <a:r>
              <a:rPr lang="en-US" sz="1400" dirty="0"/>
              <a:t>.</a:t>
            </a:r>
          </a:p>
        </p:txBody>
      </p:sp>
      <p:sp>
        <p:nvSpPr>
          <p:cNvPr id="9" name="Rectangle 8"/>
          <p:cNvSpPr/>
          <p:nvPr/>
        </p:nvSpPr>
        <p:spPr>
          <a:xfrm>
            <a:off x="4570922" y="555700"/>
            <a:ext cx="4139117" cy="307777"/>
          </a:xfrm>
          <a:prstGeom prst="rect">
            <a:avLst/>
          </a:prstGeom>
        </p:spPr>
        <p:txBody>
          <a:bodyPr wrap="square">
            <a:spAutoFit/>
          </a:bodyPr>
          <a:lstStyle/>
          <a:p>
            <a:pPr algn="just"/>
            <a:r>
              <a:rPr lang="en-US" sz="1400" dirty="0"/>
              <a:t>M</a:t>
            </a:r>
            <a:r>
              <a:rPr lang="en-US" sz="1400" dirty="0" smtClean="0"/>
              <a:t>enu</a:t>
            </a:r>
            <a:r>
              <a:rPr lang="en-US" sz="1400" dirty="0"/>
              <a:t> </a:t>
            </a:r>
            <a:r>
              <a:rPr lang="en-US" sz="1400" b="1" i="1" dirty="0"/>
              <a:t>Network</a:t>
            </a:r>
            <a:endParaRPr lang="en-US" sz="1400" dirty="0"/>
          </a:p>
        </p:txBody>
      </p:sp>
      <p:sp>
        <p:nvSpPr>
          <p:cNvPr id="2" name="Rectangle 1"/>
          <p:cNvSpPr/>
          <p:nvPr/>
        </p:nvSpPr>
        <p:spPr>
          <a:xfrm>
            <a:off x="143301" y="602333"/>
            <a:ext cx="3321794" cy="523220"/>
          </a:xfrm>
          <a:prstGeom prst="rect">
            <a:avLst/>
          </a:prstGeom>
        </p:spPr>
        <p:txBody>
          <a:bodyPr wrap="square">
            <a:spAutoFit/>
          </a:bodyPr>
          <a:lstStyle/>
          <a:p>
            <a:r>
              <a:rPr lang="en-US" sz="1400" b="1" dirty="0" smtClean="0">
                <a:solidFill>
                  <a:srgbClr val="002060"/>
                </a:solidFill>
              </a:rPr>
              <a:t>Network </a:t>
            </a:r>
            <a:r>
              <a:rPr lang="en-US" sz="1400" b="1" dirty="0" err="1">
                <a:solidFill>
                  <a:srgbClr val="002060"/>
                </a:solidFill>
              </a:rPr>
              <a:t>yaitu</a:t>
            </a:r>
            <a:r>
              <a:rPr lang="en-US" sz="1400" b="1" dirty="0">
                <a:solidFill>
                  <a:srgbClr val="002060"/>
                </a:solidFill>
              </a:rPr>
              <a:t> network external </a:t>
            </a:r>
            <a:r>
              <a:rPr lang="en-US" sz="1400" b="1" dirty="0" err="1">
                <a:solidFill>
                  <a:srgbClr val="002060"/>
                </a:solidFill>
              </a:rPr>
              <a:t>dan</a:t>
            </a:r>
            <a:r>
              <a:rPr lang="en-US" sz="1400" b="1" dirty="0">
                <a:solidFill>
                  <a:srgbClr val="002060"/>
                </a:solidFill>
              </a:rPr>
              <a:t> network internal </a:t>
            </a:r>
          </a:p>
        </p:txBody>
      </p:sp>
      <p:sp>
        <p:nvSpPr>
          <p:cNvPr id="13" name="Rectangle 12"/>
          <p:cNvSpPr/>
          <p:nvPr/>
        </p:nvSpPr>
        <p:spPr>
          <a:xfrm>
            <a:off x="167364" y="1907241"/>
            <a:ext cx="4139117" cy="646331"/>
          </a:xfrm>
          <a:prstGeom prst="rect">
            <a:avLst/>
          </a:prstGeom>
        </p:spPr>
        <p:txBody>
          <a:bodyPr wrap="square">
            <a:spAutoFit/>
          </a:bodyPr>
          <a:lstStyle/>
          <a:p>
            <a:pPr algn="just"/>
            <a:r>
              <a:rPr lang="en-US" i="1" dirty="0"/>
              <a:t>Login Horizon &gt;&gt; Admin &gt;&gt; Network &gt;&gt; Networks &gt;&gt; Create Network</a:t>
            </a:r>
            <a:endParaRPr lang="en-US" sz="1400" dirty="0"/>
          </a:p>
        </p:txBody>
      </p:sp>
      <p:grpSp>
        <p:nvGrpSpPr>
          <p:cNvPr id="16" name="Group 15"/>
          <p:cNvGrpSpPr/>
          <p:nvPr/>
        </p:nvGrpSpPr>
        <p:grpSpPr>
          <a:xfrm>
            <a:off x="264695" y="3006402"/>
            <a:ext cx="4306227" cy="2034705"/>
            <a:chOff x="264695" y="3006402"/>
            <a:chExt cx="4306227" cy="2034705"/>
          </a:xfrm>
        </p:grpSpPr>
        <p:pic>
          <p:nvPicPr>
            <p:cNvPr id="3" name="Picture 2"/>
            <p:cNvPicPr>
              <a:picLocks noChangeAspect="1"/>
            </p:cNvPicPr>
            <p:nvPr/>
          </p:nvPicPr>
          <p:blipFill>
            <a:blip r:embed="rId3"/>
            <a:stretch>
              <a:fillRect/>
            </a:stretch>
          </p:blipFill>
          <p:spPr>
            <a:xfrm>
              <a:off x="264695" y="3006402"/>
              <a:ext cx="4306227" cy="2034705"/>
            </a:xfrm>
            <a:prstGeom prst="rect">
              <a:avLst/>
            </a:prstGeom>
          </p:spPr>
        </p:pic>
        <p:sp>
          <p:nvSpPr>
            <p:cNvPr id="14" name="Rectangle 13"/>
            <p:cNvSpPr/>
            <p:nvPr/>
          </p:nvSpPr>
          <p:spPr>
            <a:xfrm>
              <a:off x="1076303" y="3116828"/>
              <a:ext cx="1857398" cy="184666"/>
            </a:xfrm>
            <a:prstGeom prst="rect">
              <a:avLst/>
            </a:prstGeom>
          </p:spPr>
          <p:txBody>
            <a:bodyPr wrap="square">
              <a:spAutoFit/>
            </a:bodyPr>
            <a:lstStyle/>
            <a:p>
              <a:pPr algn="just"/>
              <a:r>
                <a:rPr lang="en-US" sz="600" dirty="0" smtClean="0">
                  <a:solidFill>
                    <a:schemeClr val="bg1">
                      <a:lumMod val="65000"/>
                    </a:schemeClr>
                  </a:solidFill>
                </a:rPr>
                <a:t>Openstack.panda.id/dashboard/admin/networks/</a:t>
              </a:r>
              <a:endParaRPr lang="en-US" sz="600" dirty="0">
                <a:solidFill>
                  <a:schemeClr val="bg1">
                    <a:lumMod val="65000"/>
                  </a:schemeClr>
                </a:solidFill>
              </a:endParaRPr>
            </a:p>
          </p:txBody>
        </p:sp>
      </p:grpSp>
      <p:sp>
        <p:nvSpPr>
          <p:cNvPr id="15" name="Rectangle 14"/>
          <p:cNvSpPr/>
          <p:nvPr/>
        </p:nvSpPr>
        <p:spPr>
          <a:xfrm>
            <a:off x="143301" y="2456173"/>
            <a:ext cx="3606250" cy="276999"/>
          </a:xfrm>
          <a:prstGeom prst="rect">
            <a:avLst/>
          </a:prstGeom>
        </p:spPr>
        <p:txBody>
          <a:bodyPr wrap="square">
            <a:spAutoFit/>
          </a:bodyPr>
          <a:lstStyle/>
          <a:p>
            <a:pPr algn="just"/>
            <a:r>
              <a:rPr lang="en-US" sz="1200" dirty="0" smtClean="0">
                <a:solidFill>
                  <a:schemeClr val="accent5">
                    <a:lumMod val="75000"/>
                  </a:schemeClr>
                </a:solidFill>
              </a:rPr>
              <a:t>Openstack.panda.id/dashboard/admin/networks/</a:t>
            </a:r>
            <a:endParaRPr lang="en-US" sz="1200" dirty="0">
              <a:solidFill>
                <a:schemeClr val="accent5">
                  <a:lumMod val="75000"/>
                </a:schemeClr>
              </a:solidFill>
            </a:endParaRPr>
          </a:p>
        </p:txBody>
      </p:sp>
      <p:pic>
        <p:nvPicPr>
          <p:cNvPr id="17" name="Picture 16"/>
          <p:cNvPicPr>
            <a:picLocks noChangeAspect="1"/>
          </p:cNvPicPr>
          <p:nvPr/>
        </p:nvPicPr>
        <p:blipFill>
          <a:blip r:embed="rId4"/>
          <a:stretch>
            <a:fillRect/>
          </a:stretch>
        </p:blipFill>
        <p:spPr>
          <a:xfrm>
            <a:off x="4725403" y="925032"/>
            <a:ext cx="3603416" cy="3935726"/>
          </a:xfrm>
          <a:prstGeom prst="rect">
            <a:avLst/>
          </a:prstGeom>
        </p:spPr>
      </p:pic>
      <p:sp>
        <p:nvSpPr>
          <p:cNvPr id="18" name="Rectangle 17"/>
          <p:cNvSpPr/>
          <p:nvPr/>
        </p:nvSpPr>
        <p:spPr>
          <a:xfrm>
            <a:off x="6136085" y="3381273"/>
            <a:ext cx="2911662" cy="1569660"/>
          </a:xfrm>
          <a:prstGeom prst="rect">
            <a:avLst/>
          </a:prstGeom>
        </p:spPr>
        <p:txBody>
          <a:bodyPr wrap="square">
            <a:spAutoFit/>
          </a:bodyPr>
          <a:lstStyle/>
          <a:p>
            <a:r>
              <a:rPr lang="en-US" sz="1200" dirty="0"/>
              <a:t>Name: Name </a:t>
            </a:r>
            <a:r>
              <a:rPr lang="en-US" sz="1200" dirty="0" smtClean="0"/>
              <a:t>network</a:t>
            </a:r>
            <a:endParaRPr lang="en-US" sz="1200" dirty="0"/>
          </a:p>
          <a:p>
            <a:r>
              <a:rPr lang="en-US" sz="1200" dirty="0"/>
              <a:t>Project: Admin</a:t>
            </a:r>
          </a:p>
          <a:p>
            <a:r>
              <a:rPr lang="en-US" sz="1200" dirty="0"/>
              <a:t>Provider Network Type: Flat</a:t>
            </a:r>
          </a:p>
          <a:p>
            <a:r>
              <a:rPr lang="en-US" sz="1200" dirty="0"/>
              <a:t>Physical Network: </a:t>
            </a:r>
            <a:r>
              <a:rPr lang="en-US" sz="1200" dirty="0" err="1"/>
              <a:t>extnet</a:t>
            </a:r>
            <a:endParaRPr lang="en-US" sz="1200" dirty="0"/>
          </a:p>
          <a:p>
            <a:endParaRPr lang="en-US" sz="1200" dirty="0"/>
          </a:p>
          <a:p>
            <a:r>
              <a:rPr lang="en-US" sz="1200" dirty="0" err="1"/>
              <a:t>Selanjutnya</a:t>
            </a:r>
            <a:r>
              <a:rPr lang="en-US" sz="1200" dirty="0"/>
              <a:t> </a:t>
            </a:r>
            <a:r>
              <a:rPr lang="en-US" sz="1200" dirty="0" err="1"/>
              <a:t>pindah</a:t>
            </a:r>
            <a:r>
              <a:rPr lang="en-US" sz="1200" dirty="0"/>
              <a:t> </a:t>
            </a:r>
            <a:r>
              <a:rPr lang="en-US" sz="1200" dirty="0" err="1"/>
              <a:t>ke</a:t>
            </a:r>
            <a:r>
              <a:rPr lang="en-US" sz="1200" dirty="0"/>
              <a:t> menu Subnet , </a:t>
            </a:r>
            <a:r>
              <a:rPr lang="en-US" sz="1200" dirty="0" err="1"/>
              <a:t>silakan</a:t>
            </a:r>
            <a:r>
              <a:rPr lang="en-US" sz="1200" dirty="0"/>
              <a:t> </a:t>
            </a:r>
            <a:r>
              <a:rPr lang="en-US" sz="1200" dirty="0" err="1"/>
              <a:t>isi</a:t>
            </a:r>
            <a:r>
              <a:rPr lang="en-US" sz="1200" dirty="0"/>
              <a:t> </a:t>
            </a:r>
            <a:r>
              <a:rPr lang="en-US" sz="1200" dirty="0" err="1"/>
              <a:t>nama</a:t>
            </a:r>
            <a:r>
              <a:rPr lang="en-US" sz="1200" dirty="0"/>
              <a:t> subnet </a:t>
            </a:r>
            <a:r>
              <a:rPr lang="en-US" sz="1200" dirty="0" err="1"/>
              <a:t>Anda</a:t>
            </a:r>
            <a:r>
              <a:rPr lang="en-US" sz="1200" dirty="0"/>
              <a:t>, </a:t>
            </a:r>
            <a:r>
              <a:rPr lang="en-US" sz="1200" dirty="0" err="1"/>
              <a:t>dan</a:t>
            </a:r>
            <a:r>
              <a:rPr lang="en-US" sz="1200" dirty="0"/>
              <a:t> </a:t>
            </a:r>
            <a:r>
              <a:rPr lang="en-US" sz="1200" dirty="0" err="1"/>
              <a:t>isi</a:t>
            </a:r>
            <a:r>
              <a:rPr lang="en-US" sz="1200" dirty="0"/>
              <a:t> </a:t>
            </a:r>
            <a:r>
              <a:rPr lang="en-US" sz="1200" dirty="0" err="1"/>
              <a:t>juga</a:t>
            </a:r>
            <a:r>
              <a:rPr lang="en-US" sz="1200" dirty="0"/>
              <a:t> network </a:t>
            </a:r>
            <a:r>
              <a:rPr lang="en-US" sz="1200" dirty="0" err="1"/>
              <a:t>untuk</a:t>
            </a:r>
            <a:r>
              <a:rPr lang="en-US" sz="1200" dirty="0"/>
              <a:t> network net-</a:t>
            </a:r>
            <a:r>
              <a:rPr lang="en-US" sz="1200" dirty="0" err="1"/>
              <a:t>ext</a:t>
            </a:r>
            <a:endParaRPr lang="en-US" sz="1200" dirty="0"/>
          </a:p>
        </p:txBody>
      </p:sp>
      <p:sp>
        <p:nvSpPr>
          <p:cNvPr id="19" name="Rectangle 18"/>
          <p:cNvSpPr/>
          <p:nvPr/>
        </p:nvSpPr>
        <p:spPr>
          <a:xfrm>
            <a:off x="143301" y="263304"/>
            <a:ext cx="1690078" cy="369332"/>
          </a:xfrm>
          <a:prstGeom prst="rect">
            <a:avLst/>
          </a:prstGeom>
        </p:spPr>
        <p:txBody>
          <a:bodyPr wrap="none">
            <a:spAutoFit/>
          </a:bodyPr>
          <a:lstStyle/>
          <a:p>
            <a:r>
              <a:rPr lang="en-US" b="1" dirty="0">
                <a:solidFill>
                  <a:srgbClr val="002060"/>
                </a:solidFill>
              </a:rPr>
              <a:t>Create </a:t>
            </a:r>
            <a:r>
              <a:rPr lang="en-US" b="1" dirty="0" smtClean="0">
                <a:solidFill>
                  <a:srgbClr val="002060"/>
                </a:solidFill>
              </a:rPr>
              <a:t>Network</a:t>
            </a:r>
            <a:endParaRPr lang="en-US" dirty="0"/>
          </a:p>
        </p:txBody>
      </p:sp>
    </p:spTree>
    <p:extLst>
      <p:ext uri="{BB962C8B-B14F-4D97-AF65-F5344CB8AC3E}">
        <p14:creationId xmlns:p14="http://schemas.microsoft.com/office/powerpoint/2010/main" val="297464165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26</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9" name="Rectangle 8"/>
          <p:cNvSpPr/>
          <p:nvPr/>
        </p:nvSpPr>
        <p:spPr>
          <a:xfrm>
            <a:off x="4570922" y="555700"/>
            <a:ext cx="4139117" cy="738664"/>
          </a:xfrm>
          <a:prstGeom prst="rect">
            <a:avLst/>
          </a:prstGeom>
        </p:spPr>
        <p:txBody>
          <a:bodyPr wrap="square">
            <a:spAutoFit/>
          </a:bodyPr>
          <a:lstStyle/>
          <a:p>
            <a:pPr algn="just"/>
            <a:r>
              <a:rPr lang="en-US" sz="1400" dirty="0" smtClean="0"/>
              <a:t>Menu </a:t>
            </a:r>
            <a:r>
              <a:rPr lang="en-US" sz="1400" dirty="0"/>
              <a:t>_ Subnet Details _ </a:t>
            </a:r>
            <a:r>
              <a:rPr lang="en-US" sz="1400" dirty="0" err="1"/>
              <a:t>silakan</a:t>
            </a:r>
            <a:r>
              <a:rPr lang="en-US" sz="1400" dirty="0"/>
              <a:t> </a:t>
            </a:r>
            <a:r>
              <a:rPr lang="en-US" sz="1400" dirty="0" err="1"/>
              <a:t>isi</a:t>
            </a:r>
            <a:r>
              <a:rPr lang="en-US" sz="1400" dirty="0"/>
              <a:t> </a:t>
            </a:r>
            <a:r>
              <a:rPr lang="en-US" sz="1400" dirty="0" err="1"/>
              <a:t>ip</a:t>
            </a:r>
            <a:r>
              <a:rPr lang="en-US" sz="1400" dirty="0"/>
              <a:t> pool yang </a:t>
            </a:r>
            <a:r>
              <a:rPr lang="en-US" sz="1400" dirty="0" err="1"/>
              <a:t>ingin</a:t>
            </a:r>
            <a:r>
              <a:rPr lang="en-US" sz="1400" dirty="0"/>
              <a:t> </a:t>
            </a:r>
            <a:r>
              <a:rPr lang="en-US" sz="1400" dirty="0" err="1"/>
              <a:t>Anda</a:t>
            </a:r>
            <a:r>
              <a:rPr lang="en-US" sz="1400" dirty="0"/>
              <a:t> </a:t>
            </a:r>
            <a:r>
              <a:rPr lang="en-US" sz="1400" dirty="0" err="1"/>
              <a:t>gunakan</a:t>
            </a:r>
            <a:r>
              <a:rPr lang="en-US" sz="1400" dirty="0"/>
              <a:t> </a:t>
            </a:r>
            <a:r>
              <a:rPr lang="en-US" sz="1400" dirty="0" err="1"/>
              <a:t>dari</a:t>
            </a:r>
            <a:r>
              <a:rPr lang="en-US" sz="1400" dirty="0"/>
              <a:t> network address </a:t>
            </a:r>
            <a:r>
              <a:rPr lang="en-US" sz="1400" dirty="0" err="1"/>
              <a:t>diatas</a:t>
            </a:r>
            <a:r>
              <a:rPr lang="en-US" sz="1400" dirty="0"/>
              <a:t>, </a:t>
            </a:r>
            <a:r>
              <a:rPr lang="en-US" sz="1400" dirty="0" err="1"/>
              <a:t>jika</a:t>
            </a:r>
            <a:r>
              <a:rPr lang="en-US" sz="1400" dirty="0"/>
              <a:t> </a:t>
            </a:r>
            <a:r>
              <a:rPr lang="en-US" sz="1400" dirty="0" err="1"/>
              <a:t>sudah</a:t>
            </a:r>
            <a:r>
              <a:rPr lang="en-US" sz="1400" dirty="0"/>
              <a:t> </a:t>
            </a:r>
            <a:r>
              <a:rPr lang="en-US" sz="1400" dirty="0" err="1"/>
              <a:t>silakan</a:t>
            </a:r>
            <a:r>
              <a:rPr lang="en-US" sz="1400" dirty="0"/>
              <a:t> </a:t>
            </a:r>
            <a:r>
              <a:rPr lang="en-US" sz="1400" dirty="0" err="1"/>
              <a:t>klik</a:t>
            </a:r>
            <a:r>
              <a:rPr lang="en-US" sz="1400" dirty="0"/>
              <a:t> Create</a:t>
            </a:r>
          </a:p>
        </p:txBody>
      </p:sp>
      <p:sp>
        <p:nvSpPr>
          <p:cNvPr id="15" name="Rectangle 14"/>
          <p:cNvSpPr/>
          <p:nvPr/>
        </p:nvSpPr>
        <p:spPr>
          <a:xfrm>
            <a:off x="143301" y="2456173"/>
            <a:ext cx="3606250" cy="276999"/>
          </a:xfrm>
          <a:prstGeom prst="rect">
            <a:avLst/>
          </a:prstGeom>
        </p:spPr>
        <p:txBody>
          <a:bodyPr wrap="square">
            <a:spAutoFit/>
          </a:bodyPr>
          <a:lstStyle/>
          <a:p>
            <a:pPr algn="just"/>
            <a:r>
              <a:rPr lang="en-US" sz="1200" dirty="0" smtClean="0">
                <a:solidFill>
                  <a:schemeClr val="accent5">
                    <a:lumMod val="75000"/>
                  </a:schemeClr>
                </a:solidFill>
              </a:rPr>
              <a:t>Openstack.panda.id/dashboard/admin/networks/</a:t>
            </a:r>
            <a:endParaRPr lang="en-US" sz="1200" dirty="0">
              <a:solidFill>
                <a:schemeClr val="accent5">
                  <a:lumMod val="75000"/>
                </a:schemeClr>
              </a:solidFill>
            </a:endParaRPr>
          </a:p>
        </p:txBody>
      </p:sp>
      <p:sp>
        <p:nvSpPr>
          <p:cNvPr id="19" name="Rectangle 18"/>
          <p:cNvSpPr/>
          <p:nvPr/>
        </p:nvSpPr>
        <p:spPr>
          <a:xfrm>
            <a:off x="143301" y="679309"/>
            <a:ext cx="4176035" cy="523220"/>
          </a:xfrm>
          <a:prstGeom prst="rect">
            <a:avLst/>
          </a:prstGeom>
        </p:spPr>
        <p:txBody>
          <a:bodyPr wrap="square">
            <a:spAutoFit/>
          </a:bodyPr>
          <a:lstStyle/>
          <a:p>
            <a:pPr algn="just"/>
            <a:r>
              <a:rPr lang="nl-NL" sz="1400" dirty="0" smtClean="0"/>
              <a:t>Menu </a:t>
            </a:r>
            <a:r>
              <a:rPr lang="nl-NL" sz="1400" dirty="0"/>
              <a:t>Subnet , silakan isi nama subnet Anda, dan isi juga network untuk network net-ext</a:t>
            </a:r>
            <a:endParaRPr lang="en-US" sz="1400" dirty="0"/>
          </a:p>
        </p:txBody>
      </p:sp>
      <p:pic>
        <p:nvPicPr>
          <p:cNvPr id="7" name="Picture 6"/>
          <p:cNvPicPr>
            <a:picLocks noChangeAspect="1"/>
          </p:cNvPicPr>
          <p:nvPr/>
        </p:nvPicPr>
        <p:blipFill>
          <a:blip r:embed="rId3"/>
          <a:stretch>
            <a:fillRect/>
          </a:stretch>
        </p:blipFill>
        <p:spPr>
          <a:xfrm>
            <a:off x="161674" y="1276299"/>
            <a:ext cx="4393500" cy="2465522"/>
          </a:xfrm>
          <a:prstGeom prst="rect">
            <a:avLst/>
          </a:prstGeom>
        </p:spPr>
      </p:pic>
      <p:pic>
        <p:nvPicPr>
          <p:cNvPr id="8" name="Picture 7"/>
          <p:cNvPicPr>
            <a:picLocks noChangeAspect="1"/>
          </p:cNvPicPr>
          <p:nvPr/>
        </p:nvPicPr>
        <p:blipFill>
          <a:blip r:embed="rId4"/>
          <a:stretch>
            <a:fillRect/>
          </a:stretch>
        </p:blipFill>
        <p:spPr>
          <a:xfrm>
            <a:off x="4806760" y="1276300"/>
            <a:ext cx="3993661" cy="3764808"/>
          </a:xfrm>
          <a:prstGeom prst="rect">
            <a:avLst/>
          </a:prstGeom>
        </p:spPr>
      </p:pic>
      <p:sp>
        <p:nvSpPr>
          <p:cNvPr id="20" name="Rectangle 19"/>
          <p:cNvSpPr/>
          <p:nvPr/>
        </p:nvSpPr>
        <p:spPr>
          <a:xfrm>
            <a:off x="143301" y="263304"/>
            <a:ext cx="1690078" cy="369332"/>
          </a:xfrm>
          <a:prstGeom prst="rect">
            <a:avLst/>
          </a:prstGeom>
        </p:spPr>
        <p:txBody>
          <a:bodyPr wrap="none">
            <a:spAutoFit/>
          </a:bodyPr>
          <a:lstStyle/>
          <a:p>
            <a:r>
              <a:rPr lang="en-US" b="1" dirty="0">
                <a:solidFill>
                  <a:srgbClr val="002060"/>
                </a:solidFill>
              </a:rPr>
              <a:t>Create </a:t>
            </a:r>
            <a:r>
              <a:rPr lang="en-US" b="1" dirty="0" smtClean="0">
                <a:solidFill>
                  <a:srgbClr val="002060"/>
                </a:solidFill>
              </a:rPr>
              <a:t>Network</a:t>
            </a:r>
            <a:endParaRPr lang="en-US" dirty="0"/>
          </a:p>
        </p:txBody>
      </p:sp>
    </p:spTree>
    <p:extLst>
      <p:ext uri="{BB962C8B-B14F-4D97-AF65-F5344CB8AC3E}">
        <p14:creationId xmlns:p14="http://schemas.microsoft.com/office/powerpoint/2010/main" val="340893617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27</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9" name="Rectangle 8"/>
          <p:cNvSpPr/>
          <p:nvPr/>
        </p:nvSpPr>
        <p:spPr>
          <a:xfrm>
            <a:off x="4570922" y="401811"/>
            <a:ext cx="4139117" cy="307777"/>
          </a:xfrm>
          <a:prstGeom prst="rect">
            <a:avLst/>
          </a:prstGeom>
        </p:spPr>
        <p:txBody>
          <a:bodyPr wrap="square">
            <a:spAutoFit/>
          </a:bodyPr>
          <a:lstStyle/>
          <a:p>
            <a:pPr algn="just"/>
            <a:r>
              <a:rPr lang="en-US" sz="1400" dirty="0" smtClean="0"/>
              <a:t>Menu </a:t>
            </a:r>
            <a:r>
              <a:rPr lang="en-US" sz="1400" dirty="0"/>
              <a:t>Network </a:t>
            </a:r>
            <a:r>
              <a:rPr lang="en-US" sz="1400" dirty="0" err="1"/>
              <a:t>isikan</a:t>
            </a:r>
            <a:r>
              <a:rPr lang="en-US" sz="1400" dirty="0"/>
              <a:t> </a:t>
            </a:r>
            <a:r>
              <a:rPr lang="en-US" sz="1400" dirty="0" err="1"/>
              <a:t>nama</a:t>
            </a:r>
            <a:r>
              <a:rPr lang="en-US" sz="1400" dirty="0"/>
              <a:t> network </a:t>
            </a:r>
          </a:p>
        </p:txBody>
      </p:sp>
      <p:sp>
        <p:nvSpPr>
          <p:cNvPr id="15" name="Rectangle 14"/>
          <p:cNvSpPr/>
          <p:nvPr/>
        </p:nvSpPr>
        <p:spPr>
          <a:xfrm>
            <a:off x="143300" y="2095225"/>
            <a:ext cx="4176035" cy="1569660"/>
          </a:xfrm>
          <a:prstGeom prst="rect">
            <a:avLst/>
          </a:prstGeom>
        </p:spPr>
        <p:txBody>
          <a:bodyPr wrap="square">
            <a:spAutoFit/>
          </a:bodyPr>
          <a:lstStyle/>
          <a:p>
            <a:pPr algn="just"/>
            <a:r>
              <a:rPr lang="en-US" sz="1200" dirty="0" err="1" smtClean="0"/>
              <a:t>Saat</a:t>
            </a:r>
            <a:r>
              <a:rPr lang="en-US" sz="1200" dirty="0" smtClean="0"/>
              <a:t> </a:t>
            </a:r>
            <a:r>
              <a:rPr lang="en-US" sz="1200" dirty="0" err="1"/>
              <a:t>ini</a:t>
            </a:r>
            <a:r>
              <a:rPr lang="en-US" sz="1200" dirty="0"/>
              <a:t> external network </a:t>
            </a:r>
            <a:r>
              <a:rPr lang="en-US" sz="1200" dirty="0" err="1"/>
              <a:t>sudah</a:t>
            </a:r>
            <a:r>
              <a:rPr lang="en-US" sz="1200" dirty="0"/>
              <a:t> </a:t>
            </a:r>
            <a:r>
              <a:rPr lang="en-US" sz="1200" dirty="0" err="1"/>
              <a:t>berhasil</a:t>
            </a:r>
            <a:r>
              <a:rPr lang="en-US" sz="1200" dirty="0"/>
              <a:t> </a:t>
            </a:r>
            <a:r>
              <a:rPr lang="en-US" sz="1200" dirty="0" err="1"/>
              <a:t>dibuat</a:t>
            </a:r>
            <a:r>
              <a:rPr lang="en-US" sz="1200" dirty="0"/>
              <a:t>, </a:t>
            </a:r>
            <a:r>
              <a:rPr lang="en-US" sz="1200" dirty="0" err="1"/>
              <a:t>selanjutnya</a:t>
            </a:r>
            <a:r>
              <a:rPr lang="en-US" sz="1200" dirty="0"/>
              <a:t> create internal network </a:t>
            </a:r>
            <a:r>
              <a:rPr lang="en-US" sz="1200" dirty="0" err="1"/>
              <a:t>seperti</a:t>
            </a:r>
            <a:r>
              <a:rPr lang="en-US" sz="1200" dirty="0"/>
              <a:t> </a:t>
            </a:r>
            <a:r>
              <a:rPr lang="en-US" sz="1200" dirty="0" err="1"/>
              <a:t>berikut</a:t>
            </a:r>
            <a:r>
              <a:rPr lang="en-US" sz="1200" dirty="0"/>
              <a:t>:</a:t>
            </a:r>
          </a:p>
          <a:p>
            <a:pPr algn="just"/>
            <a:endParaRPr lang="en-US" sz="1200" dirty="0"/>
          </a:p>
          <a:p>
            <a:pPr algn="just"/>
            <a:r>
              <a:rPr lang="en-US" sz="1200" dirty="0"/>
              <a:t>Login Horizon &gt;&gt; Project &gt;&gt; Network &gt;&gt; Networks &gt;&gt; Create Network</a:t>
            </a:r>
          </a:p>
          <a:p>
            <a:pPr algn="just"/>
            <a:endParaRPr lang="en-US" sz="1200" dirty="0">
              <a:solidFill>
                <a:schemeClr val="accent5">
                  <a:lumMod val="75000"/>
                </a:schemeClr>
              </a:solidFill>
            </a:endParaRPr>
          </a:p>
          <a:p>
            <a:pPr algn="just"/>
            <a:r>
              <a:rPr lang="en-US" sz="1200" dirty="0" smtClean="0">
                <a:solidFill>
                  <a:schemeClr val="accent5">
                    <a:lumMod val="75000"/>
                  </a:schemeClr>
                </a:solidFill>
              </a:rPr>
              <a:t>Openstack.panda.id/dashboard/admin/networks/Create Network</a:t>
            </a:r>
            <a:endParaRPr lang="en-US" sz="1200" dirty="0">
              <a:solidFill>
                <a:schemeClr val="accent5">
                  <a:lumMod val="75000"/>
                </a:schemeClr>
              </a:solidFill>
            </a:endParaRPr>
          </a:p>
        </p:txBody>
      </p:sp>
      <p:sp>
        <p:nvSpPr>
          <p:cNvPr id="19" name="Rectangle 18"/>
          <p:cNvSpPr/>
          <p:nvPr/>
        </p:nvSpPr>
        <p:spPr>
          <a:xfrm>
            <a:off x="143301" y="679309"/>
            <a:ext cx="4176035" cy="307777"/>
          </a:xfrm>
          <a:prstGeom prst="rect">
            <a:avLst/>
          </a:prstGeom>
        </p:spPr>
        <p:txBody>
          <a:bodyPr wrap="square">
            <a:spAutoFit/>
          </a:bodyPr>
          <a:lstStyle/>
          <a:p>
            <a:pPr algn="just"/>
            <a:r>
              <a:rPr lang="nl-NL" sz="1400" dirty="0" smtClean="0"/>
              <a:t>Pembuatan </a:t>
            </a:r>
            <a:r>
              <a:rPr lang="nl-NL" sz="1400" dirty="0"/>
              <a:t>network selesai</a:t>
            </a:r>
            <a:endParaRPr lang="en-US" sz="1400" dirty="0"/>
          </a:p>
        </p:txBody>
      </p:sp>
      <p:pic>
        <p:nvPicPr>
          <p:cNvPr id="2" name="Picture 1"/>
          <p:cNvPicPr>
            <a:picLocks noChangeAspect="1"/>
          </p:cNvPicPr>
          <p:nvPr/>
        </p:nvPicPr>
        <p:blipFill>
          <a:blip r:embed="rId3"/>
          <a:stretch>
            <a:fillRect/>
          </a:stretch>
        </p:blipFill>
        <p:spPr>
          <a:xfrm>
            <a:off x="243280" y="991478"/>
            <a:ext cx="3715109" cy="1114048"/>
          </a:xfrm>
          <a:prstGeom prst="rect">
            <a:avLst/>
          </a:prstGeom>
        </p:spPr>
      </p:pic>
      <p:pic>
        <p:nvPicPr>
          <p:cNvPr id="3" name="Picture 2"/>
          <p:cNvPicPr>
            <a:picLocks noChangeAspect="1"/>
          </p:cNvPicPr>
          <p:nvPr/>
        </p:nvPicPr>
        <p:blipFill>
          <a:blip r:embed="rId4"/>
          <a:stretch>
            <a:fillRect/>
          </a:stretch>
        </p:blipFill>
        <p:spPr>
          <a:xfrm>
            <a:off x="224590" y="3664885"/>
            <a:ext cx="4094746" cy="1351203"/>
          </a:xfrm>
          <a:prstGeom prst="rect">
            <a:avLst/>
          </a:prstGeom>
        </p:spPr>
      </p:pic>
      <p:pic>
        <p:nvPicPr>
          <p:cNvPr id="6" name="Picture 5"/>
          <p:cNvPicPr>
            <a:picLocks noChangeAspect="1"/>
          </p:cNvPicPr>
          <p:nvPr/>
        </p:nvPicPr>
        <p:blipFill>
          <a:blip r:embed="rId5"/>
          <a:stretch>
            <a:fillRect/>
          </a:stretch>
        </p:blipFill>
        <p:spPr>
          <a:xfrm>
            <a:off x="4627724" y="732721"/>
            <a:ext cx="3088952" cy="2005704"/>
          </a:xfrm>
          <a:prstGeom prst="rect">
            <a:avLst/>
          </a:prstGeom>
        </p:spPr>
      </p:pic>
      <p:sp>
        <p:nvSpPr>
          <p:cNvPr id="12" name="Rectangle 11"/>
          <p:cNvSpPr/>
          <p:nvPr/>
        </p:nvSpPr>
        <p:spPr>
          <a:xfrm>
            <a:off x="4627724" y="2761558"/>
            <a:ext cx="4139117" cy="523220"/>
          </a:xfrm>
          <a:prstGeom prst="rect">
            <a:avLst/>
          </a:prstGeom>
        </p:spPr>
        <p:txBody>
          <a:bodyPr wrap="square">
            <a:spAutoFit/>
          </a:bodyPr>
          <a:lstStyle/>
          <a:p>
            <a:pPr algn="just"/>
            <a:r>
              <a:rPr lang="en-US" sz="1400" dirty="0" err="1"/>
              <a:t>Pindah</a:t>
            </a:r>
            <a:r>
              <a:rPr lang="en-US" sz="1400" dirty="0"/>
              <a:t> </a:t>
            </a:r>
            <a:r>
              <a:rPr lang="en-US" sz="1400" dirty="0" err="1"/>
              <a:t>ke</a:t>
            </a:r>
            <a:r>
              <a:rPr lang="en-US" sz="1400" dirty="0"/>
              <a:t> menu subnet </a:t>
            </a:r>
            <a:r>
              <a:rPr lang="en-US" sz="1400" dirty="0" err="1"/>
              <a:t>untuk</a:t>
            </a:r>
            <a:r>
              <a:rPr lang="en-US" sz="1400" dirty="0"/>
              <a:t> </a:t>
            </a:r>
            <a:r>
              <a:rPr lang="en-US" sz="1400" dirty="0" err="1"/>
              <a:t>menentukan</a:t>
            </a:r>
            <a:r>
              <a:rPr lang="en-US" sz="1400" dirty="0"/>
              <a:t> </a:t>
            </a:r>
            <a:r>
              <a:rPr lang="en-US" sz="1400" dirty="0" err="1"/>
              <a:t>ip</a:t>
            </a:r>
            <a:r>
              <a:rPr lang="en-US" sz="1400" dirty="0"/>
              <a:t> address </a:t>
            </a:r>
            <a:r>
              <a:rPr lang="en-US" sz="1400" dirty="0" err="1"/>
              <a:t>dan</a:t>
            </a:r>
            <a:r>
              <a:rPr lang="en-US" sz="1400" dirty="0"/>
              <a:t> subnet </a:t>
            </a:r>
            <a:r>
              <a:rPr lang="en-US" sz="1400" dirty="0" err="1"/>
              <a:t>nya</a:t>
            </a:r>
            <a:endParaRPr lang="en-US" sz="1400" dirty="0"/>
          </a:p>
        </p:txBody>
      </p:sp>
      <p:pic>
        <p:nvPicPr>
          <p:cNvPr id="10" name="Picture 9"/>
          <p:cNvPicPr>
            <a:picLocks noChangeAspect="1"/>
          </p:cNvPicPr>
          <p:nvPr/>
        </p:nvPicPr>
        <p:blipFill>
          <a:blip r:embed="rId6"/>
          <a:stretch>
            <a:fillRect/>
          </a:stretch>
        </p:blipFill>
        <p:spPr>
          <a:xfrm>
            <a:off x="4728410" y="3307911"/>
            <a:ext cx="3140243" cy="1846076"/>
          </a:xfrm>
          <a:prstGeom prst="rect">
            <a:avLst/>
          </a:prstGeom>
        </p:spPr>
      </p:pic>
      <p:sp>
        <p:nvSpPr>
          <p:cNvPr id="14" name="Rectangle 13"/>
          <p:cNvSpPr/>
          <p:nvPr/>
        </p:nvSpPr>
        <p:spPr>
          <a:xfrm>
            <a:off x="143301" y="263304"/>
            <a:ext cx="1690078" cy="369332"/>
          </a:xfrm>
          <a:prstGeom prst="rect">
            <a:avLst/>
          </a:prstGeom>
        </p:spPr>
        <p:txBody>
          <a:bodyPr wrap="none">
            <a:spAutoFit/>
          </a:bodyPr>
          <a:lstStyle/>
          <a:p>
            <a:r>
              <a:rPr lang="en-US" b="1" dirty="0">
                <a:solidFill>
                  <a:srgbClr val="002060"/>
                </a:solidFill>
              </a:rPr>
              <a:t>Create </a:t>
            </a:r>
            <a:r>
              <a:rPr lang="en-US" b="1" dirty="0" smtClean="0">
                <a:solidFill>
                  <a:srgbClr val="002060"/>
                </a:solidFill>
              </a:rPr>
              <a:t>Network</a:t>
            </a:r>
            <a:endParaRPr lang="en-US" dirty="0"/>
          </a:p>
        </p:txBody>
      </p:sp>
    </p:spTree>
    <p:extLst>
      <p:ext uri="{BB962C8B-B14F-4D97-AF65-F5344CB8AC3E}">
        <p14:creationId xmlns:p14="http://schemas.microsoft.com/office/powerpoint/2010/main" val="144735816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28</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51309" y="461696"/>
            <a:ext cx="3791025" cy="954107"/>
          </a:xfrm>
          <a:prstGeom prst="rect">
            <a:avLst/>
          </a:prstGeom>
        </p:spPr>
        <p:txBody>
          <a:bodyPr wrap="square">
            <a:spAutoFit/>
          </a:bodyPr>
          <a:lstStyle/>
          <a:p>
            <a:pPr algn="just"/>
            <a:r>
              <a:rPr lang="en-US" sz="1400" dirty="0" err="1"/>
              <a:t>Pada</a:t>
            </a:r>
            <a:r>
              <a:rPr lang="en-US" sz="1400" dirty="0"/>
              <a:t> menu Subnet Details, </a:t>
            </a:r>
            <a:r>
              <a:rPr lang="en-US" sz="1400" dirty="0" err="1"/>
              <a:t>silakan</a:t>
            </a:r>
            <a:r>
              <a:rPr lang="en-US" sz="1400" dirty="0"/>
              <a:t> </a:t>
            </a:r>
            <a:r>
              <a:rPr lang="en-US" sz="1400" dirty="0" err="1"/>
              <a:t>isi</a:t>
            </a:r>
            <a:r>
              <a:rPr lang="en-US" sz="1400" dirty="0"/>
              <a:t> pool network yang </a:t>
            </a:r>
            <a:r>
              <a:rPr lang="en-US" sz="1400" dirty="0" err="1"/>
              <a:t>ingin</a:t>
            </a:r>
            <a:r>
              <a:rPr lang="en-US" sz="1400" dirty="0"/>
              <a:t> </a:t>
            </a:r>
            <a:r>
              <a:rPr lang="en-US" sz="1400" dirty="0" err="1"/>
              <a:t>digunakan</a:t>
            </a:r>
            <a:r>
              <a:rPr lang="en-US" sz="1400" dirty="0"/>
              <a:t> </a:t>
            </a:r>
            <a:r>
              <a:rPr lang="en-US" sz="1400" dirty="0" err="1"/>
              <a:t>dari</a:t>
            </a:r>
            <a:r>
              <a:rPr lang="en-US" sz="1400" dirty="0"/>
              <a:t> range </a:t>
            </a:r>
            <a:r>
              <a:rPr lang="en-US" sz="1400" dirty="0" err="1"/>
              <a:t>ip</a:t>
            </a:r>
            <a:r>
              <a:rPr lang="en-US" sz="1400" dirty="0"/>
              <a:t> address </a:t>
            </a:r>
            <a:r>
              <a:rPr lang="en-US" sz="1400" dirty="0" err="1"/>
              <a:t>diatas</a:t>
            </a:r>
            <a:r>
              <a:rPr lang="en-US" sz="1400" dirty="0"/>
              <a:t> </a:t>
            </a:r>
            <a:r>
              <a:rPr lang="en-US" sz="1400" dirty="0" err="1"/>
              <a:t>lalu</a:t>
            </a:r>
            <a:r>
              <a:rPr lang="en-US" sz="1400" dirty="0"/>
              <a:t> </a:t>
            </a:r>
            <a:r>
              <a:rPr lang="en-US" sz="1400" dirty="0" err="1"/>
              <a:t>klik</a:t>
            </a:r>
            <a:r>
              <a:rPr lang="en-US" sz="1400" dirty="0"/>
              <a:t> _ Create _ </a:t>
            </a:r>
            <a:r>
              <a:rPr lang="en-US" sz="1400" dirty="0" err="1"/>
              <a:t>untuk</a:t>
            </a:r>
            <a:r>
              <a:rPr lang="en-US" sz="1400" dirty="0"/>
              <a:t> </a:t>
            </a:r>
            <a:r>
              <a:rPr lang="en-US" sz="1400" dirty="0" err="1"/>
              <a:t>membuat</a:t>
            </a:r>
            <a:r>
              <a:rPr lang="en-US" sz="1400" dirty="0"/>
              <a:t> network </a:t>
            </a:r>
            <a:r>
              <a:rPr lang="en-US" sz="1400" dirty="0" smtClean="0"/>
              <a:t>internal</a:t>
            </a:r>
            <a:endParaRPr lang="en-US" sz="1400" dirty="0"/>
          </a:p>
        </p:txBody>
      </p:sp>
      <p:sp>
        <p:nvSpPr>
          <p:cNvPr id="9" name="Rectangle 8"/>
          <p:cNvSpPr/>
          <p:nvPr/>
        </p:nvSpPr>
        <p:spPr>
          <a:xfrm>
            <a:off x="4102641" y="412452"/>
            <a:ext cx="4139117" cy="307777"/>
          </a:xfrm>
          <a:prstGeom prst="rect">
            <a:avLst/>
          </a:prstGeom>
        </p:spPr>
        <p:txBody>
          <a:bodyPr wrap="square">
            <a:spAutoFit/>
          </a:bodyPr>
          <a:lstStyle/>
          <a:p>
            <a:pPr algn="just"/>
            <a:r>
              <a:rPr lang="en-US" sz="1400" dirty="0"/>
              <a:t>P</a:t>
            </a:r>
            <a:r>
              <a:rPr lang="en-US" sz="1400" dirty="0" smtClean="0"/>
              <a:t>roses </a:t>
            </a:r>
            <a:r>
              <a:rPr lang="en-US" sz="1400" dirty="0" err="1"/>
              <a:t>pembuatan</a:t>
            </a:r>
            <a:r>
              <a:rPr lang="en-US" sz="1400" dirty="0"/>
              <a:t> network internal</a:t>
            </a:r>
          </a:p>
        </p:txBody>
      </p:sp>
      <p:pic>
        <p:nvPicPr>
          <p:cNvPr id="3" name="Picture 2"/>
          <p:cNvPicPr>
            <a:picLocks noChangeAspect="1"/>
          </p:cNvPicPr>
          <p:nvPr/>
        </p:nvPicPr>
        <p:blipFill>
          <a:blip r:embed="rId3"/>
          <a:stretch>
            <a:fillRect/>
          </a:stretch>
        </p:blipFill>
        <p:spPr>
          <a:xfrm>
            <a:off x="312820" y="1402086"/>
            <a:ext cx="3529514" cy="3061165"/>
          </a:xfrm>
          <a:prstGeom prst="rect">
            <a:avLst/>
          </a:prstGeom>
        </p:spPr>
      </p:pic>
      <p:pic>
        <p:nvPicPr>
          <p:cNvPr id="18434" name="Picture 2" descr="https://belajarlinux.id/content/images/wordpress/2020/10/10-1024x326.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0468" y="786531"/>
            <a:ext cx="4494964" cy="1431014"/>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143301" y="263304"/>
            <a:ext cx="1690078" cy="369332"/>
          </a:xfrm>
          <a:prstGeom prst="rect">
            <a:avLst/>
          </a:prstGeom>
        </p:spPr>
        <p:txBody>
          <a:bodyPr wrap="none">
            <a:spAutoFit/>
          </a:bodyPr>
          <a:lstStyle/>
          <a:p>
            <a:r>
              <a:rPr lang="en-US" b="1" dirty="0">
                <a:solidFill>
                  <a:srgbClr val="002060"/>
                </a:solidFill>
              </a:rPr>
              <a:t>Create </a:t>
            </a:r>
            <a:r>
              <a:rPr lang="en-US" b="1" dirty="0" smtClean="0">
                <a:solidFill>
                  <a:srgbClr val="002060"/>
                </a:solidFill>
              </a:rPr>
              <a:t>Network</a:t>
            </a:r>
            <a:endParaRPr lang="en-US" dirty="0"/>
          </a:p>
        </p:txBody>
      </p:sp>
    </p:spTree>
    <p:extLst>
      <p:ext uri="{BB962C8B-B14F-4D97-AF65-F5344CB8AC3E}">
        <p14:creationId xmlns:p14="http://schemas.microsoft.com/office/powerpoint/2010/main" val="100312075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4922" y="3227746"/>
            <a:ext cx="4748568" cy="994172"/>
          </a:xfrm>
        </p:spPr>
        <p:txBody>
          <a:bodyPr>
            <a:normAutofit fontScale="90000"/>
          </a:bodyPr>
          <a:lstStyle/>
          <a:p>
            <a:pPr marL="457200" indent="-457200">
              <a:buFont typeface="Wingdings" panose="05000000000000000000" pitchFamily="2" charset="2"/>
              <a:buChar char="ü"/>
            </a:pPr>
            <a:r>
              <a:rPr lang="en-US" dirty="0" err="1">
                <a:solidFill>
                  <a:srgbClr val="002060"/>
                </a:solidFill>
              </a:rPr>
              <a:t>Membuat</a:t>
            </a:r>
            <a:r>
              <a:rPr lang="en-US" dirty="0">
                <a:solidFill>
                  <a:srgbClr val="002060"/>
                </a:solidFill>
              </a:rPr>
              <a:t> </a:t>
            </a:r>
            <a:r>
              <a:rPr lang="en-US" dirty="0" smtClean="0">
                <a:solidFill>
                  <a:srgbClr val="002060"/>
                </a:solidFill>
              </a:rPr>
              <a:t>Router</a:t>
            </a:r>
            <a:br>
              <a:rPr lang="en-US" dirty="0" smtClean="0">
                <a:solidFill>
                  <a:srgbClr val="002060"/>
                </a:solidFill>
              </a:rPr>
            </a:br>
            <a:r>
              <a:rPr lang="en-US" dirty="0">
                <a:solidFill>
                  <a:srgbClr val="002060"/>
                </a:solidFill>
              </a:rPr>
              <a:t/>
            </a:r>
            <a:br>
              <a:rPr lang="en-US" dirty="0">
                <a:solidFill>
                  <a:srgbClr val="002060"/>
                </a:solidFill>
              </a:rPr>
            </a:br>
            <a:r>
              <a:rPr lang="en-US" b="1" dirty="0" smtClean="0">
                <a:solidFill>
                  <a:srgbClr val="002060"/>
                </a:solidFill>
              </a:rPr>
              <a:t>Create Router</a:t>
            </a:r>
            <a:endParaRPr lang="en-US" b="1" dirty="0">
              <a:solidFill>
                <a:srgbClr val="00206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29</a:t>
            </a:fld>
            <a:endParaRPr lang="en-US" dirty="0"/>
          </a:p>
        </p:txBody>
      </p:sp>
      <p:sp>
        <p:nvSpPr>
          <p:cNvPr id="5" name="Rectangle 4"/>
          <p:cNvSpPr/>
          <p:nvPr/>
        </p:nvSpPr>
        <p:spPr>
          <a:xfrm>
            <a:off x="133484" y="190619"/>
            <a:ext cx="6066430" cy="1477328"/>
          </a:xfrm>
          <a:prstGeom prst="rect">
            <a:avLst/>
          </a:prstGeom>
        </p:spPr>
        <p:txBody>
          <a:bodyPr wrap="square">
            <a:spAutoFit/>
          </a:bodyPr>
          <a:lstStyle/>
          <a:p>
            <a:pPr marL="285750" indent="-285750">
              <a:buFont typeface="Wingdings" panose="05000000000000000000" pitchFamily="2" charset="2"/>
              <a:buChar char="ü"/>
            </a:pPr>
            <a:r>
              <a:rPr lang="en-US" b="1" dirty="0" err="1">
                <a:solidFill>
                  <a:schemeClr val="bg1">
                    <a:lumMod val="85000"/>
                  </a:schemeClr>
                </a:solidFill>
              </a:rPr>
              <a:t>Openstack</a:t>
            </a:r>
            <a:r>
              <a:rPr lang="en-US" b="1" dirty="0">
                <a:solidFill>
                  <a:schemeClr val="bg1">
                    <a:lumMod val="85000"/>
                  </a:schemeClr>
                </a:solidFill>
              </a:rPr>
              <a:t>: Upload Image </a:t>
            </a:r>
            <a:r>
              <a:rPr lang="en-US" b="1" dirty="0" err="1">
                <a:solidFill>
                  <a:schemeClr val="bg1">
                    <a:lumMod val="85000"/>
                  </a:schemeClr>
                </a:solidFill>
              </a:rPr>
              <a:t>atau</a:t>
            </a:r>
            <a:r>
              <a:rPr lang="en-US" b="1" dirty="0">
                <a:solidFill>
                  <a:schemeClr val="bg1">
                    <a:lumMod val="85000"/>
                  </a:schemeClr>
                </a:solidFill>
              </a:rPr>
              <a:t> ISO</a:t>
            </a:r>
          </a:p>
          <a:p>
            <a:pPr marL="285750" indent="-285750">
              <a:buFont typeface="Wingdings" panose="05000000000000000000" pitchFamily="2" charset="2"/>
              <a:buChar char="ü"/>
            </a:pPr>
            <a:r>
              <a:rPr lang="en-US" b="1" dirty="0" err="1">
                <a:solidFill>
                  <a:schemeClr val="bg1">
                    <a:lumMod val="85000"/>
                  </a:schemeClr>
                </a:solidFill>
              </a:rPr>
              <a:t>Openstack</a:t>
            </a:r>
            <a:r>
              <a:rPr lang="en-US" b="1" dirty="0">
                <a:solidFill>
                  <a:schemeClr val="bg1">
                    <a:lumMod val="85000"/>
                  </a:schemeClr>
                </a:solidFill>
              </a:rPr>
              <a:t>: </a:t>
            </a:r>
            <a:r>
              <a:rPr lang="en-US" b="1" dirty="0" err="1">
                <a:solidFill>
                  <a:schemeClr val="bg1">
                    <a:lumMod val="85000"/>
                  </a:schemeClr>
                </a:solidFill>
              </a:rPr>
              <a:t>Membuat</a:t>
            </a:r>
            <a:r>
              <a:rPr lang="en-US" b="1" dirty="0">
                <a:solidFill>
                  <a:schemeClr val="bg1">
                    <a:lumMod val="85000"/>
                  </a:schemeClr>
                </a:solidFill>
              </a:rPr>
              <a:t> Network</a:t>
            </a:r>
          </a:p>
          <a:p>
            <a:pPr marL="285750" indent="-285750">
              <a:buFont typeface="Wingdings" panose="05000000000000000000" pitchFamily="2" charset="2"/>
              <a:buChar char="ü"/>
            </a:pPr>
            <a:r>
              <a:rPr lang="en-US" b="1" dirty="0" err="1">
                <a:solidFill>
                  <a:srgbClr val="002060"/>
                </a:solidFill>
              </a:rPr>
              <a:t>Openstack</a:t>
            </a:r>
            <a:r>
              <a:rPr lang="en-US" b="1" dirty="0">
                <a:solidFill>
                  <a:srgbClr val="002060"/>
                </a:solidFill>
              </a:rPr>
              <a:t>: </a:t>
            </a:r>
            <a:r>
              <a:rPr lang="en-US" b="1" dirty="0" err="1">
                <a:solidFill>
                  <a:srgbClr val="002060"/>
                </a:solidFill>
              </a:rPr>
              <a:t>Membuat</a:t>
            </a:r>
            <a:r>
              <a:rPr lang="en-US" b="1" dirty="0">
                <a:solidFill>
                  <a:srgbClr val="002060"/>
                </a:solidFill>
              </a:rPr>
              <a:t> Router</a:t>
            </a:r>
          </a:p>
          <a:p>
            <a:pPr marL="285750" indent="-285750">
              <a:buFont typeface="Wingdings" panose="05000000000000000000" pitchFamily="2" charset="2"/>
              <a:buChar char="ü"/>
            </a:pPr>
            <a:r>
              <a:rPr lang="en-US" dirty="0" err="1">
                <a:solidFill>
                  <a:schemeClr val="bg1">
                    <a:lumMod val="85000"/>
                  </a:schemeClr>
                </a:solidFill>
              </a:rPr>
              <a:t>Openstack</a:t>
            </a:r>
            <a:r>
              <a:rPr lang="en-US" dirty="0">
                <a:solidFill>
                  <a:schemeClr val="bg1">
                    <a:lumMod val="85000"/>
                  </a:schemeClr>
                </a:solidFill>
              </a:rPr>
              <a:t>: </a:t>
            </a:r>
            <a:r>
              <a:rPr lang="en-US" dirty="0" err="1">
                <a:solidFill>
                  <a:schemeClr val="bg1">
                    <a:lumMod val="85000"/>
                  </a:schemeClr>
                </a:solidFill>
              </a:rPr>
              <a:t>Menambahkan</a:t>
            </a:r>
            <a:r>
              <a:rPr lang="en-US" dirty="0">
                <a:solidFill>
                  <a:schemeClr val="bg1">
                    <a:lumMod val="85000"/>
                  </a:schemeClr>
                </a:solidFill>
              </a:rPr>
              <a:t> SSH Key</a:t>
            </a:r>
          </a:p>
          <a:p>
            <a:pPr marL="285750" indent="-285750">
              <a:buFont typeface="Wingdings" panose="05000000000000000000" pitchFamily="2" charset="2"/>
              <a:buChar char="ü"/>
            </a:pPr>
            <a:r>
              <a:rPr lang="en-US" dirty="0" err="1">
                <a:solidFill>
                  <a:schemeClr val="bg1">
                    <a:lumMod val="85000"/>
                  </a:schemeClr>
                </a:solidFill>
              </a:rPr>
              <a:t>Openstack</a:t>
            </a:r>
            <a:r>
              <a:rPr lang="en-US" dirty="0">
                <a:solidFill>
                  <a:schemeClr val="bg1">
                    <a:lumMod val="85000"/>
                  </a:schemeClr>
                </a:solidFill>
              </a:rPr>
              <a:t>: </a:t>
            </a:r>
            <a:r>
              <a:rPr lang="en-US" dirty="0" err="1">
                <a:solidFill>
                  <a:schemeClr val="bg1">
                    <a:lumMod val="85000"/>
                  </a:schemeClr>
                </a:solidFill>
              </a:rPr>
              <a:t>Menambah</a:t>
            </a:r>
            <a:r>
              <a:rPr lang="en-US" dirty="0">
                <a:solidFill>
                  <a:schemeClr val="bg1">
                    <a:lumMod val="85000"/>
                  </a:schemeClr>
                </a:solidFill>
              </a:rPr>
              <a:t> </a:t>
            </a:r>
            <a:r>
              <a:rPr lang="en-US" dirty="0" err="1">
                <a:solidFill>
                  <a:schemeClr val="bg1">
                    <a:lumMod val="85000"/>
                  </a:schemeClr>
                </a:solidFill>
              </a:rPr>
              <a:t>dan</a:t>
            </a:r>
            <a:r>
              <a:rPr lang="en-US" dirty="0">
                <a:solidFill>
                  <a:schemeClr val="bg1">
                    <a:lumMod val="85000"/>
                  </a:schemeClr>
                </a:solidFill>
              </a:rPr>
              <a:t> </a:t>
            </a:r>
            <a:r>
              <a:rPr lang="en-US" dirty="0" err="1">
                <a:solidFill>
                  <a:schemeClr val="bg1">
                    <a:lumMod val="85000"/>
                  </a:schemeClr>
                </a:solidFill>
              </a:rPr>
              <a:t>Menggunakan</a:t>
            </a:r>
            <a:r>
              <a:rPr lang="en-US" dirty="0">
                <a:solidFill>
                  <a:schemeClr val="bg1">
                    <a:lumMod val="85000"/>
                  </a:schemeClr>
                </a:solidFill>
              </a:rPr>
              <a:t> Security Group</a:t>
            </a:r>
          </a:p>
        </p:txBody>
      </p:sp>
    </p:spTree>
    <p:extLst>
      <p:ext uri="{BB962C8B-B14F-4D97-AF65-F5344CB8AC3E}">
        <p14:creationId xmlns:p14="http://schemas.microsoft.com/office/powerpoint/2010/main" val="180302538"/>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30</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7562" y="938749"/>
            <a:ext cx="3791025" cy="830997"/>
          </a:xfrm>
          <a:prstGeom prst="rect">
            <a:avLst/>
          </a:prstGeom>
        </p:spPr>
        <p:txBody>
          <a:bodyPr wrap="square">
            <a:spAutoFit/>
          </a:bodyPr>
          <a:lstStyle/>
          <a:p>
            <a:pPr algn="just"/>
            <a:r>
              <a:rPr lang="en-US" sz="1200" dirty="0" err="1"/>
              <a:t>M</a:t>
            </a:r>
            <a:r>
              <a:rPr lang="en-US" sz="1200" dirty="0" err="1" smtClean="0"/>
              <a:t>embuat</a:t>
            </a:r>
            <a:r>
              <a:rPr lang="en-US" sz="1200" dirty="0" smtClean="0"/>
              <a:t> </a:t>
            </a:r>
            <a:r>
              <a:rPr lang="en-US" sz="1200" dirty="0"/>
              <a:t>router </a:t>
            </a:r>
            <a:r>
              <a:rPr lang="en-US" sz="1200" dirty="0" err="1"/>
              <a:t>melalui</a:t>
            </a:r>
            <a:r>
              <a:rPr lang="en-US" sz="1200" dirty="0"/>
              <a:t> horizon, </a:t>
            </a:r>
            <a:r>
              <a:rPr lang="en-US" sz="1200" dirty="0" err="1"/>
              <a:t>fungsi</a:t>
            </a:r>
            <a:r>
              <a:rPr lang="en-US" sz="1200" dirty="0"/>
              <a:t> router </a:t>
            </a:r>
            <a:r>
              <a:rPr lang="en-US" sz="1200" dirty="0" err="1"/>
              <a:t>sendiri</a:t>
            </a:r>
            <a:r>
              <a:rPr lang="en-US" sz="1200" dirty="0"/>
              <a:t> </a:t>
            </a:r>
            <a:r>
              <a:rPr lang="en-US" sz="1200" dirty="0" err="1"/>
              <a:t>untuk</a:t>
            </a:r>
            <a:r>
              <a:rPr lang="en-US" sz="1200" dirty="0"/>
              <a:t> </a:t>
            </a:r>
            <a:r>
              <a:rPr lang="en-US" sz="1200" dirty="0" err="1"/>
              <a:t>menghubungkan</a:t>
            </a:r>
            <a:r>
              <a:rPr lang="en-US" sz="1200" dirty="0"/>
              <a:t> network yang </a:t>
            </a:r>
            <a:r>
              <a:rPr lang="en-US" sz="1200" dirty="0" err="1"/>
              <a:t>telah</a:t>
            </a:r>
            <a:r>
              <a:rPr lang="en-US" sz="1200" dirty="0"/>
              <a:t> </a:t>
            </a:r>
            <a:r>
              <a:rPr lang="en-US" sz="1200" dirty="0" err="1"/>
              <a:t>kita</a:t>
            </a:r>
            <a:r>
              <a:rPr lang="en-US" sz="1200" dirty="0"/>
              <a:t> </a:t>
            </a:r>
            <a:r>
              <a:rPr lang="en-US" sz="1200" dirty="0" err="1"/>
              <a:t>buat</a:t>
            </a:r>
            <a:r>
              <a:rPr lang="en-US" sz="1200" dirty="0"/>
              <a:t> </a:t>
            </a:r>
            <a:r>
              <a:rPr lang="en-US" sz="1200" dirty="0" err="1"/>
              <a:t>sebelumnya</a:t>
            </a:r>
            <a:r>
              <a:rPr lang="en-US" sz="1200" dirty="0"/>
              <a:t>, </a:t>
            </a:r>
            <a:r>
              <a:rPr lang="en-US" sz="1200" dirty="0" err="1"/>
              <a:t>jika</a:t>
            </a:r>
            <a:r>
              <a:rPr lang="en-US" sz="1200" dirty="0"/>
              <a:t> di </a:t>
            </a:r>
            <a:r>
              <a:rPr lang="en-US" sz="1200" dirty="0" err="1"/>
              <a:t>lihat</a:t>
            </a:r>
            <a:r>
              <a:rPr lang="en-US" sz="1200" dirty="0"/>
              <a:t> </a:t>
            </a:r>
            <a:r>
              <a:rPr lang="en-US" sz="1200" dirty="0" err="1"/>
              <a:t>melalui</a:t>
            </a:r>
            <a:r>
              <a:rPr lang="en-US" sz="1200" dirty="0"/>
              <a:t> </a:t>
            </a:r>
            <a:r>
              <a:rPr lang="en-US" sz="1200" i="1" dirty="0"/>
              <a:t>Network </a:t>
            </a:r>
            <a:r>
              <a:rPr lang="en-US" sz="1200" i="1" dirty="0" err="1"/>
              <a:t>topologi</a:t>
            </a:r>
            <a:r>
              <a:rPr lang="en-US" sz="1200" dirty="0"/>
              <a:t> </a:t>
            </a:r>
            <a:r>
              <a:rPr lang="en-US" sz="1200" dirty="0" err="1"/>
              <a:t>saat</a:t>
            </a:r>
            <a:r>
              <a:rPr lang="en-US" sz="1200" dirty="0"/>
              <a:t> </a:t>
            </a:r>
            <a:r>
              <a:rPr lang="en-US" sz="1200" dirty="0" err="1"/>
              <a:t>ini</a:t>
            </a:r>
            <a:r>
              <a:rPr lang="en-US" sz="1200" dirty="0"/>
              <a:t> </a:t>
            </a:r>
            <a:r>
              <a:rPr lang="en-US" sz="1200" dirty="0" err="1"/>
              <a:t>sudah</a:t>
            </a:r>
            <a:r>
              <a:rPr lang="en-US" sz="1200" dirty="0"/>
              <a:t> </a:t>
            </a:r>
            <a:r>
              <a:rPr lang="en-US" sz="1200" dirty="0" err="1"/>
              <a:t>terdapat</a:t>
            </a:r>
            <a:r>
              <a:rPr lang="en-US" sz="1200" dirty="0"/>
              <a:t> 2 network internal </a:t>
            </a:r>
            <a:r>
              <a:rPr lang="en-US" sz="1200" dirty="0" err="1"/>
              <a:t>dan</a:t>
            </a:r>
            <a:r>
              <a:rPr lang="en-US" sz="1200" dirty="0"/>
              <a:t> external</a:t>
            </a:r>
          </a:p>
        </p:txBody>
      </p:sp>
      <p:sp>
        <p:nvSpPr>
          <p:cNvPr id="9" name="Rectangle 8"/>
          <p:cNvSpPr/>
          <p:nvPr/>
        </p:nvSpPr>
        <p:spPr>
          <a:xfrm>
            <a:off x="4102641" y="412452"/>
            <a:ext cx="4139117" cy="461665"/>
          </a:xfrm>
          <a:prstGeom prst="rect">
            <a:avLst/>
          </a:prstGeom>
        </p:spPr>
        <p:txBody>
          <a:bodyPr wrap="square">
            <a:spAutoFit/>
          </a:bodyPr>
          <a:lstStyle/>
          <a:p>
            <a:pPr algn="just"/>
            <a:r>
              <a:rPr lang="en-US" sz="1200" dirty="0"/>
              <a:t>Isi </a:t>
            </a:r>
            <a:r>
              <a:rPr lang="en-US" sz="1200" dirty="0" err="1"/>
              <a:t>nama</a:t>
            </a:r>
            <a:r>
              <a:rPr lang="en-US" sz="1200" dirty="0"/>
              <a:t> Router yang </a:t>
            </a:r>
            <a:r>
              <a:rPr lang="en-US" sz="1200" dirty="0" err="1"/>
              <a:t>Anda</a:t>
            </a:r>
            <a:r>
              <a:rPr lang="en-US" sz="1200" dirty="0"/>
              <a:t> </a:t>
            </a:r>
            <a:r>
              <a:rPr lang="en-US" sz="1200" dirty="0" err="1"/>
              <a:t>inginkan</a:t>
            </a:r>
            <a:r>
              <a:rPr lang="en-US" sz="1200" dirty="0"/>
              <a:t> </a:t>
            </a:r>
            <a:r>
              <a:rPr lang="en-US" sz="1200" dirty="0" err="1"/>
              <a:t>contoh</a:t>
            </a:r>
            <a:r>
              <a:rPr lang="en-US" sz="1200" dirty="0"/>
              <a:t> </a:t>
            </a:r>
            <a:r>
              <a:rPr lang="en-US" sz="1200" dirty="0" err="1"/>
              <a:t>seperti</a:t>
            </a:r>
            <a:r>
              <a:rPr lang="en-US" sz="1200" dirty="0"/>
              <a:t> </a:t>
            </a:r>
            <a:r>
              <a:rPr lang="en-US" sz="1200" dirty="0" err="1"/>
              <a:t>gambar</a:t>
            </a:r>
            <a:r>
              <a:rPr lang="en-US" sz="1200" dirty="0"/>
              <a:t> </a:t>
            </a:r>
            <a:r>
              <a:rPr lang="en-US" sz="1200" dirty="0" err="1"/>
              <a:t>dibawah</a:t>
            </a:r>
            <a:r>
              <a:rPr lang="en-US" sz="1200" dirty="0"/>
              <a:t> </a:t>
            </a:r>
            <a:r>
              <a:rPr lang="en-US" sz="1200" dirty="0" err="1"/>
              <a:t>ini</a:t>
            </a:r>
            <a:r>
              <a:rPr lang="en-US" sz="1200" dirty="0"/>
              <a:t>, </a:t>
            </a:r>
            <a:r>
              <a:rPr lang="en-US" sz="1200" dirty="0" err="1"/>
              <a:t>klik</a:t>
            </a:r>
            <a:r>
              <a:rPr lang="en-US" sz="1200" dirty="0"/>
              <a:t> </a:t>
            </a:r>
            <a:r>
              <a:rPr lang="en-US" sz="1200" b="1" dirty="0"/>
              <a:t>Create Router</a:t>
            </a:r>
            <a:r>
              <a:rPr lang="en-US" sz="1200" dirty="0"/>
              <a:t> </a:t>
            </a:r>
            <a:r>
              <a:rPr lang="en-US" sz="1200" dirty="0" err="1"/>
              <a:t>untuk</a:t>
            </a:r>
            <a:r>
              <a:rPr lang="en-US" sz="1200" dirty="0"/>
              <a:t> </a:t>
            </a:r>
            <a:r>
              <a:rPr lang="en-US" sz="1200" dirty="0" err="1"/>
              <a:t>membuat</a:t>
            </a:r>
            <a:r>
              <a:rPr lang="en-US" sz="1200" dirty="0"/>
              <a:t> router</a:t>
            </a:r>
          </a:p>
        </p:txBody>
      </p:sp>
      <p:sp>
        <p:nvSpPr>
          <p:cNvPr id="2" name="Rectangle 1"/>
          <p:cNvSpPr/>
          <p:nvPr/>
        </p:nvSpPr>
        <p:spPr>
          <a:xfrm>
            <a:off x="147562" y="595299"/>
            <a:ext cx="1505605" cy="369332"/>
          </a:xfrm>
          <a:prstGeom prst="rect">
            <a:avLst/>
          </a:prstGeom>
        </p:spPr>
        <p:txBody>
          <a:bodyPr wrap="none">
            <a:spAutoFit/>
          </a:bodyPr>
          <a:lstStyle/>
          <a:p>
            <a:r>
              <a:rPr lang="en-US" b="1" dirty="0">
                <a:solidFill>
                  <a:srgbClr val="002060"/>
                </a:solidFill>
              </a:rPr>
              <a:t>Create Router</a:t>
            </a:r>
            <a:endParaRPr lang="en-US" dirty="0"/>
          </a:p>
        </p:txBody>
      </p:sp>
      <p:pic>
        <p:nvPicPr>
          <p:cNvPr id="7" name="Picture 6"/>
          <p:cNvPicPr>
            <a:picLocks noChangeAspect="1"/>
          </p:cNvPicPr>
          <p:nvPr/>
        </p:nvPicPr>
        <p:blipFill>
          <a:blip r:embed="rId3"/>
          <a:stretch>
            <a:fillRect/>
          </a:stretch>
        </p:blipFill>
        <p:spPr>
          <a:xfrm>
            <a:off x="300791" y="1827309"/>
            <a:ext cx="3537283" cy="1602476"/>
          </a:xfrm>
          <a:prstGeom prst="rect">
            <a:avLst/>
          </a:prstGeom>
        </p:spPr>
      </p:pic>
      <p:sp>
        <p:nvSpPr>
          <p:cNvPr id="8" name="Rectangle 7"/>
          <p:cNvSpPr/>
          <p:nvPr/>
        </p:nvSpPr>
        <p:spPr>
          <a:xfrm>
            <a:off x="174458" y="3476463"/>
            <a:ext cx="3789947" cy="461665"/>
          </a:xfrm>
          <a:prstGeom prst="rect">
            <a:avLst/>
          </a:prstGeom>
        </p:spPr>
        <p:txBody>
          <a:bodyPr wrap="square">
            <a:spAutoFit/>
          </a:bodyPr>
          <a:lstStyle/>
          <a:p>
            <a:r>
              <a:rPr lang="en-US" sz="1200" dirty="0" err="1" smtClean="0"/>
              <a:t>Membuat</a:t>
            </a:r>
            <a:r>
              <a:rPr lang="en-US" sz="1200" dirty="0" smtClean="0"/>
              <a:t> </a:t>
            </a:r>
            <a:r>
              <a:rPr lang="en-US" sz="1200" dirty="0"/>
              <a:t>router Login </a:t>
            </a:r>
            <a:r>
              <a:rPr lang="en-US" sz="1200" dirty="0" err="1"/>
              <a:t>ke</a:t>
            </a:r>
            <a:r>
              <a:rPr lang="en-US" sz="1200" dirty="0"/>
              <a:t> Horizon &gt;&gt; Network &gt;&gt; Router &gt;&gt; Create Router</a:t>
            </a:r>
          </a:p>
        </p:txBody>
      </p:sp>
      <p:pic>
        <p:nvPicPr>
          <p:cNvPr id="10" name="Picture 9"/>
          <p:cNvPicPr>
            <a:picLocks noChangeAspect="1"/>
          </p:cNvPicPr>
          <p:nvPr/>
        </p:nvPicPr>
        <p:blipFill>
          <a:blip r:embed="rId4"/>
          <a:stretch>
            <a:fillRect/>
          </a:stretch>
        </p:blipFill>
        <p:spPr>
          <a:xfrm>
            <a:off x="300791" y="3984806"/>
            <a:ext cx="3537283" cy="1112622"/>
          </a:xfrm>
          <a:prstGeom prst="rect">
            <a:avLst/>
          </a:prstGeom>
        </p:spPr>
      </p:pic>
      <p:pic>
        <p:nvPicPr>
          <p:cNvPr id="11" name="Picture 10"/>
          <p:cNvPicPr>
            <a:picLocks noChangeAspect="1"/>
          </p:cNvPicPr>
          <p:nvPr/>
        </p:nvPicPr>
        <p:blipFill>
          <a:blip r:embed="rId5"/>
          <a:stretch>
            <a:fillRect/>
          </a:stretch>
        </p:blipFill>
        <p:spPr>
          <a:xfrm>
            <a:off x="4250915" y="874117"/>
            <a:ext cx="4532137" cy="2059907"/>
          </a:xfrm>
          <a:prstGeom prst="rect">
            <a:avLst/>
          </a:prstGeom>
        </p:spPr>
      </p:pic>
      <p:pic>
        <p:nvPicPr>
          <p:cNvPr id="12" name="Picture 11"/>
          <p:cNvPicPr>
            <a:picLocks noChangeAspect="1"/>
          </p:cNvPicPr>
          <p:nvPr/>
        </p:nvPicPr>
        <p:blipFill>
          <a:blip r:embed="rId6"/>
          <a:stretch>
            <a:fillRect/>
          </a:stretch>
        </p:blipFill>
        <p:spPr>
          <a:xfrm>
            <a:off x="4250916" y="3099042"/>
            <a:ext cx="4532137" cy="1668221"/>
          </a:xfrm>
          <a:prstGeom prst="rect">
            <a:avLst/>
          </a:prstGeom>
        </p:spPr>
      </p:pic>
    </p:spTree>
    <p:extLst>
      <p:ext uri="{BB962C8B-B14F-4D97-AF65-F5344CB8AC3E}">
        <p14:creationId xmlns:p14="http://schemas.microsoft.com/office/powerpoint/2010/main" val="4042024316"/>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31</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1" y="602987"/>
            <a:ext cx="2190825" cy="276999"/>
          </a:xfrm>
          <a:prstGeom prst="rect">
            <a:avLst/>
          </a:prstGeom>
        </p:spPr>
        <p:txBody>
          <a:bodyPr wrap="square">
            <a:spAutoFit/>
          </a:bodyPr>
          <a:lstStyle/>
          <a:p>
            <a:pPr algn="just"/>
            <a:r>
              <a:rPr lang="en-US" sz="1200" dirty="0" smtClean="0"/>
              <a:t>Detail </a:t>
            </a:r>
            <a:r>
              <a:rPr lang="en-US" sz="1200" dirty="0" err="1"/>
              <a:t>informasi</a:t>
            </a:r>
            <a:r>
              <a:rPr lang="en-US" sz="1200" dirty="0"/>
              <a:t> </a:t>
            </a:r>
            <a:r>
              <a:rPr lang="en-US" sz="1200" dirty="0" err="1"/>
              <a:t>dari</a:t>
            </a:r>
            <a:r>
              <a:rPr lang="en-US" sz="1200" dirty="0"/>
              <a:t> router</a:t>
            </a:r>
          </a:p>
        </p:txBody>
      </p:sp>
      <p:sp>
        <p:nvSpPr>
          <p:cNvPr id="9" name="Rectangle 8"/>
          <p:cNvSpPr/>
          <p:nvPr/>
        </p:nvSpPr>
        <p:spPr>
          <a:xfrm>
            <a:off x="4102641" y="412452"/>
            <a:ext cx="4139117" cy="461665"/>
          </a:xfrm>
          <a:prstGeom prst="rect">
            <a:avLst/>
          </a:prstGeom>
        </p:spPr>
        <p:txBody>
          <a:bodyPr wrap="square">
            <a:spAutoFit/>
          </a:bodyPr>
          <a:lstStyle/>
          <a:p>
            <a:pPr algn="just"/>
            <a:r>
              <a:rPr lang="en-US" sz="1200" dirty="0" err="1"/>
              <a:t>Pilih</a:t>
            </a:r>
            <a:r>
              <a:rPr lang="en-US" sz="1200" dirty="0"/>
              <a:t> network internal yang </a:t>
            </a:r>
            <a:r>
              <a:rPr lang="en-US" sz="1200" dirty="0" err="1"/>
              <a:t>sudah</a:t>
            </a:r>
            <a:r>
              <a:rPr lang="en-US" sz="1200" dirty="0"/>
              <a:t> </a:t>
            </a:r>
            <a:r>
              <a:rPr lang="en-US" sz="1200" dirty="0" err="1"/>
              <a:t>dibuat</a:t>
            </a:r>
            <a:r>
              <a:rPr lang="en-US" sz="1200" dirty="0"/>
              <a:t> </a:t>
            </a:r>
            <a:r>
              <a:rPr lang="en-US" sz="1200" dirty="0" err="1"/>
              <a:t>sebelumnya</a:t>
            </a:r>
            <a:r>
              <a:rPr lang="en-US" sz="1200" dirty="0"/>
              <a:t> </a:t>
            </a:r>
            <a:r>
              <a:rPr lang="en-US" sz="1200" dirty="0" err="1"/>
              <a:t>lalu</a:t>
            </a:r>
            <a:r>
              <a:rPr lang="en-US" sz="1200" dirty="0"/>
              <a:t> </a:t>
            </a:r>
            <a:r>
              <a:rPr lang="en-US" sz="1200" b="1" dirty="0"/>
              <a:t>Submit</a:t>
            </a:r>
            <a:endParaRPr lang="en-US" sz="1200" dirty="0"/>
          </a:p>
        </p:txBody>
      </p:sp>
      <p:sp>
        <p:nvSpPr>
          <p:cNvPr id="14" name="Rectangle 13"/>
          <p:cNvSpPr/>
          <p:nvPr/>
        </p:nvSpPr>
        <p:spPr>
          <a:xfrm>
            <a:off x="143301" y="263304"/>
            <a:ext cx="1505605" cy="369332"/>
          </a:xfrm>
          <a:prstGeom prst="rect">
            <a:avLst/>
          </a:prstGeom>
        </p:spPr>
        <p:txBody>
          <a:bodyPr wrap="none">
            <a:spAutoFit/>
          </a:bodyPr>
          <a:lstStyle/>
          <a:p>
            <a:r>
              <a:rPr lang="en-US" b="1" dirty="0">
                <a:solidFill>
                  <a:srgbClr val="002060"/>
                </a:solidFill>
              </a:rPr>
              <a:t>Create </a:t>
            </a:r>
            <a:r>
              <a:rPr lang="en-US" b="1" dirty="0" smtClean="0">
                <a:solidFill>
                  <a:srgbClr val="002060"/>
                </a:solidFill>
              </a:rPr>
              <a:t>Router</a:t>
            </a:r>
            <a:endParaRPr lang="en-US" dirty="0"/>
          </a:p>
        </p:txBody>
      </p:sp>
      <p:pic>
        <p:nvPicPr>
          <p:cNvPr id="2" name="Picture 1"/>
          <p:cNvPicPr>
            <a:picLocks noChangeAspect="1"/>
          </p:cNvPicPr>
          <p:nvPr/>
        </p:nvPicPr>
        <p:blipFill>
          <a:blip r:embed="rId3"/>
          <a:stretch>
            <a:fillRect/>
          </a:stretch>
        </p:blipFill>
        <p:spPr>
          <a:xfrm>
            <a:off x="228599" y="879986"/>
            <a:ext cx="3501189" cy="1540066"/>
          </a:xfrm>
          <a:prstGeom prst="rect">
            <a:avLst/>
          </a:prstGeom>
        </p:spPr>
      </p:pic>
      <p:sp>
        <p:nvSpPr>
          <p:cNvPr id="10" name="Rectangle 9"/>
          <p:cNvSpPr/>
          <p:nvPr/>
        </p:nvSpPr>
        <p:spPr>
          <a:xfrm>
            <a:off x="228600" y="2420053"/>
            <a:ext cx="3205664" cy="646331"/>
          </a:xfrm>
          <a:prstGeom prst="rect">
            <a:avLst/>
          </a:prstGeom>
        </p:spPr>
        <p:txBody>
          <a:bodyPr wrap="square">
            <a:spAutoFit/>
          </a:bodyPr>
          <a:lstStyle/>
          <a:p>
            <a:pPr algn="just"/>
            <a:r>
              <a:rPr lang="en-US" sz="1200" dirty="0" err="1"/>
              <a:t>Selanjutnya</a:t>
            </a:r>
            <a:r>
              <a:rPr lang="en-US" sz="1200" dirty="0"/>
              <a:t> </a:t>
            </a:r>
            <a:r>
              <a:rPr lang="en-US" sz="1200" dirty="0" err="1"/>
              <a:t>pindah</a:t>
            </a:r>
            <a:r>
              <a:rPr lang="en-US" sz="1200" dirty="0"/>
              <a:t> </a:t>
            </a:r>
            <a:r>
              <a:rPr lang="en-US" sz="1200" dirty="0" err="1"/>
              <a:t>ke</a:t>
            </a:r>
            <a:r>
              <a:rPr lang="en-US" sz="1200" dirty="0"/>
              <a:t> menu </a:t>
            </a:r>
            <a:r>
              <a:rPr lang="en-US" sz="1200" b="1" dirty="0"/>
              <a:t>Interface &gt;&gt; Add Interface</a:t>
            </a:r>
            <a:r>
              <a:rPr lang="en-US" sz="1200" dirty="0"/>
              <a:t> </a:t>
            </a:r>
            <a:r>
              <a:rPr lang="en-US" sz="1200" dirty="0" err="1"/>
              <a:t>untuk</a:t>
            </a:r>
            <a:r>
              <a:rPr lang="en-US" sz="1200" dirty="0"/>
              <a:t> </a:t>
            </a:r>
            <a:r>
              <a:rPr lang="en-US" sz="1200" dirty="0" err="1"/>
              <a:t>menambahkan</a:t>
            </a:r>
            <a:r>
              <a:rPr lang="en-US" sz="1200" dirty="0"/>
              <a:t> interface network yang </a:t>
            </a:r>
            <a:r>
              <a:rPr lang="en-US" sz="1200" dirty="0" err="1"/>
              <a:t>sudah</a:t>
            </a:r>
            <a:r>
              <a:rPr lang="en-US" sz="1200" dirty="0"/>
              <a:t> </a:t>
            </a:r>
            <a:r>
              <a:rPr lang="en-US" sz="1200" dirty="0" err="1"/>
              <a:t>kita</a:t>
            </a:r>
            <a:r>
              <a:rPr lang="en-US" sz="1200" dirty="0"/>
              <a:t> </a:t>
            </a:r>
            <a:r>
              <a:rPr lang="en-US" sz="1200" dirty="0" err="1"/>
              <a:t>buat</a:t>
            </a:r>
            <a:r>
              <a:rPr lang="en-US" sz="1200" dirty="0"/>
              <a:t> </a:t>
            </a:r>
            <a:r>
              <a:rPr lang="en-US" sz="1200" dirty="0" err="1"/>
              <a:t>sebelumnya</a:t>
            </a:r>
            <a:endParaRPr lang="en-US" sz="1200" dirty="0"/>
          </a:p>
        </p:txBody>
      </p:sp>
      <p:pic>
        <p:nvPicPr>
          <p:cNvPr id="7" name="Picture 6"/>
          <p:cNvPicPr>
            <a:picLocks noChangeAspect="1"/>
          </p:cNvPicPr>
          <p:nvPr/>
        </p:nvPicPr>
        <p:blipFill>
          <a:blip r:embed="rId4"/>
          <a:stretch>
            <a:fillRect/>
          </a:stretch>
        </p:blipFill>
        <p:spPr>
          <a:xfrm>
            <a:off x="268705" y="3066383"/>
            <a:ext cx="3461084" cy="1700879"/>
          </a:xfrm>
          <a:prstGeom prst="rect">
            <a:avLst/>
          </a:prstGeom>
        </p:spPr>
      </p:pic>
      <p:pic>
        <p:nvPicPr>
          <p:cNvPr id="8" name="Picture 7"/>
          <p:cNvPicPr>
            <a:picLocks noChangeAspect="1"/>
          </p:cNvPicPr>
          <p:nvPr/>
        </p:nvPicPr>
        <p:blipFill>
          <a:blip r:embed="rId5"/>
          <a:stretch>
            <a:fillRect/>
          </a:stretch>
        </p:blipFill>
        <p:spPr>
          <a:xfrm>
            <a:off x="4123696" y="923257"/>
            <a:ext cx="4562101" cy="1264955"/>
          </a:xfrm>
          <a:prstGeom prst="rect">
            <a:avLst/>
          </a:prstGeom>
        </p:spPr>
      </p:pic>
      <p:sp>
        <p:nvSpPr>
          <p:cNvPr id="13" name="Rectangle 12"/>
          <p:cNvSpPr/>
          <p:nvPr/>
        </p:nvSpPr>
        <p:spPr>
          <a:xfrm>
            <a:off x="4102640" y="2281553"/>
            <a:ext cx="4139117" cy="276999"/>
          </a:xfrm>
          <a:prstGeom prst="rect">
            <a:avLst/>
          </a:prstGeom>
        </p:spPr>
        <p:txBody>
          <a:bodyPr wrap="square">
            <a:spAutoFit/>
          </a:bodyPr>
          <a:lstStyle/>
          <a:p>
            <a:pPr algn="just"/>
            <a:r>
              <a:rPr lang="it-IT" sz="1200" dirty="0"/>
              <a:t>Saat ini interface sudah berhasil di tambahkan</a:t>
            </a:r>
            <a:endParaRPr lang="en-US" sz="1200" dirty="0"/>
          </a:p>
        </p:txBody>
      </p:sp>
      <p:pic>
        <p:nvPicPr>
          <p:cNvPr id="11" name="Picture 10"/>
          <p:cNvPicPr>
            <a:picLocks noChangeAspect="1"/>
          </p:cNvPicPr>
          <p:nvPr/>
        </p:nvPicPr>
        <p:blipFill>
          <a:blip r:embed="rId6"/>
          <a:stretch>
            <a:fillRect/>
          </a:stretch>
        </p:blipFill>
        <p:spPr>
          <a:xfrm>
            <a:off x="4230102" y="2651893"/>
            <a:ext cx="4455695" cy="2004328"/>
          </a:xfrm>
          <a:prstGeom prst="rect">
            <a:avLst/>
          </a:prstGeom>
        </p:spPr>
      </p:pic>
    </p:spTree>
    <p:extLst>
      <p:ext uri="{BB962C8B-B14F-4D97-AF65-F5344CB8AC3E}">
        <p14:creationId xmlns:p14="http://schemas.microsoft.com/office/powerpoint/2010/main" val="156718850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32</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1" y="632636"/>
            <a:ext cx="3791025" cy="461665"/>
          </a:xfrm>
          <a:prstGeom prst="rect">
            <a:avLst/>
          </a:prstGeom>
        </p:spPr>
        <p:txBody>
          <a:bodyPr wrap="square">
            <a:spAutoFit/>
          </a:bodyPr>
          <a:lstStyle/>
          <a:p>
            <a:pPr algn="just"/>
            <a:r>
              <a:rPr lang="en-US" sz="1200" dirty="0" err="1"/>
              <a:t>Selajutnya</a:t>
            </a:r>
            <a:r>
              <a:rPr lang="en-US" sz="1200" dirty="0"/>
              <a:t> test ping </a:t>
            </a:r>
            <a:r>
              <a:rPr lang="en-US" sz="1200" dirty="0" err="1"/>
              <a:t>dari</a:t>
            </a:r>
            <a:r>
              <a:rPr lang="en-US" sz="1200" dirty="0"/>
              <a:t> controller </a:t>
            </a:r>
            <a:r>
              <a:rPr lang="en-US" sz="1200" dirty="0" err="1"/>
              <a:t>ke</a:t>
            </a:r>
            <a:r>
              <a:rPr lang="en-US" sz="1200" dirty="0"/>
              <a:t> IP Gateway </a:t>
            </a:r>
            <a:r>
              <a:rPr lang="en-US" sz="1200" dirty="0" err="1"/>
              <a:t>atau</a:t>
            </a:r>
            <a:r>
              <a:rPr lang="en-US" sz="1200" dirty="0"/>
              <a:t> IP Router yang </a:t>
            </a:r>
            <a:r>
              <a:rPr lang="en-US" sz="1200" dirty="0" err="1"/>
              <a:t>sudah</a:t>
            </a:r>
            <a:r>
              <a:rPr lang="en-US" sz="1200" dirty="0"/>
              <a:t> </a:t>
            </a:r>
            <a:r>
              <a:rPr lang="en-US" sz="1200" dirty="0" err="1"/>
              <a:t>kita</a:t>
            </a:r>
            <a:r>
              <a:rPr lang="en-US" sz="1200" dirty="0"/>
              <a:t> </a:t>
            </a:r>
            <a:r>
              <a:rPr lang="en-US" sz="1200" dirty="0" err="1"/>
              <a:t>buat</a:t>
            </a:r>
            <a:r>
              <a:rPr lang="en-US" sz="1200" dirty="0"/>
              <a:t> </a:t>
            </a:r>
            <a:r>
              <a:rPr lang="en-US" sz="1200" dirty="0" err="1"/>
              <a:t>sebelumnya</a:t>
            </a:r>
            <a:r>
              <a:rPr lang="en-US" sz="1200" dirty="0"/>
              <a:t>.</a:t>
            </a:r>
          </a:p>
        </p:txBody>
      </p:sp>
      <p:sp>
        <p:nvSpPr>
          <p:cNvPr id="9" name="Rectangle 8"/>
          <p:cNvSpPr/>
          <p:nvPr/>
        </p:nvSpPr>
        <p:spPr>
          <a:xfrm>
            <a:off x="4102641" y="412452"/>
            <a:ext cx="4139117" cy="307777"/>
          </a:xfrm>
          <a:prstGeom prst="rect">
            <a:avLst/>
          </a:prstGeom>
        </p:spPr>
        <p:txBody>
          <a:bodyPr wrap="square">
            <a:spAutoFit/>
          </a:bodyPr>
          <a:lstStyle/>
          <a:p>
            <a:pPr algn="just"/>
            <a:r>
              <a:rPr lang="en-US" sz="1400" dirty="0"/>
              <a:t>P</a:t>
            </a:r>
            <a:r>
              <a:rPr lang="en-US" sz="1400" dirty="0" smtClean="0"/>
              <a:t>roses </a:t>
            </a:r>
            <a:r>
              <a:rPr lang="en-US" sz="1400" dirty="0" err="1"/>
              <a:t>pembuatan</a:t>
            </a:r>
            <a:r>
              <a:rPr lang="en-US" sz="1400" dirty="0"/>
              <a:t> network internal</a:t>
            </a:r>
          </a:p>
        </p:txBody>
      </p:sp>
      <p:sp>
        <p:nvSpPr>
          <p:cNvPr id="14" name="Rectangle 13"/>
          <p:cNvSpPr/>
          <p:nvPr/>
        </p:nvSpPr>
        <p:spPr>
          <a:xfrm>
            <a:off x="143301" y="263304"/>
            <a:ext cx="1505605" cy="369332"/>
          </a:xfrm>
          <a:prstGeom prst="rect">
            <a:avLst/>
          </a:prstGeom>
        </p:spPr>
        <p:txBody>
          <a:bodyPr wrap="none">
            <a:spAutoFit/>
          </a:bodyPr>
          <a:lstStyle/>
          <a:p>
            <a:r>
              <a:rPr lang="en-US" b="1" dirty="0">
                <a:solidFill>
                  <a:srgbClr val="002060"/>
                </a:solidFill>
              </a:rPr>
              <a:t>Create </a:t>
            </a:r>
            <a:r>
              <a:rPr lang="en-US" b="1" dirty="0" smtClean="0">
                <a:solidFill>
                  <a:srgbClr val="002060"/>
                </a:solidFill>
              </a:rPr>
              <a:t>Router</a:t>
            </a:r>
            <a:endParaRPr lang="en-US" dirty="0"/>
          </a:p>
        </p:txBody>
      </p:sp>
      <p:sp>
        <p:nvSpPr>
          <p:cNvPr id="7" name="Rectangle 6"/>
          <p:cNvSpPr/>
          <p:nvPr/>
        </p:nvSpPr>
        <p:spPr>
          <a:xfrm>
            <a:off x="143301" y="1007656"/>
            <a:ext cx="4247724" cy="415498"/>
          </a:xfrm>
          <a:prstGeom prst="rect">
            <a:avLst/>
          </a:prstGeom>
        </p:spPr>
        <p:txBody>
          <a:bodyPr wrap="square">
            <a:spAutoFit/>
          </a:bodyPr>
          <a:lstStyle/>
          <a:p>
            <a:pPr algn="just"/>
            <a:r>
              <a:rPr lang="en-US" sz="1000" dirty="0" smtClean="0">
                <a:solidFill>
                  <a:srgbClr val="0070C0"/>
                </a:solidFill>
              </a:rPr>
              <a:t>Openstack.panda.id/dashboard/project/routers/a5b00947-db9a-4934-a202-f2bd0cg1a1c/</a:t>
            </a:r>
            <a:endParaRPr lang="en-US" sz="1000" dirty="0">
              <a:solidFill>
                <a:srgbClr val="0070C0"/>
              </a:solidFill>
            </a:endParaRPr>
          </a:p>
        </p:txBody>
      </p:sp>
      <p:sp>
        <p:nvSpPr>
          <p:cNvPr id="12" name="Rectangle 11"/>
          <p:cNvSpPr/>
          <p:nvPr/>
        </p:nvSpPr>
        <p:spPr>
          <a:xfrm>
            <a:off x="143301" y="3936266"/>
            <a:ext cx="3524250" cy="830997"/>
          </a:xfrm>
          <a:prstGeom prst="rect">
            <a:avLst/>
          </a:prstGeom>
          <a:solidFill>
            <a:schemeClr val="bg1"/>
          </a:solidFill>
        </p:spPr>
        <p:txBody>
          <a:bodyPr wrap="square">
            <a:spAutoFit/>
          </a:bodyPr>
          <a:lstStyle/>
          <a:p>
            <a:pPr lvl="0" algn="just" eaLnBrk="0" fontAlgn="base" hangingPunct="0">
              <a:spcBef>
                <a:spcPct val="0"/>
              </a:spcBef>
              <a:spcAft>
                <a:spcPct val="0"/>
              </a:spcAft>
            </a:pPr>
            <a:r>
              <a:rPr lang="en-US" altLang="en-US" sz="600" dirty="0" smtClean="0">
                <a:latin typeface="Courier New" panose="02070309020205020404" pitchFamily="49" charset="0"/>
                <a:cs typeface="Courier New" panose="02070309020205020404" pitchFamily="49" charset="0"/>
              </a:rPr>
              <a:t>[</a:t>
            </a:r>
            <a:r>
              <a:rPr lang="en-US" altLang="en-US" sz="600" dirty="0" err="1" smtClean="0">
                <a:latin typeface="Courier New" panose="02070309020205020404" pitchFamily="49" charset="0"/>
                <a:cs typeface="Courier New" panose="02070309020205020404" pitchFamily="49" charset="0"/>
              </a:rPr>
              <a:t>root@controller</a:t>
            </a:r>
            <a:r>
              <a:rPr lang="en-US" altLang="en-US" sz="600" dirty="0" smtClean="0">
                <a:latin typeface="Courier New" panose="02070309020205020404" pitchFamily="49" charset="0"/>
                <a:cs typeface="Courier New" panose="02070309020205020404" pitchFamily="49" charset="0"/>
              </a:rPr>
              <a:t> ~]#</a:t>
            </a:r>
          </a:p>
          <a:p>
            <a:pPr algn="just" eaLnBrk="0" fontAlgn="base" hangingPunct="0">
              <a:spcBef>
                <a:spcPct val="0"/>
              </a:spcBef>
              <a:spcAft>
                <a:spcPct val="0"/>
              </a:spcAft>
            </a:pPr>
            <a:r>
              <a:rPr lang="en-US" altLang="en-US" sz="600" dirty="0">
                <a:latin typeface="Courier New" panose="02070309020205020404" pitchFamily="49" charset="0"/>
                <a:cs typeface="Courier New" panose="02070309020205020404" pitchFamily="49" charset="0"/>
              </a:rPr>
              <a:t>[</a:t>
            </a:r>
            <a:r>
              <a:rPr lang="en-US" altLang="en-US" sz="600" dirty="0" err="1">
                <a:latin typeface="Courier New" panose="02070309020205020404" pitchFamily="49" charset="0"/>
                <a:cs typeface="Courier New" panose="02070309020205020404" pitchFamily="49" charset="0"/>
              </a:rPr>
              <a:t>root@controller</a:t>
            </a:r>
            <a:r>
              <a:rPr lang="en-US" altLang="en-US" sz="600" dirty="0">
                <a:latin typeface="Courier New" panose="02070309020205020404" pitchFamily="49" charset="0"/>
                <a:cs typeface="Courier New" panose="02070309020205020404" pitchFamily="49" charset="0"/>
              </a:rPr>
              <a:t> </a:t>
            </a:r>
            <a:r>
              <a:rPr lang="en-US" altLang="en-US" sz="600" dirty="0" smtClean="0">
                <a:latin typeface="Courier New" panose="02070309020205020404" pitchFamily="49" charset="0"/>
                <a:cs typeface="Courier New" panose="02070309020205020404" pitchFamily="49" charset="0"/>
              </a:rPr>
              <a:t>~]#</a:t>
            </a:r>
            <a:r>
              <a:rPr lang="en-US" altLang="en-US" sz="600" dirty="0">
                <a:latin typeface="Courier New" panose="02070309020205020404" pitchFamily="49" charset="0"/>
                <a:cs typeface="Courier New" panose="02070309020205020404" pitchFamily="49" charset="0"/>
              </a:rPr>
              <a:t> </a:t>
            </a:r>
            <a:r>
              <a:rPr lang="en-US" altLang="en-US" sz="600" dirty="0" smtClean="0">
                <a:latin typeface="Courier New" panose="02070309020205020404" pitchFamily="49" charset="0"/>
                <a:cs typeface="Courier New" panose="02070309020205020404" pitchFamily="49" charset="0"/>
              </a:rPr>
              <a:t>ping 10.136.136.112 –c5</a:t>
            </a:r>
          </a:p>
          <a:p>
            <a:pPr algn="just" eaLnBrk="0" fontAlgn="base" hangingPunct="0">
              <a:spcBef>
                <a:spcPct val="0"/>
              </a:spcBef>
              <a:spcAft>
                <a:spcPct val="0"/>
              </a:spcAft>
            </a:pPr>
            <a:r>
              <a:rPr lang="en-US" altLang="en-US" sz="600" dirty="0" smtClean="0">
                <a:latin typeface="Courier New" panose="02070309020205020404" pitchFamily="49" charset="0"/>
                <a:cs typeface="Courier New" panose="02070309020205020404" pitchFamily="49" charset="0"/>
              </a:rPr>
              <a:t>PING 10.136.136.185 (10.136.136.185) 56(84) bytes of data.</a:t>
            </a:r>
          </a:p>
          <a:p>
            <a:pPr algn="just" eaLnBrk="0" fontAlgn="base" hangingPunct="0">
              <a:spcBef>
                <a:spcPct val="0"/>
              </a:spcBef>
              <a:spcAft>
                <a:spcPct val="0"/>
              </a:spcAft>
            </a:pPr>
            <a:r>
              <a:rPr lang="en-US" altLang="en-US" sz="600" dirty="0">
                <a:latin typeface="Courier New" panose="02070309020205020404" pitchFamily="49" charset="0"/>
                <a:cs typeface="Courier New" panose="02070309020205020404" pitchFamily="49" charset="0"/>
              </a:rPr>
              <a:t>64 bytes from </a:t>
            </a:r>
            <a:r>
              <a:rPr lang="en-US" altLang="en-US" sz="600" dirty="0" smtClean="0">
                <a:latin typeface="Courier New" panose="02070309020205020404" pitchFamily="49" charset="0"/>
                <a:cs typeface="Courier New" panose="02070309020205020404" pitchFamily="49" charset="0"/>
              </a:rPr>
              <a:t>10.136.136.185: </a:t>
            </a:r>
            <a:r>
              <a:rPr lang="en-US" altLang="en-US" sz="600" dirty="0" err="1" smtClean="0">
                <a:latin typeface="Courier New" panose="02070309020205020404" pitchFamily="49" charset="0"/>
                <a:cs typeface="Courier New" panose="02070309020205020404" pitchFamily="49" charset="0"/>
              </a:rPr>
              <a:t>icmp_seq</a:t>
            </a:r>
            <a:r>
              <a:rPr lang="en-US" altLang="en-US" sz="600" dirty="0" smtClean="0">
                <a:latin typeface="Courier New" panose="02070309020205020404" pitchFamily="49" charset="0"/>
                <a:cs typeface="Courier New" panose="02070309020205020404" pitchFamily="49" charset="0"/>
              </a:rPr>
              <a:t>=1 </a:t>
            </a:r>
            <a:r>
              <a:rPr lang="en-US" altLang="en-US" sz="600" dirty="0" err="1" smtClean="0">
                <a:latin typeface="Courier New" panose="02070309020205020404" pitchFamily="49" charset="0"/>
                <a:cs typeface="Courier New" panose="02070309020205020404" pitchFamily="49" charset="0"/>
              </a:rPr>
              <a:t>ttl</a:t>
            </a:r>
            <a:r>
              <a:rPr lang="en-US" altLang="en-US" sz="600" dirty="0" smtClean="0">
                <a:latin typeface="Courier New" panose="02070309020205020404" pitchFamily="49" charset="0"/>
                <a:cs typeface="Courier New" panose="02070309020205020404" pitchFamily="49" charset="0"/>
              </a:rPr>
              <a:t>=64 time=101ms TTL=0.491 </a:t>
            </a:r>
            <a:r>
              <a:rPr lang="en-US" altLang="en-US" sz="600" dirty="0" err="1" smtClean="0">
                <a:latin typeface="Courier New" panose="02070309020205020404" pitchFamily="49" charset="0"/>
                <a:cs typeface="Courier New" panose="02070309020205020404" pitchFamily="49" charset="0"/>
              </a:rPr>
              <a:t>ms</a:t>
            </a:r>
            <a:endParaRPr lang="en-US" altLang="en-US" sz="600" dirty="0" smtClean="0">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600" dirty="0">
                <a:latin typeface="Courier New" panose="02070309020205020404" pitchFamily="49" charset="0"/>
                <a:cs typeface="Courier New" panose="02070309020205020404" pitchFamily="49" charset="0"/>
              </a:rPr>
              <a:t>64 bytes from 10.136.136.185: </a:t>
            </a:r>
            <a:r>
              <a:rPr lang="en-US" altLang="en-US" sz="600" dirty="0" err="1">
                <a:latin typeface="Courier New" panose="02070309020205020404" pitchFamily="49" charset="0"/>
                <a:cs typeface="Courier New" panose="02070309020205020404" pitchFamily="49" charset="0"/>
              </a:rPr>
              <a:t>icmp_seq</a:t>
            </a:r>
            <a:r>
              <a:rPr lang="en-US" altLang="en-US" sz="600" dirty="0">
                <a:latin typeface="Courier New" panose="02070309020205020404" pitchFamily="49" charset="0"/>
                <a:cs typeface="Courier New" panose="02070309020205020404" pitchFamily="49" charset="0"/>
              </a:rPr>
              <a:t>=1 </a:t>
            </a:r>
            <a:r>
              <a:rPr lang="en-US" altLang="en-US" sz="600" dirty="0" err="1">
                <a:latin typeface="Courier New" panose="02070309020205020404" pitchFamily="49" charset="0"/>
                <a:cs typeface="Courier New" panose="02070309020205020404" pitchFamily="49" charset="0"/>
              </a:rPr>
              <a:t>ttl</a:t>
            </a:r>
            <a:r>
              <a:rPr lang="en-US" altLang="en-US" sz="600" dirty="0">
                <a:latin typeface="Courier New" panose="02070309020205020404" pitchFamily="49" charset="0"/>
                <a:cs typeface="Courier New" panose="02070309020205020404" pitchFamily="49" charset="0"/>
              </a:rPr>
              <a:t>=64 time=101ms TTL=0.491 </a:t>
            </a:r>
            <a:r>
              <a:rPr lang="en-US" altLang="en-US" sz="600" dirty="0" err="1">
                <a:latin typeface="Courier New" panose="02070309020205020404" pitchFamily="49" charset="0"/>
                <a:cs typeface="Courier New" panose="02070309020205020404" pitchFamily="49" charset="0"/>
              </a:rPr>
              <a:t>ms</a:t>
            </a:r>
            <a:endParaRPr lang="en-US" altLang="en-US" sz="600" dirty="0">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600" dirty="0">
                <a:latin typeface="Courier New" panose="02070309020205020404" pitchFamily="49" charset="0"/>
                <a:cs typeface="Courier New" panose="02070309020205020404" pitchFamily="49" charset="0"/>
              </a:rPr>
              <a:t>64 bytes from 10.136.136.185: </a:t>
            </a:r>
            <a:r>
              <a:rPr lang="en-US" altLang="en-US" sz="600" dirty="0" err="1">
                <a:latin typeface="Courier New" panose="02070309020205020404" pitchFamily="49" charset="0"/>
                <a:cs typeface="Courier New" panose="02070309020205020404" pitchFamily="49" charset="0"/>
              </a:rPr>
              <a:t>icmp_seq</a:t>
            </a:r>
            <a:r>
              <a:rPr lang="en-US" altLang="en-US" sz="600" dirty="0">
                <a:latin typeface="Courier New" panose="02070309020205020404" pitchFamily="49" charset="0"/>
                <a:cs typeface="Courier New" panose="02070309020205020404" pitchFamily="49" charset="0"/>
              </a:rPr>
              <a:t>=1 </a:t>
            </a:r>
            <a:r>
              <a:rPr lang="en-US" altLang="en-US" sz="600" dirty="0" err="1">
                <a:latin typeface="Courier New" panose="02070309020205020404" pitchFamily="49" charset="0"/>
                <a:cs typeface="Courier New" panose="02070309020205020404" pitchFamily="49" charset="0"/>
              </a:rPr>
              <a:t>ttl</a:t>
            </a:r>
            <a:r>
              <a:rPr lang="en-US" altLang="en-US" sz="600" dirty="0">
                <a:latin typeface="Courier New" panose="02070309020205020404" pitchFamily="49" charset="0"/>
                <a:cs typeface="Courier New" panose="02070309020205020404" pitchFamily="49" charset="0"/>
              </a:rPr>
              <a:t>=64 time=101ms TTL=0.491 </a:t>
            </a:r>
            <a:r>
              <a:rPr lang="en-US" altLang="en-US" sz="600" dirty="0" err="1">
                <a:latin typeface="Courier New" panose="02070309020205020404" pitchFamily="49" charset="0"/>
                <a:cs typeface="Courier New" panose="02070309020205020404" pitchFamily="49" charset="0"/>
              </a:rPr>
              <a:t>ms</a:t>
            </a:r>
            <a:endParaRPr lang="en-US" altLang="en-US" sz="600" dirty="0">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600" dirty="0">
                <a:latin typeface="Courier New" panose="02070309020205020404" pitchFamily="49" charset="0"/>
                <a:cs typeface="Courier New" panose="02070309020205020404" pitchFamily="49" charset="0"/>
              </a:rPr>
              <a:t>64 bytes from 10.136.136.185: </a:t>
            </a:r>
            <a:r>
              <a:rPr lang="en-US" altLang="en-US" sz="600" dirty="0" err="1">
                <a:latin typeface="Courier New" panose="02070309020205020404" pitchFamily="49" charset="0"/>
                <a:cs typeface="Courier New" panose="02070309020205020404" pitchFamily="49" charset="0"/>
              </a:rPr>
              <a:t>icmp_seq</a:t>
            </a:r>
            <a:r>
              <a:rPr lang="en-US" altLang="en-US" sz="600" dirty="0">
                <a:latin typeface="Courier New" panose="02070309020205020404" pitchFamily="49" charset="0"/>
                <a:cs typeface="Courier New" panose="02070309020205020404" pitchFamily="49" charset="0"/>
              </a:rPr>
              <a:t>=1 </a:t>
            </a:r>
            <a:r>
              <a:rPr lang="en-US" altLang="en-US" sz="600" dirty="0" err="1">
                <a:latin typeface="Courier New" panose="02070309020205020404" pitchFamily="49" charset="0"/>
                <a:cs typeface="Courier New" panose="02070309020205020404" pitchFamily="49" charset="0"/>
              </a:rPr>
              <a:t>ttl</a:t>
            </a:r>
            <a:r>
              <a:rPr lang="en-US" altLang="en-US" sz="600" dirty="0">
                <a:latin typeface="Courier New" panose="02070309020205020404" pitchFamily="49" charset="0"/>
                <a:cs typeface="Courier New" panose="02070309020205020404" pitchFamily="49" charset="0"/>
              </a:rPr>
              <a:t>=64 time=101ms TTL=0.491 </a:t>
            </a:r>
            <a:r>
              <a:rPr lang="en-US" altLang="en-US" sz="600" dirty="0" err="1">
                <a:latin typeface="Courier New" panose="02070309020205020404" pitchFamily="49" charset="0"/>
                <a:cs typeface="Courier New" panose="02070309020205020404" pitchFamily="49" charset="0"/>
              </a:rPr>
              <a:t>ms</a:t>
            </a:r>
            <a:endParaRPr lang="en-US" altLang="en-US" sz="600" dirty="0">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600" dirty="0">
                <a:latin typeface="Courier New" panose="02070309020205020404" pitchFamily="49" charset="0"/>
                <a:cs typeface="Courier New" panose="02070309020205020404" pitchFamily="49" charset="0"/>
              </a:rPr>
              <a:t>64 bytes from 10.136.136.185: </a:t>
            </a:r>
            <a:r>
              <a:rPr lang="en-US" altLang="en-US" sz="600" dirty="0" err="1">
                <a:latin typeface="Courier New" panose="02070309020205020404" pitchFamily="49" charset="0"/>
                <a:cs typeface="Courier New" panose="02070309020205020404" pitchFamily="49" charset="0"/>
              </a:rPr>
              <a:t>icmp_seq</a:t>
            </a:r>
            <a:r>
              <a:rPr lang="en-US" altLang="en-US" sz="600" dirty="0">
                <a:latin typeface="Courier New" panose="02070309020205020404" pitchFamily="49" charset="0"/>
                <a:cs typeface="Courier New" panose="02070309020205020404" pitchFamily="49" charset="0"/>
              </a:rPr>
              <a:t>=1 </a:t>
            </a:r>
            <a:r>
              <a:rPr lang="en-US" altLang="en-US" sz="600" dirty="0" err="1">
                <a:latin typeface="Courier New" panose="02070309020205020404" pitchFamily="49" charset="0"/>
                <a:cs typeface="Courier New" panose="02070309020205020404" pitchFamily="49" charset="0"/>
              </a:rPr>
              <a:t>ttl</a:t>
            </a:r>
            <a:r>
              <a:rPr lang="en-US" altLang="en-US" sz="600" dirty="0">
                <a:latin typeface="Courier New" panose="02070309020205020404" pitchFamily="49" charset="0"/>
                <a:cs typeface="Courier New" panose="02070309020205020404" pitchFamily="49" charset="0"/>
              </a:rPr>
              <a:t>=64 time=101ms TTL=0.491 </a:t>
            </a:r>
            <a:r>
              <a:rPr lang="en-US" altLang="en-US" sz="600" dirty="0" err="1" smtClean="0">
                <a:latin typeface="Courier New" panose="02070309020205020404" pitchFamily="49" charset="0"/>
                <a:cs typeface="Courier New" panose="02070309020205020404" pitchFamily="49" charset="0"/>
              </a:rPr>
              <a:t>ms</a:t>
            </a:r>
            <a:endParaRPr lang="en-US" altLang="en-US" sz="600" dirty="0">
              <a:latin typeface="Courier New" panose="02070309020205020404" pitchFamily="49" charset="0"/>
              <a:cs typeface="Courier New" panose="02070309020205020404" pitchFamily="49" charset="0"/>
            </a:endParaRPr>
          </a:p>
        </p:txBody>
      </p:sp>
      <p:grpSp>
        <p:nvGrpSpPr>
          <p:cNvPr id="8" name="Group 7"/>
          <p:cNvGrpSpPr/>
          <p:nvPr/>
        </p:nvGrpSpPr>
        <p:grpSpPr>
          <a:xfrm>
            <a:off x="215315" y="1532773"/>
            <a:ext cx="3719011" cy="2287738"/>
            <a:chOff x="215315" y="1532773"/>
            <a:chExt cx="3719011" cy="2287738"/>
          </a:xfrm>
        </p:grpSpPr>
        <p:grpSp>
          <p:nvGrpSpPr>
            <p:cNvPr id="3" name="Group 2"/>
            <p:cNvGrpSpPr/>
            <p:nvPr/>
          </p:nvGrpSpPr>
          <p:grpSpPr>
            <a:xfrm>
              <a:off x="215315" y="1532773"/>
              <a:ext cx="3719011" cy="2287738"/>
              <a:chOff x="215315" y="1532773"/>
              <a:chExt cx="3719011" cy="2287738"/>
            </a:xfrm>
          </p:grpSpPr>
          <p:pic>
            <p:nvPicPr>
              <p:cNvPr id="2" name="Picture 1"/>
              <p:cNvPicPr>
                <a:picLocks noChangeAspect="1"/>
              </p:cNvPicPr>
              <p:nvPr/>
            </p:nvPicPr>
            <p:blipFill>
              <a:blip r:embed="rId3"/>
              <a:stretch>
                <a:fillRect/>
              </a:stretch>
            </p:blipFill>
            <p:spPr>
              <a:xfrm>
                <a:off x="215315" y="1532773"/>
                <a:ext cx="3719011" cy="2287738"/>
              </a:xfrm>
              <a:prstGeom prst="rect">
                <a:avLst/>
              </a:prstGeom>
            </p:spPr>
          </p:pic>
          <p:sp>
            <p:nvSpPr>
              <p:cNvPr id="11" name="Rectangle 10"/>
              <p:cNvSpPr/>
              <p:nvPr/>
            </p:nvSpPr>
            <p:spPr>
              <a:xfrm>
                <a:off x="771952" y="1576860"/>
                <a:ext cx="1904574" cy="138499"/>
              </a:xfrm>
              <a:prstGeom prst="rect">
                <a:avLst/>
              </a:prstGeom>
            </p:spPr>
            <p:txBody>
              <a:bodyPr wrap="square">
                <a:spAutoFit/>
              </a:bodyPr>
              <a:lstStyle/>
              <a:p>
                <a:pPr algn="just"/>
                <a:r>
                  <a:rPr lang="en-US" sz="300" dirty="0" smtClean="0">
                    <a:solidFill>
                      <a:schemeClr val="bg1">
                        <a:lumMod val="75000"/>
                      </a:schemeClr>
                    </a:solidFill>
                  </a:rPr>
                  <a:t>Openstack.panda.id/dashboard/project/routers/a5b00947-db9a-4934-a202-f2bd0cg1a1c/</a:t>
                </a:r>
                <a:endParaRPr lang="en-US" sz="300" dirty="0">
                  <a:solidFill>
                    <a:schemeClr val="bg1">
                      <a:lumMod val="75000"/>
                    </a:schemeClr>
                  </a:solidFill>
                </a:endParaRPr>
              </a:p>
            </p:txBody>
          </p:sp>
        </p:grpSp>
        <p:sp>
          <p:nvSpPr>
            <p:cNvPr id="10" name="Rectangle 9"/>
            <p:cNvSpPr/>
            <p:nvPr/>
          </p:nvSpPr>
          <p:spPr>
            <a:xfrm>
              <a:off x="648561" y="2983797"/>
              <a:ext cx="2151356" cy="684803"/>
            </a:xfrm>
            <a:prstGeom prst="rect">
              <a:avLst/>
            </a:prstGeom>
            <a:solidFill>
              <a:schemeClr val="tx1"/>
            </a:solidFill>
          </p:spPr>
          <p:txBody>
            <a:bodyPr wrap="square">
              <a:spAutoFit/>
            </a:bodyPr>
            <a:lstStyle/>
            <a:p>
              <a:pPr lvl="0" algn="just" eaLnBrk="0" fontAlgn="base" hangingPunct="0">
                <a:spcBef>
                  <a:spcPct val="0"/>
                </a:spcBef>
                <a:spcAft>
                  <a:spcPct val="0"/>
                </a:spcAft>
              </a:pPr>
              <a:r>
                <a:rPr lang="en-US" altLang="en-US" sz="350" dirty="0" smtClean="0">
                  <a:solidFill>
                    <a:schemeClr val="bg1"/>
                  </a:solidFill>
                  <a:latin typeface="Courier New" panose="02070309020205020404" pitchFamily="49" charset="0"/>
                  <a:cs typeface="Courier New" panose="02070309020205020404" pitchFamily="49" charset="0"/>
                </a:rPr>
                <a:t>[</a:t>
              </a:r>
              <a:r>
                <a:rPr lang="en-US" altLang="en-US" sz="350" dirty="0" err="1" smtClean="0">
                  <a:solidFill>
                    <a:schemeClr val="bg1"/>
                  </a:solidFill>
                  <a:latin typeface="Courier New" panose="02070309020205020404" pitchFamily="49" charset="0"/>
                  <a:cs typeface="Courier New" panose="02070309020205020404" pitchFamily="49" charset="0"/>
                </a:rPr>
                <a:t>root@controller</a:t>
              </a:r>
              <a:r>
                <a:rPr lang="en-US" altLang="en-US" sz="350" dirty="0" smtClean="0">
                  <a:solidFill>
                    <a:schemeClr val="bg1"/>
                  </a:solidFill>
                  <a:latin typeface="Courier New" panose="02070309020205020404" pitchFamily="49" charset="0"/>
                  <a:cs typeface="Courier New" panose="02070309020205020404" pitchFamily="49" charset="0"/>
                </a:rPr>
                <a:t> ~]#</a:t>
              </a:r>
            </a:p>
            <a:p>
              <a:pPr algn="just" eaLnBrk="0" fontAlgn="base" hangingPunct="0">
                <a:spcBef>
                  <a:spcPct val="0"/>
                </a:spcBef>
                <a:spcAft>
                  <a:spcPct val="0"/>
                </a:spcAft>
              </a:pPr>
              <a:r>
                <a:rPr lang="en-US" altLang="en-US" sz="350" dirty="0">
                  <a:solidFill>
                    <a:schemeClr val="bg1"/>
                  </a:solidFill>
                  <a:latin typeface="Courier New" panose="02070309020205020404" pitchFamily="49" charset="0"/>
                  <a:cs typeface="Courier New" panose="02070309020205020404" pitchFamily="49" charset="0"/>
                </a:rPr>
                <a:t>[</a:t>
              </a:r>
              <a:r>
                <a:rPr lang="en-US" altLang="en-US" sz="350" dirty="0" err="1">
                  <a:solidFill>
                    <a:schemeClr val="bg1"/>
                  </a:solidFill>
                  <a:latin typeface="Courier New" panose="02070309020205020404" pitchFamily="49" charset="0"/>
                  <a:cs typeface="Courier New" panose="02070309020205020404" pitchFamily="49" charset="0"/>
                </a:rPr>
                <a:t>root@controller</a:t>
              </a:r>
              <a:r>
                <a:rPr lang="en-US" altLang="en-US" sz="350" dirty="0">
                  <a:solidFill>
                    <a:schemeClr val="bg1"/>
                  </a:solidFill>
                  <a:latin typeface="Courier New" panose="02070309020205020404" pitchFamily="49" charset="0"/>
                  <a:cs typeface="Courier New" panose="02070309020205020404" pitchFamily="49" charset="0"/>
                </a:rPr>
                <a:t> </a:t>
              </a:r>
              <a:r>
                <a:rPr lang="en-US" altLang="en-US" sz="350" dirty="0" smtClean="0">
                  <a:solidFill>
                    <a:schemeClr val="bg1"/>
                  </a:solidFill>
                  <a:latin typeface="Courier New" panose="02070309020205020404" pitchFamily="49" charset="0"/>
                  <a:cs typeface="Courier New" panose="02070309020205020404" pitchFamily="49" charset="0"/>
                </a:rPr>
                <a:t>~]#</a:t>
              </a:r>
              <a:r>
                <a:rPr lang="en-US" altLang="en-US" sz="350" dirty="0">
                  <a:solidFill>
                    <a:schemeClr val="bg1"/>
                  </a:solidFill>
                  <a:latin typeface="Courier New" panose="02070309020205020404" pitchFamily="49" charset="0"/>
                  <a:cs typeface="Courier New" panose="02070309020205020404" pitchFamily="49" charset="0"/>
                </a:rPr>
                <a:t> </a:t>
              </a:r>
              <a:r>
                <a:rPr lang="en-US" altLang="en-US" sz="350" dirty="0" smtClean="0">
                  <a:solidFill>
                    <a:schemeClr val="bg1"/>
                  </a:solidFill>
                  <a:latin typeface="Courier New" panose="02070309020205020404" pitchFamily="49" charset="0"/>
                  <a:cs typeface="Courier New" panose="02070309020205020404" pitchFamily="49" charset="0"/>
                </a:rPr>
                <a:t>ping 10.136.136.112 –c5</a:t>
              </a:r>
            </a:p>
            <a:p>
              <a:pPr algn="just" eaLnBrk="0" fontAlgn="base" hangingPunct="0">
                <a:spcBef>
                  <a:spcPct val="0"/>
                </a:spcBef>
                <a:spcAft>
                  <a:spcPct val="0"/>
                </a:spcAft>
              </a:pPr>
              <a:r>
                <a:rPr lang="en-US" altLang="en-US" sz="350" dirty="0" smtClean="0">
                  <a:solidFill>
                    <a:schemeClr val="bg1"/>
                  </a:solidFill>
                  <a:latin typeface="Courier New" panose="02070309020205020404" pitchFamily="49" charset="0"/>
                  <a:cs typeface="Courier New" panose="02070309020205020404" pitchFamily="49" charset="0"/>
                </a:rPr>
                <a:t>PING 10.136.136.185 (10.136.136.185) 56(84) bytes of data.</a:t>
              </a:r>
            </a:p>
            <a:p>
              <a:pPr algn="just" eaLnBrk="0" fontAlgn="base" hangingPunct="0">
                <a:spcBef>
                  <a:spcPct val="0"/>
                </a:spcBef>
                <a:spcAft>
                  <a:spcPct val="0"/>
                </a:spcAft>
              </a:pPr>
              <a:r>
                <a:rPr lang="en-US" altLang="en-US" sz="350" dirty="0">
                  <a:solidFill>
                    <a:schemeClr val="bg1"/>
                  </a:solidFill>
                  <a:latin typeface="Courier New" panose="02070309020205020404" pitchFamily="49" charset="0"/>
                  <a:cs typeface="Courier New" panose="02070309020205020404" pitchFamily="49" charset="0"/>
                </a:rPr>
                <a:t>64 bytes from </a:t>
              </a:r>
              <a:r>
                <a:rPr lang="en-US" altLang="en-US" sz="350" dirty="0" smtClean="0">
                  <a:solidFill>
                    <a:schemeClr val="bg1"/>
                  </a:solidFill>
                  <a:latin typeface="Courier New" panose="02070309020205020404" pitchFamily="49" charset="0"/>
                  <a:cs typeface="Courier New" panose="02070309020205020404" pitchFamily="49" charset="0"/>
                </a:rPr>
                <a:t>10.136.136.185: </a:t>
              </a:r>
              <a:r>
                <a:rPr lang="en-US" altLang="en-US" sz="350" dirty="0" err="1" smtClean="0">
                  <a:solidFill>
                    <a:schemeClr val="bg1"/>
                  </a:solidFill>
                  <a:latin typeface="Courier New" panose="02070309020205020404" pitchFamily="49" charset="0"/>
                  <a:cs typeface="Courier New" panose="02070309020205020404" pitchFamily="49" charset="0"/>
                </a:rPr>
                <a:t>icmp_seq</a:t>
              </a:r>
              <a:r>
                <a:rPr lang="en-US" altLang="en-US" sz="350" dirty="0" smtClean="0">
                  <a:solidFill>
                    <a:schemeClr val="bg1"/>
                  </a:solidFill>
                  <a:latin typeface="Courier New" panose="02070309020205020404" pitchFamily="49" charset="0"/>
                  <a:cs typeface="Courier New" panose="02070309020205020404" pitchFamily="49" charset="0"/>
                </a:rPr>
                <a:t>=1 </a:t>
              </a:r>
              <a:r>
                <a:rPr lang="en-US" altLang="en-US" sz="350" dirty="0" err="1" smtClean="0">
                  <a:solidFill>
                    <a:schemeClr val="bg1"/>
                  </a:solidFill>
                  <a:latin typeface="Courier New" panose="02070309020205020404" pitchFamily="49" charset="0"/>
                  <a:cs typeface="Courier New" panose="02070309020205020404" pitchFamily="49" charset="0"/>
                </a:rPr>
                <a:t>ttl</a:t>
              </a:r>
              <a:r>
                <a:rPr lang="en-US" altLang="en-US" sz="350" dirty="0" smtClean="0">
                  <a:solidFill>
                    <a:schemeClr val="bg1"/>
                  </a:solidFill>
                  <a:latin typeface="Courier New" panose="02070309020205020404" pitchFamily="49" charset="0"/>
                  <a:cs typeface="Courier New" panose="02070309020205020404" pitchFamily="49" charset="0"/>
                </a:rPr>
                <a:t>=64 time=101ms TTL=0.491 </a:t>
              </a:r>
              <a:r>
                <a:rPr lang="en-US" altLang="en-US" sz="350" dirty="0" err="1" smtClean="0">
                  <a:solidFill>
                    <a:schemeClr val="bg1"/>
                  </a:solidFill>
                  <a:latin typeface="Courier New" panose="02070309020205020404" pitchFamily="49" charset="0"/>
                  <a:cs typeface="Courier New" panose="02070309020205020404" pitchFamily="49" charset="0"/>
                </a:rPr>
                <a:t>ms</a:t>
              </a:r>
              <a:endParaRPr lang="en-US" altLang="en-US" sz="350" dirty="0" smtClean="0">
                <a:solidFill>
                  <a:schemeClr val="bg1"/>
                </a:solidFill>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350" dirty="0">
                  <a:solidFill>
                    <a:schemeClr val="bg1"/>
                  </a:solidFill>
                  <a:latin typeface="Courier New" panose="02070309020205020404" pitchFamily="49" charset="0"/>
                  <a:cs typeface="Courier New" panose="02070309020205020404" pitchFamily="49" charset="0"/>
                </a:rPr>
                <a:t>64 bytes from 10.136.136.185: </a:t>
              </a:r>
              <a:r>
                <a:rPr lang="en-US" altLang="en-US" sz="350" dirty="0" err="1">
                  <a:solidFill>
                    <a:schemeClr val="bg1"/>
                  </a:solidFill>
                  <a:latin typeface="Courier New" panose="02070309020205020404" pitchFamily="49" charset="0"/>
                  <a:cs typeface="Courier New" panose="02070309020205020404" pitchFamily="49" charset="0"/>
                </a:rPr>
                <a:t>icmp_seq</a:t>
              </a:r>
              <a:r>
                <a:rPr lang="en-US" altLang="en-US" sz="350" dirty="0">
                  <a:solidFill>
                    <a:schemeClr val="bg1"/>
                  </a:solidFill>
                  <a:latin typeface="Courier New" panose="02070309020205020404" pitchFamily="49" charset="0"/>
                  <a:cs typeface="Courier New" panose="02070309020205020404" pitchFamily="49" charset="0"/>
                </a:rPr>
                <a:t>=1 </a:t>
              </a:r>
              <a:r>
                <a:rPr lang="en-US" altLang="en-US" sz="350" dirty="0" err="1">
                  <a:solidFill>
                    <a:schemeClr val="bg1"/>
                  </a:solidFill>
                  <a:latin typeface="Courier New" panose="02070309020205020404" pitchFamily="49" charset="0"/>
                  <a:cs typeface="Courier New" panose="02070309020205020404" pitchFamily="49" charset="0"/>
                </a:rPr>
                <a:t>ttl</a:t>
              </a:r>
              <a:r>
                <a:rPr lang="en-US" altLang="en-US" sz="350" dirty="0">
                  <a:solidFill>
                    <a:schemeClr val="bg1"/>
                  </a:solidFill>
                  <a:latin typeface="Courier New" panose="02070309020205020404" pitchFamily="49" charset="0"/>
                  <a:cs typeface="Courier New" panose="02070309020205020404" pitchFamily="49" charset="0"/>
                </a:rPr>
                <a:t>=64 time=101ms TTL=0.491 </a:t>
              </a:r>
              <a:r>
                <a:rPr lang="en-US" altLang="en-US" sz="350" dirty="0" err="1">
                  <a:solidFill>
                    <a:schemeClr val="bg1"/>
                  </a:solidFill>
                  <a:latin typeface="Courier New" panose="02070309020205020404" pitchFamily="49" charset="0"/>
                  <a:cs typeface="Courier New" panose="02070309020205020404" pitchFamily="49" charset="0"/>
                </a:rPr>
                <a:t>ms</a:t>
              </a:r>
              <a:endParaRPr lang="en-US" altLang="en-US" sz="350" dirty="0">
                <a:solidFill>
                  <a:schemeClr val="bg1"/>
                </a:solidFill>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350" dirty="0">
                  <a:solidFill>
                    <a:schemeClr val="bg1"/>
                  </a:solidFill>
                  <a:latin typeface="Courier New" panose="02070309020205020404" pitchFamily="49" charset="0"/>
                  <a:cs typeface="Courier New" panose="02070309020205020404" pitchFamily="49" charset="0"/>
                </a:rPr>
                <a:t>64 bytes from 10.136.136.185: </a:t>
              </a:r>
              <a:r>
                <a:rPr lang="en-US" altLang="en-US" sz="350" dirty="0" err="1">
                  <a:solidFill>
                    <a:schemeClr val="bg1"/>
                  </a:solidFill>
                  <a:latin typeface="Courier New" panose="02070309020205020404" pitchFamily="49" charset="0"/>
                  <a:cs typeface="Courier New" panose="02070309020205020404" pitchFamily="49" charset="0"/>
                </a:rPr>
                <a:t>icmp_seq</a:t>
              </a:r>
              <a:r>
                <a:rPr lang="en-US" altLang="en-US" sz="350" dirty="0">
                  <a:solidFill>
                    <a:schemeClr val="bg1"/>
                  </a:solidFill>
                  <a:latin typeface="Courier New" panose="02070309020205020404" pitchFamily="49" charset="0"/>
                  <a:cs typeface="Courier New" panose="02070309020205020404" pitchFamily="49" charset="0"/>
                </a:rPr>
                <a:t>=1 </a:t>
              </a:r>
              <a:r>
                <a:rPr lang="en-US" altLang="en-US" sz="350" dirty="0" err="1">
                  <a:solidFill>
                    <a:schemeClr val="bg1"/>
                  </a:solidFill>
                  <a:latin typeface="Courier New" panose="02070309020205020404" pitchFamily="49" charset="0"/>
                  <a:cs typeface="Courier New" panose="02070309020205020404" pitchFamily="49" charset="0"/>
                </a:rPr>
                <a:t>ttl</a:t>
              </a:r>
              <a:r>
                <a:rPr lang="en-US" altLang="en-US" sz="350" dirty="0">
                  <a:solidFill>
                    <a:schemeClr val="bg1"/>
                  </a:solidFill>
                  <a:latin typeface="Courier New" panose="02070309020205020404" pitchFamily="49" charset="0"/>
                  <a:cs typeface="Courier New" panose="02070309020205020404" pitchFamily="49" charset="0"/>
                </a:rPr>
                <a:t>=64 time=101ms TTL=0.491 </a:t>
              </a:r>
              <a:r>
                <a:rPr lang="en-US" altLang="en-US" sz="350" dirty="0" err="1">
                  <a:solidFill>
                    <a:schemeClr val="bg1"/>
                  </a:solidFill>
                  <a:latin typeface="Courier New" panose="02070309020205020404" pitchFamily="49" charset="0"/>
                  <a:cs typeface="Courier New" panose="02070309020205020404" pitchFamily="49" charset="0"/>
                </a:rPr>
                <a:t>ms</a:t>
              </a:r>
              <a:endParaRPr lang="en-US" altLang="en-US" sz="350" dirty="0">
                <a:solidFill>
                  <a:schemeClr val="bg1"/>
                </a:solidFill>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350" dirty="0">
                  <a:solidFill>
                    <a:schemeClr val="bg1"/>
                  </a:solidFill>
                  <a:latin typeface="Courier New" panose="02070309020205020404" pitchFamily="49" charset="0"/>
                  <a:cs typeface="Courier New" panose="02070309020205020404" pitchFamily="49" charset="0"/>
                </a:rPr>
                <a:t>64 bytes from 10.136.136.185: </a:t>
              </a:r>
              <a:r>
                <a:rPr lang="en-US" altLang="en-US" sz="350" dirty="0" err="1">
                  <a:solidFill>
                    <a:schemeClr val="bg1"/>
                  </a:solidFill>
                  <a:latin typeface="Courier New" panose="02070309020205020404" pitchFamily="49" charset="0"/>
                  <a:cs typeface="Courier New" panose="02070309020205020404" pitchFamily="49" charset="0"/>
                </a:rPr>
                <a:t>icmp_seq</a:t>
              </a:r>
              <a:r>
                <a:rPr lang="en-US" altLang="en-US" sz="350" dirty="0">
                  <a:solidFill>
                    <a:schemeClr val="bg1"/>
                  </a:solidFill>
                  <a:latin typeface="Courier New" panose="02070309020205020404" pitchFamily="49" charset="0"/>
                  <a:cs typeface="Courier New" panose="02070309020205020404" pitchFamily="49" charset="0"/>
                </a:rPr>
                <a:t>=1 </a:t>
              </a:r>
              <a:r>
                <a:rPr lang="en-US" altLang="en-US" sz="350" dirty="0" err="1">
                  <a:solidFill>
                    <a:schemeClr val="bg1"/>
                  </a:solidFill>
                  <a:latin typeface="Courier New" panose="02070309020205020404" pitchFamily="49" charset="0"/>
                  <a:cs typeface="Courier New" panose="02070309020205020404" pitchFamily="49" charset="0"/>
                </a:rPr>
                <a:t>ttl</a:t>
              </a:r>
              <a:r>
                <a:rPr lang="en-US" altLang="en-US" sz="350" dirty="0">
                  <a:solidFill>
                    <a:schemeClr val="bg1"/>
                  </a:solidFill>
                  <a:latin typeface="Courier New" panose="02070309020205020404" pitchFamily="49" charset="0"/>
                  <a:cs typeface="Courier New" panose="02070309020205020404" pitchFamily="49" charset="0"/>
                </a:rPr>
                <a:t>=64 time=101ms TTL=0.491 </a:t>
              </a:r>
              <a:r>
                <a:rPr lang="en-US" altLang="en-US" sz="350" dirty="0" err="1">
                  <a:solidFill>
                    <a:schemeClr val="bg1"/>
                  </a:solidFill>
                  <a:latin typeface="Courier New" panose="02070309020205020404" pitchFamily="49" charset="0"/>
                  <a:cs typeface="Courier New" panose="02070309020205020404" pitchFamily="49" charset="0"/>
                </a:rPr>
                <a:t>ms</a:t>
              </a:r>
              <a:endParaRPr lang="en-US" altLang="en-US" sz="350" dirty="0">
                <a:solidFill>
                  <a:schemeClr val="bg1"/>
                </a:solidFill>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350" dirty="0">
                  <a:solidFill>
                    <a:schemeClr val="bg1"/>
                  </a:solidFill>
                  <a:latin typeface="Courier New" panose="02070309020205020404" pitchFamily="49" charset="0"/>
                  <a:cs typeface="Courier New" panose="02070309020205020404" pitchFamily="49" charset="0"/>
                </a:rPr>
                <a:t>64 bytes from 10.136.136.185: </a:t>
              </a:r>
              <a:r>
                <a:rPr lang="en-US" altLang="en-US" sz="350" dirty="0" err="1">
                  <a:solidFill>
                    <a:schemeClr val="bg1"/>
                  </a:solidFill>
                  <a:latin typeface="Courier New" panose="02070309020205020404" pitchFamily="49" charset="0"/>
                  <a:cs typeface="Courier New" panose="02070309020205020404" pitchFamily="49" charset="0"/>
                </a:rPr>
                <a:t>icmp_seq</a:t>
              </a:r>
              <a:r>
                <a:rPr lang="en-US" altLang="en-US" sz="350" dirty="0">
                  <a:solidFill>
                    <a:schemeClr val="bg1"/>
                  </a:solidFill>
                  <a:latin typeface="Courier New" panose="02070309020205020404" pitchFamily="49" charset="0"/>
                  <a:cs typeface="Courier New" panose="02070309020205020404" pitchFamily="49" charset="0"/>
                </a:rPr>
                <a:t>=1 </a:t>
              </a:r>
              <a:r>
                <a:rPr lang="en-US" altLang="en-US" sz="350" dirty="0" err="1">
                  <a:solidFill>
                    <a:schemeClr val="bg1"/>
                  </a:solidFill>
                  <a:latin typeface="Courier New" panose="02070309020205020404" pitchFamily="49" charset="0"/>
                  <a:cs typeface="Courier New" panose="02070309020205020404" pitchFamily="49" charset="0"/>
                </a:rPr>
                <a:t>ttl</a:t>
              </a:r>
              <a:r>
                <a:rPr lang="en-US" altLang="en-US" sz="350" dirty="0">
                  <a:solidFill>
                    <a:schemeClr val="bg1"/>
                  </a:solidFill>
                  <a:latin typeface="Courier New" panose="02070309020205020404" pitchFamily="49" charset="0"/>
                  <a:cs typeface="Courier New" panose="02070309020205020404" pitchFamily="49" charset="0"/>
                </a:rPr>
                <a:t>=64 time=101ms TTL=0.491 </a:t>
              </a:r>
              <a:r>
                <a:rPr lang="en-US" altLang="en-US" sz="350" dirty="0" err="1" smtClean="0">
                  <a:solidFill>
                    <a:schemeClr val="bg1"/>
                  </a:solidFill>
                  <a:latin typeface="Courier New" panose="02070309020205020404" pitchFamily="49" charset="0"/>
                  <a:cs typeface="Courier New" panose="02070309020205020404" pitchFamily="49" charset="0"/>
                </a:rPr>
                <a:t>ms</a:t>
              </a:r>
              <a:endParaRPr lang="en-US" altLang="en-US" sz="350" dirty="0" smtClean="0">
                <a:solidFill>
                  <a:schemeClr val="bg1"/>
                </a:solidFill>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350" dirty="0">
                  <a:solidFill>
                    <a:schemeClr val="bg1"/>
                  </a:solidFill>
                  <a:latin typeface="Courier New" panose="02070309020205020404" pitchFamily="49" charset="0"/>
                  <a:cs typeface="Courier New" panose="02070309020205020404" pitchFamily="49" charset="0"/>
                </a:rPr>
                <a:t>64 bytes from 10.136.136.185: </a:t>
              </a:r>
              <a:r>
                <a:rPr lang="en-US" altLang="en-US" sz="350" dirty="0" err="1">
                  <a:solidFill>
                    <a:schemeClr val="bg1"/>
                  </a:solidFill>
                  <a:latin typeface="Courier New" panose="02070309020205020404" pitchFamily="49" charset="0"/>
                  <a:cs typeface="Courier New" panose="02070309020205020404" pitchFamily="49" charset="0"/>
                </a:rPr>
                <a:t>icmp_seq</a:t>
              </a:r>
              <a:r>
                <a:rPr lang="en-US" altLang="en-US" sz="350" dirty="0">
                  <a:solidFill>
                    <a:schemeClr val="bg1"/>
                  </a:solidFill>
                  <a:latin typeface="Courier New" panose="02070309020205020404" pitchFamily="49" charset="0"/>
                  <a:cs typeface="Courier New" panose="02070309020205020404" pitchFamily="49" charset="0"/>
                </a:rPr>
                <a:t>=1 </a:t>
              </a:r>
              <a:r>
                <a:rPr lang="en-US" altLang="en-US" sz="350" dirty="0" err="1">
                  <a:solidFill>
                    <a:schemeClr val="bg1"/>
                  </a:solidFill>
                  <a:latin typeface="Courier New" panose="02070309020205020404" pitchFamily="49" charset="0"/>
                  <a:cs typeface="Courier New" panose="02070309020205020404" pitchFamily="49" charset="0"/>
                </a:rPr>
                <a:t>ttl</a:t>
              </a:r>
              <a:r>
                <a:rPr lang="en-US" altLang="en-US" sz="350" dirty="0">
                  <a:solidFill>
                    <a:schemeClr val="bg1"/>
                  </a:solidFill>
                  <a:latin typeface="Courier New" panose="02070309020205020404" pitchFamily="49" charset="0"/>
                  <a:cs typeface="Courier New" panose="02070309020205020404" pitchFamily="49" charset="0"/>
                </a:rPr>
                <a:t>=64 time=101ms TTL=0.491 </a:t>
              </a:r>
              <a:r>
                <a:rPr lang="en-US" altLang="en-US" sz="350" dirty="0" err="1">
                  <a:solidFill>
                    <a:schemeClr val="bg1"/>
                  </a:solidFill>
                  <a:latin typeface="Courier New" panose="02070309020205020404" pitchFamily="49" charset="0"/>
                  <a:cs typeface="Courier New" panose="02070309020205020404" pitchFamily="49" charset="0"/>
                </a:rPr>
                <a:t>ms</a:t>
              </a:r>
              <a:endParaRPr lang="en-US" altLang="en-US" sz="350" dirty="0">
                <a:solidFill>
                  <a:schemeClr val="bg1"/>
                </a:solidFill>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350" dirty="0">
                  <a:solidFill>
                    <a:schemeClr val="bg1"/>
                  </a:solidFill>
                  <a:latin typeface="Courier New" panose="02070309020205020404" pitchFamily="49" charset="0"/>
                  <a:cs typeface="Courier New" panose="02070309020205020404" pitchFamily="49" charset="0"/>
                </a:rPr>
                <a:t>64 bytes from 10.136.136.185: </a:t>
              </a:r>
              <a:r>
                <a:rPr lang="en-US" altLang="en-US" sz="350" dirty="0" err="1">
                  <a:solidFill>
                    <a:schemeClr val="bg1"/>
                  </a:solidFill>
                  <a:latin typeface="Courier New" panose="02070309020205020404" pitchFamily="49" charset="0"/>
                  <a:cs typeface="Courier New" panose="02070309020205020404" pitchFamily="49" charset="0"/>
                </a:rPr>
                <a:t>icmp_seq</a:t>
              </a:r>
              <a:r>
                <a:rPr lang="en-US" altLang="en-US" sz="350" dirty="0">
                  <a:solidFill>
                    <a:schemeClr val="bg1"/>
                  </a:solidFill>
                  <a:latin typeface="Courier New" panose="02070309020205020404" pitchFamily="49" charset="0"/>
                  <a:cs typeface="Courier New" panose="02070309020205020404" pitchFamily="49" charset="0"/>
                </a:rPr>
                <a:t>=1 </a:t>
              </a:r>
              <a:r>
                <a:rPr lang="en-US" altLang="en-US" sz="350" dirty="0" err="1">
                  <a:solidFill>
                    <a:schemeClr val="bg1"/>
                  </a:solidFill>
                  <a:latin typeface="Courier New" panose="02070309020205020404" pitchFamily="49" charset="0"/>
                  <a:cs typeface="Courier New" panose="02070309020205020404" pitchFamily="49" charset="0"/>
                </a:rPr>
                <a:t>ttl</a:t>
              </a:r>
              <a:r>
                <a:rPr lang="en-US" altLang="en-US" sz="350" dirty="0">
                  <a:solidFill>
                    <a:schemeClr val="bg1"/>
                  </a:solidFill>
                  <a:latin typeface="Courier New" panose="02070309020205020404" pitchFamily="49" charset="0"/>
                  <a:cs typeface="Courier New" panose="02070309020205020404" pitchFamily="49" charset="0"/>
                </a:rPr>
                <a:t>=64 time=101ms TTL=0.491 </a:t>
              </a:r>
              <a:r>
                <a:rPr lang="en-US" altLang="en-US" sz="350" dirty="0" err="1">
                  <a:solidFill>
                    <a:schemeClr val="bg1"/>
                  </a:solidFill>
                  <a:latin typeface="Courier New" panose="02070309020205020404" pitchFamily="49" charset="0"/>
                  <a:cs typeface="Courier New" panose="02070309020205020404" pitchFamily="49" charset="0"/>
                </a:rPr>
                <a:t>ms</a:t>
              </a:r>
              <a:endParaRPr lang="en-US" altLang="en-US" sz="350" dirty="0">
                <a:solidFill>
                  <a:schemeClr val="bg1"/>
                </a:solidFill>
                <a:latin typeface="Courier New" panose="02070309020205020404" pitchFamily="49" charset="0"/>
                <a:cs typeface="Courier New" panose="02070309020205020404" pitchFamily="49" charset="0"/>
              </a:endParaRPr>
            </a:p>
            <a:p>
              <a:pPr algn="just" eaLnBrk="0" fontAlgn="base" hangingPunct="0">
                <a:spcBef>
                  <a:spcPct val="0"/>
                </a:spcBef>
                <a:spcAft>
                  <a:spcPct val="0"/>
                </a:spcAft>
              </a:pPr>
              <a:r>
                <a:rPr lang="en-US" altLang="en-US" sz="350" dirty="0">
                  <a:solidFill>
                    <a:schemeClr val="bg1"/>
                  </a:solidFill>
                  <a:latin typeface="Courier New" panose="02070309020205020404" pitchFamily="49" charset="0"/>
                  <a:cs typeface="Courier New" panose="02070309020205020404" pitchFamily="49" charset="0"/>
                </a:rPr>
                <a:t>64 bytes from 10.136.136.185: </a:t>
              </a:r>
              <a:r>
                <a:rPr lang="en-US" altLang="en-US" sz="350" dirty="0" err="1">
                  <a:solidFill>
                    <a:schemeClr val="bg1"/>
                  </a:solidFill>
                  <a:latin typeface="Courier New" panose="02070309020205020404" pitchFamily="49" charset="0"/>
                  <a:cs typeface="Courier New" panose="02070309020205020404" pitchFamily="49" charset="0"/>
                </a:rPr>
                <a:t>icmp_seq</a:t>
              </a:r>
              <a:r>
                <a:rPr lang="en-US" altLang="en-US" sz="350" dirty="0">
                  <a:solidFill>
                    <a:schemeClr val="bg1"/>
                  </a:solidFill>
                  <a:latin typeface="Courier New" panose="02070309020205020404" pitchFamily="49" charset="0"/>
                  <a:cs typeface="Courier New" panose="02070309020205020404" pitchFamily="49" charset="0"/>
                </a:rPr>
                <a:t>=1 </a:t>
              </a:r>
              <a:r>
                <a:rPr lang="en-US" altLang="en-US" sz="350" dirty="0" err="1">
                  <a:solidFill>
                    <a:schemeClr val="bg1"/>
                  </a:solidFill>
                  <a:latin typeface="Courier New" panose="02070309020205020404" pitchFamily="49" charset="0"/>
                  <a:cs typeface="Courier New" panose="02070309020205020404" pitchFamily="49" charset="0"/>
                </a:rPr>
                <a:t>ttl</a:t>
              </a:r>
              <a:r>
                <a:rPr lang="en-US" altLang="en-US" sz="350" dirty="0">
                  <a:solidFill>
                    <a:schemeClr val="bg1"/>
                  </a:solidFill>
                  <a:latin typeface="Courier New" panose="02070309020205020404" pitchFamily="49" charset="0"/>
                  <a:cs typeface="Courier New" panose="02070309020205020404" pitchFamily="49" charset="0"/>
                </a:rPr>
                <a:t>=64 time=101ms TTL=0.491 </a:t>
              </a:r>
              <a:r>
                <a:rPr lang="en-US" altLang="en-US" sz="350" dirty="0" smtClean="0">
                  <a:solidFill>
                    <a:schemeClr val="bg1"/>
                  </a:solidFill>
                  <a:latin typeface="Courier New" panose="02070309020205020404" pitchFamily="49" charset="0"/>
                  <a:cs typeface="Courier New" panose="02070309020205020404" pitchFamily="49" charset="0"/>
                </a:rPr>
                <a:t>m</a:t>
              </a:r>
            </a:p>
          </p:txBody>
        </p:sp>
      </p:grpSp>
    </p:spTree>
    <p:extLst>
      <p:ext uri="{BB962C8B-B14F-4D97-AF65-F5344CB8AC3E}">
        <p14:creationId xmlns:p14="http://schemas.microsoft.com/office/powerpoint/2010/main" val="2476351673"/>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8172" y="1941871"/>
            <a:ext cx="4748568" cy="994172"/>
          </a:xfrm>
        </p:spPr>
        <p:txBody>
          <a:bodyPr>
            <a:normAutofit fontScale="90000"/>
          </a:bodyPr>
          <a:lstStyle/>
          <a:p>
            <a:pPr marL="457200" indent="-457200">
              <a:buFont typeface="Wingdings" panose="05000000000000000000" pitchFamily="2" charset="2"/>
              <a:buChar char="ü"/>
            </a:pPr>
            <a:r>
              <a:rPr lang="en-US" dirty="0" err="1" smtClean="0">
                <a:solidFill>
                  <a:srgbClr val="002060"/>
                </a:solidFill>
              </a:rPr>
              <a:t>Menambahkan</a:t>
            </a:r>
            <a:r>
              <a:rPr lang="en-US" dirty="0" smtClean="0">
                <a:solidFill>
                  <a:srgbClr val="002060"/>
                </a:solidFill>
              </a:rPr>
              <a:t> SSH Key</a:t>
            </a:r>
            <a:br>
              <a:rPr lang="en-US" dirty="0" smtClean="0">
                <a:solidFill>
                  <a:srgbClr val="002060"/>
                </a:solidFill>
              </a:rPr>
            </a:br>
            <a:r>
              <a:rPr lang="en-US" dirty="0" smtClean="0">
                <a:solidFill>
                  <a:srgbClr val="002060"/>
                </a:solidFill>
              </a:rPr>
              <a:t/>
            </a:r>
            <a:br>
              <a:rPr lang="en-US" dirty="0" smtClean="0">
                <a:solidFill>
                  <a:srgbClr val="002060"/>
                </a:solidFill>
              </a:rPr>
            </a:br>
            <a:r>
              <a:rPr lang="en-US" b="1" dirty="0" smtClean="0">
                <a:solidFill>
                  <a:srgbClr val="002060"/>
                </a:solidFill>
              </a:rPr>
              <a:t>Create SSH keys</a:t>
            </a:r>
            <a:endParaRPr lang="en-US" b="1" dirty="0">
              <a:solidFill>
                <a:srgbClr val="00206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33</a:t>
            </a:fld>
            <a:endParaRPr lang="en-US" dirty="0"/>
          </a:p>
        </p:txBody>
      </p:sp>
      <p:sp>
        <p:nvSpPr>
          <p:cNvPr id="5" name="Rectangle 4"/>
          <p:cNvSpPr/>
          <p:nvPr/>
        </p:nvSpPr>
        <p:spPr>
          <a:xfrm>
            <a:off x="133484" y="190619"/>
            <a:ext cx="6066430" cy="1477328"/>
          </a:xfrm>
          <a:prstGeom prst="rect">
            <a:avLst/>
          </a:prstGeom>
        </p:spPr>
        <p:txBody>
          <a:bodyPr wrap="square">
            <a:spAutoFit/>
          </a:bodyPr>
          <a:lstStyle/>
          <a:p>
            <a:pPr marL="285750" indent="-285750">
              <a:buFont typeface="Wingdings" panose="05000000000000000000" pitchFamily="2" charset="2"/>
              <a:buChar char="ü"/>
            </a:pPr>
            <a:r>
              <a:rPr lang="en-US" b="1" dirty="0" err="1">
                <a:solidFill>
                  <a:schemeClr val="bg1">
                    <a:lumMod val="85000"/>
                  </a:schemeClr>
                </a:solidFill>
              </a:rPr>
              <a:t>Openstack</a:t>
            </a:r>
            <a:r>
              <a:rPr lang="en-US" b="1" dirty="0">
                <a:solidFill>
                  <a:schemeClr val="bg1">
                    <a:lumMod val="85000"/>
                  </a:schemeClr>
                </a:solidFill>
              </a:rPr>
              <a:t>: Upload Image </a:t>
            </a:r>
            <a:r>
              <a:rPr lang="en-US" b="1" dirty="0" err="1">
                <a:solidFill>
                  <a:schemeClr val="bg1">
                    <a:lumMod val="85000"/>
                  </a:schemeClr>
                </a:solidFill>
              </a:rPr>
              <a:t>atau</a:t>
            </a:r>
            <a:r>
              <a:rPr lang="en-US" b="1" dirty="0">
                <a:solidFill>
                  <a:schemeClr val="bg1">
                    <a:lumMod val="85000"/>
                  </a:schemeClr>
                </a:solidFill>
              </a:rPr>
              <a:t> ISO</a:t>
            </a:r>
          </a:p>
          <a:p>
            <a:pPr marL="285750" indent="-285750">
              <a:buFont typeface="Wingdings" panose="05000000000000000000" pitchFamily="2" charset="2"/>
              <a:buChar char="ü"/>
            </a:pPr>
            <a:r>
              <a:rPr lang="en-US" b="1" dirty="0" err="1">
                <a:solidFill>
                  <a:schemeClr val="bg1">
                    <a:lumMod val="85000"/>
                  </a:schemeClr>
                </a:solidFill>
              </a:rPr>
              <a:t>Openstack</a:t>
            </a:r>
            <a:r>
              <a:rPr lang="en-US" b="1" dirty="0">
                <a:solidFill>
                  <a:schemeClr val="bg1">
                    <a:lumMod val="85000"/>
                  </a:schemeClr>
                </a:solidFill>
              </a:rPr>
              <a:t>: </a:t>
            </a:r>
            <a:r>
              <a:rPr lang="en-US" b="1" dirty="0" err="1">
                <a:solidFill>
                  <a:schemeClr val="bg1">
                    <a:lumMod val="85000"/>
                  </a:schemeClr>
                </a:solidFill>
              </a:rPr>
              <a:t>Membuat</a:t>
            </a:r>
            <a:r>
              <a:rPr lang="en-US" b="1" dirty="0">
                <a:solidFill>
                  <a:schemeClr val="bg1">
                    <a:lumMod val="85000"/>
                  </a:schemeClr>
                </a:solidFill>
              </a:rPr>
              <a:t> Network</a:t>
            </a:r>
          </a:p>
          <a:p>
            <a:pPr marL="285750" indent="-285750">
              <a:buFont typeface="Wingdings" panose="05000000000000000000" pitchFamily="2" charset="2"/>
              <a:buChar char="ü"/>
            </a:pPr>
            <a:r>
              <a:rPr lang="en-US" b="1" dirty="0" err="1">
                <a:solidFill>
                  <a:schemeClr val="bg1">
                    <a:lumMod val="85000"/>
                  </a:schemeClr>
                </a:solidFill>
              </a:rPr>
              <a:t>Openstack</a:t>
            </a:r>
            <a:r>
              <a:rPr lang="en-US" b="1" dirty="0">
                <a:solidFill>
                  <a:schemeClr val="bg1">
                    <a:lumMod val="85000"/>
                  </a:schemeClr>
                </a:solidFill>
              </a:rPr>
              <a:t>: </a:t>
            </a:r>
            <a:r>
              <a:rPr lang="en-US" b="1" dirty="0" err="1">
                <a:solidFill>
                  <a:schemeClr val="bg1">
                    <a:lumMod val="85000"/>
                  </a:schemeClr>
                </a:solidFill>
              </a:rPr>
              <a:t>Membuat</a:t>
            </a:r>
            <a:r>
              <a:rPr lang="en-US" b="1" dirty="0">
                <a:solidFill>
                  <a:schemeClr val="bg1">
                    <a:lumMod val="85000"/>
                  </a:schemeClr>
                </a:solidFill>
              </a:rPr>
              <a:t> Router</a:t>
            </a:r>
          </a:p>
          <a:p>
            <a:pPr marL="285750" indent="-285750">
              <a:buFont typeface="Wingdings" panose="05000000000000000000" pitchFamily="2" charset="2"/>
              <a:buChar char="ü"/>
            </a:pPr>
            <a:r>
              <a:rPr lang="en-US" b="1" dirty="0" err="1">
                <a:solidFill>
                  <a:srgbClr val="002060"/>
                </a:solidFill>
              </a:rPr>
              <a:t>Openstack</a:t>
            </a:r>
            <a:r>
              <a:rPr lang="en-US" b="1" dirty="0">
                <a:solidFill>
                  <a:srgbClr val="002060"/>
                </a:solidFill>
              </a:rPr>
              <a:t>: </a:t>
            </a:r>
            <a:r>
              <a:rPr lang="en-US" b="1" dirty="0" err="1">
                <a:solidFill>
                  <a:srgbClr val="002060"/>
                </a:solidFill>
              </a:rPr>
              <a:t>Menambahkan</a:t>
            </a:r>
            <a:r>
              <a:rPr lang="en-US" b="1" dirty="0">
                <a:solidFill>
                  <a:srgbClr val="002060"/>
                </a:solidFill>
              </a:rPr>
              <a:t> SSH Key</a:t>
            </a:r>
          </a:p>
          <a:p>
            <a:pPr marL="285750" indent="-285750">
              <a:buFont typeface="Wingdings" panose="05000000000000000000" pitchFamily="2" charset="2"/>
              <a:buChar char="ü"/>
            </a:pPr>
            <a:r>
              <a:rPr lang="en-US" dirty="0" err="1">
                <a:solidFill>
                  <a:schemeClr val="bg1">
                    <a:lumMod val="85000"/>
                  </a:schemeClr>
                </a:solidFill>
              </a:rPr>
              <a:t>Openstack</a:t>
            </a:r>
            <a:r>
              <a:rPr lang="en-US" dirty="0">
                <a:solidFill>
                  <a:schemeClr val="bg1">
                    <a:lumMod val="85000"/>
                  </a:schemeClr>
                </a:solidFill>
              </a:rPr>
              <a:t>: </a:t>
            </a:r>
            <a:r>
              <a:rPr lang="en-US" dirty="0" err="1">
                <a:solidFill>
                  <a:schemeClr val="bg1">
                    <a:lumMod val="85000"/>
                  </a:schemeClr>
                </a:solidFill>
              </a:rPr>
              <a:t>Menambah</a:t>
            </a:r>
            <a:r>
              <a:rPr lang="en-US" dirty="0">
                <a:solidFill>
                  <a:schemeClr val="bg1">
                    <a:lumMod val="85000"/>
                  </a:schemeClr>
                </a:solidFill>
              </a:rPr>
              <a:t> </a:t>
            </a:r>
            <a:r>
              <a:rPr lang="en-US" dirty="0" err="1">
                <a:solidFill>
                  <a:schemeClr val="bg1">
                    <a:lumMod val="85000"/>
                  </a:schemeClr>
                </a:solidFill>
              </a:rPr>
              <a:t>dan</a:t>
            </a:r>
            <a:r>
              <a:rPr lang="en-US" dirty="0">
                <a:solidFill>
                  <a:schemeClr val="bg1">
                    <a:lumMod val="85000"/>
                  </a:schemeClr>
                </a:solidFill>
              </a:rPr>
              <a:t> </a:t>
            </a:r>
            <a:r>
              <a:rPr lang="en-US" dirty="0" err="1">
                <a:solidFill>
                  <a:schemeClr val="bg1">
                    <a:lumMod val="85000"/>
                  </a:schemeClr>
                </a:solidFill>
              </a:rPr>
              <a:t>Menggunakan</a:t>
            </a:r>
            <a:r>
              <a:rPr lang="en-US" dirty="0">
                <a:solidFill>
                  <a:schemeClr val="bg1">
                    <a:lumMod val="85000"/>
                  </a:schemeClr>
                </a:solidFill>
              </a:rPr>
              <a:t> Security Group</a:t>
            </a:r>
          </a:p>
        </p:txBody>
      </p:sp>
    </p:spTree>
    <p:extLst>
      <p:ext uri="{BB962C8B-B14F-4D97-AF65-F5344CB8AC3E}">
        <p14:creationId xmlns:p14="http://schemas.microsoft.com/office/powerpoint/2010/main" val="1453784725"/>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34</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51309" y="566340"/>
            <a:ext cx="3791025" cy="1015663"/>
          </a:xfrm>
          <a:prstGeom prst="rect">
            <a:avLst/>
          </a:prstGeom>
        </p:spPr>
        <p:txBody>
          <a:bodyPr wrap="square">
            <a:spAutoFit/>
          </a:bodyPr>
          <a:lstStyle/>
          <a:p>
            <a:pPr algn="just"/>
            <a:r>
              <a:rPr lang="en-US" sz="1200" dirty="0" err="1"/>
              <a:t>M</a:t>
            </a:r>
            <a:r>
              <a:rPr lang="en-US" sz="1200" dirty="0" err="1" smtClean="0"/>
              <a:t>enambahkan</a:t>
            </a:r>
            <a:r>
              <a:rPr lang="en-US" sz="1200" dirty="0" smtClean="0"/>
              <a:t> </a:t>
            </a:r>
            <a:r>
              <a:rPr lang="en-US" sz="1200" dirty="0"/>
              <a:t>SSH Key di </a:t>
            </a:r>
            <a:r>
              <a:rPr lang="en-US" sz="1200" dirty="0" err="1"/>
              <a:t>openstack</a:t>
            </a:r>
            <a:r>
              <a:rPr lang="en-US" sz="1200" dirty="0"/>
              <a:t>. Di </a:t>
            </a:r>
            <a:r>
              <a:rPr lang="en-US" sz="1200" dirty="0" err="1"/>
              <a:t>openstack</a:t>
            </a:r>
            <a:r>
              <a:rPr lang="en-US" sz="1200" dirty="0"/>
              <a:t> </a:t>
            </a:r>
            <a:r>
              <a:rPr lang="en-US" sz="1200" dirty="0" err="1"/>
              <a:t>untuk</a:t>
            </a:r>
            <a:r>
              <a:rPr lang="en-US" sz="1200" dirty="0"/>
              <a:t> </a:t>
            </a:r>
            <a:r>
              <a:rPr lang="en-US" sz="1200" dirty="0" err="1"/>
              <a:t>menambahkan</a:t>
            </a:r>
            <a:r>
              <a:rPr lang="en-US" sz="1200" dirty="0"/>
              <a:t> SSH Key </a:t>
            </a:r>
            <a:r>
              <a:rPr lang="en-US" sz="1200" dirty="0" err="1"/>
              <a:t>dapat</a:t>
            </a:r>
            <a:r>
              <a:rPr lang="en-US" sz="1200" dirty="0"/>
              <a:t> </a:t>
            </a:r>
            <a:r>
              <a:rPr lang="en-US" sz="1200" dirty="0" err="1"/>
              <a:t>melalui</a:t>
            </a:r>
            <a:r>
              <a:rPr lang="en-US" sz="1200" dirty="0"/>
              <a:t> CLI </a:t>
            </a:r>
            <a:r>
              <a:rPr lang="en-US" sz="1200" dirty="0" err="1"/>
              <a:t>ataupun</a:t>
            </a:r>
            <a:r>
              <a:rPr lang="en-US" sz="1200" dirty="0"/>
              <a:t> Horizon, </a:t>
            </a:r>
            <a:r>
              <a:rPr lang="en-US" sz="1200" dirty="0" err="1"/>
              <a:t>disini</a:t>
            </a:r>
            <a:r>
              <a:rPr lang="en-US" sz="1200" dirty="0"/>
              <a:t> kami </a:t>
            </a:r>
            <a:r>
              <a:rPr lang="en-US" sz="1200" dirty="0" err="1"/>
              <a:t>contohkan</a:t>
            </a:r>
            <a:r>
              <a:rPr lang="en-US" sz="1200" dirty="0"/>
              <a:t> </a:t>
            </a:r>
            <a:r>
              <a:rPr lang="en-US" sz="1200" dirty="0" err="1"/>
              <a:t>menggunakan</a:t>
            </a:r>
            <a:r>
              <a:rPr lang="en-US" sz="1200" dirty="0"/>
              <a:t> Horizon</a:t>
            </a:r>
            <a:r>
              <a:rPr lang="en-US" sz="1200" dirty="0" smtClean="0"/>
              <a:t>.</a:t>
            </a:r>
          </a:p>
          <a:p>
            <a:pPr algn="just"/>
            <a:endParaRPr lang="en-US" sz="1200" b="1" dirty="0" smtClean="0"/>
          </a:p>
          <a:p>
            <a:pPr algn="just"/>
            <a:r>
              <a:rPr lang="en-US" sz="1200" b="1" dirty="0" smtClean="0"/>
              <a:t>Login </a:t>
            </a:r>
            <a:r>
              <a:rPr lang="en-US" sz="1200" b="1" dirty="0" err="1"/>
              <a:t>ke</a:t>
            </a:r>
            <a:r>
              <a:rPr lang="en-US" sz="1200" b="1" dirty="0"/>
              <a:t> </a:t>
            </a:r>
            <a:r>
              <a:rPr lang="en-US" sz="1200" b="1" i="1" dirty="0"/>
              <a:t>Horizon &gt;&gt; Compute &gt;&gt; Key Pairs</a:t>
            </a:r>
            <a:endParaRPr lang="en-US" sz="1200" b="1" dirty="0"/>
          </a:p>
        </p:txBody>
      </p:sp>
      <p:sp>
        <p:nvSpPr>
          <p:cNvPr id="14" name="Rectangle 13"/>
          <p:cNvSpPr/>
          <p:nvPr/>
        </p:nvSpPr>
        <p:spPr>
          <a:xfrm>
            <a:off x="143301" y="263304"/>
            <a:ext cx="1709892" cy="369332"/>
          </a:xfrm>
          <a:prstGeom prst="rect">
            <a:avLst/>
          </a:prstGeom>
        </p:spPr>
        <p:txBody>
          <a:bodyPr wrap="none">
            <a:spAutoFit/>
          </a:bodyPr>
          <a:lstStyle/>
          <a:p>
            <a:r>
              <a:rPr lang="en-US" b="1" dirty="0">
                <a:solidFill>
                  <a:srgbClr val="002060"/>
                </a:solidFill>
              </a:rPr>
              <a:t>Create </a:t>
            </a:r>
            <a:r>
              <a:rPr lang="en-US" b="1" dirty="0" smtClean="0">
                <a:solidFill>
                  <a:srgbClr val="002060"/>
                </a:solidFill>
              </a:rPr>
              <a:t>SSH Keys</a:t>
            </a:r>
            <a:endParaRPr lang="en-US" dirty="0"/>
          </a:p>
        </p:txBody>
      </p:sp>
      <p:sp>
        <p:nvSpPr>
          <p:cNvPr id="7" name="Rectangle 6"/>
          <p:cNvSpPr/>
          <p:nvPr/>
        </p:nvSpPr>
        <p:spPr>
          <a:xfrm>
            <a:off x="51309" y="1458892"/>
            <a:ext cx="3149091" cy="246221"/>
          </a:xfrm>
          <a:prstGeom prst="rect">
            <a:avLst/>
          </a:prstGeom>
        </p:spPr>
        <p:txBody>
          <a:bodyPr wrap="square">
            <a:spAutoFit/>
          </a:bodyPr>
          <a:lstStyle/>
          <a:p>
            <a:pPr algn="just"/>
            <a:r>
              <a:rPr lang="en-US" sz="1000" dirty="0" smtClean="0">
                <a:solidFill>
                  <a:srgbClr val="0070C0"/>
                </a:solidFill>
              </a:rPr>
              <a:t>Openstack.panda.id/dashboard/project/</a:t>
            </a:r>
            <a:r>
              <a:rPr lang="en-US" sz="1000" dirty="0" err="1" smtClean="0">
                <a:solidFill>
                  <a:srgbClr val="0070C0"/>
                </a:solidFill>
              </a:rPr>
              <a:t>key_pairs</a:t>
            </a:r>
            <a:endParaRPr lang="en-US" sz="1000" dirty="0">
              <a:solidFill>
                <a:srgbClr val="0070C0"/>
              </a:solidFill>
            </a:endParaRPr>
          </a:p>
        </p:txBody>
      </p:sp>
      <p:grpSp>
        <p:nvGrpSpPr>
          <p:cNvPr id="3" name="Group 2"/>
          <p:cNvGrpSpPr/>
          <p:nvPr/>
        </p:nvGrpSpPr>
        <p:grpSpPr>
          <a:xfrm>
            <a:off x="143300" y="1802193"/>
            <a:ext cx="3699033" cy="1657439"/>
            <a:chOff x="143300" y="1802193"/>
            <a:chExt cx="3699033" cy="1657439"/>
          </a:xfrm>
        </p:grpSpPr>
        <p:pic>
          <p:nvPicPr>
            <p:cNvPr id="2" name="Picture 1"/>
            <p:cNvPicPr>
              <a:picLocks noChangeAspect="1"/>
            </p:cNvPicPr>
            <p:nvPr/>
          </p:nvPicPr>
          <p:blipFill>
            <a:blip r:embed="rId3"/>
            <a:stretch>
              <a:fillRect/>
            </a:stretch>
          </p:blipFill>
          <p:spPr>
            <a:xfrm>
              <a:off x="143300" y="1802193"/>
              <a:ext cx="3699033" cy="1657439"/>
            </a:xfrm>
            <a:prstGeom prst="rect">
              <a:avLst/>
            </a:prstGeom>
          </p:spPr>
        </p:pic>
        <p:sp>
          <p:nvSpPr>
            <p:cNvPr id="10" name="Rectangle 9"/>
            <p:cNvSpPr/>
            <p:nvPr/>
          </p:nvSpPr>
          <p:spPr>
            <a:xfrm>
              <a:off x="836321" y="1818835"/>
              <a:ext cx="1878303" cy="169277"/>
            </a:xfrm>
            <a:prstGeom prst="rect">
              <a:avLst/>
            </a:prstGeom>
          </p:spPr>
          <p:txBody>
            <a:bodyPr wrap="square">
              <a:spAutoFit/>
            </a:bodyPr>
            <a:lstStyle/>
            <a:p>
              <a:pPr algn="just"/>
              <a:r>
                <a:rPr lang="en-US" sz="500" strike="sngStrike" dirty="0" smtClean="0">
                  <a:solidFill>
                    <a:schemeClr val="bg1">
                      <a:lumMod val="85000"/>
                    </a:schemeClr>
                  </a:solidFill>
                </a:rPr>
                <a:t>Openstack.panda.id/dashboard/project/</a:t>
              </a:r>
              <a:r>
                <a:rPr lang="en-US" sz="500" strike="sngStrike" dirty="0" err="1" smtClean="0">
                  <a:solidFill>
                    <a:schemeClr val="bg1">
                      <a:lumMod val="85000"/>
                    </a:schemeClr>
                  </a:solidFill>
                </a:rPr>
                <a:t>key_pairs</a:t>
              </a:r>
              <a:endParaRPr lang="en-US" sz="500" strike="sngStrike" dirty="0">
                <a:solidFill>
                  <a:schemeClr val="bg1">
                    <a:lumMod val="85000"/>
                  </a:schemeClr>
                </a:solidFill>
              </a:endParaRPr>
            </a:p>
          </p:txBody>
        </p:sp>
      </p:grpSp>
      <p:sp>
        <p:nvSpPr>
          <p:cNvPr id="11" name="Rectangle 10"/>
          <p:cNvSpPr/>
          <p:nvPr/>
        </p:nvSpPr>
        <p:spPr>
          <a:xfrm>
            <a:off x="82706" y="3048880"/>
            <a:ext cx="3791025" cy="2862322"/>
          </a:xfrm>
          <a:prstGeom prst="rect">
            <a:avLst/>
          </a:prstGeom>
        </p:spPr>
        <p:txBody>
          <a:bodyPr wrap="square">
            <a:spAutoFit/>
          </a:bodyPr>
          <a:lstStyle/>
          <a:p>
            <a:pPr algn="just"/>
            <a:r>
              <a:rPr lang="en-US" sz="1200" dirty="0" smtClean="0"/>
              <a:t>Ada </a:t>
            </a:r>
            <a:r>
              <a:rPr lang="en-US" sz="1200" dirty="0"/>
              <a:t>2 </a:t>
            </a:r>
            <a:r>
              <a:rPr lang="en-US" sz="1200" dirty="0" err="1"/>
              <a:t>pemilihan</a:t>
            </a:r>
            <a:r>
              <a:rPr lang="en-US" sz="1200" dirty="0"/>
              <a:t> </a:t>
            </a:r>
            <a:r>
              <a:rPr lang="en-US" sz="1200" dirty="0" err="1"/>
              <a:t>terkait</a:t>
            </a:r>
            <a:r>
              <a:rPr lang="en-US" sz="1200" dirty="0"/>
              <a:t> SSH Key </a:t>
            </a:r>
            <a:r>
              <a:rPr lang="en-US" sz="1200" dirty="0" err="1"/>
              <a:t>diantaranya</a:t>
            </a:r>
            <a:r>
              <a:rPr lang="en-US" sz="1200" dirty="0"/>
              <a:t>:</a:t>
            </a:r>
          </a:p>
          <a:p>
            <a:pPr marL="228600" indent="-228600" algn="just">
              <a:buFont typeface="+mj-lt"/>
              <a:buAutoNum type="alphaLcParenR"/>
            </a:pPr>
            <a:r>
              <a:rPr lang="en-US" sz="1200" dirty="0"/>
              <a:t>Import Public Key: </a:t>
            </a:r>
            <a:r>
              <a:rPr lang="en-US" sz="1200" dirty="0" err="1"/>
              <a:t>Jika</a:t>
            </a:r>
            <a:r>
              <a:rPr lang="en-US" sz="1200" dirty="0"/>
              <a:t> </a:t>
            </a:r>
            <a:r>
              <a:rPr lang="en-US" sz="1200" dirty="0" err="1"/>
              <a:t>Anda</a:t>
            </a:r>
            <a:r>
              <a:rPr lang="en-US" sz="1200" dirty="0"/>
              <a:t> </a:t>
            </a:r>
            <a:r>
              <a:rPr lang="en-US" sz="1200" dirty="0" err="1"/>
              <a:t>sudah</a:t>
            </a:r>
            <a:r>
              <a:rPr lang="en-US" sz="1200" dirty="0"/>
              <a:t> </a:t>
            </a:r>
            <a:r>
              <a:rPr lang="en-US" sz="1200" dirty="0" err="1"/>
              <a:t>mempunyai</a:t>
            </a:r>
            <a:r>
              <a:rPr lang="en-US" sz="1200" dirty="0"/>
              <a:t> public key </a:t>
            </a:r>
            <a:r>
              <a:rPr lang="en-US" sz="1200" dirty="0" err="1"/>
              <a:t>pribadi</a:t>
            </a:r>
            <a:r>
              <a:rPr lang="en-US" sz="1200" dirty="0"/>
              <a:t> </a:t>
            </a:r>
            <a:r>
              <a:rPr lang="en-US" sz="1200" dirty="0" err="1"/>
              <a:t>Anda</a:t>
            </a:r>
            <a:r>
              <a:rPr lang="en-US" sz="1200" dirty="0"/>
              <a:t> </a:t>
            </a:r>
            <a:r>
              <a:rPr lang="en-US" sz="1200" dirty="0" err="1"/>
              <a:t>dapat</a:t>
            </a:r>
            <a:r>
              <a:rPr lang="en-US" sz="1200" dirty="0"/>
              <a:t> upload public key </a:t>
            </a:r>
            <a:r>
              <a:rPr lang="en-US" sz="1200" dirty="0" err="1"/>
              <a:t>nya</a:t>
            </a:r>
            <a:r>
              <a:rPr lang="en-US" sz="1200" dirty="0"/>
              <a:t> </a:t>
            </a:r>
            <a:r>
              <a:rPr lang="en-US" sz="1200" dirty="0" err="1"/>
              <a:t>tanpa</a:t>
            </a:r>
            <a:r>
              <a:rPr lang="en-US" sz="1200" dirty="0"/>
              <a:t> create key </a:t>
            </a:r>
            <a:r>
              <a:rPr lang="en-US" sz="1200" dirty="0" err="1"/>
              <a:t>baru</a:t>
            </a:r>
            <a:r>
              <a:rPr lang="en-US" sz="1200" dirty="0"/>
              <a:t>.</a:t>
            </a:r>
          </a:p>
          <a:p>
            <a:pPr marL="228600" indent="-228600" algn="just">
              <a:buFont typeface="+mj-lt"/>
              <a:buAutoNum type="alphaLcParenR"/>
            </a:pPr>
            <a:r>
              <a:rPr lang="en-US" sz="1200" dirty="0"/>
              <a:t>Create Key Pair: </a:t>
            </a:r>
            <a:r>
              <a:rPr lang="en-US" sz="1200" dirty="0" err="1"/>
              <a:t>Anda</a:t>
            </a:r>
            <a:r>
              <a:rPr lang="en-US" sz="1200" dirty="0"/>
              <a:t> </a:t>
            </a:r>
            <a:r>
              <a:rPr lang="en-US" sz="1200" dirty="0" err="1"/>
              <a:t>dapat</a:t>
            </a:r>
            <a:r>
              <a:rPr lang="en-US" sz="1200" dirty="0"/>
              <a:t> </a:t>
            </a:r>
            <a:r>
              <a:rPr lang="en-US" sz="1200" dirty="0" err="1"/>
              <a:t>membuat</a:t>
            </a:r>
            <a:r>
              <a:rPr lang="en-US" sz="1200" dirty="0"/>
              <a:t> </a:t>
            </a:r>
            <a:r>
              <a:rPr lang="en-US" sz="1200" dirty="0" err="1"/>
              <a:t>keypair</a:t>
            </a:r>
            <a:r>
              <a:rPr lang="en-US" sz="1200" dirty="0"/>
              <a:t> </a:t>
            </a:r>
            <a:r>
              <a:rPr lang="en-US" sz="1200" dirty="0" err="1"/>
              <a:t>baru</a:t>
            </a:r>
            <a:r>
              <a:rPr lang="en-US" sz="1200" dirty="0"/>
              <a:t> </a:t>
            </a:r>
            <a:r>
              <a:rPr lang="en-US" sz="1200" dirty="0" err="1"/>
              <a:t>dan</a:t>
            </a:r>
            <a:r>
              <a:rPr lang="en-US" sz="1200" dirty="0"/>
              <a:t> </a:t>
            </a:r>
            <a:r>
              <a:rPr lang="en-US" sz="1200" dirty="0" err="1"/>
              <a:t>keypair</a:t>
            </a:r>
            <a:r>
              <a:rPr lang="en-US" sz="1200" dirty="0"/>
              <a:t> </a:t>
            </a:r>
            <a:r>
              <a:rPr lang="en-US" sz="1200" dirty="0" err="1"/>
              <a:t>ini</a:t>
            </a:r>
            <a:r>
              <a:rPr lang="en-US" sz="1200" dirty="0"/>
              <a:t> </a:t>
            </a:r>
            <a:r>
              <a:rPr lang="en-US" sz="1200" dirty="0" err="1"/>
              <a:t>akan</a:t>
            </a:r>
            <a:r>
              <a:rPr lang="en-US" sz="1200" dirty="0"/>
              <a:t> </a:t>
            </a:r>
            <a:r>
              <a:rPr lang="en-US" sz="1200" dirty="0" err="1"/>
              <a:t>Anda</a:t>
            </a:r>
            <a:r>
              <a:rPr lang="en-US" sz="1200" dirty="0"/>
              <a:t> </a:t>
            </a:r>
            <a:r>
              <a:rPr lang="en-US" sz="1200" dirty="0" err="1"/>
              <a:t>gunakan</a:t>
            </a:r>
            <a:r>
              <a:rPr lang="en-US" sz="1200" dirty="0"/>
              <a:t> </a:t>
            </a:r>
            <a:r>
              <a:rPr lang="en-US" sz="1200" dirty="0" err="1"/>
              <a:t>untuk</a:t>
            </a:r>
            <a:r>
              <a:rPr lang="en-US" sz="1200" dirty="0"/>
              <a:t> login </a:t>
            </a:r>
            <a:r>
              <a:rPr lang="en-US" sz="1200" dirty="0" err="1"/>
              <a:t>ke</a:t>
            </a:r>
            <a:r>
              <a:rPr lang="en-US" sz="1200" dirty="0"/>
              <a:t> instance</a:t>
            </a:r>
          </a:p>
          <a:p>
            <a:pPr algn="just"/>
            <a:r>
              <a:rPr lang="en-US" sz="1200" dirty="0" err="1"/>
              <a:t>Berikut</a:t>
            </a:r>
            <a:r>
              <a:rPr lang="en-US" sz="1200" dirty="0"/>
              <a:t> kami </a:t>
            </a:r>
            <a:r>
              <a:rPr lang="en-US" sz="1200" dirty="0" err="1"/>
              <a:t>berikan</a:t>
            </a:r>
            <a:r>
              <a:rPr lang="en-US" sz="1200" dirty="0"/>
              <a:t> </a:t>
            </a:r>
            <a:r>
              <a:rPr lang="en-US" sz="1200" dirty="0" err="1"/>
              <a:t>contoh</a:t>
            </a:r>
            <a:r>
              <a:rPr lang="en-US" sz="1200" dirty="0"/>
              <a:t> </a:t>
            </a:r>
            <a:r>
              <a:rPr lang="en-US" sz="1200" dirty="0" err="1"/>
              <a:t>masing</a:t>
            </a:r>
            <a:r>
              <a:rPr lang="en-US" sz="1200" dirty="0"/>
              <a:t> – </a:t>
            </a:r>
            <a:r>
              <a:rPr lang="en-US" sz="1200" dirty="0" err="1"/>
              <a:t>masing</a:t>
            </a:r>
            <a:r>
              <a:rPr lang="en-US" sz="1200" dirty="0"/>
              <a:t> </a:t>
            </a:r>
            <a:r>
              <a:rPr lang="en-US" sz="1200" dirty="0" err="1"/>
              <a:t>pilihan</a:t>
            </a:r>
            <a:r>
              <a:rPr lang="en-US" sz="1200" dirty="0"/>
              <a:t> </a:t>
            </a:r>
            <a:r>
              <a:rPr lang="en-US" sz="1200" dirty="0" err="1"/>
              <a:t>diatas</a:t>
            </a:r>
            <a:r>
              <a:rPr lang="en-US" sz="1200" dirty="0"/>
              <a:t>: Import Public Key</a:t>
            </a:r>
            <a:r>
              <a:rPr lang="en-US" sz="1200" dirty="0" smtClean="0"/>
              <a:t>.</a:t>
            </a:r>
          </a:p>
          <a:p>
            <a:pPr algn="just"/>
            <a:endParaRPr lang="en-US" sz="1200" dirty="0"/>
          </a:p>
          <a:p>
            <a:pPr algn="just"/>
            <a:endParaRPr lang="en-US" sz="1200" dirty="0"/>
          </a:p>
          <a:p>
            <a:pPr algn="just"/>
            <a:r>
              <a:rPr lang="en-US" sz="1200" b="1" i="1" dirty="0"/>
              <a:t>Import Public Key</a:t>
            </a:r>
            <a:endParaRPr lang="en-US" sz="1200" dirty="0"/>
          </a:p>
          <a:p>
            <a:pPr algn="just"/>
            <a:r>
              <a:rPr lang="en-US" sz="1200" dirty="0" err="1"/>
              <a:t>Silakan</a:t>
            </a:r>
            <a:r>
              <a:rPr lang="en-US" sz="1200" dirty="0"/>
              <a:t> </a:t>
            </a:r>
            <a:r>
              <a:rPr lang="en-US" sz="1200" dirty="0" err="1"/>
              <a:t>klik</a:t>
            </a:r>
            <a:r>
              <a:rPr lang="en-US" sz="1200" dirty="0"/>
              <a:t> menu </a:t>
            </a:r>
            <a:r>
              <a:rPr lang="en-US" sz="1200" b="1" dirty="0"/>
              <a:t>Import Public Key</a:t>
            </a:r>
            <a:r>
              <a:rPr lang="en-US" sz="1200" dirty="0"/>
              <a:t> </a:t>
            </a:r>
            <a:r>
              <a:rPr lang="en-US" sz="1200" dirty="0" err="1"/>
              <a:t>lalu</a:t>
            </a:r>
            <a:r>
              <a:rPr lang="en-US" sz="1200" dirty="0"/>
              <a:t> </a:t>
            </a:r>
            <a:r>
              <a:rPr lang="en-US" sz="1200" dirty="0" err="1"/>
              <a:t>berikan</a:t>
            </a:r>
            <a:r>
              <a:rPr lang="en-US" sz="1200" dirty="0"/>
              <a:t> </a:t>
            </a:r>
            <a:r>
              <a:rPr lang="en-US" sz="1200" dirty="0" err="1"/>
              <a:t>nama</a:t>
            </a:r>
            <a:r>
              <a:rPr lang="en-US" sz="1200" dirty="0"/>
              <a:t> key </a:t>
            </a:r>
            <a:r>
              <a:rPr lang="en-US" sz="1200" dirty="0" err="1"/>
              <a:t>Anda</a:t>
            </a:r>
            <a:r>
              <a:rPr lang="en-US" sz="1200" dirty="0"/>
              <a:t> </a:t>
            </a:r>
            <a:r>
              <a:rPr lang="en-US" sz="1200" dirty="0" err="1"/>
              <a:t>dan</a:t>
            </a:r>
            <a:r>
              <a:rPr lang="en-US" sz="1200" dirty="0"/>
              <a:t> </a:t>
            </a:r>
            <a:r>
              <a:rPr lang="en-US" sz="1200" dirty="0" err="1"/>
              <a:t>isi</a:t>
            </a:r>
            <a:r>
              <a:rPr lang="en-US" sz="1200" dirty="0"/>
              <a:t> public key </a:t>
            </a:r>
            <a:r>
              <a:rPr lang="en-US" sz="1200" dirty="0" err="1"/>
              <a:t>Anda</a:t>
            </a:r>
            <a:r>
              <a:rPr lang="en-US" sz="1200" dirty="0"/>
              <a:t> </a:t>
            </a:r>
            <a:r>
              <a:rPr lang="en-US" sz="1200" dirty="0" err="1"/>
              <a:t>contoh</a:t>
            </a:r>
            <a:r>
              <a:rPr lang="en-US" sz="1200" dirty="0"/>
              <a:t> </a:t>
            </a:r>
            <a:r>
              <a:rPr lang="en-US" sz="1200" dirty="0" err="1"/>
              <a:t>nya</a:t>
            </a:r>
            <a:r>
              <a:rPr lang="en-US" sz="1200" dirty="0"/>
              <a:t> </a:t>
            </a:r>
            <a:r>
              <a:rPr lang="en-US" sz="1200" dirty="0" err="1"/>
              <a:t>seperti</a:t>
            </a:r>
            <a:r>
              <a:rPr lang="en-US" sz="1200" dirty="0"/>
              <a:t> </a:t>
            </a:r>
            <a:r>
              <a:rPr lang="en-US" sz="1200" dirty="0" err="1"/>
              <a:t>gambar</a:t>
            </a:r>
            <a:r>
              <a:rPr lang="en-US" sz="1200" dirty="0"/>
              <a:t> </a:t>
            </a:r>
            <a:r>
              <a:rPr lang="en-US" sz="1200" dirty="0" err="1"/>
              <a:t>dibawah</a:t>
            </a:r>
            <a:r>
              <a:rPr lang="en-US" sz="1200" dirty="0"/>
              <a:t> </a:t>
            </a:r>
            <a:r>
              <a:rPr lang="en-US" sz="1200" dirty="0" err="1"/>
              <a:t>lalu</a:t>
            </a:r>
            <a:r>
              <a:rPr lang="en-US" sz="1200" dirty="0"/>
              <a:t> </a:t>
            </a:r>
            <a:r>
              <a:rPr lang="en-US" sz="1200" dirty="0" err="1"/>
              <a:t>klik</a:t>
            </a:r>
            <a:r>
              <a:rPr lang="en-US" sz="1200" dirty="0"/>
              <a:t> Import Public Key</a:t>
            </a:r>
          </a:p>
        </p:txBody>
      </p:sp>
      <p:sp>
        <p:nvSpPr>
          <p:cNvPr id="12" name="Rectangle 11"/>
          <p:cNvSpPr/>
          <p:nvPr/>
        </p:nvSpPr>
        <p:spPr>
          <a:xfrm>
            <a:off x="4041095" y="440829"/>
            <a:ext cx="4790084" cy="830997"/>
          </a:xfrm>
          <a:prstGeom prst="rect">
            <a:avLst/>
          </a:prstGeom>
        </p:spPr>
        <p:txBody>
          <a:bodyPr wrap="square">
            <a:spAutoFit/>
          </a:bodyPr>
          <a:lstStyle/>
          <a:p>
            <a:pPr marL="171450" indent="-171450" algn="just">
              <a:buFont typeface="Wingdings" panose="05000000000000000000" pitchFamily="2" charset="2"/>
              <a:buChar char="ü"/>
            </a:pPr>
            <a:r>
              <a:rPr lang="en-US" sz="1200" b="1" i="1" dirty="0" smtClean="0"/>
              <a:t>Import </a:t>
            </a:r>
            <a:r>
              <a:rPr lang="en-US" sz="1200" b="1" i="1" dirty="0"/>
              <a:t>Public Key</a:t>
            </a:r>
            <a:endParaRPr lang="en-US" sz="1200" dirty="0"/>
          </a:p>
          <a:p>
            <a:pPr algn="just"/>
            <a:r>
              <a:rPr lang="en-US" sz="1200" dirty="0" err="1"/>
              <a:t>Silakan</a:t>
            </a:r>
            <a:r>
              <a:rPr lang="en-US" sz="1200" dirty="0"/>
              <a:t> </a:t>
            </a:r>
            <a:r>
              <a:rPr lang="en-US" sz="1200" dirty="0" err="1"/>
              <a:t>klik</a:t>
            </a:r>
            <a:r>
              <a:rPr lang="en-US" sz="1200" dirty="0"/>
              <a:t> menu </a:t>
            </a:r>
            <a:r>
              <a:rPr lang="en-US" sz="1200" b="1" dirty="0"/>
              <a:t>Import Public Key</a:t>
            </a:r>
            <a:r>
              <a:rPr lang="en-US" sz="1200" dirty="0"/>
              <a:t> </a:t>
            </a:r>
            <a:r>
              <a:rPr lang="en-US" sz="1200" dirty="0" err="1"/>
              <a:t>lalu</a:t>
            </a:r>
            <a:r>
              <a:rPr lang="en-US" sz="1200" dirty="0"/>
              <a:t> </a:t>
            </a:r>
            <a:r>
              <a:rPr lang="en-US" sz="1200" dirty="0" err="1"/>
              <a:t>berikan</a:t>
            </a:r>
            <a:r>
              <a:rPr lang="en-US" sz="1200" dirty="0"/>
              <a:t> </a:t>
            </a:r>
            <a:r>
              <a:rPr lang="en-US" sz="1200" dirty="0" err="1"/>
              <a:t>nama</a:t>
            </a:r>
            <a:r>
              <a:rPr lang="en-US" sz="1200" dirty="0"/>
              <a:t> key </a:t>
            </a:r>
            <a:r>
              <a:rPr lang="en-US" sz="1200" dirty="0" err="1"/>
              <a:t>Anda</a:t>
            </a:r>
            <a:r>
              <a:rPr lang="en-US" sz="1200" dirty="0"/>
              <a:t> </a:t>
            </a:r>
            <a:r>
              <a:rPr lang="en-US" sz="1200" dirty="0" err="1"/>
              <a:t>dan</a:t>
            </a:r>
            <a:r>
              <a:rPr lang="en-US" sz="1200" dirty="0"/>
              <a:t> </a:t>
            </a:r>
            <a:r>
              <a:rPr lang="en-US" sz="1200" dirty="0" err="1"/>
              <a:t>isi</a:t>
            </a:r>
            <a:r>
              <a:rPr lang="en-US" sz="1200" dirty="0"/>
              <a:t> public key </a:t>
            </a:r>
            <a:r>
              <a:rPr lang="en-US" sz="1200" dirty="0" err="1"/>
              <a:t>Anda</a:t>
            </a:r>
            <a:r>
              <a:rPr lang="en-US" sz="1200" dirty="0"/>
              <a:t> </a:t>
            </a:r>
            <a:r>
              <a:rPr lang="en-US" sz="1200" dirty="0" err="1"/>
              <a:t>contoh</a:t>
            </a:r>
            <a:r>
              <a:rPr lang="en-US" sz="1200" dirty="0"/>
              <a:t> </a:t>
            </a:r>
            <a:r>
              <a:rPr lang="en-US" sz="1200" dirty="0" err="1"/>
              <a:t>nya</a:t>
            </a:r>
            <a:r>
              <a:rPr lang="en-US" sz="1200" dirty="0"/>
              <a:t> </a:t>
            </a:r>
            <a:r>
              <a:rPr lang="en-US" sz="1200" dirty="0" err="1"/>
              <a:t>seperti</a:t>
            </a:r>
            <a:r>
              <a:rPr lang="en-US" sz="1200" dirty="0"/>
              <a:t> </a:t>
            </a:r>
            <a:r>
              <a:rPr lang="en-US" sz="1200" dirty="0" err="1"/>
              <a:t>gambar</a:t>
            </a:r>
            <a:r>
              <a:rPr lang="en-US" sz="1200" dirty="0"/>
              <a:t> </a:t>
            </a:r>
            <a:r>
              <a:rPr lang="en-US" sz="1200" dirty="0" err="1"/>
              <a:t>dibawah</a:t>
            </a:r>
            <a:r>
              <a:rPr lang="en-US" sz="1200" dirty="0"/>
              <a:t> </a:t>
            </a:r>
            <a:r>
              <a:rPr lang="en-US" sz="1200" dirty="0" err="1"/>
              <a:t>lalu</a:t>
            </a:r>
            <a:r>
              <a:rPr lang="en-US" sz="1200" dirty="0"/>
              <a:t> </a:t>
            </a:r>
            <a:r>
              <a:rPr lang="en-US" sz="1200" dirty="0" err="1"/>
              <a:t>klik</a:t>
            </a:r>
            <a:r>
              <a:rPr lang="en-US" sz="1200" dirty="0"/>
              <a:t> Import Public Key</a:t>
            </a:r>
          </a:p>
        </p:txBody>
      </p:sp>
      <p:pic>
        <p:nvPicPr>
          <p:cNvPr id="8" name="Picture 7"/>
          <p:cNvPicPr>
            <a:picLocks noChangeAspect="1"/>
          </p:cNvPicPr>
          <p:nvPr/>
        </p:nvPicPr>
        <p:blipFill>
          <a:blip r:embed="rId4"/>
          <a:stretch>
            <a:fillRect/>
          </a:stretch>
        </p:blipFill>
        <p:spPr>
          <a:xfrm>
            <a:off x="4148421" y="1271826"/>
            <a:ext cx="4682758" cy="1447311"/>
          </a:xfrm>
          <a:prstGeom prst="rect">
            <a:avLst/>
          </a:prstGeom>
        </p:spPr>
      </p:pic>
      <p:grpSp>
        <p:nvGrpSpPr>
          <p:cNvPr id="16" name="Group 15"/>
          <p:cNvGrpSpPr/>
          <p:nvPr/>
        </p:nvGrpSpPr>
        <p:grpSpPr>
          <a:xfrm>
            <a:off x="4148421" y="2971532"/>
            <a:ext cx="4851200" cy="1937352"/>
            <a:chOff x="4148421" y="2971532"/>
            <a:chExt cx="4851200" cy="1937352"/>
          </a:xfrm>
        </p:grpSpPr>
        <p:pic>
          <p:nvPicPr>
            <p:cNvPr id="13" name="Picture 12"/>
            <p:cNvPicPr>
              <a:picLocks noChangeAspect="1"/>
            </p:cNvPicPr>
            <p:nvPr/>
          </p:nvPicPr>
          <p:blipFill>
            <a:blip r:embed="rId5"/>
            <a:stretch>
              <a:fillRect/>
            </a:stretch>
          </p:blipFill>
          <p:spPr>
            <a:xfrm>
              <a:off x="4148421" y="2971532"/>
              <a:ext cx="4851200" cy="1937352"/>
            </a:xfrm>
            <a:prstGeom prst="rect">
              <a:avLst/>
            </a:prstGeom>
          </p:spPr>
        </p:pic>
        <p:sp>
          <p:nvSpPr>
            <p:cNvPr id="15" name="Rectangle 14"/>
            <p:cNvSpPr/>
            <p:nvPr/>
          </p:nvSpPr>
          <p:spPr>
            <a:xfrm>
              <a:off x="5057985" y="3039652"/>
              <a:ext cx="2930983" cy="169277"/>
            </a:xfrm>
            <a:prstGeom prst="rect">
              <a:avLst/>
            </a:prstGeom>
          </p:spPr>
          <p:txBody>
            <a:bodyPr wrap="square">
              <a:spAutoFit/>
            </a:bodyPr>
            <a:lstStyle/>
            <a:p>
              <a:pPr algn="just"/>
              <a:r>
                <a:rPr lang="en-US" sz="500" dirty="0" smtClean="0">
                  <a:solidFill>
                    <a:schemeClr val="bg1">
                      <a:lumMod val="85000"/>
                    </a:schemeClr>
                  </a:solidFill>
                </a:rPr>
                <a:t>Openstack.panda.id/dashboard/project/</a:t>
              </a:r>
              <a:r>
                <a:rPr lang="en-US" sz="500" dirty="0" err="1" smtClean="0">
                  <a:solidFill>
                    <a:schemeClr val="bg1">
                      <a:lumMod val="85000"/>
                    </a:schemeClr>
                  </a:solidFill>
                </a:rPr>
                <a:t>key_pairs</a:t>
              </a:r>
              <a:endParaRPr lang="en-US" sz="500" dirty="0">
                <a:solidFill>
                  <a:schemeClr val="bg1">
                    <a:lumMod val="85000"/>
                  </a:schemeClr>
                </a:solidFill>
              </a:endParaRPr>
            </a:p>
          </p:txBody>
        </p:sp>
      </p:grpSp>
    </p:spTree>
    <p:extLst>
      <p:ext uri="{BB962C8B-B14F-4D97-AF65-F5344CB8AC3E}">
        <p14:creationId xmlns:p14="http://schemas.microsoft.com/office/powerpoint/2010/main" val="364528179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35</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1" y="688630"/>
            <a:ext cx="5160839" cy="553998"/>
          </a:xfrm>
          <a:prstGeom prst="rect">
            <a:avLst/>
          </a:prstGeom>
        </p:spPr>
        <p:txBody>
          <a:bodyPr wrap="square">
            <a:spAutoFit/>
          </a:bodyPr>
          <a:lstStyle/>
          <a:p>
            <a:r>
              <a:rPr lang="en-US" b="1" i="1" dirty="0"/>
              <a:t>Create Key Pair</a:t>
            </a:r>
            <a:endParaRPr lang="en-US" dirty="0"/>
          </a:p>
          <a:p>
            <a:r>
              <a:rPr lang="en-US" sz="1200" dirty="0" err="1"/>
              <a:t>Silakan</a:t>
            </a:r>
            <a:r>
              <a:rPr lang="en-US" sz="1200" dirty="0"/>
              <a:t> </a:t>
            </a:r>
            <a:r>
              <a:rPr lang="en-US" sz="1200" dirty="0" err="1"/>
              <a:t>Klik</a:t>
            </a:r>
            <a:r>
              <a:rPr lang="en-US" sz="1200" dirty="0"/>
              <a:t> </a:t>
            </a:r>
            <a:r>
              <a:rPr lang="en-US" sz="1200" dirty="0" err="1"/>
              <a:t>pada</a:t>
            </a:r>
            <a:r>
              <a:rPr lang="en-US" sz="1200" dirty="0"/>
              <a:t> </a:t>
            </a:r>
            <a:r>
              <a:rPr lang="en-US" sz="1200" b="1" dirty="0"/>
              <a:t>Create Key Pair</a:t>
            </a:r>
            <a:r>
              <a:rPr lang="en-US" sz="1200" dirty="0"/>
              <a:t> </a:t>
            </a:r>
            <a:r>
              <a:rPr lang="en-US" sz="1200" dirty="0" err="1"/>
              <a:t>lalu</a:t>
            </a:r>
            <a:r>
              <a:rPr lang="en-US" sz="1200" dirty="0"/>
              <a:t> </a:t>
            </a:r>
            <a:r>
              <a:rPr lang="en-US" sz="1200" dirty="0" err="1"/>
              <a:t>isi</a:t>
            </a:r>
            <a:r>
              <a:rPr lang="en-US" sz="1200" dirty="0"/>
              <a:t> </a:t>
            </a:r>
            <a:r>
              <a:rPr lang="en-US" sz="1200" dirty="0" err="1"/>
              <a:t>nama</a:t>
            </a:r>
            <a:r>
              <a:rPr lang="en-US" sz="1200" dirty="0"/>
              <a:t> </a:t>
            </a:r>
            <a:r>
              <a:rPr lang="en-US" sz="1200" dirty="0" err="1"/>
              <a:t>keypair</a:t>
            </a:r>
            <a:endParaRPr lang="en-US" sz="1200" dirty="0"/>
          </a:p>
        </p:txBody>
      </p:sp>
      <p:sp>
        <p:nvSpPr>
          <p:cNvPr id="14" name="Rectangle 13"/>
          <p:cNvSpPr/>
          <p:nvPr/>
        </p:nvSpPr>
        <p:spPr>
          <a:xfrm>
            <a:off x="143301" y="263304"/>
            <a:ext cx="1709892" cy="369332"/>
          </a:xfrm>
          <a:prstGeom prst="rect">
            <a:avLst/>
          </a:prstGeom>
        </p:spPr>
        <p:txBody>
          <a:bodyPr wrap="none">
            <a:spAutoFit/>
          </a:bodyPr>
          <a:lstStyle/>
          <a:p>
            <a:r>
              <a:rPr lang="en-US" b="1" dirty="0">
                <a:solidFill>
                  <a:srgbClr val="002060"/>
                </a:solidFill>
              </a:rPr>
              <a:t>Create </a:t>
            </a:r>
            <a:r>
              <a:rPr lang="en-US" b="1" dirty="0" smtClean="0">
                <a:solidFill>
                  <a:srgbClr val="002060"/>
                </a:solidFill>
              </a:rPr>
              <a:t>SSH Keys</a:t>
            </a:r>
            <a:endParaRPr lang="en-US" dirty="0"/>
          </a:p>
        </p:txBody>
      </p:sp>
      <p:pic>
        <p:nvPicPr>
          <p:cNvPr id="2" name="Picture 1"/>
          <p:cNvPicPr>
            <a:picLocks noChangeAspect="1"/>
          </p:cNvPicPr>
          <p:nvPr/>
        </p:nvPicPr>
        <p:blipFill>
          <a:blip r:embed="rId3"/>
          <a:stretch>
            <a:fillRect/>
          </a:stretch>
        </p:blipFill>
        <p:spPr>
          <a:xfrm>
            <a:off x="252663" y="1298622"/>
            <a:ext cx="5051477" cy="915189"/>
          </a:xfrm>
          <a:prstGeom prst="rect">
            <a:avLst/>
          </a:prstGeom>
        </p:spPr>
      </p:pic>
      <p:sp>
        <p:nvSpPr>
          <p:cNvPr id="8" name="Rectangle 7"/>
          <p:cNvSpPr/>
          <p:nvPr/>
        </p:nvSpPr>
        <p:spPr>
          <a:xfrm>
            <a:off x="252663" y="2348375"/>
            <a:ext cx="4139117" cy="461665"/>
          </a:xfrm>
          <a:prstGeom prst="rect">
            <a:avLst/>
          </a:prstGeom>
        </p:spPr>
        <p:txBody>
          <a:bodyPr wrap="square">
            <a:spAutoFit/>
          </a:bodyPr>
          <a:lstStyle/>
          <a:p>
            <a:pPr algn="just"/>
            <a:r>
              <a:rPr lang="en-US" sz="1200" dirty="0" err="1"/>
              <a:t>silakan</a:t>
            </a:r>
            <a:r>
              <a:rPr lang="en-US" sz="1200" dirty="0"/>
              <a:t> </a:t>
            </a:r>
            <a:r>
              <a:rPr lang="en-US" sz="1200" dirty="0" err="1"/>
              <a:t>klik</a:t>
            </a:r>
            <a:r>
              <a:rPr lang="en-US" sz="1200" dirty="0"/>
              <a:t> Create Key Pair, </a:t>
            </a:r>
            <a:r>
              <a:rPr lang="en-US" sz="1200" dirty="0" err="1"/>
              <a:t>setelah</a:t>
            </a:r>
            <a:r>
              <a:rPr lang="en-US" sz="1200" dirty="0"/>
              <a:t> </a:t>
            </a:r>
            <a:r>
              <a:rPr lang="en-US" sz="1200" dirty="0" err="1"/>
              <a:t>nya</a:t>
            </a:r>
            <a:r>
              <a:rPr lang="en-US" sz="1200" dirty="0"/>
              <a:t> </a:t>
            </a:r>
            <a:r>
              <a:rPr lang="en-US" sz="1200" dirty="0" err="1"/>
              <a:t>akan</a:t>
            </a:r>
            <a:r>
              <a:rPr lang="en-US" sz="1200" dirty="0"/>
              <a:t> </a:t>
            </a:r>
            <a:r>
              <a:rPr lang="en-US" sz="1200" dirty="0" err="1"/>
              <a:t>muncul</a:t>
            </a:r>
            <a:r>
              <a:rPr lang="en-US" sz="1200" dirty="0"/>
              <a:t> pop </a:t>
            </a:r>
            <a:r>
              <a:rPr lang="en-US" sz="1200" dirty="0" err="1"/>
              <a:t>seperti</a:t>
            </a:r>
            <a:r>
              <a:rPr lang="en-US" sz="1200" dirty="0"/>
              <a:t> </a:t>
            </a:r>
            <a:r>
              <a:rPr lang="en-US" sz="1200" dirty="0" err="1"/>
              <a:t>Anda</a:t>
            </a:r>
            <a:r>
              <a:rPr lang="en-US" sz="1200" dirty="0"/>
              <a:t>, </a:t>
            </a:r>
            <a:r>
              <a:rPr lang="en-US" sz="1200" dirty="0" err="1"/>
              <a:t>silakan</a:t>
            </a:r>
            <a:r>
              <a:rPr lang="en-US" sz="1200" dirty="0"/>
              <a:t> download key pair </a:t>
            </a:r>
            <a:r>
              <a:rPr lang="en-US" sz="1200" dirty="0" err="1"/>
              <a:t>nya</a:t>
            </a:r>
            <a:r>
              <a:rPr lang="en-US" sz="1200" dirty="0"/>
              <a:t>.</a:t>
            </a:r>
          </a:p>
        </p:txBody>
      </p:sp>
      <p:grpSp>
        <p:nvGrpSpPr>
          <p:cNvPr id="7" name="Group 6"/>
          <p:cNvGrpSpPr/>
          <p:nvPr/>
        </p:nvGrpSpPr>
        <p:grpSpPr>
          <a:xfrm>
            <a:off x="252663" y="3183019"/>
            <a:ext cx="5051477" cy="2231067"/>
            <a:chOff x="252663" y="2810040"/>
            <a:chExt cx="5051477" cy="2231067"/>
          </a:xfrm>
        </p:grpSpPr>
        <p:pic>
          <p:nvPicPr>
            <p:cNvPr id="3" name="Picture 2"/>
            <p:cNvPicPr>
              <a:picLocks noChangeAspect="1"/>
            </p:cNvPicPr>
            <p:nvPr/>
          </p:nvPicPr>
          <p:blipFill>
            <a:blip r:embed="rId4"/>
            <a:stretch>
              <a:fillRect/>
            </a:stretch>
          </p:blipFill>
          <p:spPr>
            <a:xfrm>
              <a:off x="252663" y="2810040"/>
              <a:ext cx="5051477" cy="2231067"/>
            </a:xfrm>
            <a:prstGeom prst="rect">
              <a:avLst/>
            </a:prstGeom>
          </p:spPr>
        </p:pic>
        <p:sp>
          <p:nvSpPr>
            <p:cNvPr id="12" name="Rectangle 11"/>
            <p:cNvSpPr/>
            <p:nvPr/>
          </p:nvSpPr>
          <p:spPr>
            <a:xfrm>
              <a:off x="1240717" y="2870774"/>
              <a:ext cx="2200315" cy="169277"/>
            </a:xfrm>
            <a:prstGeom prst="rect">
              <a:avLst/>
            </a:prstGeom>
          </p:spPr>
          <p:txBody>
            <a:bodyPr wrap="square">
              <a:spAutoFit/>
            </a:bodyPr>
            <a:lstStyle/>
            <a:p>
              <a:pPr algn="just"/>
              <a:r>
                <a:rPr lang="en-US" sz="500" dirty="0" smtClean="0">
                  <a:solidFill>
                    <a:schemeClr val="bg1">
                      <a:lumMod val="85000"/>
                    </a:schemeClr>
                  </a:solidFill>
                </a:rPr>
                <a:t>Openstack.panda.id/dashboard/project/</a:t>
              </a:r>
              <a:r>
                <a:rPr lang="en-US" sz="500" dirty="0" err="1" smtClean="0">
                  <a:solidFill>
                    <a:schemeClr val="bg1">
                      <a:lumMod val="85000"/>
                    </a:schemeClr>
                  </a:solidFill>
                </a:rPr>
                <a:t>key_pairs</a:t>
              </a:r>
              <a:endParaRPr lang="en-US" sz="500" dirty="0">
                <a:solidFill>
                  <a:schemeClr val="bg1">
                    <a:lumMod val="85000"/>
                  </a:schemeClr>
                </a:solidFill>
              </a:endParaRPr>
            </a:p>
          </p:txBody>
        </p:sp>
      </p:grpSp>
      <p:sp>
        <p:nvSpPr>
          <p:cNvPr id="15" name="Rectangle 14"/>
          <p:cNvSpPr/>
          <p:nvPr/>
        </p:nvSpPr>
        <p:spPr>
          <a:xfrm>
            <a:off x="252663" y="2810040"/>
            <a:ext cx="3149091" cy="246221"/>
          </a:xfrm>
          <a:prstGeom prst="rect">
            <a:avLst/>
          </a:prstGeom>
        </p:spPr>
        <p:txBody>
          <a:bodyPr wrap="square">
            <a:spAutoFit/>
          </a:bodyPr>
          <a:lstStyle/>
          <a:p>
            <a:pPr algn="just"/>
            <a:r>
              <a:rPr lang="en-US" sz="1000" dirty="0" smtClean="0">
                <a:solidFill>
                  <a:srgbClr val="0070C0"/>
                </a:solidFill>
              </a:rPr>
              <a:t>Openstack.panda.id/dashboard/project/</a:t>
            </a:r>
            <a:r>
              <a:rPr lang="en-US" sz="1000" dirty="0" err="1" smtClean="0">
                <a:solidFill>
                  <a:srgbClr val="0070C0"/>
                </a:solidFill>
              </a:rPr>
              <a:t>key_pairs</a:t>
            </a:r>
            <a:endParaRPr lang="en-US" sz="1000" dirty="0">
              <a:solidFill>
                <a:srgbClr val="0070C0"/>
              </a:solidFill>
            </a:endParaRPr>
          </a:p>
        </p:txBody>
      </p:sp>
    </p:spTree>
    <p:extLst>
      <p:ext uri="{BB962C8B-B14F-4D97-AF65-F5344CB8AC3E}">
        <p14:creationId xmlns:p14="http://schemas.microsoft.com/office/powerpoint/2010/main" val="1586638533"/>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8172" y="1941871"/>
            <a:ext cx="4748568" cy="994172"/>
          </a:xfrm>
        </p:spPr>
        <p:txBody>
          <a:bodyPr>
            <a:normAutofit fontScale="90000"/>
          </a:bodyPr>
          <a:lstStyle/>
          <a:p>
            <a:pPr marL="457200" indent="-457200">
              <a:buFont typeface="Wingdings" panose="05000000000000000000" pitchFamily="2" charset="2"/>
              <a:buChar char="ü"/>
            </a:pPr>
            <a:r>
              <a:rPr lang="en-US" dirty="0" err="1" smtClean="0">
                <a:solidFill>
                  <a:srgbClr val="002060"/>
                </a:solidFill>
              </a:rPr>
              <a:t>Menambah</a:t>
            </a:r>
            <a:r>
              <a:rPr lang="en-US" dirty="0" smtClean="0">
                <a:solidFill>
                  <a:srgbClr val="002060"/>
                </a:solidFill>
              </a:rPr>
              <a:t> Security</a:t>
            </a:r>
            <a:br>
              <a:rPr lang="en-US" dirty="0" smtClean="0">
                <a:solidFill>
                  <a:srgbClr val="002060"/>
                </a:solidFill>
              </a:rPr>
            </a:br>
            <a:r>
              <a:rPr lang="en-US" dirty="0">
                <a:solidFill>
                  <a:srgbClr val="002060"/>
                </a:solidFill>
              </a:rPr>
              <a:t/>
            </a:r>
            <a:br>
              <a:rPr lang="en-US" dirty="0">
                <a:solidFill>
                  <a:srgbClr val="002060"/>
                </a:solidFill>
              </a:rPr>
            </a:br>
            <a:r>
              <a:rPr lang="en-US" dirty="0" smtClean="0">
                <a:solidFill>
                  <a:srgbClr val="002060"/>
                </a:solidFill>
              </a:rPr>
              <a:t>Cre</a:t>
            </a:r>
            <a:r>
              <a:rPr lang="en-US" b="1" dirty="0" smtClean="0">
                <a:solidFill>
                  <a:srgbClr val="002060"/>
                </a:solidFill>
              </a:rPr>
              <a:t>ate Security Group</a:t>
            </a:r>
            <a:endParaRPr lang="en-US" b="1" dirty="0">
              <a:solidFill>
                <a:srgbClr val="00206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36</a:t>
            </a:fld>
            <a:endParaRPr lang="en-US" dirty="0"/>
          </a:p>
        </p:txBody>
      </p:sp>
      <p:sp>
        <p:nvSpPr>
          <p:cNvPr id="5" name="Rectangle 4"/>
          <p:cNvSpPr/>
          <p:nvPr/>
        </p:nvSpPr>
        <p:spPr>
          <a:xfrm>
            <a:off x="133484" y="190619"/>
            <a:ext cx="6066430" cy="1477328"/>
          </a:xfrm>
          <a:prstGeom prst="rect">
            <a:avLst/>
          </a:prstGeom>
        </p:spPr>
        <p:txBody>
          <a:bodyPr wrap="square">
            <a:spAutoFit/>
          </a:bodyPr>
          <a:lstStyle/>
          <a:p>
            <a:pPr marL="285750" indent="-285750">
              <a:buFont typeface="Wingdings" panose="05000000000000000000" pitchFamily="2" charset="2"/>
              <a:buChar char="ü"/>
            </a:pPr>
            <a:r>
              <a:rPr lang="en-US" b="1" dirty="0" err="1">
                <a:solidFill>
                  <a:schemeClr val="bg1">
                    <a:lumMod val="85000"/>
                  </a:schemeClr>
                </a:solidFill>
              </a:rPr>
              <a:t>Openstack</a:t>
            </a:r>
            <a:r>
              <a:rPr lang="en-US" b="1" dirty="0">
                <a:solidFill>
                  <a:schemeClr val="bg1">
                    <a:lumMod val="85000"/>
                  </a:schemeClr>
                </a:solidFill>
              </a:rPr>
              <a:t>: Upload Image </a:t>
            </a:r>
            <a:r>
              <a:rPr lang="en-US" b="1" dirty="0" err="1">
                <a:solidFill>
                  <a:schemeClr val="bg1">
                    <a:lumMod val="85000"/>
                  </a:schemeClr>
                </a:solidFill>
              </a:rPr>
              <a:t>atau</a:t>
            </a:r>
            <a:r>
              <a:rPr lang="en-US" b="1" dirty="0">
                <a:solidFill>
                  <a:schemeClr val="bg1">
                    <a:lumMod val="85000"/>
                  </a:schemeClr>
                </a:solidFill>
              </a:rPr>
              <a:t> ISO</a:t>
            </a:r>
          </a:p>
          <a:p>
            <a:pPr marL="285750" indent="-285750">
              <a:buFont typeface="Wingdings" panose="05000000000000000000" pitchFamily="2" charset="2"/>
              <a:buChar char="ü"/>
            </a:pPr>
            <a:r>
              <a:rPr lang="en-US" b="1" dirty="0" err="1">
                <a:solidFill>
                  <a:schemeClr val="bg1">
                    <a:lumMod val="85000"/>
                  </a:schemeClr>
                </a:solidFill>
              </a:rPr>
              <a:t>Openstack</a:t>
            </a:r>
            <a:r>
              <a:rPr lang="en-US" b="1" dirty="0">
                <a:solidFill>
                  <a:schemeClr val="bg1">
                    <a:lumMod val="85000"/>
                  </a:schemeClr>
                </a:solidFill>
              </a:rPr>
              <a:t>: </a:t>
            </a:r>
            <a:r>
              <a:rPr lang="en-US" b="1" dirty="0" err="1">
                <a:solidFill>
                  <a:schemeClr val="bg1">
                    <a:lumMod val="85000"/>
                  </a:schemeClr>
                </a:solidFill>
              </a:rPr>
              <a:t>Membuat</a:t>
            </a:r>
            <a:r>
              <a:rPr lang="en-US" b="1" dirty="0">
                <a:solidFill>
                  <a:schemeClr val="bg1">
                    <a:lumMod val="85000"/>
                  </a:schemeClr>
                </a:solidFill>
              </a:rPr>
              <a:t> Network</a:t>
            </a:r>
          </a:p>
          <a:p>
            <a:pPr marL="285750" indent="-285750">
              <a:buFont typeface="Wingdings" panose="05000000000000000000" pitchFamily="2" charset="2"/>
              <a:buChar char="ü"/>
            </a:pPr>
            <a:r>
              <a:rPr lang="en-US" b="1" dirty="0" err="1">
                <a:solidFill>
                  <a:schemeClr val="bg1">
                    <a:lumMod val="85000"/>
                  </a:schemeClr>
                </a:solidFill>
              </a:rPr>
              <a:t>Openstack</a:t>
            </a:r>
            <a:r>
              <a:rPr lang="en-US" b="1" dirty="0">
                <a:solidFill>
                  <a:schemeClr val="bg1">
                    <a:lumMod val="85000"/>
                  </a:schemeClr>
                </a:solidFill>
              </a:rPr>
              <a:t>: </a:t>
            </a:r>
            <a:r>
              <a:rPr lang="en-US" b="1" dirty="0" err="1">
                <a:solidFill>
                  <a:schemeClr val="bg1">
                    <a:lumMod val="85000"/>
                  </a:schemeClr>
                </a:solidFill>
              </a:rPr>
              <a:t>Membuat</a:t>
            </a:r>
            <a:r>
              <a:rPr lang="en-US" b="1" dirty="0">
                <a:solidFill>
                  <a:schemeClr val="bg1">
                    <a:lumMod val="85000"/>
                  </a:schemeClr>
                </a:solidFill>
              </a:rPr>
              <a:t> Router</a:t>
            </a:r>
          </a:p>
          <a:p>
            <a:pPr marL="285750" indent="-285750">
              <a:buFont typeface="Wingdings" panose="05000000000000000000" pitchFamily="2" charset="2"/>
              <a:buChar char="ü"/>
            </a:pPr>
            <a:r>
              <a:rPr lang="en-US" b="1" dirty="0" err="1">
                <a:solidFill>
                  <a:schemeClr val="bg1">
                    <a:lumMod val="75000"/>
                  </a:schemeClr>
                </a:solidFill>
              </a:rPr>
              <a:t>Openstack</a:t>
            </a:r>
            <a:r>
              <a:rPr lang="en-US" b="1" dirty="0">
                <a:solidFill>
                  <a:schemeClr val="bg1">
                    <a:lumMod val="75000"/>
                  </a:schemeClr>
                </a:solidFill>
              </a:rPr>
              <a:t>: </a:t>
            </a:r>
            <a:r>
              <a:rPr lang="en-US" b="1" dirty="0" err="1">
                <a:solidFill>
                  <a:schemeClr val="bg1">
                    <a:lumMod val="75000"/>
                  </a:schemeClr>
                </a:solidFill>
              </a:rPr>
              <a:t>Menambahkan</a:t>
            </a:r>
            <a:r>
              <a:rPr lang="en-US" b="1" dirty="0">
                <a:solidFill>
                  <a:schemeClr val="bg1">
                    <a:lumMod val="75000"/>
                  </a:schemeClr>
                </a:solidFill>
              </a:rPr>
              <a:t> SSH Key</a:t>
            </a:r>
          </a:p>
          <a:p>
            <a:pPr marL="285750" indent="-285750">
              <a:buFont typeface="Wingdings" panose="05000000000000000000" pitchFamily="2" charset="2"/>
              <a:buChar char="ü"/>
            </a:pPr>
            <a:r>
              <a:rPr lang="en-US" b="1" dirty="0" err="1">
                <a:solidFill>
                  <a:srgbClr val="002060"/>
                </a:solidFill>
              </a:rPr>
              <a:t>Openstack</a:t>
            </a:r>
            <a:r>
              <a:rPr lang="en-US" b="1" dirty="0">
                <a:solidFill>
                  <a:srgbClr val="002060"/>
                </a:solidFill>
              </a:rPr>
              <a:t>: </a:t>
            </a:r>
            <a:r>
              <a:rPr lang="en-US" b="1" dirty="0" err="1">
                <a:solidFill>
                  <a:srgbClr val="002060"/>
                </a:solidFill>
              </a:rPr>
              <a:t>Menambah</a:t>
            </a:r>
            <a:r>
              <a:rPr lang="en-US" b="1" dirty="0">
                <a:solidFill>
                  <a:srgbClr val="002060"/>
                </a:solidFill>
              </a:rPr>
              <a:t> </a:t>
            </a:r>
            <a:r>
              <a:rPr lang="en-US" b="1" dirty="0" err="1">
                <a:solidFill>
                  <a:srgbClr val="002060"/>
                </a:solidFill>
              </a:rPr>
              <a:t>dan</a:t>
            </a:r>
            <a:r>
              <a:rPr lang="en-US" b="1" dirty="0">
                <a:solidFill>
                  <a:srgbClr val="002060"/>
                </a:solidFill>
              </a:rPr>
              <a:t> </a:t>
            </a:r>
            <a:r>
              <a:rPr lang="en-US" b="1" dirty="0" err="1">
                <a:solidFill>
                  <a:srgbClr val="002060"/>
                </a:solidFill>
              </a:rPr>
              <a:t>Menggunakan</a:t>
            </a:r>
            <a:r>
              <a:rPr lang="en-US" b="1" dirty="0">
                <a:solidFill>
                  <a:srgbClr val="002060"/>
                </a:solidFill>
              </a:rPr>
              <a:t> Security Group</a:t>
            </a:r>
          </a:p>
        </p:txBody>
      </p:sp>
    </p:spTree>
    <p:extLst>
      <p:ext uri="{BB962C8B-B14F-4D97-AF65-F5344CB8AC3E}">
        <p14:creationId xmlns:p14="http://schemas.microsoft.com/office/powerpoint/2010/main" val="260442027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37</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1" y="632636"/>
            <a:ext cx="3791025" cy="1538883"/>
          </a:xfrm>
          <a:prstGeom prst="rect">
            <a:avLst/>
          </a:prstGeom>
        </p:spPr>
        <p:txBody>
          <a:bodyPr wrap="square">
            <a:spAutoFit/>
          </a:bodyPr>
          <a:lstStyle/>
          <a:p>
            <a:pPr algn="just"/>
            <a:r>
              <a:rPr lang="en-US" sz="1200" dirty="0" err="1"/>
              <a:t>M</a:t>
            </a:r>
            <a:r>
              <a:rPr lang="en-US" sz="1200" dirty="0" err="1" smtClean="0"/>
              <a:t>embuat</a:t>
            </a:r>
            <a:r>
              <a:rPr lang="en-US" sz="1200" dirty="0" smtClean="0"/>
              <a:t> </a:t>
            </a:r>
            <a:r>
              <a:rPr lang="en-US" sz="1200" dirty="0" err="1"/>
              <a:t>dan</a:t>
            </a:r>
            <a:r>
              <a:rPr lang="en-US" sz="1200" dirty="0"/>
              <a:t> </a:t>
            </a:r>
            <a:r>
              <a:rPr lang="en-US" sz="1200" dirty="0" err="1"/>
              <a:t>menggunakan</a:t>
            </a:r>
            <a:r>
              <a:rPr lang="en-US" sz="1200" dirty="0"/>
              <a:t> security group </a:t>
            </a:r>
            <a:r>
              <a:rPr lang="en-US" sz="1200" dirty="0" err="1"/>
              <a:t>dapat</a:t>
            </a:r>
            <a:r>
              <a:rPr lang="en-US" sz="1200" dirty="0"/>
              <a:t> </a:t>
            </a:r>
            <a:r>
              <a:rPr lang="en-US" sz="1200" dirty="0" err="1"/>
              <a:t>melalui</a:t>
            </a:r>
            <a:r>
              <a:rPr lang="en-US" sz="1200" dirty="0"/>
              <a:t> horizon </a:t>
            </a:r>
            <a:r>
              <a:rPr lang="en-US" sz="1200" dirty="0" err="1"/>
              <a:t>atau</a:t>
            </a:r>
            <a:r>
              <a:rPr lang="en-US" sz="1200" dirty="0"/>
              <a:t> via CLI. </a:t>
            </a:r>
            <a:r>
              <a:rPr lang="en-US" sz="1200" dirty="0" err="1"/>
              <a:t>Disini</a:t>
            </a:r>
            <a:r>
              <a:rPr lang="en-US" sz="1200" dirty="0"/>
              <a:t> kami </a:t>
            </a:r>
            <a:r>
              <a:rPr lang="en-US" sz="1200" dirty="0" err="1"/>
              <a:t>akan</a:t>
            </a:r>
            <a:r>
              <a:rPr lang="en-US" sz="1200" dirty="0"/>
              <a:t> </a:t>
            </a:r>
            <a:r>
              <a:rPr lang="en-US" sz="1200" dirty="0" err="1"/>
              <a:t>menggunakan</a:t>
            </a:r>
            <a:r>
              <a:rPr lang="en-US" sz="1200" dirty="0"/>
              <a:t> horizon </a:t>
            </a:r>
            <a:r>
              <a:rPr lang="en-US" sz="1200" dirty="0" err="1"/>
              <a:t>untuk</a:t>
            </a:r>
            <a:r>
              <a:rPr lang="en-US" sz="1200" dirty="0"/>
              <a:t> </a:t>
            </a:r>
            <a:r>
              <a:rPr lang="en-US" sz="1200" dirty="0" err="1"/>
              <a:t>menambahkan</a:t>
            </a:r>
            <a:r>
              <a:rPr lang="en-US" sz="1200" dirty="0"/>
              <a:t> security group, </a:t>
            </a:r>
            <a:r>
              <a:rPr lang="en-US" sz="1200" dirty="0" err="1"/>
              <a:t>berikut</a:t>
            </a:r>
            <a:r>
              <a:rPr lang="en-US" sz="1200" dirty="0"/>
              <a:t> </a:t>
            </a:r>
            <a:r>
              <a:rPr lang="en-US" sz="1200" dirty="0" err="1"/>
              <a:t>tahapannya</a:t>
            </a:r>
            <a:r>
              <a:rPr lang="en-US" sz="1200" dirty="0" smtClean="0"/>
              <a:t>:</a:t>
            </a:r>
          </a:p>
          <a:p>
            <a:endParaRPr lang="en-US" dirty="0"/>
          </a:p>
          <a:p>
            <a:r>
              <a:rPr lang="en-US" sz="1400" i="1" dirty="0"/>
              <a:t>Login Horizon &gt;&gt; Project &gt;&gt; Network &gt;&gt; Security Group &gt;&gt; +Create Security Group</a:t>
            </a:r>
            <a:endParaRPr lang="en-US" sz="1400" dirty="0"/>
          </a:p>
        </p:txBody>
      </p:sp>
      <p:sp>
        <p:nvSpPr>
          <p:cNvPr id="9" name="Rectangle 8"/>
          <p:cNvSpPr/>
          <p:nvPr/>
        </p:nvSpPr>
        <p:spPr>
          <a:xfrm>
            <a:off x="4451684" y="412452"/>
            <a:ext cx="3790074" cy="523220"/>
          </a:xfrm>
          <a:prstGeom prst="rect">
            <a:avLst/>
          </a:prstGeom>
        </p:spPr>
        <p:txBody>
          <a:bodyPr wrap="square">
            <a:spAutoFit/>
          </a:bodyPr>
          <a:lstStyle/>
          <a:p>
            <a:pPr algn="just"/>
            <a:r>
              <a:rPr lang="en-US" sz="1400" dirty="0"/>
              <a:t>Isi </a:t>
            </a:r>
            <a:r>
              <a:rPr lang="en-US" sz="1400" dirty="0" err="1"/>
              <a:t>nama</a:t>
            </a:r>
            <a:r>
              <a:rPr lang="en-US" sz="1400" dirty="0"/>
              <a:t> security group </a:t>
            </a:r>
            <a:r>
              <a:rPr lang="en-US" sz="1400" dirty="0" err="1"/>
              <a:t>Anda</a:t>
            </a:r>
            <a:r>
              <a:rPr lang="en-US" sz="1400" dirty="0"/>
              <a:t> </a:t>
            </a:r>
            <a:r>
              <a:rPr lang="en-US" sz="1400" dirty="0" err="1"/>
              <a:t>lalu</a:t>
            </a:r>
            <a:r>
              <a:rPr lang="en-US" sz="1400" dirty="0"/>
              <a:t> </a:t>
            </a:r>
            <a:r>
              <a:rPr lang="en-US" sz="1400" dirty="0" err="1"/>
              <a:t>klik</a:t>
            </a:r>
            <a:r>
              <a:rPr lang="en-US" sz="1400" dirty="0"/>
              <a:t> Create Security Group</a:t>
            </a:r>
          </a:p>
        </p:txBody>
      </p:sp>
      <p:sp>
        <p:nvSpPr>
          <p:cNvPr id="14" name="Rectangle 13"/>
          <p:cNvSpPr/>
          <p:nvPr/>
        </p:nvSpPr>
        <p:spPr>
          <a:xfrm>
            <a:off x="143301" y="263304"/>
            <a:ext cx="2360839" cy="369332"/>
          </a:xfrm>
          <a:prstGeom prst="rect">
            <a:avLst/>
          </a:prstGeom>
        </p:spPr>
        <p:txBody>
          <a:bodyPr wrap="none">
            <a:spAutoFit/>
          </a:bodyPr>
          <a:lstStyle/>
          <a:p>
            <a:r>
              <a:rPr lang="en-US" b="1" dirty="0">
                <a:solidFill>
                  <a:srgbClr val="002060"/>
                </a:solidFill>
              </a:rPr>
              <a:t>Create Security </a:t>
            </a:r>
            <a:r>
              <a:rPr lang="en-US" b="1" dirty="0" smtClean="0">
                <a:solidFill>
                  <a:srgbClr val="002060"/>
                </a:solidFill>
              </a:rPr>
              <a:t>Group</a:t>
            </a:r>
            <a:endParaRPr lang="en-US" dirty="0"/>
          </a:p>
        </p:txBody>
      </p:sp>
      <p:sp>
        <p:nvSpPr>
          <p:cNvPr id="7" name="Rectangle 6"/>
          <p:cNvSpPr/>
          <p:nvPr/>
        </p:nvSpPr>
        <p:spPr>
          <a:xfrm>
            <a:off x="143301" y="2171519"/>
            <a:ext cx="3149091" cy="246221"/>
          </a:xfrm>
          <a:prstGeom prst="rect">
            <a:avLst/>
          </a:prstGeom>
        </p:spPr>
        <p:txBody>
          <a:bodyPr wrap="square">
            <a:spAutoFit/>
          </a:bodyPr>
          <a:lstStyle/>
          <a:p>
            <a:pPr algn="just"/>
            <a:r>
              <a:rPr lang="en-US" sz="1000" dirty="0" smtClean="0">
                <a:solidFill>
                  <a:srgbClr val="0070C0"/>
                </a:solidFill>
              </a:rPr>
              <a:t>Openstack.panda.id/dashboard/project/</a:t>
            </a:r>
            <a:r>
              <a:rPr lang="en-US" sz="1000" dirty="0" err="1" smtClean="0">
                <a:solidFill>
                  <a:srgbClr val="0070C0"/>
                </a:solidFill>
              </a:rPr>
              <a:t>security_groups</a:t>
            </a:r>
            <a:r>
              <a:rPr lang="en-US" sz="1000" dirty="0" smtClean="0">
                <a:solidFill>
                  <a:srgbClr val="0070C0"/>
                </a:solidFill>
              </a:rPr>
              <a:t>/</a:t>
            </a:r>
            <a:endParaRPr lang="en-US" sz="1000" dirty="0">
              <a:solidFill>
                <a:srgbClr val="0070C0"/>
              </a:solidFill>
            </a:endParaRPr>
          </a:p>
        </p:txBody>
      </p:sp>
      <p:grpSp>
        <p:nvGrpSpPr>
          <p:cNvPr id="3" name="Group 2"/>
          <p:cNvGrpSpPr/>
          <p:nvPr/>
        </p:nvGrpSpPr>
        <p:grpSpPr>
          <a:xfrm>
            <a:off x="240631" y="2458005"/>
            <a:ext cx="4075788" cy="1716954"/>
            <a:chOff x="240631" y="2458005"/>
            <a:chExt cx="4075788" cy="1716954"/>
          </a:xfrm>
        </p:grpSpPr>
        <p:pic>
          <p:nvPicPr>
            <p:cNvPr id="2" name="Picture 1"/>
            <p:cNvPicPr>
              <a:picLocks noChangeAspect="1"/>
            </p:cNvPicPr>
            <p:nvPr/>
          </p:nvPicPr>
          <p:blipFill>
            <a:blip r:embed="rId3"/>
            <a:stretch>
              <a:fillRect/>
            </a:stretch>
          </p:blipFill>
          <p:spPr>
            <a:xfrm>
              <a:off x="240631" y="2458005"/>
              <a:ext cx="4075788" cy="1716954"/>
            </a:xfrm>
            <a:prstGeom prst="rect">
              <a:avLst/>
            </a:prstGeom>
          </p:spPr>
        </p:pic>
        <p:sp>
          <p:nvSpPr>
            <p:cNvPr id="10" name="Rectangle 9"/>
            <p:cNvSpPr/>
            <p:nvPr/>
          </p:nvSpPr>
          <p:spPr>
            <a:xfrm>
              <a:off x="1037771" y="2527561"/>
              <a:ext cx="1801682" cy="169277"/>
            </a:xfrm>
            <a:prstGeom prst="rect">
              <a:avLst/>
            </a:prstGeom>
          </p:spPr>
          <p:txBody>
            <a:bodyPr wrap="square">
              <a:spAutoFit/>
            </a:bodyPr>
            <a:lstStyle/>
            <a:p>
              <a:pPr algn="just"/>
              <a:r>
                <a:rPr lang="en-US" sz="500" dirty="0" smtClean="0">
                  <a:solidFill>
                    <a:schemeClr val="bg1">
                      <a:lumMod val="75000"/>
                    </a:schemeClr>
                  </a:solidFill>
                </a:rPr>
                <a:t>Openstack.panda.id/dashboard/project/</a:t>
              </a:r>
              <a:r>
                <a:rPr lang="en-US" sz="500" dirty="0" err="1" smtClean="0">
                  <a:solidFill>
                    <a:schemeClr val="bg1">
                      <a:lumMod val="75000"/>
                    </a:schemeClr>
                  </a:solidFill>
                </a:rPr>
                <a:t>security_groups</a:t>
              </a:r>
              <a:r>
                <a:rPr lang="en-US" sz="500" dirty="0" smtClean="0">
                  <a:solidFill>
                    <a:schemeClr val="bg1">
                      <a:lumMod val="75000"/>
                    </a:schemeClr>
                  </a:solidFill>
                </a:rPr>
                <a:t>/</a:t>
              </a:r>
              <a:endParaRPr lang="en-US" sz="500" dirty="0">
                <a:solidFill>
                  <a:schemeClr val="bg1">
                    <a:lumMod val="75000"/>
                  </a:schemeClr>
                </a:solidFill>
              </a:endParaRPr>
            </a:p>
          </p:txBody>
        </p:sp>
      </p:grpSp>
      <p:pic>
        <p:nvPicPr>
          <p:cNvPr id="8" name="Picture 7"/>
          <p:cNvPicPr>
            <a:picLocks noChangeAspect="1"/>
          </p:cNvPicPr>
          <p:nvPr/>
        </p:nvPicPr>
        <p:blipFill>
          <a:blip r:embed="rId4"/>
          <a:stretch>
            <a:fillRect/>
          </a:stretch>
        </p:blipFill>
        <p:spPr>
          <a:xfrm>
            <a:off x="4591949" y="894220"/>
            <a:ext cx="4443767" cy="1633341"/>
          </a:xfrm>
          <a:prstGeom prst="rect">
            <a:avLst/>
          </a:prstGeom>
        </p:spPr>
      </p:pic>
      <p:sp>
        <p:nvSpPr>
          <p:cNvPr id="12" name="Rectangle 11"/>
          <p:cNvSpPr/>
          <p:nvPr/>
        </p:nvSpPr>
        <p:spPr>
          <a:xfrm>
            <a:off x="4591950" y="2612199"/>
            <a:ext cx="3790074" cy="276999"/>
          </a:xfrm>
          <a:prstGeom prst="rect">
            <a:avLst/>
          </a:prstGeom>
        </p:spPr>
        <p:txBody>
          <a:bodyPr wrap="square">
            <a:spAutoFit/>
          </a:bodyPr>
          <a:lstStyle/>
          <a:p>
            <a:pPr algn="just"/>
            <a:r>
              <a:rPr lang="en-US" sz="1200" dirty="0" err="1"/>
              <a:t>Saat</a:t>
            </a:r>
            <a:r>
              <a:rPr lang="en-US" sz="1200" dirty="0"/>
              <a:t> </a:t>
            </a:r>
            <a:r>
              <a:rPr lang="en-US" sz="1200" dirty="0" err="1"/>
              <a:t>ini</a:t>
            </a:r>
            <a:r>
              <a:rPr lang="en-US" sz="1200" dirty="0"/>
              <a:t> security </a:t>
            </a:r>
            <a:r>
              <a:rPr lang="en-US" sz="1200" dirty="0" err="1"/>
              <a:t>grouup</a:t>
            </a:r>
            <a:r>
              <a:rPr lang="en-US" sz="1200" dirty="0"/>
              <a:t> </a:t>
            </a:r>
            <a:r>
              <a:rPr lang="en-US" sz="1200" dirty="0" err="1"/>
              <a:t>sudah</a:t>
            </a:r>
            <a:r>
              <a:rPr lang="en-US" sz="1200" dirty="0"/>
              <a:t> </a:t>
            </a:r>
            <a:r>
              <a:rPr lang="en-US" sz="1200" dirty="0" err="1"/>
              <a:t>berhasil</a:t>
            </a:r>
            <a:endParaRPr lang="en-US" sz="1200" dirty="0"/>
          </a:p>
        </p:txBody>
      </p:sp>
      <p:grpSp>
        <p:nvGrpSpPr>
          <p:cNvPr id="17" name="Group 16"/>
          <p:cNvGrpSpPr/>
          <p:nvPr/>
        </p:nvGrpSpPr>
        <p:grpSpPr>
          <a:xfrm>
            <a:off x="4591951" y="2987578"/>
            <a:ext cx="4443766" cy="1779685"/>
            <a:chOff x="4591951" y="2987578"/>
            <a:chExt cx="4443766" cy="1779685"/>
          </a:xfrm>
        </p:grpSpPr>
        <p:pic>
          <p:nvPicPr>
            <p:cNvPr id="11" name="Picture 10"/>
            <p:cNvPicPr>
              <a:picLocks noChangeAspect="1"/>
            </p:cNvPicPr>
            <p:nvPr/>
          </p:nvPicPr>
          <p:blipFill>
            <a:blip r:embed="rId5"/>
            <a:stretch>
              <a:fillRect/>
            </a:stretch>
          </p:blipFill>
          <p:spPr>
            <a:xfrm>
              <a:off x="4591951" y="2987578"/>
              <a:ext cx="4443766" cy="1779685"/>
            </a:xfrm>
            <a:prstGeom prst="rect">
              <a:avLst/>
            </a:prstGeom>
          </p:spPr>
        </p:pic>
        <p:sp>
          <p:nvSpPr>
            <p:cNvPr id="16" name="Rectangle 15"/>
            <p:cNvSpPr/>
            <p:nvPr/>
          </p:nvSpPr>
          <p:spPr>
            <a:xfrm>
              <a:off x="5445880" y="3069480"/>
              <a:ext cx="1801682" cy="169277"/>
            </a:xfrm>
            <a:prstGeom prst="rect">
              <a:avLst/>
            </a:prstGeom>
          </p:spPr>
          <p:txBody>
            <a:bodyPr wrap="square">
              <a:spAutoFit/>
            </a:bodyPr>
            <a:lstStyle/>
            <a:p>
              <a:pPr algn="just"/>
              <a:r>
                <a:rPr lang="en-US" sz="500" dirty="0" smtClean="0">
                  <a:solidFill>
                    <a:schemeClr val="bg1">
                      <a:lumMod val="75000"/>
                    </a:schemeClr>
                  </a:solidFill>
                </a:rPr>
                <a:t>Openstack.panda.id/dashboard/project/</a:t>
              </a:r>
              <a:r>
                <a:rPr lang="en-US" sz="500" dirty="0" err="1" smtClean="0">
                  <a:solidFill>
                    <a:schemeClr val="bg1">
                      <a:lumMod val="75000"/>
                    </a:schemeClr>
                  </a:solidFill>
                </a:rPr>
                <a:t>security_groups</a:t>
              </a:r>
              <a:r>
                <a:rPr lang="en-US" sz="500" dirty="0" smtClean="0">
                  <a:solidFill>
                    <a:schemeClr val="bg1">
                      <a:lumMod val="75000"/>
                    </a:schemeClr>
                  </a:solidFill>
                </a:rPr>
                <a:t>/</a:t>
              </a:r>
              <a:endParaRPr lang="en-US" sz="500" dirty="0">
                <a:solidFill>
                  <a:schemeClr val="bg1">
                    <a:lumMod val="75000"/>
                  </a:schemeClr>
                </a:solidFill>
              </a:endParaRPr>
            </a:p>
          </p:txBody>
        </p:sp>
      </p:grpSp>
    </p:spTree>
    <p:extLst>
      <p:ext uri="{BB962C8B-B14F-4D97-AF65-F5344CB8AC3E}">
        <p14:creationId xmlns:p14="http://schemas.microsoft.com/office/powerpoint/2010/main" val="679635859"/>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38</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51309" y="716306"/>
            <a:ext cx="3791025" cy="1200329"/>
          </a:xfrm>
          <a:prstGeom prst="rect">
            <a:avLst/>
          </a:prstGeom>
        </p:spPr>
        <p:txBody>
          <a:bodyPr wrap="square">
            <a:spAutoFit/>
          </a:bodyPr>
          <a:lstStyle/>
          <a:p>
            <a:pPr algn="just"/>
            <a:r>
              <a:rPr lang="en-US" sz="1200" dirty="0" err="1" smtClean="0"/>
              <a:t>Terdapat</a:t>
            </a:r>
            <a:r>
              <a:rPr lang="en-US" sz="1200" dirty="0" smtClean="0"/>
              <a:t> </a:t>
            </a:r>
            <a:r>
              <a:rPr lang="en-US" sz="1200" dirty="0"/>
              <a:t>2 security group (default) </a:t>
            </a:r>
            <a:r>
              <a:rPr lang="en-US" sz="1200" dirty="0" err="1"/>
              <a:t>dan</a:t>
            </a:r>
            <a:r>
              <a:rPr lang="en-US" sz="1200" dirty="0"/>
              <a:t> security group yang </a:t>
            </a:r>
            <a:r>
              <a:rPr lang="en-US" sz="1200" dirty="0" err="1"/>
              <a:t>sudah</a:t>
            </a:r>
            <a:r>
              <a:rPr lang="en-US" sz="1200" dirty="0"/>
              <a:t> </a:t>
            </a:r>
            <a:r>
              <a:rPr lang="en-US" sz="1200" dirty="0" err="1"/>
              <a:t>dibuat</a:t>
            </a:r>
            <a:r>
              <a:rPr lang="en-US" sz="1200" dirty="0"/>
              <a:t> </a:t>
            </a:r>
            <a:r>
              <a:rPr lang="en-US" sz="1200" dirty="0" err="1"/>
              <a:t>sebelumnya</a:t>
            </a:r>
            <a:r>
              <a:rPr lang="en-US" sz="1200" dirty="0"/>
              <a:t>.</a:t>
            </a:r>
          </a:p>
          <a:p>
            <a:pPr algn="just"/>
            <a:r>
              <a:rPr lang="en-US" sz="1200" dirty="0" err="1"/>
              <a:t>Untuk</a:t>
            </a:r>
            <a:r>
              <a:rPr lang="en-US" sz="1200" dirty="0"/>
              <a:t> yang default </a:t>
            </a:r>
            <a:r>
              <a:rPr lang="en-US" sz="1200" dirty="0" err="1"/>
              <a:t>sebenarnya</a:t>
            </a:r>
            <a:r>
              <a:rPr lang="en-US" sz="1200" dirty="0"/>
              <a:t> </a:t>
            </a:r>
            <a:r>
              <a:rPr lang="en-US" sz="1200" dirty="0" err="1"/>
              <a:t>dapat</a:t>
            </a:r>
            <a:r>
              <a:rPr lang="en-US" sz="1200" dirty="0"/>
              <a:t> </a:t>
            </a:r>
            <a:r>
              <a:rPr lang="en-US" sz="1200" dirty="0" err="1"/>
              <a:t>Anda</a:t>
            </a:r>
            <a:r>
              <a:rPr lang="en-US" sz="1200" dirty="0"/>
              <a:t> </a:t>
            </a:r>
            <a:r>
              <a:rPr lang="en-US" sz="1200" dirty="0" err="1"/>
              <a:t>gunakan</a:t>
            </a:r>
            <a:r>
              <a:rPr lang="en-US" sz="1200" dirty="0"/>
              <a:t> </a:t>
            </a:r>
            <a:r>
              <a:rPr lang="en-US" sz="1200" dirty="0" err="1"/>
              <a:t>juga</a:t>
            </a:r>
            <a:r>
              <a:rPr lang="en-US" sz="1200" dirty="0"/>
              <a:t>. </a:t>
            </a:r>
            <a:r>
              <a:rPr lang="en-US" sz="1200" dirty="0" err="1"/>
              <a:t>Untuk</a:t>
            </a:r>
            <a:r>
              <a:rPr lang="en-US" sz="1200" dirty="0"/>
              <a:t> </a:t>
            </a:r>
            <a:r>
              <a:rPr lang="en-US" sz="1200" dirty="0" err="1"/>
              <a:t>menambahkan</a:t>
            </a:r>
            <a:r>
              <a:rPr lang="en-US" sz="1200" dirty="0"/>
              <a:t> port </a:t>
            </a:r>
            <a:r>
              <a:rPr lang="en-US" sz="1200" dirty="0" err="1"/>
              <a:t>atau</a:t>
            </a:r>
            <a:r>
              <a:rPr lang="en-US" sz="1200" dirty="0"/>
              <a:t> </a:t>
            </a:r>
            <a:r>
              <a:rPr lang="en-US" sz="1200" dirty="0" err="1"/>
              <a:t>menggunakan</a:t>
            </a:r>
            <a:r>
              <a:rPr lang="en-US" sz="1200" dirty="0"/>
              <a:t> security group </a:t>
            </a:r>
            <a:r>
              <a:rPr lang="en-US" sz="1200" dirty="0" err="1"/>
              <a:t>silakan</a:t>
            </a:r>
            <a:r>
              <a:rPr lang="en-US" sz="1200" dirty="0"/>
              <a:t> </a:t>
            </a:r>
            <a:r>
              <a:rPr lang="en-US" sz="1200" dirty="0" err="1"/>
              <a:t>klik</a:t>
            </a:r>
            <a:r>
              <a:rPr lang="en-US" sz="1200" dirty="0"/>
              <a:t> menu </a:t>
            </a:r>
            <a:r>
              <a:rPr lang="en-US" sz="1200" b="1" dirty="0"/>
              <a:t>Manage Rules</a:t>
            </a:r>
            <a:r>
              <a:rPr lang="en-US" sz="1200" dirty="0"/>
              <a:t> </a:t>
            </a:r>
            <a:r>
              <a:rPr lang="en-US" sz="1200" dirty="0" err="1"/>
              <a:t>pada</a:t>
            </a:r>
            <a:r>
              <a:rPr lang="en-US" sz="1200" dirty="0"/>
              <a:t> security group </a:t>
            </a:r>
            <a:r>
              <a:rPr lang="en-US" sz="1200" dirty="0" err="1"/>
              <a:t>Anda</a:t>
            </a:r>
            <a:endParaRPr lang="en-US" sz="1200" dirty="0"/>
          </a:p>
        </p:txBody>
      </p:sp>
      <p:sp>
        <p:nvSpPr>
          <p:cNvPr id="9" name="Rectangle 8"/>
          <p:cNvSpPr/>
          <p:nvPr/>
        </p:nvSpPr>
        <p:spPr>
          <a:xfrm>
            <a:off x="4518480" y="412452"/>
            <a:ext cx="4288636" cy="738664"/>
          </a:xfrm>
          <a:prstGeom prst="rect">
            <a:avLst/>
          </a:prstGeom>
        </p:spPr>
        <p:txBody>
          <a:bodyPr wrap="square">
            <a:spAutoFit/>
          </a:bodyPr>
          <a:lstStyle/>
          <a:p>
            <a:pPr algn="just"/>
            <a:r>
              <a:rPr lang="en-US" sz="1400" dirty="0" err="1"/>
              <a:t>Klik</a:t>
            </a:r>
            <a:r>
              <a:rPr lang="en-US" sz="1400" dirty="0"/>
              <a:t> + Add Rule </a:t>
            </a:r>
            <a:r>
              <a:rPr lang="en-US" sz="1400" dirty="0" err="1"/>
              <a:t>untuk</a:t>
            </a:r>
            <a:r>
              <a:rPr lang="en-US" sz="1400" dirty="0"/>
              <a:t> </a:t>
            </a:r>
            <a:r>
              <a:rPr lang="en-US" sz="1400" dirty="0" err="1"/>
              <a:t>menambahkan</a:t>
            </a:r>
            <a:r>
              <a:rPr lang="en-US" sz="1400" dirty="0"/>
              <a:t> rule </a:t>
            </a:r>
            <a:r>
              <a:rPr lang="en-US" sz="1400" dirty="0" err="1"/>
              <a:t>atau</a:t>
            </a:r>
            <a:r>
              <a:rPr lang="en-US" sz="1400" dirty="0"/>
              <a:t> port yang </a:t>
            </a:r>
            <a:r>
              <a:rPr lang="en-US" sz="1400" dirty="0" err="1"/>
              <a:t>ingin</a:t>
            </a:r>
            <a:r>
              <a:rPr lang="en-US" sz="1400" dirty="0"/>
              <a:t> </a:t>
            </a:r>
            <a:r>
              <a:rPr lang="en-US" sz="1400" dirty="0" err="1"/>
              <a:t>Anda</a:t>
            </a:r>
            <a:r>
              <a:rPr lang="en-US" sz="1400" dirty="0"/>
              <a:t> </a:t>
            </a:r>
            <a:r>
              <a:rPr lang="en-US" sz="1400" dirty="0" err="1"/>
              <a:t>gunakan</a:t>
            </a:r>
            <a:r>
              <a:rPr lang="en-US" sz="1400" dirty="0"/>
              <a:t>, </a:t>
            </a:r>
            <a:r>
              <a:rPr lang="en-US" sz="1400" dirty="0" err="1"/>
              <a:t>misalnya</a:t>
            </a:r>
            <a:r>
              <a:rPr lang="en-US" sz="1400" dirty="0"/>
              <a:t> </a:t>
            </a:r>
            <a:r>
              <a:rPr lang="en-US" sz="1400" dirty="0" err="1"/>
              <a:t>disini</a:t>
            </a:r>
            <a:r>
              <a:rPr lang="en-US" sz="1400" dirty="0"/>
              <a:t> kami </a:t>
            </a:r>
            <a:r>
              <a:rPr lang="en-US" sz="1400" dirty="0" err="1"/>
              <a:t>ingin</a:t>
            </a:r>
            <a:r>
              <a:rPr lang="en-US" sz="1400" dirty="0"/>
              <a:t> allow port </a:t>
            </a:r>
            <a:r>
              <a:rPr lang="en-US" sz="1400" dirty="0" err="1"/>
              <a:t>atau</a:t>
            </a:r>
            <a:r>
              <a:rPr lang="en-US" sz="1400" dirty="0"/>
              <a:t> </a:t>
            </a:r>
            <a:r>
              <a:rPr lang="en-US" sz="1400" dirty="0" err="1"/>
              <a:t>protokol</a:t>
            </a:r>
            <a:r>
              <a:rPr lang="en-US" sz="1400" dirty="0"/>
              <a:t> IMCP, </a:t>
            </a:r>
            <a:r>
              <a:rPr lang="en-US" sz="1400" dirty="0" err="1"/>
              <a:t>lalu</a:t>
            </a:r>
            <a:r>
              <a:rPr lang="en-US" sz="1400" dirty="0"/>
              <a:t> </a:t>
            </a:r>
            <a:r>
              <a:rPr lang="en-US" sz="1400" dirty="0" err="1"/>
              <a:t>klik</a:t>
            </a:r>
            <a:r>
              <a:rPr lang="en-US" sz="1400" dirty="0"/>
              <a:t> Add</a:t>
            </a:r>
          </a:p>
        </p:txBody>
      </p:sp>
      <p:sp>
        <p:nvSpPr>
          <p:cNvPr id="14" name="Rectangle 13"/>
          <p:cNvSpPr/>
          <p:nvPr/>
        </p:nvSpPr>
        <p:spPr>
          <a:xfrm>
            <a:off x="143301" y="263304"/>
            <a:ext cx="2279085" cy="369332"/>
          </a:xfrm>
          <a:prstGeom prst="rect">
            <a:avLst/>
          </a:prstGeom>
        </p:spPr>
        <p:txBody>
          <a:bodyPr wrap="none">
            <a:spAutoFit/>
          </a:bodyPr>
          <a:lstStyle/>
          <a:p>
            <a:r>
              <a:rPr lang="en-US" b="1" dirty="0">
                <a:solidFill>
                  <a:srgbClr val="002060"/>
                </a:solidFill>
              </a:rPr>
              <a:t>Create Security Group</a:t>
            </a:r>
            <a:endParaRPr lang="en-US" dirty="0"/>
          </a:p>
        </p:txBody>
      </p:sp>
      <p:sp>
        <p:nvSpPr>
          <p:cNvPr id="7" name="Rectangle 6"/>
          <p:cNvSpPr/>
          <p:nvPr/>
        </p:nvSpPr>
        <p:spPr>
          <a:xfrm>
            <a:off x="51309" y="1838694"/>
            <a:ext cx="4247724" cy="415498"/>
          </a:xfrm>
          <a:prstGeom prst="rect">
            <a:avLst/>
          </a:prstGeom>
        </p:spPr>
        <p:txBody>
          <a:bodyPr wrap="square">
            <a:spAutoFit/>
          </a:bodyPr>
          <a:lstStyle/>
          <a:p>
            <a:pPr algn="just"/>
            <a:r>
              <a:rPr lang="en-US" sz="1000" dirty="0" smtClean="0">
                <a:solidFill>
                  <a:srgbClr val="0070C0"/>
                </a:solidFill>
              </a:rPr>
              <a:t>Openstack.panda.id/dashboard/project/</a:t>
            </a:r>
            <a:r>
              <a:rPr lang="en-US" sz="1000" dirty="0" err="1" smtClean="0">
                <a:solidFill>
                  <a:srgbClr val="0070C0"/>
                </a:solidFill>
              </a:rPr>
              <a:t>security_groups</a:t>
            </a:r>
            <a:r>
              <a:rPr lang="en-US" sz="1000" dirty="0" smtClean="0">
                <a:solidFill>
                  <a:srgbClr val="0070C0"/>
                </a:solidFill>
              </a:rPr>
              <a:t>/8d72f0bd-249a-493b-9a73-caf67de717f2/</a:t>
            </a:r>
            <a:endParaRPr lang="en-US" sz="1000" dirty="0">
              <a:solidFill>
                <a:srgbClr val="0070C0"/>
              </a:solidFill>
            </a:endParaRPr>
          </a:p>
        </p:txBody>
      </p:sp>
      <p:grpSp>
        <p:nvGrpSpPr>
          <p:cNvPr id="3" name="Group 2"/>
          <p:cNvGrpSpPr/>
          <p:nvPr/>
        </p:nvGrpSpPr>
        <p:grpSpPr>
          <a:xfrm>
            <a:off x="228473" y="2329136"/>
            <a:ext cx="3874168" cy="1388622"/>
            <a:chOff x="228473" y="2329136"/>
            <a:chExt cx="3874168" cy="1388622"/>
          </a:xfrm>
        </p:grpSpPr>
        <p:pic>
          <p:nvPicPr>
            <p:cNvPr id="2" name="Picture 1"/>
            <p:cNvPicPr>
              <a:picLocks noChangeAspect="1"/>
            </p:cNvPicPr>
            <p:nvPr/>
          </p:nvPicPr>
          <p:blipFill>
            <a:blip r:embed="rId3"/>
            <a:stretch>
              <a:fillRect/>
            </a:stretch>
          </p:blipFill>
          <p:spPr>
            <a:xfrm>
              <a:off x="228473" y="2329136"/>
              <a:ext cx="3874168" cy="1388622"/>
            </a:xfrm>
            <a:prstGeom prst="rect">
              <a:avLst/>
            </a:prstGeom>
          </p:spPr>
        </p:pic>
        <p:sp>
          <p:nvSpPr>
            <p:cNvPr id="10" name="Rectangle 9"/>
            <p:cNvSpPr/>
            <p:nvPr/>
          </p:nvSpPr>
          <p:spPr>
            <a:xfrm>
              <a:off x="953677" y="2373021"/>
              <a:ext cx="3148964" cy="153888"/>
            </a:xfrm>
            <a:prstGeom prst="rect">
              <a:avLst/>
            </a:prstGeom>
          </p:spPr>
          <p:txBody>
            <a:bodyPr wrap="square">
              <a:spAutoFit/>
            </a:bodyPr>
            <a:lstStyle/>
            <a:p>
              <a:pPr algn="just"/>
              <a:r>
                <a:rPr lang="en-US" sz="400" dirty="0" smtClean="0">
                  <a:solidFill>
                    <a:schemeClr val="bg1">
                      <a:lumMod val="75000"/>
                    </a:schemeClr>
                  </a:solidFill>
                </a:rPr>
                <a:t>Openstack.panda.id/dashboard/project/</a:t>
              </a:r>
              <a:r>
                <a:rPr lang="en-US" sz="400" dirty="0" err="1" smtClean="0">
                  <a:solidFill>
                    <a:schemeClr val="bg1">
                      <a:lumMod val="75000"/>
                    </a:schemeClr>
                  </a:solidFill>
                </a:rPr>
                <a:t>security_groups</a:t>
              </a:r>
              <a:r>
                <a:rPr lang="en-US" sz="400" dirty="0" smtClean="0">
                  <a:solidFill>
                    <a:schemeClr val="bg1">
                      <a:lumMod val="75000"/>
                    </a:schemeClr>
                  </a:solidFill>
                </a:rPr>
                <a:t>/8d72f0bd-249a-493b-9a73-caf67de717f2/</a:t>
              </a:r>
              <a:endParaRPr lang="en-US" sz="400" dirty="0">
                <a:solidFill>
                  <a:schemeClr val="bg1">
                    <a:lumMod val="75000"/>
                  </a:schemeClr>
                </a:solidFill>
              </a:endParaRPr>
            </a:p>
          </p:txBody>
        </p:sp>
      </p:grpSp>
      <p:pic>
        <p:nvPicPr>
          <p:cNvPr id="8" name="Picture 7"/>
          <p:cNvPicPr>
            <a:picLocks noChangeAspect="1"/>
          </p:cNvPicPr>
          <p:nvPr/>
        </p:nvPicPr>
        <p:blipFill>
          <a:blip r:embed="rId4"/>
          <a:stretch>
            <a:fillRect/>
          </a:stretch>
        </p:blipFill>
        <p:spPr>
          <a:xfrm>
            <a:off x="4518480" y="1217418"/>
            <a:ext cx="3723278" cy="2784766"/>
          </a:xfrm>
          <a:prstGeom prst="rect">
            <a:avLst/>
          </a:prstGeom>
        </p:spPr>
      </p:pic>
    </p:spTree>
    <p:extLst>
      <p:ext uri="{BB962C8B-B14F-4D97-AF65-F5344CB8AC3E}">
        <p14:creationId xmlns:p14="http://schemas.microsoft.com/office/powerpoint/2010/main" val="184455024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39</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43301" y="566340"/>
            <a:ext cx="3791025" cy="276999"/>
          </a:xfrm>
          <a:prstGeom prst="rect">
            <a:avLst/>
          </a:prstGeom>
        </p:spPr>
        <p:txBody>
          <a:bodyPr wrap="square">
            <a:spAutoFit/>
          </a:bodyPr>
          <a:lstStyle/>
          <a:p>
            <a:pPr algn="just"/>
            <a:r>
              <a:rPr lang="en-US" sz="1200" dirty="0" err="1"/>
              <a:t>Saat</a:t>
            </a:r>
            <a:r>
              <a:rPr lang="en-US" sz="1200" dirty="0"/>
              <a:t> </a:t>
            </a:r>
            <a:r>
              <a:rPr lang="en-US" sz="1200" dirty="0" err="1"/>
              <a:t>ini</a:t>
            </a:r>
            <a:r>
              <a:rPr lang="en-US" sz="1200" dirty="0"/>
              <a:t> rule ICMP </a:t>
            </a:r>
            <a:r>
              <a:rPr lang="en-US" sz="1200" dirty="0" err="1"/>
              <a:t>sudah</a:t>
            </a:r>
            <a:r>
              <a:rPr lang="en-US" sz="1200" dirty="0"/>
              <a:t> </a:t>
            </a:r>
            <a:r>
              <a:rPr lang="en-US" sz="1200" dirty="0" err="1"/>
              <a:t>dibuat</a:t>
            </a:r>
            <a:endParaRPr lang="en-US" sz="1200" dirty="0"/>
          </a:p>
        </p:txBody>
      </p:sp>
      <p:sp>
        <p:nvSpPr>
          <p:cNvPr id="9" name="Rectangle 8"/>
          <p:cNvSpPr/>
          <p:nvPr/>
        </p:nvSpPr>
        <p:spPr>
          <a:xfrm>
            <a:off x="143301" y="2854297"/>
            <a:ext cx="4139117" cy="738664"/>
          </a:xfrm>
          <a:prstGeom prst="rect">
            <a:avLst/>
          </a:prstGeom>
        </p:spPr>
        <p:txBody>
          <a:bodyPr wrap="square">
            <a:spAutoFit/>
          </a:bodyPr>
          <a:lstStyle/>
          <a:p>
            <a:pPr algn="just"/>
            <a:r>
              <a:rPr lang="en-US" sz="1400" dirty="0" err="1" smtClean="0"/>
              <a:t>Dapat</a:t>
            </a:r>
            <a:r>
              <a:rPr lang="en-US" sz="1400" dirty="0" smtClean="0"/>
              <a:t> </a:t>
            </a:r>
            <a:r>
              <a:rPr lang="en-US" sz="1400" dirty="0" err="1"/>
              <a:t>menambahkan</a:t>
            </a:r>
            <a:r>
              <a:rPr lang="en-US" sz="1400" dirty="0"/>
              <a:t> rule </a:t>
            </a:r>
            <a:r>
              <a:rPr lang="en-US" sz="1400" dirty="0" err="1"/>
              <a:t>atau</a:t>
            </a:r>
            <a:r>
              <a:rPr lang="en-US" sz="1400" dirty="0"/>
              <a:t> port – port yang </a:t>
            </a:r>
            <a:r>
              <a:rPr lang="en-US" sz="1400" dirty="0" err="1"/>
              <a:t>Anda</a:t>
            </a:r>
            <a:r>
              <a:rPr lang="en-US" sz="1400" dirty="0"/>
              <a:t> </a:t>
            </a:r>
            <a:r>
              <a:rPr lang="en-US" sz="1400" dirty="0" err="1"/>
              <a:t>inginkan</a:t>
            </a:r>
            <a:r>
              <a:rPr lang="en-US" sz="1400" dirty="0"/>
              <a:t> </a:t>
            </a:r>
            <a:r>
              <a:rPr lang="en-US" sz="1400" dirty="0" err="1"/>
              <a:t>misalnya</a:t>
            </a:r>
            <a:r>
              <a:rPr lang="en-US" sz="1400" dirty="0"/>
              <a:t> port </a:t>
            </a:r>
            <a:r>
              <a:rPr lang="en-US" sz="1400" dirty="0" err="1"/>
              <a:t>ssh</a:t>
            </a:r>
            <a:r>
              <a:rPr lang="en-US" sz="1400" dirty="0"/>
              <a:t>, </a:t>
            </a:r>
            <a:r>
              <a:rPr lang="en-US" sz="1400" dirty="0" err="1"/>
              <a:t>imap</a:t>
            </a:r>
            <a:r>
              <a:rPr lang="en-US" sz="1400" dirty="0"/>
              <a:t>, http </a:t>
            </a:r>
            <a:r>
              <a:rPr lang="en-US" sz="1400" dirty="0" err="1"/>
              <a:t>dan</a:t>
            </a:r>
            <a:r>
              <a:rPr lang="en-US" sz="1400" dirty="0"/>
              <a:t> yang </a:t>
            </a:r>
            <a:r>
              <a:rPr lang="en-US" sz="1400" dirty="0" err="1"/>
              <a:t>lainnya</a:t>
            </a:r>
            <a:r>
              <a:rPr lang="en-US" sz="1400" dirty="0"/>
              <a:t> </a:t>
            </a:r>
            <a:r>
              <a:rPr lang="en-US" sz="1400" dirty="0" err="1"/>
              <a:t>melalui</a:t>
            </a:r>
            <a:r>
              <a:rPr lang="en-US" sz="1400" dirty="0"/>
              <a:t> security group</a:t>
            </a:r>
          </a:p>
        </p:txBody>
      </p:sp>
      <p:sp>
        <p:nvSpPr>
          <p:cNvPr id="14" name="Rectangle 13"/>
          <p:cNvSpPr/>
          <p:nvPr/>
        </p:nvSpPr>
        <p:spPr>
          <a:xfrm>
            <a:off x="143301" y="263304"/>
            <a:ext cx="1709892" cy="369332"/>
          </a:xfrm>
          <a:prstGeom prst="rect">
            <a:avLst/>
          </a:prstGeom>
        </p:spPr>
        <p:txBody>
          <a:bodyPr wrap="none">
            <a:spAutoFit/>
          </a:bodyPr>
          <a:lstStyle/>
          <a:p>
            <a:r>
              <a:rPr lang="en-US" b="1" dirty="0">
                <a:solidFill>
                  <a:srgbClr val="002060"/>
                </a:solidFill>
              </a:rPr>
              <a:t>Create </a:t>
            </a:r>
            <a:r>
              <a:rPr lang="en-US" b="1" dirty="0" smtClean="0">
                <a:solidFill>
                  <a:srgbClr val="002060"/>
                </a:solidFill>
              </a:rPr>
              <a:t>SSH Keys</a:t>
            </a:r>
            <a:endParaRPr lang="en-US" dirty="0"/>
          </a:p>
        </p:txBody>
      </p:sp>
      <p:grpSp>
        <p:nvGrpSpPr>
          <p:cNvPr id="3" name="Group 2"/>
          <p:cNvGrpSpPr/>
          <p:nvPr/>
        </p:nvGrpSpPr>
        <p:grpSpPr>
          <a:xfrm>
            <a:off x="246015" y="1146375"/>
            <a:ext cx="3898197" cy="1711838"/>
            <a:chOff x="204444" y="923079"/>
            <a:chExt cx="3898197" cy="1711838"/>
          </a:xfrm>
        </p:grpSpPr>
        <p:pic>
          <p:nvPicPr>
            <p:cNvPr id="2" name="Picture 1"/>
            <p:cNvPicPr>
              <a:picLocks noChangeAspect="1"/>
            </p:cNvPicPr>
            <p:nvPr/>
          </p:nvPicPr>
          <p:blipFill>
            <a:blip r:embed="rId3"/>
            <a:stretch>
              <a:fillRect/>
            </a:stretch>
          </p:blipFill>
          <p:spPr>
            <a:xfrm>
              <a:off x="204444" y="923079"/>
              <a:ext cx="3847238" cy="1711838"/>
            </a:xfrm>
            <a:prstGeom prst="rect">
              <a:avLst/>
            </a:prstGeom>
          </p:spPr>
        </p:pic>
        <p:sp>
          <p:nvSpPr>
            <p:cNvPr id="10" name="Rectangle 9"/>
            <p:cNvSpPr/>
            <p:nvPr/>
          </p:nvSpPr>
          <p:spPr>
            <a:xfrm>
              <a:off x="953677" y="976517"/>
              <a:ext cx="3148964" cy="153888"/>
            </a:xfrm>
            <a:prstGeom prst="rect">
              <a:avLst/>
            </a:prstGeom>
          </p:spPr>
          <p:txBody>
            <a:bodyPr wrap="square">
              <a:spAutoFit/>
            </a:bodyPr>
            <a:lstStyle/>
            <a:p>
              <a:pPr algn="just"/>
              <a:r>
                <a:rPr lang="en-US" sz="400" dirty="0" smtClean="0">
                  <a:solidFill>
                    <a:schemeClr val="bg1">
                      <a:lumMod val="75000"/>
                    </a:schemeClr>
                  </a:solidFill>
                </a:rPr>
                <a:t>Openstack.panda.id/dashboard/project/</a:t>
              </a:r>
              <a:r>
                <a:rPr lang="en-US" sz="400" dirty="0" err="1" smtClean="0">
                  <a:solidFill>
                    <a:schemeClr val="bg1">
                      <a:lumMod val="75000"/>
                    </a:schemeClr>
                  </a:solidFill>
                </a:rPr>
                <a:t>security_groups</a:t>
              </a:r>
              <a:r>
                <a:rPr lang="en-US" sz="400" dirty="0" smtClean="0">
                  <a:solidFill>
                    <a:schemeClr val="bg1">
                      <a:lumMod val="75000"/>
                    </a:schemeClr>
                  </a:solidFill>
                </a:rPr>
                <a:t>/8d72f0bd-249a-493b-9a73-caf67de717f2/</a:t>
              </a:r>
              <a:endParaRPr lang="en-US" sz="400" dirty="0">
                <a:solidFill>
                  <a:schemeClr val="bg1">
                    <a:lumMod val="75000"/>
                  </a:schemeClr>
                </a:solidFill>
              </a:endParaRPr>
            </a:p>
          </p:txBody>
        </p:sp>
      </p:grpSp>
      <p:sp>
        <p:nvSpPr>
          <p:cNvPr id="12" name="Rectangle 11"/>
          <p:cNvSpPr/>
          <p:nvPr/>
        </p:nvSpPr>
        <p:spPr>
          <a:xfrm>
            <a:off x="143301" y="730877"/>
            <a:ext cx="4247724" cy="415498"/>
          </a:xfrm>
          <a:prstGeom prst="rect">
            <a:avLst/>
          </a:prstGeom>
        </p:spPr>
        <p:txBody>
          <a:bodyPr wrap="square">
            <a:spAutoFit/>
          </a:bodyPr>
          <a:lstStyle/>
          <a:p>
            <a:pPr algn="just"/>
            <a:r>
              <a:rPr lang="en-US" sz="1000" dirty="0" smtClean="0">
                <a:solidFill>
                  <a:srgbClr val="0070C0"/>
                </a:solidFill>
              </a:rPr>
              <a:t>Openstack.panda.id/dashboard/project/</a:t>
            </a:r>
            <a:r>
              <a:rPr lang="en-US" sz="1000" dirty="0" err="1" smtClean="0">
                <a:solidFill>
                  <a:srgbClr val="0070C0"/>
                </a:solidFill>
              </a:rPr>
              <a:t>security_groups</a:t>
            </a:r>
            <a:r>
              <a:rPr lang="en-US" sz="1000" dirty="0" smtClean="0">
                <a:solidFill>
                  <a:srgbClr val="0070C0"/>
                </a:solidFill>
              </a:rPr>
              <a:t>/8d72f0bd-249a-493b-9a73-caf67de717f2/</a:t>
            </a:r>
            <a:endParaRPr lang="en-US" sz="1000" dirty="0">
              <a:solidFill>
                <a:srgbClr val="0070C0"/>
              </a:solidFill>
            </a:endParaRPr>
          </a:p>
        </p:txBody>
      </p:sp>
    </p:spTree>
    <p:extLst>
      <p:ext uri="{BB962C8B-B14F-4D97-AF65-F5344CB8AC3E}">
        <p14:creationId xmlns:p14="http://schemas.microsoft.com/office/powerpoint/2010/main" val="1200845532"/>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40</a:t>
            </a:fld>
            <a:endParaRPr lang="en-US" dirty="0"/>
          </a:p>
        </p:txBody>
      </p:sp>
      <p:sp>
        <p:nvSpPr>
          <p:cNvPr id="5"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6" name="Rectangle 5"/>
          <p:cNvSpPr/>
          <p:nvPr/>
        </p:nvSpPr>
        <p:spPr>
          <a:xfrm>
            <a:off x="153200" y="517842"/>
            <a:ext cx="4284319" cy="307777"/>
          </a:xfrm>
          <a:prstGeom prst="rect">
            <a:avLst/>
          </a:prstGeom>
        </p:spPr>
        <p:txBody>
          <a:bodyPr wrap="square">
            <a:spAutoFit/>
          </a:bodyPr>
          <a:lstStyle/>
          <a:p>
            <a:pPr algn="just"/>
            <a:r>
              <a:rPr lang="en-US" sz="1400" b="1" dirty="0">
                <a:solidFill>
                  <a:srgbClr val="002060"/>
                </a:solidFill>
              </a:rPr>
              <a:t>All Service running on Docker</a:t>
            </a:r>
          </a:p>
        </p:txBody>
      </p:sp>
      <p:sp>
        <p:nvSpPr>
          <p:cNvPr id="9" name="Rectangle 8"/>
          <p:cNvSpPr/>
          <p:nvPr/>
        </p:nvSpPr>
        <p:spPr>
          <a:xfrm>
            <a:off x="4570922" y="479984"/>
            <a:ext cx="4139117" cy="307777"/>
          </a:xfrm>
          <a:prstGeom prst="rect">
            <a:avLst/>
          </a:prstGeom>
        </p:spPr>
        <p:txBody>
          <a:bodyPr wrap="square">
            <a:spAutoFit/>
          </a:bodyPr>
          <a:lstStyle/>
          <a:p>
            <a:pPr algn="just"/>
            <a:r>
              <a:rPr lang="en-US" sz="1400" b="1" dirty="0">
                <a:solidFill>
                  <a:srgbClr val="002060"/>
                </a:solidFill>
              </a:rPr>
              <a:t>Horizon</a:t>
            </a:r>
          </a:p>
        </p:txBody>
      </p:sp>
      <p:pic>
        <p:nvPicPr>
          <p:cNvPr id="13" name="Picture 12"/>
          <p:cNvPicPr>
            <a:picLocks noChangeAspect="1"/>
          </p:cNvPicPr>
          <p:nvPr/>
        </p:nvPicPr>
        <p:blipFill>
          <a:blip r:embed="rId3"/>
          <a:stretch>
            <a:fillRect/>
          </a:stretch>
        </p:blipFill>
        <p:spPr>
          <a:xfrm>
            <a:off x="343650" y="1032752"/>
            <a:ext cx="3903421" cy="3876131"/>
          </a:xfrm>
          <a:prstGeom prst="rect">
            <a:avLst/>
          </a:prstGeom>
        </p:spPr>
      </p:pic>
      <p:grpSp>
        <p:nvGrpSpPr>
          <p:cNvPr id="16" name="Group 15"/>
          <p:cNvGrpSpPr/>
          <p:nvPr/>
        </p:nvGrpSpPr>
        <p:grpSpPr>
          <a:xfrm>
            <a:off x="4570922" y="743428"/>
            <a:ext cx="4573078" cy="2352698"/>
            <a:chOff x="4570922" y="743428"/>
            <a:chExt cx="4573078" cy="2352698"/>
          </a:xfrm>
        </p:grpSpPr>
        <p:pic>
          <p:nvPicPr>
            <p:cNvPr id="14" name="Picture 13"/>
            <p:cNvPicPr>
              <a:picLocks noChangeAspect="1"/>
            </p:cNvPicPr>
            <p:nvPr/>
          </p:nvPicPr>
          <p:blipFill>
            <a:blip r:embed="rId4"/>
            <a:stretch>
              <a:fillRect/>
            </a:stretch>
          </p:blipFill>
          <p:spPr>
            <a:xfrm>
              <a:off x="4570922" y="787761"/>
              <a:ext cx="4573078" cy="2308365"/>
            </a:xfrm>
            <a:prstGeom prst="rect">
              <a:avLst/>
            </a:prstGeom>
          </p:spPr>
        </p:pic>
        <p:sp>
          <p:nvSpPr>
            <p:cNvPr id="15" name="Rectangle 14"/>
            <p:cNvSpPr/>
            <p:nvPr/>
          </p:nvSpPr>
          <p:spPr>
            <a:xfrm>
              <a:off x="5149649" y="743428"/>
              <a:ext cx="1308301" cy="169277"/>
            </a:xfrm>
            <a:prstGeom prst="rect">
              <a:avLst/>
            </a:prstGeom>
          </p:spPr>
          <p:txBody>
            <a:bodyPr wrap="square">
              <a:spAutoFit/>
            </a:bodyPr>
            <a:lstStyle/>
            <a:p>
              <a:pPr algn="just"/>
              <a:r>
                <a:rPr lang="en-US" sz="500" dirty="0" smtClean="0">
                  <a:solidFill>
                    <a:srgbClr val="E54B1B"/>
                  </a:solidFill>
                </a:rPr>
                <a:t>http:</a:t>
              </a:r>
              <a:r>
                <a:rPr lang="en-US" sz="500" dirty="0" smtClean="0">
                  <a:solidFill>
                    <a:schemeClr val="bg1">
                      <a:lumMod val="65000"/>
                    </a:schemeClr>
                  </a:solidFill>
                </a:rPr>
                <a:t>//Openstack.panda.id/Deploy/</a:t>
              </a:r>
              <a:endParaRPr lang="en-US" sz="500" dirty="0">
                <a:solidFill>
                  <a:schemeClr val="bg1">
                    <a:lumMod val="65000"/>
                  </a:schemeClr>
                </a:solidFill>
              </a:endParaRPr>
            </a:p>
          </p:txBody>
        </p:sp>
      </p:grpSp>
    </p:spTree>
    <p:extLst>
      <p:ext uri="{BB962C8B-B14F-4D97-AF65-F5344CB8AC3E}">
        <p14:creationId xmlns:p14="http://schemas.microsoft.com/office/powerpoint/2010/main" val="153721365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41</a:t>
            </a:fld>
            <a:endParaRPr lang="en-US" dirty="0"/>
          </a:p>
        </p:txBody>
      </p:sp>
      <p:sp>
        <p:nvSpPr>
          <p:cNvPr id="9"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10" name="Rectangle 9"/>
          <p:cNvSpPr/>
          <p:nvPr/>
        </p:nvSpPr>
        <p:spPr>
          <a:xfrm>
            <a:off x="153200" y="517842"/>
            <a:ext cx="4284319" cy="307777"/>
          </a:xfrm>
          <a:prstGeom prst="rect">
            <a:avLst/>
          </a:prstGeom>
        </p:spPr>
        <p:txBody>
          <a:bodyPr wrap="square">
            <a:spAutoFit/>
          </a:bodyPr>
          <a:lstStyle/>
          <a:p>
            <a:pPr algn="just"/>
            <a:r>
              <a:rPr lang="en-US" sz="1400" b="1" dirty="0">
                <a:solidFill>
                  <a:srgbClr val="002060"/>
                </a:solidFill>
              </a:rPr>
              <a:t>Network Agent</a:t>
            </a:r>
          </a:p>
        </p:txBody>
      </p:sp>
      <p:sp>
        <p:nvSpPr>
          <p:cNvPr id="11" name="Rectangle 10"/>
          <p:cNvSpPr/>
          <p:nvPr/>
        </p:nvSpPr>
        <p:spPr>
          <a:xfrm>
            <a:off x="153200" y="2371141"/>
            <a:ext cx="4139117" cy="307777"/>
          </a:xfrm>
          <a:prstGeom prst="rect">
            <a:avLst/>
          </a:prstGeom>
        </p:spPr>
        <p:txBody>
          <a:bodyPr wrap="square">
            <a:spAutoFit/>
          </a:bodyPr>
          <a:lstStyle/>
          <a:p>
            <a:pPr algn="just"/>
            <a:r>
              <a:rPr lang="en-US" sz="1400" b="1" dirty="0">
                <a:solidFill>
                  <a:srgbClr val="002060"/>
                </a:solidFill>
              </a:rPr>
              <a:t>Compute Service</a:t>
            </a:r>
          </a:p>
        </p:txBody>
      </p:sp>
      <p:pic>
        <p:nvPicPr>
          <p:cNvPr id="12" name="Picture 11"/>
          <p:cNvPicPr>
            <a:picLocks noChangeAspect="1"/>
          </p:cNvPicPr>
          <p:nvPr/>
        </p:nvPicPr>
        <p:blipFill>
          <a:blip r:embed="rId2"/>
          <a:stretch>
            <a:fillRect/>
          </a:stretch>
        </p:blipFill>
        <p:spPr>
          <a:xfrm>
            <a:off x="271435" y="787761"/>
            <a:ext cx="8631933" cy="1552575"/>
          </a:xfrm>
          <a:prstGeom prst="rect">
            <a:avLst/>
          </a:prstGeom>
        </p:spPr>
      </p:pic>
      <p:pic>
        <p:nvPicPr>
          <p:cNvPr id="13" name="Picture 12"/>
          <p:cNvPicPr>
            <a:picLocks noChangeAspect="1"/>
          </p:cNvPicPr>
          <p:nvPr/>
        </p:nvPicPr>
        <p:blipFill>
          <a:blip r:embed="rId3"/>
          <a:stretch>
            <a:fillRect/>
          </a:stretch>
        </p:blipFill>
        <p:spPr>
          <a:xfrm>
            <a:off x="271435" y="2659785"/>
            <a:ext cx="8631933" cy="1685925"/>
          </a:xfrm>
          <a:prstGeom prst="rect">
            <a:avLst/>
          </a:prstGeom>
        </p:spPr>
      </p:pic>
    </p:spTree>
    <p:extLst>
      <p:ext uri="{BB962C8B-B14F-4D97-AF65-F5344CB8AC3E}">
        <p14:creationId xmlns:p14="http://schemas.microsoft.com/office/powerpoint/2010/main" val="1924764090"/>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42</a:t>
            </a:fld>
            <a:endParaRPr lang="en-US" dirty="0"/>
          </a:p>
        </p:txBody>
      </p:sp>
      <p:sp>
        <p:nvSpPr>
          <p:cNvPr id="9" name="Title 1"/>
          <p:cNvSpPr>
            <a:spLocks noGrp="1"/>
          </p:cNvSpPr>
          <p:nvPr>
            <p:ph type="title"/>
          </p:nvPr>
        </p:nvSpPr>
        <p:spPr>
          <a:xfrm>
            <a:off x="3200400" y="65812"/>
            <a:ext cx="5943600" cy="280338"/>
          </a:xfrm>
        </p:spPr>
        <p:txBody>
          <a:bodyPr>
            <a:noAutofit/>
          </a:bodyPr>
          <a:lstStyle/>
          <a:p>
            <a:r>
              <a:rPr lang="en-US" sz="2400" b="1" dirty="0" smtClean="0"/>
              <a:t>Lab: </a:t>
            </a:r>
            <a:r>
              <a:rPr lang="en-US" sz="2400" b="1" dirty="0" err="1" smtClean="0"/>
              <a:t>Kolla</a:t>
            </a:r>
            <a:r>
              <a:rPr lang="en-US" sz="2400" b="1" dirty="0" smtClean="0"/>
              <a:t> </a:t>
            </a:r>
            <a:r>
              <a:rPr lang="en-US" sz="2400" b="1" dirty="0" err="1"/>
              <a:t>Ansible</a:t>
            </a:r>
            <a:r>
              <a:rPr lang="en-US" sz="2400" b="1" dirty="0"/>
              <a:t> All in One </a:t>
            </a:r>
            <a:r>
              <a:rPr lang="en-US" sz="2400" b="1" dirty="0" err="1" smtClean="0"/>
              <a:t>Openstack</a:t>
            </a:r>
            <a:r>
              <a:rPr lang="en-US" sz="2400" b="1" dirty="0" smtClean="0"/>
              <a:t> </a:t>
            </a:r>
            <a:r>
              <a:rPr lang="en-US" sz="2400" b="1" dirty="0" smtClean="0">
                <a:solidFill>
                  <a:schemeClr val="bg1">
                    <a:lumMod val="75000"/>
                  </a:schemeClr>
                </a:solidFill>
              </a:rPr>
              <a:t>(</a:t>
            </a:r>
            <a:r>
              <a:rPr lang="en-US" sz="2400" b="1" dirty="0" err="1" smtClean="0">
                <a:solidFill>
                  <a:schemeClr val="bg1">
                    <a:lumMod val="75000"/>
                  </a:schemeClr>
                </a:solidFill>
              </a:rPr>
              <a:t>Cons’t</a:t>
            </a:r>
            <a:r>
              <a:rPr lang="en-US" sz="2400" b="1" dirty="0" smtClean="0">
                <a:solidFill>
                  <a:schemeClr val="bg1">
                    <a:lumMod val="75000"/>
                  </a:schemeClr>
                </a:solidFill>
              </a:rPr>
              <a:t>)</a:t>
            </a:r>
            <a:endParaRPr lang="en-US" sz="2400" dirty="0">
              <a:solidFill>
                <a:schemeClr val="bg1">
                  <a:lumMod val="75000"/>
                </a:schemeClr>
              </a:solidFill>
            </a:endParaRPr>
          </a:p>
        </p:txBody>
      </p:sp>
      <p:sp>
        <p:nvSpPr>
          <p:cNvPr id="10" name="Rectangle 9"/>
          <p:cNvSpPr/>
          <p:nvPr/>
        </p:nvSpPr>
        <p:spPr>
          <a:xfrm>
            <a:off x="153200" y="517842"/>
            <a:ext cx="4284319" cy="369332"/>
          </a:xfrm>
          <a:prstGeom prst="rect">
            <a:avLst/>
          </a:prstGeom>
        </p:spPr>
        <p:txBody>
          <a:bodyPr wrap="square">
            <a:spAutoFit/>
          </a:bodyPr>
          <a:lstStyle/>
          <a:p>
            <a:pPr algn="just"/>
            <a:r>
              <a:rPr lang="en-US" b="1" dirty="0">
                <a:solidFill>
                  <a:srgbClr val="002060"/>
                </a:solidFill>
              </a:rPr>
              <a:t>Volume Service</a:t>
            </a:r>
            <a:endParaRPr lang="en-US" sz="1400" b="1" dirty="0">
              <a:solidFill>
                <a:srgbClr val="002060"/>
              </a:solidFill>
            </a:endParaRPr>
          </a:p>
        </p:txBody>
      </p:sp>
      <p:sp>
        <p:nvSpPr>
          <p:cNvPr id="11" name="Rectangle 10"/>
          <p:cNvSpPr/>
          <p:nvPr/>
        </p:nvSpPr>
        <p:spPr>
          <a:xfrm>
            <a:off x="153200" y="2371141"/>
            <a:ext cx="4139117" cy="307777"/>
          </a:xfrm>
          <a:prstGeom prst="rect">
            <a:avLst/>
          </a:prstGeom>
        </p:spPr>
        <p:txBody>
          <a:bodyPr wrap="square">
            <a:spAutoFit/>
          </a:bodyPr>
          <a:lstStyle/>
          <a:p>
            <a:pPr algn="just"/>
            <a:r>
              <a:rPr lang="en-US" sz="1400" b="1" dirty="0">
                <a:solidFill>
                  <a:srgbClr val="002060"/>
                </a:solidFill>
              </a:rPr>
              <a:t>Compute Service</a:t>
            </a:r>
          </a:p>
        </p:txBody>
      </p:sp>
      <p:pic>
        <p:nvPicPr>
          <p:cNvPr id="2" name="Picture 1"/>
          <p:cNvPicPr>
            <a:picLocks noChangeAspect="1"/>
          </p:cNvPicPr>
          <p:nvPr/>
        </p:nvPicPr>
        <p:blipFill>
          <a:blip r:embed="rId3"/>
          <a:stretch>
            <a:fillRect/>
          </a:stretch>
        </p:blipFill>
        <p:spPr>
          <a:xfrm>
            <a:off x="323097" y="887174"/>
            <a:ext cx="6829425" cy="1457325"/>
          </a:xfrm>
          <a:prstGeom prst="rect">
            <a:avLst/>
          </a:prstGeom>
        </p:spPr>
      </p:pic>
    </p:spTree>
    <p:extLst>
      <p:ext uri="{BB962C8B-B14F-4D97-AF65-F5344CB8AC3E}">
        <p14:creationId xmlns:p14="http://schemas.microsoft.com/office/powerpoint/2010/main" val="664149239"/>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613" y="1645444"/>
            <a:ext cx="7886700" cy="994172"/>
          </a:xfrm>
        </p:spPr>
        <p:txBody>
          <a:bodyPr>
            <a:normAutofit fontScale="90000"/>
          </a:bodyPr>
          <a:lstStyle/>
          <a:p>
            <a:pPr algn="ctr"/>
            <a:r>
              <a:rPr lang="en-US" dirty="0"/>
              <a:t>Deploy All-in-One OpenStack with </a:t>
            </a:r>
            <a:r>
              <a:rPr lang="en-US" dirty="0" err="1"/>
              <a:t>Kolla-Ansible</a:t>
            </a:r>
            <a:r>
              <a:rPr lang="en-US" dirty="0"/>
              <a:t> on Ubuntu 22.04</a:t>
            </a:r>
          </a:p>
        </p:txBody>
      </p:sp>
      <p:sp>
        <p:nvSpPr>
          <p:cNvPr id="4" name="Slide Number Placeholder 3"/>
          <p:cNvSpPr>
            <a:spLocks noGrp="1"/>
          </p:cNvSpPr>
          <p:nvPr>
            <p:ph type="sldNum" sz="quarter" idx="12"/>
          </p:nvPr>
        </p:nvSpPr>
        <p:spPr/>
        <p:txBody>
          <a:bodyPr/>
          <a:lstStyle/>
          <a:p>
            <a:fld id="{6D22F896-40B5-4ADD-8801-0D06FADFA095}" type="slidenum">
              <a:rPr lang="en-US" smtClean="0"/>
              <a:t>43</a:t>
            </a:fld>
            <a:endParaRPr lang="en-US" dirty="0"/>
          </a:p>
        </p:txBody>
      </p:sp>
      <p:sp>
        <p:nvSpPr>
          <p:cNvPr id="5" name="Rectangle 4"/>
          <p:cNvSpPr/>
          <p:nvPr/>
        </p:nvSpPr>
        <p:spPr>
          <a:xfrm>
            <a:off x="331013" y="407657"/>
            <a:ext cx="1687340" cy="184666"/>
          </a:xfrm>
          <a:prstGeom prst="rect">
            <a:avLst/>
          </a:prstGeom>
        </p:spPr>
        <p:txBody>
          <a:bodyPr wrap="square">
            <a:spAutoFit/>
          </a:bodyPr>
          <a:lstStyle/>
          <a:p>
            <a:pPr algn="just"/>
            <a:r>
              <a:rPr lang="en-US" sz="600" dirty="0" smtClean="0">
                <a:solidFill>
                  <a:schemeClr val="bg1">
                    <a:lumMod val="65000"/>
                  </a:schemeClr>
                </a:solidFill>
              </a:rPr>
              <a:t>Openstack.panda.id/dashboard/admin/images</a:t>
            </a:r>
            <a:endParaRPr lang="en-US" sz="600" dirty="0">
              <a:solidFill>
                <a:schemeClr val="bg1">
                  <a:lumMod val="65000"/>
                </a:schemeClr>
              </a:solidFill>
            </a:endParaRPr>
          </a:p>
        </p:txBody>
      </p:sp>
      <p:sp>
        <p:nvSpPr>
          <p:cNvPr id="6" name="Rectangle 5"/>
          <p:cNvSpPr/>
          <p:nvPr/>
        </p:nvSpPr>
        <p:spPr>
          <a:xfrm>
            <a:off x="331012" y="739810"/>
            <a:ext cx="1150173" cy="184666"/>
          </a:xfrm>
          <a:prstGeom prst="rect">
            <a:avLst/>
          </a:prstGeom>
        </p:spPr>
        <p:txBody>
          <a:bodyPr wrap="square">
            <a:spAutoFit/>
          </a:bodyPr>
          <a:lstStyle/>
          <a:p>
            <a:pPr algn="just"/>
            <a:r>
              <a:rPr lang="en-US" sz="600" dirty="0" smtClean="0">
                <a:solidFill>
                  <a:schemeClr val="bg1">
                    <a:lumMod val="65000"/>
                  </a:schemeClr>
                </a:solidFill>
              </a:rPr>
              <a:t>Openstack.panda.id/Deploy/</a:t>
            </a:r>
            <a:endParaRPr lang="en-US" sz="600" dirty="0">
              <a:solidFill>
                <a:schemeClr val="bg1">
                  <a:lumMod val="65000"/>
                </a:schemeClr>
              </a:solidFill>
            </a:endParaRPr>
          </a:p>
        </p:txBody>
      </p:sp>
    </p:spTree>
    <p:extLst>
      <p:ext uri="{BB962C8B-B14F-4D97-AF65-F5344CB8AC3E}">
        <p14:creationId xmlns:p14="http://schemas.microsoft.com/office/powerpoint/2010/main" val="4001695476"/>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135082" y="104934"/>
            <a:ext cx="1187161" cy="621131"/>
          </a:xfrm>
          <a:prstGeom prst="rect">
            <a:avLst/>
          </a:prstGeom>
        </p:spPr>
      </p:pic>
      <p:sp>
        <p:nvSpPr>
          <p:cNvPr id="2" name="Title 1"/>
          <p:cNvSpPr>
            <a:spLocks noGrp="1"/>
          </p:cNvSpPr>
          <p:nvPr>
            <p:ph type="title"/>
          </p:nvPr>
        </p:nvSpPr>
        <p:spPr>
          <a:xfrm>
            <a:off x="1065068" y="179027"/>
            <a:ext cx="7886700" cy="547038"/>
          </a:xfrm>
        </p:spPr>
        <p:txBody>
          <a:bodyPr>
            <a:noAutofit/>
          </a:bodyPr>
          <a:lstStyle/>
          <a:p>
            <a:r>
              <a:rPr lang="en-US" sz="2400" b="1" dirty="0"/>
              <a:t>OpenStack </a:t>
            </a:r>
            <a:r>
              <a:rPr lang="en-US" sz="2400" b="1" dirty="0" err="1"/>
              <a:t>Menggunakan</a:t>
            </a:r>
            <a:r>
              <a:rPr lang="en-US" sz="2400" b="1" dirty="0"/>
              <a:t> </a:t>
            </a:r>
            <a:r>
              <a:rPr lang="en-US" sz="2400" b="1" dirty="0" err="1"/>
              <a:t>Kolla</a:t>
            </a:r>
            <a:r>
              <a:rPr lang="en-US" sz="2400" b="1" dirty="0"/>
              <a:t> </a:t>
            </a:r>
            <a:r>
              <a:rPr lang="en-US" sz="2400" b="1" dirty="0" err="1" smtClean="0"/>
              <a:t>Ansible</a:t>
            </a:r>
            <a:endParaRPr lang="en-US" sz="2400" dirty="0"/>
          </a:p>
        </p:txBody>
      </p:sp>
      <p:sp>
        <p:nvSpPr>
          <p:cNvPr id="4" name="Slide Number Placeholder 3"/>
          <p:cNvSpPr>
            <a:spLocks noGrp="1"/>
          </p:cNvSpPr>
          <p:nvPr>
            <p:ph type="sldNum" sz="quarter" idx="12"/>
          </p:nvPr>
        </p:nvSpPr>
        <p:spPr/>
        <p:txBody>
          <a:bodyPr/>
          <a:lstStyle/>
          <a:p>
            <a:fld id="{6D22F896-40B5-4ADD-8801-0D06FADFA095}" type="slidenum">
              <a:rPr lang="en-US" smtClean="0"/>
              <a:t>44</a:t>
            </a:fld>
            <a:endParaRPr lang="en-US" dirty="0"/>
          </a:p>
        </p:txBody>
      </p:sp>
      <p:pic>
        <p:nvPicPr>
          <p:cNvPr id="6" name="Picture 5"/>
          <p:cNvPicPr>
            <a:picLocks noChangeAspect="1"/>
          </p:cNvPicPr>
          <p:nvPr/>
        </p:nvPicPr>
        <p:blipFill>
          <a:blip r:embed="rId4"/>
          <a:stretch>
            <a:fillRect/>
          </a:stretch>
        </p:blipFill>
        <p:spPr>
          <a:xfrm>
            <a:off x="201323" y="717451"/>
            <a:ext cx="1696316" cy="1191649"/>
          </a:xfrm>
          <a:prstGeom prst="rect">
            <a:avLst/>
          </a:prstGeom>
        </p:spPr>
      </p:pic>
      <p:pic>
        <p:nvPicPr>
          <p:cNvPr id="7" name="Picture 6"/>
          <p:cNvPicPr>
            <a:picLocks noChangeAspect="1"/>
          </p:cNvPicPr>
          <p:nvPr/>
        </p:nvPicPr>
        <p:blipFill>
          <a:blip r:embed="rId5"/>
          <a:stretch>
            <a:fillRect/>
          </a:stretch>
        </p:blipFill>
        <p:spPr>
          <a:xfrm>
            <a:off x="163656" y="2012994"/>
            <a:ext cx="2317174" cy="1216517"/>
          </a:xfrm>
          <a:prstGeom prst="rect">
            <a:avLst/>
          </a:prstGeom>
        </p:spPr>
      </p:pic>
      <p:sp>
        <p:nvSpPr>
          <p:cNvPr id="9" name="Rectangle 8"/>
          <p:cNvSpPr/>
          <p:nvPr/>
        </p:nvSpPr>
        <p:spPr>
          <a:xfrm>
            <a:off x="0" y="3229511"/>
            <a:ext cx="3699164" cy="1708160"/>
          </a:xfrm>
          <a:prstGeom prst="rect">
            <a:avLst/>
          </a:prstGeom>
        </p:spPr>
        <p:txBody>
          <a:bodyPr wrap="square">
            <a:spAutoFit/>
          </a:bodyPr>
          <a:lstStyle/>
          <a:p>
            <a:r>
              <a:rPr lang="en-US" sz="700" dirty="0"/>
              <a:t>$ </a:t>
            </a:r>
            <a:r>
              <a:rPr lang="en-US" sz="700" dirty="0" err="1"/>
              <a:t>openstack</a:t>
            </a:r>
            <a:r>
              <a:rPr lang="en-US" sz="700" dirty="0"/>
              <a:t> service list  </a:t>
            </a:r>
          </a:p>
          <a:p>
            <a:r>
              <a:rPr lang="en-US" sz="700" dirty="0" smtClean="0"/>
              <a:t>+-------------------------------------------------------+----------------------+-----------------------+ </a:t>
            </a:r>
            <a:endParaRPr lang="en-US" sz="700" dirty="0"/>
          </a:p>
          <a:p>
            <a:r>
              <a:rPr lang="en-US" sz="700" dirty="0"/>
              <a:t>| ID                      </a:t>
            </a:r>
            <a:r>
              <a:rPr lang="en-US" sz="700" dirty="0" smtClean="0"/>
              <a:t>                                                    </a:t>
            </a:r>
            <a:r>
              <a:rPr lang="en-US" sz="700" dirty="0"/>
              <a:t>| Name       </a:t>
            </a:r>
            <a:r>
              <a:rPr lang="en-US" sz="700" dirty="0" smtClean="0"/>
              <a:t>             | </a:t>
            </a:r>
            <a:r>
              <a:rPr lang="en-US" sz="700" dirty="0"/>
              <a:t>Type          </a:t>
            </a:r>
            <a:r>
              <a:rPr lang="en-US" sz="700" dirty="0" smtClean="0"/>
              <a:t>             | </a:t>
            </a:r>
            <a:endParaRPr lang="en-US" sz="700" dirty="0"/>
          </a:p>
          <a:p>
            <a:r>
              <a:rPr lang="en-US" sz="700" dirty="0" smtClean="0"/>
              <a:t>+-------------------------------------------------------+----------------------+-----------------------+ </a:t>
            </a:r>
            <a:endParaRPr lang="en-US" sz="700" dirty="0"/>
          </a:p>
          <a:p>
            <a:r>
              <a:rPr lang="en-US" sz="700" dirty="0"/>
              <a:t>| 10cb2de52c404662aa6ca3ccdb8f2cf7 </a:t>
            </a:r>
            <a:r>
              <a:rPr lang="en-US" sz="700" dirty="0" smtClean="0"/>
              <a:t>       | </a:t>
            </a:r>
            <a:r>
              <a:rPr lang="en-US" sz="700" dirty="0"/>
              <a:t>cinderv2    </a:t>
            </a:r>
            <a:r>
              <a:rPr lang="en-US" sz="700" dirty="0" smtClean="0"/>
              <a:t>           | </a:t>
            </a:r>
            <a:r>
              <a:rPr lang="en-US" sz="700" dirty="0"/>
              <a:t>volumev2       </a:t>
            </a:r>
            <a:r>
              <a:rPr lang="en-US" sz="700" dirty="0" smtClean="0"/>
              <a:t>      </a:t>
            </a:r>
            <a:r>
              <a:rPr lang="en-US" sz="700" dirty="0"/>
              <a:t>| </a:t>
            </a:r>
          </a:p>
          <a:p>
            <a:r>
              <a:rPr lang="en-US" sz="700" dirty="0"/>
              <a:t>| 250a6a7cf4d44f0c9cdd2a39f8203ccc </a:t>
            </a:r>
            <a:r>
              <a:rPr lang="en-US" sz="700" dirty="0" smtClean="0"/>
              <a:t>        | </a:t>
            </a:r>
            <a:r>
              <a:rPr lang="en-US" sz="700" dirty="0"/>
              <a:t>cinderv3    </a:t>
            </a:r>
            <a:r>
              <a:rPr lang="en-US" sz="700" dirty="0" smtClean="0"/>
              <a:t>           | </a:t>
            </a:r>
            <a:r>
              <a:rPr lang="en-US" sz="700" dirty="0"/>
              <a:t>volumev3       </a:t>
            </a:r>
            <a:r>
              <a:rPr lang="en-US" sz="700" dirty="0" smtClean="0"/>
              <a:t>      | </a:t>
            </a:r>
            <a:endParaRPr lang="en-US" sz="700" dirty="0"/>
          </a:p>
          <a:p>
            <a:r>
              <a:rPr lang="en-US" sz="700" dirty="0"/>
              <a:t>| 2d99d37fc498465591faa9f44580d991 </a:t>
            </a:r>
            <a:r>
              <a:rPr lang="en-US" sz="700" dirty="0" smtClean="0"/>
              <a:t>      | </a:t>
            </a:r>
            <a:r>
              <a:rPr lang="en-US" sz="700" dirty="0"/>
              <a:t>placement   </a:t>
            </a:r>
            <a:r>
              <a:rPr lang="en-US" sz="700" dirty="0" smtClean="0"/>
              <a:t>        | </a:t>
            </a:r>
            <a:r>
              <a:rPr lang="en-US" sz="700" dirty="0"/>
              <a:t>placement      </a:t>
            </a:r>
            <a:r>
              <a:rPr lang="en-US" sz="700" dirty="0" smtClean="0"/>
              <a:t>      | </a:t>
            </a:r>
            <a:endParaRPr lang="en-US" sz="700" dirty="0"/>
          </a:p>
          <a:p>
            <a:r>
              <a:rPr lang="en-US" sz="700" dirty="0"/>
              <a:t>| 4001de18bf5c45f5a1467a31ea5a2afd </a:t>
            </a:r>
            <a:r>
              <a:rPr lang="en-US" sz="700" dirty="0" smtClean="0"/>
              <a:t>      | </a:t>
            </a:r>
            <a:r>
              <a:rPr lang="en-US" sz="700" dirty="0"/>
              <a:t>heat-</a:t>
            </a:r>
            <a:r>
              <a:rPr lang="en-US" sz="700" dirty="0" err="1"/>
              <a:t>cfn</a:t>
            </a:r>
            <a:r>
              <a:rPr lang="en-US" sz="700" dirty="0"/>
              <a:t>    </a:t>
            </a:r>
            <a:r>
              <a:rPr lang="en-US" sz="700" dirty="0" smtClean="0"/>
              <a:t>           | </a:t>
            </a:r>
            <a:r>
              <a:rPr lang="en-US" sz="700" dirty="0" err="1"/>
              <a:t>cloudformation</a:t>
            </a:r>
            <a:r>
              <a:rPr lang="en-US" sz="700" dirty="0"/>
              <a:t> </a:t>
            </a:r>
            <a:r>
              <a:rPr lang="en-US" sz="700" dirty="0" smtClean="0"/>
              <a:t>  | </a:t>
            </a:r>
            <a:endParaRPr lang="en-US" sz="700" dirty="0"/>
          </a:p>
          <a:p>
            <a:r>
              <a:rPr lang="en-US" sz="700" dirty="0"/>
              <a:t>| 505333b0b90b4962a37d55c44bc940f9 </a:t>
            </a:r>
            <a:r>
              <a:rPr lang="en-US" sz="700" dirty="0" smtClean="0"/>
              <a:t>    | </a:t>
            </a:r>
            <a:r>
              <a:rPr lang="en-US" sz="700" dirty="0"/>
              <a:t>keystone    </a:t>
            </a:r>
            <a:r>
              <a:rPr lang="en-US" sz="700" dirty="0" smtClean="0"/>
              <a:t>          | </a:t>
            </a:r>
            <a:r>
              <a:rPr lang="en-US" sz="700" dirty="0"/>
              <a:t>identity     </a:t>
            </a:r>
            <a:r>
              <a:rPr lang="en-US" sz="700" dirty="0" smtClean="0"/>
              <a:t>            </a:t>
            </a:r>
            <a:r>
              <a:rPr lang="en-US" sz="700" dirty="0"/>
              <a:t>| </a:t>
            </a:r>
          </a:p>
          <a:p>
            <a:r>
              <a:rPr lang="en-US" sz="700" dirty="0"/>
              <a:t>| 612c645a37e848d49af9f6f53dc6e8ac </a:t>
            </a:r>
            <a:r>
              <a:rPr lang="en-US" sz="700" dirty="0" smtClean="0"/>
              <a:t>       | </a:t>
            </a:r>
            <a:r>
              <a:rPr lang="en-US" sz="700" dirty="0" err="1"/>
              <a:t>nova_legacy</a:t>
            </a:r>
            <a:r>
              <a:rPr lang="en-US" sz="700" dirty="0"/>
              <a:t> </a:t>
            </a:r>
            <a:r>
              <a:rPr lang="en-US" sz="700" dirty="0" smtClean="0"/>
              <a:t>      | </a:t>
            </a:r>
            <a:r>
              <a:rPr lang="en-US" sz="700" dirty="0" err="1" smtClean="0"/>
              <a:t>compute_legacy</a:t>
            </a:r>
            <a:r>
              <a:rPr lang="en-US" sz="700" dirty="0" smtClean="0"/>
              <a:t> </a:t>
            </a:r>
            <a:r>
              <a:rPr lang="en-US" sz="700" dirty="0"/>
              <a:t>| </a:t>
            </a:r>
          </a:p>
          <a:p>
            <a:r>
              <a:rPr lang="en-US" sz="700" dirty="0"/>
              <a:t>| 87c2edd540c84c8296251ea284a14398 </a:t>
            </a:r>
            <a:r>
              <a:rPr lang="en-US" sz="700" dirty="0" smtClean="0"/>
              <a:t>    | </a:t>
            </a:r>
            <a:r>
              <a:rPr lang="en-US" sz="700" dirty="0"/>
              <a:t>neutron     </a:t>
            </a:r>
            <a:r>
              <a:rPr lang="en-US" sz="700" dirty="0" smtClean="0"/>
              <a:t>          | </a:t>
            </a:r>
            <a:r>
              <a:rPr lang="en-US" sz="700" dirty="0"/>
              <a:t>network        </a:t>
            </a:r>
            <a:r>
              <a:rPr lang="en-US" sz="700" dirty="0" smtClean="0"/>
              <a:t>         | </a:t>
            </a:r>
            <a:endParaRPr lang="en-US" sz="700" dirty="0"/>
          </a:p>
          <a:p>
            <a:r>
              <a:rPr lang="en-US" sz="700" dirty="0"/>
              <a:t>| 94e54356818d43af8ed7f4e1a6da28f1 </a:t>
            </a:r>
            <a:r>
              <a:rPr lang="en-US" sz="700" dirty="0" smtClean="0"/>
              <a:t>     | </a:t>
            </a:r>
            <a:r>
              <a:rPr lang="en-US" sz="700" dirty="0"/>
              <a:t>nova        </a:t>
            </a:r>
            <a:r>
              <a:rPr lang="en-US" sz="700" dirty="0" smtClean="0"/>
              <a:t>             | </a:t>
            </a:r>
            <a:r>
              <a:rPr lang="en-US" sz="700" dirty="0"/>
              <a:t>compute        </a:t>
            </a:r>
            <a:r>
              <a:rPr lang="en-US" sz="700" dirty="0" smtClean="0"/>
              <a:t>         | </a:t>
            </a:r>
            <a:endParaRPr lang="en-US" sz="700" dirty="0"/>
          </a:p>
          <a:p>
            <a:r>
              <a:rPr lang="en-US" sz="700" dirty="0"/>
              <a:t>| a9f6eb791ec740c183ecff67dc7c7b08 </a:t>
            </a:r>
            <a:r>
              <a:rPr lang="en-US" sz="700" dirty="0" smtClean="0"/>
              <a:t>       | </a:t>
            </a:r>
            <a:r>
              <a:rPr lang="en-US" sz="700" dirty="0"/>
              <a:t>glance     </a:t>
            </a:r>
            <a:r>
              <a:rPr lang="en-US" sz="700" dirty="0" smtClean="0"/>
              <a:t>             </a:t>
            </a:r>
            <a:r>
              <a:rPr lang="en-US" sz="700" dirty="0"/>
              <a:t>| image          </a:t>
            </a:r>
            <a:r>
              <a:rPr lang="en-US" sz="700" dirty="0" smtClean="0"/>
              <a:t>            | </a:t>
            </a:r>
            <a:endParaRPr lang="en-US" sz="700" dirty="0"/>
          </a:p>
          <a:p>
            <a:r>
              <a:rPr lang="en-US" sz="700" dirty="0"/>
              <a:t>| eaf1f96955244acfbf5124e42c32f4e6 </a:t>
            </a:r>
            <a:r>
              <a:rPr lang="en-US" sz="700" dirty="0" smtClean="0"/>
              <a:t>        | </a:t>
            </a:r>
            <a:r>
              <a:rPr lang="en-US" sz="700" dirty="0"/>
              <a:t>heat       </a:t>
            </a:r>
            <a:r>
              <a:rPr lang="en-US" sz="700" dirty="0" smtClean="0"/>
              <a:t>              </a:t>
            </a:r>
            <a:r>
              <a:rPr lang="en-US" sz="700" dirty="0"/>
              <a:t>| orchestration  </a:t>
            </a:r>
            <a:r>
              <a:rPr lang="en-US" sz="700" dirty="0" smtClean="0"/>
              <a:t>       | </a:t>
            </a:r>
            <a:endParaRPr lang="en-US" sz="700" dirty="0"/>
          </a:p>
          <a:p>
            <a:r>
              <a:rPr lang="en-US" sz="700" dirty="0" smtClean="0"/>
              <a:t>+------------------------------------------------------+----------------------+-----------------------+</a:t>
            </a:r>
            <a:endParaRPr lang="en-US" sz="700" dirty="0"/>
          </a:p>
        </p:txBody>
      </p:sp>
      <p:pic>
        <p:nvPicPr>
          <p:cNvPr id="2051" name="Picture 3" descr="The Ansible control plane manages Network devices; the Seed host; and  Control plane, Hypervisor and Storage hosts. The Control plane hosts provision Bare metal compute and storage hosts; VMs; and Volumes, Images and Objects."/>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87012" y="726065"/>
            <a:ext cx="2537691" cy="1759466"/>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An animated GIF showing the key phases of setting up hardware in a 3 rack system. 1. Configuring network devices. 2. Mapping hosts to VLANs. 3. Preparing the Seed host. 4. Bootstrapping the Control plane, Storage and Virtualised compute hosts with Bifrost. 5. Configuring Control plane, Storage and Virtualised compute hosts. 6. Bootstrapping Bare metal compute hosts."/>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2887012" y="2216714"/>
            <a:ext cx="2820410" cy="2926785"/>
          </a:xfrm>
          <a:prstGeom prst="rect">
            <a:avLst/>
          </a:prstGeom>
          <a:noFill/>
          <a:extLst>
            <a:ext uri="{909E8E84-426E-40DD-AFC4-6F175D3DCCD1}">
              <a14:hiddenFill xmlns:a14="http://schemas.microsoft.com/office/drawing/2010/main">
                <a:solidFill>
                  <a:srgbClr val="FFFFFF"/>
                </a:solidFill>
              </a14:hiddenFill>
            </a:ext>
          </a:extLst>
        </p:spPr>
      </p:pic>
      <p:sp>
        <p:nvSpPr>
          <p:cNvPr id="10" name="Rectangle 9"/>
          <p:cNvSpPr/>
          <p:nvPr/>
        </p:nvSpPr>
        <p:spPr>
          <a:xfrm>
            <a:off x="2887012" y="4706838"/>
            <a:ext cx="2318833" cy="461665"/>
          </a:xfrm>
          <a:prstGeom prst="rect">
            <a:avLst/>
          </a:prstGeom>
        </p:spPr>
        <p:txBody>
          <a:bodyPr wrap="square">
            <a:spAutoFit/>
          </a:bodyPr>
          <a:lstStyle/>
          <a:p>
            <a:pPr algn="just"/>
            <a:r>
              <a:rPr lang="en-US" sz="800" dirty="0"/>
              <a:t>An example of a 3 rack system managed and provisioned using </a:t>
            </a:r>
            <a:r>
              <a:rPr lang="en-US" sz="800" dirty="0" err="1"/>
              <a:t>Kayobe</a:t>
            </a:r>
            <a:r>
              <a:rPr lang="en-US" sz="800" dirty="0"/>
              <a:t> with a high-availability control plane</a:t>
            </a:r>
          </a:p>
        </p:txBody>
      </p:sp>
      <p:sp>
        <p:nvSpPr>
          <p:cNvPr id="14" name="Rectangle 13"/>
          <p:cNvSpPr/>
          <p:nvPr/>
        </p:nvSpPr>
        <p:spPr>
          <a:xfrm>
            <a:off x="2887011" y="1711749"/>
            <a:ext cx="2318833" cy="338554"/>
          </a:xfrm>
          <a:prstGeom prst="rect">
            <a:avLst/>
          </a:prstGeom>
        </p:spPr>
        <p:txBody>
          <a:bodyPr wrap="square">
            <a:spAutoFit/>
          </a:bodyPr>
          <a:lstStyle/>
          <a:p>
            <a:pPr algn="just"/>
            <a:r>
              <a:rPr lang="en-US" sz="800" dirty="0"/>
              <a:t>hybrid system of bare metal and </a:t>
            </a:r>
            <a:r>
              <a:rPr lang="en-US" sz="800" dirty="0" err="1"/>
              <a:t>virtualised</a:t>
            </a:r>
            <a:r>
              <a:rPr lang="en-US" sz="800" dirty="0"/>
              <a:t> nodes is managed and provisioned by </a:t>
            </a:r>
            <a:r>
              <a:rPr lang="en-US" sz="800" dirty="0" err="1"/>
              <a:t>Kayobe</a:t>
            </a:r>
            <a:endParaRPr lang="en-US" sz="800" dirty="0"/>
          </a:p>
        </p:txBody>
      </p:sp>
    </p:spTree>
    <p:extLst>
      <p:ext uri="{BB962C8B-B14F-4D97-AF65-F5344CB8AC3E}">
        <p14:creationId xmlns:p14="http://schemas.microsoft.com/office/powerpoint/2010/main" val="243125736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45</a:t>
            </a:fld>
            <a:endParaRPr lang="en-US" dirty="0"/>
          </a:p>
        </p:txBody>
      </p:sp>
      <p:pic>
        <p:nvPicPr>
          <p:cNvPr id="6" name="Picture 5"/>
          <p:cNvPicPr>
            <a:picLocks noChangeAspect="1"/>
          </p:cNvPicPr>
          <p:nvPr/>
        </p:nvPicPr>
        <p:blipFill>
          <a:blip r:embed="rId3"/>
          <a:stretch>
            <a:fillRect/>
          </a:stretch>
        </p:blipFill>
        <p:spPr>
          <a:xfrm>
            <a:off x="7769497" y="3012094"/>
            <a:ext cx="745853" cy="575649"/>
          </a:xfrm>
          <a:prstGeom prst="rect">
            <a:avLst/>
          </a:prstGeom>
        </p:spPr>
      </p:pic>
      <p:pic>
        <p:nvPicPr>
          <p:cNvPr id="7" name="Picture 6"/>
          <p:cNvPicPr>
            <a:picLocks noChangeAspect="1"/>
          </p:cNvPicPr>
          <p:nvPr/>
        </p:nvPicPr>
        <p:blipFill>
          <a:blip r:embed="rId4"/>
          <a:stretch>
            <a:fillRect/>
          </a:stretch>
        </p:blipFill>
        <p:spPr>
          <a:xfrm>
            <a:off x="7326292" y="3786991"/>
            <a:ext cx="598508" cy="586376"/>
          </a:xfrm>
          <a:prstGeom prst="rect">
            <a:avLst/>
          </a:prstGeom>
        </p:spPr>
      </p:pic>
      <p:pic>
        <p:nvPicPr>
          <p:cNvPr id="8" name="Picture 7"/>
          <p:cNvPicPr>
            <a:picLocks noChangeAspect="1"/>
          </p:cNvPicPr>
          <p:nvPr/>
        </p:nvPicPr>
        <p:blipFill>
          <a:blip r:embed="rId5"/>
          <a:stretch>
            <a:fillRect/>
          </a:stretch>
        </p:blipFill>
        <p:spPr>
          <a:xfrm>
            <a:off x="8035636" y="3829270"/>
            <a:ext cx="618926" cy="544097"/>
          </a:xfrm>
          <a:prstGeom prst="rect">
            <a:avLst/>
          </a:prstGeom>
        </p:spPr>
      </p:pic>
      <p:sp>
        <p:nvSpPr>
          <p:cNvPr id="2" name="Rectangle 1"/>
          <p:cNvSpPr/>
          <p:nvPr/>
        </p:nvSpPr>
        <p:spPr>
          <a:xfrm>
            <a:off x="-1" y="476250"/>
            <a:ext cx="4312693" cy="3293209"/>
          </a:xfrm>
          <a:prstGeom prst="rect">
            <a:avLst/>
          </a:prstGeom>
        </p:spPr>
        <p:txBody>
          <a:bodyPr wrap="square">
            <a:spAutoFit/>
          </a:bodyPr>
          <a:lstStyle/>
          <a:p>
            <a:pPr algn="just"/>
            <a:r>
              <a:rPr lang="en-US" dirty="0"/>
              <a:t>OpenStack Series #2 — Install </a:t>
            </a:r>
            <a:r>
              <a:rPr lang="en-US" dirty="0" err="1"/>
              <a:t>openstack</a:t>
            </a:r>
            <a:r>
              <a:rPr lang="en-US" dirty="0"/>
              <a:t> </a:t>
            </a:r>
            <a:r>
              <a:rPr lang="en-US" dirty="0" err="1"/>
              <a:t>menggunakan</a:t>
            </a:r>
            <a:r>
              <a:rPr lang="en-US" dirty="0"/>
              <a:t> </a:t>
            </a:r>
            <a:r>
              <a:rPr lang="en-US" dirty="0" err="1"/>
              <a:t>Kolla</a:t>
            </a:r>
            <a:r>
              <a:rPr lang="en-US" dirty="0"/>
              <a:t> </a:t>
            </a:r>
            <a:r>
              <a:rPr lang="en-US" dirty="0" err="1"/>
              <a:t>Ansible</a:t>
            </a:r>
            <a:r>
              <a:rPr lang="en-US" dirty="0"/>
              <a:t> (Multi-nodes</a:t>
            </a:r>
            <a:r>
              <a:rPr lang="en-US" dirty="0" smtClean="0"/>
              <a:t>)</a:t>
            </a:r>
          </a:p>
          <a:p>
            <a:r>
              <a:rPr lang="en-US" sz="1400" b="1" dirty="0" err="1"/>
              <a:t>Prasyarat</a:t>
            </a:r>
            <a:endParaRPr lang="en-US" sz="1400" b="1" dirty="0"/>
          </a:p>
          <a:p>
            <a:pPr marL="342900" indent="-342900" algn="just">
              <a:buFont typeface="+mj-lt"/>
              <a:buAutoNum type="arabicPeriod"/>
            </a:pPr>
            <a:r>
              <a:rPr lang="en-US" sz="1400" dirty="0"/>
              <a:t>Bare-metal / Virtual Machine (Minimal 1 node </a:t>
            </a:r>
            <a:r>
              <a:rPr lang="en-US" sz="1400" dirty="0" err="1"/>
              <a:t>untuk</a:t>
            </a:r>
            <a:r>
              <a:rPr lang="en-US" sz="1400" dirty="0"/>
              <a:t> </a:t>
            </a:r>
            <a:r>
              <a:rPr lang="en-US" sz="1400" dirty="0" err="1"/>
              <a:t>metode</a:t>
            </a:r>
            <a:r>
              <a:rPr lang="en-US" sz="1400" dirty="0"/>
              <a:t> All In One </a:t>
            </a:r>
            <a:r>
              <a:rPr lang="en-US" sz="1400" dirty="0" err="1"/>
              <a:t>dan</a:t>
            </a:r>
            <a:r>
              <a:rPr lang="en-US" sz="1400" dirty="0"/>
              <a:t> minimal 2 node </a:t>
            </a:r>
            <a:r>
              <a:rPr lang="en-US" sz="1400" dirty="0" err="1"/>
              <a:t>untuk</a:t>
            </a:r>
            <a:r>
              <a:rPr lang="en-US" sz="1400" dirty="0"/>
              <a:t> </a:t>
            </a:r>
            <a:r>
              <a:rPr lang="en-US" sz="1400" dirty="0" err="1"/>
              <a:t>metode</a:t>
            </a:r>
            <a:r>
              <a:rPr lang="en-US" sz="1400" dirty="0"/>
              <a:t> </a:t>
            </a:r>
            <a:r>
              <a:rPr lang="en-US" sz="1400" dirty="0" err="1"/>
              <a:t>Multinode</a:t>
            </a:r>
            <a:r>
              <a:rPr lang="en-US" sz="1400" dirty="0"/>
              <a:t>)</a:t>
            </a:r>
          </a:p>
          <a:p>
            <a:pPr marL="342900" indent="-342900" algn="just">
              <a:buFont typeface="+mj-lt"/>
              <a:buAutoNum type="arabicPeriod"/>
            </a:pPr>
            <a:r>
              <a:rPr lang="en-US" sz="1400" dirty="0"/>
              <a:t>Minimal 2 NIC per VM </a:t>
            </a:r>
            <a:r>
              <a:rPr lang="en-US" sz="1400" dirty="0" err="1"/>
              <a:t>dengan</a:t>
            </a:r>
            <a:r>
              <a:rPr lang="en-US" sz="1400" dirty="0"/>
              <a:t> 1 interface yang </a:t>
            </a:r>
            <a:r>
              <a:rPr lang="en-US" sz="1400" dirty="0" err="1"/>
              <a:t>tidak</a:t>
            </a:r>
            <a:r>
              <a:rPr lang="en-US" sz="1400" dirty="0"/>
              <a:t> </a:t>
            </a:r>
            <a:r>
              <a:rPr lang="en-US" sz="1400" dirty="0" err="1"/>
              <a:t>diberikan</a:t>
            </a:r>
            <a:r>
              <a:rPr lang="en-US" sz="1400" dirty="0"/>
              <a:t> </a:t>
            </a:r>
            <a:r>
              <a:rPr lang="en-US" sz="1400" dirty="0" err="1"/>
              <a:t>ip</a:t>
            </a:r>
            <a:endParaRPr lang="en-US" sz="1400" dirty="0"/>
          </a:p>
          <a:p>
            <a:pPr marL="342900" indent="-342900" algn="just">
              <a:buFont typeface="+mj-lt"/>
              <a:buAutoNum type="arabicPeriod"/>
            </a:pPr>
            <a:r>
              <a:rPr lang="en-US" sz="1400" dirty="0"/>
              <a:t>Disk </a:t>
            </a:r>
            <a:r>
              <a:rPr lang="en-US" sz="1400" dirty="0" err="1"/>
              <a:t>tambahan</a:t>
            </a:r>
            <a:r>
              <a:rPr lang="en-US" sz="1400" dirty="0"/>
              <a:t> </a:t>
            </a:r>
            <a:r>
              <a:rPr lang="en-US" sz="1400" dirty="0" err="1"/>
              <a:t>untuk</a:t>
            </a:r>
            <a:r>
              <a:rPr lang="en-US" sz="1400" dirty="0"/>
              <a:t> backend storage (At Least 50gb)</a:t>
            </a:r>
          </a:p>
          <a:p>
            <a:pPr marL="342900" indent="-342900" algn="just">
              <a:buFont typeface="+mj-lt"/>
              <a:buAutoNum type="arabicPeriod"/>
            </a:pPr>
            <a:r>
              <a:rPr lang="en-US" sz="1400" dirty="0"/>
              <a:t>Ram minimal 8gb</a:t>
            </a:r>
          </a:p>
          <a:p>
            <a:pPr marL="342900" indent="-342900" algn="just">
              <a:buFont typeface="+mj-lt"/>
              <a:buAutoNum type="arabicPeriod"/>
            </a:pPr>
            <a:r>
              <a:rPr lang="en-US" sz="1400" dirty="0" err="1"/>
              <a:t>Koneksi</a:t>
            </a:r>
            <a:r>
              <a:rPr lang="en-US" sz="1400" dirty="0"/>
              <a:t> </a:t>
            </a:r>
            <a:r>
              <a:rPr lang="en-US" sz="1400" dirty="0" err="1"/>
              <a:t>ke</a:t>
            </a:r>
            <a:r>
              <a:rPr lang="en-US" sz="1400" dirty="0"/>
              <a:t> Internet</a:t>
            </a:r>
          </a:p>
          <a:p>
            <a:pPr marL="342900" indent="-342900" algn="just">
              <a:buFont typeface="+mj-lt"/>
              <a:buAutoNum type="arabicPeriod"/>
            </a:pPr>
            <a:r>
              <a:rPr lang="en-US" sz="1400" dirty="0" err="1"/>
              <a:t>Mempunyai</a:t>
            </a:r>
            <a:r>
              <a:rPr lang="en-US" sz="1400" dirty="0"/>
              <a:t> </a:t>
            </a:r>
            <a:r>
              <a:rPr lang="en-US" sz="1400" dirty="0" err="1"/>
              <a:t>akses</a:t>
            </a:r>
            <a:r>
              <a:rPr lang="en-US" sz="1400" dirty="0"/>
              <a:t> root </a:t>
            </a:r>
            <a:r>
              <a:rPr lang="en-US" sz="1400" dirty="0" err="1"/>
              <a:t>maupun</a:t>
            </a:r>
            <a:r>
              <a:rPr lang="en-US" sz="1400" dirty="0"/>
              <a:t> user </a:t>
            </a:r>
            <a:r>
              <a:rPr lang="en-US" sz="1400" dirty="0" err="1"/>
              <a:t>sudoer</a:t>
            </a:r>
            <a:endParaRPr lang="en-US" sz="1400" dirty="0"/>
          </a:p>
          <a:p>
            <a:pPr algn="just"/>
            <a:endParaRPr lang="en-US" dirty="0"/>
          </a:p>
        </p:txBody>
      </p:sp>
      <p:pic>
        <p:nvPicPr>
          <p:cNvPr id="3" name="Picture 2"/>
          <p:cNvPicPr>
            <a:picLocks noChangeAspect="1"/>
          </p:cNvPicPr>
          <p:nvPr/>
        </p:nvPicPr>
        <p:blipFill>
          <a:blip r:embed="rId6"/>
          <a:stretch>
            <a:fillRect/>
          </a:stretch>
        </p:blipFill>
        <p:spPr>
          <a:xfrm>
            <a:off x="207275" y="3698229"/>
            <a:ext cx="1922121" cy="1350275"/>
          </a:xfrm>
          <a:prstGeom prst="rect">
            <a:avLst/>
          </a:prstGeom>
        </p:spPr>
      </p:pic>
      <p:pic>
        <p:nvPicPr>
          <p:cNvPr id="9" name="Picture 8"/>
          <p:cNvPicPr>
            <a:picLocks noChangeAspect="1"/>
          </p:cNvPicPr>
          <p:nvPr/>
        </p:nvPicPr>
        <p:blipFill>
          <a:blip r:embed="rId7"/>
          <a:stretch>
            <a:fillRect/>
          </a:stretch>
        </p:blipFill>
        <p:spPr>
          <a:xfrm>
            <a:off x="2240232" y="3917877"/>
            <a:ext cx="2072461" cy="860123"/>
          </a:xfrm>
          <a:prstGeom prst="rect">
            <a:avLst/>
          </a:prstGeom>
        </p:spPr>
      </p:pic>
    </p:spTree>
    <p:extLst>
      <p:ext uri="{BB962C8B-B14F-4D97-AF65-F5344CB8AC3E}">
        <p14:creationId xmlns:p14="http://schemas.microsoft.com/office/powerpoint/2010/main" val="31675757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22613" y="1645444"/>
            <a:ext cx="7886700" cy="994172"/>
          </a:xfrm>
        </p:spPr>
        <p:txBody>
          <a:bodyPr>
            <a:normAutofit/>
          </a:bodyPr>
          <a:lstStyle/>
          <a:p>
            <a:pPr algn="ctr"/>
            <a:r>
              <a:rPr lang="en-US" b="1" dirty="0" err="1">
                <a:solidFill>
                  <a:srgbClr val="002060"/>
                </a:solidFill>
              </a:rPr>
              <a:t>Openstack</a:t>
            </a:r>
            <a:r>
              <a:rPr lang="en-US" b="1" dirty="0">
                <a:solidFill>
                  <a:srgbClr val="002060"/>
                </a:solidFill>
              </a:rPr>
              <a:t> 2024.2 with </a:t>
            </a:r>
            <a:r>
              <a:rPr lang="en-US" b="1" dirty="0" err="1">
                <a:solidFill>
                  <a:srgbClr val="002060"/>
                </a:solidFill>
              </a:rPr>
              <a:t>Kolla</a:t>
            </a:r>
            <a:r>
              <a:rPr lang="en-US" b="1" dirty="0">
                <a:solidFill>
                  <a:srgbClr val="002060"/>
                </a:solidFill>
              </a:rPr>
              <a:t> </a:t>
            </a:r>
            <a:r>
              <a:rPr lang="en-US" b="1" dirty="0" err="1">
                <a:solidFill>
                  <a:srgbClr val="002060"/>
                </a:solidFill>
              </a:rPr>
              <a:t>Ansible</a:t>
            </a:r>
            <a:endParaRPr lang="en-US" b="1" dirty="0">
              <a:solidFill>
                <a:srgbClr val="00206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46</a:t>
            </a:fld>
            <a:endParaRPr lang="en-US" dirty="0"/>
          </a:p>
        </p:txBody>
      </p:sp>
      <p:sp>
        <p:nvSpPr>
          <p:cNvPr id="5" name="Rectangle 4"/>
          <p:cNvSpPr/>
          <p:nvPr/>
        </p:nvSpPr>
        <p:spPr>
          <a:xfrm>
            <a:off x="331013" y="407657"/>
            <a:ext cx="1687340" cy="184666"/>
          </a:xfrm>
          <a:prstGeom prst="rect">
            <a:avLst/>
          </a:prstGeom>
        </p:spPr>
        <p:txBody>
          <a:bodyPr wrap="square">
            <a:spAutoFit/>
          </a:bodyPr>
          <a:lstStyle/>
          <a:p>
            <a:pPr algn="just"/>
            <a:r>
              <a:rPr lang="en-US" sz="600" dirty="0" smtClean="0">
                <a:solidFill>
                  <a:schemeClr val="bg1">
                    <a:lumMod val="65000"/>
                  </a:schemeClr>
                </a:solidFill>
              </a:rPr>
              <a:t>Openstack.panda.id/dashboard/admin/images</a:t>
            </a:r>
            <a:endParaRPr lang="en-US" sz="600" dirty="0">
              <a:solidFill>
                <a:schemeClr val="bg1">
                  <a:lumMod val="65000"/>
                </a:schemeClr>
              </a:solidFill>
            </a:endParaRPr>
          </a:p>
        </p:txBody>
      </p:sp>
      <p:sp>
        <p:nvSpPr>
          <p:cNvPr id="6" name="Rectangle 5"/>
          <p:cNvSpPr/>
          <p:nvPr/>
        </p:nvSpPr>
        <p:spPr>
          <a:xfrm>
            <a:off x="331012" y="739810"/>
            <a:ext cx="1150173" cy="184666"/>
          </a:xfrm>
          <a:prstGeom prst="rect">
            <a:avLst/>
          </a:prstGeom>
        </p:spPr>
        <p:txBody>
          <a:bodyPr wrap="square">
            <a:spAutoFit/>
          </a:bodyPr>
          <a:lstStyle/>
          <a:p>
            <a:pPr algn="just"/>
            <a:r>
              <a:rPr lang="en-US" sz="600" dirty="0" smtClean="0">
                <a:solidFill>
                  <a:schemeClr val="bg1">
                    <a:lumMod val="65000"/>
                  </a:schemeClr>
                </a:solidFill>
              </a:rPr>
              <a:t>Openstack.panda.id/Deploy/</a:t>
            </a:r>
            <a:endParaRPr lang="en-US" sz="600" dirty="0">
              <a:solidFill>
                <a:schemeClr val="bg1">
                  <a:lumMod val="65000"/>
                </a:schemeClr>
              </a:solidFill>
            </a:endParaRPr>
          </a:p>
        </p:txBody>
      </p:sp>
    </p:spTree>
    <p:extLst>
      <p:ext uri="{BB962C8B-B14F-4D97-AF65-F5344CB8AC3E}">
        <p14:creationId xmlns:p14="http://schemas.microsoft.com/office/powerpoint/2010/main" val="2387651231"/>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47</a:t>
            </a:fld>
            <a:endParaRPr lang="en-US" dirty="0"/>
          </a:p>
        </p:txBody>
      </p:sp>
      <p:pic>
        <p:nvPicPr>
          <p:cNvPr id="6" name="Picture 5"/>
          <p:cNvPicPr>
            <a:picLocks noChangeAspect="1"/>
          </p:cNvPicPr>
          <p:nvPr/>
        </p:nvPicPr>
        <p:blipFill>
          <a:blip r:embed="rId3"/>
          <a:stretch>
            <a:fillRect/>
          </a:stretch>
        </p:blipFill>
        <p:spPr>
          <a:xfrm>
            <a:off x="7769497" y="3012094"/>
            <a:ext cx="745853" cy="575649"/>
          </a:xfrm>
          <a:prstGeom prst="rect">
            <a:avLst/>
          </a:prstGeom>
        </p:spPr>
      </p:pic>
      <p:pic>
        <p:nvPicPr>
          <p:cNvPr id="7" name="Picture 6"/>
          <p:cNvPicPr>
            <a:picLocks noChangeAspect="1"/>
          </p:cNvPicPr>
          <p:nvPr/>
        </p:nvPicPr>
        <p:blipFill>
          <a:blip r:embed="rId4"/>
          <a:stretch>
            <a:fillRect/>
          </a:stretch>
        </p:blipFill>
        <p:spPr>
          <a:xfrm>
            <a:off x="7326292" y="3786991"/>
            <a:ext cx="598508" cy="586376"/>
          </a:xfrm>
          <a:prstGeom prst="rect">
            <a:avLst/>
          </a:prstGeom>
        </p:spPr>
      </p:pic>
      <p:pic>
        <p:nvPicPr>
          <p:cNvPr id="8" name="Picture 7"/>
          <p:cNvPicPr>
            <a:picLocks noChangeAspect="1"/>
          </p:cNvPicPr>
          <p:nvPr/>
        </p:nvPicPr>
        <p:blipFill>
          <a:blip r:embed="rId5"/>
          <a:stretch>
            <a:fillRect/>
          </a:stretch>
        </p:blipFill>
        <p:spPr>
          <a:xfrm>
            <a:off x="8035636" y="3829270"/>
            <a:ext cx="618926" cy="544097"/>
          </a:xfrm>
          <a:prstGeom prst="rect">
            <a:avLst/>
          </a:prstGeom>
        </p:spPr>
      </p:pic>
      <p:sp>
        <p:nvSpPr>
          <p:cNvPr id="2" name="Rectangle 1"/>
          <p:cNvSpPr/>
          <p:nvPr/>
        </p:nvSpPr>
        <p:spPr>
          <a:xfrm>
            <a:off x="160420" y="43618"/>
            <a:ext cx="4716380" cy="584775"/>
          </a:xfrm>
          <a:prstGeom prst="rect">
            <a:avLst/>
          </a:prstGeom>
        </p:spPr>
        <p:txBody>
          <a:bodyPr wrap="square">
            <a:spAutoFit/>
          </a:bodyPr>
          <a:lstStyle/>
          <a:p>
            <a:r>
              <a:rPr lang="en-US" b="1" dirty="0" err="1"/>
              <a:t>Openstack</a:t>
            </a:r>
            <a:r>
              <a:rPr lang="en-US" b="1" dirty="0"/>
              <a:t> 2024.2 with </a:t>
            </a:r>
            <a:r>
              <a:rPr lang="en-US" b="1" dirty="0" err="1"/>
              <a:t>Kolla</a:t>
            </a:r>
            <a:r>
              <a:rPr lang="en-US" b="1" dirty="0"/>
              <a:t> </a:t>
            </a:r>
            <a:r>
              <a:rPr lang="en-US" b="1" dirty="0" err="1" smtClean="0"/>
              <a:t>Ansible</a:t>
            </a:r>
            <a:r>
              <a:rPr lang="en-US" b="1" dirty="0" smtClean="0"/>
              <a:t> </a:t>
            </a:r>
            <a:r>
              <a:rPr lang="en-US" b="1" dirty="0" smtClean="0">
                <a:solidFill>
                  <a:srgbClr val="002060"/>
                </a:solidFill>
              </a:rPr>
              <a:t>(</a:t>
            </a:r>
            <a:r>
              <a:rPr lang="en-US" b="1" dirty="0" err="1" smtClean="0">
                <a:solidFill>
                  <a:srgbClr val="002060"/>
                </a:solidFill>
              </a:rPr>
              <a:t>Cons’t</a:t>
            </a:r>
            <a:r>
              <a:rPr lang="en-US" b="1" dirty="0" smtClean="0">
                <a:solidFill>
                  <a:srgbClr val="002060"/>
                </a:solidFill>
              </a:rPr>
              <a:t>)</a:t>
            </a:r>
            <a:endParaRPr lang="en-US" b="1" dirty="0">
              <a:solidFill>
                <a:srgbClr val="002060"/>
              </a:solidFill>
            </a:endParaRPr>
          </a:p>
          <a:p>
            <a:pPr algn="just"/>
            <a:endParaRPr lang="en-US" sz="1400" dirty="0"/>
          </a:p>
        </p:txBody>
      </p:sp>
      <p:graphicFrame>
        <p:nvGraphicFramePr>
          <p:cNvPr id="5" name="Table 4"/>
          <p:cNvGraphicFramePr>
            <a:graphicFrameLocks noGrp="1"/>
          </p:cNvGraphicFramePr>
          <p:nvPr>
            <p:extLst>
              <p:ext uri="{D42A27DB-BD31-4B8C-83A1-F6EECF244321}">
                <p14:modId xmlns:p14="http://schemas.microsoft.com/office/powerpoint/2010/main" val="2695419335"/>
              </p:ext>
            </p:extLst>
          </p:nvPr>
        </p:nvGraphicFramePr>
        <p:xfrm>
          <a:off x="628651" y="665205"/>
          <a:ext cx="7886697" cy="2495704"/>
        </p:xfrm>
        <a:graphic>
          <a:graphicData uri="http://schemas.openxmlformats.org/drawingml/2006/table">
            <a:tbl>
              <a:tblPr/>
              <a:tblGrid>
                <a:gridCol w="1126671">
                  <a:extLst>
                    <a:ext uri="{9D8B030D-6E8A-4147-A177-3AD203B41FA5}">
                      <a16:colId xmlns:a16="http://schemas.microsoft.com/office/drawing/2014/main" val="3411580168"/>
                    </a:ext>
                  </a:extLst>
                </a:gridCol>
                <a:gridCol w="1126671">
                  <a:extLst>
                    <a:ext uri="{9D8B030D-6E8A-4147-A177-3AD203B41FA5}">
                      <a16:colId xmlns:a16="http://schemas.microsoft.com/office/drawing/2014/main" val="1536646722"/>
                    </a:ext>
                  </a:extLst>
                </a:gridCol>
                <a:gridCol w="1126671">
                  <a:extLst>
                    <a:ext uri="{9D8B030D-6E8A-4147-A177-3AD203B41FA5}">
                      <a16:colId xmlns:a16="http://schemas.microsoft.com/office/drawing/2014/main" val="2435696873"/>
                    </a:ext>
                  </a:extLst>
                </a:gridCol>
                <a:gridCol w="1126671">
                  <a:extLst>
                    <a:ext uri="{9D8B030D-6E8A-4147-A177-3AD203B41FA5}">
                      <a16:colId xmlns:a16="http://schemas.microsoft.com/office/drawing/2014/main" val="46263374"/>
                    </a:ext>
                  </a:extLst>
                </a:gridCol>
                <a:gridCol w="1126671">
                  <a:extLst>
                    <a:ext uri="{9D8B030D-6E8A-4147-A177-3AD203B41FA5}">
                      <a16:colId xmlns:a16="http://schemas.microsoft.com/office/drawing/2014/main" val="457076928"/>
                    </a:ext>
                  </a:extLst>
                </a:gridCol>
                <a:gridCol w="1126671">
                  <a:extLst>
                    <a:ext uri="{9D8B030D-6E8A-4147-A177-3AD203B41FA5}">
                      <a16:colId xmlns:a16="http://schemas.microsoft.com/office/drawing/2014/main" val="3916166730"/>
                    </a:ext>
                  </a:extLst>
                </a:gridCol>
                <a:gridCol w="1126671">
                  <a:extLst>
                    <a:ext uri="{9D8B030D-6E8A-4147-A177-3AD203B41FA5}">
                      <a16:colId xmlns:a16="http://schemas.microsoft.com/office/drawing/2014/main" val="3084194414"/>
                    </a:ext>
                  </a:extLst>
                </a:gridCol>
              </a:tblGrid>
              <a:tr h="518770">
                <a:tc>
                  <a:txBody>
                    <a:bodyPr/>
                    <a:lstStyle/>
                    <a:p>
                      <a:pPr algn="l"/>
                      <a:r>
                        <a:rPr lang="en-US" sz="1200" i="1" dirty="0">
                          <a:effectLst/>
                        </a:rPr>
                        <a:t>Node Hostname</a:t>
                      </a:r>
                      <a:endParaRPr lang="en-US" sz="1200" dirty="0">
                        <a:effectLst/>
                      </a:endParaRPr>
                    </a:p>
                  </a:txBody>
                  <a:tcPr marL="43815" marR="43815" marT="70104" marB="70104" anchor="ctr">
                    <a:lnL>
                      <a:noFill/>
                    </a:lnL>
                    <a:lnR>
                      <a:noFill/>
                    </a:lnR>
                    <a:lnT>
                      <a:noFill/>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sz="1200" i="1">
                          <a:effectLst/>
                        </a:rPr>
                        <a:t>Node Role</a:t>
                      </a:r>
                      <a:endParaRPr lang="en-US" sz="1200">
                        <a:effectLst/>
                      </a:endParaRPr>
                    </a:p>
                  </a:txBody>
                  <a:tcPr marL="43815" marR="43815" marT="70104" marB="70104" anchor="ctr">
                    <a:lnL>
                      <a:noFill/>
                    </a:lnL>
                    <a:lnR>
                      <a:noFill/>
                    </a:lnR>
                    <a:lnT>
                      <a:noFill/>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sz="1200" i="1">
                          <a:effectLst/>
                        </a:rPr>
                        <a:t>vCPU</a:t>
                      </a:r>
                      <a:endParaRPr lang="en-US" sz="1200">
                        <a:effectLst/>
                      </a:endParaRPr>
                    </a:p>
                  </a:txBody>
                  <a:tcPr marL="43815" marR="43815" marT="70104" marB="70104" anchor="ctr">
                    <a:lnL>
                      <a:noFill/>
                    </a:lnL>
                    <a:lnR>
                      <a:noFill/>
                    </a:lnR>
                    <a:lnT>
                      <a:noFill/>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sz="1200" i="1">
                          <a:effectLst/>
                        </a:rPr>
                        <a:t>Memory</a:t>
                      </a:r>
                      <a:endParaRPr lang="en-US" sz="1200">
                        <a:effectLst/>
                      </a:endParaRPr>
                    </a:p>
                  </a:txBody>
                  <a:tcPr marL="43815" marR="43815" marT="70104" marB="70104" anchor="ctr">
                    <a:lnL>
                      <a:noFill/>
                    </a:lnL>
                    <a:lnR>
                      <a:noFill/>
                    </a:lnR>
                    <a:lnT>
                      <a:noFill/>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sz="1200" i="1">
                          <a:effectLst/>
                        </a:rPr>
                        <a:t>RootDisk</a:t>
                      </a:r>
                      <a:endParaRPr lang="en-US" sz="1200">
                        <a:effectLst/>
                      </a:endParaRPr>
                    </a:p>
                  </a:txBody>
                  <a:tcPr marL="43815" marR="43815" marT="70104" marB="70104" anchor="ctr">
                    <a:lnL>
                      <a:noFill/>
                    </a:lnL>
                    <a:lnR>
                      <a:noFill/>
                    </a:lnR>
                    <a:lnT>
                      <a:noFill/>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sz="1200" i="1">
                          <a:effectLst/>
                        </a:rPr>
                        <a:t>ManagementNet</a:t>
                      </a:r>
                      <a:endParaRPr lang="en-US" sz="1200">
                        <a:effectLst/>
                      </a:endParaRPr>
                    </a:p>
                  </a:txBody>
                  <a:tcPr marL="43815" marR="43815" marT="70104" marB="70104" anchor="ctr">
                    <a:lnL>
                      <a:noFill/>
                    </a:lnL>
                    <a:lnR>
                      <a:noFill/>
                    </a:lnR>
                    <a:lnT>
                      <a:noFill/>
                    </a:lnT>
                    <a:lnB w="9525" cap="flat" cmpd="sng" algn="ctr">
                      <a:solidFill>
                        <a:srgbClr val="EEEEEE"/>
                      </a:solidFill>
                      <a:prstDash val="solid"/>
                      <a:round/>
                      <a:headEnd type="none" w="med" len="med"/>
                      <a:tailEnd type="none" w="med" len="med"/>
                    </a:lnB>
                    <a:solidFill>
                      <a:srgbClr val="FFFFFF"/>
                    </a:solidFill>
                  </a:tcPr>
                </a:tc>
                <a:tc>
                  <a:txBody>
                    <a:bodyPr/>
                    <a:lstStyle/>
                    <a:p>
                      <a:pPr algn="l"/>
                      <a:r>
                        <a:rPr lang="en-US" sz="1200" i="1">
                          <a:effectLst/>
                        </a:rPr>
                        <a:t>StorageNet</a:t>
                      </a:r>
                      <a:endParaRPr lang="en-US" sz="1200">
                        <a:effectLst/>
                      </a:endParaRPr>
                    </a:p>
                  </a:txBody>
                  <a:tcPr marL="43815" marR="43815" marT="70104" marB="70104" anchor="ctr">
                    <a:lnL>
                      <a:noFill/>
                    </a:lnL>
                    <a:lnR>
                      <a:noFill/>
                    </a:lnR>
                    <a:lnT>
                      <a:noFill/>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575599410"/>
                  </a:ext>
                </a:extLst>
              </a:tr>
              <a:tr h="329489">
                <a:tc>
                  <a:txBody>
                    <a:bodyPr/>
                    <a:lstStyle/>
                    <a:p>
                      <a:r>
                        <a:rPr lang="en-US" sz="1200" dirty="0" smtClean="0">
                          <a:effectLst/>
                        </a:rPr>
                        <a:t>Deploy01adm01</a:t>
                      </a:r>
                      <a:endParaRPr lang="en-US" sz="1200" dirty="0">
                        <a:effectLst/>
                      </a:endParaRP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Ansible</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2 Core</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2GB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20GB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10.78.78.199</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550691140"/>
                  </a:ext>
                </a:extLst>
              </a:tr>
              <a:tr h="329489">
                <a:tc>
                  <a:txBody>
                    <a:bodyPr/>
                    <a:lstStyle/>
                    <a:p>
                      <a:r>
                        <a:rPr lang="en-US" sz="1200" dirty="0" smtClean="0">
                          <a:effectLst/>
                        </a:rPr>
                        <a:t>Deploy01con01</a:t>
                      </a:r>
                      <a:endParaRPr lang="en-US" sz="1200" dirty="0">
                        <a:effectLst/>
                      </a:endParaRP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Controller</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16 Core</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16GB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40GB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10.78.78.201</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10.79.79.201</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370868907"/>
                  </a:ext>
                </a:extLst>
              </a:tr>
              <a:tr h="329489">
                <a:tc>
                  <a:txBody>
                    <a:bodyPr/>
                    <a:lstStyle/>
                    <a:p>
                      <a:r>
                        <a:rPr lang="en-US" sz="1200" dirty="0" smtClean="0">
                          <a:effectLst/>
                        </a:rPr>
                        <a:t>Deploy01con02</a:t>
                      </a:r>
                      <a:endParaRPr lang="en-US" sz="1200" dirty="0">
                        <a:effectLst/>
                      </a:endParaRP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Controller</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16 Core</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16GB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40GB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10.78.78.202</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10.79.79.202</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2860434338"/>
                  </a:ext>
                </a:extLst>
              </a:tr>
              <a:tr h="329489">
                <a:tc>
                  <a:txBody>
                    <a:bodyPr/>
                    <a:lstStyle/>
                    <a:p>
                      <a:r>
                        <a:rPr lang="en-US" sz="1200" dirty="0" smtClean="0">
                          <a:effectLst/>
                        </a:rPr>
                        <a:t>Deploy01con03</a:t>
                      </a:r>
                      <a:endParaRPr lang="en-US" sz="1200" dirty="0">
                        <a:effectLst/>
                      </a:endParaRP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Controller</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16 Core</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16GB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40GB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10.78.78.203</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10.79.79.203</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1794839332"/>
                  </a:ext>
                </a:extLst>
              </a:tr>
              <a:tr h="329489">
                <a:tc>
                  <a:txBody>
                    <a:bodyPr/>
                    <a:lstStyle/>
                    <a:p>
                      <a:r>
                        <a:rPr lang="en-US" sz="1200" dirty="0" smtClean="0">
                          <a:effectLst/>
                        </a:rPr>
                        <a:t>Deploy01hpv01</a:t>
                      </a:r>
                      <a:endParaRPr lang="en-US" sz="1200" dirty="0">
                        <a:effectLst/>
                      </a:endParaRP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Hypervisor</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32 Core</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32GB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40GB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10.78.78.204</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10.79.79.204</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129206399"/>
                  </a:ext>
                </a:extLst>
              </a:tr>
              <a:tr h="329489">
                <a:tc>
                  <a:txBody>
                    <a:bodyPr/>
                    <a:lstStyle/>
                    <a:p>
                      <a:r>
                        <a:rPr lang="en-US" sz="1200" dirty="0" smtClean="0">
                          <a:effectLst/>
                        </a:rPr>
                        <a:t>Deploy01hpv02</a:t>
                      </a:r>
                      <a:endParaRPr lang="en-US" sz="1200" dirty="0">
                        <a:effectLst/>
                      </a:endParaRP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Hypervisor</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32 Core</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32GB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40GB</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a:effectLst/>
                        </a:rPr>
                        <a:t>10.78.78.205</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tc>
                  <a:txBody>
                    <a:bodyPr/>
                    <a:lstStyle/>
                    <a:p>
                      <a:r>
                        <a:rPr lang="en-US" sz="1200" dirty="0">
                          <a:effectLst/>
                        </a:rPr>
                        <a:t>10.79.79.205</a:t>
                      </a:r>
                    </a:p>
                  </a:txBody>
                  <a:tcPr marL="43815" marR="43815" marT="70104" marB="70104" anchor="ctr">
                    <a:lnL>
                      <a:noFill/>
                    </a:lnL>
                    <a:lnR>
                      <a:noFill/>
                    </a:lnR>
                    <a:lnT w="9525" cap="flat" cmpd="sng" algn="ctr">
                      <a:solidFill>
                        <a:srgbClr val="EEEEEE"/>
                      </a:solidFill>
                      <a:prstDash val="solid"/>
                      <a:round/>
                      <a:headEnd type="none" w="med" len="med"/>
                      <a:tailEnd type="none" w="med" len="med"/>
                    </a:lnT>
                    <a:lnB w="9525" cap="flat" cmpd="sng" algn="ctr">
                      <a:solidFill>
                        <a:srgbClr val="EEEEEE"/>
                      </a:solidFill>
                      <a:prstDash val="solid"/>
                      <a:round/>
                      <a:headEnd type="none" w="med" len="med"/>
                      <a:tailEnd type="none" w="med" len="med"/>
                    </a:lnB>
                    <a:solidFill>
                      <a:srgbClr val="FFFFFF"/>
                    </a:solidFill>
                  </a:tcPr>
                </a:tc>
                <a:extLst>
                  <a:ext uri="{0D108BD9-81ED-4DB2-BD59-A6C34878D82A}">
                    <a16:rowId xmlns:a16="http://schemas.microsoft.com/office/drawing/2014/main" val="3846524632"/>
                  </a:ext>
                </a:extLst>
              </a:tr>
            </a:tbl>
          </a:graphicData>
        </a:graphic>
      </p:graphicFrame>
    </p:spTree>
    <p:extLst>
      <p:ext uri="{BB962C8B-B14F-4D97-AF65-F5344CB8AC3E}">
        <p14:creationId xmlns:p14="http://schemas.microsoft.com/office/powerpoint/2010/main" val="2199394814"/>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0420" y="43618"/>
            <a:ext cx="4716380" cy="584775"/>
          </a:xfrm>
          <a:prstGeom prst="rect">
            <a:avLst/>
          </a:prstGeom>
        </p:spPr>
        <p:txBody>
          <a:bodyPr wrap="square">
            <a:spAutoFit/>
          </a:bodyPr>
          <a:lstStyle/>
          <a:p>
            <a:r>
              <a:rPr lang="en-US" b="1" dirty="0" err="1"/>
              <a:t>Openstack</a:t>
            </a:r>
            <a:r>
              <a:rPr lang="en-US" b="1" dirty="0"/>
              <a:t> 2024.2 with </a:t>
            </a:r>
            <a:r>
              <a:rPr lang="en-US" b="1" dirty="0" err="1"/>
              <a:t>Kolla</a:t>
            </a:r>
            <a:r>
              <a:rPr lang="en-US" b="1" dirty="0"/>
              <a:t> </a:t>
            </a:r>
            <a:r>
              <a:rPr lang="en-US" b="1" dirty="0" err="1" smtClean="0"/>
              <a:t>Ansible</a:t>
            </a:r>
            <a:r>
              <a:rPr lang="en-US" b="1" dirty="0" smtClean="0"/>
              <a:t> </a:t>
            </a:r>
            <a:r>
              <a:rPr lang="en-US" b="1" dirty="0" smtClean="0">
                <a:solidFill>
                  <a:srgbClr val="002060"/>
                </a:solidFill>
              </a:rPr>
              <a:t>(</a:t>
            </a:r>
            <a:r>
              <a:rPr lang="en-US" b="1" dirty="0" err="1" smtClean="0">
                <a:solidFill>
                  <a:srgbClr val="002060"/>
                </a:solidFill>
              </a:rPr>
              <a:t>Cons’t</a:t>
            </a:r>
            <a:r>
              <a:rPr lang="en-US" b="1" dirty="0" smtClean="0">
                <a:solidFill>
                  <a:srgbClr val="002060"/>
                </a:solidFill>
              </a:rPr>
              <a:t>)</a:t>
            </a:r>
            <a:endParaRPr lang="en-US" b="1" dirty="0">
              <a:solidFill>
                <a:srgbClr val="002060"/>
              </a:solidFill>
            </a:endParaRPr>
          </a:p>
          <a:p>
            <a:pPr algn="just"/>
            <a:endParaRPr lang="en-US" sz="1400" dirty="0"/>
          </a:p>
        </p:txBody>
      </p:sp>
      <p:sp>
        <p:nvSpPr>
          <p:cNvPr id="6" name="Rectangle 5"/>
          <p:cNvSpPr/>
          <p:nvPr/>
        </p:nvSpPr>
        <p:spPr>
          <a:xfrm>
            <a:off x="232610" y="640156"/>
            <a:ext cx="3858127" cy="3139321"/>
          </a:xfrm>
          <a:prstGeom prst="rect">
            <a:avLst/>
          </a:prstGeom>
        </p:spPr>
        <p:txBody>
          <a:bodyPr wrap="square">
            <a:spAutoFit/>
          </a:bodyPr>
          <a:lstStyle/>
          <a:p>
            <a:pPr algn="just"/>
            <a:r>
              <a:rPr lang="en-US" b="1" dirty="0">
                <a:solidFill>
                  <a:srgbClr val="002060"/>
                </a:solidFill>
              </a:rPr>
              <a:t>Interface mapping:</a:t>
            </a:r>
          </a:p>
          <a:p>
            <a:pPr algn="just"/>
            <a:endParaRPr lang="en-US" dirty="0"/>
          </a:p>
          <a:p>
            <a:pPr marL="285750" indent="-285750" algn="just">
              <a:buFont typeface="Wingdings" panose="05000000000000000000" pitchFamily="2" charset="2"/>
              <a:buChar char="ü"/>
            </a:pPr>
            <a:r>
              <a:rPr lang="en-US" dirty="0"/>
              <a:t>eth0 for Public Network</a:t>
            </a:r>
          </a:p>
          <a:p>
            <a:pPr marL="285750" indent="-285750" algn="just">
              <a:buFont typeface="Wingdings" panose="05000000000000000000" pitchFamily="2" charset="2"/>
              <a:buChar char="ü"/>
            </a:pPr>
            <a:r>
              <a:rPr lang="en-US" dirty="0"/>
              <a:t>eth1 for Management Network</a:t>
            </a:r>
          </a:p>
          <a:p>
            <a:pPr marL="285750" indent="-285750" algn="just">
              <a:buFont typeface="Wingdings" panose="05000000000000000000" pitchFamily="2" charset="2"/>
              <a:buChar char="ü"/>
            </a:pPr>
            <a:r>
              <a:rPr lang="en-US" dirty="0"/>
              <a:t>eth2 for Storage Network with Jumbo frames</a:t>
            </a:r>
          </a:p>
          <a:p>
            <a:pPr marL="285750" indent="-285750" algn="just">
              <a:buFont typeface="Wingdings" panose="05000000000000000000" pitchFamily="2" charset="2"/>
              <a:buChar char="ü"/>
            </a:pPr>
            <a:r>
              <a:rPr lang="en-US" dirty="0"/>
              <a:t>eth4 for Tunnel/Self Service/Guest Network with Jumbo frames</a:t>
            </a:r>
          </a:p>
          <a:p>
            <a:pPr algn="just"/>
            <a:endParaRPr lang="en-US" dirty="0" smtClean="0"/>
          </a:p>
          <a:p>
            <a:pPr algn="just"/>
            <a:r>
              <a:rPr lang="en-US" dirty="0" smtClean="0"/>
              <a:t>We </a:t>
            </a:r>
            <a:r>
              <a:rPr lang="en-US" dirty="0"/>
              <a:t>can review network configuration in </a:t>
            </a:r>
            <a:r>
              <a:rPr lang="en-US" b="1" dirty="0">
                <a:solidFill>
                  <a:srgbClr val="002060"/>
                </a:solidFill>
              </a:rPr>
              <a:t>sample-</a:t>
            </a:r>
            <a:r>
              <a:rPr lang="en-US" b="1" dirty="0" err="1">
                <a:solidFill>
                  <a:srgbClr val="002060"/>
                </a:solidFill>
              </a:rPr>
              <a:t>netplan.yaml</a:t>
            </a:r>
            <a:endParaRPr lang="en-US" b="1" dirty="0">
              <a:solidFill>
                <a:srgbClr val="002060"/>
              </a:solidFill>
            </a:endParaRPr>
          </a:p>
        </p:txBody>
      </p:sp>
      <p:sp>
        <p:nvSpPr>
          <p:cNvPr id="7" name="Rectangle 6"/>
          <p:cNvSpPr/>
          <p:nvPr/>
        </p:nvSpPr>
        <p:spPr>
          <a:xfrm>
            <a:off x="5109410" y="-1757"/>
            <a:ext cx="3858127" cy="5016758"/>
          </a:xfrm>
          <a:prstGeom prst="rect">
            <a:avLst/>
          </a:prstGeom>
        </p:spPr>
        <p:txBody>
          <a:bodyPr wrap="square">
            <a:spAutoFit/>
          </a:bodyPr>
          <a:lstStyle/>
          <a:p>
            <a:pPr algn="just"/>
            <a:r>
              <a:rPr lang="en-US" sz="800" b="1" dirty="0">
                <a:solidFill>
                  <a:srgbClr val="002060"/>
                </a:solidFill>
              </a:rPr>
              <a:t>network:</a:t>
            </a:r>
          </a:p>
          <a:p>
            <a:pPr algn="just"/>
            <a:r>
              <a:rPr lang="en-US" sz="800" b="1" dirty="0">
                <a:solidFill>
                  <a:srgbClr val="002060"/>
                </a:solidFill>
              </a:rPr>
              <a:t>  version: 2</a:t>
            </a:r>
          </a:p>
          <a:p>
            <a:pPr algn="just"/>
            <a:r>
              <a:rPr lang="en-US" sz="800" b="1" dirty="0">
                <a:solidFill>
                  <a:srgbClr val="002060"/>
                </a:solidFill>
              </a:rPr>
              <a:t>  </a:t>
            </a:r>
            <a:r>
              <a:rPr lang="en-US" sz="800" b="1" dirty="0" err="1">
                <a:solidFill>
                  <a:srgbClr val="002060"/>
                </a:solidFill>
              </a:rPr>
              <a:t>ethernets</a:t>
            </a:r>
            <a:r>
              <a:rPr lang="en-US" sz="800" b="1" dirty="0">
                <a:solidFill>
                  <a:srgbClr val="002060"/>
                </a:solidFill>
              </a:rPr>
              <a:t>:</a:t>
            </a:r>
          </a:p>
          <a:p>
            <a:pPr algn="just"/>
            <a:r>
              <a:rPr lang="en-US" sz="800" b="1" dirty="0">
                <a:solidFill>
                  <a:srgbClr val="002060"/>
                </a:solidFill>
              </a:rPr>
              <a:t>    eth0:</a:t>
            </a:r>
          </a:p>
          <a:p>
            <a:pPr algn="just"/>
            <a:r>
              <a:rPr lang="en-US" sz="800" b="1" dirty="0">
                <a:solidFill>
                  <a:srgbClr val="002060"/>
                </a:solidFill>
              </a:rPr>
              <a:t>      match:</a:t>
            </a:r>
          </a:p>
          <a:p>
            <a:pPr algn="just"/>
            <a:r>
              <a:rPr lang="en-US" sz="800" b="1" dirty="0">
                <a:solidFill>
                  <a:srgbClr val="002060"/>
                </a:solidFill>
              </a:rPr>
              <a:t>        </a:t>
            </a:r>
            <a:r>
              <a:rPr lang="en-US" sz="800" b="1" dirty="0" err="1">
                <a:solidFill>
                  <a:srgbClr val="002060"/>
                </a:solidFill>
              </a:rPr>
              <a:t>macaddress</a:t>
            </a:r>
            <a:r>
              <a:rPr lang="en-US" sz="800" b="1" dirty="0">
                <a:solidFill>
                  <a:srgbClr val="002060"/>
                </a:solidFill>
              </a:rPr>
              <a:t>: "BC:24:11:D3:02:2F"</a:t>
            </a:r>
          </a:p>
          <a:p>
            <a:pPr algn="just"/>
            <a:r>
              <a:rPr lang="en-US" sz="800" b="1" dirty="0">
                <a:solidFill>
                  <a:srgbClr val="002060"/>
                </a:solidFill>
              </a:rPr>
              <a:t>      set-name: "eth0"</a:t>
            </a:r>
          </a:p>
          <a:p>
            <a:pPr algn="just"/>
            <a:r>
              <a:rPr lang="en-US" sz="800" b="1" dirty="0">
                <a:solidFill>
                  <a:srgbClr val="002060"/>
                </a:solidFill>
              </a:rPr>
              <a:t>      critical: true</a:t>
            </a:r>
          </a:p>
          <a:p>
            <a:pPr algn="just"/>
            <a:r>
              <a:rPr lang="en-US" sz="800" b="1" dirty="0">
                <a:solidFill>
                  <a:srgbClr val="002060"/>
                </a:solidFill>
              </a:rPr>
              <a:t>    eth1:</a:t>
            </a:r>
          </a:p>
          <a:p>
            <a:pPr algn="just"/>
            <a:r>
              <a:rPr lang="en-US" sz="800" b="1" dirty="0">
                <a:solidFill>
                  <a:srgbClr val="002060"/>
                </a:solidFill>
              </a:rPr>
              <a:t>      match:</a:t>
            </a:r>
          </a:p>
          <a:p>
            <a:pPr algn="just"/>
            <a:r>
              <a:rPr lang="en-US" sz="800" b="1" dirty="0">
                <a:solidFill>
                  <a:srgbClr val="002060"/>
                </a:solidFill>
              </a:rPr>
              <a:t>        </a:t>
            </a:r>
            <a:r>
              <a:rPr lang="en-US" sz="800" b="1" dirty="0" err="1">
                <a:solidFill>
                  <a:srgbClr val="002060"/>
                </a:solidFill>
              </a:rPr>
              <a:t>macaddress</a:t>
            </a:r>
            <a:r>
              <a:rPr lang="en-US" sz="800" b="1" dirty="0">
                <a:solidFill>
                  <a:srgbClr val="002060"/>
                </a:solidFill>
              </a:rPr>
              <a:t>: "BC:24:11:77:6F:A2"</a:t>
            </a:r>
          </a:p>
          <a:p>
            <a:pPr algn="just"/>
            <a:r>
              <a:rPr lang="en-US" sz="800" b="1" dirty="0">
                <a:solidFill>
                  <a:srgbClr val="002060"/>
                </a:solidFill>
              </a:rPr>
              <a:t>      set-name: "eth1"</a:t>
            </a:r>
          </a:p>
          <a:p>
            <a:pPr algn="just"/>
            <a:r>
              <a:rPr lang="en-US" sz="800" b="1" dirty="0">
                <a:solidFill>
                  <a:srgbClr val="002060"/>
                </a:solidFill>
              </a:rPr>
              <a:t>      addresses:</a:t>
            </a:r>
          </a:p>
          <a:p>
            <a:pPr algn="just"/>
            <a:r>
              <a:rPr lang="en-US" sz="800" b="1" dirty="0">
                <a:solidFill>
                  <a:srgbClr val="002060"/>
                </a:solidFill>
              </a:rPr>
              <a:t>      - "10.78.78.201/24"</a:t>
            </a:r>
          </a:p>
          <a:p>
            <a:pPr algn="just"/>
            <a:r>
              <a:rPr lang="en-US" sz="800" b="1" dirty="0">
                <a:solidFill>
                  <a:srgbClr val="002060"/>
                </a:solidFill>
              </a:rPr>
              <a:t>      </a:t>
            </a:r>
            <a:r>
              <a:rPr lang="en-US" sz="800" b="1" dirty="0" err="1">
                <a:solidFill>
                  <a:srgbClr val="002060"/>
                </a:solidFill>
              </a:rPr>
              <a:t>nameservers</a:t>
            </a:r>
            <a:r>
              <a:rPr lang="en-US" sz="800" b="1" dirty="0">
                <a:solidFill>
                  <a:srgbClr val="002060"/>
                </a:solidFill>
              </a:rPr>
              <a:t>:</a:t>
            </a:r>
          </a:p>
          <a:p>
            <a:pPr algn="just"/>
            <a:r>
              <a:rPr lang="en-US" sz="800" b="1" dirty="0">
                <a:solidFill>
                  <a:srgbClr val="002060"/>
                </a:solidFill>
              </a:rPr>
              <a:t>        addresses:</a:t>
            </a:r>
          </a:p>
          <a:p>
            <a:pPr algn="just"/>
            <a:r>
              <a:rPr lang="en-US" sz="800" b="1" dirty="0">
                <a:solidFill>
                  <a:srgbClr val="002060"/>
                </a:solidFill>
              </a:rPr>
              <a:t>        - 10.78.78.103</a:t>
            </a:r>
          </a:p>
          <a:p>
            <a:pPr algn="just"/>
            <a:r>
              <a:rPr lang="en-US" sz="800" b="1" dirty="0">
                <a:solidFill>
                  <a:srgbClr val="002060"/>
                </a:solidFill>
              </a:rPr>
              <a:t>        - 10.78.78.104</a:t>
            </a:r>
          </a:p>
          <a:p>
            <a:pPr algn="just"/>
            <a:r>
              <a:rPr lang="en-US" sz="800" b="1" dirty="0">
                <a:solidFill>
                  <a:srgbClr val="002060"/>
                </a:solidFill>
              </a:rPr>
              <a:t>        search:</a:t>
            </a:r>
          </a:p>
          <a:p>
            <a:pPr algn="just"/>
            <a:r>
              <a:rPr lang="en-US" sz="800" b="1" dirty="0">
                <a:solidFill>
                  <a:srgbClr val="002060"/>
                </a:solidFill>
              </a:rPr>
              <a:t>        - </a:t>
            </a:r>
            <a:r>
              <a:rPr lang="en-US" sz="800" b="1" dirty="0" smtClean="0">
                <a:solidFill>
                  <a:srgbClr val="002060"/>
                </a:solidFill>
              </a:rPr>
              <a:t>Deploy.is-</a:t>
            </a:r>
            <a:r>
              <a:rPr lang="en-US" sz="800" b="1" dirty="0" err="1" smtClean="0">
                <a:solidFill>
                  <a:srgbClr val="002060"/>
                </a:solidFill>
              </a:rPr>
              <a:t>a.dev</a:t>
            </a:r>
            <a:endParaRPr lang="en-US" sz="800" b="1" dirty="0">
              <a:solidFill>
                <a:srgbClr val="002060"/>
              </a:solidFill>
            </a:endParaRPr>
          </a:p>
          <a:p>
            <a:pPr algn="just"/>
            <a:r>
              <a:rPr lang="en-US" sz="800" b="1" dirty="0">
                <a:solidFill>
                  <a:srgbClr val="002060"/>
                </a:solidFill>
              </a:rPr>
              <a:t>      routes:</a:t>
            </a:r>
          </a:p>
          <a:p>
            <a:pPr algn="just"/>
            <a:r>
              <a:rPr lang="en-US" sz="800" b="1" dirty="0">
                <a:solidFill>
                  <a:srgbClr val="002060"/>
                </a:solidFill>
              </a:rPr>
              <a:t>      - to: "default"</a:t>
            </a:r>
          </a:p>
          <a:p>
            <a:pPr algn="just"/>
            <a:r>
              <a:rPr lang="en-US" sz="800" b="1" dirty="0">
                <a:solidFill>
                  <a:srgbClr val="002060"/>
                </a:solidFill>
              </a:rPr>
              <a:t>        via: "10.78.78.254"</a:t>
            </a:r>
          </a:p>
          <a:p>
            <a:pPr algn="just"/>
            <a:r>
              <a:rPr lang="en-US" sz="800" b="1" dirty="0">
                <a:solidFill>
                  <a:srgbClr val="002060"/>
                </a:solidFill>
              </a:rPr>
              <a:t>      critical: true</a:t>
            </a:r>
          </a:p>
          <a:p>
            <a:pPr algn="just"/>
            <a:r>
              <a:rPr lang="en-US" sz="800" b="1" dirty="0">
                <a:solidFill>
                  <a:srgbClr val="002060"/>
                </a:solidFill>
              </a:rPr>
              <a:t>    eth2:</a:t>
            </a:r>
          </a:p>
          <a:p>
            <a:pPr algn="just"/>
            <a:r>
              <a:rPr lang="en-US" sz="800" b="1" dirty="0">
                <a:solidFill>
                  <a:srgbClr val="002060"/>
                </a:solidFill>
              </a:rPr>
              <a:t>      match:</a:t>
            </a:r>
          </a:p>
          <a:p>
            <a:pPr algn="just"/>
            <a:r>
              <a:rPr lang="en-US" sz="800" b="1" dirty="0">
                <a:solidFill>
                  <a:srgbClr val="002060"/>
                </a:solidFill>
              </a:rPr>
              <a:t>        </a:t>
            </a:r>
            <a:r>
              <a:rPr lang="en-US" sz="800" b="1" dirty="0" err="1">
                <a:solidFill>
                  <a:srgbClr val="002060"/>
                </a:solidFill>
              </a:rPr>
              <a:t>macaddress</a:t>
            </a:r>
            <a:r>
              <a:rPr lang="en-US" sz="800" b="1" dirty="0">
                <a:solidFill>
                  <a:srgbClr val="002060"/>
                </a:solidFill>
              </a:rPr>
              <a:t>: "BC:24:11:D6:06:52"</a:t>
            </a:r>
          </a:p>
          <a:p>
            <a:pPr algn="just"/>
            <a:r>
              <a:rPr lang="en-US" sz="800" b="1" dirty="0">
                <a:solidFill>
                  <a:srgbClr val="002060"/>
                </a:solidFill>
              </a:rPr>
              <a:t>      set-name: "eth2"</a:t>
            </a:r>
          </a:p>
          <a:p>
            <a:pPr algn="just"/>
            <a:r>
              <a:rPr lang="en-US" sz="800" b="1" dirty="0">
                <a:solidFill>
                  <a:srgbClr val="002060"/>
                </a:solidFill>
              </a:rPr>
              <a:t>      addresses:</a:t>
            </a:r>
          </a:p>
          <a:p>
            <a:pPr algn="just"/>
            <a:r>
              <a:rPr lang="en-US" sz="800" b="1" dirty="0">
                <a:solidFill>
                  <a:srgbClr val="002060"/>
                </a:solidFill>
              </a:rPr>
              <a:t>      - "10.79.79.201/24"</a:t>
            </a:r>
          </a:p>
          <a:p>
            <a:pPr algn="just"/>
            <a:r>
              <a:rPr lang="en-US" sz="800" b="1" dirty="0">
                <a:solidFill>
                  <a:srgbClr val="002060"/>
                </a:solidFill>
              </a:rPr>
              <a:t>      critical: true</a:t>
            </a:r>
          </a:p>
          <a:p>
            <a:pPr algn="just"/>
            <a:r>
              <a:rPr lang="en-US" sz="800" b="1" dirty="0">
                <a:solidFill>
                  <a:srgbClr val="002060"/>
                </a:solidFill>
              </a:rPr>
              <a:t>      </a:t>
            </a:r>
            <a:r>
              <a:rPr lang="en-US" sz="800" b="1" dirty="0" err="1">
                <a:solidFill>
                  <a:srgbClr val="002060"/>
                </a:solidFill>
              </a:rPr>
              <a:t>mtu</a:t>
            </a:r>
            <a:r>
              <a:rPr lang="en-US" sz="800" b="1" dirty="0">
                <a:solidFill>
                  <a:srgbClr val="002060"/>
                </a:solidFill>
              </a:rPr>
              <a:t>: 9000</a:t>
            </a:r>
          </a:p>
          <a:p>
            <a:pPr algn="just"/>
            <a:r>
              <a:rPr lang="en-US" sz="800" b="1" dirty="0">
                <a:solidFill>
                  <a:srgbClr val="002060"/>
                </a:solidFill>
              </a:rPr>
              <a:t>    eth3:</a:t>
            </a:r>
          </a:p>
          <a:p>
            <a:pPr algn="just"/>
            <a:r>
              <a:rPr lang="en-US" sz="800" b="1" dirty="0">
                <a:solidFill>
                  <a:srgbClr val="002060"/>
                </a:solidFill>
              </a:rPr>
              <a:t>      match:</a:t>
            </a:r>
          </a:p>
          <a:p>
            <a:pPr algn="just"/>
            <a:r>
              <a:rPr lang="en-US" sz="800" b="1" dirty="0">
                <a:solidFill>
                  <a:srgbClr val="002060"/>
                </a:solidFill>
              </a:rPr>
              <a:t>        </a:t>
            </a:r>
            <a:r>
              <a:rPr lang="en-US" sz="800" b="1" dirty="0" err="1">
                <a:solidFill>
                  <a:srgbClr val="002060"/>
                </a:solidFill>
              </a:rPr>
              <a:t>macaddress</a:t>
            </a:r>
            <a:r>
              <a:rPr lang="en-US" sz="800" b="1" dirty="0">
                <a:solidFill>
                  <a:srgbClr val="002060"/>
                </a:solidFill>
              </a:rPr>
              <a:t>: "BC:24:11:EF:59:FD"</a:t>
            </a:r>
          </a:p>
          <a:p>
            <a:pPr algn="just"/>
            <a:r>
              <a:rPr lang="en-US" sz="800" b="1" dirty="0">
                <a:solidFill>
                  <a:srgbClr val="002060"/>
                </a:solidFill>
              </a:rPr>
              <a:t>      set-name: "eth3"</a:t>
            </a:r>
          </a:p>
          <a:p>
            <a:pPr algn="just"/>
            <a:r>
              <a:rPr lang="en-US" sz="800" b="1" dirty="0">
                <a:solidFill>
                  <a:srgbClr val="002060"/>
                </a:solidFill>
              </a:rPr>
              <a:t>      addresses:</a:t>
            </a:r>
          </a:p>
          <a:p>
            <a:pPr algn="just"/>
            <a:r>
              <a:rPr lang="en-US" sz="800" b="1" dirty="0">
                <a:solidFill>
                  <a:srgbClr val="002060"/>
                </a:solidFill>
              </a:rPr>
              <a:t>      - "10.79.80.201/24"</a:t>
            </a:r>
          </a:p>
          <a:p>
            <a:pPr algn="just"/>
            <a:r>
              <a:rPr lang="en-US" sz="800" b="1" dirty="0">
                <a:solidFill>
                  <a:srgbClr val="002060"/>
                </a:solidFill>
              </a:rPr>
              <a:t>      critical: true</a:t>
            </a:r>
          </a:p>
          <a:p>
            <a:pPr algn="just"/>
            <a:r>
              <a:rPr lang="en-US" sz="800" b="1" dirty="0">
                <a:solidFill>
                  <a:srgbClr val="002060"/>
                </a:solidFill>
              </a:rPr>
              <a:t>      </a:t>
            </a:r>
            <a:r>
              <a:rPr lang="en-US" sz="800" b="1" dirty="0" err="1">
                <a:solidFill>
                  <a:srgbClr val="002060"/>
                </a:solidFill>
              </a:rPr>
              <a:t>mtu</a:t>
            </a:r>
            <a:r>
              <a:rPr lang="en-US" sz="800" b="1" dirty="0">
                <a:solidFill>
                  <a:srgbClr val="002060"/>
                </a:solidFill>
              </a:rPr>
              <a:t>: 9000</a:t>
            </a:r>
          </a:p>
        </p:txBody>
      </p:sp>
      <p:sp>
        <p:nvSpPr>
          <p:cNvPr id="8" name="Right Arrow 7"/>
          <p:cNvSpPr/>
          <p:nvPr/>
        </p:nvSpPr>
        <p:spPr>
          <a:xfrm>
            <a:off x="597568" y="3637279"/>
            <a:ext cx="4002505" cy="153961"/>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p>
        </p:txBody>
      </p:sp>
      <p:sp>
        <p:nvSpPr>
          <p:cNvPr id="9" name="Rectangle 8"/>
          <p:cNvSpPr/>
          <p:nvPr/>
        </p:nvSpPr>
        <p:spPr>
          <a:xfrm>
            <a:off x="4600073" y="-2514"/>
            <a:ext cx="3886200" cy="501751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1191673354"/>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60420" y="43618"/>
            <a:ext cx="4716380" cy="584775"/>
          </a:xfrm>
          <a:prstGeom prst="rect">
            <a:avLst/>
          </a:prstGeom>
        </p:spPr>
        <p:txBody>
          <a:bodyPr wrap="square">
            <a:spAutoFit/>
          </a:bodyPr>
          <a:lstStyle/>
          <a:p>
            <a:r>
              <a:rPr lang="en-US" b="1" dirty="0" err="1"/>
              <a:t>Openstack</a:t>
            </a:r>
            <a:r>
              <a:rPr lang="en-US" b="1" dirty="0"/>
              <a:t> 2024.2 with </a:t>
            </a:r>
            <a:r>
              <a:rPr lang="en-US" b="1" dirty="0" err="1"/>
              <a:t>Kolla</a:t>
            </a:r>
            <a:r>
              <a:rPr lang="en-US" b="1" dirty="0"/>
              <a:t> </a:t>
            </a:r>
            <a:r>
              <a:rPr lang="en-US" b="1" dirty="0" err="1" smtClean="0"/>
              <a:t>Ansible</a:t>
            </a:r>
            <a:r>
              <a:rPr lang="en-US" b="1" dirty="0" smtClean="0"/>
              <a:t> </a:t>
            </a:r>
            <a:r>
              <a:rPr lang="en-US" b="1" dirty="0" smtClean="0">
                <a:solidFill>
                  <a:srgbClr val="002060"/>
                </a:solidFill>
              </a:rPr>
              <a:t>(</a:t>
            </a:r>
            <a:r>
              <a:rPr lang="en-US" b="1" dirty="0" err="1" smtClean="0">
                <a:solidFill>
                  <a:srgbClr val="002060"/>
                </a:solidFill>
              </a:rPr>
              <a:t>Cons’t</a:t>
            </a:r>
            <a:r>
              <a:rPr lang="en-US" b="1" dirty="0" smtClean="0">
                <a:solidFill>
                  <a:srgbClr val="002060"/>
                </a:solidFill>
              </a:rPr>
              <a:t>)</a:t>
            </a:r>
            <a:endParaRPr lang="en-US" b="1" dirty="0">
              <a:solidFill>
                <a:srgbClr val="002060"/>
              </a:solidFill>
            </a:endParaRPr>
          </a:p>
          <a:p>
            <a:pPr algn="just"/>
            <a:endParaRPr lang="en-US" sz="1400" dirty="0"/>
          </a:p>
        </p:txBody>
      </p:sp>
      <p:sp>
        <p:nvSpPr>
          <p:cNvPr id="6" name="Rectangle 5"/>
          <p:cNvSpPr/>
          <p:nvPr/>
        </p:nvSpPr>
        <p:spPr>
          <a:xfrm>
            <a:off x="160420" y="640156"/>
            <a:ext cx="3858127" cy="646331"/>
          </a:xfrm>
          <a:prstGeom prst="rect">
            <a:avLst/>
          </a:prstGeom>
        </p:spPr>
        <p:txBody>
          <a:bodyPr wrap="square">
            <a:spAutoFit/>
          </a:bodyPr>
          <a:lstStyle/>
          <a:p>
            <a:pPr algn="just"/>
            <a:r>
              <a:rPr lang="en-US" b="1" dirty="0">
                <a:solidFill>
                  <a:srgbClr val="002060"/>
                </a:solidFill>
              </a:rPr>
              <a:t>Installing NFS Server for Glance Service in </a:t>
            </a:r>
            <a:r>
              <a:rPr lang="en-US" b="1" dirty="0" smtClean="0">
                <a:solidFill>
                  <a:srgbClr val="002060"/>
                </a:solidFill>
              </a:rPr>
              <a:t>Deploy01adm01 </a:t>
            </a:r>
            <a:r>
              <a:rPr lang="en-US" b="1" dirty="0">
                <a:solidFill>
                  <a:srgbClr val="002060"/>
                </a:solidFill>
              </a:rPr>
              <a:t>node</a:t>
            </a:r>
          </a:p>
        </p:txBody>
      </p:sp>
      <p:sp>
        <p:nvSpPr>
          <p:cNvPr id="8" name="Rectangle 7"/>
          <p:cNvSpPr/>
          <p:nvPr/>
        </p:nvSpPr>
        <p:spPr>
          <a:xfrm>
            <a:off x="226592" y="3233234"/>
            <a:ext cx="3167816" cy="146957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198519" y="1286487"/>
            <a:ext cx="4197018" cy="1061829"/>
          </a:xfrm>
          <a:prstGeom prst="rect">
            <a:avLst/>
          </a:prstGeom>
        </p:spPr>
        <p:txBody>
          <a:bodyPr wrap="square">
            <a:spAutoFit/>
          </a:bodyPr>
          <a:lstStyle/>
          <a:p>
            <a:pPr algn="just"/>
            <a:r>
              <a:rPr lang="en-US" sz="900" dirty="0" err="1">
                <a:solidFill>
                  <a:srgbClr val="0070C0"/>
                </a:solidFill>
              </a:rPr>
              <a:t>sudo</a:t>
            </a:r>
            <a:r>
              <a:rPr lang="en-US" sz="900" dirty="0">
                <a:solidFill>
                  <a:srgbClr val="0070C0"/>
                </a:solidFill>
              </a:rPr>
              <a:t> apt update</a:t>
            </a:r>
          </a:p>
          <a:p>
            <a:pPr algn="just"/>
            <a:r>
              <a:rPr lang="en-US" sz="900" dirty="0" err="1">
                <a:solidFill>
                  <a:srgbClr val="0070C0"/>
                </a:solidFill>
              </a:rPr>
              <a:t>sudo</a:t>
            </a:r>
            <a:r>
              <a:rPr lang="en-US" sz="900" dirty="0">
                <a:solidFill>
                  <a:srgbClr val="0070C0"/>
                </a:solidFill>
              </a:rPr>
              <a:t> apt install </a:t>
            </a:r>
            <a:r>
              <a:rPr lang="en-US" sz="900" dirty="0" err="1">
                <a:solidFill>
                  <a:srgbClr val="0070C0"/>
                </a:solidFill>
              </a:rPr>
              <a:t>nfs</a:t>
            </a:r>
            <a:r>
              <a:rPr lang="en-US" sz="900" dirty="0">
                <a:solidFill>
                  <a:srgbClr val="0070C0"/>
                </a:solidFill>
              </a:rPr>
              <a:t>-kernel-server</a:t>
            </a:r>
          </a:p>
          <a:p>
            <a:pPr algn="just"/>
            <a:r>
              <a:rPr lang="en-US" sz="900" dirty="0" err="1">
                <a:solidFill>
                  <a:srgbClr val="0070C0"/>
                </a:solidFill>
              </a:rPr>
              <a:t>sudo</a:t>
            </a:r>
            <a:r>
              <a:rPr lang="en-US" sz="900" dirty="0">
                <a:solidFill>
                  <a:srgbClr val="0070C0"/>
                </a:solidFill>
              </a:rPr>
              <a:t> </a:t>
            </a:r>
            <a:r>
              <a:rPr lang="en-US" sz="900" dirty="0" err="1">
                <a:solidFill>
                  <a:srgbClr val="0070C0"/>
                </a:solidFill>
              </a:rPr>
              <a:t>mkdir</a:t>
            </a:r>
            <a:r>
              <a:rPr lang="en-US" sz="900" dirty="0">
                <a:solidFill>
                  <a:srgbClr val="0070C0"/>
                </a:solidFill>
              </a:rPr>
              <a:t> -p /data</a:t>
            </a:r>
          </a:p>
          <a:p>
            <a:pPr algn="just"/>
            <a:r>
              <a:rPr lang="en-US" sz="900" dirty="0" err="1">
                <a:solidFill>
                  <a:srgbClr val="0070C0"/>
                </a:solidFill>
              </a:rPr>
              <a:t>sudo</a:t>
            </a:r>
            <a:r>
              <a:rPr lang="en-US" sz="900" dirty="0">
                <a:solidFill>
                  <a:srgbClr val="0070C0"/>
                </a:solidFill>
              </a:rPr>
              <a:t> </a:t>
            </a:r>
            <a:r>
              <a:rPr lang="en-US" sz="900" dirty="0" err="1">
                <a:solidFill>
                  <a:srgbClr val="0070C0"/>
                </a:solidFill>
              </a:rPr>
              <a:t>chown</a:t>
            </a:r>
            <a:r>
              <a:rPr lang="en-US" sz="900" dirty="0">
                <a:solidFill>
                  <a:srgbClr val="0070C0"/>
                </a:solidFill>
              </a:rPr>
              <a:t> </a:t>
            </a:r>
            <a:r>
              <a:rPr lang="en-US" sz="900" dirty="0" err="1">
                <a:solidFill>
                  <a:srgbClr val="0070C0"/>
                </a:solidFill>
              </a:rPr>
              <a:t>nobody:nogroup</a:t>
            </a:r>
            <a:r>
              <a:rPr lang="en-US" sz="900" dirty="0">
                <a:solidFill>
                  <a:srgbClr val="0070C0"/>
                </a:solidFill>
              </a:rPr>
              <a:t> /data</a:t>
            </a:r>
          </a:p>
          <a:p>
            <a:pPr algn="just"/>
            <a:r>
              <a:rPr lang="en-US" sz="900" dirty="0">
                <a:solidFill>
                  <a:srgbClr val="0070C0"/>
                </a:solidFill>
              </a:rPr>
              <a:t>echo "/data *(</a:t>
            </a:r>
            <a:r>
              <a:rPr lang="en-US" sz="900" dirty="0" err="1">
                <a:solidFill>
                  <a:srgbClr val="0070C0"/>
                </a:solidFill>
              </a:rPr>
              <a:t>rw,sync,no_subtree_check</a:t>
            </a:r>
            <a:r>
              <a:rPr lang="en-US" sz="900" dirty="0">
                <a:solidFill>
                  <a:srgbClr val="0070C0"/>
                </a:solidFill>
              </a:rPr>
              <a:t>)" &gt;&gt; /</a:t>
            </a:r>
            <a:r>
              <a:rPr lang="en-US" sz="900" dirty="0" err="1">
                <a:solidFill>
                  <a:srgbClr val="0070C0"/>
                </a:solidFill>
              </a:rPr>
              <a:t>etc</a:t>
            </a:r>
            <a:r>
              <a:rPr lang="en-US" sz="900" dirty="0">
                <a:solidFill>
                  <a:srgbClr val="0070C0"/>
                </a:solidFill>
              </a:rPr>
              <a:t>/exports</a:t>
            </a:r>
          </a:p>
          <a:p>
            <a:pPr algn="just"/>
            <a:r>
              <a:rPr lang="en-US" sz="900" dirty="0" err="1">
                <a:solidFill>
                  <a:srgbClr val="0070C0"/>
                </a:solidFill>
              </a:rPr>
              <a:t>sudo</a:t>
            </a:r>
            <a:r>
              <a:rPr lang="en-US" sz="900" dirty="0">
                <a:solidFill>
                  <a:srgbClr val="0070C0"/>
                </a:solidFill>
              </a:rPr>
              <a:t> </a:t>
            </a:r>
            <a:r>
              <a:rPr lang="en-US" sz="900" dirty="0" err="1">
                <a:solidFill>
                  <a:srgbClr val="0070C0"/>
                </a:solidFill>
              </a:rPr>
              <a:t>systemctl</a:t>
            </a:r>
            <a:r>
              <a:rPr lang="en-US" sz="900" dirty="0">
                <a:solidFill>
                  <a:srgbClr val="0070C0"/>
                </a:solidFill>
              </a:rPr>
              <a:t> restart </a:t>
            </a:r>
            <a:r>
              <a:rPr lang="en-US" sz="900" dirty="0" err="1">
                <a:solidFill>
                  <a:srgbClr val="0070C0"/>
                </a:solidFill>
              </a:rPr>
              <a:t>nfs</a:t>
            </a:r>
            <a:r>
              <a:rPr lang="en-US" sz="900" dirty="0">
                <a:solidFill>
                  <a:srgbClr val="0070C0"/>
                </a:solidFill>
              </a:rPr>
              <a:t>-kernel-server</a:t>
            </a:r>
          </a:p>
          <a:p>
            <a:pPr algn="just"/>
            <a:r>
              <a:rPr lang="en-US" sz="900" dirty="0" err="1">
                <a:solidFill>
                  <a:srgbClr val="0070C0"/>
                </a:solidFill>
              </a:rPr>
              <a:t>sudo</a:t>
            </a:r>
            <a:r>
              <a:rPr lang="en-US" sz="900" dirty="0">
                <a:solidFill>
                  <a:srgbClr val="0070C0"/>
                </a:solidFill>
              </a:rPr>
              <a:t> </a:t>
            </a:r>
            <a:r>
              <a:rPr lang="en-US" sz="900" dirty="0" err="1">
                <a:solidFill>
                  <a:srgbClr val="0070C0"/>
                </a:solidFill>
              </a:rPr>
              <a:t>exportfs</a:t>
            </a:r>
            <a:r>
              <a:rPr lang="en-US" sz="900" dirty="0">
                <a:solidFill>
                  <a:srgbClr val="0070C0"/>
                </a:solidFill>
              </a:rPr>
              <a:t> -v</a:t>
            </a:r>
          </a:p>
        </p:txBody>
      </p:sp>
      <p:sp>
        <p:nvSpPr>
          <p:cNvPr id="10" name="Rectangle 9"/>
          <p:cNvSpPr/>
          <p:nvPr/>
        </p:nvSpPr>
        <p:spPr>
          <a:xfrm>
            <a:off x="198519" y="1286488"/>
            <a:ext cx="3195889" cy="108485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1" name="Rectangle 10"/>
          <p:cNvSpPr/>
          <p:nvPr/>
        </p:nvSpPr>
        <p:spPr>
          <a:xfrm>
            <a:off x="160419" y="2671482"/>
            <a:ext cx="3858127" cy="584775"/>
          </a:xfrm>
          <a:prstGeom prst="rect">
            <a:avLst/>
          </a:prstGeom>
        </p:spPr>
        <p:txBody>
          <a:bodyPr wrap="square">
            <a:spAutoFit/>
          </a:bodyPr>
          <a:lstStyle/>
          <a:p>
            <a:pPr algn="just"/>
            <a:r>
              <a:rPr lang="en-US" b="1" dirty="0">
                <a:solidFill>
                  <a:srgbClr val="002060"/>
                </a:solidFill>
              </a:rPr>
              <a:t>Execute in all nodes</a:t>
            </a:r>
          </a:p>
          <a:p>
            <a:pPr algn="just"/>
            <a:r>
              <a:rPr lang="en-US" sz="1400" b="1" dirty="0" smtClean="0"/>
              <a:t>Mapping </a:t>
            </a:r>
            <a:r>
              <a:rPr lang="en-US" sz="1400" b="1" dirty="0"/>
              <a:t>static hostname in /</a:t>
            </a:r>
            <a:r>
              <a:rPr lang="en-US" sz="1400" b="1" dirty="0" err="1"/>
              <a:t>etc</a:t>
            </a:r>
            <a:r>
              <a:rPr lang="en-US" sz="1400" b="1" dirty="0"/>
              <a:t>/hosts</a:t>
            </a:r>
          </a:p>
        </p:txBody>
      </p:sp>
      <p:sp>
        <p:nvSpPr>
          <p:cNvPr id="13" name="Rectangle 12"/>
          <p:cNvSpPr/>
          <p:nvPr/>
        </p:nvSpPr>
        <p:spPr>
          <a:xfrm>
            <a:off x="198519" y="3256257"/>
            <a:ext cx="3376864" cy="1446550"/>
          </a:xfrm>
          <a:prstGeom prst="rect">
            <a:avLst/>
          </a:prstGeom>
        </p:spPr>
        <p:txBody>
          <a:bodyPr wrap="square">
            <a:spAutoFit/>
          </a:bodyPr>
          <a:lstStyle/>
          <a:p>
            <a:r>
              <a:rPr lang="en-US" sz="800" dirty="0">
                <a:solidFill>
                  <a:srgbClr val="0070C0"/>
                </a:solidFill>
              </a:rPr>
              <a:t>cat &lt;&lt;EOF | tee -a /</a:t>
            </a:r>
            <a:r>
              <a:rPr lang="en-US" sz="800" dirty="0" err="1">
                <a:solidFill>
                  <a:srgbClr val="0070C0"/>
                </a:solidFill>
              </a:rPr>
              <a:t>etc</a:t>
            </a:r>
            <a:r>
              <a:rPr lang="en-US" sz="800" dirty="0">
                <a:solidFill>
                  <a:srgbClr val="0070C0"/>
                </a:solidFill>
              </a:rPr>
              <a:t>/hosts</a:t>
            </a:r>
          </a:p>
          <a:p>
            <a:r>
              <a:rPr lang="en-US" sz="800" dirty="0">
                <a:solidFill>
                  <a:srgbClr val="0070C0"/>
                </a:solidFill>
              </a:rPr>
              <a:t>10.78.78.199 </a:t>
            </a:r>
            <a:r>
              <a:rPr lang="en-US" sz="800" dirty="0" smtClean="0">
                <a:solidFill>
                  <a:srgbClr val="0070C0"/>
                </a:solidFill>
              </a:rPr>
              <a:t>Deploy01adm01 Deploy01adm01.Deploy.is-a.dev</a:t>
            </a:r>
            <a:endParaRPr lang="en-US" sz="800" dirty="0">
              <a:solidFill>
                <a:srgbClr val="0070C0"/>
              </a:solidFill>
            </a:endParaRPr>
          </a:p>
          <a:p>
            <a:r>
              <a:rPr lang="en-US" sz="800" dirty="0">
                <a:solidFill>
                  <a:srgbClr val="0070C0"/>
                </a:solidFill>
              </a:rPr>
              <a:t>10.78.78.201 </a:t>
            </a:r>
            <a:r>
              <a:rPr lang="en-US" sz="800" dirty="0" smtClean="0">
                <a:solidFill>
                  <a:srgbClr val="0070C0"/>
                </a:solidFill>
              </a:rPr>
              <a:t>Deploy01con01 Deploy01con01.Deploy.is-a.dev</a:t>
            </a:r>
            <a:endParaRPr lang="en-US" sz="800" dirty="0">
              <a:solidFill>
                <a:srgbClr val="0070C0"/>
              </a:solidFill>
            </a:endParaRPr>
          </a:p>
          <a:p>
            <a:r>
              <a:rPr lang="en-US" sz="800" dirty="0">
                <a:solidFill>
                  <a:srgbClr val="0070C0"/>
                </a:solidFill>
              </a:rPr>
              <a:t>10.78.78.202 </a:t>
            </a:r>
            <a:r>
              <a:rPr lang="en-US" sz="800" dirty="0" smtClean="0">
                <a:solidFill>
                  <a:srgbClr val="0070C0"/>
                </a:solidFill>
              </a:rPr>
              <a:t>Deploy01con02 Deploy01con02.Deploy.is-a.dev</a:t>
            </a:r>
            <a:endParaRPr lang="en-US" sz="800" dirty="0">
              <a:solidFill>
                <a:srgbClr val="0070C0"/>
              </a:solidFill>
            </a:endParaRPr>
          </a:p>
          <a:p>
            <a:r>
              <a:rPr lang="en-US" sz="800" dirty="0">
                <a:solidFill>
                  <a:srgbClr val="0070C0"/>
                </a:solidFill>
              </a:rPr>
              <a:t>10.78.78.203 </a:t>
            </a:r>
            <a:r>
              <a:rPr lang="en-US" sz="800" dirty="0" smtClean="0">
                <a:solidFill>
                  <a:srgbClr val="0070C0"/>
                </a:solidFill>
              </a:rPr>
              <a:t>Deploy01con02 Deploy01con03.Deploy.is-a.dev</a:t>
            </a:r>
            <a:endParaRPr lang="en-US" sz="800" dirty="0">
              <a:solidFill>
                <a:srgbClr val="0070C0"/>
              </a:solidFill>
            </a:endParaRPr>
          </a:p>
          <a:p>
            <a:r>
              <a:rPr lang="en-US" sz="800" dirty="0">
                <a:solidFill>
                  <a:srgbClr val="0070C0"/>
                </a:solidFill>
              </a:rPr>
              <a:t>10.78.78.204 </a:t>
            </a:r>
            <a:r>
              <a:rPr lang="en-US" sz="800" dirty="0" smtClean="0">
                <a:solidFill>
                  <a:srgbClr val="0070C0"/>
                </a:solidFill>
              </a:rPr>
              <a:t>Deploy01hpv01 Deploy01hpv01.Deploy.is-a.dev</a:t>
            </a:r>
            <a:endParaRPr lang="en-US" sz="800" dirty="0">
              <a:solidFill>
                <a:srgbClr val="0070C0"/>
              </a:solidFill>
            </a:endParaRPr>
          </a:p>
          <a:p>
            <a:r>
              <a:rPr lang="en-US" sz="800" dirty="0">
                <a:solidFill>
                  <a:srgbClr val="0070C0"/>
                </a:solidFill>
              </a:rPr>
              <a:t>10.78.78.205 </a:t>
            </a:r>
            <a:r>
              <a:rPr lang="en-US" sz="800" dirty="0" smtClean="0">
                <a:solidFill>
                  <a:srgbClr val="0070C0"/>
                </a:solidFill>
              </a:rPr>
              <a:t>Deploy01hpv02 Deploy01hpv02.Deploy.is-a.dev</a:t>
            </a:r>
            <a:endParaRPr lang="en-US" sz="800" dirty="0">
              <a:solidFill>
                <a:srgbClr val="0070C0"/>
              </a:solidFill>
            </a:endParaRPr>
          </a:p>
          <a:p>
            <a:endParaRPr lang="en-US" sz="800" dirty="0">
              <a:solidFill>
                <a:srgbClr val="0070C0"/>
              </a:solidFill>
            </a:endParaRPr>
          </a:p>
          <a:p>
            <a:r>
              <a:rPr lang="en-US" sz="800" dirty="0">
                <a:solidFill>
                  <a:srgbClr val="0070C0"/>
                </a:solidFill>
              </a:rPr>
              <a:t>10.78.78.200 </a:t>
            </a:r>
            <a:r>
              <a:rPr lang="en-US" sz="800" dirty="0" err="1">
                <a:solidFill>
                  <a:srgbClr val="0070C0"/>
                </a:solidFill>
              </a:rPr>
              <a:t>os-int</a:t>
            </a:r>
            <a:endParaRPr lang="en-US" sz="800" dirty="0">
              <a:solidFill>
                <a:srgbClr val="0070C0"/>
              </a:solidFill>
            </a:endParaRPr>
          </a:p>
          <a:p>
            <a:r>
              <a:rPr lang="en-US" sz="800" dirty="0">
                <a:solidFill>
                  <a:srgbClr val="0070C0"/>
                </a:solidFill>
              </a:rPr>
              <a:t>10.78.78.100 </a:t>
            </a:r>
            <a:r>
              <a:rPr lang="en-US" sz="800" dirty="0" err="1">
                <a:solidFill>
                  <a:srgbClr val="0070C0"/>
                </a:solidFill>
              </a:rPr>
              <a:t>os-ext</a:t>
            </a:r>
            <a:endParaRPr lang="en-US" sz="800" dirty="0">
              <a:solidFill>
                <a:srgbClr val="0070C0"/>
              </a:solidFill>
            </a:endParaRPr>
          </a:p>
          <a:p>
            <a:r>
              <a:rPr lang="en-US" sz="800" dirty="0">
                <a:solidFill>
                  <a:srgbClr val="0070C0"/>
                </a:solidFill>
              </a:rPr>
              <a:t>EOF</a:t>
            </a:r>
          </a:p>
        </p:txBody>
      </p:sp>
      <p:sp>
        <p:nvSpPr>
          <p:cNvPr id="14" name="Rectangle 13"/>
          <p:cNvSpPr/>
          <p:nvPr/>
        </p:nvSpPr>
        <p:spPr>
          <a:xfrm>
            <a:off x="4473738" y="901766"/>
            <a:ext cx="4536909" cy="48468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14"/>
          <p:cNvSpPr/>
          <p:nvPr/>
        </p:nvSpPr>
        <p:spPr>
          <a:xfrm>
            <a:off x="4379493" y="628393"/>
            <a:ext cx="3858127" cy="307777"/>
          </a:xfrm>
          <a:prstGeom prst="rect">
            <a:avLst/>
          </a:prstGeom>
        </p:spPr>
        <p:txBody>
          <a:bodyPr wrap="square">
            <a:spAutoFit/>
          </a:bodyPr>
          <a:lstStyle/>
          <a:p>
            <a:pPr algn="just"/>
            <a:r>
              <a:rPr lang="en-US" sz="1400" b="1" dirty="0">
                <a:solidFill>
                  <a:srgbClr val="002060"/>
                </a:solidFill>
              </a:rPr>
              <a:t>Install packages and dependencies</a:t>
            </a:r>
          </a:p>
        </p:txBody>
      </p:sp>
      <p:sp>
        <p:nvSpPr>
          <p:cNvPr id="16" name="Rectangle 15"/>
          <p:cNvSpPr/>
          <p:nvPr/>
        </p:nvSpPr>
        <p:spPr>
          <a:xfrm>
            <a:off x="4445665" y="924789"/>
            <a:ext cx="4564981" cy="461665"/>
          </a:xfrm>
          <a:prstGeom prst="rect">
            <a:avLst/>
          </a:prstGeom>
        </p:spPr>
        <p:txBody>
          <a:bodyPr wrap="square">
            <a:spAutoFit/>
          </a:bodyPr>
          <a:lstStyle/>
          <a:p>
            <a:r>
              <a:rPr lang="en-US" sz="800" dirty="0" err="1">
                <a:solidFill>
                  <a:srgbClr val="0070C0"/>
                </a:solidFill>
              </a:rPr>
              <a:t>sudo</a:t>
            </a:r>
            <a:r>
              <a:rPr lang="en-US" sz="800" dirty="0">
                <a:solidFill>
                  <a:srgbClr val="0070C0"/>
                </a:solidFill>
              </a:rPr>
              <a:t> apt install -y </a:t>
            </a:r>
            <a:r>
              <a:rPr lang="en-US" sz="800" dirty="0" err="1">
                <a:solidFill>
                  <a:srgbClr val="0070C0"/>
                </a:solidFill>
              </a:rPr>
              <a:t>git</a:t>
            </a:r>
            <a:r>
              <a:rPr lang="en-US" sz="800" dirty="0">
                <a:solidFill>
                  <a:srgbClr val="0070C0"/>
                </a:solidFill>
              </a:rPr>
              <a:t> </a:t>
            </a:r>
            <a:r>
              <a:rPr lang="en-US" sz="800" dirty="0" err="1">
                <a:solidFill>
                  <a:srgbClr val="0070C0"/>
                </a:solidFill>
              </a:rPr>
              <a:t>gcc</a:t>
            </a:r>
            <a:r>
              <a:rPr lang="en-US" sz="800" dirty="0">
                <a:solidFill>
                  <a:srgbClr val="0070C0"/>
                </a:solidFill>
              </a:rPr>
              <a:t> </a:t>
            </a:r>
            <a:r>
              <a:rPr lang="en-US" sz="800" dirty="0" err="1">
                <a:solidFill>
                  <a:srgbClr val="0070C0"/>
                </a:solidFill>
              </a:rPr>
              <a:t>libssl</a:t>
            </a:r>
            <a:r>
              <a:rPr lang="en-US" sz="800" dirty="0">
                <a:solidFill>
                  <a:srgbClr val="0070C0"/>
                </a:solidFill>
              </a:rPr>
              <a:t>-dev </a:t>
            </a:r>
            <a:r>
              <a:rPr lang="en-US" sz="800" dirty="0" err="1">
                <a:solidFill>
                  <a:srgbClr val="0070C0"/>
                </a:solidFill>
              </a:rPr>
              <a:t>libffi</a:t>
            </a:r>
            <a:r>
              <a:rPr lang="en-US" sz="800" dirty="0">
                <a:solidFill>
                  <a:srgbClr val="0070C0"/>
                </a:solidFill>
              </a:rPr>
              <a:t>-dev \</a:t>
            </a:r>
          </a:p>
          <a:p>
            <a:r>
              <a:rPr lang="en-US" sz="800" dirty="0">
                <a:solidFill>
                  <a:srgbClr val="0070C0"/>
                </a:solidFill>
              </a:rPr>
              <a:t> python3-venv python3-dev python3-selinux python3-setuptools \</a:t>
            </a:r>
          </a:p>
          <a:p>
            <a:r>
              <a:rPr lang="en-US" sz="800" dirty="0">
                <a:solidFill>
                  <a:srgbClr val="0070C0"/>
                </a:solidFill>
              </a:rPr>
              <a:t> python3-pip python3-docker </a:t>
            </a:r>
            <a:r>
              <a:rPr lang="en-US" sz="800" dirty="0" err="1">
                <a:solidFill>
                  <a:srgbClr val="0070C0"/>
                </a:solidFill>
              </a:rPr>
              <a:t>nfs</a:t>
            </a:r>
            <a:r>
              <a:rPr lang="en-US" sz="800" dirty="0">
                <a:solidFill>
                  <a:srgbClr val="0070C0"/>
                </a:solidFill>
              </a:rPr>
              <a:t>-common</a:t>
            </a:r>
          </a:p>
        </p:txBody>
      </p:sp>
      <p:sp>
        <p:nvSpPr>
          <p:cNvPr id="17" name="Rectangle 16"/>
          <p:cNvSpPr/>
          <p:nvPr/>
        </p:nvSpPr>
        <p:spPr>
          <a:xfrm>
            <a:off x="4473738" y="1779311"/>
            <a:ext cx="4536911" cy="48468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8" name="Rectangle 17"/>
          <p:cNvSpPr/>
          <p:nvPr/>
        </p:nvSpPr>
        <p:spPr>
          <a:xfrm>
            <a:off x="4379493" y="1505938"/>
            <a:ext cx="3858127" cy="307777"/>
          </a:xfrm>
          <a:prstGeom prst="rect">
            <a:avLst/>
          </a:prstGeom>
        </p:spPr>
        <p:txBody>
          <a:bodyPr wrap="square">
            <a:spAutoFit/>
          </a:bodyPr>
          <a:lstStyle/>
          <a:p>
            <a:pPr algn="just"/>
            <a:r>
              <a:rPr lang="en-US" sz="1400" b="1" dirty="0">
                <a:solidFill>
                  <a:srgbClr val="002060"/>
                </a:solidFill>
              </a:rPr>
              <a:t>Mount </a:t>
            </a:r>
            <a:r>
              <a:rPr lang="en-US" sz="1400" b="1" dirty="0" err="1">
                <a:solidFill>
                  <a:srgbClr val="002060"/>
                </a:solidFill>
              </a:rPr>
              <a:t>nfs</a:t>
            </a:r>
            <a:r>
              <a:rPr lang="en-US" sz="1400" b="1" dirty="0">
                <a:solidFill>
                  <a:srgbClr val="002060"/>
                </a:solidFill>
              </a:rPr>
              <a:t> volume for all node</a:t>
            </a:r>
          </a:p>
        </p:txBody>
      </p:sp>
      <p:sp>
        <p:nvSpPr>
          <p:cNvPr id="19" name="Rectangle 18"/>
          <p:cNvSpPr/>
          <p:nvPr/>
        </p:nvSpPr>
        <p:spPr>
          <a:xfrm>
            <a:off x="4445665" y="1802334"/>
            <a:ext cx="4564983" cy="461665"/>
          </a:xfrm>
          <a:prstGeom prst="rect">
            <a:avLst/>
          </a:prstGeom>
        </p:spPr>
        <p:txBody>
          <a:bodyPr wrap="square">
            <a:spAutoFit/>
          </a:bodyPr>
          <a:lstStyle/>
          <a:p>
            <a:r>
              <a:rPr lang="en-US" sz="800" dirty="0" err="1">
                <a:solidFill>
                  <a:srgbClr val="0070C0"/>
                </a:solidFill>
              </a:rPr>
              <a:t>sudo</a:t>
            </a:r>
            <a:r>
              <a:rPr lang="en-US" sz="800" dirty="0">
                <a:solidFill>
                  <a:srgbClr val="0070C0"/>
                </a:solidFill>
              </a:rPr>
              <a:t> </a:t>
            </a:r>
            <a:r>
              <a:rPr lang="en-US" sz="800" dirty="0" err="1">
                <a:solidFill>
                  <a:srgbClr val="0070C0"/>
                </a:solidFill>
              </a:rPr>
              <a:t>mkdir</a:t>
            </a:r>
            <a:r>
              <a:rPr lang="en-US" sz="800" dirty="0">
                <a:solidFill>
                  <a:srgbClr val="0070C0"/>
                </a:solidFill>
              </a:rPr>
              <a:t> /data cat &lt;&lt;EOF | </a:t>
            </a:r>
            <a:r>
              <a:rPr lang="en-US" sz="800" dirty="0" err="1">
                <a:solidFill>
                  <a:srgbClr val="0070C0"/>
                </a:solidFill>
              </a:rPr>
              <a:t>sudo</a:t>
            </a:r>
            <a:r>
              <a:rPr lang="en-US" sz="800" dirty="0">
                <a:solidFill>
                  <a:srgbClr val="0070C0"/>
                </a:solidFill>
              </a:rPr>
              <a:t> tee -a /</a:t>
            </a:r>
            <a:r>
              <a:rPr lang="en-US" sz="800" dirty="0" err="1">
                <a:solidFill>
                  <a:srgbClr val="0070C0"/>
                </a:solidFill>
              </a:rPr>
              <a:t>etc</a:t>
            </a:r>
            <a:r>
              <a:rPr lang="en-US" sz="800" dirty="0">
                <a:solidFill>
                  <a:srgbClr val="0070C0"/>
                </a:solidFill>
              </a:rPr>
              <a:t>/</a:t>
            </a:r>
            <a:r>
              <a:rPr lang="en-US" sz="800" dirty="0" err="1">
                <a:solidFill>
                  <a:srgbClr val="0070C0"/>
                </a:solidFill>
              </a:rPr>
              <a:t>fstab</a:t>
            </a:r>
            <a:r>
              <a:rPr lang="en-US" sz="800" dirty="0">
                <a:solidFill>
                  <a:srgbClr val="0070C0"/>
                </a:solidFill>
              </a:rPr>
              <a:t> 10.78.78.199:/data /data </a:t>
            </a:r>
            <a:r>
              <a:rPr lang="en-US" sz="800" dirty="0" err="1">
                <a:solidFill>
                  <a:srgbClr val="0070C0"/>
                </a:solidFill>
              </a:rPr>
              <a:t>nfs</a:t>
            </a:r>
            <a:r>
              <a:rPr lang="en-US" sz="800" dirty="0">
                <a:solidFill>
                  <a:srgbClr val="0070C0"/>
                </a:solidFill>
              </a:rPr>
              <a:t> defaults,_</a:t>
            </a:r>
            <a:r>
              <a:rPr lang="en-US" sz="800" dirty="0" err="1">
                <a:solidFill>
                  <a:srgbClr val="0070C0"/>
                </a:solidFill>
              </a:rPr>
              <a:t>netdev</a:t>
            </a:r>
            <a:r>
              <a:rPr lang="en-US" sz="800" dirty="0">
                <a:solidFill>
                  <a:srgbClr val="0070C0"/>
                </a:solidFill>
              </a:rPr>
              <a:t> 0 0 </a:t>
            </a:r>
            <a:r>
              <a:rPr lang="en-US" sz="800" dirty="0" smtClean="0">
                <a:solidFill>
                  <a:srgbClr val="0070C0"/>
                </a:solidFill>
              </a:rPr>
              <a:t>EOF</a:t>
            </a:r>
          </a:p>
          <a:p>
            <a:r>
              <a:rPr lang="en-US" sz="800" dirty="0" smtClean="0">
                <a:solidFill>
                  <a:srgbClr val="0070C0"/>
                </a:solidFill>
              </a:rPr>
              <a:t> </a:t>
            </a:r>
            <a:r>
              <a:rPr lang="en-US" sz="800" dirty="0" err="1">
                <a:solidFill>
                  <a:srgbClr val="0070C0"/>
                </a:solidFill>
              </a:rPr>
              <a:t>sudo</a:t>
            </a:r>
            <a:r>
              <a:rPr lang="en-US" sz="800" dirty="0">
                <a:solidFill>
                  <a:srgbClr val="0070C0"/>
                </a:solidFill>
              </a:rPr>
              <a:t> mount /data</a:t>
            </a:r>
          </a:p>
        </p:txBody>
      </p:sp>
      <p:sp>
        <p:nvSpPr>
          <p:cNvPr id="20" name="Rectangle 19"/>
          <p:cNvSpPr/>
          <p:nvPr/>
        </p:nvSpPr>
        <p:spPr>
          <a:xfrm>
            <a:off x="4473738" y="2506229"/>
            <a:ext cx="4536908" cy="59811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1" name="Rectangle 20"/>
          <p:cNvSpPr/>
          <p:nvPr/>
        </p:nvSpPr>
        <p:spPr>
          <a:xfrm>
            <a:off x="4379492" y="2240975"/>
            <a:ext cx="3858127" cy="307777"/>
          </a:xfrm>
          <a:prstGeom prst="rect">
            <a:avLst/>
          </a:prstGeom>
        </p:spPr>
        <p:txBody>
          <a:bodyPr wrap="square">
            <a:spAutoFit/>
          </a:bodyPr>
          <a:lstStyle/>
          <a:p>
            <a:pPr algn="just"/>
            <a:r>
              <a:rPr lang="en-US" sz="1400" b="1" dirty="0">
                <a:solidFill>
                  <a:srgbClr val="002060"/>
                </a:solidFill>
              </a:rPr>
              <a:t>Create virtual environment for </a:t>
            </a:r>
            <a:r>
              <a:rPr lang="en-US" sz="1400" b="1" dirty="0" err="1">
                <a:solidFill>
                  <a:srgbClr val="002060"/>
                </a:solidFill>
              </a:rPr>
              <a:t>kolla-ansible</a:t>
            </a:r>
            <a:endParaRPr lang="en-US" sz="1400" b="1" dirty="0">
              <a:solidFill>
                <a:srgbClr val="002060"/>
              </a:solidFill>
            </a:endParaRPr>
          </a:p>
        </p:txBody>
      </p:sp>
      <p:sp>
        <p:nvSpPr>
          <p:cNvPr id="22" name="Rectangle 21"/>
          <p:cNvSpPr/>
          <p:nvPr/>
        </p:nvSpPr>
        <p:spPr>
          <a:xfrm>
            <a:off x="4445665" y="2458017"/>
            <a:ext cx="3376864" cy="646331"/>
          </a:xfrm>
          <a:prstGeom prst="rect">
            <a:avLst/>
          </a:prstGeom>
        </p:spPr>
        <p:txBody>
          <a:bodyPr wrap="square">
            <a:spAutoFit/>
          </a:bodyPr>
          <a:lstStyle/>
          <a:p>
            <a:r>
              <a:rPr lang="en-US" sz="900" dirty="0">
                <a:solidFill>
                  <a:srgbClr val="0070C0"/>
                </a:solidFill>
              </a:rPr>
              <a:t>python3 -m </a:t>
            </a:r>
            <a:r>
              <a:rPr lang="en-US" sz="900" dirty="0" err="1">
                <a:solidFill>
                  <a:srgbClr val="0070C0"/>
                </a:solidFill>
              </a:rPr>
              <a:t>venv</a:t>
            </a:r>
            <a:r>
              <a:rPr lang="en-US" sz="900" dirty="0">
                <a:solidFill>
                  <a:srgbClr val="0070C0"/>
                </a:solidFill>
              </a:rPr>
              <a:t> </a:t>
            </a:r>
            <a:r>
              <a:rPr lang="en-US" sz="900" dirty="0" err="1">
                <a:solidFill>
                  <a:srgbClr val="0070C0"/>
                </a:solidFill>
              </a:rPr>
              <a:t>kolla-venv</a:t>
            </a:r>
            <a:r>
              <a:rPr lang="en-US" sz="900" dirty="0">
                <a:solidFill>
                  <a:srgbClr val="0070C0"/>
                </a:solidFill>
              </a:rPr>
              <a:t> </a:t>
            </a:r>
            <a:endParaRPr lang="en-US" sz="900" dirty="0" smtClean="0">
              <a:solidFill>
                <a:srgbClr val="0070C0"/>
              </a:solidFill>
            </a:endParaRPr>
          </a:p>
          <a:p>
            <a:r>
              <a:rPr lang="en-US" sz="900" dirty="0" smtClean="0">
                <a:solidFill>
                  <a:srgbClr val="0070C0"/>
                </a:solidFill>
              </a:rPr>
              <a:t>cd </a:t>
            </a:r>
            <a:r>
              <a:rPr lang="en-US" sz="900" dirty="0" err="1">
                <a:solidFill>
                  <a:srgbClr val="0070C0"/>
                </a:solidFill>
              </a:rPr>
              <a:t>kolla-venv</a:t>
            </a:r>
            <a:r>
              <a:rPr lang="en-US" sz="900" dirty="0">
                <a:solidFill>
                  <a:srgbClr val="0070C0"/>
                </a:solidFill>
              </a:rPr>
              <a:t> </a:t>
            </a:r>
            <a:endParaRPr lang="en-US" sz="900" dirty="0" smtClean="0">
              <a:solidFill>
                <a:srgbClr val="0070C0"/>
              </a:solidFill>
            </a:endParaRPr>
          </a:p>
          <a:p>
            <a:r>
              <a:rPr lang="en-US" sz="900" dirty="0" smtClean="0">
                <a:solidFill>
                  <a:srgbClr val="0070C0"/>
                </a:solidFill>
              </a:rPr>
              <a:t>source bin/activate</a:t>
            </a:r>
          </a:p>
          <a:p>
            <a:r>
              <a:rPr lang="en-US" sz="900" dirty="0" smtClean="0">
                <a:solidFill>
                  <a:srgbClr val="0070C0"/>
                </a:solidFill>
              </a:rPr>
              <a:t> </a:t>
            </a:r>
            <a:r>
              <a:rPr lang="en-US" sz="900" dirty="0" err="1">
                <a:solidFill>
                  <a:srgbClr val="0070C0"/>
                </a:solidFill>
              </a:rPr>
              <a:t>pwd</a:t>
            </a:r>
            <a:endParaRPr lang="en-US" sz="900" dirty="0">
              <a:solidFill>
                <a:srgbClr val="0070C0"/>
              </a:solidFill>
            </a:endParaRPr>
          </a:p>
        </p:txBody>
      </p:sp>
      <p:sp>
        <p:nvSpPr>
          <p:cNvPr id="23" name="Rectangle 22"/>
          <p:cNvSpPr/>
          <p:nvPr/>
        </p:nvSpPr>
        <p:spPr>
          <a:xfrm>
            <a:off x="4475740" y="4219442"/>
            <a:ext cx="3398920" cy="31082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4" name="Rectangle 23"/>
          <p:cNvSpPr/>
          <p:nvPr/>
        </p:nvSpPr>
        <p:spPr>
          <a:xfrm>
            <a:off x="4395537" y="3911665"/>
            <a:ext cx="3858127" cy="369332"/>
          </a:xfrm>
          <a:prstGeom prst="rect">
            <a:avLst/>
          </a:prstGeom>
        </p:spPr>
        <p:txBody>
          <a:bodyPr wrap="square">
            <a:spAutoFit/>
          </a:bodyPr>
          <a:lstStyle/>
          <a:p>
            <a:pPr algn="just"/>
            <a:r>
              <a:rPr lang="en-US" dirty="0"/>
              <a:t>Update pip and install </a:t>
            </a:r>
            <a:r>
              <a:rPr lang="en-US" dirty="0" err="1"/>
              <a:t>ansible</a:t>
            </a:r>
            <a:endParaRPr lang="en-US" sz="1400" b="1" dirty="0">
              <a:solidFill>
                <a:srgbClr val="002060"/>
              </a:solidFill>
            </a:endParaRPr>
          </a:p>
        </p:txBody>
      </p:sp>
      <p:sp>
        <p:nvSpPr>
          <p:cNvPr id="25" name="Rectangle 24"/>
          <p:cNvSpPr/>
          <p:nvPr/>
        </p:nvSpPr>
        <p:spPr>
          <a:xfrm>
            <a:off x="4457694" y="4253267"/>
            <a:ext cx="3376864" cy="276999"/>
          </a:xfrm>
          <a:prstGeom prst="rect">
            <a:avLst/>
          </a:prstGeom>
        </p:spPr>
        <p:txBody>
          <a:bodyPr wrap="square">
            <a:spAutoFit/>
          </a:bodyPr>
          <a:lstStyle/>
          <a:p>
            <a:r>
              <a:rPr lang="en-US" sz="1200" dirty="0">
                <a:solidFill>
                  <a:srgbClr val="0070C0"/>
                </a:solidFill>
              </a:rPr>
              <a:t>pip install -U pip </a:t>
            </a:r>
            <a:r>
              <a:rPr lang="en-US" sz="1200" dirty="0" err="1">
                <a:solidFill>
                  <a:srgbClr val="0070C0"/>
                </a:solidFill>
              </a:rPr>
              <a:t>pip</a:t>
            </a:r>
            <a:r>
              <a:rPr lang="en-US" sz="1200" dirty="0">
                <a:solidFill>
                  <a:srgbClr val="0070C0"/>
                </a:solidFill>
              </a:rPr>
              <a:t> install '</a:t>
            </a:r>
            <a:r>
              <a:rPr lang="en-US" sz="1200" dirty="0" err="1">
                <a:solidFill>
                  <a:srgbClr val="0070C0"/>
                </a:solidFill>
              </a:rPr>
              <a:t>ansible</a:t>
            </a:r>
            <a:r>
              <a:rPr lang="en-US" sz="1200" dirty="0">
                <a:solidFill>
                  <a:srgbClr val="0070C0"/>
                </a:solidFill>
              </a:rPr>
              <a:t>&gt;=8,&lt;9'</a:t>
            </a:r>
          </a:p>
        </p:txBody>
      </p:sp>
      <p:sp>
        <p:nvSpPr>
          <p:cNvPr id="26" name="Rectangle 25"/>
          <p:cNvSpPr/>
          <p:nvPr/>
        </p:nvSpPr>
        <p:spPr>
          <a:xfrm>
            <a:off x="4473738" y="3224484"/>
            <a:ext cx="4536908" cy="68718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7" name="Rectangle 26"/>
          <p:cNvSpPr/>
          <p:nvPr/>
        </p:nvSpPr>
        <p:spPr>
          <a:xfrm>
            <a:off x="4445665" y="3176272"/>
            <a:ext cx="3376864" cy="923330"/>
          </a:xfrm>
          <a:prstGeom prst="rect">
            <a:avLst/>
          </a:prstGeom>
        </p:spPr>
        <p:txBody>
          <a:bodyPr wrap="square">
            <a:spAutoFit/>
          </a:bodyPr>
          <a:lstStyle/>
          <a:p>
            <a:r>
              <a:rPr lang="en-US" sz="900" dirty="0" smtClean="0">
                <a:solidFill>
                  <a:srgbClr val="0070C0"/>
                </a:solidFill>
              </a:rPr>
              <a:t>panda@Deploy01adm01: ~ cd </a:t>
            </a:r>
            <a:r>
              <a:rPr lang="en-US" sz="900" dirty="0" err="1" smtClean="0">
                <a:solidFill>
                  <a:srgbClr val="0070C0"/>
                </a:solidFill>
              </a:rPr>
              <a:t>kolla-venv</a:t>
            </a:r>
            <a:endParaRPr lang="en-US" sz="900" dirty="0" smtClean="0">
              <a:solidFill>
                <a:srgbClr val="0070C0"/>
              </a:solidFill>
            </a:endParaRPr>
          </a:p>
          <a:p>
            <a:r>
              <a:rPr lang="en-US" sz="900" dirty="0" smtClean="0">
                <a:solidFill>
                  <a:srgbClr val="0070C0"/>
                </a:solidFill>
              </a:rPr>
              <a:t>panda@Deploy01adm01</a:t>
            </a:r>
            <a:r>
              <a:rPr lang="en-US" sz="900" dirty="0">
                <a:solidFill>
                  <a:srgbClr val="0070C0"/>
                </a:solidFill>
              </a:rPr>
              <a:t>: ~ </a:t>
            </a:r>
            <a:r>
              <a:rPr lang="en-US" sz="900" dirty="0" smtClean="0">
                <a:solidFill>
                  <a:srgbClr val="0070C0"/>
                </a:solidFill>
              </a:rPr>
              <a:t>/</a:t>
            </a:r>
            <a:r>
              <a:rPr lang="en-US" sz="900" dirty="0" err="1" smtClean="0">
                <a:solidFill>
                  <a:srgbClr val="0070C0"/>
                </a:solidFill>
              </a:rPr>
              <a:t>kolla-venv</a:t>
            </a:r>
            <a:r>
              <a:rPr lang="en-US" sz="900" dirty="0" smtClean="0">
                <a:solidFill>
                  <a:srgbClr val="0070C0"/>
                </a:solidFill>
              </a:rPr>
              <a:t>$ source bin/activate</a:t>
            </a:r>
          </a:p>
          <a:p>
            <a:r>
              <a:rPr lang="en-US" sz="900" dirty="0" smtClean="0">
                <a:solidFill>
                  <a:srgbClr val="0070C0"/>
                </a:solidFill>
              </a:rPr>
              <a:t>(kola-</a:t>
            </a:r>
            <a:r>
              <a:rPr lang="en-US" sz="900" dirty="0" err="1" smtClean="0">
                <a:solidFill>
                  <a:srgbClr val="0070C0"/>
                </a:solidFill>
              </a:rPr>
              <a:t>venv</a:t>
            </a:r>
            <a:r>
              <a:rPr lang="en-US" sz="900" dirty="0" smtClean="0">
                <a:solidFill>
                  <a:srgbClr val="0070C0"/>
                </a:solidFill>
              </a:rPr>
              <a:t>) panda@Deploy01adm01</a:t>
            </a:r>
            <a:r>
              <a:rPr lang="en-US" sz="900" dirty="0">
                <a:solidFill>
                  <a:srgbClr val="0070C0"/>
                </a:solidFill>
              </a:rPr>
              <a:t>: ~ </a:t>
            </a:r>
            <a:r>
              <a:rPr lang="en-US" sz="900" dirty="0" smtClean="0">
                <a:solidFill>
                  <a:srgbClr val="0070C0"/>
                </a:solidFill>
              </a:rPr>
              <a:t>/</a:t>
            </a:r>
            <a:r>
              <a:rPr lang="en-US" sz="900" dirty="0" err="1" smtClean="0">
                <a:solidFill>
                  <a:srgbClr val="0070C0"/>
                </a:solidFill>
              </a:rPr>
              <a:t>kolla-venv</a:t>
            </a:r>
            <a:r>
              <a:rPr lang="en-US" sz="900" dirty="0" smtClean="0">
                <a:solidFill>
                  <a:srgbClr val="0070C0"/>
                </a:solidFill>
              </a:rPr>
              <a:t> $ </a:t>
            </a:r>
            <a:r>
              <a:rPr lang="en-US" sz="900" dirty="0" err="1" smtClean="0">
                <a:solidFill>
                  <a:srgbClr val="0070C0"/>
                </a:solidFill>
              </a:rPr>
              <a:t>pwd</a:t>
            </a:r>
            <a:endParaRPr lang="en-US" sz="900" dirty="0">
              <a:solidFill>
                <a:srgbClr val="0070C0"/>
              </a:solidFill>
            </a:endParaRPr>
          </a:p>
          <a:p>
            <a:r>
              <a:rPr lang="en-US" sz="900" dirty="0" smtClean="0">
                <a:solidFill>
                  <a:srgbClr val="0070C0"/>
                </a:solidFill>
              </a:rPr>
              <a:t>/home/panda/ </a:t>
            </a:r>
            <a:r>
              <a:rPr lang="en-US" sz="900" dirty="0" err="1" smtClean="0">
                <a:solidFill>
                  <a:srgbClr val="0070C0"/>
                </a:solidFill>
              </a:rPr>
              <a:t>kolla-venv</a:t>
            </a:r>
            <a:endParaRPr lang="en-US" sz="900" dirty="0">
              <a:solidFill>
                <a:srgbClr val="0070C0"/>
              </a:solidFill>
            </a:endParaRPr>
          </a:p>
          <a:p>
            <a:r>
              <a:rPr lang="en-US" sz="900" dirty="0">
                <a:solidFill>
                  <a:srgbClr val="0070C0"/>
                </a:solidFill>
              </a:rPr>
              <a:t>(kola-</a:t>
            </a:r>
            <a:r>
              <a:rPr lang="en-US" sz="900" dirty="0" err="1">
                <a:solidFill>
                  <a:srgbClr val="0070C0"/>
                </a:solidFill>
              </a:rPr>
              <a:t>venv</a:t>
            </a:r>
            <a:r>
              <a:rPr lang="en-US" sz="900" dirty="0">
                <a:solidFill>
                  <a:srgbClr val="0070C0"/>
                </a:solidFill>
              </a:rPr>
              <a:t>) </a:t>
            </a:r>
            <a:r>
              <a:rPr lang="en-US" sz="900" dirty="0" smtClean="0">
                <a:solidFill>
                  <a:srgbClr val="0070C0"/>
                </a:solidFill>
              </a:rPr>
              <a:t>panda@Deploy01adm01</a:t>
            </a:r>
            <a:r>
              <a:rPr lang="en-US" sz="900" dirty="0">
                <a:solidFill>
                  <a:srgbClr val="0070C0"/>
                </a:solidFill>
              </a:rPr>
              <a:t>: ~ /</a:t>
            </a:r>
            <a:r>
              <a:rPr lang="en-US" sz="900" dirty="0" err="1">
                <a:solidFill>
                  <a:srgbClr val="0070C0"/>
                </a:solidFill>
              </a:rPr>
              <a:t>kolla-venv</a:t>
            </a:r>
            <a:r>
              <a:rPr lang="en-US" sz="900" dirty="0">
                <a:solidFill>
                  <a:srgbClr val="0070C0"/>
                </a:solidFill>
              </a:rPr>
              <a:t> $ </a:t>
            </a:r>
          </a:p>
          <a:p>
            <a:endParaRPr lang="en-US" sz="900" dirty="0">
              <a:solidFill>
                <a:srgbClr val="0070C0"/>
              </a:solidFill>
            </a:endParaRPr>
          </a:p>
        </p:txBody>
      </p:sp>
    </p:spTree>
    <p:extLst>
      <p:ext uri="{BB962C8B-B14F-4D97-AF65-F5344CB8AC3E}">
        <p14:creationId xmlns:p14="http://schemas.microsoft.com/office/powerpoint/2010/main" val="4020285092"/>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dirty="0"/>
              <a:t>All in one Multi Node cloud infrastructure (compute, Network, Storage)</a:t>
            </a:r>
          </a:p>
        </p:txBody>
      </p:sp>
      <p:sp>
        <p:nvSpPr>
          <p:cNvPr id="4" name="Slide Number Placeholder 3"/>
          <p:cNvSpPr>
            <a:spLocks noGrp="1"/>
          </p:cNvSpPr>
          <p:nvPr>
            <p:ph type="sldNum" sz="quarter" idx="12"/>
          </p:nvPr>
        </p:nvSpPr>
        <p:spPr/>
        <p:txBody>
          <a:bodyPr/>
          <a:lstStyle/>
          <a:p>
            <a:fld id="{6D22F896-40B5-4ADD-8801-0D06FADFA095}" type="slidenum">
              <a:rPr lang="en-US" smtClean="0"/>
              <a:t>50</a:t>
            </a:fld>
            <a:endParaRPr lang="en-US" dirty="0"/>
          </a:p>
        </p:txBody>
      </p:sp>
      <p:sp>
        <p:nvSpPr>
          <p:cNvPr id="5" name="Rectangle 4"/>
          <p:cNvSpPr/>
          <p:nvPr/>
        </p:nvSpPr>
        <p:spPr>
          <a:xfrm>
            <a:off x="158585" y="1268016"/>
            <a:ext cx="1588384" cy="307777"/>
          </a:xfrm>
          <a:prstGeom prst="rect">
            <a:avLst/>
          </a:prstGeom>
        </p:spPr>
        <p:txBody>
          <a:bodyPr wrap="none">
            <a:spAutoFit/>
          </a:bodyPr>
          <a:lstStyle/>
          <a:p>
            <a:r>
              <a:rPr lang="en-US" sz="1400" b="1" dirty="0" smtClean="0">
                <a:solidFill>
                  <a:srgbClr val="0070C0"/>
                </a:solidFill>
              </a:rPr>
              <a:t>Apache </a:t>
            </a:r>
            <a:r>
              <a:rPr lang="en-US" sz="1400" b="1" dirty="0" err="1" smtClean="0">
                <a:solidFill>
                  <a:srgbClr val="0070C0"/>
                </a:solidFill>
              </a:rPr>
              <a:t>Cloudstack</a:t>
            </a:r>
            <a:endParaRPr lang="en-US" sz="1400" b="1" dirty="0">
              <a:solidFill>
                <a:srgbClr val="0070C0"/>
              </a:solidFill>
            </a:endParaRPr>
          </a:p>
        </p:txBody>
      </p:sp>
      <p:sp>
        <p:nvSpPr>
          <p:cNvPr id="6" name="Rectangle 5"/>
          <p:cNvSpPr/>
          <p:nvPr/>
        </p:nvSpPr>
        <p:spPr>
          <a:xfrm>
            <a:off x="158585" y="1450799"/>
            <a:ext cx="1692771" cy="276999"/>
          </a:xfrm>
          <a:prstGeom prst="rect">
            <a:avLst/>
          </a:prstGeom>
        </p:spPr>
        <p:txBody>
          <a:bodyPr wrap="none">
            <a:spAutoFit/>
          </a:bodyPr>
          <a:lstStyle/>
          <a:p>
            <a:r>
              <a:rPr lang="en-US" sz="1200" dirty="0"/>
              <a:t>Small-Scale Deployment</a:t>
            </a:r>
          </a:p>
        </p:txBody>
      </p:sp>
      <p:pic>
        <p:nvPicPr>
          <p:cNvPr id="7" name="Picture 6"/>
          <p:cNvPicPr>
            <a:picLocks noChangeAspect="1"/>
          </p:cNvPicPr>
          <p:nvPr/>
        </p:nvPicPr>
        <p:blipFill>
          <a:blip r:embed="rId3"/>
          <a:stretch>
            <a:fillRect/>
          </a:stretch>
        </p:blipFill>
        <p:spPr>
          <a:xfrm>
            <a:off x="81219" y="2582591"/>
            <a:ext cx="1392492" cy="1101319"/>
          </a:xfrm>
          <a:prstGeom prst="rect">
            <a:avLst/>
          </a:prstGeom>
        </p:spPr>
      </p:pic>
      <p:sp>
        <p:nvSpPr>
          <p:cNvPr id="8" name="Rectangle 7"/>
          <p:cNvSpPr/>
          <p:nvPr/>
        </p:nvSpPr>
        <p:spPr>
          <a:xfrm>
            <a:off x="6812310" y="1205519"/>
            <a:ext cx="2344296" cy="307777"/>
          </a:xfrm>
          <a:prstGeom prst="rect">
            <a:avLst/>
          </a:prstGeom>
        </p:spPr>
        <p:txBody>
          <a:bodyPr wrap="none">
            <a:spAutoFit/>
          </a:bodyPr>
          <a:lstStyle/>
          <a:p>
            <a:r>
              <a:rPr lang="en-US" sz="1400" b="1" dirty="0" err="1">
                <a:solidFill>
                  <a:srgbClr val="0070C0"/>
                </a:solidFill>
              </a:rPr>
              <a:t>CloudStack</a:t>
            </a:r>
            <a:r>
              <a:rPr lang="en-US" sz="1400" b="1" dirty="0">
                <a:solidFill>
                  <a:srgbClr val="0070C0"/>
                </a:solidFill>
              </a:rPr>
              <a:t> Basic Networking</a:t>
            </a:r>
          </a:p>
        </p:txBody>
      </p:sp>
      <p:pic>
        <p:nvPicPr>
          <p:cNvPr id="9" name="Picture 8"/>
          <p:cNvPicPr>
            <a:picLocks noChangeAspect="1"/>
          </p:cNvPicPr>
          <p:nvPr/>
        </p:nvPicPr>
        <p:blipFill>
          <a:blip r:embed="rId4"/>
          <a:stretch>
            <a:fillRect/>
          </a:stretch>
        </p:blipFill>
        <p:spPr>
          <a:xfrm>
            <a:off x="6785647" y="2236716"/>
            <a:ext cx="1952124" cy="1543953"/>
          </a:xfrm>
          <a:prstGeom prst="rect">
            <a:avLst/>
          </a:prstGeom>
        </p:spPr>
      </p:pic>
      <p:pic>
        <p:nvPicPr>
          <p:cNvPr id="10" name="Picture 9"/>
          <p:cNvPicPr>
            <a:picLocks noChangeAspect="1"/>
          </p:cNvPicPr>
          <p:nvPr/>
        </p:nvPicPr>
        <p:blipFill>
          <a:blip r:embed="rId5"/>
          <a:stretch>
            <a:fillRect/>
          </a:stretch>
        </p:blipFill>
        <p:spPr>
          <a:xfrm>
            <a:off x="7210579" y="3780669"/>
            <a:ext cx="1891966" cy="1238378"/>
          </a:xfrm>
          <a:prstGeom prst="rect">
            <a:avLst/>
          </a:prstGeom>
        </p:spPr>
      </p:pic>
      <p:sp>
        <p:nvSpPr>
          <p:cNvPr id="11" name="Rectangle 10"/>
          <p:cNvSpPr/>
          <p:nvPr/>
        </p:nvSpPr>
        <p:spPr>
          <a:xfrm>
            <a:off x="2514660" y="1251161"/>
            <a:ext cx="1048557" cy="307777"/>
          </a:xfrm>
          <a:prstGeom prst="rect">
            <a:avLst/>
          </a:prstGeom>
        </p:spPr>
        <p:txBody>
          <a:bodyPr wrap="none">
            <a:spAutoFit/>
          </a:bodyPr>
          <a:lstStyle/>
          <a:p>
            <a:r>
              <a:rPr lang="en-US" sz="1400" b="1" dirty="0" smtClean="0">
                <a:solidFill>
                  <a:srgbClr val="0070C0"/>
                </a:solidFill>
              </a:rPr>
              <a:t>Cloud Stack</a:t>
            </a:r>
            <a:endParaRPr lang="en-US" sz="1400" b="1" dirty="0">
              <a:solidFill>
                <a:srgbClr val="0070C0"/>
              </a:solidFill>
            </a:endParaRPr>
          </a:p>
        </p:txBody>
      </p:sp>
      <p:pic>
        <p:nvPicPr>
          <p:cNvPr id="12" name="Picture 11"/>
          <p:cNvPicPr>
            <a:picLocks noChangeAspect="1"/>
          </p:cNvPicPr>
          <p:nvPr/>
        </p:nvPicPr>
        <p:blipFill>
          <a:blip r:embed="rId6"/>
          <a:stretch>
            <a:fillRect/>
          </a:stretch>
        </p:blipFill>
        <p:spPr>
          <a:xfrm>
            <a:off x="158585" y="1737439"/>
            <a:ext cx="1039396" cy="760588"/>
          </a:xfrm>
          <a:prstGeom prst="rect">
            <a:avLst/>
          </a:prstGeom>
        </p:spPr>
      </p:pic>
      <p:pic>
        <p:nvPicPr>
          <p:cNvPr id="13" name="Picture 12"/>
          <p:cNvPicPr>
            <a:picLocks noChangeAspect="1"/>
          </p:cNvPicPr>
          <p:nvPr/>
        </p:nvPicPr>
        <p:blipFill>
          <a:blip r:embed="rId7"/>
          <a:stretch>
            <a:fillRect/>
          </a:stretch>
        </p:blipFill>
        <p:spPr>
          <a:xfrm>
            <a:off x="1465664" y="2748752"/>
            <a:ext cx="964715" cy="768998"/>
          </a:xfrm>
          <a:prstGeom prst="rect">
            <a:avLst/>
          </a:prstGeom>
        </p:spPr>
      </p:pic>
      <p:pic>
        <p:nvPicPr>
          <p:cNvPr id="14" name="Picture 13"/>
          <p:cNvPicPr>
            <a:picLocks noChangeAspect="1"/>
          </p:cNvPicPr>
          <p:nvPr/>
        </p:nvPicPr>
        <p:blipFill>
          <a:blip r:embed="rId8"/>
          <a:stretch>
            <a:fillRect/>
          </a:stretch>
        </p:blipFill>
        <p:spPr>
          <a:xfrm>
            <a:off x="2596104" y="1450799"/>
            <a:ext cx="1934226" cy="1143410"/>
          </a:xfrm>
          <a:prstGeom prst="rect">
            <a:avLst/>
          </a:prstGeom>
        </p:spPr>
      </p:pic>
      <p:pic>
        <p:nvPicPr>
          <p:cNvPr id="15" name="Picture 14"/>
          <p:cNvPicPr>
            <a:picLocks noChangeAspect="1"/>
          </p:cNvPicPr>
          <p:nvPr/>
        </p:nvPicPr>
        <p:blipFill>
          <a:blip r:embed="rId9"/>
          <a:stretch>
            <a:fillRect/>
          </a:stretch>
        </p:blipFill>
        <p:spPr>
          <a:xfrm>
            <a:off x="336110" y="3648890"/>
            <a:ext cx="882709" cy="889813"/>
          </a:xfrm>
          <a:prstGeom prst="rect">
            <a:avLst/>
          </a:prstGeom>
        </p:spPr>
      </p:pic>
    </p:spTree>
    <p:extLst>
      <p:ext uri="{BB962C8B-B14F-4D97-AF65-F5344CB8AC3E}">
        <p14:creationId xmlns:p14="http://schemas.microsoft.com/office/powerpoint/2010/main" val="134634869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360" y="519545"/>
            <a:ext cx="7886700" cy="256092"/>
          </a:xfrm>
        </p:spPr>
        <p:txBody>
          <a:bodyPr>
            <a:noAutofit/>
          </a:bodyPr>
          <a:lstStyle/>
          <a:p>
            <a:r>
              <a:rPr lang="en-US" sz="1800" b="1" dirty="0"/>
              <a:t>Build Private Cloud with OpenStack </a:t>
            </a:r>
            <a:r>
              <a:rPr lang="en-US" sz="1800" b="1" dirty="0" err="1"/>
              <a:t>Kolla-ansible</a:t>
            </a:r>
            <a:r>
              <a:rPr lang="en-US" sz="1800" b="1" dirty="0"/>
              <a:t> Step by Step Guide 1.0 -Part 1 Preparation</a:t>
            </a:r>
            <a:br>
              <a:rPr lang="en-US" sz="1800" b="1" dirty="0"/>
            </a:br>
            <a:endParaRPr lang="en-US" sz="1800" dirty="0"/>
          </a:p>
        </p:txBody>
      </p:sp>
      <p:sp>
        <p:nvSpPr>
          <p:cNvPr id="4" name="Slide Number Placeholder 3"/>
          <p:cNvSpPr>
            <a:spLocks noGrp="1"/>
          </p:cNvSpPr>
          <p:nvPr>
            <p:ph type="sldNum" sz="quarter" idx="12"/>
          </p:nvPr>
        </p:nvSpPr>
        <p:spPr/>
        <p:txBody>
          <a:bodyPr/>
          <a:lstStyle/>
          <a:p>
            <a:fld id="{6D22F896-40B5-4ADD-8801-0D06FADFA095}" type="slidenum">
              <a:rPr lang="en-US" smtClean="0"/>
              <a:t>51</a:t>
            </a:fld>
            <a:endParaRPr lang="en-US" dirty="0"/>
          </a:p>
        </p:txBody>
      </p:sp>
      <p:sp>
        <p:nvSpPr>
          <p:cNvPr id="5" name="Rectangle 4"/>
          <p:cNvSpPr/>
          <p:nvPr/>
        </p:nvSpPr>
        <p:spPr>
          <a:xfrm>
            <a:off x="41566" y="693257"/>
            <a:ext cx="2779567" cy="2062103"/>
          </a:xfrm>
          <a:prstGeom prst="rect">
            <a:avLst/>
          </a:prstGeom>
        </p:spPr>
        <p:txBody>
          <a:bodyPr wrap="square">
            <a:spAutoFit/>
          </a:bodyPr>
          <a:lstStyle/>
          <a:p>
            <a:r>
              <a:rPr lang="en-US" sz="800" dirty="0"/>
              <a:t>Index</a:t>
            </a:r>
          </a:p>
          <a:p>
            <a:r>
              <a:rPr lang="en-US" sz="800" dirty="0"/>
              <a:t>Part 1 Preparation</a:t>
            </a:r>
          </a:p>
          <a:p>
            <a:r>
              <a:rPr lang="en-US" sz="800" dirty="0" smtClean="0"/>
              <a:t>Part </a:t>
            </a:r>
            <a:r>
              <a:rPr lang="en-US" sz="800" dirty="0"/>
              <a:t>2 OS Preparation</a:t>
            </a:r>
          </a:p>
          <a:p>
            <a:r>
              <a:rPr lang="en-US" sz="800" dirty="0" smtClean="0"/>
              <a:t>Part </a:t>
            </a:r>
            <a:r>
              <a:rPr lang="en-US" sz="800" dirty="0"/>
              <a:t>3 Prepare Docker Registry</a:t>
            </a:r>
          </a:p>
          <a:p>
            <a:r>
              <a:rPr lang="en-US" sz="800" dirty="0" smtClean="0"/>
              <a:t>Part </a:t>
            </a:r>
            <a:r>
              <a:rPr lang="en-US" sz="800" dirty="0"/>
              <a:t>4-Install </a:t>
            </a:r>
            <a:r>
              <a:rPr lang="en-US" sz="800" dirty="0" err="1"/>
              <a:t>Ceph</a:t>
            </a:r>
            <a:r>
              <a:rPr lang="en-US" sz="800" dirty="0"/>
              <a:t> Cluster</a:t>
            </a:r>
          </a:p>
          <a:p>
            <a:r>
              <a:rPr lang="en-US" sz="800" dirty="0" smtClean="0"/>
              <a:t>Part </a:t>
            </a:r>
            <a:r>
              <a:rPr lang="en-US" sz="800" dirty="0"/>
              <a:t>5-Ceph Cluster Troubleshooting</a:t>
            </a:r>
          </a:p>
          <a:p>
            <a:r>
              <a:rPr lang="en-US" sz="800" dirty="0" smtClean="0"/>
              <a:t>Part </a:t>
            </a:r>
            <a:r>
              <a:rPr lang="en-US" sz="800" dirty="0"/>
              <a:t>6-Deploy </a:t>
            </a:r>
            <a:r>
              <a:rPr lang="en-US" sz="800" dirty="0" err="1"/>
              <a:t>Openstack</a:t>
            </a:r>
            <a:r>
              <a:rPr lang="en-US" sz="800" dirty="0"/>
              <a:t> with </a:t>
            </a:r>
            <a:r>
              <a:rPr lang="en-US" sz="800" dirty="0" err="1"/>
              <a:t>Kolla-ansible</a:t>
            </a:r>
            <a:endParaRPr lang="en-US" sz="800" dirty="0"/>
          </a:p>
          <a:p>
            <a:r>
              <a:rPr lang="en-US" sz="800" dirty="0" smtClean="0"/>
              <a:t>Part </a:t>
            </a:r>
            <a:r>
              <a:rPr lang="en-US" sz="800" dirty="0"/>
              <a:t>7-Openstack Cluster Post Installation</a:t>
            </a:r>
          </a:p>
          <a:p>
            <a:r>
              <a:rPr lang="en-US" sz="800" dirty="0" smtClean="0"/>
              <a:t>Part </a:t>
            </a:r>
            <a:r>
              <a:rPr lang="en-US" sz="800" dirty="0"/>
              <a:t>8-Openstack Upload Image</a:t>
            </a:r>
          </a:p>
          <a:p>
            <a:r>
              <a:rPr lang="en-US" sz="800" dirty="0" smtClean="0"/>
              <a:t>Part </a:t>
            </a:r>
            <a:r>
              <a:rPr lang="en-US" sz="800" dirty="0"/>
              <a:t>9-Openstack Create Network</a:t>
            </a:r>
          </a:p>
          <a:p>
            <a:r>
              <a:rPr lang="en-US" sz="800" dirty="0" smtClean="0"/>
              <a:t>Part </a:t>
            </a:r>
            <a:r>
              <a:rPr lang="en-US" sz="800" dirty="0"/>
              <a:t>10-Openstack Create </a:t>
            </a:r>
            <a:r>
              <a:rPr lang="en-US" sz="800" dirty="0" smtClean="0"/>
              <a:t>VM</a:t>
            </a:r>
          </a:p>
          <a:p>
            <a:endParaRPr lang="en-US" sz="800" dirty="0"/>
          </a:p>
          <a:p>
            <a:r>
              <a:rPr lang="en-US" sz="800" dirty="0"/>
              <a:t>Version</a:t>
            </a:r>
          </a:p>
          <a:p>
            <a:r>
              <a:rPr lang="en-US" sz="800" dirty="0"/>
              <a:t>OS: Ubuntu 20.04</a:t>
            </a:r>
          </a:p>
          <a:p>
            <a:r>
              <a:rPr lang="en-US" sz="800" dirty="0" err="1" smtClean="0"/>
              <a:t>Openstack</a:t>
            </a:r>
            <a:r>
              <a:rPr lang="en-US" sz="800" dirty="0"/>
              <a:t>: Wallaby</a:t>
            </a:r>
          </a:p>
          <a:p>
            <a:r>
              <a:rPr lang="en-US" sz="800" dirty="0" err="1" smtClean="0"/>
              <a:t>Ceph</a:t>
            </a:r>
            <a:r>
              <a:rPr lang="en-US" sz="800" dirty="0"/>
              <a:t>: </a:t>
            </a:r>
            <a:r>
              <a:rPr lang="en-US" sz="800" dirty="0" err="1"/>
              <a:t>Qunicy</a:t>
            </a:r>
            <a:endParaRPr lang="en-US" sz="800" dirty="0"/>
          </a:p>
        </p:txBody>
      </p:sp>
      <p:pic>
        <p:nvPicPr>
          <p:cNvPr id="6" name="Picture 5"/>
          <p:cNvPicPr>
            <a:picLocks noChangeAspect="1"/>
          </p:cNvPicPr>
          <p:nvPr/>
        </p:nvPicPr>
        <p:blipFill>
          <a:blip r:embed="rId3"/>
          <a:stretch>
            <a:fillRect/>
          </a:stretch>
        </p:blipFill>
        <p:spPr>
          <a:xfrm>
            <a:off x="1896341" y="486900"/>
            <a:ext cx="3023755" cy="1327092"/>
          </a:xfrm>
          <a:prstGeom prst="rect">
            <a:avLst/>
          </a:prstGeom>
        </p:spPr>
      </p:pic>
      <p:pic>
        <p:nvPicPr>
          <p:cNvPr id="7" name="Picture 6"/>
          <p:cNvPicPr>
            <a:picLocks noChangeAspect="1"/>
          </p:cNvPicPr>
          <p:nvPr/>
        </p:nvPicPr>
        <p:blipFill>
          <a:blip r:embed="rId4"/>
          <a:stretch>
            <a:fillRect/>
          </a:stretch>
        </p:blipFill>
        <p:spPr>
          <a:xfrm>
            <a:off x="1896341" y="1797510"/>
            <a:ext cx="3023755" cy="1592754"/>
          </a:xfrm>
          <a:prstGeom prst="rect">
            <a:avLst/>
          </a:prstGeom>
        </p:spPr>
      </p:pic>
      <p:pic>
        <p:nvPicPr>
          <p:cNvPr id="8" name="Picture 7"/>
          <p:cNvPicPr>
            <a:picLocks noChangeAspect="1"/>
          </p:cNvPicPr>
          <p:nvPr/>
        </p:nvPicPr>
        <p:blipFill>
          <a:blip r:embed="rId5"/>
          <a:stretch>
            <a:fillRect/>
          </a:stretch>
        </p:blipFill>
        <p:spPr>
          <a:xfrm>
            <a:off x="1896341" y="3463254"/>
            <a:ext cx="3023755" cy="627957"/>
          </a:xfrm>
          <a:prstGeom prst="rect">
            <a:avLst/>
          </a:prstGeom>
        </p:spPr>
      </p:pic>
      <p:sp>
        <p:nvSpPr>
          <p:cNvPr id="9" name="Rectangle 8"/>
          <p:cNvSpPr/>
          <p:nvPr/>
        </p:nvSpPr>
        <p:spPr>
          <a:xfrm>
            <a:off x="4920096" y="486900"/>
            <a:ext cx="2576945" cy="1815882"/>
          </a:xfrm>
          <a:prstGeom prst="rect">
            <a:avLst/>
          </a:prstGeom>
        </p:spPr>
        <p:txBody>
          <a:bodyPr wrap="square">
            <a:spAutoFit/>
          </a:bodyPr>
          <a:lstStyle/>
          <a:p>
            <a:r>
              <a:rPr lang="en-US" sz="800" dirty="0"/>
              <a:t>root@openstack-controller01:~# cat /</a:t>
            </a:r>
            <a:r>
              <a:rPr lang="en-US" sz="800" dirty="0" err="1"/>
              <a:t>etc</a:t>
            </a:r>
            <a:r>
              <a:rPr lang="en-US" sz="800" dirty="0"/>
              <a:t>/hosts</a:t>
            </a:r>
          </a:p>
          <a:p>
            <a:r>
              <a:rPr lang="en-US" sz="800" dirty="0"/>
              <a:t>127.0.0.1 localhost</a:t>
            </a:r>
          </a:p>
          <a:p>
            <a:r>
              <a:rPr lang="en-US" sz="800" dirty="0"/>
              <a:t>192.168.0.1    openstack-controller01</a:t>
            </a:r>
          </a:p>
          <a:p>
            <a:r>
              <a:rPr lang="en-US" sz="800" dirty="0"/>
              <a:t>192.168.0.2    openstack-controller02</a:t>
            </a:r>
          </a:p>
          <a:p>
            <a:r>
              <a:rPr lang="en-US" sz="800" dirty="0"/>
              <a:t>192.168.0.3    openstack-controller03</a:t>
            </a:r>
          </a:p>
          <a:p>
            <a:r>
              <a:rPr lang="en-US" sz="800" dirty="0"/>
              <a:t>192.168.0.4    openstack-ceph01</a:t>
            </a:r>
          </a:p>
          <a:p>
            <a:r>
              <a:rPr lang="en-US" sz="800" dirty="0"/>
              <a:t>192.168.0.5    openstack-ceph02</a:t>
            </a:r>
          </a:p>
          <a:p>
            <a:r>
              <a:rPr lang="en-US" sz="800" dirty="0"/>
              <a:t>192.168.0.6    openstack-ceph03</a:t>
            </a:r>
          </a:p>
          <a:p>
            <a:r>
              <a:rPr lang="en-US" sz="800" dirty="0"/>
              <a:t>192.168.0.7    openstack-compute01</a:t>
            </a:r>
          </a:p>
          <a:p>
            <a:r>
              <a:rPr lang="en-US" sz="800" dirty="0"/>
              <a:t>192.168.0.8    openstack-compute02</a:t>
            </a:r>
          </a:p>
          <a:p>
            <a:r>
              <a:rPr lang="en-US" sz="800" dirty="0"/>
              <a:t>192.168.0.9    </a:t>
            </a:r>
            <a:r>
              <a:rPr lang="en-US" sz="800" dirty="0" err="1"/>
              <a:t>openstack</a:t>
            </a:r>
            <a:r>
              <a:rPr lang="en-US" sz="800" dirty="0"/>
              <a:t>-staging</a:t>
            </a:r>
          </a:p>
          <a:p>
            <a:r>
              <a:rPr lang="en-US" sz="800" dirty="0"/>
              <a:t>192.168.0.254    openstack-int.your-domain.com   ##&lt;&lt; make sure this match with </a:t>
            </a:r>
            <a:r>
              <a:rPr lang="en-US" sz="800" dirty="0" err="1"/>
              <a:t>global.yml</a:t>
            </a:r>
            <a:r>
              <a:rPr lang="en-US" sz="800" dirty="0"/>
              <a:t> file VIP FQDN.</a:t>
            </a:r>
          </a:p>
          <a:p>
            <a:r>
              <a:rPr lang="en-US" sz="800" dirty="0"/>
              <a:t>10.196.24.221    openstack-vip.your-domain.com</a:t>
            </a:r>
          </a:p>
        </p:txBody>
      </p:sp>
    </p:spTree>
    <p:extLst>
      <p:ext uri="{BB962C8B-B14F-4D97-AF65-F5344CB8AC3E}">
        <p14:creationId xmlns:p14="http://schemas.microsoft.com/office/powerpoint/2010/main" val="2305906453"/>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2094" y="219347"/>
            <a:ext cx="8546522" cy="256092"/>
          </a:xfrm>
        </p:spPr>
        <p:txBody>
          <a:bodyPr>
            <a:noAutofit/>
          </a:bodyPr>
          <a:lstStyle/>
          <a:p>
            <a:r>
              <a:rPr lang="en-US" sz="1800" b="1" dirty="0"/>
              <a:t>Build Private Cloud with OpenStack </a:t>
            </a:r>
            <a:r>
              <a:rPr lang="en-US" sz="1800" b="1" dirty="0" err="1"/>
              <a:t>Kolla-ansible</a:t>
            </a:r>
            <a:r>
              <a:rPr lang="en-US" sz="1800" b="1" dirty="0"/>
              <a:t> Step by Step Guide 1.0 -Part 1 Preparation</a:t>
            </a:r>
            <a:br>
              <a:rPr lang="en-US" sz="1800" b="1" dirty="0"/>
            </a:br>
            <a:endParaRPr lang="en-US" sz="1800" dirty="0"/>
          </a:p>
        </p:txBody>
      </p:sp>
      <p:sp>
        <p:nvSpPr>
          <p:cNvPr id="4" name="Slide Number Placeholder 3"/>
          <p:cNvSpPr>
            <a:spLocks noGrp="1"/>
          </p:cNvSpPr>
          <p:nvPr>
            <p:ph type="sldNum" sz="quarter" idx="12"/>
          </p:nvPr>
        </p:nvSpPr>
        <p:spPr>
          <a:xfrm>
            <a:off x="4018683" y="4696542"/>
            <a:ext cx="2057400" cy="273844"/>
          </a:xfrm>
        </p:spPr>
        <p:txBody>
          <a:bodyPr/>
          <a:lstStyle/>
          <a:p>
            <a:fld id="{6D22F896-40B5-4ADD-8801-0D06FADFA095}" type="slidenum">
              <a:rPr lang="en-US" smtClean="0"/>
              <a:t>52</a:t>
            </a:fld>
            <a:endParaRPr lang="en-US" dirty="0"/>
          </a:p>
        </p:txBody>
      </p:sp>
      <p:sp>
        <p:nvSpPr>
          <p:cNvPr id="5" name="Rectangle 4"/>
          <p:cNvSpPr/>
          <p:nvPr/>
        </p:nvSpPr>
        <p:spPr>
          <a:xfrm>
            <a:off x="1" y="347393"/>
            <a:ext cx="2471626" cy="2062103"/>
          </a:xfrm>
          <a:prstGeom prst="rect">
            <a:avLst/>
          </a:prstGeom>
        </p:spPr>
        <p:txBody>
          <a:bodyPr wrap="square">
            <a:spAutoFit/>
          </a:bodyPr>
          <a:lstStyle/>
          <a:p>
            <a:r>
              <a:rPr lang="en-US" sz="800" dirty="0"/>
              <a:t>Index</a:t>
            </a:r>
          </a:p>
          <a:p>
            <a:r>
              <a:rPr lang="en-US" sz="800" dirty="0"/>
              <a:t>Part 1 Preparation</a:t>
            </a:r>
          </a:p>
          <a:p>
            <a:r>
              <a:rPr lang="en-US" sz="800" dirty="0" smtClean="0"/>
              <a:t>Part </a:t>
            </a:r>
            <a:r>
              <a:rPr lang="en-US" sz="800" dirty="0"/>
              <a:t>2 OS Preparation</a:t>
            </a:r>
          </a:p>
          <a:p>
            <a:r>
              <a:rPr lang="en-US" sz="800" dirty="0" smtClean="0"/>
              <a:t>Part </a:t>
            </a:r>
            <a:r>
              <a:rPr lang="en-US" sz="800" dirty="0"/>
              <a:t>3 Prepare Docker Registry</a:t>
            </a:r>
          </a:p>
          <a:p>
            <a:r>
              <a:rPr lang="en-US" sz="800" dirty="0" smtClean="0"/>
              <a:t>Part </a:t>
            </a:r>
            <a:r>
              <a:rPr lang="en-US" sz="800" dirty="0"/>
              <a:t>4-Install </a:t>
            </a:r>
            <a:r>
              <a:rPr lang="en-US" sz="800" dirty="0" err="1"/>
              <a:t>Ceph</a:t>
            </a:r>
            <a:r>
              <a:rPr lang="en-US" sz="800" dirty="0"/>
              <a:t> Cluster</a:t>
            </a:r>
          </a:p>
          <a:p>
            <a:r>
              <a:rPr lang="en-US" sz="800" dirty="0" smtClean="0"/>
              <a:t>Part </a:t>
            </a:r>
            <a:r>
              <a:rPr lang="en-US" sz="800" dirty="0"/>
              <a:t>5-Ceph Cluster Troubleshooting</a:t>
            </a:r>
          </a:p>
          <a:p>
            <a:r>
              <a:rPr lang="en-US" sz="800" dirty="0" smtClean="0"/>
              <a:t>Part </a:t>
            </a:r>
            <a:r>
              <a:rPr lang="en-US" sz="800" dirty="0"/>
              <a:t>6-Deploy </a:t>
            </a:r>
            <a:r>
              <a:rPr lang="en-US" sz="800" dirty="0" err="1"/>
              <a:t>Openstack</a:t>
            </a:r>
            <a:r>
              <a:rPr lang="en-US" sz="800" dirty="0"/>
              <a:t> with </a:t>
            </a:r>
            <a:r>
              <a:rPr lang="en-US" sz="800" dirty="0" err="1"/>
              <a:t>Kolla-ansible</a:t>
            </a:r>
            <a:endParaRPr lang="en-US" sz="800" dirty="0"/>
          </a:p>
          <a:p>
            <a:r>
              <a:rPr lang="en-US" sz="800" dirty="0" smtClean="0"/>
              <a:t>Part </a:t>
            </a:r>
            <a:r>
              <a:rPr lang="en-US" sz="800" dirty="0"/>
              <a:t>7-Openstack Cluster Post Installation</a:t>
            </a:r>
          </a:p>
          <a:p>
            <a:r>
              <a:rPr lang="en-US" sz="800" dirty="0" smtClean="0"/>
              <a:t>Part </a:t>
            </a:r>
            <a:r>
              <a:rPr lang="en-US" sz="800" dirty="0"/>
              <a:t>8-Openstack Upload Image</a:t>
            </a:r>
          </a:p>
          <a:p>
            <a:r>
              <a:rPr lang="en-US" sz="800" dirty="0" smtClean="0"/>
              <a:t>Part </a:t>
            </a:r>
            <a:r>
              <a:rPr lang="en-US" sz="800" dirty="0"/>
              <a:t>9-Openstack Create Network</a:t>
            </a:r>
          </a:p>
          <a:p>
            <a:r>
              <a:rPr lang="en-US" sz="800" dirty="0" smtClean="0"/>
              <a:t>Part </a:t>
            </a:r>
            <a:r>
              <a:rPr lang="en-US" sz="800" dirty="0"/>
              <a:t>10-Openstack Create </a:t>
            </a:r>
            <a:r>
              <a:rPr lang="en-US" sz="800" dirty="0" smtClean="0"/>
              <a:t>VM</a:t>
            </a:r>
          </a:p>
          <a:p>
            <a:endParaRPr lang="en-US" sz="800" dirty="0"/>
          </a:p>
          <a:p>
            <a:r>
              <a:rPr lang="en-US" sz="800" dirty="0"/>
              <a:t>Version</a:t>
            </a:r>
          </a:p>
          <a:p>
            <a:r>
              <a:rPr lang="en-US" sz="800" dirty="0"/>
              <a:t>OS: Ubuntu 20.04</a:t>
            </a:r>
          </a:p>
          <a:p>
            <a:r>
              <a:rPr lang="en-US" sz="800" dirty="0" err="1" smtClean="0"/>
              <a:t>Openstack</a:t>
            </a:r>
            <a:r>
              <a:rPr lang="en-US" sz="800" dirty="0"/>
              <a:t>: Wallaby</a:t>
            </a:r>
          </a:p>
          <a:p>
            <a:r>
              <a:rPr lang="en-US" sz="800" dirty="0" err="1" smtClean="0"/>
              <a:t>Ceph</a:t>
            </a:r>
            <a:r>
              <a:rPr lang="en-US" sz="800" dirty="0"/>
              <a:t>: </a:t>
            </a:r>
            <a:r>
              <a:rPr lang="en-US" sz="800" dirty="0" err="1"/>
              <a:t>Qunicy</a:t>
            </a:r>
            <a:endParaRPr lang="en-US" sz="800" dirty="0"/>
          </a:p>
        </p:txBody>
      </p:sp>
      <p:pic>
        <p:nvPicPr>
          <p:cNvPr id="3" name="Picture 2"/>
          <p:cNvPicPr>
            <a:picLocks noChangeAspect="1"/>
          </p:cNvPicPr>
          <p:nvPr/>
        </p:nvPicPr>
        <p:blipFill>
          <a:blip r:embed="rId3"/>
          <a:stretch>
            <a:fillRect/>
          </a:stretch>
        </p:blipFill>
        <p:spPr>
          <a:xfrm>
            <a:off x="51955" y="2409496"/>
            <a:ext cx="1782041" cy="707777"/>
          </a:xfrm>
          <a:prstGeom prst="rect">
            <a:avLst/>
          </a:prstGeom>
        </p:spPr>
      </p:pic>
      <p:pic>
        <p:nvPicPr>
          <p:cNvPr id="10" name="Picture 9"/>
          <p:cNvPicPr>
            <a:picLocks noChangeAspect="1"/>
          </p:cNvPicPr>
          <p:nvPr/>
        </p:nvPicPr>
        <p:blipFill>
          <a:blip r:embed="rId4"/>
          <a:stretch>
            <a:fillRect/>
          </a:stretch>
        </p:blipFill>
        <p:spPr>
          <a:xfrm>
            <a:off x="51954" y="3151025"/>
            <a:ext cx="1782041" cy="883227"/>
          </a:xfrm>
          <a:prstGeom prst="rect">
            <a:avLst/>
          </a:prstGeom>
        </p:spPr>
      </p:pic>
      <p:pic>
        <p:nvPicPr>
          <p:cNvPr id="11" name="Picture 10"/>
          <p:cNvPicPr>
            <a:picLocks noChangeAspect="1"/>
          </p:cNvPicPr>
          <p:nvPr/>
        </p:nvPicPr>
        <p:blipFill>
          <a:blip r:embed="rId5"/>
          <a:stretch>
            <a:fillRect/>
          </a:stretch>
        </p:blipFill>
        <p:spPr>
          <a:xfrm>
            <a:off x="1" y="4007783"/>
            <a:ext cx="1833995" cy="1260458"/>
          </a:xfrm>
          <a:prstGeom prst="rect">
            <a:avLst/>
          </a:prstGeom>
        </p:spPr>
      </p:pic>
      <p:pic>
        <p:nvPicPr>
          <p:cNvPr id="12" name="Picture 11"/>
          <p:cNvPicPr>
            <a:picLocks noChangeAspect="1"/>
          </p:cNvPicPr>
          <p:nvPr/>
        </p:nvPicPr>
        <p:blipFill>
          <a:blip r:embed="rId6"/>
          <a:stretch>
            <a:fillRect/>
          </a:stretch>
        </p:blipFill>
        <p:spPr>
          <a:xfrm>
            <a:off x="1956088" y="406834"/>
            <a:ext cx="1823604" cy="1257300"/>
          </a:xfrm>
          <a:prstGeom prst="rect">
            <a:avLst/>
          </a:prstGeom>
        </p:spPr>
      </p:pic>
      <p:pic>
        <p:nvPicPr>
          <p:cNvPr id="13" name="Picture 12"/>
          <p:cNvPicPr>
            <a:picLocks noChangeAspect="1"/>
          </p:cNvPicPr>
          <p:nvPr/>
        </p:nvPicPr>
        <p:blipFill>
          <a:blip r:embed="rId7"/>
          <a:stretch>
            <a:fillRect/>
          </a:stretch>
        </p:blipFill>
        <p:spPr>
          <a:xfrm>
            <a:off x="1956088" y="1636019"/>
            <a:ext cx="1823604" cy="1305387"/>
          </a:xfrm>
          <a:prstGeom prst="rect">
            <a:avLst/>
          </a:prstGeom>
        </p:spPr>
      </p:pic>
      <p:pic>
        <p:nvPicPr>
          <p:cNvPr id="14" name="Picture 13"/>
          <p:cNvPicPr>
            <a:picLocks noChangeAspect="1"/>
          </p:cNvPicPr>
          <p:nvPr/>
        </p:nvPicPr>
        <p:blipFill>
          <a:blip r:embed="rId8"/>
          <a:stretch>
            <a:fillRect/>
          </a:stretch>
        </p:blipFill>
        <p:spPr>
          <a:xfrm>
            <a:off x="1956088" y="2955280"/>
            <a:ext cx="1823604" cy="1047430"/>
          </a:xfrm>
          <a:prstGeom prst="rect">
            <a:avLst/>
          </a:prstGeom>
        </p:spPr>
      </p:pic>
      <p:pic>
        <p:nvPicPr>
          <p:cNvPr id="15" name="Picture 14"/>
          <p:cNvPicPr>
            <a:picLocks noChangeAspect="1"/>
          </p:cNvPicPr>
          <p:nvPr/>
        </p:nvPicPr>
        <p:blipFill>
          <a:blip r:embed="rId9"/>
          <a:stretch>
            <a:fillRect/>
          </a:stretch>
        </p:blipFill>
        <p:spPr>
          <a:xfrm>
            <a:off x="1956088" y="4023277"/>
            <a:ext cx="1823604" cy="1300624"/>
          </a:xfrm>
          <a:prstGeom prst="rect">
            <a:avLst/>
          </a:prstGeom>
        </p:spPr>
      </p:pic>
      <p:pic>
        <p:nvPicPr>
          <p:cNvPr id="16" name="Picture 15"/>
          <p:cNvPicPr>
            <a:picLocks noChangeAspect="1"/>
          </p:cNvPicPr>
          <p:nvPr/>
        </p:nvPicPr>
        <p:blipFill>
          <a:blip r:embed="rId10"/>
          <a:stretch>
            <a:fillRect/>
          </a:stretch>
        </p:blipFill>
        <p:spPr>
          <a:xfrm>
            <a:off x="3779692" y="406834"/>
            <a:ext cx="1568277" cy="845127"/>
          </a:xfrm>
          <a:prstGeom prst="rect">
            <a:avLst/>
          </a:prstGeom>
        </p:spPr>
      </p:pic>
      <p:pic>
        <p:nvPicPr>
          <p:cNvPr id="17" name="Picture 16"/>
          <p:cNvPicPr>
            <a:picLocks noChangeAspect="1"/>
          </p:cNvPicPr>
          <p:nvPr/>
        </p:nvPicPr>
        <p:blipFill>
          <a:blip r:embed="rId11"/>
          <a:stretch>
            <a:fillRect/>
          </a:stretch>
        </p:blipFill>
        <p:spPr>
          <a:xfrm>
            <a:off x="3779691" y="1251961"/>
            <a:ext cx="1568277" cy="622155"/>
          </a:xfrm>
          <a:prstGeom prst="rect">
            <a:avLst/>
          </a:prstGeom>
        </p:spPr>
      </p:pic>
      <p:pic>
        <p:nvPicPr>
          <p:cNvPr id="18" name="Picture 17"/>
          <p:cNvPicPr>
            <a:picLocks noChangeAspect="1"/>
          </p:cNvPicPr>
          <p:nvPr/>
        </p:nvPicPr>
        <p:blipFill>
          <a:blip r:embed="rId12"/>
          <a:stretch>
            <a:fillRect/>
          </a:stretch>
        </p:blipFill>
        <p:spPr>
          <a:xfrm>
            <a:off x="3764701" y="1894683"/>
            <a:ext cx="1583268" cy="824560"/>
          </a:xfrm>
          <a:prstGeom prst="rect">
            <a:avLst/>
          </a:prstGeom>
        </p:spPr>
      </p:pic>
      <p:pic>
        <p:nvPicPr>
          <p:cNvPr id="19" name="Picture 18"/>
          <p:cNvPicPr>
            <a:picLocks noChangeAspect="1"/>
          </p:cNvPicPr>
          <p:nvPr/>
        </p:nvPicPr>
        <p:blipFill>
          <a:blip r:embed="rId13"/>
          <a:stretch>
            <a:fillRect/>
          </a:stretch>
        </p:blipFill>
        <p:spPr>
          <a:xfrm>
            <a:off x="3779692" y="2539767"/>
            <a:ext cx="1568276" cy="982151"/>
          </a:xfrm>
          <a:prstGeom prst="rect">
            <a:avLst/>
          </a:prstGeom>
        </p:spPr>
      </p:pic>
      <p:sp>
        <p:nvSpPr>
          <p:cNvPr id="20" name="Rectangle 19"/>
          <p:cNvSpPr/>
          <p:nvPr/>
        </p:nvSpPr>
        <p:spPr>
          <a:xfrm>
            <a:off x="4148780" y="3306474"/>
            <a:ext cx="768159" cy="215444"/>
          </a:xfrm>
          <a:prstGeom prst="rect">
            <a:avLst/>
          </a:prstGeom>
        </p:spPr>
        <p:txBody>
          <a:bodyPr wrap="none">
            <a:spAutoFit/>
          </a:bodyPr>
          <a:lstStyle/>
          <a:p>
            <a:r>
              <a:rPr lang="en-US" sz="800" dirty="0">
                <a:solidFill>
                  <a:schemeClr val="accent2"/>
                </a:solidFill>
              </a:rPr>
              <a:t>Create Router</a:t>
            </a:r>
          </a:p>
        </p:txBody>
      </p:sp>
      <p:pic>
        <p:nvPicPr>
          <p:cNvPr id="21" name="Picture 20"/>
          <p:cNvPicPr>
            <a:picLocks noChangeAspect="1"/>
          </p:cNvPicPr>
          <p:nvPr/>
        </p:nvPicPr>
        <p:blipFill>
          <a:blip r:embed="rId14"/>
          <a:stretch>
            <a:fillRect/>
          </a:stretch>
        </p:blipFill>
        <p:spPr>
          <a:xfrm>
            <a:off x="3779692" y="4357990"/>
            <a:ext cx="1568277" cy="699655"/>
          </a:xfrm>
          <a:prstGeom prst="rect">
            <a:avLst/>
          </a:prstGeom>
        </p:spPr>
      </p:pic>
      <p:pic>
        <p:nvPicPr>
          <p:cNvPr id="22" name="Picture 21"/>
          <p:cNvPicPr>
            <a:picLocks noChangeAspect="1"/>
          </p:cNvPicPr>
          <p:nvPr/>
        </p:nvPicPr>
        <p:blipFill>
          <a:blip r:embed="rId15"/>
          <a:stretch>
            <a:fillRect/>
          </a:stretch>
        </p:blipFill>
        <p:spPr>
          <a:xfrm>
            <a:off x="3768023" y="3535792"/>
            <a:ext cx="1579946" cy="822198"/>
          </a:xfrm>
          <a:prstGeom prst="rect">
            <a:avLst/>
          </a:prstGeom>
        </p:spPr>
      </p:pic>
      <p:sp>
        <p:nvSpPr>
          <p:cNvPr id="23" name="Rectangle 22"/>
          <p:cNvSpPr/>
          <p:nvPr/>
        </p:nvSpPr>
        <p:spPr>
          <a:xfrm>
            <a:off x="3940102" y="4176194"/>
            <a:ext cx="1247457" cy="215444"/>
          </a:xfrm>
          <a:prstGeom prst="rect">
            <a:avLst/>
          </a:prstGeom>
        </p:spPr>
        <p:txBody>
          <a:bodyPr wrap="none">
            <a:spAutoFit/>
          </a:bodyPr>
          <a:lstStyle/>
          <a:p>
            <a:r>
              <a:rPr lang="en-US" sz="800" dirty="0">
                <a:solidFill>
                  <a:schemeClr val="accent2"/>
                </a:solidFill>
              </a:rPr>
              <a:t>Add interface into Router</a:t>
            </a:r>
          </a:p>
        </p:txBody>
      </p:sp>
      <p:sp>
        <p:nvSpPr>
          <p:cNvPr id="24" name="Rectangle 23"/>
          <p:cNvSpPr/>
          <p:nvPr/>
        </p:nvSpPr>
        <p:spPr>
          <a:xfrm>
            <a:off x="3859437" y="2324323"/>
            <a:ext cx="1346844" cy="215444"/>
          </a:xfrm>
          <a:prstGeom prst="rect">
            <a:avLst/>
          </a:prstGeom>
        </p:spPr>
        <p:txBody>
          <a:bodyPr wrap="none">
            <a:spAutoFit/>
          </a:bodyPr>
          <a:lstStyle/>
          <a:p>
            <a:r>
              <a:rPr lang="en-US" sz="800" dirty="0">
                <a:solidFill>
                  <a:schemeClr val="accent2"/>
                </a:solidFill>
              </a:rPr>
              <a:t>Now we have two networks</a:t>
            </a:r>
          </a:p>
        </p:txBody>
      </p:sp>
      <p:sp>
        <p:nvSpPr>
          <p:cNvPr id="25" name="Rectangle 24"/>
          <p:cNvSpPr/>
          <p:nvPr/>
        </p:nvSpPr>
        <p:spPr>
          <a:xfrm>
            <a:off x="1956088" y="2695730"/>
            <a:ext cx="340158" cy="215444"/>
          </a:xfrm>
          <a:prstGeom prst="rect">
            <a:avLst/>
          </a:prstGeom>
        </p:spPr>
        <p:txBody>
          <a:bodyPr wrap="none">
            <a:spAutoFit/>
          </a:bodyPr>
          <a:lstStyle/>
          <a:p>
            <a:r>
              <a:rPr lang="en-US" sz="800" dirty="0" smtClean="0">
                <a:solidFill>
                  <a:schemeClr val="accent2"/>
                </a:solidFill>
              </a:rPr>
              <a:t>GUI</a:t>
            </a:r>
            <a:endParaRPr lang="en-US" sz="800" dirty="0">
              <a:solidFill>
                <a:schemeClr val="accent2"/>
              </a:solidFill>
            </a:endParaRPr>
          </a:p>
        </p:txBody>
      </p:sp>
      <p:sp>
        <p:nvSpPr>
          <p:cNvPr id="26" name="Rectangle 25"/>
          <p:cNvSpPr/>
          <p:nvPr/>
        </p:nvSpPr>
        <p:spPr>
          <a:xfrm>
            <a:off x="3779691" y="964763"/>
            <a:ext cx="1569660" cy="215444"/>
          </a:xfrm>
          <a:prstGeom prst="rect">
            <a:avLst/>
          </a:prstGeom>
        </p:spPr>
        <p:txBody>
          <a:bodyPr wrap="none">
            <a:spAutoFit/>
          </a:bodyPr>
          <a:lstStyle/>
          <a:p>
            <a:r>
              <a:rPr lang="en-US" sz="800" dirty="0">
                <a:solidFill>
                  <a:schemeClr val="accent2"/>
                </a:solidFill>
              </a:rPr>
              <a:t>Create private network in project</a:t>
            </a:r>
          </a:p>
        </p:txBody>
      </p:sp>
      <p:pic>
        <p:nvPicPr>
          <p:cNvPr id="27" name="Picture 26"/>
          <p:cNvPicPr>
            <a:picLocks noChangeAspect="1"/>
          </p:cNvPicPr>
          <p:nvPr/>
        </p:nvPicPr>
        <p:blipFill>
          <a:blip r:embed="rId16"/>
          <a:stretch>
            <a:fillRect/>
          </a:stretch>
        </p:blipFill>
        <p:spPr>
          <a:xfrm>
            <a:off x="5342164" y="384953"/>
            <a:ext cx="1734045" cy="867008"/>
          </a:xfrm>
          <a:prstGeom prst="rect">
            <a:avLst/>
          </a:prstGeom>
        </p:spPr>
      </p:pic>
      <p:sp>
        <p:nvSpPr>
          <p:cNvPr id="28" name="Rectangle 27"/>
          <p:cNvSpPr/>
          <p:nvPr/>
        </p:nvSpPr>
        <p:spPr>
          <a:xfrm>
            <a:off x="5427259" y="1010028"/>
            <a:ext cx="795411" cy="215444"/>
          </a:xfrm>
          <a:prstGeom prst="rect">
            <a:avLst/>
          </a:prstGeom>
        </p:spPr>
        <p:txBody>
          <a:bodyPr wrap="none">
            <a:spAutoFit/>
          </a:bodyPr>
          <a:lstStyle/>
          <a:p>
            <a:r>
              <a:rPr lang="en-US" sz="800" dirty="0">
                <a:solidFill>
                  <a:schemeClr val="accent2"/>
                </a:solidFill>
              </a:rPr>
              <a:t>Create </a:t>
            </a:r>
            <a:r>
              <a:rPr lang="en-US" sz="800" dirty="0" err="1" smtClean="0">
                <a:solidFill>
                  <a:schemeClr val="accent2"/>
                </a:solidFill>
              </a:rPr>
              <a:t>Intance</a:t>
            </a:r>
            <a:endParaRPr lang="en-US" sz="800" dirty="0">
              <a:solidFill>
                <a:schemeClr val="accent2"/>
              </a:solidFill>
            </a:endParaRPr>
          </a:p>
        </p:txBody>
      </p:sp>
      <p:pic>
        <p:nvPicPr>
          <p:cNvPr id="29" name="Picture 28"/>
          <p:cNvPicPr>
            <a:picLocks noChangeAspect="1"/>
          </p:cNvPicPr>
          <p:nvPr/>
        </p:nvPicPr>
        <p:blipFill>
          <a:blip r:embed="rId17"/>
          <a:stretch>
            <a:fillRect/>
          </a:stretch>
        </p:blipFill>
        <p:spPr>
          <a:xfrm>
            <a:off x="5347968" y="1251961"/>
            <a:ext cx="1728241" cy="879045"/>
          </a:xfrm>
          <a:prstGeom prst="rect">
            <a:avLst/>
          </a:prstGeom>
        </p:spPr>
      </p:pic>
      <p:pic>
        <p:nvPicPr>
          <p:cNvPr id="30" name="Picture 29"/>
          <p:cNvPicPr>
            <a:picLocks noChangeAspect="1"/>
          </p:cNvPicPr>
          <p:nvPr/>
        </p:nvPicPr>
        <p:blipFill>
          <a:blip r:embed="rId18"/>
          <a:stretch>
            <a:fillRect/>
          </a:stretch>
        </p:blipFill>
        <p:spPr>
          <a:xfrm>
            <a:off x="5362959" y="2131006"/>
            <a:ext cx="1713250" cy="892919"/>
          </a:xfrm>
          <a:prstGeom prst="rect">
            <a:avLst/>
          </a:prstGeom>
        </p:spPr>
      </p:pic>
      <p:pic>
        <p:nvPicPr>
          <p:cNvPr id="31" name="Picture 30"/>
          <p:cNvPicPr>
            <a:picLocks noChangeAspect="1"/>
          </p:cNvPicPr>
          <p:nvPr/>
        </p:nvPicPr>
        <p:blipFill>
          <a:blip r:embed="rId19"/>
          <a:stretch>
            <a:fillRect/>
          </a:stretch>
        </p:blipFill>
        <p:spPr>
          <a:xfrm>
            <a:off x="5357080" y="3017134"/>
            <a:ext cx="1719130" cy="1037316"/>
          </a:xfrm>
          <a:prstGeom prst="rect">
            <a:avLst/>
          </a:prstGeom>
        </p:spPr>
      </p:pic>
      <p:pic>
        <p:nvPicPr>
          <p:cNvPr id="32" name="Picture 31"/>
          <p:cNvPicPr>
            <a:picLocks noChangeAspect="1"/>
          </p:cNvPicPr>
          <p:nvPr/>
        </p:nvPicPr>
        <p:blipFill>
          <a:blip r:embed="rId20"/>
          <a:stretch>
            <a:fillRect/>
          </a:stretch>
        </p:blipFill>
        <p:spPr>
          <a:xfrm>
            <a:off x="5362959" y="4056445"/>
            <a:ext cx="1713250" cy="744740"/>
          </a:xfrm>
          <a:prstGeom prst="rect">
            <a:avLst/>
          </a:prstGeom>
        </p:spPr>
      </p:pic>
      <p:pic>
        <p:nvPicPr>
          <p:cNvPr id="33" name="Picture 32"/>
          <p:cNvPicPr>
            <a:picLocks noChangeAspect="1"/>
          </p:cNvPicPr>
          <p:nvPr/>
        </p:nvPicPr>
        <p:blipFill>
          <a:blip r:embed="rId21"/>
          <a:stretch>
            <a:fillRect/>
          </a:stretch>
        </p:blipFill>
        <p:spPr>
          <a:xfrm>
            <a:off x="7059151" y="388422"/>
            <a:ext cx="2074458" cy="863539"/>
          </a:xfrm>
          <a:prstGeom prst="rect">
            <a:avLst/>
          </a:prstGeom>
        </p:spPr>
      </p:pic>
      <p:pic>
        <p:nvPicPr>
          <p:cNvPr id="34" name="Picture 33"/>
          <p:cNvPicPr>
            <a:picLocks noChangeAspect="1"/>
          </p:cNvPicPr>
          <p:nvPr/>
        </p:nvPicPr>
        <p:blipFill>
          <a:blip r:embed="rId22"/>
          <a:stretch>
            <a:fillRect/>
          </a:stretch>
        </p:blipFill>
        <p:spPr>
          <a:xfrm>
            <a:off x="7076209" y="1258855"/>
            <a:ext cx="2057400" cy="1145858"/>
          </a:xfrm>
          <a:prstGeom prst="rect">
            <a:avLst/>
          </a:prstGeom>
        </p:spPr>
      </p:pic>
      <p:pic>
        <p:nvPicPr>
          <p:cNvPr id="35" name="Picture 34"/>
          <p:cNvPicPr>
            <a:picLocks noChangeAspect="1"/>
          </p:cNvPicPr>
          <p:nvPr/>
        </p:nvPicPr>
        <p:blipFill>
          <a:blip r:embed="rId23"/>
          <a:stretch>
            <a:fillRect/>
          </a:stretch>
        </p:blipFill>
        <p:spPr>
          <a:xfrm>
            <a:off x="7085321" y="2228124"/>
            <a:ext cx="2048288" cy="802718"/>
          </a:xfrm>
          <a:prstGeom prst="rect">
            <a:avLst/>
          </a:prstGeom>
        </p:spPr>
      </p:pic>
      <p:sp>
        <p:nvSpPr>
          <p:cNvPr id="36" name="Rectangle 35"/>
          <p:cNvSpPr/>
          <p:nvPr/>
        </p:nvSpPr>
        <p:spPr>
          <a:xfrm>
            <a:off x="7085321" y="2719243"/>
            <a:ext cx="1188146" cy="215444"/>
          </a:xfrm>
          <a:prstGeom prst="rect">
            <a:avLst/>
          </a:prstGeom>
        </p:spPr>
        <p:txBody>
          <a:bodyPr wrap="none">
            <a:spAutoFit/>
          </a:bodyPr>
          <a:lstStyle/>
          <a:p>
            <a:r>
              <a:rPr lang="en-US" sz="800" dirty="0">
                <a:solidFill>
                  <a:schemeClr val="accent2"/>
                </a:solidFill>
              </a:rPr>
              <a:t>Assign Floating IP to VM</a:t>
            </a:r>
          </a:p>
        </p:txBody>
      </p:sp>
      <p:pic>
        <p:nvPicPr>
          <p:cNvPr id="37" name="Picture 36"/>
          <p:cNvPicPr>
            <a:picLocks noChangeAspect="1"/>
          </p:cNvPicPr>
          <p:nvPr/>
        </p:nvPicPr>
        <p:blipFill>
          <a:blip r:embed="rId24"/>
          <a:stretch>
            <a:fillRect/>
          </a:stretch>
        </p:blipFill>
        <p:spPr>
          <a:xfrm>
            <a:off x="7085321" y="3080349"/>
            <a:ext cx="2048288" cy="732233"/>
          </a:xfrm>
          <a:prstGeom prst="rect">
            <a:avLst/>
          </a:prstGeom>
        </p:spPr>
      </p:pic>
      <p:pic>
        <p:nvPicPr>
          <p:cNvPr id="38" name="Picture 37"/>
          <p:cNvPicPr>
            <a:picLocks noChangeAspect="1"/>
          </p:cNvPicPr>
          <p:nvPr/>
        </p:nvPicPr>
        <p:blipFill>
          <a:blip r:embed="rId25"/>
          <a:stretch>
            <a:fillRect/>
          </a:stretch>
        </p:blipFill>
        <p:spPr>
          <a:xfrm>
            <a:off x="7092863" y="3834789"/>
            <a:ext cx="2051137" cy="888826"/>
          </a:xfrm>
          <a:prstGeom prst="rect">
            <a:avLst/>
          </a:prstGeom>
        </p:spPr>
      </p:pic>
    </p:spTree>
    <p:extLst>
      <p:ext uri="{BB962C8B-B14F-4D97-AF65-F5344CB8AC3E}">
        <p14:creationId xmlns:p14="http://schemas.microsoft.com/office/powerpoint/2010/main" val="2626911228"/>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err="1">
                <a:hlinkClick r:id="rId3" tooltip="发布于 2021-09-24 15:43"/>
              </a:rPr>
              <a:t>Openstack</a:t>
            </a:r>
            <a:r>
              <a:rPr lang="en-US" b="1" dirty="0">
                <a:hlinkClick r:id="rId3" tooltip="发布于 2021-09-24 15:43"/>
              </a:rPr>
              <a:t> </a:t>
            </a:r>
            <a:r>
              <a:rPr lang="en-US" b="1" dirty="0" smtClean="0">
                <a:hlinkClick r:id="rId3" tooltip="发布于 2021-09-24 15:43"/>
              </a:rPr>
              <a:t>Train</a:t>
            </a:r>
            <a:r>
              <a:rPr lang="ja-JP" altLang="en-US" b="1" dirty="0" smtClean="0">
                <a:hlinkClick r:id="rId3" tooltip="发布于 2021-09-24 15:43"/>
              </a:rPr>
              <a:t> </a:t>
            </a:r>
            <a:r>
              <a:rPr lang="en-US" altLang="ja-JP" b="1" dirty="0">
                <a:hlinkClick r:id="rId3" tooltip="发布于 2021-09-24 15:43"/>
              </a:rPr>
              <a:t>(</a:t>
            </a:r>
            <a:r>
              <a:rPr lang="en-US" b="1" dirty="0" err="1">
                <a:hlinkClick r:id="rId3" tooltip="发布于 2021-09-24 15:43"/>
              </a:rPr>
              <a:t>kolla-ansible</a:t>
            </a:r>
            <a:r>
              <a:rPr lang="en-US" b="1" dirty="0">
                <a:hlinkClick r:id="rId3" tooltip="发布于 2021-09-24 15:43"/>
              </a:rPr>
              <a:t>)</a:t>
            </a:r>
            <a:endParaRPr lang="en-US" dirty="0"/>
          </a:p>
        </p:txBody>
      </p:sp>
      <p:pic>
        <p:nvPicPr>
          <p:cNvPr id="5" name="Content Placeholder 4"/>
          <p:cNvPicPr>
            <a:picLocks noGrp="1" noChangeAspect="1"/>
          </p:cNvPicPr>
          <p:nvPr>
            <p:ph idx="1"/>
          </p:nvPr>
        </p:nvPicPr>
        <p:blipFill>
          <a:blip r:embed="rId4"/>
          <a:stretch>
            <a:fillRect/>
          </a:stretch>
        </p:blipFill>
        <p:spPr>
          <a:xfrm>
            <a:off x="394855" y="1111288"/>
            <a:ext cx="3647493" cy="1528004"/>
          </a:xfrm>
          <a:prstGeom prst="rect">
            <a:avLst/>
          </a:prstGeom>
        </p:spPr>
      </p:pic>
      <p:sp>
        <p:nvSpPr>
          <p:cNvPr id="4" name="Slide Number Placeholder 3"/>
          <p:cNvSpPr>
            <a:spLocks noGrp="1"/>
          </p:cNvSpPr>
          <p:nvPr>
            <p:ph type="sldNum" sz="quarter" idx="12"/>
          </p:nvPr>
        </p:nvSpPr>
        <p:spPr/>
        <p:txBody>
          <a:bodyPr/>
          <a:lstStyle/>
          <a:p>
            <a:fld id="{6D22F896-40B5-4ADD-8801-0D06FADFA095}" type="slidenum">
              <a:rPr lang="en-US" smtClean="0"/>
              <a:t>53</a:t>
            </a:fld>
            <a:endParaRPr lang="en-US" dirty="0"/>
          </a:p>
        </p:txBody>
      </p:sp>
      <p:pic>
        <p:nvPicPr>
          <p:cNvPr id="6" name="Picture 5"/>
          <p:cNvPicPr>
            <a:picLocks noChangeAspect="1"/>
          </p:cNvPicPr>
          <p:nvPr/>
        </p:nvPicPr>
        <p:blipFill>
          <a:blip r:embed="rId5"/>
          <a:stretch>
            <a:fillRect/>
          </a:stretch>
        </p:blipFill>
        <p:spPr>
          <a:xfrm>
            <a:off x="145217" y="2930019"/>
            <a:ext cx="1704365" cy="2111087"/>
          </a:xfrm>
          <a:prstGeom prst="rect">
            <a:avLst/>
          </a:prstGeom>
        </p:spPr>
      </p:pic>
      <p:pic>
        <p:nvPicPr>
          <p:cNvPr id="7" name="Picture 6"/>
          <p:cNvPicPr>
            <a:picLocks noChangeAspect="1"/>
          </p:cNvPicPr>
          <p:nvPr/>
        </p:nvPicPr>
        <p:blipFill>
          <a:blip r:embed="rId6"/>
          <a:stretch>
            <a:fillRect/>
          </a:stretch>
        </p:blipFill>
        <p:spPr>
          <a:xfrm>
            <a:off x="1849582" y="2871137"/>
            <a:ext cx="1709163" cy="2228849"/>
          </a:xfrm>
          <a:prstGeom prst="rect">
            <a:avLst/>
          </a:prstGeom>
        </p:spPr>
      </p:pic>
      <p:pic>
        <p:nvPicPr>
          <p:cNvPr id="8" name="Picture 7"/>
          <p:cNvPicPr>
            <a:picLocks noChangeAspect="1"/>
          </p:cNvPicPr>
          <p:nvPr/>
        </p:nvPicPr>
        <p:blipFill>
          <a:blip r:embed="rId7"/>
          <a:stretch>
            <a:fillRect/>
          </a:stretch>
        </p:blipFill>
        <p:spPr>
          <a:xfrm>
            <a:off x="3533705" y="2660140"/>
            <a:ext cx="3306041" cy="2244045"/>
          </a:xfrm>
          <a:prstGeom prst="rect">
            <a:avLst/>
          </a:prstGeom>
        </p:spPr>
      </p:pic>
      <p:pic>
        <p:nvPicPr>
          <p:cNvPr id="9" name="Picture 8"/>
          <p:cNvPicPr>
            <a:picLocks noChangeAspect="1"/>
          </p:cNvPicPr>
          <p:nvPr/>
        </p:nvPicPr>
        <p:blipFill>
          <a:blip r:embed="rId8"/>
          <a:stretch>
            <a:fillRect/>
          </a:stretch>
        </p:blipFill>
        <p:spPr>
          <a:xfrm>
            <a:off x="6941553" y="2522134"/>
            <a:ext cx="1745673" cy="2245129"/>
          </a:xfrm>
          <a:prstGeom prst="rect">
            <a:avLst/>
          </a:prstGeom>
        </p:spPr>
      </p:pic>
    </p:spTree>
    <p:extLst>
      <p:ext uri="{BB962C8B-B14F-4D97-AF65-F5344CB8AC3E}">
        <p14:creationId xmlns:p14="http://schemas.microsoft.com/office/powerpoint/2010/main" val="3282602284"/>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54</a:t>
            </a:fld>
            <a:endParaRPr lang="en-US" dirty="0"/>
          </a:p>
        </p:txBody>
      </p:sp>
      <p:pic>
        <p:nvPicPr>
          <p:cNvPr id="5" name="Picture 4"/>
          <p:cNvPicPr>
            <a:picLocks noChangeAspect="1"/>
          </p:cNvPicPr>
          <p:nvPr/>
        </p:nvPicPr>
        <p:blipFill>
          <a:blip r:embed="rId3"/>
          <a:stretch>
            <a:fillRect/>
          </a:stretch>
        </p:blipFill>
        <p:spPr>
          <a:xfrm>
            <a:off x="270163" y="3280072"/>
            <a:ext cx="2971149" cy="1863428"/>
          </a:xfrm>
          <a:prstGeom prst="rect">
            <a:avLst/>
          </a:prstGeom>
        </p:spPr>
      </p:pic>
      <p:pic>
        <p:nvPicPr>
          <p:cNvPr id="6" name="Picture 5"/>
          <p:cNvPicPr>
            <a:picLocks noChangeAspect="1"/>
          </p:cNvPicPr>
          <p:nvPr/>
        </p:nvPicPr>
        <p:blipFill>
          <a:blip r:embed="rId4"/>
          <a:stretch>
            <a:fillRect/>
          </a:stretch>
        </p:blipFill>
        <p:spPr>
          <a:xfrm>
            <a:off x="270164" y="1896064"/>
            <a:ext cx="2971149" cy="1384008"/>
          </a:xfrm>
          <a:prstGeom prst="rect">
            <a:avLst/>
          </a:prstGeom>
        </p:spPr>
      </p:pic>
      <p:pic>
        <p:nvPicPr>
          <p:cNvPr id="7" name="Picture 6"/>
          <p:cNvPicPr>
            <a:picLocks noChangeAspect="1"/>
          </p:cNvPicPr>
          <p:nvPr/>
        </p:nvPicPr>
        <p:blipFill>
          <a:blip r:embed="rId5"/>
          <a:stretch>
            <a:fillRect/>
          </a:stretch>
        </p:blipFill>
        <p:spPr>
          <a:xfrm>
            <a:off x="379756" y="0"/>
            <a:ext cx="2861556" cy="1896064"/>
          </a:xfrm>
          <a:prstGeom prst="rect">
            <a:avLst/>
          </a:prstGeom>
        </p:spPr>
      </p:pic>
      <p:pic>
        <p:nvPicPr>
          <p:cNvPr id="8" name="Picture 7"/>
          <p:cNvPicPr>
            <a:picLocks noChangeAspect="1"/>
          </p:cNvPicPr>
          <p:nvPr/>
        </p:nvPicPr>
        <p:blipFill>
          <a:blip r:embed="rId6"/>
          <a:stretch>
            <a:fillRect/>
          </a:stretch>
        </p:blipFill>
        <p:spPr>
          <a:xfrm>
            <a:off x="3350904" y="183590"/>
            <a:ext cx="2535383" cy="1040157"/>
          </a:xfrm>
          <a:prstGeom prst="rect">
            <a:avLst/>
          </a:prstGeom>
        </p:spPr>
      </p:pic>
    </p:spTree>
    <p:extLst>
      <p:ext uri="{BB962C8B-B14F-4D97-AF65-F5344CB8AC3E}">
        <p14:creationId xmlns:p14="http://schemas.microsoft.com/office/powerpoint/2010/main" val="305297713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441" y="427867"/>
            <a:ext cx="7886700" cy="308047"/>
          </a:xfrm>
        </p:spPr>
        <p:txBody>
          <a:bodyPr>
            <a:normAutofit fontScale="90000"/>
          </a:bodyPr>
          <a:lstStyle/>
          <a:p>
            <a:r>
              <a:rPr lang="en-US" sz="1600" dirty="0">
                <a:solidFill>
                  <a:srgbClr val="002060"/>
                </a:solidFill>
              </a:rPr>
              <a:t>Deploy Production Ready OpenStack Using </a:t>
            </a:r>
            <a:r>
              <a:rPr lang="en-US" sz="1600" dirty="0" err="1">
                <a:solidFill>
                  <a:srgbClr val="002060"/>
                </a:solidFill>
              </a:rPr>
              <a:t>Kolla</a:t>
            </a:r>
            <a:r>
              <a:rPr lang="en-US" sz="1600" dirty="0">
                <a:solidFill>
                  <a:srgbClr val="002060"/>
                </a:solidFill>
              </a:rPr>
              <a:t> </a:t>
            </a:r>
            <a:r>
              <a:rPr lang="en-US" sz="1600" dirty="0" err="1">
                <a:solidFill>
                  <a:srgbClr val="002060"/>
                </a:solidFill>
              </a:rPr>
              <a:t>Ansible</a:t>
            </a:r>
            <a:r>
              <a:rPr lang="en-US" dirty="0">
                <a:solidFill>
                  <a:srgbClr val="002060"/>
                </a:solidFill>
              </a:rPr>
              <a:t/>
            </a:r>
            <a:br>
              <a:rPr lang="en-US" dirty="0">
                <a:solidFill>
                  <a:srgbClr val="002060"/>
                </a:solidFill>
              </a:rPr>
            </a:br>
            <a:endParaRPr lang="en-US" dirty="0">
              <a:solidFill>
                <a:srgbClr val="002060"/>
              </a:solidFill>
            </a:endParaRPr>
          </a:p>
        </p:txBody>
      </p:sp>
      <p:sp>
        <p:nvSpPr>
          <p:cNvPr id="4" name="Slide Number Placeholder 3"/>
          <p:cNvSpPr>
            <a:spLocks noGrp="1"/>
          </p:cNvSpPr>
          <p:nvPr>
            <p:ph type="sldNum" sz="quarter" idx="12"/>
          </p:nvPr>
        </p:nvSpPr>
        <p:spPr/>
        <p:txBody>
          <a:bodyPr/>
          <a:lstStyle/>
          <a:p>
            <a:fld id="{6D22F896-40B5-4ADD-8801-0D06FADFA095}" type="slidenum">
              <a:rPr lang="en-US" smtClean="0"/>
              <a:t>55</a:t>
            </a:fld>
            <a:endParaRPr lang="en-US" dirty="0"/>
          </a:p>
        </p:txBody>
      </p:sp>
      <p:pic>
        <p:nvPicPr>
          <p:cNvPr id="5" name="Picture 4"/>
          <p:cNvPicPr>
            <a:picLocks noChangeAspect="1"/>
          </p:cNvPicPr>
          <p:nvPr/>
        </p:nvPicPr>
        <p:blipFill>
          <a:blip r:embed="rId3"/>
          <a:stretch>
            <a:fillRect/>
          </a:stretch>
        </p:blipFill>
        <p:spPr>
          <a:xfrm>
            <a:off x="187036" y="581890"/>
            <a:ext cx="2743200" cy="892175"/>
          </a:xfrm>
          <a:prstGeom prst="rect">
            <a:avLst/>
          </a:prstGeom>
        </p:spPr>
      </p:pic>
      <p:pic>
        <p:nvPicPr>
          <p:cNvPr id="6" name="Picture 5"/>
          <p:cNvPicPr>
            <a:picLocks noChangeAspect="1"/>
          </p:cNvPicPr>
          <p:nvPr/>
        </p:nvPicPr>
        <p:blipFill>
          <a:blip r:embed="rId4"/>
          <a:stretch>
            <a:fillRect/>
          </a:stretch>
        </p:blipFill>
        <p:spPr>
          <a:xfrm>
            <a:off x="187036" y="1628088"/>
            <a:ext cx="2743200" cy="929554"/>
          </a:xfrm>
          <a:prstGeom prst="rect">
            <a:avLst/>
          </a:prstGeom>
        </p:spPr>
      </p:pic>
      <p:pic>
        <p:nvPicPr>
          <p:cNvPr id="7" name="Picture 6"/>
          <p:cNvPicPr>
            <a:picLocks noChangeAspect="1"/>
          </p:cNvPicPr>
          <p:nvPr/>
        </p:nvPicPr>
        <p:blipFill>
          <a:blip r:embed="rId5"/>
          <a:stretch>
            <a:fillRect/>
          </a:stretch>
        </p:blipFill>
        <p:spPr>
          <a:xfrm>
            <a:off x="145472" y="2711665"/>
            <a:ext cx="2784764" cy="924387"/>
          </a:xfrm>
          <a:prstGeom prst="rect">
            <a:avLst/>
          </a:prstGeom>
        </p:spPr>
      </p:pic>
      <p:sp>
        <p:nvSpPr>
          <p:cNvPr id="8" name="Rectangle 7"/>
          <p:cNvSpPr/>
          <p:nvPr/>
        </p:nvSpPr>
        <p:spPr>
          <a:xfrm>
            <a:off x="145472" y="3563779"/>
            <a:ext cx="2867892" cy="1200329"/>
          </a:xfrm>
          <a:prstGeom prst="rect">
            <a:avLst/>
          </a:prstGeom>
        </p:spPr>
        <p:txBody>
          <a:bodyPr wrap="square">
            <a:spAutoFit/>
          </a:bodyPr>
          <a:lstStyle/>
          <a:p>
            <a:r>
              <a:rPr lang="en-US" sz="800" dirty="0"/>
              <a:t>Prerequisites:</a:t>
            </a:r>
          </a:p>
          <a:p>
            <a:pPr marL="171450" indent="-171450">
              <a:buFont typeface="Arial" panose="020B0604020202020204" pitchFamily="34" charset="0"/>
              <a:buChar char="•"/>
            </a:pPr>
            <a:r>
              <a:rPr lang="en-US" sz="800" dirty="0"/>
              <a:t>5 Servers (3 </a:t>
            </a:r>
            <a:r>
              <a:rPr lang="en-US" sz="800" dirty="0" err="1"/>
              <a:t>controller+storage</a:t>
            </a:r>
            <a:r>
              <a:rPr lang="en-US" sz="800" dirty="0"/>
              <a:t>, 2 </a:t>
            </a:r>
            <a:r>
              <a:rPr lang="en-US" sz="800" dirty="0" err="1"/>
              <a:t>compute+storage</a:t>
            </a:r>
            <a:r>
              <a:rPr lang="en-US" sz="800" dirty="0"/>
              <a:t>)</a:t>
            </a:r>
          </a:p>
          <a:p>
            <a:pPr marL="171450" indent="-171450">
              <a:buFont typeface="Arial" panose="020B0604020202020204" pitchFamily="34" charset="0"/>
              <a:buChar char="•"/>
            </a:pPr>
            <a:r>
              <a:rPr lang="en-US" sz="800" dirty="0"/>
              <a:t>Linux servers running Ubuntu 22.04</a:t>
            </a:r>
          </a:p>
          <a:p>
            <a:pPr marL="171450" indent="-171450">
              <a:buFont typeface="Arial" panose="020B0604020202020204" pitchFamily="34" charset="0"/>
              <a:buChar char="•"/>
            </a:pPr>
            <a:r>
              <a:rPr lang="en-US" sz="800" dirty="0"/>
              <a:t>6 Subnets (internal net, self-service net, </a:t>
            </a:r>
            <a:r>
              <a:rPr lang="en-US" sz="800" dirty="0" err="1"/>
              <a:t>ceph</a:t>
            </a:r>
            <a:r>
              <a:rPr lang="en-US" sz="800" dirty="0"/>
              <a:t> public net, </a:t>
            </a:r>
            <a:r>
              <a:rPr lang="en-US" sz="800" dirty="0" err="1"/>
              <a:t>ceph</a:t>
            </a:r>
            <a:r>
              <a:rPr lang="en-US" sz="800" dirty="0"/>
              <a:t> cluster net, public net, provider net)</a:t>
            </a:r>
          </a:p>
          <a:p>
            <a:pPr marL="171450" indent="-171450">
              <a:buFont typeface="Arial" panose="020B0604020202020204" pitchFamily="34" charset="0"/>
              <a:buChar char="•"/>
            </a:pPr>
            <a:r>
              <a:rPr lang="en-US" sz="800" dirty="0"/>
              <a:t>Internet Connection</a:t>
            </a:r>
          </a:p>
          <a:p>
            <a:pPr marL="171450" indent="-171450">
              <a:buFont typeface="Arial" panose="020B0604020202020204" pitchFamily="34" charset="0"/>
              <a:buChar char="•"/>
            </a:pPr>
            <a:r>
              <a:rPr lang="en-US" sz="800" dirty="0"/>
              <a:t>Certain ports are open on the server</a:t>
            </a:r>
          </a:p>
          <a:p>
            <a:pPr marL="171450" indent="-171450">
              <a:buFont typeface="Arial" panose="020B0604020202020204" pitchFamily="34" charset="0"/>
              <a:buChar char="•"/>
            </a:pPr>
            <a:r>
              <a:rPr lang="en-US" sz="800" dirty="0" err="1"/>
              <a:t>Ceph</a:t>
            </a:r>
            <a:r>
              <a:rPr lang="en-US" sz="800" dirty="0"/>
              <a:t> version Reef</a:t>
            </a:r>
          </a:p>
          <a:p>
            <a:pPr marL="171450" indent="-171450">
              <a:buFont typeface="Arial" panose="020B0604020202020204" pitchFamily="34" charset="0"/>
              <a:buChar char="•"/>
            </a:pPr>
            <a:r>
              <a:rPr lang="en-US" sz="800" dirty="0"/>
              <a:t>OpenStack version Bobcat</a:t>
            </a:r>
          </a:p>
        </p:txBody>
      </p:sp>
      <p:pic>
        <p:nvPicPr>
          <p:cNvPr id="9" name="Picture 8"/>
          <p:cNvPicPr>
            <a:picLocks noChangeAspect="1"/>
          </p:cNvPicPr>
          <p:nvPr/>
        </p:nvPicPr>
        <p:blipFill>
          <a:blip r:embed="rId6"/>
          <a:stretch>
            <a:fillRect/>
          </a:stretch>
        </p:blipFill>
        <p:spPr>
          <a:xfrm>
            <a:off x="3039341" y="482787"/>
            <a:ext cx="2628900" cy="1398429"/>
          </a:xfrm>
          <a:prstGeom prst="rect">
            <a:avLst/>
          </a:prstGeom>
        </p:spPr>
      </p:pic>
      <p:pic>
        <p:nvPicPr>
          <p:cNvPr id="10" name="Picture 9"/>
          <p:cNvPicPr>
            <a:picLocks noChangeAspect="1"/>
          </p:cNvPicPr>
          <p:nvPr/>
        </p:nvPicPr>
        <p:blipFill>
          <a:blip r:embed="rId7"/>
          <a:stretch>
            <a:fillRect/>
          </a:stretch>
        </p:blipFill>
        <p:spPr>
          <a:xfrm>
            <a:off x="3013364" y="1936136"/>
            <a:ext cx="2654877" cy="1274655"/>
          </a:xfrm>
          <a:prstGeom prst="rect">
            <a:avLst/>
          </a:prstGeom>
        </p:spPr>
      </p:pic>
      <p:pic>
        <p:nvPicPr>
          <p:cNvPr id="11" name="Picture 10"/>
          <p:cNvPicPr>
            <a:picLocks noChangeAspect="1"/>
          </p:cNvPicPr>
          <p:nvPr/>
        </p:nvPicPr>
        <p:blipFill>
          <a:blip r:embed="rId8"/>
          <a:stretch>
            <a:fillRect/>
          </a:stretch>
        </p:blipFill>
        <p:spPr>
          <a:xfrm>
            <a:off x="5751369" y="444530"/>
            <a:ext cx="3309504" cy="1612870"/>
          </a:xfrm>
          <a:prstGeom prst="rect">
            <a:avLst/>
          </a:prstGeom>
        </p:spPr>
      </p:pic>
      <p:pic>
        <p:nvPicPr>
          <p:cNvPr id="12" name="Picture 11"/>
          <p:cNvPicPr>
            <a:picLocks noChangeAspect="1"/>
          </p:cNvPicPr>
          <p:nvPr/>
        </p:nvPicPr>
        <p:blipFill>
          <a:blip r:embed="rId9"/>
          <a:stretch>
            <a:fillRect/>
          </a:stretch>
        </p:blipFill>
        <p:spPr>
          <a:xfrm>
            <a:off x="5811116" y="2057400"/>
            <a:ext cx="3332884" cy="1582483"/>
          </a:xfrm>
          <a:prstGeom prst="rect">
            <a:avLst/>
          </a:prstGeom>
        </p:spPr>
      </p:pic>
      <p:pic>
        <p:nvPicPr>
          <p:cNvPr id="13" name="Picture 12"/>
          <p:cNvPicPr>
            <a:picLocks noChangeAspect="1"/>
          </p:cNvPicPr>
          <p:nvPr/>
        </p:nvPicPr>
        <p:blipFill>
          <a:blip r:embed="rId10"/>
          <a:stretch>
            <a:fillRect/>
          </a:stretch>
        </p:blipFill>
        <p:spPr>
          <a:xfrm>
            <a:off x="5811116" y="3696856"/>
            <a:ext cx="3351068" cy="1437376"/>
          </a:xfrm>
          <a:prstGeom prst="rect">
            <a:avLst/>
          </a:prstGeom>
        </p:spPr>
      </p:pic>
    </p:spTree>
    <p:extLst>
      <p:ext uri="{BB962C8B-B14F-4D97-AF65-F5344CB8AC3E}">
        <p14:creationId xmlns:p14="http://schemas.microsoft.com/office/powerpoint/2010/main" val="240521346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56</a:t>
            </a:fld>
            <a:endParaRPr lang="en-US" dirty="0"/>
          </a:p>
        </p:txBody>
      </p:sp>
      <p:sp>
        <p:nvSpPr>
          <p:cNvPr id="2" name="Rectangle 1"/>
          <p:cNvSpPr/>
          <p:nvPr/>
        </p:nvSpPr>
        <p:spPr>
          <a:xfrm>
            <a:off x="3987555" y="5070723"/>
            <a:ext cx="6622473" cy="369332"/>
          </a:xfrm>
          <a:prstGeom prst="rect">
            <a:avLst/>
          </a:prstGeom>
        </p:spPr>
        <p:txBody>
          <a:bodyPr wrap="square">
            <a:spAutoFit/>
          </a:bodyPr>
          <a:lstStyle/>
          <a:p>
            <a:r>
              <a:rPr lang="en-US" dirty="0"/>
              <a:t>Build </a:t>
            </a:r>
            <a:r>
              <a:rPr lang="en-US" dirty="0" err="1"/>
              <a:t>Multinode</a:t>
            </a:r>
            <a:r>
              <a:rPr lang="en-US" dirty="0"/>
              <a:t> </a:t>
            </a:r>
            <a:r>
              <a:rPr lang="en-US" dirty="0" err="1"/>
              <a:t>Kolla-Ansible</a:t>
            </a:r>
            <a:r>
              <a:rPr lang="en-US" dirty="0"/>
              <a:t> </a:t>
            </a:r>
            <a:r>
              <a:rPr lang="en-US" dirty="0" err="1"/>
              <a:t>Openstack</a:t>
            </a:r>
            <a:r>
              <a:rPr lang="en-US" dirty="0"/>
              <a:t> LAB using LXD</a:t>
            </a:r>
          </a:p>
        </p:txBody>
      </p:sp>
      <p:sp>
        <p:nvSpPr>
          <p:cNvPr id="3" name="Rectangle 2"/>
          <p:cNvSpPr/>
          <p:nvPr/>
        </p:nvSpPr>
        <p:spPr>
          <a:xfrm>
            <a:off x="39722" y="3455912"/>
            <a:ext cx="2402517" cy="461665"/>
          </a:xfrm>
          <a:prstGeom prst="rect">
            <a:avLst/>
          </a:prstGeom>
        </p:spPr>
        <p:txBody>
          <a:bodyPr wrap="none">
            <a:spAutoFit/>
          </a:bodyPr>
          <a:lstStyle/>
          <a:p>
            <a:r>
              <a:rPr lang="en-US" sz="1200" b="1" dirty="0" err="1" smtClean="0">
                <a:solidFill>
                  <a:srgbClr val="002060"/>
                </a:solidFill>
              </a:rPr>
              <a:t>Prerequest</a:t>
            </a:r>
            <a:endParaRPr lang="en-US" sz="1200" b="1" dirty="0" smtClean="0">
              <a:solidFill>
                <a:srgbClr val="002060"/>
              </a:solidFill>
            </a:endParaRPr>
          </a:p>
          <a:p>
            <a:r>
              <a:rPr lang="en-US" sz="1200" dirty="0" smtClean="0">
                <a:solidFill>
                  <a:srgbClr val="002060"/>
                </a:solidFill>
              </a:rPr>
              <a:t>Add </a:t>
            </a:r>
            <a:r>
              <a:rPr lang="en-US" sz="1200" dirty="0">
                <a:solidFill>
                  <a:srgbClr val="002060"/>
                </a:solidFill>
              </a:rPr>
              <a:t>hosts to /</a:t>
            </a:r>
            <a:r>
              <a:rPr lang="en-US" sz="1200" dirty="0" err="1">
                <a:solidFill>
                  <a:srgbClr val="002060"/>
                </a:solidFill>
              </a:rPr>
              <a:t>etc</a:t>
            </a:r>
            <a:r>
              <a:rPr lang="en-US" sz="1200" dirty="0">
                <a:solidFill>
                  <a:srgbClr val="002060"/>
                </a:solidFill>
              </a:rPr>
              <a:t>/hosts in all hosts</a:t>
            </a:r>
          </a:p>
        </p:txBody>
      </p:sp>
      <p:sp>
        <p:nvSpPr>
          <p:cNvPr id="10" name="Rectangle 9"/>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11" name="Rectangle 10"/>
          <p:cNvSpPr/>
          <p:nvPr/>
        </p:nvSpPr>
        <p:spPr>
          <a:xfrm>
            <a:off x="0" y="625803"/>
            <a:ext cx="1267655" cy="461665"/>
          </a:xfrm>
          <a:prstGeom prst="rect">
            <a:avLst/>
          </a:prstGeom>
        </p:spPr>
        <p:txBody>
          <a:bodyPr wrap="none">
            <a:spAutoFit/>
          </a:bodyPr>
          <a:lstStyle/>
          <a:p>
            <a:r>
              <a:rPr lang="en-US" sz="1200" b="1" dirty="0">
                <a:solidFill>
                  <a:srgbClr val="00B0F0"/>
                </a:solidFill>
              </a:rPr>
              <a:t>Lab </a:t>
            </a:r>
            <a:r>
              <a:rPr lang="en-US" sz="1200" b="1" dirty="0" smtClean="0">
                <a:solidFill>
                  <a:srgbClr val="00B0F0"/>
                </a:solidFill>
              </a:rPr>
              <a:t>Environment</a:t>
            </a:r>
          </a:p>
          <a:p>
            <a:r>
              <a:rPr lang="en-US" sz="1200" b="1" dirty="0" smtClean="0">
                <a:solidFill>
                  <a:srgbClr val="002060"/>
                </a:solidFill>
              </a:rPr>
              <a:t>Hosts</a:t>
            </a:r>
            <a:endParaRPr lang="en-US" sz="1200" b="1" dirty="0">
              <a:solidFill>
                <a:srgbClr val="002060"/>
              </a:solidFill>
            </a:endParaRPr>
          </a:p>
        </p:txBody>
      </p:sp>
      <p:sp>
        <p:nvSpPr>
          <p:cNvPr id="14" name="Rectangle 13"/>
          <p:cNvSpPr/>
          <p:nvPr/>
        </p:nvSpPr>
        <p:spPr>
          <a:xfrm>
            <a:off x="39722" y="1070860"/>
            <a:ext cx="3605846" cy="954107"/>
          </a:xfrm>
          <a:prstGeom prst="rect">
            <a:avLst/>
          </a:prstGeom>
        </p:spPr>
        <p:txBody>
          <a:bodyPr wrap="square">
            <a:spAutoFit/>
          </a:bodyPr>
          <a:lstStyle/>
          <a:p>
            <a:r>
              <a:rPr lang="en-US" sz="800" dirty="0"/>
              <a:t>Hostname </a:t>
            </a:r>
            <a:r>
              <a:rPr lang="en-US" sz="800" dirty="0" smtClean="0"/>
              <a:t>	| </a:t>
            </a:r>
            <a:r>
              <a:rPr lang="en-US" sz="800" dirty="0"/>
              <a:t>Role and Spec. </a:t>
            </a:r>
            <a:endParaRPr lang="en-US" sz="800" dirty="0" smtClean="0"/>
          </a:p>
          <a:p>
            <a:r>
              <a:rPr lang="en-US" sz="800" dirty="0" smtClean="0"/>
              <a:t>------------------------------------------------------------------------------------------------------</a:t>
            </a:r>
          </a:p>
          <a:p>
            <a:r>
              <a:rPr lang="en-US" sz="800" dirty="0" smtClean="0"/>
              <a:t>GPU10 	| </a:t>
            </a:r>
            <a:r>
              <a:rPr lang="en-US" sz="800" dirty="0"/>
              <a:t>deploy (Ubuntu 22.04</a:t>
            </a:r>
            <a:r>
              <a:rPr lang="en-US" sz="800" dirty="0" smtClean="0"/>
              <a:t>)</a:t>
            </a:r>
          </a:p>
          <a:p>
            <a:r>
              <a:rPr lang="en-US" sz="800" dirty="0" smtClean="0"/>
              <a:t> GPU111 	| </a:t>
            </a:r>
            <a:r>
              <a:rPr lang="en-US" sz="800" dirty="0"/>
              <a:t>controller (Ubuntu 20.04, 4CPU, 32G RAM, 192.168.1.23) </a:t>
            </a:r>
            <a:endParaRPr lang="en-US" sz="800" dirty="0" smtClean="0"/>
          </a:p>
          <a:p>
            <a:r>
              <a:rPr lang="en-US" sz="800" dirty="0" smtClean="0"/>
              <a:t>GPU71 	| </a:t>
            </a:r>
            <a:r>
              <a:rPr lang="en-US" sz="800" dirty="0"/>
              <a:t>compute (Ubuntu 20.04, 2CPU, 16G RAM, 192.168.1.24) </a:t>
            </a:r>
            <a:endParaRPr lang="en-US" sz="800" dirty="0" smtClean="0"/>
          </a:p>
          <a:p>
            <a:r>
              <a:rPr lang="en-US" sz="800" dirty="0" smtClean="0"/>
              <a:t>GPU72 	| </a:t>
            </a:r>
            <a:r>
              <a:rPr lang="en-US" sz="800" dirty="0"/>
              <a:t>compute (Ubuntu 20.04, 2CPU, 16G RAM, 192.168.1.25) </a:t>
            </a:r>
            <a:endParaRPr lang="en-US" sz="800" dirty="0" smtClean="0"/>
          </a:p>
          <a:p>
            <a:r>
              <a:rPr lang="en-US" sz="800" dirty="0" smtClean="0"/>
              <a:t>GPU73 	| </a:t>
            </a:r>
            <a:r>
              <a:rPr lang="en-US" sz="800" dirty="0"/>
              <a:t>compute (Ubuntu 20.04, 2CPU, 16G RAM, 192.168.1.26)</a:t>
            </a:r>
          </a:p>
        </p:txBody>
      </p:sp>
      <p:sp>
        <p:nvSpPr>
          <p:cNvPr id="15" name="Rectangle 14"/>
          <p:cNvSpPr/>
          <p:nvPr/>
        </p:nvSpPr>
        <p:spPr>
          <a:xfrm>
            <a:off x="0" y="2138121"/>
            <a:ext cx="533992" cy="276999"/>
          </a:xfrm>
          <a:prstGeom prst="rect">
            <a:avLst/>
          </a:prstGeom>
        </p:spPr>
        <p:txBody>
          <a:bodyPr wrap="none">
            <a:spAutoFit/>
          </a:bodyPr>
          <a:lstStyle/>
          <a:p>
            <a:r>
              <a:rPr lang="en-US" sz="1200" b="1" dirty="0">
                <a:solidFill>
                  <a:srgbClr val="002060"/>
                </a:solidFill>
              </a:rPr>
              <a:t>Hosts</a:t>
            </a:r>
          </a:p>
        </p:txBody>
      </p:sp>
      <p:sp>
        <p:nvSpPr>
          <p:cNvPr id="16" name="Rectangle 15"/>
          <p:cNvSpPr/>
          <p:nvPr/>
        </p:nvSpPr>
        <p:spPr>
          <a:xfrm>
            <a:off x="39722" y="2467041"/>
            <a:ext cx="3605846" cy="830997"/>
          </a:xfrm>
          <a:prstGeom prst="rect">
            <a:avLst/>
          </a:prstGeom>
        </p:spPr>
        <p:txBody>
          <a:bodyPr wrap="square">
            <a:spAutoFit/>
          </a:bodyPr>
          <a:lstStyle/>
          <a:p>
            <a:r>
              <a:rPr lang="en-US" sz="800" dirty="0"/>
              <a:t>eno1: internal (192.168.1.0/24</a:t>
            </a:r>
            <a:r>
              <a:rPr lang="en-US" sz="800" dirty="0" smtClean="0"/>
              <a:t>)</a:t>
            </a:r>
          </a:p>
          <a:p>
            <a:r>
              <a:rPr lang="en-US" sz="800" dirty="0" smtClean="0"/>
              <a:t>eno2: External</a:t>
            </a:r>
          </a:p>
          <a:p>
            <a:endParaRPr lang="en-US" sz="800" dirty="0"/>
          </a:p>
          <a:p>
            <a:r>
              <a:rPr lang="en-US" sz="800" b="1" i="1" dirty="0"/>
              <a:t>NOTE</a:t>
            </a:r>
            <a:r>
              <a:rPr lang="en-US" sz="800" b="1" dirty="0"/>
              <a:t>:</a:t>
            </a:r>
            <a:r>
              <a:rPr lang="en-US" sz="800" dirty="0"/>
              <a:t> The eno2 interface is a "USB" NIC, rename it to eno2 base on mac address on each host.</a:t>
            </a:r>
          </a:p>
          <a:p>
            <a:r>
              <a:rPr lang="en-US" sz="800" dirty="0"/>
              <a:t>Account username: "</a:t>
            </a:r>
            <a:r>
              <a:rPr lang="en-US" sz="800" dirty="0" err="1"/>
              <a:t>ubuntu</a:t>
            </a:r>
            <a:r>
              <a:rPr lang="en-US" sz="800" dirty="0" smtClean="0"/>
              <a:t>"</a:t>
            </a:r>
            <a:endParaRPr lang="en-US" sz="800" dirty="0"/>
          </a:p>
        </p:txBody>
      </p:sp>
      <p:sp>
        <p:nvSpPr>
          <p:cNvPr id="17" name="Rectangle 16"/>
          <p:cNvSpPr/>
          <p:nvPr/>
        </p:nvSpPr>
        <p:spPr>
          <a:xfrm>
            <a:off x="89954" y="3926447"/>
            <a:ext cx="3605846" cy="707886"/>
          </a:xfrm>
          <a:prstGeom prst="rect">
            <a:avLst/>
          </a:prstGeom>
        </p:spPr>
        <p:txBody>
          <a:bodyPr wrap="square">
            <a:spAutoFit/>
          </a:bodyPr>
          <a:lstStyle/>
          <a:p>
            <a:r>
              <a:rPr lang="en-US" sz="800" dirty="0" smtClean="0"/>
              <a:t>amel@GPU10</a:t>
            </a:r>
            <a:r>
              <a:rPr lang="en-US" sz="800" dirty="0"/>
              <a:t>:~$ </a:t>
            </a:r>
            <a:r>
              <a:rPr lang="en-US" sz="800" dirty="0" err="1"/>
              <a:t>ssh-keygen</a:t>
            </a:r>
            <a:r>
              <a:rPr lang="en-US" sz="800" dirty="0"/>
              <a:t> </a:t>
            </a:r>
            <a:endParaRPr lang="en-US" sz="800" dirty="0" smtClean="0"/>
          </a:p>
          <a:p>
            <a:r>
              <a:rPr lang="en-US" sz="800" dirty="0" smtClean="0"/>
              <a:t>amel@GPU10</a:t>
            </a:r>
            <a:r>
              <a:rPr lang="en-US" sz="800" dirty="0"/>
              <a:t>:~$ </a:t>
            </a:r>
            <a:r>
              <a:rPr lang="en-US" sz="800" dirty="0" err="1"/>
              <a:t>ssh</a:t>
            </a:r>
            <a:r>
              <a:rPr lang="en-US" sz="800" dirty="0"/>
              <a:t>-copy-id </a:t>
            </a:r>
            <a:r>
              <a:rPr lang="en-US" sz="800" dirty="0" smtClean="0"/>
              <a:t>GPU111</a:t>
            </a:r>
          </a:p>
          <a:p>
            <a:r>
              <a:rPr lang="en-US" sz="800" dirty="0" smtClean="0"/>
              <a:t>amel@GPU10</a:t>
            </a:r>
            <a:r>
              <a:rPr lang="en-US" sz="800" dirty="0"/>
              <a:t>:~$ </a:t>
            </a:r>
            <a:r>
              <a:rPr lang="en-US" sz="800" dirty="0" err="1"/>
              <a:t>ssh</a:t>
            </a:r>
            <a:r>
              <a:rPr lang="en-US" sz="800" dirty="0"/>
              <a:t>-copy-id </a:t>
            </a:r>
            <a:r>
              <a:rPr lang="en-US" sz="800" dirty="0" smtClean="0"/>
              <a:t>GPU71</a:t>
            </a:r>
          </a:p>
          <a:p>
            <a:r>
              <a:rPr lang="en-US" sz="800" dirty="0" smtClean="0"/>
              <a:t>amel@GPU10</a:t>
            </a:r>
            <a:r>
              <a:rPr lang="en-US" sz="800" dirty="0"/>
              <a:t>:~$ </a:t>
            </a:r>
            <a:r>
              <a:rPr lang="en-US" sz="800" dirty="0" err="1"/>
              <a:t>ssh</a:t>
            </a:r>
            <a:r>
              <a:rPr lang="en-US" sz="800" dirty="0"/>
              <a:t>-copy-id </a:t>
            </a:r>
            <a:r>
              <a:rPr lang="en-US" sz="800" dirty="0" smtClean="0"/>
              <a:t>GPU72</a:t>
            </a:r>
          </a:p>
          <a:p>
            <a:r>
              <a:rPr lang="en-US" sz="800" dirty="0" smtClean="0"/>
              <a:t>amel@GPU10</a:t>
            </a:r>
            <a:r>
              <a:rPr lang="en-US" sz="800" dirty="0"/>
              <a:t>:~$ </a:t>
            </a:r>
            <a:r>
              <a:rPr lang="en-US" sz="800" dirty="0" err="1"/>
              <a:t>ssh</a:t>
            </a:r>
            <a:r>
              <a:rPr lang="en-US" sz="800" dirty="0"/>
              <a:t>-copy-id </a:t>
            </a:r>
            <a:r>
              <a:rPr lang="en-US" sz="800" dirty="0" smtClean="0"/>
              <a:t>GPU73</a:t>
            </a:r>
            <a:endParaRPr lang="en-US" sz="800" dirty="0"/>
          </a:p>
        </p:txBody>
      </p:sp>
      <p:sp>
        <p:nvSpPr>
          <p:cNvPr id="18" name="Rectangle 17"/>
          <p:cNvSpPr/>
          <p:nvPr/>
        </p:nvSpPr>
        <p:spPr>
          <a:xfrm>
            <a:off x="39722" y="4854279"/>
            <a:ext cx="6622473" cy="215444"/>
          </a:xfrm>
          <a:prstGeom prst="rect">
            <a:avLst/>
          </a:prstGeom>
        </p:spPr>
        <p:txBody>
          <a:bodyPr wrap="square">
            <a:spAutoFit/>
          </a:bodyPr>
          <a:lstStyle/>
          <a:p>
            <a:r>
              <a:rPr lang="en-US" sz="800" dirty="0" smtClean="0"/>
              <a:t>GPU == GPU</a:t>
            </a:r>
            <a:endParaRPr lang="en-US" sz="800" dirty="0"/>
          </a:p>
        </p:txBody>
      </p:sp>
      <p:sp>
        <p:nvSpPr>
          <p:cNvPr id="20" name="Rectangle 19"/>
          <p:cNvSpPr/>
          <p:nvPr/>
        </p:nvSpPr>
        <p:spPr>
          <a:xfrm>
            <a:off x="3645568" y="715802"/>
            <a:ext cx="2574166" cy="461665"/>
          </a:xfrm>
          <a:prstGeom prst="rect">
            <a:avLst/>
          </a:prstGeom>
        </p:spPr>
        <p:txBody>
          <a:bodyPr wrap="square">
            <a:spAutoFit/>
          </a:bodyPr>
          <a:lstStyle/>
          <a:p>
            <a:r>
              <a:rPr lang="en-US" sz="1200" b="1" dirty="0">
                <a:solidFill>
                  <a:srgbClr val="002060"/>
                </a:solidFill>
              </a:rPr>
              <a:t>Configure host network interface. For example on </a:t>
            </a:r>
            <a:r>
              <a:rPr lang="en-US" sz="1200" b="1" dirty="0" smtClean="0">
                <a:solidFill>
                  <a:srgbClr val="002060"/>
                </a:solidFill>
              </a:rPr>
              <a:t>GPU111</a:t>
            </a:r>
            <a:endParaRPr lang="en-US" sz="1200" b="1" dirty="0">
              <a:solidFill>
                <a:srgbClr val="002060"/>
              </a:solidFill>
            </a:endParaRPr>
          </a:p>
        </p:txBody>
      </p:sp>
      <p:sp>
        <p:nvSpPr>
          <p:cNvPr id="21" name="Rectangle 20"/>
          <p:cNvSpPr/>
          <p:nvPr/>
        </p:nvSpPr>
        <p:spPr>
          <a:xfrm>
            <a:off x="3685289" y="1130586"/>
            <a:ext cx="2753520" cy="2677656"/>
          </a:xfrm>
          <a:prstGeom prst="rect">
            <a:avLst/>
          </a:prstGeom>
        </p:spPr>
        <p:txBody>
          <a:bodyPr wrap="square">
            <a:spAutoFit/>
          </a:bodyPr>
          <a:lstStyle/>
          <a:p>
            <a:r>
              <a:rPr lang="en-US" sz="800" dirty="0" smtClean="0"/>
              <a:t>ubuntu@GPU111</a:t>
            </a:r>
            <a:r>
              <a:rPr lang="en-US" sz="800" dirty="0"/>
              <a:t>:~$ cat /</a:t>
            </a:r>
            <a:r>
              <a:rPr lang="en-US" sz="800" dirty="0" err="1"/>
              <a:t>etc</a:t>
            </a:r>
            <a:r>
              <a:rPr lang="en-US" sz="800" dirty="0"/>
              <a:t>/</a:t>
            </a:r>
            <a:r>
              <a:rPr lang="en-US" sz="800" dirty="0" err="1"/>
              <a:t>netplan</a:t>
            </a:r>
            <a:r>
              <a:rPr lang="en-US" sz="800" dirty="0"/>
              <a:t>/00-installer-config.yaml </a:t>
            </a:r>
          </a:p>
          <a:p>
            <a:r>
              <a:rPr lang="en-US" sz="800" dirty="0"/>
              <a:t># This is the network </a:t>
            </a:r>
            <a:r>
              <a:rPr lang="en-US" sz="800" dirty="0" err="1"/>
              <a:t>config</a:t>
            </a:r>
            <a:r>
              <a:rPr lang="en-US" sz="800" dirty="0"/>
              <a:t> written by '</a:t>
            </a:r>
            <a:r>
              <a:rPr lang="en-US" sz="800" dirty="0" err="1"/>
              <a:t>subiquity</a:t>
            </a:r>
            <a:r>
              <a:rPr lang="en-US" sz="800" dirty="0"/>
              <a:t>'</a:t>
            </a:r>
          </a:p>
          <a:p>
            <a:r>
              <a:rPr lang="en-US" sz="800" dirty="0"/>
              <a:t>network:</a:t>
            </a:r>
          </a:p>
          <a:p>
            <a:r>
              <a:rPr lang="en-US" sz="800" dirty="0"/>
              <a:t>  </a:t>
            </a:r>
            <a:r>
              <a:rPr lang="en-US" sz="800" dirty="0" err="1"/>
              <a:t>ethernets</a:t>
            </a:r>
            <a:r>
              <a:rPr lang="en-US" sz="800" dirty="0"/>
              <a:t>:</a:t>
            </a:r>
          </a:p>
          <a:p>
            <a:r>
              <a:rPr lang="en-US" sz="800" dirty="0"/>
              <a:t>    eno1:</a:t>
            </a:r>
          </a:p>
          <a:p>
            <a:r>
              <a:rPr lang="en-US" sz="800" dirty="0"/>
              <a:t>      dhcp4: false</a:t>
            </a:r>
          </a:p>
          <a:p>
            <a:r>
              <a:rPr lang="en-US" sz="800" dirty="0"/>
              <a:t>      link-local: []</a:t>
            </a:r>
          </a:p>
          <a:p>
            <a:r>
              <a:rPr lang="en-US" sz="800" dirty="0"/>
              <a:t>      addresses:</a:t>
            </a:r>
          </a:p>
          <a:p>
            <a:r>
              <a:rPr lang="en-US" sz="800" dirty="0"/>
              <a:t>        - 192.168.1.23/24</a:t>
            </a:r>
          </a:p>
          <a:p>
            <a:r>
              <a:rPr lang="en-US" sz="800" dirty="0"/>
              <a:t>      gateway4: 192.168.1.1</a:t>
            </a:r>
          </a:p>
          <a:p>
            <a:r>
              <a:rPr lang="en-US" sz="800" dirty="0"/>
              <a:t>      </a:t>
            </a:r>
            <a:r>
              <a:rPr lang="en-US" sz="800" dirty="0" err="1"/>
              <a:t>nameservers</a:t>
            </a:r>
            <a:r>
              <a:rPr lang="en-US" sz="800" dirty="0"/>
              <a:t>: </a:t>
            </a:r>
          </a:p>
          <a:p>
            <a:r>
              <a:rPr lang="en-US" sz="800" dirty="0"/>
              <a:t>        addresses: </a:t>
            </a:r>
          </a:p>
          <a:p>
            <a:r>
              <a:rPr lang="en-US" sz="800" dirty="0"/>
              <a:t>          - 8.8.8.8</a:t>
            </a:r>
          </a:p>
          <a:p>
            <a:r>
              <a:rPr lang="en-US" sz="800" dirty="0"/>
              <a:t>          - 8.8.4.4</a:t>
            </a:r>
          </a:p>
          <a:p>
            <a:r>
              <a:rPr lang="en-US" sz="800" dirty="0"/>
              <a:t>    eno2:</a:t>
            </a:r>
          </a:p>
          <a:p>
            <a:r>
              <a:rPr lang="en-US" sz="800" dirty="0"/>
              <a:t>      dhcp4: false</a:t>
            </a:r>
          </a:p>
          <a:p>
            <a:r>
              <a:rPr lang="en-US" sz="800" dirty="0"/>
              <a:t>      link-local: []</a:t>
            </a:r>
          </a:p>
          <a:p>
            <a:r>
              <a:rPr lang="en-US" sz="800" dirty="0"/>
              <a:t>      match:</a:t>
            </a:r>
          </a:p>
          <a:p>
            <a:r>
              <a:rPr lang="en-US" sz="800" dirty="0"/>
              <a:t>        </a:t>
            </a:r>
            <a:r>
              <a:rPr lang="en-US" sz="800" dirty="0" err="1"/>
              <a:t>macaddress</a:t>
            </a:r>
            <a:r>
              <a:rPr lang="en-US" sz="800" dirty="0"/>
              <a:t>: f8:e4:3b:87:00:1f</a:t>
            </a:r>
          </a:p>
          <a:p>
            <a:r>
              <a:rPr lang="en-US" sz="800" dirty="0"/>
              <a:t>      set-name: eno2</a:t>
            </a:r>
          </a:p>
          <a:p>
            <a:r>
              <a:rPr lang="en-US" sz="800" dirty="0"/>
              <a:t>  version: 2</a:t>
            </a:r>
          </a:p>
        </p:txBody>
      </p:sp>
      <p:sp>
        <p:nvSpPr>
          <p:cNvPr id="23" name="Rectangle 22"/>
          <p:cNvSpPr/>
          <p:nvPr/>
        </p:nvSpPr>
        <p:spPr>
          <a:xfrm>
            <a:off x="6507786" y="767242"/>
            <a:ext cx="2226781" cy="461665"/>
          </a:xfrm>
          <a:prstGeom prst="rect">
            <a:avLst/>
          </a:prstGeom>
        </p:spPr>
        <p:txBody>
          <a:bodyPr wrap="square">
            <a:spAutoFit/>
          </a:bodyPr>
          <a:lstStyle/>
          <a:p>
            <a:r>
              <a:rPr lang="en-US" sz="1200" b="1" dirty="0">
                <a:solidFill>
                  <a:srgbClr val="002060"/>
                </a:solidFill>
              </a:rPr>
              <a:t>Add user to /</a:t>
            </a:r>
            <a:r>
              <a:rPr lang="en-US" sz="1200" b="1" dirty="0" err="1">
                <a:solidFill>
                  <a:srgbClr val="002060"/>
                </a:solidFill>
              </a:rPr>
              <a:t>etc</a:t>
            </a:r>
            <a:r>
              <a:rPr lang="en-US" sz="1200" b="1" dirty="0">
                <a:solidFill>
                  <a:srgbClr val="002060"/>
                </a:solidFill>
              </a:rPr>
              <a:t>/</a:t>
            </a:r>
            <a:r>
              <a:rPr lang="en-US" sz="1200" b="1" dirty="0" err="1">
                <a:solidFill>
                  <a:srgbClr val="002060"/>
                </a:solidFill>
              </a:rPr>
              <a:t>sudoers</a:t>
            </a:r>
            <a:r>
              <a:rPr lang="en-US" sz="1200" b="1" dirty="0">
                <a:solidFill>
                  <a:srgbClr val="002060"/>
                </a:solidFill>
              </a:rPr>
              <a:t> for no password </a:t>
            </a:r>
            <a:r>
              <a:rPr lang="en-US" sz="1200" b="1" dirty="0" err="1">
                <a:solidFill>
                  <a:srgbClr val="002060"/>
                </a:solidFill>
              </a:rPr>
              <a:t>sudo</a:t>
            </a:r>
            <a:endParaRPr lang="en-US" sz="1200" b="1" dirty="0">
              <a:solidFill>
                <a:srgbClr val="002060"/>
              </a:solidFill>
            </a:endParaRPr>
          </a:p>
        </p:txBody>
      </p:sp>
      <p:sp>
        <p:nvSpPr>
          <p:cNvPr id="24" name="Rectangle 23"/>
          <p:cNvSpPr/>
          <p:nvPr/>
        </p:nvSpPr>
        <p:spPr>
          <a:xfrm>
            <a:off x="6547508" y="1258522"/>
            <a:ext cx="2296241" cy="215444"/>
          </a:xfrm>
          <a:prstGeom prst="rect">
            <a:avLst/>
          </a:prstGeom>
        </p:spPr>
        <p:txBody>
          <a:bodyPr wrap="square">
            <a:spAutoFit/>
          </a:bodyPr>
          <a:lstStyle/>
          <a:p>
            <a:r>
              <a:rPr lang="en-US" sz="800" dirty="0" err="1"/>
              <a:t>ubuntu</a:t>
            </a:r>
            <a:r>
              <a:rPr lang="en-US" sz="800" dirty="0"/>
              <a:t> ALL=(ALL) NOPASSWD:ALL</a:t>
            </a:r>
          </a:p>
        </p:txBody>
      </p:sp>
      <p:sp>
        <p:nvSpPr>
          <p:cNvPr id="25" name="Rectangle 24"/>
          <p:cNvSpPr/>
          <p:nvPr/>
        </p:nvSpPr>
        <p:spPr>
          <a:xfrm>
            <a:off x="3735521" y="3808242"/>
            <a:ext cx="1960429" cy="338554"/>
          </a:xfrm>
          <a:prstGeom prst="rect">
            <a:avLst/>
          </a:prstGeom>
        </p:spPr>
        <p:txBody>
          <a:bodyPr wrap="square">
            <a:spAutoFit/>
          </a:bodyPr>
          <a:lstStyle/>
          <a:p>
            <a:r>
              <a:rPr lang="en-US" sz="800" dirty="0" smtClean="0"/>
              <a:t>ubuntu@GPU111</a:t>
            </a:r>
            <a:r>
              <a:rPr lang="en-US" sz="800" dirty="0"/>
              <a:t>:~$ </a:t>
            </a:r>
            <a:r>
              <a:rPr lang="en-US" sz="800" dirty="0" err="1"/>
              <a:t>sudo</a:t>
            </a:r>
            <a:r>
              <a:rPr lang="en-US" sz="800" dirty="0"/>
              <a:t> </a:t>
            </a:r>
            <a:r>
              <a:rPr lang="en-US" sz="800" dirty="0" err="1"/>
              <a:t>netplan</a:t>
            </a:r>
            <a:r>
              <a:rPr lang="en-US" sz="800" dirty="0"/>
              <a:t> </a:t>
            </a:r>
            <a:r>
              <a:rPr lang="en-US" sz="800" dirty="0" smtClean="0"/>
              <a:t>try</a:t>
            </a:r>
          </a:p>
          <a:p>
            <a:r>
              <a:rPr lang="en-US" sz="800" dirty="0" smtClean="0"/>
              <a:t>ubuntu@GPU111</a:t>
            </a:r>
            <a:r>
              <a:rPr lang="en-US" sz="800" dirty="0"/>
              <a:t>:~$ </a:t>
            </a:r>
            <a:r>
              <a:rPr lang="en-US" sz="800" dirty="0" err="1"/>
              <a:t>sudo</a:t>
            </a:r>
            <a:r>
              <a:rPr lang="en-US" sz="800" dirty="0"/>
              <a:t> </a:t>
            </a:r>
            <a:r>
              <a:rPr lang="en-US" sz="800" dirty="0" err="1"/>
              <a:t>netplan</a:t>
            </a:r>
            <a:r>
              <a:rPr lang="en-US" sz="800" dirty="0"/>
              <a:t> apply</a:t>
            </a:r>
          </a:p>
        </p:txBody>
      </p:sp>
      <p:sp>
        <p:nvSpPr>
          <p:cNvPr id="26" name="Rectangle 25"/>
          <p:cNvSpPr/>
          <p:nvPr/>
        </p:nvSpPr>
        <p:spPr>
          <a:xfrm>
            <a:off x="3754876" y="1103346"/>
            <a:ext cx="2683933" cy="268347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7" name="Rectangle 26"/>
          <p:cNvSpPr/>
          <p:nvPr/>
        </p:nvSpPr>
        <p:spPr>
          <a:xfrm>
            <a:off x="89954" y="1123212"/>
            <a:ext cx="3446915" cy="85703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8" name="Rectangle 27"/>
          <p:cNvSpPr/>
          <p:nvPr/>
        </p:nvSpPr>
        <p:spPr>
          <a:xfrm>
            <a:off x="89954" y="2480835"/>
            <a:ext cx="3446915" cy="37635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9" name="Rectangle 28"/>
          <p:cNvSpPr/>
          <p:nvPr/>
        </p:nvSpPr>
        <p:spPr>
          <a:xfrm>
            <a:off x="119187" y="4004593"/>
            <a:ext cx="3446915" cy="62046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0" name="Rectangle 29"/>
          <p:cNvSpPr/>
          <p:nvPr/>
        </p:nvSpPr>
        <p:spPr>
          <a:xfrm>
            <a:off x="3754877" y="3835791"/>
            <a:ext cx="2703074" cy="37635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1" name="Rectangle 30"/>
          <p:cNvSpPr/>
          <p:nvPr/>
        </p:nvSpPr>
        <p:spPr>
          <a:xfrm>
            <a:off x="3759330" y="4351764"/>
            <a:ext cx="2748456" cy="215444"/>
          </a:xfrm>
          <a:prstGeom prst="rect">
            <a:avLst/>
          </a:prstGeom>
        </p:spPr>
        <p:txBody>
          <a:bodyPr wrap="square">
            <a:spAutoFit/>
          </a:bodyPr>
          <a:lstStyle/>
          <a:p>
            <a:r>
              <a:rPr lang="en-US" sz="800" b="1" i="1" dirty="0"/>
              <a:t>NOTE</a:t>
            </a:r>
            <a:r>
              <a:rPr lang="en-US" sz="800" b="1" dirty="0"/>
              <a:t>:</a:t>
            </a:r>
            <a:r>
              <a:rPr lang="en-US" sz="800" dirty="0"/>
              <a:t> Do not configure IP address on eno2 interface.</a:t>
            </a:r>
          </a:p>
        </p:txBody>
      </p:sp>
      <p:sp>
        <p:nvSpPr>
          <p:cNvPr id="32" name="Rectangle 31"/>
          <p:cNvSpPr/>
          <p:nvPr/>
        </p:nvSpPr>
        <p:spPr>
          <a:xfrm>
            <a:off x="6620096" y="1245802"/>
            <a:ext cx="2332352" cy="20305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3" name="Rectangle 32"/>
          <p:cNvSpPr/>
          <p:nvPr/>
        </p:nvSpPr>
        <p:spPr>
          <a:xfrm>
            <a:off x="6620096" y="1586190"/>
            <a:ext cx="2523904" cy="338554"/>
          </a:xfrm>
          <a:prstGeom prst="rect">
            <a:avLst/>
          </a:prstGeom>
        </p:spPr>
        <p:txBody>
          <a:bodyPr wrap="square">
            <a:spAutoFit/>
          </a:bodyPr>
          <a:lstStyle/>
          <a:p>
            <a:r>
              <a:rPr lang="en-US" sz="800" b="1" dirty="0"/>
              <a:t>NOTE</a:t>
            </a:r>
            <a:r>
              <a:rPr lang="en-US" sz="800" dirty="0"/>
              <a:t>: Refer "Use local </a:t>
            </a:r>
            <a:r>
              <a:rPr lang="en-US" sz="800" dirty="0" err="1"/>
              <a:t>docker</a:t>
            </a:r>
            <a:r>
              <a:rPr lang="en-US" sz="800" dirty="0"/>
              <a:t> registry to deploy" section for using local registry</a:t>
            </a:r>
          </a:p>
        </p:txBody>
      </p:sp>
    </p:spTree>
    <p:extLst>
      <p:ext uri="{BB962C8B-B14F-4D97-AF65-F5344CB8AC3E}">
        <p14:creationId xmlns:p14="http://schemas.microsoft.com/office/powerpoint/2010/main" val="2929433134"/>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57</a:t>
            </a:fld>
            <a:endParaRPr lang="en-US" dirty="0"/>
          </a:p>
        </p:txBody>
      </p:sp>
      <p:sp>
        <p:nvSpPr>
          <p:cNvPr id="3" name="Rectangle 2"/>
          <p:cNvSpPr/>
          <p:nvPr/>
        </p:nvSpPr>
        <p:spPr>
          <a:xfrm>
            <a:off x="182524" y="3197347"/>
            <a:ext cx="1429302" cy="276999"/>
          </a:xfrm>
          <a:prstGeom prst="rect">
            <a:avLst/>
          </a:prstGeom>
        </p:spPr>
        <p:txBody>
          <a:bodyPr wrap="none">
            <a:spAutoFit/>
          </a:bodyPr>
          <a:lstStyle/>
          <a:p>
            <a:r>
              <a:rPr lang="en-US" sz="1200" b="1" dirty="0">
                <a:solidFill>
                  <a:srgbClr val="002060"/>
                </a:solidFill>
              </a:rPr>
              <a:t>Install </a:t>
            </a:r>
            <a:r>
              <a:rPr lang="en-US" sz="1200" b="1" dirty="0" err="1">
                <a:solidFill>
                  <a:srgbClr val="002060"/>
                </a:solidFill>
              </a:rPr>
              <a:t>Kolla-ansible</a:t>
            </a:r>
            <a:endParaRPr lang="en-US" sz="1200" b="1" dirty="0">
              <a:solidFill>
                <a:srgbClr val="002060"/>
              </a:solidFill>
            </a:endParaRPr>
          </a:p>
        </p:txBody>
      </p:sp>
      <p:sp>
        <p:nvSpPr>
          <p:cNvPr id="10" name="Rectangle 9"/>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11" name="Rectangle 10"/>
          <p:cNvSpPr/>
          <p:nvPr/>
        </p:nvSpPr>
        <p:spPr>
          <a:xfrm>
            <a:off x="74942" y="746397"/>
            <a:ext cx="2576475" cy="646331"/>
          </a:xfrm>
          <a:prstGeom prst="rect">
            <a:avLst/>
          </a:prstGeom>
        </p:spPr>
        <p:txBody>
          <a:bodyPr wrap="none">
            <a:spAutoFit/>
          </a:bodyPr>
          <a:lstStyle/>
          <a:p>
            <a:r>
              <a:rPr lang="en-US" sz="1200" b="1" dirty="0">
                <a:solidFill>
                  <a:srgbClr val="002060"/>
                </a:solidFill>
              </a:rPr>
              <a:t>1. Setup </a:t>
            </a:r>
            <a:r>
              <a:rPr lang="en-US" sz="1200" b="1" dirty="0" err="1">
                <a:solidFill>
                  <a:srgbClr val="002060"/>
                </a:solidFill>
              </a:rPr>
              <a:t>kolla</a:t>
            </a:r>
            <a:r>
              <a:rPr lang="en-US" sz="1200" b="1" dirty="0">
                <a:solidFill>
                  <a:srgbClr val="002060"/>
                </a:solidFill>
              </a:rPr>
              <a:t> </a:t>
            </a:r>
            <a:r>
              <a:rPr lang="en-US" sz="1200" b="1" dirty="0" err="1">
                <a:solidFill>
                  <a:srgbClr val="002060"/>
                </a:solidFill>
              </a:rPr>
              <a:t>ansible</a:t>
            </a:r>
            <a:r>
              <a:rPr lang="en-US" sz="1200" b="1" dirty="0">
                <a:solidFill>
                  <a:srgbClr val="002060"/>
                </a:solidFill>
              </a:rPr>
              <a:t> on deploy node</a:t>
            </a:r>
          </a:p>
          <a:p>
            <a:r>
              <a:rPr lang="en-US" sz="1200" dirty="0"/>
              <a:t>Install dependency packages </a:t>
            </a:r>
            <a:r>
              <a:rPr lang="en-US" sz="1200" dirty="0" smtClean="0"/>
              <a:t>on</a:t>
            </a:r>
          </a:p>
          <a:p>
            <a:endParaRPr lang="en-US" sz="1200" dirty="0"/>
          </a:p>
        </p:txBody>
      </p:sp>
      <p:sp>
        <p:nvSpPr>
          <p:cNvPr id="14" name="Rectangle 13"/>
          <p:cNvSpPr/>
          <p:nvPr/>
        </p:nvSpPr>
        <p:spPr>
          <a:xfrm>
            <a:off x="92483" y="1181147"/>
            <a:ext cx="3265033" cy="338554"/>
          </a:xfrm>
          <a:prstGeom prst="rect">
            <a:avLst/>
          </a:prstGeom>
        </p:spPr>
        <p:txBody>
          <a:bodyPr wrap="square">
            <a:spAutoFit/>
          </a:bodyPr>
          <a:lstStyle/>
          <a:p>
            <a:r>
              <a:rPr lang="en-US" sz="800" dirty="0" smtClean="0"/>
              <a:t>amel@GPU10</a:t>
            </a:r>
            <a:r>
              <a:rPr lang="en-US" sz="800" dirty="0"/>
              <a:t>:~$ </a:t>
            </a:r>
            <a:r>
              <a:rPr lang="en-US" sz="800" dirty="0" err="1"/>
              <a:t>sudo</a:t>
            </a:r>
            <a:r>
              <a:rPr lang="en-US" sz="800" dirty="0"/>
              <a:t> apt update -y </a:t>
            </a:r>
            <a:endParaRPr lang="en-US" sz="800" dirty="0" smtClean="0"/>
          </a:p>
          <a:p>
            <a:r>
              <a:rPr lang="en-US" sz="800" dirty="0" smtClean="0"/>
              <a:t>amel@GPU10</a:t>
            </a:r>
            <a:r>
              <a:rPr lang="en-US" sz="800" dirty="0"/>
              <a:t>:~$ </a:t>
            </a:r>
            <a:r>
              <a:rPr lang="en-US" sz="800" dirty="0" err="1"/>
              <a:t>sudo</a:t>
            </a:r>
            <a:r>
              <a:rPr lang="en-US" sz="800" dirty="0"/>
              <a:t> apt install python3-dev </a:t>
            </a:r>
            <a:r>
              <a:rPr lang="en-US" sz="800" dirty="0" err="1"/>
              <a:t>libffi</a:t>
            </a:r>
            <a:r>
              <a:rPr lang="en-US" sz="800" dirty="0"/>
              <a:t>-dev </a:t>
            </a:r>
            <a:r>
              <a:rPr lang="en-US" sz="800" dirty="0" err="1"/>
              <a:t>gcc</a:t>
            </a:r>
            <a:r>
              <a:rPr lang="en-US" sz="800" dirty="0"/>
              <a:t> </a:t>
            </a:r>
            <a:r>
              <a:rPr lang="en-US" sz="800" dirty="0" err="1"/>
              <a:t>libssl</a:t>
            </a:r>
            <a:r>
              <a:rPr lang="en-US" sz="800" dirty="0"/>
              <a:t>-dev -y</a:t>
            </a:r>
          </a:p>
        </p:txBody>
      </p:sp>
      <p:sp>
        <p:nvSpPr>
          <p:cNvPr id="17" name="Rectangle 16"/>
          <p:cNvSpPr/>
          <p:nvPr/>
        </p:nvSpPr>
        <p:spPr>
          <a:xfrm>
            <a:off x="191229" y="3411990"/>
            <a:ext cx="3605846" cy="338554"/>
          </a:xfrm>
          <a:prstGeom prst="rect">
            <a:avLst/>
          </a:prstGeom>
        </p:spPr>
        <p:txBody>
          <a:bodyPr wrap="square">
            <a:spAutoFit/>
          </a:bodyPr>
          <a:lstStyle/>
          <a:p>
            <a:r>
              <a:rPr lang="en-US" sz="800" dirty="0"/>
              <a:t>(</a:t>
            </a:r>
            <a:r>
              <a:rPr lang="en-US" sz="800" dirty="0" err="1"/>
              <a:t>kolla-ansible-venv</a:t>
            </a:r>
            <a:r>
              <a:rPr lang="en-US" sz="800" dirty="0"/>
              <a:t>) </a:t>
            </a:r>
            <a:r>
              <a:rPr lang="en-US" sz="800" dirty="0" smtClean="0"/>
              <a:t>amel@GPU10</a:t>
            </a:r>
            <a:r>
              <a:rPr lang="en-US" sz="800" dirty="0"/>
              <a:t>:~$ pip install </a:t>
            </a:r>
            <a:r>
              <a:rPr lang="en-US" sz="800" dirty="0" err="1"/>
              <a:t>git+https</a:t>
            </a:r>
            <a:r>
              <a:rPr lang="en-US" sz="800" dirty="0"/>
              <a:t>://opendev.org/</a:t>
            </a:r>
            <a:r>
              <a:rPr lang="en-US" sz="800" dirty="0" err="1"/>
              <a:t>openstack</a:t>
            </a:r>
            <a:r>
              <a:rPr lang="en-US" sz="800" dirty="0"/>
              <a:t>/</a:t>
            </a:r>
            <a:r>
              <a:rPr lang="en-US" sz="800" dirty="0" err="1"/>
              <a:t>kolla-ansible@master</a:t>
            </a:r>
            <a:endParaRPr lang="en-US" sz="800" dirty="0"/>
          </a:p>
        </p:txBody>
      </p:sp>
      <p:sp>
        <p:nvSpPr>
          <p:cNvPr id="20" name="Rectangle 19"/>
          <p:cNvSpPr/>
          <p:nvPr/>
        </p:nvSpPr>
        <p:spPr>
          <a:xfrm>
            <a:off x="3629040" y="1580980"/>
            <a:ext cx="2574166" cy="276999"/>
          </a:xfrm>
          <a:prstGeom prst="rect">
            <a:avLst/>
          </a:prstGeom>
        </p:spPr>
        <p:txBody>
          <a:bodyPr wrap="square">
            <a:spAutoFit/>
          </a:bodyPr>
          <a:lstStyle/>
          <a:p>
            <a:r>
              <a:rPr lang="en-US" sz="1200" b="1" dirty="0">
                <a:solidFill>
                  <a:srgbClr val="002060"/>
                </a:solidFill>
              </a:rPr>
              <a:t>Install </a:t>
            </a:r>
            <a:r>
              <a:rPr lang="en-US" sz="1200" b="1" dirty="0" err="1">
                <a:solidFill>
                  <a:srgbClr val="002060"/>
                </a:solidFill>
              </a:rPr>
              <a:t>Ansible</a:t>
            </a:r>
            <a:r>
              <a:rPr lang="en-US" sz="1200" b="1" dirty="0">
                <a:solidFill>
                  <a:srgbClr val="002060"/>
                </a:solidFill>
              </a:rPr>
              <a:t> Galaxy requirements</a:t>
            </a:r>
          </a:p>
        </p:txBody>
      </p:sp>
      <p:sp>
        <p:nvSpPr>
          <p:cNvPr id="21" name="Rectangle 20"/>
          <p:cNvSpPr/>
          <p:nvPr/>
        </p:nvSpPr>
        <p:spPr>
          <a:xfrm>
            <a:off x="3573589" y="759673"/>
            <a:ext cx="5619750" cy="338554"/>
          </a:xfrm>
          <a:prstGeom prst="rect">
            <a:avLst/>
          </a:prstGeom>
        </p:spPr>
        <p:txBody>
          <a:bodyPr wrap="square">
            <a:spAutoFit/>
          </a:bodyPr>
          <a:lstStyle/>
          <a:p>
            <a:r>
              <a:rPr lang="en-US" sz="800" dirty="0"/>
              <a:t>(</a:t>
            </a:r>
            <a:r>
              <a:rPr lang="en-US" sz="800" dirty="0" err="1"/>
              <a:t>kolla-ansible-venv</a:t>
            </a:r>
            <a:r>
              <a:rPr lang="en-US" sz="800" dirty="0"/>
              <a:t>) </a:t>
            </a:r>
            <a:r>
              <a:rPr lang="en-US" sz="800" dirty="0" smtClean="0"/>
              <a:t>amel@GPU10</a:t>
            </a:r>
            <a:r>
              <a:rPr lang="en-US" sz="800" dirty="0"/>
              <a:t>:~$ </a:t>
            </a:r>
            <a:r>
              <a:rPr lang="en-US" sz="800" dirty="0" err="1"/>
              <a:t>cp</a:t>
            </a:r>
            <a:r>
              <a:rPr lang="en-US" sz="800" dirty="0"/>
              <a:t> -r ~/Data/</a:t>
            </a:r>
            <a:r>
              <a:rPr lang="en-US" sz="800" dirty="0" err="1"/>
              <a:t>kolla-ansible-venv</a:t>
            </a:r>
            <a:r>
              <a:rPr lang="en-US" sz="800" dirty="0"/>
              <a:t>/share/</a:t>
            </a:r>
            <a:r>
              <a:rPr lang="en-US" sz="800" dirty="0" err="1"/>
              <a:t>kolla-ansible</a:t>
            </a:r>
            <a:r>
              <a:rPr lang="en-US" sz="800" dirty="0"/>
              <a:t>/</a:t>
            </a:r>
            <a:r>
              <a:rPr lang="en-US" sz="800" dirty="0" err="1"/>
              <a:t>etc_examples</a:t>
            </a:r>
            <a:r>
              <a:rPr lang="en-US" sz="800" dirty="0"/>
              <a:t>//</a:t>
            </a:r>
            <a:r>
              <a:rPr lang="en-US" sz="800" dirty="0" err="1"/>
              <a:t>kolla</a:t>
            </a:r>
            <a:r>
              <a:rPr lang="en-US" sz="800" dirty="0"/>
              <a:t>/* /</a:t>
            </a:r>
            <a:r>
              <a:rPr lang="en-US" sz="800" dirty="0" err="1"/>
              <a:t>etc</a:t>
            </a:r>
            <a:r>
              <a:rPr lang="en-US" sz="800" dirty="0"/>
              <a:t>/</a:t>
            </a:r>
            <a:r>
              <a:rPr lang="en-US" sz="800" dirty="0" err="1"/>
              <a:t>kolla</a:t>
            </a:r>
            <a:r>
              <a:rPr lang="en-US" sz="800" dirty="0"/>
              <a:t>/</a:t>
            </a:r>
          </a:p>
          <a:p>
            <a:r>
              <a:rPr lang="en-US" sz="800" dirty="0"/>
              <a:t>(</a:t>
            </a:r>
            <a:r>
              <a:rPr lang="en-US" sz="800" dirty="0" err="1"/>
              <a:t>kolla-ansible-venv</a:t>
            </a:r>
            <a:r>
              <a:rPr lang="en-US" sz="800" dirty="0"/>
              <a:t>) </a:t>
            </a:r>
            <a:r>
              <a:rPr lang="en-US" sz="800" dirty="0" smtClean="0"/>
              <a:t>amel@GPU10</a:t>
            </a:r>
            <a:r>
              <a:rPr lang="en-US" sz="800" dirty="0"/>
              <a:t>:~$ </a:t>
            </a:r>
            <a:r>
              <a:rPr lang="en-US" sz="800" dirty="0" err="1"/>
              <a:t>cp</a:t>
            </a:r>
            <a:r>
              <a:rPr lang="en-US" sz="800" dirty="0"/>
              <a:t> ~/Data/</a:t>
            </a:r>
            <a:r>
              <a:rPr lang="en-US" sz="800" dirty="0" err="1"/>
              <a:t>kolla-ansible-venv</a:t>
            </a:r>
            <a:r>
              <a:rPr lang="en-US" sz="800" dirty="0"/>
              <a:t>/share/</a:t>
            </a:r>
            <a:r>
              <a:rPr lang="en-US" sz="800" dirty="0" err="1"/>
              <a:t>kolla-ansible</a:t>
            </a:r>
            <a:r>
              <a:rPr lang="en-US" sz="800" dirty="0"/>
              <a:t>/</a:t>
            </a:r>
            <a:r>
              <a:rPr lang="en-US" sz="800" dirty="0" err="1"/>
              <a:t>ansible</a:t>
            </a:r>
            <a:r>
              <a:rPr lang="en-US" sz="800" dirty="0"/>
              <a:t>/inventory/</a:t>
            </a:r>
            <a:r>
              <a:rPr lang="en-US" sz="800" dirty="0" err="1"/>
              <a:t>multinode</a:t>
            </a:r>
            <a:r>
              <a:rPr lang="en-US" sz="800" dirty="0"/>
              <a:t> /</a:t>
            </a:r>
            <a:r>
              <a:rPr lang="en-US" sz="800" dirty="0" err="1"/>
              <a:t>etc</a:t>
            </a:r>
            <a:r>
              <a:rPr lang="en-US" sz="800" dirty="0"/>
              <a:t>/</a:t>
            </a:r>
            <a:r>
              <a:rPr lang="en-US" sz="800" dirty="0" err="1"/>
              <a:t>kolla</a:t>
            </a:r>
            <a:r>
              <a:rPr lang="en-US" sz="800" dirty="0"/>
              <a:t>/</a:t>
            </a:r>
          </a:p>
        </p:txBody>
      </p:sp>
      <p:sp>
        <p:nvSpPr>
          <p:cNvPr id="25" name="Rectangle 24"/>
          <p:cNvSpPr/>
          <p:nvPr/>
        </p:nvSpPr>
        <p:spPr>
          <a:xfrm>
            <a:off x="3618338" y="1806692"/>
            <a:ext cx="5449462" cy="2308324"/>
          </a:xfrm>
          <a:prstGeom prst="rect">
            <a:avLst/>
          </a:prstGeom>
        </p:spPr>
        <p:txBody>
          <a:bodyPr wrap="square">
            <a:spAutoFit/>
          </a:bodyPr>
          <a:lstStyle/>
          <a:p>
            <a:r>
              <a:rPr lang="en-US" sz="800" dirty="0"/>
              <a:t>(</a:t>
            </a:r>
            <a:r>
              <a:rPr lang="en-US" sz="800" dirty="0" err="1"/>
              <a:t>kolla-ansible-venv</a:t>
            </a:r>
            <a:r>
              <a:rPr lang="en-US" sz="800" dirty="0"/>
              <a:t>) </a:t>
            </a:r>
            <a:r>
              <a:rPr lang="en-US" sz="800" dirty="0" smtClean="0"/>
              <a:t>amel@GPU10</a:t>
            </a:r>
            <a:r>
              <a:rPr lang="en-US" sz="800" dirty="0"/>
              <a:t>:~$ </a:t>
            </a:r>
            <a:r>
              <a:rPr lang="en-US" sz="800" dirty="0" err="1"/>
              <a:t>kolla-ansible</a:t>
            </a:r>
            <a:r>
              <a:rPr lang="en-US" sz="800" dirty="0"/>
              <a:t> install-deps</a:t>
            </a:r>
          </a:p>
          <a:p>
            <a:r>
              <a:rPr lang="en-US" sz="800" dirty="0"/>
              <a:t>Installing </a:t>
            </a:r>
            <a:r>
              <a:rPr lang="en-US" sz="800" dirty="0" err="1"/>
              <a:t>Ansible</a:t>
            </a:r>
            <a:r>
              <a:rPr lang="en-US" sz="800" dirty="0"/>
              <a:t> Galaxy dependencies</a:t>
            </a:r>
          </a:p>
          <a:p>
            <a:r>
              <a:rPr lang="en-US" sz="800" dirty="0"/>
              <a:t>Starting galaxy collection install process</a:t>
            </a:r>
          </a:p>
          <a:p>
            <a:r>
              <a:rPr lang="en-US" sz="800" dirty="0"/>
              <a:t>Process install dependency map</a:t>
            </a:r>
          </a:p>
          <a:p>
            <a:r>
              <a:rPr lang="en-US" sz="800" dirty="0"/>
              <a:t>Cloning into '/</a:t>
            </a:r>
            <a:r>
              <a:rPr lang="en-US" sz="800" dirty="0" smtClean="0"/>
              <a:t>home/</a:t>
            </a:r>
            <a:r>
              <a:rPr lang="en-US" sz="800" dirty="0" err="1" smtClean="0"/>
              <a:t>amel</a:t>
            </a:r>
            <a:r>
              <a:rPr lang="en-US" sz="800" dirty="0" smtClean="0"/>
              <a:t>/.</a:t>
            </a:r>
            <a:r>
              <a:rPr lang="en-US" sz="800" dirty="0" err="1"/>
              <a:t>ansible</a:t>
            </a:r>
            <a:r>
              <a:rPr lang="en-US" sz="800" dirty="0"/>
              <a:t>/</a:t>
            </a:r>
            <a:r>
              <a:rPr lang="en-US" sz="800" dirty="0" err="1"/>
              <a:t>tmp</a:t>
            </a:r>
            <a:r>
              <a:rPr lang="en-US" sz="800" dirty="0"/>
              <a:t>/ansible-local-111805_n2pn0om/tmp5syatw1g/ansible-collection-kolla9pniyzg2'...</a:t>
            </a:r>
          </a:p>
          <a:p>
            <a:r>
              <a:rPr lang="en-US" sz="800" dirty="0"/>
              <a:t>remote: Enumerating objects: 150, done.</a:t>
            </a:r>
          </a:p>
          <a:p>
            <a:r>
              <a:rPr lang="en-US" sz="800" dirty="0"/>
              <a:t>remote: Counting objects: 100% (150/150), done.</a:t>
            </a:r>
          </a:p>
          <a:p>
            <a:r>
              <a:rPr lang="en-US" sz="800" dirty="0"/>
              <a:t>remote: Compressing objects: 100% (97/97), done.</a:t>
            </a:r>
          </a:p>
          <a:p>
            <a:r>
              <a:rPr lang="en-US" sz="800" dirty="0"/>
              <a:t>remote: Total 409 (delta 120), reused 53 (delta 53), pack-reused 259</a:t>
            </a:r>
          </a:p>
          <a:p>
            <a:r>
              <a:rPr lang="en-US" sz="800" dirty="0"/>
              <a:t>Receiving objects: 100% (409/409), 79.20 KiB | 477.00 KiB/s, done.</a:t>
            </a:r>
          </a:p>
          <a:p>
            <a:r>
              <a:rPr lang="en-US" sz="800" dirty="0"/>
              <a:t>Resolving deltas: 100% (159/159), done.</a:t>
            </a:r>
          </a:p>
          <a:p>
            <a:r>
              <a:rPr lang="en-US" sz="800" dirty="0"/>
              <a:t>Already on 'master'</a:t>
            </a:r>
          </a:p>
          <a:p>
            <a:r>
              <a:rPr lang="en-US" sz="800" dirty="0"/>
              <a:t>Your branch is up to date with 'origin/master'.</a:t>
            </a:r>
          </a:p>
          <a:p>
            <a:r>
              <a:rPr lang="en-US" sz="800" dirty="0"/>
              <a:t>Starting collection install process</a:t>
            </a:r>
          </a:p>
          <a:p>
            <a:r>
              <a:rPr lang="en-US" sz="800" dirty="0"/>
              <a:t>Installing 'openstack.kolla:1.0.0' to '/</a:t>
            </a:r>
            <a:r>
              <a:rPr lang="en-US" sz="800" dirty="0" smtClean="0"/>
              <a:t>home/</a:t>
            </a:r>
            <a:r>
              <a:rPr lang="en-US" sz="800" dirty="0" err="1" smtClean="0"/>
              <a:t>amel</a:t>
            </a:r>
            <a:r>
              <a:rPr lang="en-US" sz="800" dirty="0" smtClean="0"/>
              <a:t>/.</a:t>
            </a:r>
            <a:r>
              <a:rPr lang="en-US" sz="800" dirty="0" err="1"/>
              <a:t>ansible</a:t>
            </a:r>
            <a:r>
              <a:rPr lang="en-US" sz="800" dirty="0"/>
              <a:t>/collections/</a:t>
            </a:r>
            <a:r>
              <a:rPr lang="en-US" sz="800" dirty="0" err="1"/>
              <a:t>ansible_collections</a:t>
            </a:r>
            <a:r>
              <a:rPr lang="en-US" sz="800" dirty="0"/>
              <a:t>/</a:t>
            </a:r>
            <a:r>
              <a:rPr lang="en-US" sz="800" dirty="0" err="1"/>
              <a:t>openstack</a:t>
            </a:r>
            <a:r>
              <a:rPr lang="en-US" sz="800" dirty="0"/>
              <a:t>/</a:t>
            </a:r>
            <a:r>
              <a:rPr lang="en-US" sz="800" dirty="0" err="1"/>
              <a:t>kolla</a:t>
            </a:r>
            <a:r>
              <a:rPr lang="en-US" sz="800" dirty="0"/>
              <a:t>'</a:t>
            </a:r>
          </a:p>
          <a:p>
            <a:r>
              <a:rPr lang="en-US" sz="800" dirty="0"/>
              <a:t>Created collection for openstack.kolla:1.0.0 at /</a:t>
            </a:r>
            <a:r>
              <a:rPr lang="en-US" sz="800" dirty="0" smtClean="0"/>
              <a:t>home/</a:t>
            </a:r>
            <a:r>
              <a:rPr lang="en-US" sz="800" dirty="0" err="1" smtClean="0"/>
              <a:t>amel</a:t>
            </a:r>
            <a:r>
              <a:rPr lang="en-US" sz="800" dirty="0" smtClean="0"/>
              <a:t>/.</a:t>
            </a:r>
            <a:r>
              <a:rPr lang="en-US" sz="800" dirty="0" err="1"/>
              <a:t>ansible</a:t>
            </a:r>
            <a:r>
              <a:rPr lang="en-US" sz="800" dirty="0"/>
              <a:t>/collections/</a:t>
            </a:r>
            <a:r>
              <a:rPr lang="en-US" sz="800" dirty="0" err="1"/>
              <a:t>ansible_collections</a:t>
            </a:r>
            <a:r>
              <a:rPr lang="en-US" sz="800" dirty="0"/>
              <a:t>/</a:t>
            </a:r>
            <a:r>
              <a:rPr lang="en-US" sz="800" dirty="0" err="1"/>
              <a:t>openstack</a:t>
            </a:r>
            <a:r>
              <a:rPr lang="en-US" sz="800" dirty="0"/>
              <a:t>/</a:t>
            </a:r>
            <a:r>
              <a:rPr lang="en-US" sz="800" dirty="0" err="1"/>
              <a:t>kolla</a:t>
            </a:r>
            <a:endParaRPr lang="en-US" sz="800" dirty="0"/>
          </a:p>
          <a:p>
            <a:r>
              <a:rPr lang="en-US" sz="800" dirty="0"/>
              <a:t>openstack.kolla:1.0.0 was installed successfully</a:t>
            </a:r>
          </a:p>
          <a:p>
            <a:r>
              <a:rPr lang="en-US" sz="800" dirty="0"/>
              <a:t>(</a:t>
            </a:r>
            <a:r>
              <a:rPr lang="en-US" sz="800" dirty="0" err="1"/>
              <a:t>kolla-ansible-venv</a:t>
            </a:r>
            <a:r>
              <a:rPr lang="en-US" sz="800" dirty="0"/>
              <a:t>) </a:t>
            </a:r>
            <a:r>
              <a:rPr lang="en-US" sz="800" dirty="0" smtClean="0"/>
              <a:t>amel@GPU10</a:t>
            </a:r>
            <a:r>
              <a:rPr lang="en-US" sz="800" dirty="0"/>
              <a:t>:~$ </a:t>
            </a:r>
          </a:p>
        </p:txBody>
      </p:sp>
      <p:sp>
        <p:nvSpPr>
          <p:cNvPr id="26" name="Rectangle 25"/>
          <p:cNvSpPr/>
          <p:nvPr/>
        </p:nvSpPr>
        <p:spPr>
          <a:xfrm>
            <a:off x="3618338" y="776469"/>
            <a:ext cx="5449462" cy="35950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7" name="Rectangle 26"/>
          <p:cNvSpPr/>
          <p:nvPr/>
        </p:nvSpPr>
        <p:spPr>
          <a:xfrm>
            <a:off x="126674" y="1190382"/>
            <a:ext cx="3446915" cy="36022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8" name="Rectangle 27"/>
          <p:cNvSpPr/>
          <p:nvPr/>
        </p:nvSpPr>
        <p:spPr>
          <a:xfrm>
            <a:off x="169397" y="1899977"/>
            <a:ext cx="3446915" cy="13488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9" name="Rectangle 28"/>
          <p:cNvSpPr/>
          <p:nvPr/>
        </p:nvSpPr>
        <p:spPr>
          <a:xfrm>
            <a:off x="169396" y="3433821"/>
            <a:ext cx="3446915" cy="31672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0" name="Rectangle 29"/>
          <p:cNvSpPr/>
          <p:nvPr/>
        </p:nvSpPr>
        <p:spPr>
          <a:xfrm>
            <a:off x="3685288" y="1857979"/>
            <a:ext cx="5382511" cy="225703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4" name="Rectangle 33"/>
          <p:cNvSpPr/>
          <p:nvPr/>
        </p:nvSpPr>
        <p:spPr>
          <a:xfrm>
            <a:off x="119187" y="1593323"/>
            <a:ext cx="3439403" cy="276999"/>
          </a:xfrm>
          <a:prstGeom prst="rect">
            <a:avLst/>
          </a:prstGeom>
        </p:spPr>
        <p:txBody>
          <a:bodyPr wrap="none">
            <a:spAutoFit/>
          </a:bodyPr>
          <a:lstStyle/>
          <a:p>
            <a:r>
              <a:rPr lang="en-US" sz="1200" b="1" dirty="0">
                <a:solidFill>
                  <a:srgbClr val="002060"/>
                </a:solidFill>
              </a:rPr>
              <a:t>Install python virtual environment for </a:t>
            </a:r>
            <a:r>
              <a:rPr lang="en-US" sz="1200" b="1" dirty="0" err="1">
                <a:solidFill>
                  <a:srgbClr val="002060"/>
                </a:solidFill>
              </a:rPr>
              <a:t>kolla-ansible</a:t>
            </a:r>
            <a:endParaRPr lang="en-US" sz="1200" b="1" dirty="0">
              <a:solidFill>
                <a:srgbClr val="002060"/>
              </a:solidFill>
            </a:endParaRPr>
          </a:p>
        </p:txBody>
      </p:sp>
      <p:sp>
        <p:nvSpPr>
          <p:cNvPr id="35" name="Rectangle 34"/>
          <p:cNvSpPr/>
          <p:nvPr/>
        </p:nvSpPr>
        <p:spPr>
          <a:xfrm>
            <a:off x="129170" y="1862236"/>
            <a:ext cx="3605846" cy="1446550"/>
          </a:xfrm>
          <a:prstGeom prst="rect">
            <a:avLst/>
          </a:prstGeom>
        </p:spPr>
        <p:txBody>
          <a:bodyPr wrap="square">
            <a:spAutoFit/>
          </a:bodyPr>
          <a:lstStyle/>
          <a:p>
            <a:r>
              <a:rPr lang="es-ES" sz="800" dirty="0" smtClean="0"/>
              <a:t>amel@GPU10</a:t>
            </a:r>
            <a:r>
              <a:rPr lang="es-ES" sz="800" dirty="0"/>
              <a:t>:~$ sudo </a:t>
            </a:r>
            <a:r>
              <a:rPr lang="es-ES" sz="800" dirty="0" err="1"/>
              <a:t>apt</a:t>
            </a:r>
            <a:r>
              <a:rPr lang="es-ES" sz="800" dirty="0"/>
              <a:t> </a:t>
            </a:r>
            <a:r>
              <a:rPr lang="es-ES" sz="800" dirty="0" err="1"/>
              <a:t>install</a:t>
            </a:r>
            <a:r>
              <a:rPr lang="es-ES" sz="800" dirty="0"/>
              <a:t> python3-venv </a:t>
            </a:r>
            <a:r>
              <a:rPr lang="es-ES" sz="800" dirty="0" smtClean="0"/>
              <a:t>–y</a:t>
            </a:r>
          </a:p>
          <a:p>
            <a:endParaRPr lang="es-ES" sz="800" dirty="0"/>
          </a:p>
          <a:p>
            <a:r>
              <a:rPr lang="en-US" sz="800" dirty="0" smtClean="0"/>
              <a:t>amel@GPU10</a:t>
            </a:r>
            <a:r>
              <a:rPr lang="en-US" sz="800" dirty="0"/>
              <a:t>:~$ python3 -m </a:t>
            </a:r>
            <a:r>
              <a:rPr lang="en-US" sz="800" dirty="0" err="1"/>
              <a:t>venv</a:t>
            </a:r>
            <a:r>
              <a:rPr lang="en-US" sz="800" dirty="0"/>
              <a:t> ~/</a:t>
            </a:r>
            <a:r>
              <a:rPr lang="en-US" sz="800" dirty="0" smtClean="0"/>
              <a:t>Data/</a:t>
            </a:r>
            <a:r>
              <a:rPr lang="en-US" sz="800" dirty="0" err="1" smtClean="0"/>
              <a:t>kolla-ansible-venv</a:t>
            </a:r>
            <a:endParaRPr lang="en-US" sz="800" dirty="0" smtClean="0"/>
          </a:p>
          <a:p>
            <a:endParaRPr lang="en-US" sz="800" dirty="0"/>
          </a:p>
          <a:p>
            <a:r>
              <a:rPr lang="en-US" sz="800" dirty="0" smtClean="0"/>
              <a:t>amel@GPU10</a:t>
            </a:r>
            <a:r>
              <a:rPr lang="en-US" sz="800" dirty="0"/>
              <a:t>:~$ source ~/Data/</a:t>
            </a:r>
            <a:r>
              <a:rPr lang="en-US" sz="800" dirty="0" err="1"/>
              <a:t>kolla-ansible-venv</a:t>
            </a:r>
            <a:r>
              <a:rPr lang="en-US" sz="800" dirty="0"/>
              <a:t>/bin/activate (</a:t>
            </a:r>
            <a:r>
              <a:rPr lang="en-US" sz="800" dirty="0" err="1"/>
              <a:t>kolla-ansible-venv</a:t>
            </a:r>
            <a:r>
              <a:rPr lang="en-US" sz="800" dirty="0"/>
              <a:t>) </a:t>
            </a:r>
            <a:r>
              <a:rPr lang="en-US" sz="800" dirty="0" smtClean="0"/>
              <a:t>amel@GPU10:~$</a:t>
            </a:r>
          </a:p>
          <a:p>
            <a:endParaRPr lang="en-US" sz="800" dirty="0"/>
          </a:p>
          <a:p>
            <a:r>
              <a:rPr lang="en-US" sz="800" dirty="0"/>
              <a:t>(</a:t>
            </a:r>
            <a:r>
              <a:rPr lang="en-US" sz="800" dirty="0" err="1"/>
              <a:t>kolla-ansible-venv</a:t>
            </a:r>
            <a:r>
              <a:rPr lang="en-US" sz="800" dirty="0"/>
              <a:t>) </a:t>
            </a:r>
            <a:r>
              <a:rPr lang="en-US" sz="800" dirty="0" smtClean="0"/>
              <a:t>amel@GPU10</a:t>
            </a:r>
            <a:r>
              <a:rPr lang="en-US" sz="800" dirty="0"/>
              <a:t>:~$ pip install -U </a:t>
            </a:r>
            <a:r>
              <a:rPr lang="en-US" sz="800" dirty="0" smtClean="0"/>
              <a:t>pip</a:t>
            </a:r>
          </a:p>
          <a:p>
            <a:endParaRPr lang="en-US" sz="800" dirty="0"/>
          </a:p>
          <a:p>
            <a:r>
              <a:rPr lang="en-US" sz="800" dirty="0"/>
              <a:t>(</a:t>
            </a:r>
            <a:r>
              <a:rPr lang="en-US" sz="800" dirty="0" err="1"/>
              <a:t>kolla-ansible-venv</a:t>
            </a:r>
            <a:r>
              <a:rPr lang="en-US" sz="800" dirty="0"/>
              <a:t>) </a:t>
            </a:r>
            <a:r>
              <a:rPr lang="en-US" sz="800" dirty="0" smtClean="0"/>
              <a:t>amel@GPU10</a:t>
            </a:r>
            <a:r>
              <a:rPr lang="en-US" sz="800" dirty="0"/>
              <a:t>:~$ pip install '</a:t>
            </a:r>
            <a:r>
              <a:rPr lang="en-US" sz="800" dirty="0" err="1"/>
              <a:t>ansible</a:t>
            </a:r>
            <a:r>
              <a:rPr lang="en-US" sz="800" dirty="0"/>
              <a:t>&gt;=4,&lt;</a:t>
            </a:r>
            <a:r>
              <a:rPr lang="en-US" sz="800" dirty="0" smtClean="0"/>
              <a:t>6‘</a:t>
            </a:r>
          </a:p>
          <a:p>
            <a:endParaRPr lang="en-US" sz="800" dirty="0"/>
          </a:p>
        </p:txBody>
      </p:sp>
      <p:sp>
        <p:nvSpPr>
          <p:cNvPr id="36" name="Rectangle 35"/>
          <p:cNvSpPr/>
          <p:nvPr/>
        </p:nvSpPr>
        <p:spPr>
          <a:xfrm>
            <a:off x="183772" y="2137030"/>
            <a:ext cx="3446915" cy="13488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7" name="Rectangle 36"/>
          <p:cNvSpPr/>
          <p:nvPr/>
        </p:nvSpPr>
        <p:spPr>
          <a:xfrm>
            <a:off x="183772" y="2384330"/>
            <a:ext cx="3446915" cy="29265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8" name="Rectangle 37"/>
          <p:cNvSpPr/>
          <p:nvPr/>
        </p:nvSpPr>
        <p:spPr>
          <a:xfrm>
            <a:off x="198653" y="2779159"/>
            <a:ext cx="3446915" cy="13488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9" name="Rectangle 38"/>
          <p:cNvSpPr/>
          <p:nvPr/>
        </p:nvSpPr>
        <p:spPr>
          <a:xfrm>
            <a:off x="182524" y="2981021"/>
            <a:ext cx="3446915" cy="13488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40" name="Rectangle 39"/>
          <p:cNvSpPr/>
          <p:nvPr/>
        </p:nvSpPr>
        <p:spPr>
          <a:xfrm>
            <a:off x="153484" y="3963857"/>
            <a:ext cx="3605846" cy="584775"/>
          </a:xfrm>
          <a:prstGeom prst="rect">
            <a:avLst/>
          </a:prstGeom>
        </p:spPr>
        <p:txBody>
          <a:bodyPr wrap="square">
            <a:spAutoFit/>
          </a:bodyPr>
          <a:lstStyle/>
          <a:p>
            <a:r>
              <a:rPr lang="en-US" sz="800" dirty="0"/>
              <a:t>(</a:t>
            </a:r>
            <a:r>
              <a:rPr lang="en-US" sz="800" dirty="0" err="1"/>
              <a:t>kolla-ansible-venv</a:t>
            </a:r>
            <a:r>
              <a:rPr lang="en-US" sz="800" dirty="0"/>
              <a:t>) </a:t>
            </a:r>
            <a:r>
              <a:rPr lang="en-US" sz="800" dirty="0" smtClean="0"/>
              <a:t>amel@GPU10</a:t>
            </a:r>
            <a:r>
              <a:rPr lang="en-US" sz="800" dirty="0"/>
              <a:t>:~$ </a:t>
            </a:r>
            <a:r>
              <a:rPr lang="en-US" sz="800" dirty="0" err="1"/>
              <a:t>sudo</a:t>
            </a:r>
            <a:r>
              <a:rPr lang="en-US" sz="800" dirty="0"/>
              <a:t> </a:t>
            </a:r>
            <a:r>
              <a:rPr lang="en-US" sz="800" dirty="0" err="1"/>
              <a:t>mkdir</a:t>
            </a:r>
            <a:r>
              <a:rPr lang="en-US" sz="800" dirty="0"/>
              <a:t> -p /</a:t>
            </a:r>
            <a:r>
              <a:rPr lang="en-US" sz="800" dirty="0" err="1"/>
              <a:t>etc</a:t>
            </a:r>
            <a:r>
              <a:rPr lang="en-US" sz="800" dirty="0" smtClean="0"/>
              <a:t>/</a:t>
            </a:r>
          </a:p>
          <a:p>
            <a:r>
              <a:rPr lang="en-US" sz="800" dirty="0" err="1" smtClean="0"/>
              <a:t>kolla</a:t>
            </a:r>
            <a:r>
              <a:rPr lang="en-US" sz="800" dirty="0" smtClean="0"/>
              <a:t>(</a:t>
            </a:r>
            <a:r>
              <a:rPr lang="en-US" sz="800" dirty="0" err="1" smtClean="0"/>
              <a:t>kolla-ansible-venv</a:t>
            </a:r>
            <a:r>
              <a:rPr lang="en-US" sz="800" dirty="0"/>
              <a:t>) </a:t>
            </a:r>
            <a:r>
              <a:rPr lang="en-US" sz="800" dirty="0" smtClean="0"/>
              <a:t>amel@GPU10</a:t>
            </a:r>
            <a:r>
              <a:rPr lang="en-US" sz="800" dirty="0"/>
              <a:t>:~$ </a:t>
            </a:r>
            <a:r>
              <a:rPr lang="en-US" sz="800" dirty="0" err="1"/>
              <a:t>sudo</a:t>
            </a:r>
            <a:r>
              <a:rPr lang="en-US" sz="800" dirty="0"/>
              <a:t> </a:t>
            </a:r>
            <a:r>
              <a:rPr lang="en-US" sz="800" dirty="0" err="1"/>
              <a:t>chown</a:t>
            </a:r>
            <a:r>
              <a:rPr lang="en-US" sz="800" dirty="0"/>
              <a:t> $USER:$USER /</a:t>
            </a:r>
            <a:r>
              <a:rPr lang="en-US" sz="800" dirty="0" err="1"/>
              <a:t>etc</a:t>
            </a:r>
            <a:r>
              <a:rPr lang="en-US" sz="800" dirty="0"/>
              <a:t>/</a:t>
            </a:r>
            <a:r>
              <a:rPr lang="en-US" sz="800" dirty="0" err="1"/>
              <a:t>kolla</a:t>
            </a:r>
            <a:r>
              <a:rPr lang="en-US" sz="800" dirty="0" smtClean="0"/>
              <a:t>/</a:t>
            </a:r>
          </a:p>
          <a:p>
            <a:r>
              <a:rPr lang="en-US" sz="800" dirty="0" smtClean="0"/>
              <a:t>(</a:t>
            </a:r>
            <a:r>
              <a:rPr lang="en-US" sz="800" dirty="0" err="1"/>
              <a:t>kolla-ansible-venv</a:t>
            </a:r>
            <a:r>
              <a:rPr lang="en-US" sz="800" dirty="0"/>
              <a:t>) </a:t>
            </a:r>
            <a:r>
              <a:rPr lang="en-US" sz="800" dirty="0" smtClean="0"/>
              <a:t>amel@GPU10</a:t>
            </a:r>
            <a:r>
              <a:rPr lang="en-US" sz="800" dirty="0"/>
              <a:t>:~$ ls -</a:t>
            </a:r>
            <a:r>
              <a:rPr lang="en-US" sz="800" dirty="0" err="1"/>
              <a:t>ld</a:t>
            </a:r>
            <a:r>
              <a:rPr lang="en-US" sz="800" dirty="0"/>
              <a:t> /</a:t>
            </a:r>
            <a:r>
              <a:rPr lang="en-US" sz="800" dirty="0" err="1" smtClean="0"/>
              <a:t>etc</a:t>
            </a:r>
            <a:r>
              <a:rPr lang="en-US" sz="800" dirty="0" smtClean="0"/>
              <a:t>/</a:t>
            </a:r>
            <a:r>
              <a:rPr lang="en-US" sz="800" dirty="0" err="1" smtClean="0"/>
              <a:t>kolla</a:t>
            </a:r>
            <a:r>
              <a:rPr lang="en-US" sz="800" dirty="0" smtClean="0"/>
              <a:t>/</a:t>
            </a:r>
          </a:p>
          <a:p>
            <a:r>
              <a:rPr lang="en-US" sz="800" dirty="0" err="1" smtClean="0"/>
              <a:t>drwxr</a:t>
            </a:r>
            <a:r>
              <a:rPr lang="en-US" sz="800" dirty="0" smtClean="0"/>
              <a:t>-</a:t>
            </a:r>
            <a:r>
              <a:rPr lang="en-US" sz="800" dirty="0" err="1" smtClean="0"/>
              <a:t>xr</a:t>
            </a:r>
            <a:r>
              <a:rPr lang="en-US" sz="800" dirty="0" smtClean="0"/>
              <a:t>-x </a:t>
            </a:r>
            <a:r>
              <a:rPr lang="en-US" sz="800" dirty="0"/>
              <a:t>2 </a:t>
            </a:r>
            <a:r>
              <a:rPr lang="en-US" sz="800" dirty="0" err="1" smtClean="0"/>
              <a:t>amel</a:t>
            </a:r>
            <a:r>
              <a:rPr lang="en-US" sz="800" dirty="0" smtClean="0"/>
              <a:t> </a:t>
            </a:r>
            <a:r>
              <a:rPr lang="en-US" sz="800" dirty="0" err="1" smtClean="0"/>
              <a:t>amel</a:t>
            </a:r>
            <a:r>
              <a:rPr lang="en-US" sz="800" dirty="0" smtClean="0"/>
              <a:t> </a:t>
            </a:r>
            <a:r>
              <a:rPr lang="en-US" sz="800" dirty="0"/>
              <a:t>4096 Nov  5 16:01 /</a:t>
            </a:r>
            <a:r>
              <a:rPr lang="en-US" sz="800" dirty="0" err="1"/>
              <a:t>etc</a:t>
            </a:r>
            <a:r>
              <a:rPr lang="en-US" sz="800" dirty="0"/>
              <a:t>/</a:t>
            </a:r>
            <a:r>
              <a:rPr lang="en-US" sz="800" dirty="0" err="1"/>
              <a:t>kolla</a:t>
            </a:r>
            <a:r>
              <a:rPr lang="en-US" sz="800" dirty="0"/>
              <a:t>/</a:t>
            </a:r>
          </a:p>
        </p:txBody>
      </p:sp>
      <p:sp>
        <p:nvSpPr>
          <p:cNvPr id="41" name="Rectangle 40"/>
          <p:cNvSpPr/>
          <p:nvPr/>
        </p:nvSpPr>
        <p:spPr>
          <a:xfrm>
            <a:off x="191229" y="4037615"/>
            <a:ext cx="3446915" cy="46604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42" name="Rectangle 41"/>
          <p:cNvSpPr/>
          <p:nvPr/>
        </p:nvSpPr>
        <p:spPr>
          <a:xfrm>
            <a:off x="3607779" y="1200400"/>
            <a:ext cx="4059845" cy="338554"/>
          </a:xfrm>
          <a:prstGeom prst="rect">
            <a:avLst/>
          </a:prstGeom>
        </p:spPr>
        <p:txBody>
          <a:bodyPr wrap="square">
            <a:spAutoFit/>
          </a:bodyPr>
          <a:lstStyle/>
          <a:p>
            <a:r>
              <a:rPr lang="en-US" sz="800" b="1" i="1" dirty="0"/>
              <a:t>NOTE:</a:t>
            </a:r>
            <a:r>
              <a:rPr lang="en-US" sz="800" dirty="0"/>
              <a:t> for all-in-one deploy, use ~/Data/</a:t>
            </a:r>
            <a:r>
              <a:rPr lang="en-US" sz="800" dirty="0" err="1"/>
              <a:t>kolla-ansible-venv</a:t>
            </a:r>
            <a:r>
              <a:rPr lang="en-US" sz="800" dirty="0"/>
              <a:t>/share/</a:t>
            </a:r>
            <a:r>
              <a:rPr lang="en-US" sz="800" dirty="0" err="1"/>
              <a:t>kolla-ansible</a:t>
            </a:r>
            <a:r>
              <a:rPr lang="en-US" sz="800" dirty="0"/>
              <a:t>/</a:t>
            </a:r>
            <a:r>
              <a:rPr lang="en-US" sz="800" dirty="0" err="1"/>
              <a:t>ansible</a:t>
            </a:r>
            <a:r>
              <a:rPr lang="en-US" sz="800" dirty="0"/>
              <a:t>/inventory/all-in-one</a:t>
            </a:r>
          </a:p>
        </p:txBody>
      </p:sp>
    </p:spTree>
    <p:extLst>
      <p:ext uri="{BB962C8B-B14F-4D97-AF65-F5344CB8AC3E}">
        <p14:creationId xmlns:p14="http://schemas.microsoft.com/office/powerpoint/2010/main" val="58828836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58</a:t>
            </a:fld>
            <a:endParaRPr lang="en-US" dirty="0"/>
          </a:p>
        </p:txBody>
      </p:sp>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1315425" cy="276999"/>
          </a:xfrm>
          <a:prstGeom prst="rect">
            <a:avLst/>
          </a:prstGeom>
        </p:spPr>
        <p:txBody>
          <a:bodyPr wrap="none">
            <a:spAutoFit/>
          </a:bodyPr>
          <a:lstStyle/>
          <a:p>
            <a:r>
              <a:rPr lang="en-US" sz="1200" b="1" dirty="0">
                <a:solidFill>
                  <a:srgbClr val="002060"/>
                </a:solidFill>
              </a:rPr>
              <a:t>Configure </a:t>
            </a:r>
            <a:r>
              <a:rPr lang="en-US" sz="1200" b="1" dirty="0" err="1">
                <a:solidFill>
                  <a:srgbClr val="002060"/>
                </a:solidFill>
              </a:rPr>
              <a:t>Ansible</a:t>
            </a:r>
            <a:endParaRPr lang="en-US" sz="1200" b="1" dirty="0">
              <a:solidFill>
                <a:srgbClr val="002060"/>
              </a:solidFill>
            </a:endParaRPr>
          </a:p>
        </p:txBody>
      </p:sp>
      <p:sp>
        <p:nvSpPr>
          <p:cNvPr id="7" name="Rectangle 6"/>
          <p:cNvSpPr/>
          <p:nvPr/>
        </p:nvSpPr>
        <p:spPr>
          <a:xfrm>
            <a:off x="111394" y="623721"/>
            <a:ext cx="2955517" cy="82171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8" name="Rectangle 7"/>
          <p:cNvSpPr/>
          <p:nvPr/>
        </p:nvSpPr>
        <p:spPr>
          <a:xfrm>
            <a:off x="63770" y="607897"/>
            <a:ext cx="3050767" cy="830997"/>
          </a:xfrm>
          <a:prstGeom prst="rect">
            <a:avLst/>
          </a:prstGeom>
        </p:spPr>
        <p:txBody>
          <a:bodyPr wrap="square">
            <a:spAutoFit/>
          </a:bodyPr>
          <a:lstStyle/>
          <a:p>
            <a:r>
              <a:rPr lang="en-US" sz="800" dirty="0"/>
              <a:t>(</a:t>
            </a:r>
            <a:r>
              <a:rPr lang="en-US" sz="800" dirty="0" err="1"/>
              <a:t>kolla-ansible-venv</a:t>
            </a:r>
            <a:r>
              <a:rPr lang="en-US" sz="800" dirty="0"/>
              <a:t>) </a:t>
            </a:r>
            <a:r>
              <a:rPr lang="en-US" sz="800" dirty="0" smtClean="0"/>
              <a:t>amel@GPU10</a:t>
            </a:r>
            <a:r>
              <a:rPr lang="en-US" sz="800" dirty="0"/>
              <a:t>:~$ cat /</a:t>
            </a:r>
            <a:r>
              <a:rPr lang="en-US" sz="800" dirty="0" err="1" smtClean="0"/>
              <a:t>etc</a:t>
            </a:r>
            <a:r>
              <a:rPr lang="en-US" sz="800" dirty="0" smtClean="0"/>
              <a:t>/</a:t>
            </a:r>
            <a:r>
              <a:rPr lang="en-US" sz="800" dirty="0" err="1" smtClean="0"/>
              <a:t>ansible</a:t>
            </a:r>
            <a:r>
              <a:rPr lang="en-US" sz="800" dirty="0" smtClean="0"/>
              <a:t>/</a:t>
            </a:r>
            <a:r>
              <a:rPr lang="en-US" sz="800" dirty="0" err="1" smtClean="0"/>
              <a:t>ansible.cfg</a:t>
            </a:r>
            <a:endParaRPr lang="en-US" sz="800" dirty="0" smtClean="0"/>
          </a:p>
          <a:p>
            <a:r>
              <a:rPr lang="en-US" sz="800" dirty="0" smtClean="0"/>
              <a:t>[</a:t>
            </a:r>
            <a:r>
              <a:rPr lang="en-US" sz="800" dirty="0"/>
              <a:t>default</a:t>
            </a:r>
            <a:r>
              <a:rPr lang="en-US" sz="800" dirty="0" smtClean="0"/>
              <a:t>]</a:t>
            </a:r>
          </a:p>
          <a:p>
            <a:r>
              <a:rPr lang="en-US" sz="800" dirty="0" err="1" smtClean="0"/>
              <a:t>deprecation_warnings</a:t>
            </a:r>
            <a:r>
              <a:rPr lang="en-US" sz="800" dirty="0" smtClean="0"/>
              <a:t>=False</a:t>
            </a:r>
          </a:p>
          <a:p>
            <a:r>
              <a:rPr lang="en-US" sz="800" dirty="0" err="1" smtClean="0"/>
              <a:t>host_key_checking</a:t>
            </a:r>
            <a:r>
              <a:rPr lang="en-US" sz="800" dirty="0" smtClean="0"/>
              <a:t>=False</a:t>
            </a:r>
          </a:p>
          <a:p>
            <a:r>
              <a:rPr lang="en-US" sz="800" dirty="0" smtClean="0"/>
              <a:t>pipelining=True</a:t>
            </a:r>
          </a:p>
          <a:p>
            <a:r>
              <a:rPr lang="en-US" sz="800" dirty="0" smtClean="0"/>
              <a:t>forks=100</a:t>
            </a:r>
            <a:endParaRPr lang="en-US" sz="800" dirty="0"/>
          </a:p>
        </p:txBody>
      </p:sp>
      <p:sp>
        <p:nvSpPr>
          <p:cNvPr id="9" name="Rectangle 8"/>
          <p:cNvSpPr/>
          <p:nvPr/>
        </p:nvSpPr>
        <p:spPr>
          <a:xfrm>
            <a:off x="28688" y="1438894"/>
            <a:ext cx="1921103" cy="276999"/>
          </a:xfrm>
          <a:prstGeom prst="rect">
            <a:avLst/>
          </a:prstGeom>
        </p:spPr>
        <p:txBody>
          <a:bodyPr wrap="none">
            <a:spAutoFit/>
          </a:bodyPr>
          <a:lstStyle/>
          <a:p>
            <a:r>
              <a:rPr lang="en-US" sz="1200" dirty="0">
                <a:solidFill>
                  <a:srgbClr val="002060"/>
                </a:solidFill>
              </a:rPr>
              <a:t>Prepare initial configuration</a:t>
            </a:r>
            <a:endParaRPr lang="en-US" sz="1200" b="1" dirty="0">
              <a:solidFill>
                <a:srgbClr val="002060"/>
              </a:solidFill>
            </a:endParaRPr>
          </a:p>
        </p:txBody>
      </p:sp>
      <p:sp>
        <p:nvSpPr>
          <p:cNvPr id="10" name="Rectangle 9"/>
          <p:cNvSpPr/>
          <p:nvPr/>
        </p:nvSpPr>
        <p:spPr>
          <a:xfrm>
            <a:off x="93853" y="1626013"/>
            <a:ext cx="2955517" cy="82171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1" name="Rectangle 10"/>
          <p:cNvSpPr/>
          <p:nvPr/>
        </p:nvSpPr>
        <p:spPr>
          <a:xfrm>
            <a:off x="46229" y="1610189"/>
            <a:ext cx="3050767" cy="830997"/>
          </a:xfrm>
          <a:prstGeom prst="rect">
            <a:avLst/>
          </a:prstGeom>
        </p:spPr>
        <p:txBody>
          <a:bodyPr wrap="square">
            <a:spAutoFit/>
          </a:bodyPr>
          <a:lstStyle/>
          <a:p>
            <a:r>
              <a:rPr lang="en-US" sz="800" dirty="0"/>
              <a:t>(</a:t>
            </a:r>
            <a:r>
              <a:rPr lang="en-US" sz="800" dirty="0" err="1"/>
              <a:t>kolla-ansible-venv</a:t>
            </a:r>
            <a:r>
              <a:rPr lang="en-US" sz="800" dirty="0"/>
              <a:t>) </a:t>
            </a:r>
            <a:r>
              <a:rPr lang="en-US" sz="800" dirty="0" smtClean="0"/>
              <a:t>amel@GPU10</a:t>
            </a:r>
            <a:r>
              <a:rPr lang="en-US" sz="800" dirty="0"/>
              <a:t>:~$ cd /</a:t>
            </a:r>
            <a:r>
              <a:rPr lang="en-US" sz="800" dirty="0" err="1"/>
              <a:t>etc</a:t>
            </a:r>
            <a:r>
              <a:rPr lang="en-US" sz="800" dirty="0"/>
              <a:t>/</a:t>
            </a:r>
            <a:r>
              <a:rPr lang="en-US" sz="800" dirty="0" err="1"/>
              <a:t>kolla</a:t>
            </a:r>
            <a:r>
              <a:rPr lang="en-US" sz="800" dirty="0"/>
              <a:t>/</a:t>
            </a:r>
          </a:p>
          <a:p>
            <a:r>
              <a:rPr lang="en-US" sz="800" dirty="0"/>
              <a:t>(</a:t>
            </a:r>
            <a:r>
              <a:rPr lang="en-US" sz="800" dirty="0" err="1"/>
              <a:t>kolla-ansible-venv</a:t>
            </a:r>
            <a:r>
              <a:rPr lang="en-US" sz="800" dirty="0"/>
              <a:t>) </a:t>
            </a:r>
            <a:r>
              <a:rPr lang="en-US" sz="800" dirty="0" smtClean="0"/>
              <a:t>amel@GPU10</a:t>
            </a:r>
            <a:r>
              <a:rPr lang="en-US" sz="800" dirty="0"/>
              <a:t>:/</a:t>
            </a:r>
            <a:r>
              <a:rPr lang="en-US" sz="800" dirty="0" err="1"/>
              <a:t>etc</a:t>
            </a:r>
            <a:r>
              <a:rPr lang="en-US" sz="800" dirty="0"/>
              <a:t>/</a:t>
            </a:r>
            <a:r>
              <a:rPr lang="en-US" sz="800" dirty="0" err="1"/>
              <a:t>kolla</a:t>
            </a:r>
            <a:r>
              <a:rPr lang="en-US" sz="800" dirty="0"/>
              <a:t>$ ls -l</a:t>
            </a:r>
          </a:p>
          <a:p>
            <a:r>
              <a:rPr lang="en-US" sz="800" dirty="0"/>
              <a:t>total 52</a:t>
            </a:r>
          </a:p>
          <a:p>
            <a:r>
              <a:rPr lang="en-US" sz="800" dirty="0"/>
              <a:t>-</a:t>
            </a:r>
            <a:r>
              <a:rPr lang="en-US" sz="800" dirty="0" err="1"/>
              <a:t>rw</a:t>
            </a:r>
            <a:r>
              <a:rPr lang="en-US" sz="800" dirty="0"/>
              <a:t>-</a:t>
            </a:r>
            <a:r>
              <a:rPr lang="en-US" sz="800" dirty="0" err="1"/>
              <a:t>rw</a:t>
            </a:r>
            <a:r>
              <a:rPr lang="en-US" sz="800" dirty="0"/>
              <a:t>-r-- 1 </a:t>
            </a:r>
            <a:r>
              <a:rPr lang="en-US" sz="800" dirty="0" err="1" smtClean="0"/>
              <a:t>amel</a:t>
            </a:r>
            <a:r>
              <a:rPr lang="en-US" sz="800" dirty="0" smtClean="0"/>
              <a:t> </a:t>
            </a:r>
            <a:r>
              <a:rPr lang="en-US" sz="800" dirty="0" err="1" smtClean="0"/>
              <a:t>amel</a:t>
            </a:r>
            <a:r>
              <a:rPr lang="en-US" sz="800" dirty="0" smtClean="0"/>
              <a:t> </a:t>
            </a:r>
            <a:r>
              <a:rPr lang="en-US" sz="800" dirty="0"/>
              <a:t>32632 Nov  5 16:07 </a:t>
            </a:r>
            <a:r>
              <a:rPr lang="en-US" sz="800" dirty="0" err="1"/>
              <a:t>globals.yml</a:t>
            </a:r>
            <a:endParaRPr lang="en-US" sz="800" dirty="0"/>
          </a:p>
          <a:p>
            <a:r>
              <a:rPr lang="en-US" sz="800" dirty="0"/>
              <a:t>-</a:t>
            </a:r>
            <a:r>
              <a:rPr lang="en-US" sz="800" dirty="0" err="1"/>
              <a:t>rw</a:t>
            </a:r>
            <a:r>
              <a:rPr lang="en-US" sz="800" dirty="0"/>
              <a:t>-</a:t>
            </a:r>
            <a:r>
              <a:rPr lang="en-US" sz="800" dirty="0" err="1"/>
              <a:t>rw</a:t>
            </a:r>
            <a:r>
              <a:rPr lang="en-US" sz="800" dirty="0"/>
              <a:t>-r-- 1 </a:t>
            </a:r>
            <a:r>
              <a:rPr lang="en-US" sz="800" dirty="0" err="1" smtClean="0"/>
              <a:t>amel</a:t>
            </a:r>
            <a:r>
              <a:rPr lang="en-US" sz="800" dirty="0" smtClean="0"/>
              <a:t> </a:t>
            </a:r>
            <a:r>
              <a:rPr lang="en-US" sz="800" dirty="0" err="1" smtClean="0"/>
              <a:t>amel</a:t>
            </a:r>
            <a:r>
              <a:rPr lang="en-US" sz="800" dirty="0" smtClean="0"/>
              <a:t>  </a:t>
            </a:r>
            <a:r>
              <a:rPr lang="en-US" sz="800" dirty="0"/>
              <a:t>9490 Nov  5 16:25 </a:t>
            </a:r>
            <a:r>
              <a:rPr lang="en-US" sz="800" dirty="0" err="1"/>
              <a:t>multinode</a:t>
            </a:r>
            <a:endParaRPr lang="en-US" sz="800" dirty="0"/>
          </a:p>
          <a:p>
            <a:r>
              <a:rPr lang="en-US" sz="800" dirty="0"/>
              <a:t>-</a:t>
            </a:r>
            <a:r>
              <a:rPr lang="en-US" sz="800" dirty="0" err="1"/>
              <a:t>rw</a:t>
            </a:r>
            <a:r>
              <a:rPr lang="en-US" sz="800" dirty="0"/>
              <a:t>-</a:t>
            </a:r>
            <a:r>
              <a:rPr lang="en-US" sz="800" dirty="0" err="1"/>
              <a:t>rw</a:t>
            </a:r>
            <a:r>
              <a:rPr lang="en-US" sz="800" dirty="0"/>
              <a:t>-r-- 1 </a:t>
            </a:r>
            <a:r>
              <a:rPr lang="en-US" sz="800" dirty="0" err="1" smtClean="0"/>
              <a:t>amel</a:t>
            </a:r>
            <a:r>
              <a:rPr lang="en-US" sz="800" dirty="0" smtClean="0"/>
              <a:t> </a:t>
            </a:r>
            <a:r>
              <a:rPr lang="en-US" sz="800" dirty="0" err="1" smtClean="0"/>
              <a:t>amel</a:t>
            </a:r>
            <a:r>
              <a:rPr lang="en-US" sz="800" dirty="0" smtClean="0"/>
              <a:t>  </a:t>
            </a:r>
            <a:r>
              <a:rPr lang="en-US" sz="800" dirty="0"/>
              <a:t>5163 Nov  5 16:07 </a:t>
            </a:r>
            <a:r>
              <a:rPr lang="en-US" sz="800" dirty="0" err="1"/>
              <a:t>passwords.yml</a:t>
            </a:r>
            <a:endParaRPr lang="en-US" sz="800" dirty="0"/>
          </a:p>
        </p:txBody>
      </p:sp>
      <p:sp>
        <p:nvSpPr>
          <p:cNvPr id="13" name="Rectangle 12"/>
          <p:cNvSpPr/>
          <p:nvPr/>
        </p:nvSpPr>
        <p:spPr>
          <a:xfrm>
            <a:off x="3208415" y="403371"/>
            <a:ext cx="2016899" cy="276999"/>
          </a:xfrm>
          <a:prstGeom prst="rect">
            <a:avLst/>
          </a:prstGeom>
        </p:spPr>
        <p:txBody>
          <a:bodyPr wrap="none">
            <a:spAutoFit/>
          </a:bodyPr>
          <a:lstStyle/>
          <a:p>
            <a:r>
              <a:rPr lang="en-US" sz="1200" b="1" dirty="0">
                <a:solidFill>
                  <a:srgbClr val="002060"/>
                </a:solidFill>
              </a:rPr>
              <a:t>Edit </a:t>
            </a:r>
            <a:r>
              <a:rPr lang="en-US" sz="1200" b="1" dirty="0" err="1">
                <a:solidFill>
                  <a:srgbClr val="002060"/>
                </a:solidFill>
              </a:rPr>
              <a:t>multinode</a:t>
            </a:r>
            <a:r>
              <a:rPr lang="en-US" sz="1200" b="1" dirty="0">
                <a:solidFill>
                  <a:srgbClr val="002060"/>
                </a:solidFill>
              </a:rPr>
              <a:t> inventory file</a:t>
            </a:r>
          </a:p>
        </p:txBody>
      </p:sp>
      <p:sp>
        <p:nvSpPr>
          <p:cNvPr id="14" name="Rectangle 13"/>
          <p:cNvSpPr/>
          <p:nvPr/>
        </p:nvSpPr>
        <p:spPr>
          <a:xfrm>
            <a:off x="3273580" y="676330"/>
            <a:ext cx="3359232" cy="366658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14"/>
          <p:cNvSpPr/>
          <p:nvPr/>
        </p:nvSpPr>
        <p:spPr>
          <a:xfrm>
            <a:off x="3225956" y="680370"/>
            <a:ext cx="3543334" cy="3662541"/>
          </a:xfrm>
          <a:prstGeom prst="rect">
            <a:avLst/>
          </a:prstGeom>
        </p:spPr>
        <p:txBody>
          <a:bodyPr wrap="square">
            <a:spAutoFit/>
          </a:bodyPr>
          <a:lstStyle/>
          <a:p>
            <a:r>
              <a:rPr lang="en-US" sz="800" dirty="0"/>
              <a:t> 1 # These initial groups are the only groups required to be modified. The</a:t>
            </a:r>
          </a:p>
          <a:p>
            <a:r>
              <a:rPr lang="en-US" sz="800" dirty="0"/>
              <a:t>  2 # additional groups are for more control of the environment.</a:t>
            </a:r>
          </a:p>
          <a:p>
            <a:r>
              <a:rPr lang="en-US" sz="800" dirty="0"/>
              <a:t>  3 [control]</a:t>
            </a:r>
          </a:p>
          <a:p>
            <a:r>
              <a:rPr lang="en-US" sz="800" dirty="0"/>
              <a:t>  4 # These hostname must be resolvable from your deployment host</a:t>
            </a:r>
          </a:p>
          <a:p>
            <a:r>
              <a:rPr lang="en-US" sz="800" dirty="0"/>
              <a:t>  5 </a:t>
            </a:r>
            <a:r>
              <a:rPr lang="en-US" sz="800" dirty="0" smtClean="0"/>
              <a:t>GPU111</a:t>
            </a:r>
            <a:endParaRPr lang="en-US" sz="800" dirty="0"/>
          </a:p>
          <a:p>
            <a:r>
              <a:rPr lang="en-US" sz="800" dirty="0"/>
              <a:t>  6 </a:t>
            </a:r>
          </a:p>
          <a:p>
            <a:r>
              <a:rPr lang="en-US" sz="800" dirty="0"/>
              <a:t>  7 # The above can also be specified as follows:</a:t>
            </a:r>
          </a:p>
          <a:p>
            <a:r>
              <a:rPr lang="en-US" sz="800" dirty="0"/>
              <a:t>  8 #control[01:03]     </a:t>
            </a:r>
            <a:r>
              <a:rPr lang="en-US" sz="800" dirty="0" err="1"/>
              <a:t>ansible_user</a:t>
            </a:r>
            <a:r>
              <a:rPr lang="en-US" sz="800" dirty="0"/>
              <a:t>=</a:t>
            </a:r>
            <a:r>
              <a:rPr lang="en-US" sz="800" dirty="0" err="1"/>
              <a:t>kolla</a:t>
            </a:r>
            <a:endParaRPr lang="en-US" sz="800" dirty="0"/>
          </a:p>
          <a:p>
            <a:r>
              <a:rPr lang="en-US" sz="800" dirty="0"/>
              <a:t>  9 </a:t>
            </a:r>
          </a:p>
          <a:p>
            <a:r>
              <a:rPr lang="en-US" sz="800" dirty="0"/>
              <a:t> 10 # The network nodes are where your l3-agent and </a:t>
            </a:r>
            <a:r>
              <a:rPr lang="en-US" sz="800" dirty="0" err="1"/>
              <a:t>loadbalancers</a:t>
            </a:r>
            <a:r>
              <a:rPr lang="en-US" sz="800" dirty="0"/>
              <a:t> will run</a:t>
            </a:r>
          </a:p>
          <a:p>
            <a:r>
              <a:rPr lang="en-US" sz="800" dirty="0"/>
              <a:t> 11 # This can be the same as a host in the control group</a:t>
            </a:r>
          </a:p>
          <a:p>
            <a:r>
              <a:rPr lang="en-US" sz="800" dirty="0"/>
              <a:t> 12 [</a:t>
            </a:r>
            <a:r>
              <a:rPr lang="en-US" sz="800" dirty="0" err="1"/>
              <a:t>network:children</a:t>
            </a:r>
            <a:r>
              <a:rPr lang="en-US" sz="800" dirty="0"/>
              <a:t>]</a:t>
            </a:r>
          </a:p>
          <a:p>
            <a:r>
              <a:rPr lang="en-US" sz="800" dirty="0"/>
              <a:t> 13 control</a:t>
            </a:r>
          </a:p>
          <a:p>
            <a:r>
              <a:rPr lang="en-US" sz="800" dirty="0"/>
              <a:t> 14 </a:t>
            </a:r>
          </a:p>
          <a:p>
            <a:r>
              <a:rPr lang="en-US" sz="800" dirty="0"/>
              <a:t> 15 [compute]</a:t>
            </a:r>
          </a:p>
          <a:p>
            <a:r>
              <a:rPr lang="en-US" sz="800" dirty="0"/>
              <a:t> 16 </a:t>
            </a:r>
            <a:r>
              <a:rPr lang="en-US" sz="800" dirty="0" smtClean="0"/>
              <a:t>GPU7[1:3</a:t>
            </a:r>
            <a:r>
              <a:rPr lang="en-US" sz="800" dirty="0"/>
              <a:t>]</a:t>
            </a:r>
          </a:p>
          <a:p>
            <a:r>
              <a:rPr lang="en-US" sz="800" dirty="0"/>
              <a:t> 17 </a:t>
            </a:r>
          </a:p>
          <a:p>
            <a:r>
              <a:rPr lang="en-US" sz="800" dirty="0"/>
              <a:t> 18 [</a:t>
            </a:r>
            <a:r>
              <a:rPr lang="en-US" sz="800" dirty="0" err="1"/>
              <a:t>monitoring:children</a:t>
            </a:r>
            <a:r>
              <a:rPr lang="en-US" sz="800" dirty="0"/>
              <a:t>]</a:t>
            </a:r>
          </a:p>
          <a:p>
            <a:r>
              <a:rPr lang="en-US" sz="800" dirty="0"/>
              <a:t> 19 control</a:t>
            </a:r>
          </a:p>
          <a:p>
            <a:r>
              <a:rPr lang="en-US" sz="800" dirty="0"/>
              <a:t> 20 </a:t>
            </a:r>
          </a:p>
          <a:p>
            <a:r>
              <a:rPr lang="en-US" sz="800" dirty="0"/>
              <a:t> 21 # When compute nodes and control nodes use different interfaces,</a:t>
            </a:r>
          </a:p>
          <a:p>
            <a:r>
              <a:rPr lang="en-US" sz="800" dirty="0"/>
              <a:t> 22 # you need to comment out "</a:t>
            </a:r>
            <a:r>
              <a:rPr lang="en-US" sz="800" dirty="0" err="1"/>
              <a:t>api_interface</a:t>
            </a:r>
            <a:r>
              <a:rPr lang="en-US" sz="800" dirty="0"/>
              <a:t>" and other interfaces from the </a:t>
            </a:r>
            <a:r>
              <a:rPr lang="en-US" sz="800" dirty="0" err="1"/>
              <a:t>globals.yml</a:t>
            </a:r>
            <a:endParaRPr lang="en-US" sz="800" dirty="0"/>
          </a:p>
          <a:p>
            <a:r>
              <a:rPr lang="en-US" sz="800" dirty="0"/>
              <a:t> 23 # and specify like below:</a:t>
            </a:r>
          </a:p>
          <a:p>
            <a:r>
              <a:rPr lang="en-US" sz="800" dirty="0"/>
              <a:t> 24 #compute01 </a:t>
            </a:r>
            <a:r>
              <a:rPr lang="en-US" sz="800" dirty="0" err="1"/>
              <a:t>neutron_external_interface</a:t>
            </a:r>
            <a:r>
              <a:rPr lang="en-US" sz="800" dirty="0"/>
              <a:t>=eth0 </a:t>
            </a:r>
            <a:r>
              <a:rPr lang="en-US" sz="800" dirty="0" err="1"/>
              <a:t>api_interface</a:t>
            </a:r>
            <a:r>
              <a:rPr lang="en-US" sz="800" dirty="0"/>
              <a:t>=em1 </a:t>
            </a:r>
            <a:r>
              <a:rPr lang="en-US" sz="800" dirty="0" err="1"/>
              <a:t>tunnel_interface</a:t>
            </a:r>
            <a:r>
              <a:rPr lang="en-US" sz="800" dirty="0"/>
              <a:t>=em1</a:t>
            </a:r>
          </a:p>
          <a:p>
            <a:r>
              <a:rPr lang="en-US" sz="800" dirty="0"/>
              <a:t> 25 </a:t>
            </a:r>
          </a:p>
          <a:p>
            <a:r>
              <a:rPr lang="en-US" sz="800" dirty="0"/>
              <a:t> 26 [</a:t>
            </a:r>
            <a:r>
              <a:rPr lang="en-US" sz="800" dirty="0" err="1"/>
              <a:t>storage:children</a:t>
            </a:r>
            <a:r>
              <a:rPr lang="en-US" sz="800" dirty="0"/>
              <a:t>]</a:t>
            </a:r>
          </a:p>
          <a:p>
            <a:r>
              <a:rPr lang="en-US" sz="800" dirty="0"/>
              <a:t> 27 control</a:t>
            </a:r>
          </a:p>
        </p:txBody>
      </p:sp>
      <p:sp>
        <p:nvSpPr>
          <p:cNvPr id="19" name="Rectangle 18"/>
          <p:cNvSpPr/>
          <p:nvPr/>
        </p:nvSpPr>
        <p:spPr>
          <a:xfrm>
            <a:off x="3195391" y="4467094"/>
            <a:ext cx="4059845" cy="338554"/>
          </a:xfrm>
          <a:prstGeom prst="rect">
            <a:avLst/>
          </a:prstGeom>
        </p:spPr>
        <p:txBody>
          <a:bodyPr wrap="square">
            <a:spAutoFit/>
          </a:bodyPr>
          <a:lstStyle/>
          <a:p>
            <a:r>
              <a:rPr lang="en-US" sz="800" b="1" dirty="0"/>
              <a:t>NOTE</a:t>
            </a:r>
            <a:r>
              <a:rPr lang="en-US" sz="800" dirty="0"/>
              <a:t>: I use "</a:t>
            </a:r>
            <a:r>
              <a:rPr lang="en-US" sz="800" dirty="0" err="1"/>
              <a:t>network:children</a:t>
            </a:r>
            <a:r>
              <a:rPr lang="en-US" sz="800" dirty="0"/>
              <a:t>", "</a:t>
            </a:r>
            <a:r>
              <a:rPr lang="en-US" sz="800" dirty="0" err="1"/>
              <a:t>storage:children</a:t>
            </a:r>
            <a:r>
              <a:rPr lang="en-US" sz="800" dirty="0"/>
              <a:t>" and "</a:t>
            </a:r>
            <a:r>
              <a:rPr lang="en-US" sz="800" dirty="0" err="1"/>
              <a:t>monitoring:children</a:t>
            </a:r>
            <a:r>
              <a:rPr lang="en-US" sz="800" dirty="0"/>
              <a:t>" to add "control" as children group. Use hostname if you do not want to use children groups.</a:t>
            </a:r>
          </a:p>
        </p:txBody>
      </p:sp>
    </p:spTree>
    <p:extLst>
      <p:ext uri="{BB962C8B-B14F-4D97-AF65-F5344CB8AC3E}">
        <p14:creationId xmlns:p14="http://schemas.microsoft.com/office/powerpoint/2010/main" val="2380327872"/>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59</a:t>
            </a:fld>
            <a:endParaRPr lang="en-US" dirty="0"/>
          </a:p>
        </p:txBody>
      </p:sp>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1211229" cy="276999"/>
          </a:xfrm>
          <a:prstGeom prst="rect">
            <a:avLst/>
          </a:prstGeom>
        </p:spPr>
        <p:txBody>
          <a:bodyPr wrap="none">
            <a:spAutoFit/>
          </a:bodyPr>
          <a:lstStyle/>
          <a:p>
            <a:r>
              <a:rPr lang="en-US" sz="1200" b="1" dirty="0">
                <a:solidFill>
                  <a:srgbClr val="002060"/>
                </a:solidFill>
              </a:rPr>
              <a:t>Check inventory</a:t>
            </a:r>
          </a:p>
        </p:txBody>
      </p:sp>
      <p:sp>
        <p:nvSpPr>
          <p:cNvPr id="7" name="Rectangle 6"/>
          <p:cNvSpPr/>
          <p:nvPr/>
        </p:nvSpPr>
        <p:spPr>
          <a:xfrm>
            <a:off x="111394" y="623721"/>
            <a:ext cx="2955517" cy="429683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8" name="Rectangle 7"/>
          <p:cNvSpPr/>
          <p:nvPr/>
        </p:nvSpPr>
        <p:spPr>
          <a:xfrm>
            <a:off x="230618" y="627077"/>
            <a:ext cx="3050767" cy="4293483"/>
          </a:xfrm>
          <a:prstGeom prst="rect">
            <a:avLst/>
          </a:prstGeom>
        </p:spPr>
        <p:txBody>
          <a:bodyPr wrap="square">
            <a:spAutoFit/>
          </a:bodyPr>
          <a:lstStyle/>
          <a:p>
            <a:r>
              <a:rPr lang="en-US" sz="700" dirty="0"/>
              <a:t>(</a:t>
            </a:r>
            <a:r>
              <a:rPr lang="en-US" sz="700" dirty="0" err="1"/>
              <a:t>kolla-ansible-venv</a:t>
            </a:r>
            <a:r>
              <a:rPr lang="en-US" sz="700" dirty="0"/>
              <a:t>) </a:t>
            </a:r>
            <a:r>
              <a:rPr lang="en-US" sz="700" dirty="0" smtClean="0"/>
              <a:t>amel@GPU10</a:t>
            </a:r>
            <a:r>
              <a:rPr lang="en-US" sz="700" dirty="0"/>
              <a:t>:/</a:t>
            </a:r>
            <a:r>
              <a:rPr lang="en-US" sz="700" dirty="0" err="1"/>
              <a:t>etc</a:t>
            </a:r>
            <a:r>
              <a:rPr lang="en-US" sz="700" dirty="0"/>
              <a:t>/</a:t>
            </a:r>
            <a:r>
              <a:rPr lang="en-US" sz="700" dirty="0" err="1"/>
              <a:t>kolla</a:t>
            </a:r>
            <a:r>
              <a:rPr lang="en-US" sz="700" dirty="0"/>
              <a:t>$ </a:t>
            </a:r>
            <a:r>
              <a:rPr lang="en-US" sz="700" dirty="0" err="1"/>
              <a:t>ansible</a:t>
            </a:r>
            <a:r>
              <a:rPr lang="en-US" sz="700" dirty="0"/>
              <a:t> -</a:t>
            </a:r>
            <a:r>
              <a:rPr lang="en-US" sz="700" dirty="0" err="1"/>
              <a:t>i</a:t>
            </a:r>
            <a:r>
              <a:rPr lang="en-US" sz="700" dirty="0"/>
              <a:t> </a:t>
            </a:r>
            <a:r>
              <a:rPr lang="en-US" sz="700" dirty="0" err="1"/>
              <a:t>multinode</a:t>
            </a:r>
            <a:r>
              <a:rPr lang="en-US" sz="700" dirty="0"/>
              <a:t> all -m ping</a:t>
            </a:r>
          </a:p>
          <a:p>
            <a:r>
              <a:rPr lang="en-US" sz="700" dirty="0"/>
              <a:t>[WARNING]: Invalid characters were found in group names but not replaced, use -</a:t>
            </a:r>
            <a:r>
              <a:rPr lang="en-US" sz="700" dirty="0" err="1"/>
              <a:t>vvvv</a:t>
            </a:r>
            <a:r>
              <a:rPr lang="en-US" sz="700" dirty="0"/>
              <a:t> to see details</a:t>
            </a:r>
          </a:p>
          <a:p>
            <a:r>
              <a:rPr lang="en-US" sz="700" dirty="0"/>
              <a:t>localhost | SUCCESS =&gt; {</a:t>
            </a:r>
          </a:p>
          <a:p>
            <a:r>
              <a:rPr lang="en-US" sz="700" dirty="0"/>
              <a:t>    "</a:t>
            </a:r>
            <a:r>
              <a:rPr lang="en-US" sz="700" dirty="0" err="1"/>
              <a:t>ansible_facts</a:t>
            </a:r>
            <a:r>
              <a:rPr lang="en-US" sz="700" dirty="0"/>
              <a:t>": {</a:t>
            </a:r>
          </a:p>
          <a:p>
            <a:r>
              <a:rPr lang="en-US" sz="700" dirty="0"/>
              <a:t>        "</a:t>
            </a:r>
            <a:r>
              <a:rPr lang="en-US" sz="700" dirty="0" err="1"/>
              <a:t>discovered_interpreter_python</a:t>
            </a:r>
            <a:r>
              <a:rPr lang="en-US" sz="700" dirty="0"/>
              <a:t>": "/</a:t>
            </a:r>
            <a:r>
              <a:rPr lang="en-US" sz="700" dirty="0" err="1"/>
              <a:t>usr</a:t>
            </a:r>
            <a:r>
              <a:rPr lang="en-US" sz="700" dirty="0"/>
              <a:t>/bin/python3"</a:t>
            </a:r>
          </a:p>
          <a:p>
            <a:r>
              <a:rPr lang="en-US" sz="700" dirty="0"/>
              <a:t>    },</a:t>
            </a:r>
          </a:p>
          <a:p>
            <a:r>
              <a:rPr lang="en-US" sz="700" dirty="0"/>
              <a:t>    "changed": false,</a:t>
            </a:r>
          </a:p>
          <a:p>
            <a:r>
              <a:rPr lang="en-US" sz="700" dirty="0"/>
              <a:t>    "ping": "pong"</a:t>
            </a:r>
          </a:p>
          <a:p>
            <a:r>
              <a:rPr lang="en-US" sz="700" dirty="0"/>
              <a:t>}</a:t>
            </a:r>
          </a:p>
          <a:p>
            <a:r>
              <a:rPr lang="en-US" sz="700" dirty="0" smtClean="0"/>
              <a:t>GPU111 </a:t>
            </a:r>
            <a:r>
              <a:rPr lang="en-US" sz="700" dirty="0"/>
              <a:t>| SUCCESS =&gt; {</a:t>
            </a:r>
          </a:p>
          <a:p>
            <a:r>
              <a:rPr lang="en-US" sz="700" dirty="0"/>
              <a:t>    "</a:t>
            </a:r>
            <a:r>
              <a:rPr lang="en-US" sz="700" dirty="0" err="1"/>
              <a:t>ansible_facts</a:t>
            </a:r>
            <a:r>
              <a:rPr lang="en-US" sz="700" dirty="0"/>
              <a:t>": {</a:t>
            </a:r>
          </a:p>
          <a:p>
            <a:r>
              <a:rPr lang="en-US" sz="700" dirty="0"/>
              <a:t>        "</a:t>
            </a:r>
            <a:r>
              <a:rPr lang="en-US" sz="700" dirty="0" err="1"/>
              <a:t>discovered_interpreter_python</a:t>
            </a:r>
            <a:r>
              <a:rPr lang="en-US" sz="700" dirty="0"/>
              <a:t>": "/</a:t>
            </a:r>
            <a:r>
              <a:rPr lang="en-US" sz="700" dirty="0" err="1"/>
              <a:t>usr</a:t>
            </a:r>
            <a:r>
              <a:rPr lang="en-US" sz="700" dirty="0"/>
              <a:t>/bin/python3"</a:t>
            </a:r>
          </a:p>
          <a:p>
            <a:r>
              <a:rPr lang="en-US" sz="700" dirty="0"/>
              <a:t>    },</a:t>
            </a:r>
          </a:p>
          <a:p>
            <a:r>
              <a:rPr lang="en-US" sz="700" dirty="0"/>
              <a:t>    "changed": false,</a:t>
            </a:r>
          </a:p>
          <a:p>
            <a:r>
              <a:rPr lang="en-US" sz="700" dirty="0"/>
              <a:t>    "ping": "pong"</a:t>
            </a:r>
          </a:p>
          <a:p>
            <a:r>
              <a:rPr lang="en-US" sz="700" dirty="0"/>
              <a:t>}</a:t>
            </a:r>
          </a:p>
          <a:p>
            <a:r>
              <a:rPr lang="en-US" sz="700" dirty="0" smtClean="0"/>
              <a:t>GPU72 </a:t>
            </a:r>
            <a:r>
              <a:rPr lang="en-US" sz="700" dirty="0"/>
              <a:t>| SUCCESS =&gt; {</a:t>
            </a:r>
          </a:p>
          <a:p>
            <a:r>
              <a:rPr lang="en-US" sz="700" dirty="0"/>
              <a:t>    "</a:t>
            </a:r>
            <a:r>
              <a:rPr lang="en-US" sz="700" dirty="0" err="1"/>
              <a:t>ansible_facts</a:t>
            </a:r>
            <a:r>
              <a:rPr lang="en-US" sz="700" dirty="0"/>
              <a:t>": {</a:t>
            </a:r>
          </a:p>
          <a:p>
            <a:r>
              <a:rPr lang="en-US" sz="700" dirty="0"/>
              <a:t>        "</a:t>
            </a:r>
            <a:r>
              <a:rPr lang="en-US" sz="700" dirty="0" err="1"/>
              <a:t>discovered_interpreter_python</a:t>
            </a:r>
            <a:r>
              <a:rPr lang="en-US" sz="700" dirty="0"/>
              <a:t>": "/</a:t>
            </a:r>
            <a:r>
              <a:rPr lang="en-US" sz="700" dirty="0" err="1"/>
              <a:t>usr</a:t>
            </a:r>
            <a:r>
              <a:rPr lang="en-US" sz="700" dirty="0"/>
              <a:t>/bin/python3"</a:t>
            </a:r>
          </a:p>
          <a:p>
            <a:r>
              <a:rPr lang="en-US" sz="700" dirty="0"/>
              <a:t>    },</a:t>
            </a:r>
          </a:p>
          <a:p>
            <a:r>
              <a:rPr lang="en-US" sz="700" dirty="0"/>
              <a:t>    "changed": false,</a:t>
            </a:r>
          </a:p>
          <a:p>
            <a:r>
              <a:rPr lang="en-US" sz="700" dirty="0"/>
              <a:t>    "ping": "pong"</a:t>
            </a:r>
          </a:p>
          <a:p>
            <a:r>
              <a:rPr lang="en-US" sz="700" dirty="0"/>
              <a:t>}</a:t>
            </a:r>
          </a:p>
          <a:p>
            <a:r>
              <a:rPr lang="en-US" sz="700" dirty="0" smtClean="0"/>
              <a:t>GPU73 </a:t>
            </a:r>
            <a:r>
              <a:rPr lang="en-US" sz="700" dirty="0"/>
              <a:t>| SUCCESS =&gt; {</a:t>
            </a:r>
          </a:p>
          <a:p>
            <a:r>
              <a:rPr lang="en-US" sz="700" dirty="0"/>
              <a:t>    "</a:t>
            </a:r>
            <a:r>
              <a:rPr lang="en-US" sz="700" dirty="0" err="1"/>
              <a:t>ansible_facts</a:t>
            </a:r>
            <a:r>
              <a:rPr lang="en-US" sz="700" dirty="0"/>
              <a:t>": {</a:t>
            </a:r>
          </a:p>
          <a:p>
            <a:r>
              <a:rPr lang="en-US" sz="700" dirty="0"/>
              <a:t>        "</a:t>
            </a:r>
            <a:r>
              <a:rPr lang="en-US" sz="700" dirty="0" err="1"/>
              <a:t>discovered_interpreter_python</a:t>
            </a:r>
            <a:r>
              <a:rPr lang="en-US" sz="700" dirty="0"/>
              <a:t>": "/</a:t>
            </a:r>
            <a:r>
              <a:rPr lang="en-US" sz="700" dirty="0" err="1"/>
              <a:t>usr</a:t>
            </a:r>
            <a:r>
              <a:rPr lang="en-US" sz="700" dirty="0"/>
              <a:t>/bin/python3"</a:t>
            </a:r>
          </a:p>
          <a:p>
            <a:r>
              <a:rPr lang="en-US" sz="700" dirty="0"/>
              <a:t>    },</a:t>
            </a:r>
          </a:p>
          <a:p>
            <a:r>
              <a:rPr lang="en-US" sz="700" dirty="0"/>
              <a:t>    "changed": false,</a:t>
            </a:r>
          </a:p>
          <a:p>
            <a:r>
              <a:rPr lang="en-US" sz="700" dirty="0"/>
              <a:t>    "ping": "pong"</a:t>
            </a:r>
          </a:p>
          <a:p>
            <a:r>
              <a:rPr lang="en-US" sz="700" dirty="0"/>
              <a:t>}</a:t>
            </a:r>
          </a:p>
          <a:p>
            <a:r>
              <a:rPr lang="en-US" sz="700" dirty="0" smtClean="0"/>
              <a:t>GPU71 </a:t>
            </a:r>
            <a:r>
              <a:rPr lang="en-US" sz="700" dirty="0"/>
              <a:t>| SUCCESS =&gt; {</a:t>
            </a:r>
          </a:p>
          <a:p>
            <a:r>
              <a:rPr lang="en-US" sz="700" dirty="0"/>
              <a:t>    "</a:t>
            </a:r>
            <a:r>
              <a:rPr lang="en-US" sz="700" dirty="0" err="1"/>
              <a:t>ansible_facts</a:t>
            </a:r>
            <a:r>
              <a:rPr lang="en-US" sz="700" dirty="0"/>
              <a:t>": {</a:t>
            </a:r>
          </a:p>
          <a:p>
            <a:r>
              <a:rPr lang="en-US" sz="700" dirty="0"/>
              <a:t>        "</a:t>
            </a:r>
            <a:r>
              <a:rPr lang="en-US" sz="700" dirty="0" err="1"/>
              <a:t>discovered_interpreter_python</a:t>
            </a:r>
            <a:r>
              <a:rPr lang="en-US" sz="700" dirty="0"/>
              <a:t>": "/</a:t>
            </a:r>
            <a:r>
              <a:rPr lang="en-US" sz="700" dirty="0" err="1"/>
              <a:t>usr</a:t>
            </a:r>
            <a:r>
              <a:rPr lang="en-US" sz="700" dirty="0"/>
              <a:t>/bin/python3"</a:t>
            </a:r>
          </a:p>
          <a:p>
            <a:r>
              <a:rPr lang="en-US" sz="700" dirty="0"/>
              <a:t>    },</a:t>
            </a:r>
          </a:p>
          <a:p>
            <a:r>
              <a:rPr lang="en-US" sz="700" dirty="0"/>
              <a:t>    "changed": false,</a:t>
            </a:r>
          </a:p>
          <a:p>
            <a:r>
              <a:rPr lang="en-US" sz="700" dirty="0"/>
              <a:t>    "ping": "pong"</a:t>
            </a:r>
          </a:p>
          <a:p>
            <a:r>
              <a:rPr lang="en-US" sz="700" dirty="0"/>
              <a:t>}</a:t>
            </a:r>
          </a:p>
        </p:txBody>
      </p:sp>
      <p:sp>
        <p:nvSpPr>
          <p:cNvPr id="13" name="Rectangle 12"/>
          <p:cNvSpPr/>
          <p:nvPr/>
        </p:nvSpPr>
        <p:spPr>
          <a:xfrm>
            <a:off x="4843604" y="330898"/>
            <a:ext cx="1448410" cy="276999"/>
          </a:xfrm>
          <a:prstGeom prst="rect">
            <a:avLst/>
          </a:prstGeom>
        </p:spPr>
        <p:txBody>
          <a:bodyPr wrap="none">
            <a:spAutoFit/>
          </a:bodyPr>
          <a:lstStyle/>
          <a:p>
            <a:r>
              <a:rPr lang="en-US" sz="1200" b="1" dirty="0">
                <a:solidFill>
                  <a:srgbClr val="002060"/>
                </a:solidFill>
              </a:rPr>
              <a:t>Set </a:t>
            </a:r>
            <a:r>
              <a:rPr lang="en-US" sz="1200" b="1" dirty="0" err="1">
                <a:solidFill>
                  <a:srgbClr val="002060"/>
                </a:solidFill>
              </a:rPr>
              <a:t>Kolla</a:t>
            </a:r>
            <a:r>
              <a:rPr lang="en-US" sz="1200" b="1" dirty="0">
                <a:solidFill>
                  <a:srgbClr val="002060"/>
                </a:solidFill>
              </a:rPr>
              <a:t> passwords</a:t>
            </a:r>
          </a:p>
        </p:txBody>
      </p:sp>
      <p:sp>
        <p:nvSpPr>
          <p:cNvPr id="14" name="Rectangle 13"/>
          <p:cNvSpPr/>
          <p:nvPr/>
        </p:nvSpPr>
        <p:spPr>
          <a:xfrm>
            <a:off x="4908769" y="603858"/>
            <a:ext cx="3359232" cy="21948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14"/>
          <p:cNvSpPr/>
          <p:nvPr/>
        </p:nvSpPr>
        <p:spPr>
          <a:xfrm>
            <a:off x="4861145" y="607897"/>
            <a:ext cx="3543334" cy="215444"/>
          </a:xfrm>
          <a:prstGeom prst="rect">
            <a:avLst/>
          </a:prstGeom>
        </p:spPr>
        <p:txBody>
          <a:bodyPr wrap="square">
            <a:spAutoFit/>
          </a:bodyPr>
          <a:lstStyle/>
          <a:p>
            <a:r>
              <a:rPr lang="en-US" sz="800" dirty="0"/>
              <a:t>(</a:t>
            </a:r>
            <a:r>
              <a:rPr lang="en-US" sz="800" dirty="0" err="1"/>
              <a:t>kolla-ansible-venv</a:t>
            </a:r>
            <a:r>
              <a:rPr lang="en-US" sz="800" dirty="0"/>
              <a:t>) </a:t>
            </a:r>
            <a:r>
              <a:rPr lang="en-US" sz="800" dirty="0" smtClean="0"/>
              <a:t>amel@GPU10</a:t>
            </a:r>
            <a:r>
              <a:rPr lang="en-US" sz="800" dirty="0"/>
              <a:t>:/</a:t>
            </a:r>
            <a:r>
              <a:rPr lang="en-US" sz="800" dirty="0" err="1"/>
              <a:t>etc</a:t>
            </a:r>
            <a:r>
              <a:rPr lang="en-US" sz="800" dirty="0"/>
              <a:t>/</a:t>
            </a:r>
            <a:r>
              <a:rPr lang="en-US" sz="800" dirty="0" err="1"/>
              <a:t>kolla</a:t>
            </a:r>
            <a:r>
              <a:rPr lang="en-US" sz="800" dirty="0"/>
              <a:t>$ </a:t>
            </a:r>
            <a:r>
              <a:rPr lang="en-US" sz="800" dirty="0" err="1"/>
              <a:t>kolla-genpwd</a:t>
            </a:r>
            <a:endParaRPr lang="en-US" sz="800" dirty="0"/>
          </a:p>
        </p:txBody>
      </p:sp>
      <p:sp>
        <p:nvSpPr>
          <p:cNvPr id="16" name="Rectangle 15"/>
          <p:cNvSpPr/>
          <p:nvPr/>
        </p:nvSpPr>
        <p:spPr>
          <a:xfrm>
            <a:off x="4891228" y="968845"/>
            <a:ext cx="1973810" cy="276999"/>
          </a:xfrm>
          <a:prstGeom prst="rect">
            <a:avLst/>
          </a:prstGeom>
        </p:spPr>
        <p:txBody>
          <a:bodyPr wrap="none">
            <a:spAutoFit/>
          </a:bodyPr>
          <a:lstStyle/>
          <a:p>
            <a:r>
              <a:rPr lang="en-US" sz="1200" b="1" dirty="0">
                <a:solidFill>
                  <a:srgbClr val="002060"/>
                </a:solidFill>
              </a:rPr>
              <a:t>Edit </a:t>
            </a:r>
            <a:r>
              <a:rPr lang="en-US" sz="1200" b="1" dirty="0" err="1">
                <a:solidFill>
                  <a:srgbClr val="002060"/>
                </a:solidFill>
              </a:rPr>
              <a:t>global.yml</a:t>
            </a:r>
            <a:r>
              <a:rPr lang="en-US" sz="1200" b="1" dirty="0">
                <a:solidFill>
                  <a:srgbClr val="002060"/>
                </a:solidFill>
              </a:rPr>
              <a:t> file as below</a:t>
            </a:r>
          </a:p>
        </p:txBody>
      </p:sp>
      <p:sp>
        <p:nvSpPr>
          <p:cNvPr id="17" name="Rectangle 16"/>
          <p:cNvSpPr/>
          <p:nvPr/>
        </p:nvSpPr>
        <p:spPr>
          <a:xfrm>
            <a:off x="4956393" y="1241805"/>
            <a:ext cx="3359232" cy="21948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8" name="Rectangle 17"/>
          <p:cNvSpPr/>
          <p:nvPr/>
        </p:nvSpPr>
        <p:spPr>
          <a:xfrm>
            <a:off x="4908769" y="1245844"/>
            <a:ext cx="3543334" cy="7602081"/>
          </a:xfrm>
          <a:prstGeom prst="rect">
            <a:avLst/>
          </a:prstGeom>
        </p:spPr>
        <p:txBody>
          <a:bodyPr wrap="square">
            <a:spAutoFit/>
          </a:bodyPr>
          <a:lstStyle/>
          <a:p>
            <a:r>
              <a:rPr lang="en-US" sz="800" dirty="0"/>
              <a:t> 48 # This should be a VIP, an unused IP on your network that will float between</a:t>
            </a:r>
          </a:p>
          <a:p>
            <a:r>
              <a:rPr lang="en-US" sz="800" dirty="0"/>
              <a:t> 49 # the hosts running </a:t>
            </a:r>
            <a:r>
              <a:rPr lang="en-US" sz="800" dirty="0" err="1"/>
              <a:t>keepalived</a:t>
            </a:r>
            <a:r>
              <a:rPr lang="en-US" sz="800" dirty="0"/>
              <a:t> for high-availability. If you want to run an</a:t>
            </a:r>
          </a:p>
          <a:p>
            <a:r>
              <a:rPr lang="en-US" sz="800" dirty="0"/>
              <a:t> 50 # All-In-One without </a:t>
            </a:r>
            <a:r>
              <a:rPr lang="en-US" sz="800" dirty="0" err="1"/>
              <a:t>haproxy</a:t>
            </a:r>
            <a:r>
              <a:rPr lang="en-US" sz="800" dirty="0"/>
              <a:t> and </a:t>
            </a:r>
            <a:r>
              <a:rPr lang="en-US" sz="800" dirty="0" err="1"/>
              <a:t>keepalived</a:t>
            </a:r>
            <a:r>
              <a:rPr lang="en-US" sz="800" dirty="0"/>
              <a:t>, you can set </a:t>
            </a:r>
            <a:r>
              <a:rPr lang="en-US" sz="800" dirty="0" err="1"/>
              <a:t>enable_haproxy</a:t>
            </a:r>
            <a:r>
              <a:rPr lang="en-US" sz="800" dirty="0"/>
              <a:t> to no</a:t>
            </a:r>
          </a:p>
          <a:p>
            <a:r>
              <a:rPr lang="en-US" sz="800" dirty="0"/>
              <a:t> 51 # in "OpenStack options" section, and set this value to the IP of your</a:t>
            </a:r>
          </a:p>
          <a:p>
            <a:r>
              <a:rPr lang="en-US" sz="800" dirty="0"/>
              <a:t> 52 # '</a:t>
            </a:r>
            <a:r>
              <a:rPr lang="en-US" sz="800" dirty="0" err="1"/>
              <a:t>network_interface</a:t>
            </a:r>
            <a:r>
              <a:rPr lang="en-US" sz="800" dirty="0"/>
              <a:t>' as set in the Networking section below.</a:t>
            </a:r>
          </a:p>
          <a:p>
            <a:r>
              <a:rPr lang="en-US" sz="800" dirty="0"/>
              <a:t> 53 #</a:t>
            </a:r>
            <a:r>
              <a:rPr lang="en-US" sz="800" dirty="0" err="1"/>
              <a:t>kolla_internal_vip_address</a:t>
            </a:r>
            <a:r>
              <a:rPr lang="en-US" sz="800" dirty="0"/>
              <a:t>: "10.10.10.254"</a:t>
            </a:r>
          </a:p>
          <a:p>
            <a:r>
              <a:rPr lang="en-US" sz="800" dirty="0"/>
              <a:t> 54 </a:t>
            </a:r>
            <a:r>
              <a:rPr lang="en-US" sz="800" dirty="0" err="1"/>
              <a:t>kolla_internal_vip_address</a:t>
            </a:r>
            <a:r>
              <a:rPr lang="en-US" sz="800" dirty="0"/>
              <a:t>: "192.168.1.250"</a:t>
            </a:r>
          </a:p>
          <a:p>
            <a:r>
              <a:rPr lang="en-US" sz="800" dirty="0"/>
              <a:t> </a:t>
            </a:r>
          </a:p>
          <a:p>
            <a:r>
              <a:rPr lang="en-US" sz="800" dirty="0"/>
              <a:t>111 ##############################</a:t>
            </a:r>
          </a:p>
          <a:p>
            <a:r>
              <a:rPr lang="en-US" sz="800" dirty="0"/>
              <a:t>112 # Neutron - Networking Options</a:t>
            </a:r>
          </a:p>
          <a:p>
            <a:r>
              <a:rPr lang="en-US" sz="800" dirty="0"/>
              <a:t>113 ##############################</a:t>
            </a:r>
          </a:p>
          <a:p>
            <a:r>
              <a:rPr lang="en-US" sz="800" dirty="0"/>
              <a:t>114 # This interface is what all your </a:t>
            </a:r>
            <a:r>
              <a:rPr lang="en-US" sz="800" dirty="0" err="1"/>
              <a:t>api</a:t>
            </a:r>
            <a:r>
              <a:rPr lang="en-US" sz="800" dirty="0"/>
              <a:t> services will be bound to by default.</a:t>
            </a:r>
          </a:p>
          <a:p>
            <a:r>
              <a:rPr lang="en-US" sz="800" dirty="0"/>
              <a:t>115 # Additionally, all </a:t>
            </a:r>
            <a:r>
              <a:rPr lang="en-US" sz="800" dirty="0" err="1"/>
              <a:t>vxlan</a:t>
            </a:r>
            <a:r>
              <a:rPr lang="en-US" sz="800" dirty="0"/>
              <a:t>/tunnel and storage network traffic will go over this</a:t>
            </a:r>
          </a:p>
          <a:p>
            <a:r>
              <a:rPr lang="en-US" sz="800" dirty="0"/>
              <a:t>116 # interface by default. This interface must contain an IP address.</a:t>
            </a:r>
          </a:p>
          <a:p>
            <a:r>
              <a:rPr lang="en-US" sz="800" dirty="0"/>
              <a:t>117 # It is possible for hosts to have non-matching names of interfaces - these can</a:t>
            </a:r>
          </a:p>
          <a:p>
            <a:r>
              <a:rPr lang="en-US" sz="800" dirty="0"/>
              <a:t>118 # be set in an inventory file per host or per group or stored separately, see</a:t>
            </a:r>
          </a:p>
          <a:p>
            <a:r>
              <a:rPr lang="en-US" sz="800" dirty="0"/>
              <a:t>119 #     http://docs.ansible.com/ansible/intro_inventory.html</a:t>
            </a:r>
          </a:p>
          <a:p>
            <a:r>
              <a:rPr lang="en-US" sz="800" dirty="0"/>
              <a:t>120 # Yet another way to workaround the naming problem is to create a bond for the</a:t>
            </a:r>
          </a:p>
          <a:p>
            <a:r>
              <a:rPr lang="en-US" sz="800" dirty="0"/>
              <a:t>121 # interface on all hosts and give the bond name here. Similar strategy can be</a:t>
            </a:r>
          </a:p>
          <a:p>
            <a:r>
              <a:rPr lang="en-US" sz="800" dirty="0"/>
              <a:t>122 # followed for other types of interfaces.</a:t>
            </a:r>
          </a:p>
          <a:p>
            <a:r>
              <a:rPr lang="en-US" sz="800" dirty="0"/>
              <a:t>123 #</a:t>
            </a:r>
            <a:r>
              <a:rPr lang="en-US" sz="800" dirty="0" err="1"/>
              <a:t>network_interface</a:t>
            </a:r>
            <a:r>
              <a:rPr lang="en-US" sz="800" dirty="0"/>
              <a:t>: "eth0"</a:t>
            </a:r>
          </a:p>
          <a:p>
            <a:r>
              <a:rPr lang="en-US" sz="800" dirty="0"/>
              <a:t>124 </a:t>
            </a:r>
            <a:r>
              <a:rPr lang="en-US" sz="800" dirty="0" err="1"/>
              <a:t>network_interface</a:t>
            </a:r>
            <a:r>
              <a:rPr lang="en-US" sz="800" dirty="0"/>
              <a:t>: "eno1"</a:t>
            </a:r>
          </a:p>
          <a:p>
            <a:endParaRPr lang="en-US" sz="800" dirty="0"/>
          </a:p>
          <a:p>
            <a:r>
              <a:rPr lang="en-US" sz="800" dirty="0"/>
              <a:t>149 # This is the raw interface given to neutron as its external network port. Even</a:t>
            </a:r>
          </a:p>
          <a:p>
            <a:r>
              <a:rPr lang="en-US" sz="800" dirty="0"/>
              <a:t>150 # though an IP address can exist on this interface, it will be unusable in most</a:t>
            </a:r>
          </a:p>
          <a:p>
            <a:r>
              <a:rPr lang="en-US" sz="800" dirty="0"/>
              <a:t>151 # configurations. It is recommended this interface not be configured with any IP</a:t>
            </a:r>
          </a:p>
          <a:p>
            <a:r>
              <a:rPr lang="en-US" sz="800" dirty="0"/>
              <a:t>152 # addresses for that reason.</a:t>
            </a:r>
          </a:p>
          <a:p>
            <a:r>
              <a:rPr lang="en-US" sz="800" dirty="0"/>
              <a:t>153 #</a:t>
            </a:r>
            <a:r>
              <a:rPr lang="en-US" sz="800" dirty="0" err="1"/>
              <a:t>neutron_external_interface</a:t>
            </a:r>
            <a:r>
              <a:rPr lang="en-US" sz="800" dirty="0"/>
              <a:t>: "eth1"</a:t>
            </a:r>
          </a:p>
          <a:p>
            <a:r>
              <a:rPr lang="en-US" sz="800" dirty="0"/>
              <a:t>154 </a:t>
            </a:r>
            <a:r>
              <a:rPr lang="en-US" sz="800" dirty="0" err="1"/>
              <a:t>neutron_external_interface</a:t>
            </a:r>
            <a:r>
              <a:rPr lang="en-US" sz="800" dirty="0"/>
              <a:t>: "eno2"</a:t>
            </a:r>
          </a:p>
          <a:p>
            <a:endParaRPr lang="en-US" sz="800" dirty="0"/>
          </a:p>
          <a:p>
            <a:r>
              <a:rPr lang="en-US" sz="800" dirty="0"/>
              <a:t>302 # OpenStack services can be enabled or disabled with these options</a:t>
            </a:r>
          </a:p>
          <a:p>
            <a:r>
              <a:rPr lang="en-US" sz="800" dirty="0"/>
              <a:t>303 #</a:t>
            </a:r>
            <a:r>
              <a:rPr lang="en-US" sz="800" dirty="0" err="1"/>
              <a:t>enable_aodh</a:t>
            </a:r>
            <a:r>
              <a:rPr lang="en-US" sz="800" dirty="0"/>
              <a:t>: "no"</a:t>
            </a:r>
          </a:p>
          <a:p>
            <a:r>
              <a:rPr lang="en-US" sz="800" dirty="0"/>
              <a:t>304 #</a:t>
            </a:r>
            <a:r>
              <a:rPr lang="en-US" sz="800" dirty="0" err="1"/>
              <a:t>enable_barbican</a:t>
            </a:r>
            <a:r>
              <a:rPr lang="en-US" sz="800" dirty="0"/>
              <a:t>: "no"</a:t>
            </a:r>
          </a:p>
          <a:p>
            <a:r>
              <a:rPr lang="en-US" sz="800" dirty="0"/>
              <a:t>305 #</a:t>
            </a:r>
            <a:r>
              <a:rPr lang="en-US" sz="800" dirty="0" err="1"/>
              <a:t>enable_blazar</a:t>
            </a:r>
            <a:r>
              <a:rPr lang="en-US" sz="800" dirty="0"/>
              <a:t>: "no"</a:t>
            </a:r>
          </a:p>
          <a:p>
            <a:r>
              <a:rPr lang="en-US" sz="800" dirty="0"/>
              <a:t>306 #</a:t>
            </a:r>
            <a:r>
              <a:rPr lang="en-US" sz="800" dirty="0" err="1"/>
              <a:t>enable_ceilometer</a:t>
            </a:r>
            <a:r>
              <a:rPr lang="en-US" sz="800" dirty="0"/>
              <a:t>: "no"</a:t>
            </a:r>
          </a:p>
          <a:p>
            <a:r>
              <a:rPr lang="en-US" sz="800" dirty="0"/>
              <a:t>307 #</a:t>
            </a:r>
            <a:r>
              <a:rPr lang="en-US" sz="800" dirty="0" err="1"/>
              <a:t>enable_ceilometer_ipmi</a:t>
            </a:r>
            <a:r>
              <a:rPr lang="en-US" sz="800" dirty="0"/>
              <a:t>: "no"</a:t>
            </a:r>
          </a:p>
          <a:p>
            <a:r>
              <a:rPr lang="en-US" sz="800" dirty="0"/>
              <a:t>308 #</a:t>
            </a:r>
            <a:r>
              <a:rPr lang="en-US" sz="800" dirty="0" err="1"/>
              <a:t>enable_cells</a:t>
            </a:r>
            <a:r>
              <a:rPr lang="en-US" sz="800" dirty="0"/>
              <a:t>: "no"</a:t>
            </a:r>
          </a:p>
          <a:p>
            <a:r>
              <a:rPr lang="en-US" sz="800" dirty="0"/>
              <a:t>309 #</a:t>
            </a:r>
            <a:r>
              <a:rPr lang="en-US" sz="800" dirty="0" err="1"/>
              <a:t>enable_central_logging</a:t>
            </a:r>
            <a:r>
              <a:rPr lang="en-US" sz="800" dirty="0"/>
              <a:t>: "no"</a:t>
            </a:r>
          </a:p>
          <a:p>
            <a:r>
              <a:rPr lang="en-US" sz="800" dirty="0"/>
              <a:t>310 #</a:t>
            </a:r>
            <a:r>
              <a:rPr lang="en-US" sz="800" dirty="0" err="1"/>
              <a:t>enable_ceph_rgw</a:t>
            </a:r>
            <a:r>
              <a:rPr lang="en-US" sz="800" dirty="0"/>
              <a:t>: "no"</a:t>
            </a:r>
          </a:p>
          <a:p>
            <a:r>
              <a:rPr lang="en-US" sz="800" dirty="0"/>
              <a:t>311 #</a:t>
            </a:r>
            <a:r>
              <a:rPr lang="en-US" sz="800" dirty="0" err="1"/>
              <a:t>enable_ceph_rgw_loadbalancer</a:t>
            </a:r>
            <a:r>
              <a:rPr lang="en-US" sz="800" dirty="0"/>
              <a:t>: "{{ </a:t>
            </a:r>
            <a:r>
              <a:rPr lang="en-US" sz="800" dirty="0" err="1"/>
              <a:t>enable_ceph_rgw</a:t>
            </a:r>
            <a:r>
              <a:rPr lang="en-US" sz="800" dirty="0"/>
              <a:t> | bool }}"</a:t>
            </a:r>
          </a:p>
          <a:p>
            <a:r>
              <a:rPr lang="en-US" sz="800" dirty="0"/>
              <a:t>312 #</a:t>
            </a:r>
            <a:r>
              <a:rPr lang="en-US" sz="800" dirty="0" err="1"/>
              <a:t>enable_cinder</a:t>
            </a:r>
            <a:r>
              <a:rPr lang="en-US" sz="800" dirty="0"/>
              <a:t>: "no"</a:t>
            </a:r>
          </a:p>
          <a:p>
            <a:r>
              <a:rPr lang="en-US" sz="800" dirty="0"/>
              <a:t>313 </a:t>
            </a:r>
            <a:r>
              <a:rPr lang="en-US" sz="800" dirty="0" err="1"/>
              <a:t>enable_cinder</a:t>
            </a:r>
            <a:r>
              <a:rPr lang="en-US" sz="800" dirty="0"/>
              <a:t>: "yes"</a:t>
            </a:r>
          </a:p>
          <a:p>
            <a:r>
              <a:rPr lang="en-US" sz="800" dirty="0"/>
              <a:t>314 #</a:t>
            </a:r>
            <a:r>
              <a:rPr lang="en-US" sz="800" dirty="0" err="1"/>
              <a:t>enable_cinder_backup</a:t>
            </a:r>
            <a:r>
              <a:rPr lang="en-US" sz="800" dirty="0"/>
              <a:t>: "yes"</a:t>
            </a:r>
          </a:p>
          <a:p>
            <a:r>
              <a:rPr lang="en-US" sz="800" dirty="0"/>
              <a:t>315 </a:t>
            </a:r>
            <a:r>
              <a:rPr lang="en-US" sz="800" dirty="0" err="1"/>
              <a:t>enable_cinder_backup</a:t>
            </a:r>
            <a:r>
              <a:rPr lang="en-US" sz="800" dirty="0"/>
              <a:t>: "yes"</a:t>
            </a:r>
          </a:p>
          <a:p>
            <a:r>
              <a:rPr lang="en-US" sz="800" dirty="0"/>
              <a:t>316 #</a:t>
            </a:r>
            <a:r>
              <a:rPr lang="en-US" sz="800" dirty="0" err="1"/>
              <a:t>enable_cinder_backend_hnas_nfs</a:t>
            </a:r>
            <a:r>
              <a:rPr lang="en-US" sz="800" dirty="0"/>
              <a:t>: "no"</a:t>
            </a:r>
          </a:p>
          <a:p>
            <a:r>
              <a:rPr lang="en-US" sz="800" dirty="0"/>
              <a:t>317 #</a:t>
            </a:r>
            <a:r>
              <a:rPr lang="en-US" sz="800" dirty="0" err="1"/>
              <a:t>enable_cinder_backend_iscsi</a:t>
            </a:r>
            <a:r>
              <a:rPr lang="en-US" sz="800" dirty="0"/>
              <a:t>: "{{ </a:t>
            </a:r>
            <a:r>
              <a:rPr lang="en-US" sz="800" dirty="0" err="1"/>
              <a:t>enable_cinder_backend_lvm</a:t>
            </a:r>
            <a:r>
              <a:rPr lang="en-US" sz="800" dirty="0"/>
              <a:t> | bool }}"</a:t>
            </a:r>
          </a:p>
          <a:p>
            <a:r>
              <a:rPr lang="en-US" sz="800" dirty="0"/>
              <a:t>318 #</a:t>
            </a:r>
            <a:r>
              <a:rPr lang="en-US" sz="800" dirty="0" err="1"/>
              <a:t>enable_cinder_backend_lvm</a:t>
            </a:r>
            <a:r>
              <a:rPr lang="en-US" sz="800" dirty="0"/>
              <a:t>: "no"</a:t>
            </a:r>
          </a:p>
          <a:p>
            <a:r>
              <a:rPr lang="en-US" sz="800" dirty="0"/>
              <a:t>319 #</a:t>
            </a:r>
            <a:r>
              <a:rPr lang="en-US" sz="800" dirty="0" err="1"/>
              <a:t>enable_cinder_backend_nfs</a:t>
            </a:r>
            <a:r>
              <a:rPr lang="en-US" sz="800" dirty="0"/>
              <a:t>: "no"</a:t>
            </a:r>
          </a:p>
          <a:p>
            <a:r>
              <a:rPr lang="en-US" sz="800" dirty="0"/>
              <a:t>320 </a:t>
            </a:r>
            <a:r>
              <a:rPr lang="en-US" sz="800" dirty="0" err="1"/>
              <a:t>enable_cinder_backend_nfs</a:t>
            </a:r>
            <a:r>
              <a:rPr lang="en-US" sz="800" dirty="0"/>
              <a:t>: "yes"</a:t>
            </a:r>
          </a:p>
          <a:p>
            <a:endParaRPr lang="en-US" sz="800" dirty="0"/>
          </a:p>
          <a:p>
            <a:r>
              <a:rPr lang="en-US" sz="800" dirty="0"/>
              <a:t>544 # Valid options are [ </a:t>
            </a:r>
            <a:r>
              <a:rPr lang="en-US" sz="800" dirty="0" err="1"/>
              <a:t>nfs</a:t>
            </a:r>
            <a:r>
              <a:rPr lang="en-US" sz="800" dirty="0"/>
              <a:t>, swift, </a:t>
            </a:r>
            <a:r>
              <a:rPr lang="en-US" sz="800" dirty="0" err="1"/>
              <a:t>ceph</a:t>
            </a:r>
            <a:r>
              <a:rPr lang="en-US" sz="800" dirty="0"/>
              <a:t> ]</a:t>
            </a:r>
          </a:p>
          <a:p>
            <a:r>
              <a:rPr lang="en-US" sz="800" dirty="0"/>
              <a:t>545 #</a:t>
            </a:r>
            <a:r>
              <a:rPr lang="en-US" sz="800" dirty="0" err="1"/>
              <a:t>cinder_backup_driver</a:t>
            </a:r>
            <a:r>
              <a:rPr lang="en-US" sz="800" dirty="0"/>
              <a:t>: "</a:t>
            </a:r>
            <a:r>
              <a:rPr lang="en-US" sz="800" dirty="0" err="1"/>
              <a:t>ceph</a:t>
            </a:r>
            <a:r>
              <a:rPr lang="en-US" sz="800" dirty="0"/>
              <a:t>"</a:t>
            </a:r>
          </a:p>
          <a:p>
            <a:r>
              <a:rPr lang="en-US" sz="800" dirty="0"/>
              <a:t>546 #</a:t>
            </a:r>
            <a:r>
              <a:rPr lang="en-US" sz="800" dirty="0" err="1"/>
              <a:t>cinder_backup_share</a:t>
            </a:r>
            <a:r>
              <a:rPr lang="en-US" sz="800" dirty="0"/>
              <a:t>: ""</a:t>
            </a:r>
          </a:p>
          <a:p>
            <a:r>
              <a:rPr lang="en-US" sz="800" dirty="0"/>
              <a:t>547 #</a:t>
            </a:r>
            <a:r>
              <a:rPr lang="en-US" sz="800" dirty="0" err="1"/>
              <a:t>cinder_backup_mount_options_nfs</a:t>
            </a:r>
            <a:r>
              <a:rPr lang="en-US" sz="800" dirty="0"/>
              <a:t>: ""</a:t>
            </a:r>
          </a:p>
          <a:p>
            <a:r>
              <a:rPr lang="en-US" sz="800" dirty="0"/>
              <a:t>548 </a:t>
            </a:r>
            <a:r>
              <a:rPr lang="en-US" sz="800" dirty="0" err="1"/>
              <a:t>cinder_backup_driver</a:t>
            </a:r>
            <a:r>
              <a:rPr lang="en-US" sz="800" dirty="0"/>
              <a:t>: "</a:t>
            </a:r>
            <a:r>
              <a:rPr lang="en-US" sz="800" dirty="0" err="1"/>
              <a:t>nfs</a:t>
            </a:r>
            <a:r>
              <a:rPr lang="en-US" sz="800" dirty="0"/>
              <a:t>"</a:t>
            </a:r>
          </a:p>
          <a:p>
            <a:r>
              <a:rPr lang="en-US" sz="800" dirty="0"/>
              <a:t>549 </a:t>
            </a:r>
            <a:r>
              <a:rPr lang="en-US" sz="800" dirty="0" err="1"/>
              <a:t>cinder_backup_share</a:t>
            </a:r>
            <a:r>
              <a:rPr lang="en-US" sz="800" dirty="0"/>
              <a:t>: </a:t>
            </a:r>
            <a:r>
              <a:rPr lang="en-US" sz="800" dirty="0" smtClean="0"/>
              <a:t>"GPU111</a:t>
            </a:r>
            <a:r>
              <a:rPr lang="en-US" sz="800" dirty="0"/>
              <a:t>:/</a:t>
            </a:r>
            <a:r>
              <a:rPr lang="en-US" sz="800" dirty="0" err="1"/>
              <a:t>kolla_nfs</a:t>
            </a:r>
            <a:r>
              <a:rPr lang="en-US" sz="800" dirty="0"/>
              <a:t>"</a:t>
            </a:r>
          </a:p>
          <a:p>
            <a:r>
              <a:rPr lang="en-US" sz="800" dirty="0"/>
              <a:t>550 </a:t>
            </a:r>
            <a:r>
              <a:rPr lang="en-US" sz="800" dirty="0" err="1"/>
              <a:t>cinder_backup_mount_options_nfs</a:t>
            </a:r>
            <a:r>
              <a:rPr lang="en-US" sz="800" dirty="0"/>
              <a:t>: ""</a:t>
            </a:r>
          </a:p>
        </p:txBody>
      </p:sp>
    </p:spTree>
    <p:extLst>
      <p:ext uri="{BB962C8B-B14F-4D97-AF65-F5344CB8AC3E}">
        <p14:creationId xmlns:p14="http://schemas.microsoft.com/office/powerpoint/2010/main" val="2971812260"/>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60</a:t>
            </a:fld>
            <a:endParaRPr lang="en-US" dirty="0"/>
          </a:p>
        </p:txBody>
      </p:sp>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3124445" cy="276999"/>
          </a:xfrm>
          <a:prstGeom prst="rect">
            <a:avLst/>
          </a:prstGeom>
        </p:spPr>
        <p:txBody>
          <a:bodyPr wrap="none">
            <a:spAutoFit/>
          </a:bodyPr>
          <a:lstStyle/>
          <a:p>
            <a:r>
              <a:rPr lang="en-US" sz="1200" b="1" dirty="0">
                <a:solidFill>
                  <a:srgbClr val="002060"/>
                </a:solidFill>
              </a:rPr>
              <a:t>Create "</a:t>
            </a:r>
            <a:r>
              <a:rPr lang="en-US" sz="1200" b="1" dirty="0" err="1">
                <a:solidFill>
                  <a:srgbClr val="002060"/>
                </a:solidFill>
              </a:rPr>
              <a:t>nfs_shares</a:t>
            </a:r>
            <a:r>
              <a:rPr lang="en-US" sz="1200" b="1" dirty="0">
                <a:solidFill>
                  <a:srgbClr val="002060"/>
                </a:solidFill>
              </a:rPr>
              <a:t>" file with </a:t>
            </a:r>
            <a:r>
              <a:rPr lang="en-US" sz="1200" b="1" dirty="0" err="1">
                <a:solidFill>
                  <a:srgbClr val="002060"/>
                </a:solidFill>
              </a:rPr>
              <a:t>nfs</a:t>
            </a:r>
            <a:r>
              <a:rPr lang="en-US" sz="1200" b="1" dirty="0">
                <a:solidFill>
                  <a:srgbClr val="002060"/>
                </a:solidFill>
              </a:rPr>
              <a:t> configuration</a:t>
            </a:r>
          </a:p>
        </p:txBody>
      </p:sp>
      <p:sp>
        <p:nvSpPr>
          <p:cNvPr id="7" name="Rectangle 6"/>
          <p:cNvSpPr/>
          <p:nvPr/>
        </p:nvSpPr>
        <p:spPr>
          <a:xfrm>
            <a:off x="111394" y="623721"/>
            <a:ext cx="2955517" cy="44584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8" name="Rectangle 7"/>
          <p:cNvSpPr/>
          <p:nvPr/>
        </p:nvSpPr>
        <p:spPr>
          <a:xfrm>
            <a:off x="63770" y="607897"/>
            <a:ext cx="3608499" cy="461665"/>
          </a:xfrm>
          <a:prstGeom prst="rect">
            <a:avLst/>
          </a:prstGeom>
        </p:spPr>
        <p:txBody>
          <a:bodyPr wrap="square">
            <a:spAutoFit/>
          </a:bodyPr>
          <a:lstStyle/>
          <a:p>
            <a:r>
              <a:rPr lang="en-US" sz="800" dirty="0" smtClean="0"/>
              <a:t>amel@GPU10</a:t>
            </a:r>
            <a:r>
              <a:rPr lang="en-US" sz="800" dirty="0"/>
              <a:t>:/</a:t>
            </a:r>
            <a:r>
              <a:rPr lang="en-US" sz="800" dirty="0" err="1"/>
              <a:t>etc</a:t>
            </a:r>
            <a:r>
              <a:rPr lang="en-US" sz="800" dirty="0"/>
              <a:t>/</a:t>
            </a:r>
            <a:r>
              <a:rPr lang="en-US" sz="800" dirty="0" err="1"/>
              <a:t>kolla</a:t>
            </a:r>
            <a:r>
              <a:rPr lang="en-US" sz="800" dirty="0"/>
              <a:t>$ </a:t>
            </a:r>
            <a:r>
              <a:rPr lang="en-US" sz="800" dirty="0" err="1"/>
              <a:t>mkdir</a:t>
            </a:r>
            <a:r>
              <a:rPr lang="en-US" sz="800" dirty="0"/>
              <a:t> </a:t>
            </a:r>
            <a:r>
              <a:rPr lang="en-US" sz="800" dirty="0" err="1"/>
              <a:t>config</a:t>
            </a:r>
            <a:r>
              <a:rPr lang="en-US" sz="800" dirty="0"/>
              <a:t> </a:t>
            </a:r>
            <a:endParaRPr lang="en-US" sz="800" dirty="0" smtClean="0"/>
          </a:p>
          <a:p>
            <a:r>
              <a:rPr lang="en-US" sz="800" dirty="0" smtClean="0"/>
              <a:t>amel@GPU10</a:t>
            </a:r>
            <a:r>
              <a:rPr lang="en-US" sz="800" dirty="0"/>
              <a:t>:/</a:t>
            </a:r>
            <a:r>
              <a:rPr lang="en-US" sz="800" dirty="0" err="1"/>
              <a:t>etc</a:t>
            </a:r>
            <a:r>
              <a:rPr lang="en-US" sz="800" dirty="0"/>
              <a:t>/</a:t>
            </a:r>
            <a:r>
              <a:rPr lang="en-US" sz="800" dirty="0" err="1"/>
              <a:t>kolla</a:t>
            </a:r>
            <a:r>
              <a:rPr lang="en-US" sz="800" dirty="0"/>
              <a:t>$ cat </a:t>
            </a:r>
            <a:r>
              <a:rPr lang="en-US" sz="800" dirty="0" err="1"/>
              <a:t>config</a:t>
            </a:r>
            <a:r>
              <a:rPr lang="en-US" sz="800" dirty="0"/>
              <a:t>/</a:t>
            </a:r>
            <a:r>
              <a:rPr lang="en-US" sz="800" dirty="0" err="1"/>
              <a:t>nfs_shares</a:t>
            </a:r>
            <a:r>
              <a:rPr lang="en-US" sz="800" dirty="0"/>
              <a:t> </a:t>
            </a:r>
            <a:endParaRPr lang="en-US" sz="800" dirty="0" smtClean="0"/>
          </a:p>
          <a:p>
            <a:r>
              <a:rPr lang="en-US" sz="800" dirty="0" smtClean="0"/>
              <a:t>GPU111</a:t>
            </a:r>
            <a:r>
              <a:rPr lang="en-US" sz="800" dirty="0"/>
              <a:t>:/</a:t>
            </a:r>
            <a:r>
              <a:rPr lang="en-US" sz="800" dirty="0" err="1"/>
              <a:t>kolla_nfs</a:t>
            </a:r>
            <a:endParaRPr lang="en-US" sz="800" dirty="0"/>
          </a:p>
        </p:txBody>
      </p:sp>
      <p:sp>
        <p:nvSpPr>
          <p:cNvPr id="13" name="Rectangle 12"/>
          <p:cNvSpPr/>
          <p:nvPr/>
        </p:nvSpPr>
        <p:spPr>
          <a:xfrm>
            <a:off x="3844035" y="414183"/>
            <a:ext cx="3282502" cy="461665"/>
          </a:xfrm>
          <a:prstGeom prst="rect">
            <a:avLst/>
          </a:prstGeom>
        </p:spPr>
        <p:txBody>
          <a:bodyPr wrap="none">
            <a:spAutoFit/>
          </a:bodyPr>
          <a:lstStyle/>
          <a:p>
            <a:r>
              <a:rPr lang="en-US" sz="1200" b="1" dirty="0">
                <a:solidFill>
                  <a:srgbClr val="002060"/>
                </a:solidFill>
              </a:rPr>
              <a:t>3. </a:t>
            </a:r>
            <a:r>
              <a:rPr lang="en-US" sz="1200" b="1" dirty="0" smtClean="0">
                <a:solidFill>
                  <a:srgbClr val="002060"/>
                </a:solidFill>
              </a:rPr>
              <a:t>Deployment</a:t>
            </a:r>
          </a:p>
          <a:p>
            <a:r>
              <a:rPr lang="en-US" sz="1200" dirty="0"/>
              <a:t>Bootstrap servers with </a:t>
            </a:r>
            <a:r>
              <a:rPr lang="en-US" sz="1200" dirty="0" err="1"/>
              <a:t>kolla</a:t>
            </a:r>
            <a:r>
              <a:rPr lang="en-US" sz="1200" dirty="0"/>
              <a:t> deploy dependencies</a:t>
            </a:r>
            <a:endParaRPr lang="en-US" sz="1200" b="1" dirty="0">
              <a:solidFill>
                <a:srgbClr val="002060"/>
              </a:solidFill>
            </a:endParaRPr>
          </a:p>
        </p:txBody>
      </p:sp>
      <p:sp>
        <p:nvSpPr>
          <p:cNvPr id="14" name="Rectangle 13"/>
          <p:cNvSpPr/>
          <p:nvPr/>
        </p:nvSpPr>
        <p:spPr>
          <a:xfrm>
            <a:off x="3927414" y="915692"/>
            <a:ext cx="3359232" cy="111203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14"/>
          <p:cNvSpPr/>
          <p:nvPr/>
        </p:nvSpPr>
        <p:spPr>
          <a:xfrm>
            <a:off x="3879790" y="919732"/>
            <a:ext cx="3944293" cy="1015663"/>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kolla-ansible</a:t>
            </a:r>
            <a:r>
              <a:rPr lang="en-US" sz="600" dirty="0"/>
              <a:t> -</a:t>
            </a:r>
            <a:r>
              <a:rPr lang="en-US" sz="600" dirty="0" err="1"/>
              <a:t>i</a:t>
            </a:r>
            <a:r>
              <a:rPr lang="en-US" sz="600" dirty="0"/>
              <a:t> ./</a:t>
            </a:r>
            <a:r>
              <a:rPr lang="en-US" sz="600" dirty="0" err="1"/>
              <a:t>multinode</a:t>
            </a:r>
            <a:r>
              <a:rPr lang="en-US" sz="600" dirty="0"/>
              <a:t> bootstrap-servers</a:t>
            </a:r>
          </a:p>
          <a:p>
            <a:endParaRPr lang="en-US" sz="600" dirty="0"/>
          </a:p>
          <a:p>
            <a:r>
              <a:rPr lang="en-US" sz="600" dirty="0"/>
              <a:t>... output omit</a:t>
            </a:r>
          </a:p>
          <a:p>
            <a:endParaRPr lang="en-US" sz="600" dirty="0"/>
          </a:p>
          <a:p>
            <a:r>
              <a:rPr lang="en-US" sz="600" dirty="0"/>
              <a:t>PLAY RECAP </a:t>
            </a:r>
            <a:r>
              <a:rPr lang="en-US" sz="600" dirty="0" smtClean="0"/>
              <a:t>*****************************************************************************</a:t>
            </a:r>
            <a:endParaRPr lang="en-US" sz="600" dirty="0"/>
          </a:p>
          <a:p>
            <a:r>
              <a:rPr lang="en-US" sz="600" dirty="0"/>
              <a:t>localhost                  : ok=2    changed=0    unreachable=0    failed=0    skipped=0    rescued=0    ignored=0   </a:t>
            </a:r>
          </a:p>
          <a:p>
            <a:r>
              <a:rPr lang="en-US" sz="600" dirty="0" smtClean="0"/>
              <a:t>GPU111                     </a:t>
            </a:r>
            <a:r>
              <a:rPr lang="en-US" sz="600" dirty="0"/>
              <a:t>: ok=31   changed=15   unreachable=0    failed=0    skipped=21   rescued=0    ignored=0   </a:t>
            </a:r>
          </a:p>
          <a:p>
            <a:r>
              <a:rPr lang="en-US" sz="600" dirty="0" smtClean="0"/>
              <a:t>GPU71                      </a:t>
            </a:r>
            <a:r>
              <a:rPr lang="en-US" sz="600" dirty="0"/>
              <a:t>: ok=30   changed=14   unreachable=0    failed=0    skipped=22   rescued=0    ignored=0   </a:t>
            </a:r>
          </a:p>
          <a:p>
            <a:r>
              <a:rPr lang="en-US" sz="600" dirty="0" smtClean="0"/>
              <a:t>GPU72                      </a:t>
            </a:r>
            <a:r>
              <a:rPr lang="en-US" sz="600" dirty="0"/>
              <a:t>: ok=30   changed=14   unreachable=0    failed=0    skipped=22   rescued=0    ignored=0   </a:t>
            </a:r>
          </a:p>
          <a:p>
            <a:r>
              <a:rPr lang="en-US" sz="600" dirty="0" smtClean="0"/>
              <a:t>GPU73                      </a:t>
            </a:r>
            <a:r>
              <a:rPr lang="en-US" sz="600" dirty="0"/>
              <a:t>: ok=30   changed=14   unreachable=0    failed=0    skipped=22   rescued=0    ignored=0 </a:t>
            </a:r>
          </a:p>
        </p:txBody>
      </p:sp>
      <p:sp>
        <p:nvSpPr>
          <p:cNvPr id="19" name="Rectangle 18"/>
          <p:cNvSpPr/>
          <p:nvPr/>
        </p:nvSpPr>
        <p:spPr>
          <a:xfrm>
            <a:off x="3822013" y="2087621"/>
            <a:ext cx="3556797" cy="461665"/>
          </a:xfrm>
          <a:prstGeom prst="rect">
            <a:avLst/>
          </a:prstGeom>
        </p:spPr>
        <p:txBody>
          <a:bodyPr wrap="square">
            <a:spAutoFit/>
          </a:bodyPr>
          <a:lstStyle/>
          <a:p>
            <a:pPr algn="just"/>
            <a:r>
              <a:rPr lang="en-US" sz="800" b="1" dirty="0"/>
              <a:t>NOTE: </a:t>
            </a:r>
            <a:r>
              <a:rPr lang="en-US" sz="800" dirty="0"/>
              <a:t>if bootstrap-servers playbook failed with error. Failed to update apt cache: W:Updating from such a repository can't be done securely, and is therefore disabled by default, re-run the playbook</a:t>
            </a:r>
            <a:r>
              <a:rPr lang="en-US" sz="800" b="1" dirty="0"/>
              <a:t>.</a:t>
            </a:r>
            <a:endParaRPr lang="en-US" sz="800" dirty="0"/>
          </a:p>
        </p:txBody>
      </p:sp>
      <p:sp>
        <p:nvSpPr>
          <p:cNvPr id="16" name="Rectangle 15"/>
          <p:cNvSpPr/>
          <p:nvPr/>
        </p:nvSpPr>
        <p:spPr>
          <a:xfrm>
            <a:off x="63770" y="1240857"/>
            <a:ext cx="3505190" cy="276999"/>
          </a:xfrm>
          <a:prstGeom prst="rect">
            <a:avLst/>
          </a:prstGeom>
        </p:spPr>
        <p:txBody>
          <a:bodyPr wrap="none">
            <a:spAutoFit/>
          </a:bodyPr>
          <a:lstStyle/>
          <a:p>
            <a:r>
              <a:rPr lang="en-US" sz="1200" b="1" dirty="0">
                <a:solidFill>
                  <a:srgbClr val="002060"/>
                </a:solidFill>
              </a:rPr>
              <a:t>2. Setup NFS server on controller for cinder backend</a:t>
            </a:r>
          </a:p>
        </p:txBody>
      </p:sp>
      <p:sp>
        <p:nvSpPr>
          <p:cNvPr id="17" name="Rectangle 16"/>
          <p:cNvSpPr/>
          <p:nvPr/>
        </p:nvSpPr>
        <p:spPr>
          <a:xfrm>
            <a:off x="128935" y="1513817"/>
            <a:ext cx="3543334" cy="71192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8" name="Rectangle 17"/>
          <p:cNvSpPr/>
          <p:nvPr/>
        </p:nvSpPr>
        <p:spPr>
          <a:xfrm>
            <a:off x="81311" y="1517856"/>
            <a:ext cx="3543334" cy="707886"/>
          </a:xfrm>
          <a:prstGeom prst="rect">
            <a:avLst/>
          </a:prstGeom>
        </p:spPr>
        <p:txBody>
          <a:bodyPr wrap="square">
            <a:spAutoFit/>
          </a:bodyPr>
          <a:lstStyle/>
          <a:p>
            <a:r>
              <a:rPr lang="en-US" sz="800" dirty="0" smtClean="0"/>
              <a:t>root@GPU111</a:t>
            </a:r>
            <a:r>
              <a:rPr lang="en-US" sz="800" dirty="0"/>
              <a:t>:~# apt install </a:t>
            </a:r>
            <a:r>
              <a:rPr lang="en-US" sz="800" dirty="0" err="1"/>
              <a:t>nfs</a:t>
            </a:r>
            <a:r>
              <a:rPr lang="en-US" sz="800" dirty="0"/>
              <a:t>-kernel-server -y</a:t>
            </a:r>
          </a:p>
          <a:p>
            <a:r>
              <a:rPr lang="en-US" sz="800" dirty="0" smtClean="0"/>
              <a:t>root@GPU111</a:t>
            </a:r>
            <a:r>
              <a:rPr lang="en-US" sz="800" dirty="0"/>
              <a:t>:~# cat /</a:t>
            </a:r>
            <a:r>
              <a:rPr lang="en-US" sz="800" dirty="0" err="1"/>
              <a:t>etc</a:t>
            </a:r>
            <a:r>
              <a:rPr lang="en-US" sz="800" dirty="0"/>
              <a:t>/exports</a:t>
            </a:r>
          </a:p>
          <a:p>
            <a:r>
              <a:rPr lang="en-US" sz="800" dirty="0"/>
              <a:t>/</a:t>
            </a:r>
            <a:r>
              <a:rPr lang="en-US" sz="800" dirty="0" err="1"/>
              <a:t>kolla_nfs</a:t>
            </a:r>
            <a:r>
              <a:rPr lang="en-US" sz="800" dirty="0"/>
              <a:t> 192.168.1.0/24(</a:t>
            </a:r>
            <a:r>
              <a:rPr lang="en-US" sz="800" dirty="0" err="1"/>
              <a:t>rw,sync,no_root_squash</a:t>
            </a:r>
            <a:r>
              <a:rPr lang="en-US" sz="800" dirty="0"/>
              <a:t>)</a:t>
            </a:r>
          </a:p>
          <a:p>
            <a:r>
              <a:rPr lang="en-US" sz="800" dirty="0" smtClean="0"/>
              <a:t>root@GPU111</a:t>
            </a:r>
            <a:r>
              <a:rPr lang="en-US" sz="800" dirty="0"/>
              <a:t>:~# </a:t>
            </a:r>
            <a:r>
              <a:rPr lang="en-US" sz="800" dirty="0" err="1"/>
              <a:t>mkdir</a:t>
            </a:r>
            <a:r>
              <a:rPr lang="en-US" sz="800" dirty="0"/>
              <a:t> /</a:t>
            </a:r>
            <a:r>
              <a:rPr lang="en-US" sz="800" dirty="0" err="1"/>
              <a:t>kolla_nfs</a:t>
            </a:r>
            <a:endParaRPr lang="en-US" sz="800" dirty="0"/>
          </a:p>
          <a:p>
            <a:r>
              <a:rPr lang="en-US" sz="800" dirty="0" smtClean="0"/>
              <a:t>root@GPU111</a:t>
            </a:r>
            <a:r>
              <a:rPr lang="en-US" sz="800" dirty="0"/>
              <a:t>:~# </a:t>
            </a:r>
            <a:r>
              <a:rPr lang="en-US" sz="800" dirty="0" err="1"/>
              <a:t>systemctl</a:t>
            </a:r>
            <a:r>
              <a:rPr lang="en-US" sz="800" dirty="0"/>
              <a:t> start </a:t>
            </a:r>
            <a:r>
              <a:rPr lang="en-US" sz="800" dirty="0" err="1"/>
              <a:t>nfs</a:t>
            </a:r>
            <a:r>
              <a:rPr lang="en-US" sz="800" dirty="0"/>
              <a:t>-kernel-server</a:t>
            </a:r>
          </a:p>
        </p:txBody>
      </p:sp>
      <p:sp>
        <p:nvSpPr>
          <p:cNvPr id="20" name="Rectangle 19"/>
          <p:cNvSpPr/>
          <p:nvPr/>
        </p:nvSpPr>
        <p:spPr>
          <a:xfrm>
            <a:off x="176559" y="2366348"/>
            <a:ext cx="3495710" cy="243547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1" name="Rectangle 20"/>
          <p:cNvSpPr/>
          <p:nvPr/>
        </p:nvSpPr>
        <p:spPr>
          <a:xfrm>
            <a:off x="128935" y="2370387"/>
            <a:ext cx="3543334" cy="2431435"/>
          </a:xfrm>
          <a:prstGeom prst="rect">
            <a:avLst/>
          </a:prstGeom>
        </p:spPr>
        <p:txBody>
          <a:bodyPr wrap="square">
            <a:spAutoFit/>
          </a:bodyPr>
          <a:lstStyle/>
          <a:p>
            <a:r>
              <a:rPr lang="en-US" sz="800" dirty="0" smtClean="0"/>
              <a:t>root@GPU111</a:t>
            </a:r>
            <a:r>
              <a:rPr lang="en-US" sz="800" dirty="0"/>
              <a:t>:~# </a:t>
            </a:r>
            <a:r>
              <a:rPr lang="en-US" sz="800" dirty="0" err="1"/>
              <a:t>systemctl</a:t>
            </a:r>
            <a:r>
              <a:rPr lang="en-US" sz="800" dirty="0"/>
              <a:t> status </a:t>
            </a:r>
            <a:r>
              <a:rPr lang="en-US" sz="800" dirty="0" err="1"/>
              <a:t>nfs</a:t>
            </a:r>
            <a:r>
              <a:rPr lang="en-US" sz="800" dirty="0"/>
              <a:t>-kernel-server</a:t>
            </a:r>
          </a:p>
          <a:p>
            <a:r>
              <a:rPr lang="en-US" sz="800" dirty="0"/>
              <a:t>● </a:t>
            </a:r>
            <a:r>
              <a:rPr lang="en-US" sz="800" dirty="0" err="1"/>
              <a:t>nfs-server.service</a:t>
            </a:r>
            <a:r>
              <a:rPr lang="en-US" sz="800" dirty="0"/>
              <a:t> - NFS server and services</a:t>
            </a:r>
          </a:p>
          <a:p>
            <a:r>
              <a:rPr lang="en-US" sz="800" dirty="0"/>
              <a:t>     Loaded: loaded (/lib/</a:t>
            </a:r>
            <a:r>
              <a:rPr lang="en-US" sz="800" dirty="0" err="1"/>
              <a:t>systemd</a:t>
            </a:r>
            <a:r>
              <a:rPr lang="en-US" sz="800" dirty="0"/>
              <a:t>/system/</a:t>
            </a:r>
            <a:r>
              <a:rPr lang="en-US" sz="800" dirty="0" err="1"/>
              <a:t>nfs-server.service</a:t>
            </a:r>
            <a:r>
              <a:rPr lang="en-US" sz="800" dirty="0"/>
              <a:t>; enabled; vendor preset: enabled)</a:t>
            </a:r>
          </a:p>
          <a:p>
            <a:r>
              <a:rPr lang="en-US" sz="800" dirty="0"/>
              <a:t>    Drop-In: /run/</a:t>
            </a:r>
            <a:r>
              <a:rPr lang="en-US" sz="800" dirty="0" err="1"/>
              <a:t>systemd</a:t>
            </a:r>
            <a:r>
              <a:rPr lang="en-US" sz="800" dirty="0"/>
              <a:t>/generator/</a:t>
            </a:r>
            <a:r>
              <a:rPr lang="en-US" sz="800" dirty="0" err="1"/>
              <a:t>nfs-server.service.d</a:t>
            </a:r>
            <a:endParaRPr lang="en-US" sz="800" dirty="0"/>
          </a:p>
          <a:p>
            <a:r>
              <a:rPr lang="en-US" sz="800" dirty="0"/>
              <a:t>             └─order-with-</a:t>
            </a:r>
            <a:r>
              <a:rPr lang="en-US" sz="800" dirty="0" err="1"/>
              <a:t>mounts.conf</a:t>
            </a:r>
            <a:endParaRPr lang="en-US" sz="800" dirty="0"/>
          </a:p>
          <a:p>
            <a:r>
              <a:rPr lang="en-US" sz="800" dirty="0"/>
              <a:t>     Active: active (exited) since Sat </a:t>
            </a:r>
            <a:r>
              <a:rPr lang="en-US" sz="800" dirty="0" smtClean="0"/>
              <a:t>2025-18-05 </a:t>
            </a:r>
            <a:r>
              <a:rPr lang="en-US" sz="800" dirty="0"/>
              <a:t>11:51:21 UTC; 24min ago</a:t>
            </a:r>
          </a:p>
          <a:p>
            <a:r>
              <a:rPr lang="en-US" sz="800" dirty="0"/>
              <a:t>    Process: 67275 </a:t>
            </a:r>
            <a:r>
              <a:rPr lang="en-US" sz="800" dirty="0" err="1"/>
              <a:t>ExecStartPre</a:t>
            </a:r>
            <a:r>
              <a:rPr lang="en-US" sz="800" dirty="0"/>
              <a:t>=/</a:t>
            </a:r>
            <a:r>
              <a:rPr lang="en-US" sz="800" dirty="0" err="1"/>
              <a:t>usr</a:t>
            </a:r>
            <a:r>
              <a:rPr lang="en-US" sz="800" dirty="0"/>
              <a:t>/</a:t>
            </a:r>
            <a:r>
              <a:rPr lang="en-US" sz="800" dirty="0" err="1"/>
              <a:t>sbin</a:t>
            </a:r>
            <a:r>
              <a:rPr lang="en-US" sz="800" dirty="0"/>
              <a:t>/</a:t>
            </a:r>
            <a:r>
              <a:rPr lang="en-US" sz="800" dirty="0" err="1"/>
              <a:t>exportfs</a:t>
            </a:r>
            <a:r>
              <a:rPr lang="en-US" sz="800" dirty="0"/>
              <a:t> -r (code=exited, status=0/SUCCESS)</a:t>
            </a:r>
          </a:p>
          <a:p>
            <a:r>
              <a:rPr lang="en-US" sz="800" dirty="0"/>
              <a:t>    Process: 67276 </a:t>
            </a:r>
            <a:r>
              <a:rPr lang="en-US" sz="800" dirty="0" err="1"/>
              <a:t>ExecStart</a:t>
            </a:r>
            <a:r>
              <a:rPr lang="en-US" sz="800" dirty="0"/>
              <a:t>=/</a:t>
            </a:r>
            <a:r>
              <a:rPr lang="en-US" sz="800" dirty="0" err="1"/>
              <a:t>usr</a:t>
            </a:r>
            <a:r>
              <a:rPr lang="en-US" sz="800" dirty="0"/>
              <a:t>/</a:t>
            </a:r>
            <a:r>
              <a:rPr lang="en-US" sz="800" dirty="0" err="1"/>
              <a:t>sbin</a:t>
            </a:r>
            <a:r>
              <a:rPr lang="en-US" sz="800" dirty="0"/>
              <a:t>/</a:t>
            </a:r>
            <a:r>
              <a:rPr lang="en-US" sz="800" dirty="0" err="1"/>
              <a:t>rpc.nfsd</a:t>
            </a:r>
            <a:r>
              <a:rPr lang="en-US" sz="800" dirty="0"/>
              <a:t> $RPCNFSDARGS (code=exited, status=0/SUCCESS)</a:t>
            </a:r>
          </a:p>
          <a:p>
            <a:r>
              <a:rPr lang="en-US" sz="800" dirty="0"/>
              <a:t>   Main PID: 67276 (code=exited, status=0/SUCCESS)</a:t>
            </a:r>
          </a:p>
          <a:p>
            <a:endParaRPr lang="en-US" sz="800" dirty="0"/>
          </a:p>
          <a:p>
            <a:r>
              <a:rPr lang="en-US" sz="800" dirty="0"/>
              <a:t>Nov 05 11:51:19 </a:t>
            </a:r>
            <a:r>
              <a:rPr lang="en-US" sz="800" dirty="0" smtClean="0"/>
              <a:t>GPU111 </a:t>
            </a:r>
            <a:r>
              <a:rPr lang="en-US" sz="800" dirty="0" err="1"/>
              <a:t>systemd</a:t>
            </a:r>
            <a:r>
              <a:rPr lang="en-US" sz="800" dirty="0"/>
              <a:t>[1]: Starting NFS server and services...</a:t>
            </a:r>
          </a:p>
          <a:p>
            <a:r>
              <a:rPr lang="en-US" sz="800" dirty="0"/>
              <a:t>Nov 05 11:51:19 </a:t>
            </a:r>
            <a:r>
              <a:rPr lang="en-US" sz="800" dirty="0" smtClean="0"/>
              <a:t>GPU111 </a:t>
            </a:r>
            <a:r>
              <a:rPr lang="en-US" sz="800" dirty="0" err="1"/>
              <a:t>exportfs</a:t>
            </a:r>
            <a:r>
              <a:rPr lang="en-US" sz="800" dirty="0"/>
              <a:t>[67275]: </a:t>
            </a:r>
            <a:r>
              <a:rPr lang="en-US" sz="800" dirty="0" err="1"/>
              <a:t>exportfs</a:t>
            </a:r>
            <a:r>
              <a:rPr lang="en-US" sz="800" dirty="0"/>
              <a:t>: /</a:t>
            </a:r>
            <a:r>
              <a:rPr lang="en-US" sz="800" dirty="0" err="1"/>
              <a:t>etc</a:t>
            </a:r>
            <a:r>
              <a:rPr lang="en-US" sz="800" dirty="0"/>
              <a:t>/exports [1]: Neither '</a:t>
            </a:r>
            <a:r>
              <a:rPr lang="en-US" sz="800" dirty="0" err="1"/>
              <a:t>subtree_check</a:t>
            </a:r>
            <a:r>
              <a:rPr lang="en-US" sz="800" dirty="0"/>
              <a:t>' or '</a:t>
            </a:r>
            <a:r>
              <a:rPr lang="en-US" sz="800" dirty="0" err="1"/>
              <a:t>no_subtree_check</a:t>
            </a:r>
            <a:r>
              <a:rPr lang="en-US" sz="800" dirty="0"/>
              <a:t>' specified for export "192.168.1.0/24:/</a:t>
            </a:r>
            <a:r>
              <a:rPr lang="en-US" sz="800" dirty="0" err="1"/>
              <a:t>kolla_nfs</a:t>
            </a:r>
            <a:r>
              <a:rPr lang="en-US" sz="800" dirty="0"/>
              <a:t>".</a:t>
            </a:r>
          </a:p>
          <a:p>
            <a:r>
              <a:rPr lang="en-US" sz="800" dirty="0"/>
              <a:t>Nov 05 11:51:19 </a:t>
            </a:r>
            <a:r>
              <a:rPr lang="en-US" sz="800" dirty="0" smtClean="0"/>
              <a:t>GPU111 </a:t>
            </a:r>
            <a:r>
              <a:rPr lang="en-US" sz="800" dirty="0" err="1"/>
              <a:t>exportfs</a:t>
            </a:r>
            <a:r>
              <a:rPr lang="en-US" sz="800" dirty="0"/>
              <a:t>[67275]:   Assuming default </a:t>
            </a:r>
            <a:r>
              <a:rPr lang="en-US" sz="800" dirty="0" err="1"/>
              <a:t>behaviour</a:t>
            </a:r>
            <a:r>
              <a:rPr lang="en-US" sz="800" dirty="0"/>
              <a:t> ('</a:t>
            </a:r>
            <a:r>
              <a:rPr lang="en-US" sz="800" dirty="0" err="1"/>
              <a:t>no_subtree_check</a:t>
            </a:r>
            <a:r>
              <a:rPr lang="en-US" sz="800" dirty="0"/>
              <a:t>').</a:t>
            </a:r>
          </a:p>
        </p:txBody>
      </p:sp>
      <p:sp>
        <p:nvSpPr>
          <p:cNvPr id="22" name="Rectangle 21"/>
          <p:cNvSpPr/>
          <p:nvPr/>
        </p:nvSpPr>
        <p:spPr>
          <a:xfrm>
            <a:off x="3844035" y="2552546"/>
            <a:ext cx="2485232" cy="276999"/>
          </a:xfrm>
          <a:prstGeom prst="rect">
            <a:avLst/>
          </a:prstGeom>
        </p:spPr>
        <p:txBody>
          <a:bodyPr wrap="none">
            <a:spAutoFit/>
          </a:bodyPr>
          <a:lstStyle/>
          <a:p>
            <a:r>
              <a:rPr lang="en-US" sz="1200" b="1" dirty="0">
                <a:solidFill>
                  <a:srgbClr val="002060"/>
                </a:solidFill>
              </a:rPr>
              <a:t>Do pre-deployment checks for hosts</a:t>
            </a:r>
          </a:p>
        </p:txBody>
      </p:sp>
      <p:sp>
        <p:nvSpPr>
          <p:cNvPr id="23" name="Rectangle 22"/>
          <p:cNvSpPr/>
          <p:nvPr/>
        </p:nvSpPr>
        <p:spPr>
          <a:xfrm>
            <a:off x="3927414" y="2825505"/>
            <a:ext cx="3359232" cy="111203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4" name="Rectangle 23"/>
          <p:cNvSpPr/>
          <p:nvPr/>
        </p:nvSpPr>
        <p:spPr>
          <a:xfrm>
            <a:off x="3879790" y="2829545"/>
            <a:ext cx="3944293" cy="1015663"/>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kolla-ansible</a:t>
            </a:r>
            <a:r>
              <a:rPr lang="en-US" sz="600" dirty="0"/>
              <a:t> -</a:t>
            </a:r>
            <a:r>
              <a:rPr lang="en-US" sz="600" dirty="0" err="1"/>
              <a:t>i</a:t>
            </a:r>
            <a:r>
              <a:rPr lang="en-US" sz="600" dirty="0"/>
              <a:t> ./</a:t>
            </a:r>
            <a:r>
              <a:rPr lang="en-US" sz="600" dirty="0" err="1"/>
              <a:t>multinode</a:t>
            </a:r>
            <a:r>
              <a:rPr lang="en-US" sz="600" dirty="0"/>
              <a:t> </a:t>
            </a:r>
            <a:r>
              <a:rPr lang="en-US" sz="600" dirty="0" err="1"/>
              <a:t>prechecks</a:t>
            </a:r>
            <a:endParaRPr lang="en-US" sz="600" dirty="0"/>
          </a:p>
          <a:p>
            <a:endParaRPr lang="en-US" sz="600" dirty="0"/>
          </a:p>
          <a:p>
            <a:r>
              <a:rPr lang="en-US" sz="600" dirty="0"/>
              <a:t>... output omit</a:t>
            </a:r>
          </a:p>
          <a:p>
            <a:endParaRPr lang="en-US" sz="600" dirty="0"/>
          </a:p>
          <a:p>
            <a:r>
              <a:rPr lang="en-US" sz="600" dirty="0"/>
              <a:t>PLAY RECAP </a:t>
            </a:r>
            <a:r>
              <a:rPr lang="en-US" sz="600" dirty="0" smtClean="0"/>
              <a:t>*****************************************************************************</a:t>
            </a:r>
            <a:endParaRPr lang="en-US" sz="600" dirty="0"/>
          </a:p>
          <a:p>
            <a:r>
              <a:rPr lang="en-US" sz="600" dirty="0"/>
              <a:t>localhost                  : ok=11   changed=0    unreachable=0    failed=0    skipped=14   rescued=0    ignored=0   </a:t>
            </a:r>
          </a:p>
          <a:p>
            <a:r>
              <a:rPr lang="en-US" sz="600" dirty="0" smtClean="0"/>
              <a:t>GPU111                     </a:t>
            </a:r>
            <a:r>
              <a:rPr lang="en-US" sz="600" dirty="0"/>
              <a:t>: ok=93   changed=0    unreachable=0    failed=0    skipped=159  rescued=0    ignored=0   </a:t>
            </a:r>
          </a:p>
          <a:p>
            <a:r>
              <a:rPr lang="en-US" sz="600" dirty="0" smtClean="0"/>
              <a:t>GPU71                      </a:t>
            </a:r>
            <a:r>
              <a:rPr lang="en-US" sz="600" dirty="0"/>
              <a:t>: ok=29   changed=0    unreachable=0    failed=0    skipped=30   rescued=0    ignored=0   </a:t>
            </a:r>
          </a:p>
          <a:p>
            <a:r>
              <a:rPr lang="en-US" sz="600" dirty="0" smtClean="0"/>
              <a:t>GPU72                      </a:t>
            </a:r>
            <a:r>
              <a:rPr lang="en-US" sz="600" dirty="0"/>
              <a:t>: ok=28   changed=0    unreachable=0    failed=0    skipped=27   rescued=0    ignored=0   </a:t>
            </a:r>
          </a:p>
          <a:p>
            <a:r>
              <a:rPr lang="en-US" sz="600" dirty="0" smtClean="0"/>
              <a:t>GPU73                      </a:t>
            </a:r>
            <a:r>
              <a:rPr lang="en-US" sz="600" dirty="0"/>
              <a:t>: ok=28   changed=0    unreachable=0    failed=0    skipped=27   rescued=0    ignored=0</a:t>
            </a:r>
          </a:p>
        </p:txBody>
      </p:sp>
    </p:spTree>
    <p:extLst>
      <p:ext uri="{BB962C8B-B14F-4D97-AF65-F5344CB8AC3E}">
        <p14:creationId xmlns:p14="http://schemas.microsoft.com/office/powerpoint/2010/main" val="253098245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61</a:t>
            </a:fld>
            <a:endParaRPr lang="en-US" dirty="0"/>
          </a:p>
        </p:txBody>
      </p:sp>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1671548" cy="276999"/>
          </a:xfrm>
          <a:prstGeom prst="rect">
            <a:avLst/>
          </a:prstGeom>
        </p:spPr>
        <p:txBody>
          <a:bodyPr wrap="none">
            <a:spAutoFit/>
          </a:bodyPr>
          <a:lstStyle/>
          <a:p>
            <a:r>
              <a:rPr lang="en-US" sz="1200" b="1" dirty="0">
                <a:solidFill>
                  <a:srgbClr val="002060"/>
                </a:solidFill>
              </a:rPr>
              <a:t>Run actual deployment</a:t>
            </a:r>
          </a:p>
        </p:txBody>
      </p:sp>
      <p:sp>
        <p:nvSpPr>
          <p:cNvPr id="13" name="Rectangle 12"/>
          <p:cNvSpPr/>
          <p:nvPr/>
        </p:nvSpPr>
        <p:spPr>
          <a:xfrm>
            <a:off x="3844035" y="414183"/>
            <a:ext cx="2890022" cy="276999"/>
          </a:xfrm>
          <a:prstGeom prst="rect">
            <a:avLst/>
          </a:prstGeom>
        </p:spPr>
        <p:txBody>
          <a:bodyPr wrap="none">
            <a:spAutoFit/>
          </a:bodyPr>
          <a:lstStyle/>
          <a:p>
            <a:r>
              <a:rPr lang="en-US" sz="1200" b="1" dirty="0">
                <a:solidFill>
                  <a:srgbClr val="002060"/>
                </a:solidFill>
              </a:rPr>
              <a:t>Access method 1: source </a:t>
            </a:r>
            <a:r>
              <a:rPr lang="en-US" sz="1200" dirty="0" smtClean="0">
                <a:hlinkClick r:id="rId2"/>
              </a:rPr>
              <a:t>admin-openrc.sh</a:t>
            </a:r>
            <a:endParaRPr lang="en-US" sz="1200" b="1" dirty="0">
              <a:solidFill>
                <a:srgbClr val="002060"/>
              </a:solidFill>
            </a:endParaRPr>
          </a:p>
        </p:txBody>
      </p:sp>
      <p:sp>
        <p:nvSpPr>
          <p:cNvPr id="14" name="Rectangle 13"/>
          <p:cNvSpPr/>
          <p:nvPr/>
        </p:nvSpPr>
        <p:spPr>
          <a:xfrm>
            <a:off x="3927413" y="915692"/>
            <a:ext cx="3896669" cy="563764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14"/>
          <p:cNvSpPr/>
          <p:nvPr/>
        </p:nvSpPr>
        <p:spPr>
          <a:xfrm>
            <a:off x="3879790" y="671249"/>
            <a:ext cx="4040029" cy="5816977"/>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source admin-openrc.sh </a:t>
            </a:r>
          </a:p>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openstack</a:t>
            </a:r>
            <a:r>
              <a:rPr lang="en-US" sz="600" dirty="0"/>
              <a:t> catalog list</a:t>
            </a:r>
          </a:p>
          <a:p>
            <a:r>
              <a:rPr lang="en-US" sz="600" dirty="0"/>
              <a:t>+-----------+----------------+---------------------------------------------------------------------------+</a:t>
            </a:r>
          </a:p>
          <a:p>
            <a:r>
              <a:rPr lang="en-US" sz="600" dirty="0"/>
              <a:t>| Name      | Type           | Endpoints                                                                 |</a:t>
            </a:r>
          </a:p>
          <a:p>
            <a:r>
              <a:rPr lang="en-US" sz="600" dirty="0"/>
              <a:t>+-----------+----------------+---------------------------------------------------------------------------+</a:t>
            </a:r>
          </a:p>
          <a:p>
            <a:r>
              <a:rPr lang="en-US" sz="600" dirty="0"/>
              <a:t>| nova      | compute        | </a:t>
            </a:r>
            <a:r>
              <a:rPr lang="en-US" sz="600" dirty="0" err="1"/>
              <a:t>RegionOne</a:t>
            </a:r>
            <a:r>
              <a:rPr lang="en-US" sz="600" dirty="0"/>
              <a:t>                                                                 |</a:t>
            </a:r>
          </a:p>
          <a:p>
            <a:r>
              <a:rPr lang="en-US" sz="600" dirty="0"/>
              <a:t>|           |                |   public: http://192.168.1.250:8774/v2.1                                  |</a:t>
            </a:r>
          </a:p>
          <a:p>
            <a:r>
              <a:rPr lang="en-US" sz="600" dirty="0"/>
              <a:t>|           |                | </a:t>
            </a:r>
            <a:r>
              <a:rPr lang="en-US" sz="600" dirty="0" err="1"/>
              <a:t>RegionOne</a:t>
            </a:r>
            <a:r>
              <a:rPr lang="en-US" sz="600" dirty="0"/>
              <a:t>                                                                 |</a:t>
            </a:r>
          </a:p>
          <a:p>
            <a:r>
              <a:rPr lang="en-US" sz="600" dirty="0"/>
              <a:t>|           |                |   internal: http://192.168.1.250:8774/v2.1                                |</a:t>
            </a:r>
          </a:p>
          <a:p>
            <a:r>
              <a:rPr lang="en-US" sz="600" dirty="0"/>
              <a:t>|           |                |                                                                           |</a:t>
            </a:r>
          </a:p>
          <a:p>
            <a:r>
              <a:rPr lang="en-US" sz="600" dirty="0"/>
              <a:t>| cinderv3  | volumev3       | </a:t>
            </a:r>
            <a:r>
              <a:rPr lang="en-US" sz="600" dirty="0" err="1"/>
              <a:t>RegionOne</a:t>
            </a:r>
            <a:r>
              <a:rPr lang="en-US" sz="600" dirty="0"/>
              <a:t>                                                                 |</a:t>
            </a:r>
          </a:p>
          <a:p>
            <a:r>
              <a:rPr lang="en-US" sz="600" dirty="0"/>
              <a:t>|           |                |   public: http://192.168.1.250:8776/v3/496d5b465e684f20a8217fa408728ac2   |</a:t>
            </a:r>
          </a:p>
          <a:p>
            <a:r>
              <a:rPr lang="en-US" sz="600" dirty="0"/>
              <a:t>|           |                | </a:t>
            </a:r>
            <a:r>
              <a:rPr lang="en-US" sz="600" dirty="0" err="1"/>
              <a:t>RegionOne</a:t>
            </a:r>
            <a:r>
              <a:rPr lang="en-US" sz="600" dirty="0"/>
              <a:t>                                                                 |</a:t>
            </a:r>
          </a:p>
          <a:p>
            <a:r>
              <a:rPr lang="en-US" sz="600" dirty="0"/>
              <a:t>|           |                |   internal: http://192.168.1.250:8776/v3/496d5b465e684f20a8217fa408728ac2 |</a:t>
            </a:r>
          </a:p>
          <a:p>
            <a:r>
              <a:rPr lang="en-US" sz="600" dirty="0"/>
              <a:t>|           |                |                                                                           |</a:t>
            </a:r>
          </a:p>
          <a:p>
            <a:r>
              <a:rPr lang="en-US" sz="600" dirty="0"/>
              <a:t>| placement | placement      | </a:t>
            </a:r>
            <a:r>
              <a:rPr lang="en-US" sz="600" dirty="0" err="1"/>
              <a:t>RegionOne</a:t>
            </a:r>
            <a:r>
              <a:rPr lang="en-US" sz="600" dirty="0"/>
              <a:t>                                                                 |</a:t>
            </a:r>
          </a:p>
          <a:p>
            <a:r>
              <a:rPr lang="en-US" sz="600" dirty="0"/>
              <a:t>|           |                |   internal: http://192.168.1.250:8780                                     |</a:t>
            </a:r>
          </a:p>
          <a:p>
            <a:r>
              <a:rPr lang="en-US" sz="600" dirty="0"/>
              <a:t>|           |                | </a:t>
            </a:r>
            <a:r>
              <a:rPr lang="en-US" sz="600" dirty="0" err="1"/>
              <a:t>RegionOne</a:t>
            </a:r>
            <a:r>
              <a:rPr lang="en-US" sz="600" dirty="0"/>
              <a:t>                                                                 |</a:t>
            </a:r>
          </a:p>
          <a:p>
            <a:r>
              <a:rPr lang="en-US" sz="600" dirty="0"/>
              <a:t>|           |                |   public: http://192.168.1.250:8780                                       |</a:t>
            </a:r>
          </a:p>
          <a:p>
            <a:r>
              <a:rPr lang="en-US" sz="600" dirty="0"/>
              <a:t>|           |                |                                                                           |</a:t>
            </a:r>
          </a:p>
          <a:p>
            <a:r>
              <a:rPr lang="en-US" sz="600" dirty="0"/>
              <a:t>| glance    | image          | </a:t>
            </a:r>
            <a:r>
              <a:rPr lang="en-US" sz="600" dirty="0" err="1"/>
              <a:t>RegionOne</a:t>
            </a:r>
            <a:r>
              <a:rPr lang="en-US" sz="600" dirty="0"/>
              <a:t>                                                                 |</a:t>
            </a:r>
          </a:p>
          <a:p>
            <a:r>
              <a:rPr lang="en-US" sz="600" dirty="0"/>
              <a:t>|           |                |   internal: http://192.168.1.250:9292                                     |</a:t>
            </a:r>
          </a:p>
          <a:p>
            <a:r>
              <a:rPr lang="en-US" sz="600" dirty="0"/>
              <a:t>|           |                | </a:t>
            </a:r>
            <a:r>
              <a:rPr lang="en-US" sz="600" dirty="0" err="1"/>
              <a:t>RegionOne</a:t>
            </a:r>
            <a:r>
              <a:rPr lang="en-US" sz="600" dirty="0"/>
              <a:t>                                                                 |</a:t>
            </a:r>
          </a:p>
          <a:p>
            <a:r>
              <a:rPr lang="en-US" sz="600" dirty="0"/>
              <a:t>|           |                |   public: http://192.168.1.250:9292                                       |</a:t>
            </a:r>
          </a:p>
          <a:p>
            <a:r>
              <a:rPr lang="en-US" sz="600" dirty="0"/>
              <a:t>|           |                |                                                                           |</a:t>
            </a:r>
          </a:p>
          <a:p>
            <a:r>
              <a:rPr lang="en-US" sz="600" dirty="0"/>
              <a:t>| keystone  | identity       | </a:t>
            </a:r>
            <a:r>
              <a:rPr lang="en-US" sz="600" dirty="0" err="1"/>
              <a:t>RegionOne</a:t>
            </a:r>
            <a:r>
              <a:rPr lang="en-US" sz="600" dirty="0"/>
              <a:t>                                                                 |</a:t>
            </a:r>
          </a:p>
          <a:p>
            <a:r>
              <a:rPr lang="en-US" sz="600" dirty="0"/>
              <a:t>|           |                |   public: http://192.168.1.250:5000                                       |</a:t>
            </a:r>
          </a:p>
          <a:p>
            <a:r>
              <a:rPr lang="en-US" sz="600" dirty="0"/>
              <a:t>|           |                | </a:t>
            </a:r>
            <a:r>
              <a:rPr lang="en-US" sz="600" dirty="0" err="1"/>
              <a:t>RegionOne</a:t>
            </a:r>
            <a:r>
              <a:rPr lang="en-US" sz="600" dirty="0"/>
              <a:t>                                                                 |</a:t>
            </a:r>
          </a:p>
          <a:p>
            <a:r>
              <a:rPr lang="en-US" sz="600" dirty="0"/>
              <a:t>|           |                |   internal: http://192.168.1.250:5000                                     |</a:t>
            </a:r>
          </a:p>
          <a:p>
            <a:r>
              <a:rPr lang="en-US" sz="600" dirty="0"/>
              <a:t>|           |                |                                                                           |</a:t>
            </a:r>
          </a:p>
          <a:p>
            <a:r>
              <a:rPr lang="en-US" sz="600" dirty="0"/>
              <a:t>| neutron   | network        | </a:t>
            </a:r>
            <a:r>
              <a:rPr lang="en-US" sz="600" dirty="0" err="1"/>
              <a:t>RegionOne</a:t>
            </a:r>
            <a:r>
              <a:rPr lang="en-US" sz="600" dirty="0"/>
              <a:t>                                                                 |</a:t>
            </a:r>
          </a:p>
          <a:p>
            <a:r>
              <a:rPr lang="en-US" sz="600" dirty="0"/>
              <a:t>|           |                |   public: http://192.168.1.250:9696                                       |</a:t>
            </a:r>
          </a:p>
          <a:p>
            <a:r>
              <a:rPr lang="en-US" sz="600" dirty="0"/>
              <a:t>|           |                | </a:t>
            </a:r>
            <a:r>
              <a:rPr lang="en-US" sz="600" dirty="0" err="1"/>
              <a:t>RegionOne</a:t>
            </a:r>
            <a:r>
              <a:rPr lang="en-US" sz="600" dirty="0"/>
              <a:t>                                                                 |</a:t>
            </a:r>
          </a:p>
          <a:p>
            <a:r>
              <a:rPr lang="en-US" sz="600" dirty="0"/>
              <a:t>|           |                |   internal: http://192.168.1.250:9696                                     |</a:t>
            </a:r>
          </a:p>
          <a:p>
            <a:r>
              <a:rPr lang="en-US" sz="600" dirty="0"/>
              <a:t>|           |                |                                                                           |</a:t>
            </a:r>
          </a:p>
          <a:p>
            <a:r>
              <a:rPr lang="en-US" sz="600" dirty="0"/>
              <a:t>| heat-</a:t>
            </a:r>
            <a:r>
              <a:rPr lang="en-US" sz="600" dirty="0" err="1"/>
              <a:t>cfn</a:t>
            </a:r>
            <a:r>
              <a:rPr lang="en-US" sz="600" dirty="0"/>
              <a:t>  | </a:t>
            </a:r>
            <a:r>
              <a:rPr lang="en-US" sz="600" dirty="0" err="1"/>
              <a:t>cloudformation</a:t>
            </a:r>
            <a:r>
              <a:rPr lang="en-US" sz="600" dirty="0"/>
              <a:t> | </a:t>
            </a:r>
            <a:r>
              <a:rPr lang="en-US" sz="600" dirty="0" err="1"/>
              <a:t>RegionOne</a:t>
            </a:r>
            <a:r>
              <a:rPr lang="en-US" sz="600" dirty="0"/>
              <a:t>                                                                 |</a:t>
            </a:r>
          </a:p>
          <a:p>
            <a:r>
              <a:rPr lang="en-US" sz="600" dirty="0"/>
              <a:t>|           |                |   internal: http://192.168.1.250:8000/v1                                  |</a:t>
            </a:r>
          </a:p>
          <a:p>
            <a:r>
              <a:rPr lang="en-US" sz="600" dirty="0"/>
              <a:t>|           |                | </a:t>
            </a:r>
            <a:r>
              <a:rPr lang="en-US" sz="600" dirty="0" err="1"/>
              <a:t>RegionOne</a:t>
            </a:r>
            <a:r>
              <a:rPr lang="en-US" sz="600" dirty="0"/>
              <a:t>                                                                 |</a:t>
            </a:r>
          </a:p>
          <a:p>
            <a:r>
              <a:rPr lang="en-US" sz="600" dirty="0"/>
              <a:t>|           |                |   public: http://192.168.1.250:8000/v1                                    |</a:t>
            </a:r>
          </a:p>
          <a:p>
            <a:r>
              <a:rPr lang="en-US" sz="600" dirty="0"/>
              <a:t>|           |                |                                                                           |</a:t>
            </a:r>
          </a:p>
          <a:p>
            <a:r>
              <a:rPr lang="en-US" sz="600" dirty="0"/>
              <a:t>| heat      | orchestration  | </a:t>
            </a:r>
            <a:r>
              <a:rPr lang="en-US" sz="600" dirty="0" err="1"/>
              <a:t>RegionOne</a:t>
            </a:r>
            <a:r>
              <a:rPr lang="en-US" sz="600" dirty="0"/>
              <a:t>                                                                 |</a:t>
            </a:r>
          </a:p>
          <a:p>
            <a:r>
              <a:rPr lang="en-US" sz="600" dirty="0"/>
              <a:t>|           |                |   public: http://192.168.1.250:8004/v1/496d5b465e684f20a8217fa408728ac2   |</a:t>
            </a:r>
          </a:p>
          <a:p>
            <a:r>
              <a:rPr lang="en-US" sz="600" dirty="0"/>
              <a:t>|           |                | </a:t>
            </a:r>
            <a:r>
              <a:rPr lang="en-US" sz="600" dirty="0" err="1"/>
              <a:t>RegionOne</a:t>
            </a:r>
            <a:r>
              <a:rPr lang="en-US" sz="600" dirty="0"/>
              <a:t>                                                                 |</a:t>
            </a:r>
          </a:p>
          <a:p>
            <a:r>
              <a:rPr lang="en-US" sz="600" dirty="0"/>
              <a:t>|           |                |   internal: http://192.168.1.250:8004/v1/496d5b465e684f20a8217fa408728ac2 |</a:t>
            </a:r>
          </a:p>
          <a:p>
            <a:r>
              <a:rPr lang="en-US" sz="600" dirty="0"/>
              <a:t>|           |                |                                                                           |</a:t>
            </a:r>
          </a:p>
          <a:p>
            <a:r>
              <a:rPr lang="en-US" sz="600" dirty="0"/>
              <a:t>+-----------+----------------+---------------------------------------------------------------------------+</a:t>
            </a:r>
          </a:p>
          <a:p>
            <a:endParaRPr lang="en-US" sz="600" dirty="0"/>
          </a:p>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openstack</a:t>
            </a:r>
            <a:r>
              <a:rPr lang="en-US" sz="600" dirty="0"/>
              <a:t> compute service list</a:t>
            </a:r>
          </a:p>
          <a:p>
            <a:r>
              <a:rPr lang="en-US" sz="600" dirty="0"/>
              <a:t>+--------------------------------------+----------------+--------+----------+---------+-------+----------------------------+</a:t>
            </a:r>
          </a:p>
          <a:p>
            <a:r>
              <a:rPr lang="en-US" sz="600" dirty="0"/>
              <a:t>| ID                                   | Binary         | Host   | Zone     | Status  | State | Updated At                 |</a:t>
            </a:r>
          </a:p>
          <a:p>
            <a:r>
              <a:rPr lang="en-US" sz="600" dirty="0"/>
              <a:t>+--------------------------------------+----------------+--------+----------+---------+-------+----------------------------+</a:t>
            </a:r>
          </a:p>
          <a:p>
            <a:r>
              <a:rPr lang="en-US" sz="600" dirty="0"/>
              <a:t>| 9cb2e662-0446-417d-9ecb-d0ef5679459e | nova-scheduler | </a:t>
            </a:r>
            <a:r>
              <a:rPr lang="en-US" sz="600" dirty="0" smtClean="0"/>
              <a:t>GPU111 </a:t>
            </a:r>
            <a:r>
              <a:rPr lang="en-US" sz="600" dirty="0"/>
              <a:t>| internal | enabled | up    | </a:t>
            </a:r>
            <a:r>
              <a:rPr lang="en-US" sz="600" dirty="0" smtClean="0"/>
              <a:t>2025-18-05T12:41:51.000000 </a:t>
            </a:r>
            <a:r>
              <a:rPr lang="en-US" sz="600" dirty="0"/>
              <a:t>|</a:t>
            </a:r>
          </a:p>
          <a:p>
            <a:r>
              <a:rPr lang="en-US" sz="600" dirty="0"/>
              <a:t>| 19dc19a4-4d78-4909-95a4-60fda0e62839 | nova-conductor | </a:t>
            </a:r>
            <a:r>
              <a:rPr lang="en-US" sz="600" dirty="0" smtClean="0"/>
              <a:t>GPU111 </a:t>
            </a:r>
            <a:r>
              <a:rPr lang="en-US" sz="600" dirty="0"/>
              <a:t>| internal | enabled | up    | </a:t>
            </a:r>
            <a:r>
              <a:rPr lang="en-US" sz="600" dirty="0" smtClean="0"/>
              <a:t>2025-18-05T12:41:48.000000 </a:t>
            </a:r>
            <a:r>
              <a:rPr lang="en-US" sz="600" dirty="0"/>
              <a:t>|</a:t>
            </a:r>
          </a:p>
          <a:p>
            <a:r>
              <a:rPr lang="en-US" sz="600" dirty="0"/>
              <a:t>| 795eefbd-9461-4462-8a68-125e77027a5b | nova-compute   | </a:t>
            </a:r>
            <a:r>
              <a:rPr lang="en-US" sz="600" dirty="0" smtClean="0"/>
              <a:t>GPU71  </a:t>
            </a:r>
            <a:r>
              <a:rPr lang="en-US" sz="600" dirty="0"/>
              <a:t>| nova     | enabled | up    | </a:t>
            </a:r>
            <a:r>
              <a:rPr lang="en-US" sz="600" dirty="0" smtClean="0"/>
              <a:t>2025-18-05T12:41:51.000000 </a:t>
            </a:r>
            <a:r>
              <a:rPr lang="en-US" sz="600" dirty="0"/>
              <a:t>|</a:t>
            </a:r>
          </a:p>
          <a:p>
            <a:r>
              <a:rPr lang="en-US" sz="600" dirty="0"/>
              <a:t>| b1734c47-918c-4aee-9fc0-78326b4dde8e | nova-compute   | </a:t>
            </a:r>
            <a:r>
              <a:rPr lang="en-US" sz="600" dirty="0" smtClean="0"/>
              <a:t>GPU73  </a:t>
            </a:r>
            <a:r>
              <a:rPr lang="en-US" sz="600" dirty="0"/>
              <a:t>| nova     | enabled | up    | </a:t>
            </a:r>
            <a:r>
              <a:rPr lang="en-US" sz="600" dirty="0" smtClean="0"/>
              <a:t>2025-18-05T12:41:51.000000 </a:t>
            </a:r>
            <a:r>
              <a:rPr lang="en-US" sz="600" dirty="0"/>
              <a:t>|</a:t>
            </a:r>
          </a:p>
          <a:p>
            <a:r>
              <a:rPr lang="en-US" sz="600" dirty="0"/>
              <a:t>| feb93682-0dab-4dc0-95cc-872d4196339d | nova-compute   | </a:t>
            </a:r>
            <a:r>
              <a:rPr lang="en-US" sz="600" dirty="0" smtClean="0"/>
              <a:t>GPU72  </a:t>
            </a:r>
            <a:r>
              <a:rPr lang="en-US" sz="600" dirty="0"/>
              <a:t>| nova     | enabled | up    | </a:t>
            </a:r>
            <a:r>
              <a:rPr lang="en-US" sz="600" dirty="0" smtClean="0"/>
              <a:t>2025-18-05T12:41:51.000000 </a:t>
            </a:r>
            <a:r>
              <a:rPr lang="en-US" sz="600" dirty="0"/>
              <a:t>|</a:t>
            </a:r>
          </a:p>
          <a:p>
            <a:r>
              <a:rPr lang="en-US" sz="600" dirty="0"/>
              <a:t>+--------------------------------------+----------------+--------+----------+---------+-------+----------------------------+</a:t>
            </a:r>
          </a:p>
        </p:txBody>
      </p:sp>
      <p:sp>
        <p:nvSpPr>
          <p:cNvPr id="26" name="Rectangle 25"/>
          <p:cNvSpPr/>
          <p:nvPr/>
        </p:nvSpPr>
        <p:spPr>
          <a:xfrm>
            <a:off x="136465" y="756290"/>
            <a:ext cx="3944293" cy="1015663"/>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kolla-ansible</a:t>
            </a:r>
            <a:r>
              <a:rPr lang="en-US" sz="600" dirty="0"/>
              <a:t> -</a:t>
            </a:r>
            <a:r>
              <a:rPr lang="en-US" sz="600" dirty="0" err="1"/>
              <a:t>i</a:t>
            </a:r>
            <a:r>
              <a:rPr lang="en-US" sz="600" dirty="0"/>
              <a:t> ./</a:t>
            </a:r>
            <a:r>
              <a:rPr lang="en-US" sz="600" dirty="0" err="1"/>
              <a:t>multinode</a:t>
            </a:r>
            <a:r>
              <a:rPr lang="en-US" sz="600" dirty="0"/>
              <a:t> deploy</a:t>
            </a:r>
          </a:p>
          <a:p>
            <a:endParaRPr lang="en-US" sz="600" dirty="0"/>
          </a:p>
          <a:p>
            <a:r>
              <a:rPr lang="en-US" sz="600" dirty="0"/>
              <a:t>... output omit</a:t>
            </a:r>
          </a:p>
          <a:p>
            <a:endParaRPr lang="en-US" sz="600" dirty="0"/>
          </a:p>
          <a:p>
            <a:r>
              <a:rPr lang="en-US" sz="600" dirty="0"/>
              <a:t>PLAY RECAP </a:t>
            </a:r>
            <a:r>
              <a:rPr lang="en-US" sz="600" dirty="0" smtClean="0"/>
              <a:t>*******************************************************************************</a:t>
            </a:r>
            <a:endParaRPr lang="en-US" sz="600" dirty="0"/>
          </a:p>
          <a:p>
            <a:r>
              <a:rPr lang="en-US" sz="600" dirty="0"/>
              <a:t>localhost                  : ok=4    changed=0    unreachable=0    failed=0    skipped=0    rescued=0    ignored=0   </a:t>
            </a:r>
          </a:p>
          <a:p>
            <a:r>
              <a:rPr lang="en-US" sz="600" dirty="0" smtClean="0"/>
              <a:t>GPU111                     </a:t>
            </a:r>
            <a:r>
              <a:rPr lang="en-US" sz="600" dirty="0"/>
              <a:t>: ok=287  changed=122  unreachable=0    failed=0    skipped=220  rescued=0    ignored=0   </a:t>
            </a:r>
          </a:p>
          <a:p>
            <a:r>
              <a:rPr lang="en-US" sz="600" dirty="0" smtClean="0"/>
              <a:t>GPU71                      </a:t>
            </a:r>
            <a:r>
              <a:rPr lang="en-US" sz="600" dirty="0"/>
              <a:t>: ok=59   changed=33   unreachable=0    failed=0    skipped=45   rescued=0    ignored=0   </a:t>
            </a:r>
          </a:p>
          <a:p>
            <a:r>
              <a:rPr lang="en-US" sz="600" dirty="0" smtClean="0"/>
              <a:t>GPU72                      </a:t>
            </a:r>
            <a:r>
              <a:rPr lang="en-US" sz="600" dirty="0"/>
              <a:t>: ok=54   changed=33   unreachable=0    failed=0    skipped=45   rescued=0    ignored=0   </a:t>
            </a:r>
          </a:p>
          <a:p>
            <a:r>
              <a:rPr lang="en-US" sz="600" dirty="0" smtClean="0"/>
              <a:t>GPU73                      </a:t>
            </a:r>
            <a:r>
              <a:rPr lang="en-US" sz="600" dirty="0"/>
              <a:t>: ok=54   changed=33   unreachable=0    failed=0    skipped=46   rescued=0    ignored=0</a:t>
            </a:r>
          </a:p>
        </p:txBody>
      </p:sp>
      <p:sp>
        <p:nvSpPr>
          <p:cNvPr id="27" name="Rectangle 26"/>
          <p:cNvSpPr/>
          <p:nvPr/>
        </p:nvSpPr>
        <p:spPr>
          <a:xfrm>
            <a:off x="136465" y="761801"/>
            <a:ext cx="3549710" cy="111203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8" name="Rectangle 27"/>
          <p:cNvSpPr/>
          <p:nvPr/>
        </p:nvSpPr>
        <p:spPr>
          <a:xfrm>
            <a:off x="88884" y="1949294"/>
            <a:ext cx="1607556" cy="461665"/>
          </a:xfrm>
          <a:prstGeom prst="rect">
            <a:avLst/>
          </a:prstGeom>
        </p:spPr>
        <p:txBody>
          <a:bodyPr wrap="none">
            <a:spAutoFit/>
          </a:bodyPr>
          <a:lstStyle/>
          <a:p>
            <a:r>
              <a:rPr lang="en-US" sz="1200" b="1" dirty="0">
                <a:solidFill>
                  <a:srgbClr val="002060"/>
                </a:solidFill>
              </a:rPr>
              <a:t>4. Access </a:t>
            </a:r>
            <a:r>
              <a:rPr lang="en-US" sz="1200" b="1" dirty="0" smtClean="0">
                <a:solidFill>
                  <a:srgbClr val="002060"/>
                </a:solidFill>
              </a:rPr>
              <a:t>OpenStack</a:t>
            </a:r>
          </a:p>
          <a:p>
            <a:r>
              <a:rPr lang="en-US" sz="1200" dirty="0"/>
              <a:t>Install </a:t>
            </a:r>
            <a:r>
              <a:rPr lang="en-US" sz="1200" dirty="0" err="1"/>
              <a:t>openstack</a:t>
            </a:r>
            <a:r>
              <a:rPr lang="en-US" sz="1200" dirty="0"/>
              <a:t> client</a:t>
            </a:r>
            <a:endParaRPr lang="en-US" sz="1200" b="1" dirty="0">
              <a:solidFill>
                <a:srgbClr val="002060"/>
              </a:solidFill>
            </a:endParaRPr>
          </a:p>
        </p:txBody>
      </p:sp>
      <p:sp>
        <p:nvSpPr>
          <p:cNvPr id="29" name="Rectangle 28"/>
          <p:cNvSpPr/>
          <p:nvPr/>
        </p:nvSpPr>
        <p:spPr>
          <a:xfrm>
            <a:off x="136465" y="2403462"/>
            <a:ext cx="3387785" cy="276999"/>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pip install python-</a:t>
            </a:r>
            <a:r>
              <a:rPr lang="en-US" sz="600" dirty="0" err="1"/>
              <a:t>openstackclient</a:t>
            </a:r>
            <a:r>
              <a:rPr lang="en-US" sz="600" dirty="0"/>
              <a:t> -c https://releases.openstack.org/constraints/upper/master</a:t>
            </a:r>
          </a:p>
        </p:txBody>
      </p:sp>
      <p:sp>
        <p:nvSpPr>
          <p:cNvPr id="30" name="Rectangle 29"/>
          <p:cNvSpPr/>
          <p:nvPr/>
        </p:nvSpPr>
        <p:spPr>
          <a:xfrm>
            <a:off x="136465" y="2451628"/>
            <a:ext cx="3549710" cy="22883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1" name="Rectangle 30"/>
          <p:cNvSpPr/>
          <p:nvPr/>
        </p:nvSpPr>
        <p:spPr>
          <a:xfrm>
            <a:off x="136465" y="2726627"/>
            <a:ext cx="2763513" cy="276999"/>
          </a:xfrm>
          <a:prstGeom prst="rect">
            <a:avLst/>
          </a:prstGeom>
        </p:spPr>
        <p:txBody>
          <a:bodyPr wrap="none">
            <a:spAutoFit/>
          </a:bodyPr>
          <a:lstStyle/>
          <a:p>
            <a:r>
              <a:rPr lang="en-US" sz="1200" b="1" dirty="0">
                <a:solidFill>
                  <a:srgbClr val="002060"/>
                </a:solidFill>
              </a:rPr>
              <a:t>Generate admin </a:t>
            </a:r>
            <a:r>
              <a:rPr lang="en-US" sz="1200" b="1" dirty="0" err="1">
                <a:solidFill>
                  <a:srgbClr val="002060"/>
                </a:solidFill>
              </a:rPr>
              <a:t>openrc</a:t>
            </a:r>
            <a:r>
              <a:rPr lang="en-US" sz="1200" b="1" dirty="0">
                <a:solidFill>
                  <a:srgbClr val="002060"/>
                </a:solidFill>
              </a:rPr>
              <a:t> and </a:t>
            </a:r>
            <a:r>
              <a:rPr lang="en-US" sz="1200" b="1" dirty="0" err="1">
                <a:solidFill>
                  <a:srgbClr val="002060"/>
                </a:solidFill>
              </a:rPr>
              <a:t>clouds.yaml</a:t>
            </a:r>
            <a:endParaRPr lang="en-US" sz="1200" b="1" dirty="0">
              <a:solidFill>
                <a:srgbClr val="002060"/>
              </a:solidFill>
            </a:endParaRPr>
          </a:p>
        </p:txBody>
      </p:sp>
      <p:sp>
        <p:nvSpPr>
          <p:cNvPr id="32" name="Rectangle 31"/>
          <p:cNvSpPr/>
          <p:nvPr/>
        </p:nvSpPr>
        <p:spPr>
          <a:xfrm>
            <a:off x="152310" y="2940585"/>
            <a:ext cx="3387785" cy="830997"/>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ls -l</a:t>
            </a:r>
          </a:p>
          <a:p>
            <a:r>
              <a:rPr lang="en-US" sz="600" dirty="0"/>
              <a:t>total 96</a:t>
            </a:r>
          </a:p>
          <a:p>
            <a:r>
              <a:rPr lang="en-US" sz="600" dirty="0"/>
              <a:t>-</a:t>
            </a:r>
            <a:r>
              <a:rPr lang="en-US" sz="600" dirty="0" err="1"/>
              <a:t>rw</a:t>
            </a:r>
            <a:r>
              <a:rPr lang="en-US" sz="600" dirty="0"/>
              <a:t>------- 1 </a:t>
            </a:r>
            <a:r>
              <a:rPr lang="en-US" sz="600" dirty="0" err="1" smtClean="0"/>
              <a:t>amel</a:t>
            </a:r>
            <a:r>
              <a:rPr lang="en-US" sz="600" dirty="0" smtClean="0"/>
              <a:t> </a:t>
            </a:r>
            <a:r>
              <a:rPr lang="en-US" sz="600" dirty="0" err="1" smtClean="0"/>
              <a:t>amel</a:t>
            </a:r>
            <a:r>
              <a:rPr lang="en-US" sz="600" dirty="0" smtClean="0"/>
              <a:t>   </a:t>
            </a:r>
            <a:r>
              <a:rPr lang="en-US" sz="600" dirty="0"/>
              <a:t>565 Nov  5 23:38 admin-openrc.sh</a:t>
            </a:r>
          </a:p>
          <a:p>
            <a:r>
              <a:rPr lang="en-US" sz="600" dirty="0"/>
              <a:t>-</a:t>
            </a:r>
            <a:r>
              <a:rPr lang="en-US" sz="600" dirty="0" err="1"/>
              <a:t>rw</a:t>
            </a:r>
            <a:r>
              <a:rPr lang="en-US" sz="600" dirty="0"/>
              <a:t>------- 1 </a:t>
            </a:r>
            <a:r>
              <a:rPr lang="en-US" sz="600" dirty="0" err="1" smtClean="0"/>
              <a:t>amel</a:t>
            </a:r>
            <a:r>
              <a:rPr lang="en-US" sz="600" dirty="0" smtClean="0"/>
              <a:t> </a:t>
            </a:r>
            <a:r>
              <a:rPr lang="en-US" sz="600" dirty="0" err="1" smtClean="0"/>
              <a:t>amel</a:t>
            </a:r>
            <a:r>
              <a:rPr lang="en-US" sz="600" dirty="0" smtClean="0"/>
              <a:t>   </a:t>
            </a:r>
            <a:r>
              <a:rPr lang="en-US" sz="600" dirty="0"/>
              <a:t>573 Nov  5 23:38 </a:t>
            </a:r>
            <a:r>
              <a:rPr lang="en-US" sz="600" dirty="0" err="1"/>
              <a:t>clouds.yaml</a:t>
            </a:r>
            <a:endParaRPr lang="en-US" sz="600" dirty="0"/>
          </a:p>
          <a:p>
            <a:r>
              <a:rPr lang="en-US" sz="600" dirty="0" err="1"/>
              <a:t>drwxrwxr</a:t>
            </a:r>
            <a:r>
              <a:rPr lang="en-US" sz="600" dirty="0"/>
              <a:t>-x 2 </a:t>
            </a:r>
            <a:r>
              <a:rPr lang="en-US" sz="600" dirty="0" err="1" smtClean="0"/>
              <a:t>amel</a:t>
            </a:r>
            <a:r>
              <a:rPr lang="en-US" sz="600" dirty="0" smtClean="0"/>
              <a:t> </a:t>
            </a:r>
            <a:r>
              <a:rPr lang="en-US" sz="600" dirty="0" err="1" smtClean="0"/>
              <a:t>amel</a:t>
            </a:r>
            <a:r>
              <a:rPr lang="en-US" sz="600" dirty="0" smtClean="0"/>
              <a:t>  </a:t>
            </a:r>
            <a:r>
              <a:rPr lang="en-US" sz="600" dirty="0"/>
              <a:t>4096 Nov  5 22:54 </a:t>
            </a:r>
            <a:r>
              <a:rPr lang="en-US" sz="600" dirty="0" err="1"/>
              <a:t>config</a:t>
            </a:r>
            <a:endParaRPr lang="en-US" sz="600" dirty="0"/>
          </a:p>
          <a:p>
            <a:r>
              <a:rPr lang="en-US" sz="600" dirty="0"/>
              <a:t>-</a:t>
            </a:r>
            <a:r>
              <a:rPr lang="en-US" sz="600" dirty="0" err="1"/>
              <a:t>rw</a:t>
            </a:r>
            <a:r>
              <a:rPr lang="en-US" sz="600" dirty="0"/>
              <a:t>-</a:t>
            </a:r>
            <a:r>
              <a:rPr lang="en-US" sz="600" dirty="0" err="1"/>
              <a:t>rw</a:t>
            </a:r>
            <a:r>
              <a:rPr lang="en-US" sz="600" dirty="0"/>
              <a:t>-r-- 1 </a:t>
            </a:r>
            <a:r>
              <a:rPr lang="en-US" sz="600" dirty="0" err="1" smtClean="0"/>
              <a:t>amel</a:t>
            </a:r>
            <a:r>
              <a:rPr lang="en-US" sz="600" dirty="0" smtClean="0"/>
              <a:t> </a:t>
            </a:r>
            <a:r>
              <a:rPr lang="en-US" sz="600" dirty="0" err="1" smtClean="0"/>
              <a:t>amel</a:t>
            </a:r>
            <a:r>
              <a:rPr lang="en-US" sz="600" dirty="0" smtClean="0"/>
              <a:t> </a:t>
            </a:r>
            <a:r>
              <a:rPr lang="en-US" sz="600" dirty="0"/>
              <a:t>32846 Nov  5 22:27 </a:t>
            </a:r>
            <a:r>
              <a:rPr lang="en-US" sz="600" dirty="0" err="1"/>
              <a:t>globals.yml</a:t>
            </a:r>
            <a:endParaRPr lang="en-US" sz="600" dirty="0"/>
          </a:p>
          <a:p>
            <a:r>
              <a:rPr lang="en-US" sz="600" dirty="0"/>
              <a:t>-</a:t>
            </a:r>
            <a:r>
              <a:rPr lang="en-US" sz="600" dirty="0" err="1"/>
              <a:t>rw</a:t>
            </a:r>
            <a:r>
              <a:rPr lang="en-US" sz="600" dirty="0"/>
              <a:t>-</a:t>
            </a:r>
            <a:r>
              <a:rPr lang="en-US" sz="600" dirty="0" err="1"/>
              <a:t>rw</a:t>
            </a:r>
            <a:r>
              <a:rPr lang="en-US" sz="600" dirty="0"/>
              <a:t>-r-- 1 </a:t>
            </a:r>
            <a:r>
              <a:rPr lang="en-US" sz="600" dirty="0" err="1" smtClean="0"/>
              <a:t>amel</a:t>
            </a:r>
            <a:r>
              <a:rPr lang="en-US" sz="600" dirty="0" smtClean="0"/>
              <a:t> </a:t>
            </a:r>
            <a:r>
              <a:rPr lang="en-US" sz="600" dirty="0" err="1" smtClean="0"/>
              <a:t>amel</a:t>
            </a:r>
            <a:r>
              <a:rPr lang="en-US" sz="600" dirty="0" smtClean="0"/>
              <a:t>  </a:t>
            </a:r>
            <a:r>
              <a:rPr lang="en-US" sz="600" dirty="0"/>
              <a:t>9475 Nov  5 16:59 </a:t>
            </a:r>
            <a:r>
              <a:rPr lang="en-US" sz="600" dirty="0" err="1"/>
              <a:t>multinode</a:t>
            </a:r>
            <a:endParaRPr lang="en-US" sz="600" dirty="0"/>
          </a:p>
          <a:p>
            <a:r>
              <a:rPr lang="en-US" sz="600" dirty="0"/>
              <a:t>-</a:t>
            </a:r>
            <a:r>
              <a:rPr lang="en-US" sz="600" dirty="0" err="1"/>
              <a:t>rw</a:t>
            </a:r>
            <a:r>
              <a:rPr lang="en-US" sz="600" dirty="0"/>
              <a:t>-</a:t>
            </a:r>
            <a:r>
              <a:rPr lang="en-US" sz="600" dirty="0" err="1"/>
              <a:t>rw</a:t>
            </a:r>
            <a:r>
              <a:rPr lang="en-US" sz="600" dirty="0"/>
              <a:t>-r-- 1 </a:t>
            </a:r>
            <a:r>
              <a:rPr lang="en-US" sz="600" dirty="0" err="1" smtClean="0"/>
              <a:t>amel</a:t>
            </a:r>
            <a:r>
              <a:rPr lang="en-US" sz="600" dirty="0" smtClean="0"/>
              <a:t> </a:t>
            </a:r>
            <a:r>
              <a:rPr lang="en-US" sz="600" dirty="0" err="1" smtClean="0"/>
              <a:t>amel</a:t>
            </a:r>
            <a:r>
              <a:rPr lang="en-US" sz="600" dirty="0" smtClean="0"/>
              <a:t> </a:t>
            </a:r>
            <a:r>
              <a:rPr lang="en-US" sz="600" dirty="0"/>
              <a:t>34047 Nov  5 17:10 </a:t>
            </a:r>
            <a:r>
              <a:rPr lang="en-US" sz="600" dirty="0" err="1"/>
              <a:t>passwords.yml</a:t>
            </a:r>
            <a:endParaRPr lang="en-US" sz="600" dirty="0"/>
          </a:p>
        </p:txBody>
      </p:sp>
      <p:sp>
        <p:nvSpPr>
          <p:cNvPr id="33" name="Rectangle 32"/>
          <p:cNvSpPr/>
          <p:nvPr/>
        </p:nvSpPr>
        <p:spPr>
          <a:xfrm>
            <a:off x="160233" y="2981254"/>
            <a:ext cx="3549710" cy="79032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560726633"/>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62</a:t>
            </a:fld>
            <a:endParaRPr lang="en-US" dirty="0"/>
          </a:p>
        </p:txBody>
      </p:sp>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2349746" cy="276999"/>
          </a:xfrm>
          <a:prstGeom prst="rect">
            <a:avLst/>
          </a:prstGeom>
        </p:spPr>
        <p:txBody>
          <a:bodyPr wrap="none">
            <a:spAutoFit/>
          </a:bodyPr>
          <a:lstStyle/>
          <a:p>
            <a:r>
              <a:rPr lang="en-US" sz="1200" b="1" dirty="0">
                <a:solidFill>
                  <a:srgbClr val="002060"/>
                </a:solidFill>
              </a:rPr>
              <a:t>Access method 2: use </a:t>
            </a:r>
            <a:r>
              <a:rPr lang="en-US" sz="1200" b="1" dirty="0" err="1">
                <a:solidFill>
                  <a:srgbClr val="002060"/>
                </a:solidFill>
              </a:rPr>
              <a:t>clouds.yaml</a:t>
            </a:r>
            <a:endParaRPr lang="en-US" sz="1200" b="1" dirty="0">
              <a:solidFill>
                <a:srgbClr val="002060"/>
              </a:solidFill>
            </a:endParaRPr>
          </a:p>
        </p:txBody>
      </p:sp>
      <p:sp>
        <p:nvSpPr>
          <p:cNvPr id="7" name="Rectangle 6"/>
          <p:cNvSpPr/>
          <p:nvPr/>
        </p:nvSpPr>
        <p:spPr>
          <a:xfrm>
            <a:off x="111394" y="623721"/>
            <a:ext cx="3423376" cy="286025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8" name="Rectangle 7"/>
          <p:cNvSpPr/>
          <p:nvPr/>
        </p:nvSpPr>
        <p:spPr>
          <a:xfrm>
            <a:off x="63770" y="607897"/>
            <a:ext cx="3608499" cy="2677656"/>
          </a:xfrm>
          <a:prstGeom prst="rect">
            <a:avLst/>
          </a:prstGeom>
        </p:spPr>
        <p:txBody>
          <a:bodyPr wrap="square">
            <a:spAutoFit/>
          </a:bodyPr>
          <a:lstStyle/>
          <a:p>
            <a:r>
              <a:rPr lang="en-US" sz="800" dirty="0"/>
              <a:t>(</a:t>
            </a:r>
            <a:r>
              <a:rPr lang="en-US" sz="800" dirty="0" err="1"/>
              <a:t>kolla-ansible-venv</a:t>
            </a:r>
            <a:r>
              <a:rPr lang="en-US" sz="800" dirty="0"/>
              <a:t>) </a:t>
            </a:r>
            <a:r>
              <a:rPr lang="en-US" sz="800" dirty="0" smtClean="0"/>
              <a:t>amel@GPU10</a:t>
            </a:r>
            <a:r>
              <a:rPr lang="en-US" sz="800" dirty="0"/>
              <a:t>:/</a:t>
            </a:r>
            <a:r>
              <a:rPr lang="en-US" sz="800" dirty="0" err="1"/>
              <a:t>etc</a:t>
            </a:r>
            <a:r>
              <a:rPr lang="en-US" sz="800" dirty="0"/>
              <a:t>/</a:t>
            </a:r>
            <a:r>
              <a:rPr lang="en-US" sz="800" dirty="0" err="1"/>
              <a:t>kolla</a:t>
            </a:r>
            <a:r>
              <a:rPr lang="en-US" sz="800" dirty="0"/>
              <a:t>$ cat </a:t>
            </a:r>
            <a:r>
              <a:rPr lang="en-US" sz="800" dirty="0" err="1"/>
              <a:t>clouds.yaml</a:t>
            </a:r>
            <a:r>
              <a:rPr lang="en-US" sz="800" dirty="0"/>
              <a:t> </a:t>
            </a:r>
          </a:p>
          <a:p>
            <a:r>
              <a:rPr lang="en-US" sz="800" dirty="0"/>
              <a:t>clouds:</a:t>
            </a:r>
          </a:p>
          <a:p>
            <a:r>
              <a:rPr lang="en-US" sz="800" dirty="0"/>
              <a:t>  </a:t>
            </a:r>
            <a:r>
              <a:rPr lang="en-US" sz="800" dirty="0" err="1"/>
              <a:t>kolla</a:t>
            </a:r>
            <a:r>
              <a:rPr lang="en-US" sz="800" dirty="0"/>
              <a:t>-admin:</a:t>
            </a:r>
          </a:p>
          <a:p>
            <a:r>
              <a:rPr lang="en-US" sz="800" dirty="0"/>
              <a:t>    </a:t>
            </a:r>
            <a:r>
              <a:rPr lang="en-US" sz="800" dirty="0" err="1"/>
              <a:t>auth</a:t>
            </a:r>
            <a:r>
              <a:rPr lang="en-US" sz="800" dirty="0"/>
              <a:t>:</a:t>
            </a:r>
          </a:p>
          <a:p>
            <a:r>
              <a:rPr lang="en-US" sz="800" dirty="0"/>
              <a:t>      </a:t>
            </a:r>
            <a:r>
              <a:rPr lang="en-US" sz="800" dirty="0" err="1"/>
              <a:t>auth_url</a:t>
            </a:r>
            <a:r>
              <a:rPr lang="en-US" sz="800" dirty="0"/>
              <a:t>: http://192.168.1.250:5000</a:t>
            </a:r>
          </a:p>
          <a:p>
            <a:r>
              <a:rPr lang="en-US" sz="800" dirty="0"/>
              <a:t>      </a:t>
            </a:r>
            <a:r>
              <a:rPr lang="en-US" sz="800" dirty="0" err="1"/>
              <a:t>project_domain_name</a:t>
            </a:r>
            <a:r>
              <a:rPr lang="en-US" sz="800" dirty="0"/>
              <a:t>: Default</a:t>
            </a:r>
          </a:p>
          <a:p>
            <a:r>
              <a:rPr lang="en-US" sz="800" dirty="0"/>
              <a:t>      </a:t>
            </a:r>
            <a:r>
              <a:rPr lang="en-US" sz="800" dirty="0" err="1"/>
              <a:t>user_domain_name</a:t>
            </a:r>
            <a:r>
              <a:rPr lang="en-US" sz="800" dirty="0"/>
              <a:t>: Default</a:t>
            </a:r>
          </a:p>
          <a:p>
            <a:r>
              <a:rPr lang="en-US" sz="800" dirty="0"/>
              <a:t>      </a:t>
            </a:r>
            <a:r>
              <a:rPr lang="en-US" sz="800" dirty="0" err="1"/>
              <a:t>project_name</a:t>
            </a:r>
            <a:r>
              <a:rPr lang="en-US" sz="800" dirty="0"/>
              <a:t>: admin</a:t>
            </a:r>
          </a:p>
          <a:p>
            <a:r>
              <a:rPr lang="en-US" sz="800" dirty="0"/>
              <a:t>      username: admin</a:t>
            </a:r>
          </a:p>
          <a:p>
            <a:r>
              <a:rPr lang="en-US" sz="800" dirty="0"/>
              <a:t>      password: Lo6CMreQQAwHmp3sCjR0NqaqDm0fCoX7I0OBVY1c</a:t>
            </a:r>
          </a:p>
          <a:p>
            <a:r>
              <a:rPr lang="en-US" sz="800" dirty="0"/>
              <a:t>    </a:t>
            </a:r>
            <a:r>
              <a:rPr lang="en-US" sz="800" dirty="0" err="1"/>
              <a:t>region_name</a:t>
            </a:r>
            <a:r>
              <a:rPr lang="en-US" sz="800" dirty="0"/>
              <a:t>: </a:t>
            </a:r>
            <a:r>
              <a:rPr lang="en-US" sz="800" dirty="0" err="1"/>
              <a:t>RegionOne</a:t>
            </a:r>
            <a:endParaRPr lang="en-US" sz="800" dirty="0"/>
          </a:p>
          <a:p>
            <a:r>
              <a:rPr lang="en-US" sz="800" dirty="0"/>
              <a:t>  </a:t>
            </a:r>
            <a:r>
              <a:rPr lang="en-US" sz="800" dirty="0" err="1"/>
              <a:t>kolla</a:t>
            </a:r>
            <a:r>
              <a:rPr lang="en-US" sz="800" dirty="0"/>
              <a:t>-admin-internal:</a:t>
            </a:r>
          </a:p>
          <a:p>
            <a:r>
              <a:rPr lang="en-US" sz="800" dirty="0"/>
              <a:t>    </a:t>
            </a:r>
            <a:r>
              <a:rPr lang="en-US" sz="800" dirty="0" err="1"/>
              <a:t>auth</a:t>
            </a:r>
            <a:r>
              <a:rPr lang="en-US" sz="800" dirty="0"/>
              <a:t>:</a:t>
            </a:r>
          </a:p>
          <a:p>
            <a:r>
              <a:rPr lang="en-US" sz="800" dirty="0"/>
              <a:t>      </a:t>
            </a:r>
            <a:r>
              <a:rPr lang="en-US" sz="800" dirty="0" err="1"/>
              <a:t>auth_url</a:t>
            </a:r>
            <a:r>
              <a:rPr lang="en-US" sz="800" dirty="0"/>
              <a:t>: http://192.168.1.250:5000</a:t>
            </a:r>
          </a:p>
          <a:p>
            <a:r>
              <a:rPr lang="en-US" sz="800" dirty="0"/>
              <a:t>      </a:t>
            </a:r>
            <a:r>
              <a:rPr lang="en-US" sz="800" dirty="0" err="1"/>
              <a:t>project_domain_name</a:t>
            </a:r>
            <a:r>
              <a:rPr lang="en-US" sz="800" dirty="0"/>
              <a:t>: Default</a:t>
            </a:r>
          </a:p>
          <a:p>
            <a:r>
              <a:rPr lang="en-US" sz="800" dirty="0"/>
              <a:t>      </a:t>
            </a:r>
            <a:r>
              <a:rPr lang="en-US" sz="800" dirty="0" err="1"/>
              <a:t>user_domain_name</a:t>
            </a:r>
            <a:r>
              <a:rPr lang="en-US" sz="800" dirty="0"/>
              <a:t>: Default</a:t>
            </a:r>
          </a:p>
          <a:p>
            <a:r>
              <a:rPr lang="en-US" sz="800" dirty="0"/>
              <a:t>      </a:t>
            </a:r>
            <a:r>
              <a:rPr lang="en-US" sz="800" dirty="0" err="1"/>
              <a:t>project_name</a:t>
            </a:r>
            <a:r>
              <a:rPr lang="en-US" sz="800" dirty="0"/>
              <a:t>: admin</a:t>
            </a:r>
          </a:p>
          <a:p>
            <a:r>
              <a:rPr lang="en-US" sz="800" dirty="0"/>
              <a:t>      username: admin</a:t>
            </a:r>
          </a:p>
          <a:p>
            <a:r>
              <a:rPr lang="en-US" sz="800" dirty="0"/>
              <a:t>      password: Lo6CMreQQAwHmp3sCjR0NqaqDm0fCoX7I0OBVY1c</a:t>
            </a:r>
          </a:p>
          <a:p>
            <a:r>
              <a:rPr lang="en-US" sz="800" dirty="0"/>
              <a:t>    interface: internal</a:t>
            </a:r>
          </a:p>
          <a:p>
            <a:r>
              <a:rPr lang="en-US" sz="800" dirty="0"/>
              <a:t>    </a:t>
            </a:r>
            <a:r>
              <a:rPr lang="en-US" sz="800" dirty="0" err="1"/>
              <a:t>region_name</a:t>
            </a:r>
            <a:r>
              <a:rPr lang="en-US" sz="800" dirty="0"/>
              <a:t>: </a:t>
            </a:r>
            <a:r>
              <a:rPr lang="en-US" sz="800" dirty="0" err="1"/>
              <a:t>RegionOne</a:t>
            </a:r>
            <a:endParaRPr lang="en-US" sz="800" dirty="0"/>
          </a:p>
        </p:txBody>
      </p:sp>
      <p:sp>
        <p:nvSpPr>
          <p:cNvPr id="9" name="Rectangle 8"/>
          <p:cNvSpPr/>
          <p:nvPr/>
        </p:nvSpPr>
        <p:spPr>
          <a:xfrm>
            <a:off x="3844200" y="469397"/>
            <a:ext cx="4130041" cy="276999"/>
          </a:xfrm>
          <a:prstGeom prst="rect">
            <a:avLst/>
          </a:prstGeom>
        </p:spPr>
        <p:txBody>
          <a:bodyPr wrap="none">
            <a:spAutoFit/>
          </a:bodyPr>
          <a:lstStyle/>
          <a:p>
            <a:r>
              <a:rPr lang="en-US" sz="1200" b="1" dirty="0" err="1">
                <a:solidFill>
                  <a:srgbClr val="002060"/>
                </a:solidFill>
              </a:rPr>
              <a:t>openstack</a:t>
            </a:r>
            <a:r>
              <a:rPr lang="en-US" sz="1200" b="1" dirty="0">
                <a:solidFill>
                  <a:srgbClr val="002060"/>
                </a:solidFill>
              </a:rPr>
              <a:t> command with "–</a:t>
            </a:r>
            <a:r>
              <a:rPr lang="en-US" sz="1200" b="1" dirty="0" err="1">
                <a:solidFill>
                  <a:srgbClr val="002060"/>
                </a:solidFill>
              </a:rPr>
              <a:t>os</a:t>
            </a:r>
            <a:r>
              <a:rPr lang="en-US" sz="1200" b="1" dirty="0">
                <a:solidFill>
                  <a:srgbClr val="002060"/>
                </a:solidFill>
              </a:rPr>
              <a:t>-cloud" option to choose cloud</a:t>
            </a:r>
          </a:p>
        </p:txBody>
      </p:sp>
      <p:sp>
        <p:nvSpPr>
          <p:cNvPr id="11" name="Rectangle 10"/>
          <p:cNvSpPr/>
          <p:nvPr/>
        </p:nvSpPr>
        <p:spPr>
          <a:xfrm>
            <a:off x="111394" y="3702279"/>
            <a:ext cx="3608499" cy="1077218"/>
          </a:xfrm>
          <a:prstGeom prst="rect">
            <a:avLst/>
          </a:prstGeom>
        </p:spPr>
        <p:txBody>
          <a:bodyPr wrap="square">
            <a:spAutoFit/>
          </a:bodyPr>
          <a:lstStyle/>
          <a:p>
            <a:r>
              <a:rPr lang="en-US" sz="800" dirty="0"/>
              <a:t>(</a:t>
            </a:r>
            <a:r>
              <a:rPr lang="en-US" sz="800" dirty="0" err="1"/>
              <a:t>kolla-ansible-venv</a:t>
            </a:r>
            <a:r>
              <a:rPr lang="en-US" sz="800" dirty="0"/>
              <a:t>) </a:t>
            </a:r>
            <a:r>
              <a:rPr lang="en-US" sz="800" dirty="0" smtClean="0"/>
              <a:t>amel@GPU10</a:t>
            </a:r>
            <a:r>
              <a:rPr lang="en-US" sz="800" dirty="0"/>
              <a:t>:/</a:t>
            </a:r>
            <a:r>
              <a:rPr lang="en-US" sz="800" dirty="0" err="1"/>
              <a:t>etc</a:t>
            </a:r>
            <a:r>
              <a:rPr lang="en-US" sz="800" dirty="0"/>
              <a:t>/</a:t>
            </a:r>
            <a:r>
              <a:rPr lang="en-US" sz="800" dirty="0" err="1"/>
              <a:t>kolla</a:t>
            </a:r>
            <a:r>
              <a:rPr lang="en-US" sz="800" dirty="0"/>
              <a:t>$ </a:t>
            </a:r>
            <a:r>
              <a:rPr lang="en-US" sz="800" dirty="0" err="1"/>
              <a:t>cp</a:t>
            </a:r>
            <a:r>
              <a:rPr lang="en-US" sz="800" dirty="0"/>
              <a:t> ./</a:t>
            </a:r>
            <a:r>
              <a:rPr lang="en-US" sz="800" dirty="0" err="1"/>
              <a:t>clouds.yaml</a:t>
            </a:r>
            <a:r>
              <a:rPr lang="en-US" sz="800" dirty="0"/>
              <a:t> /</a:t>
            </a:r>
            <a:r>
              <a:rPr lang="en-US" sz="800" dirty="0" err="1"/>
              <a:t>etc</a:t>
            </a:r>
            <a:r>
              <a:rPr lang="en-US" sz="800" dirty="0"/>
              <a:t>/</a:t>
            </a:r>
            <a:r>
              <a:rPr lang="en-US" sz="800" dirty="0" err="1"/>
              <a:t>openstack</a:t>
            </a:r>
            <a:r>
              <a:rPr lang="en-US" sz="800" dirty="0"/>
              <a:t>/</a:t>
            </a:r>
          </a:p>
          <a:p>
            <a:r>
              <a:rPr lang="en-US" sz="800" dirty="0" smtClean="0"/>
              <a:t>OR</a:t>
            </a:r>
            <a:endParaRPr lang="en-US" sz="800" dirty="0"/>
          </a:p>
          <a:p>
            <a:r>
              <a:rPr lang="en-US" sz="800" dirty="0" smtClean="0"/>
              <a:t>(</a:t>
            </a:r>
            <a:r>
              <a:rPr lang="en-US" sz="800" dirty="0" err="1"/>
              <a:t>kolla-ansible-venv</a:t>
            </a:r>
            <a:r>
              <a:rPr lang="en-US" sz="800" dirty="0"/>
              <a:t>) </a:t>
            </a:r>
            <a:r>
              <a:rPr lang="en-US" sz="800" dirty="0" smtClean="0"/>
              <a:t>amel@GPU10</a:t>
            </a:r>
            <a:r>
              <a:rPr lang="en-US" sz="800" dirty="0"/>
              <a:t>:/</a:t>
            </a:r>
            <a:r>
              <a:rPr lang="en-US" sz="800" dirty="0" err="1"/>
              <a:t>etc</a:t>
            </a:r>
            <a:r>
              <a:rPr lang="en-US" sz="800" dirty="0"/>
              <a:t>/</a:t>
            </a:r>
            <a:r>
              <a:rPr lang="en-US" sz="800" dirty="0" err="1"/>
              <a:t>kolla</a:t>
            </a:r>
            <a:r>
              <a:rPr lang="en-US" sz="800" dirty="0"/>
              <a:t>$ </a:t>
            </a:r>
            <a:r>
              <a:rPr lang="en-US" sz="800" dirty="0" err="1"/>
              <a:t>mkdir</a:t>
            </a:r>
            <a:r>
              <a:rPr lang="en-US" sz="800" dirty="0"/>
              <a:t> ~/.</a:t>
            </a:r>
            <a:r>
              <a:rPr lang="en-US" sz="800" dirty="0" err="1"/>
              <a:t>config</a:t>
            </a:r>
            <a:r>
              <a:rPr lang="en-US" sz="800" dirty="0"/>
              <a:t>/</a:t>
            </a:r>
            <a:r>
              <a:rPr lang="en-US" sz="800" dirty="0" err="1"/>
              <a:t>openstack</a:t>
            </a:r>
            <a:endParaRPr lang="en-US" sz="800" dirty="0"/>
          </a:p>
          <a:p>
            <a:r>
              <a:rPr lang="en-US" sz="800" dirty="0"/>
              <a:t>(</a:t>
            </a:r>
            <a:r>
              <a:rPr lang="en-US" sz="800" dirty="0" err="1"/>
              <a:t>kolla-ansible-venv</a:t>
            </a:r>
            <a:r>
              <a:rPr lang="en-US" sz="800" dirty="0"/>
              <a:t>) </a:t>
            </a:r>
            <a:r>
              <a:rPr lang="en-US" sz="800" dirty="0" smtClean="0"/>
              <a:t>amel@GPU10</a:t>
            </a:r>
            <a:r>
              <a:rPr lang="en-US" sz="800" dirty="0"/>
              <a:t>:/</a:t>
            </a:r>
            <a:r>
              <a:rPr lang="en-US" sz="800" dirty="0" err="1"/>
              <a:t>etc</a:t>
            </a:r>
            <a:r>
              <a:rPr lang="en-US" sz="800" dirty="0"/>
              <a:t>/</a:t>
            </a:r>
            <a:r>
              <a:rPr lang="en-US" sz="800" dirty="0" err="1"/>
              <a:t>kolla</a:t>
            </a:r>
            <a:r>
              <a:rPr lang="en-US" sz="800" dirty="0"/>
              <a:t>$ </a:t>
            </a:r>
            <a:r>
              <a:rPr lang="en-US" sz="800" dirty="0" err="1"/>
              <a:t>cp</a:t>
            </a:r>
            <a:r>
              <a:rPr lang="en-US" sz="800" dirty="0"/>
              <a:t> ./</a:t>
            </a:r>
            <a:r>
              <a:rPr lang="en-US" sz="800" dirty="0" err="1"/>
              <a:t>clouds.yaml</a:t>
            </a:r>
            <a:r>
              <a:rPr lang="en-US" sz="800" dirty="0"/>
              <a:t> ~/.</a:t>
            </a:r>
            <a:r>
              <a:rPr lang="en-US" sz="800" dirty="0" err="1"/>
              <a:t>config</a:t>
            </a:r>
            <a:r>
              <a:rPr lang="en-US" sz="800" dirty="0"/>
              <a:t>/</a:t>
            </a:r>
            <a:r>
              <a:rPr lang="en-US" sz="800" dirty="0" err="1"/>
              <a:t>openstack</a:t>
            </a:r>
            <a:endParaRPr lang="en-US" sz="800" dirty="0"/>
          </a:p>
          <a:p>
            <a:r>
              <a:rPr lang="en-US" sz="800" dirty="0" smtClean="0"/>
              <a:t>OR</a:t>
            </a:r>
            <a:endParaRPr lang="en-US" sz="800" dirty="0"/>
          </a:p>
          <a:p>
            <a:r>
              <a:rPr lang="en-US" sz="800" dirty="0" smtClean="0"/>
              <a:t>(</a:t>
            </a:r>
            <a:r>
              <a:rPr lang="en-US" sz="800" dirty="0" err="1"/>
              <a:t>kolla-ansible-venv</a:t>
            </a:r>
            <a:r>
              <a:rPr lang="en-US" sz="800" dirty="0"/>
              <a:t>) </a:t>
            </a:r>
            <a:r>
              <a:rPr lang="en-US" sz="800" dirty="0" smtClean="0"/>
              <a:t>amel@GPU10</a:t>
            </a:r>
            <a:r>
              <a:rPr lang="en-US" sz="800" dirty="0"/>
              <a:t>:/</a:t>
            </a:r>
            <a:r>
              <a:rPr lang="en-US" sz="800" dirty="0" err="1"/>
              <a:t>etc</a:t>
            </a:r>
            <a:r>
              <a:rPr lang="en-US" sz="800" dirty="0"/>
              <a:t>/</a:t>
            </a:r>
            <a:r>
              <a:rPr lang="en-US" sz="800" dirty="0" err="1"/>
              <a:t>kolla</a:t>
            </a:r>
            <a:r>
              <a:rPr lang="en-US" sz="800" dirty="0"/>
              <a:t>$ export OS_CLIENT_CONFIG_FILE=/</a:t>
            </a:r>
            <a:r>
              <a:rPr lang="en-US" sz="800" dirty="0" err="1"/>
              <a:t>etc</a:t>
            </a:r>
            <a:r>
              <a:rPr lang="en-US" sz="800" dirty="0"/>
              <a:t>/</a:t>
            </a:r>
            <a:r>
              <a:rPr lang="en-US" sz="800" dirty="0" err="1"/>
              <a:t>kolla</a:t>
            </a:r>
            <a:r>
              <a:rPr lang="en-US" sz="800" dirty="0"/>
              <a:t>/</a:t>
            </a:r>
            <a:r>
              <a:rPr lang="en-US" sz="800" dirty="0" err="1"/>
              <a:t>clouds.yaml</a:t>
            </a:r>
            <a:endParaRPr lang="en-US" sz="800" dirty="0"/>
          </a:p>
        </p:txBody>
      </p:sp>
      <p:sp>
        <p:nvSpPr>
          <p:cNvPr id="12" name="Rectangle 11"/>
          <p:cNvSpPr/>
          <p:nvPr/>
        </p:nvSpPr>
        <p:spPr>
          <a:xfrm>
            <a:off x="3912821" y="713601"/>
            <a:ext cx="4821875" cy="1015663"/>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 </a:t>
            </a:r>
            <a:r>
              <a:rPr lang="en-US" sz="600" dirty="0" err="1"/>
              <a:t>openstack</a:t>
            </a:r>
            <a:r>
              <a:rPr lang="en-US" sz="600" dirty="0"/>
              <a:t> --</a:t>
            </a:r>
            <a:r>
              <a:rPr lang="en-US" sz="600" dirty="0" err="1"/>
              <a:t>os</a:t>
            </a:r>
            <a:r>
              <a:rPr lang="en-US" sz="600" dirty="0"/>
              <a:t>-cloud </a:t>
            </a:r>
            <a:r>
              <a:rPr lang="en-US" sz="600" dirty="0" err="1"/>
              <a:t>kolla</a:t>
            </a:r>
            <a:r>
              <a:rPr lang="en-US" sz="600" dirty="0"/>
              <a:t>-admin compute service list</a:t>
            </a:r>
          </a:p>
          <a:p>
            <a:r>
              <a:rPr lang="en-US" sz="600" dirty="0" smtClean="0"/>
              <a:t>+--------------------------------------------------------+---------------------+-------------+---------------+--------------+----------------+-------------------------</a:t>
            </a:r>
            <a:r>
              <a:rPr lang="en-US" sz="600" dirty="0"/>
              <a:t>----</a:t>
            </a:r>
            <a:r>
              <a:rPr lang="en-US" sz="600" dirty="0" smtClean="0"/>
              <a:t>-----------+</a:t>
            </a:r>
            <a:endParaRPr lang="en-US" sz="600" dirty="0"/>
          </a:p>
          <a:p>
            <a:r>
              <a:rPr lang="en-US" sz="600" dirty="0"/>
              <a:t>| ID            </a:t>
            </a:r>
            <a:r>
              <a:rPr lang="en-US" sz="600" dirty="0" smtClean="0"/>
              <a:t>                          	                          | </a:t>
            </a:r>
            <a:r>
              <a:rPr lang="en-US" sz="600" dirty="0"/>
              <a:t>Binary        </a:t>
            </a:r>
            <a:r>
              <a:rPr lang="en-US" sz="600" dirty="0" smtClean="0"/>
              <a:t>         </a:t>
            </a:r>
            <a:r>
              <a:rPr lang="en-US" sz="600" dirty="0"/>
              <a:t>| Host  </a:t>
            </a:r>
            <a:r>
              <a:rPr lang="en-US" sz="600" dirty="0" smtClean="0"/>
              <a:t>       </a:t>
            </a:r>
            <a:r>
              <a:rPr lang="en-US" sz="600" dirty="0"/>
              <a:t>| Zone    </a:t>
            </a:r>
            <a:r>
              <a:rPr lang="en-US" sz="600" dirty="0" smtClean="0"/>
              <a:t>      </a:t>
            </a:r>
            <a:r>
              <a:rPr lang="en-US" sz="600" dirty="0"/>
              <a:t>| Status </a:t>
            </a:r>
            <a:r>
              <a:rPr lang="en-US" sz="600" dirty="0" smtClean="0"/>
              <a:t>       </a:t>
            </a:r>
            <a:r>
              <a:rPr lang="en-US" sz="600" dirty="0"/>
              <a:t>| State </a:t>
            </a:r>
            <a:r>
              <a:rPr lang="en-US" sz="600" dirty="0" smtClean="0"/>
              <a:t>          | </a:t>
            </a:r>
            <a:r>
              <a:rPr lang="en-US" sz="600" dirty="0"/>
              <a:t>Updated At                </a:t>
            </a:r>
            <a:r>
              <a:rPr lang="en-US" sz="600" dirty="0" smtClean="0"/>
              <a:t>                 </a:t>
            </a:r>
            <a:r>
              <a:rPr lang="en-US" sz="600" dirty="0"/>
              <a:t>|</a:t>
            </a:r>
          </a:p>
          <a:p>
            <a:r>
              <a:rPr lang="en-US" sz="600" dirty="0" smtClean="0"/>
              <a:t>+--------------------------------------------------------+---------------------+-------------+---------------+--------------+----------------+----------------------------------------+</a:t>
            </a:r>
            <a:endParaRPr lang="en-US" sz="600" dirty="0"/>
          </a:p>
          <a:p>
            <a:r>
              <a:rPr lang="en-US" sz="600" dirty="0"/>
              <a:t>| 9cb2e662-0446-417d-9ecb-d0ef5679459e | nova-scheduler | </a:t>
            </a:r>
            <a:r>
              <a:rPr lang="en-US" sz="600" dirty="0" smtClean="0"/>
              <a:t>GPU111    | </a:t>
            </a:r>
            <a:r>
              <a:rPr lang="en-US" sz="600" dirty="0"/>
              <a:t>internal </a:t>
            </a:r>
            <a:r>
              <a:rPr lang="en-US" sz="600" dirty="0" smtClean="0"/>
              <a:t>     | </a:t>
            </a:r>
            <a:r>
              <a:rPr lang="en-US" sz="600" dirty="0"/>
              <a:t>enabled </a:t>
            </a:r>
            <a:r>
              <a:rPr lang="en-US" sz="600" dirty="0" smtClean="0"/>
              <a:t>   | </a:t>
            </a:r>
            <a:r>
              <a:rPr lang="en-US" sz="600" dirty="0"/>
              <a:t>up    </a:t>
            </a:r>
            <a:r>
              <a:rPr lang="en-US" sz="600" dirty="0" smtClean="0"/>
              <a:t>            | 2025-18-05T13:05:22.000000 </a:t>
            </a:r>
            <a:r>
              <a:rPr lang="en-US" sz="600" dirty="0"/>
              <a:t>|</a:t>
            </a:r>
          </a:p>
          <a:p>
            <a:r>
              <a:rPr lang="en-US" sz="600" dirty="0"/>
              <a:t>| 19dc19a4-4d78-4909-95a4-60fda0e62839 | nova-conductor | </a:t>
            </a:r>
            <a:r>
              <a:rPr lang="en-US" sz="600" dirty="0" smtClean="0"/>
              <a:t>GPU111   | internal      </a:t>
            </a:r>
            <a:r>
              <a:rPr lang="en-US" sz="600" dirty="0"/>
              <a:t>| enabled </a:t>
            </a:r>
            <a:r>
              <a:rPr lang="en-US" sz="600" dirty="0" smtClean="0"/>
              <a:t>   | </a:t>
            </a:r>
            <a:r>
              <a:rPr lang="en-US" sz="600" dirty="0"/>
              <a:t>up    </a:t>
            </a:r>
            <a:r>
              <a:rPr lang="en-US" sz="600" dirty="0" smtClean="0"/>
              <a:t>            | 2025-18-05T13:05:18.000000 </a:t>
            </a:r>
            <a:r>
              <a:rPr lang="en-US" sz="600" dirty="0"/>
              <a:t>|</a:t>
            </a:r>
          </a:p>
          <a:p>
            <a:r>
              <a:rPr lang="en-US" sz="600" dirty="0"/>
              <a:t>| 795eefbd-9461-4462-8a68-125e77027a5b | nova-compute   | </a:t>
            </a:r>
            <a:r>
              <a:rPr lang="en-US" sz="600" dirty="0" smtClean="0"/>
              <a:t>GPU71     | </a:t>
            </a:r>
            <a:r>
              <a:rPr lang="en-US" sz="600" dirty="0"/>
              <a:t>nova     </a:t>
            </a:r>
            <a:r>
              <a:rPr lang="en-US" sz="600" dirty="0" smtClean="0"/>
              <a:t>      | </a:t>
            </a:r>
            <a:r>
              <a:rPr lang="en-US" sz="600" dirty="0"/>
              <a:t>enabled </a:t>
            </a:r>
            <a:r>
              <a:rPr lang="en-US" sz="600" dirty="0" smtClean="0"/>
              <a:t>   |  </a:t>
            </a:r>
            <a:r>
              <a:rPr lang="en-US" sz="600" dirty="0"/>
              <a:t>up    </a:t>
            </a:r>
            <a:r>
              <a:rPr lang="en-US" sz="600" dirty="0" smtClean="0"/>
              <a:t>           | 2025-18-05T13:05:21.000000 </a:t>
            </a:r>
            <a:r>
              <a:rPr lang="en-US" sz="600" dirty="0"/>
              <a:t>|</a:t>
            </a:r>
          </a:p>
          <a:p>
            <a:r>
              <a:rPr lang="en-US" sz="600" dirty="0"/>
              <a:t>| b1734c47-918c-4aee-9fc0-78326b4dde8e | nova-compute   | </a:t>
            </a:r>
            <a:r>
              <a:rPr lang="en-US" sz="600" dirty="0" smtClean="0"/>
              <a:t>GPU73      | </a:t>
            </a:r>
            <a:r>
              <a:rPr lang="en-US" sz="600" dirty="0"/>
              <a:t>nova     </a:t>
            </a:r>
            <a:r>
              <a:rPr lang="en-US" sz="600" dirty="0" smtClean="0"/>
              <a:t>      | </a:t>
            </a:r>
            <a:r>
              <a:rPr lang="en-US" sz="600" dirty="0"/>
              <a:t>enabled </a:t>
            </a:r>
            <a:r>
              <a:rPr lang="en-US" sz="600" dirty="0" smtClean="0"/>
              <a:t>   | </a:t>
            </a:r>
            <a:r>
              <a:rPr lang="en-US" sz="600" dirty="0"/>
              <a:t>up   </a:t>
            </a:r>
            <a:r>
              <a:rPr lang="en-US" sz="600" dirty="0" smtClean="0"/>
              <a:t>             </a:t>
            </a:r>
            <a:r>
              <a:rPr lang="en-US" sz="600" dirty="0"/>
              <a:t>| </a:t>
            </a:r>
            <a:r>
              <a:rPr lang="en-US" sz="600" dirty="0" smtClean="0"/>
              <a:t>2025-18-05T13:05:21.000000 </a:t>
            </a:r>
            <a:r>
              <a:rPr lang="en-US" sz="600" dirty="0"/>
              <a:t>|</a:t>
            </a:r>
          </a:p>
          <a:p>
            <a:r>
              <a:rPr lang="en-US" sz="600" dirty="0"/>
              <a:t>| feb93682-0dab-4dc0-95cc-872d4196339d | nova-compute   | </a:t>
            </a:r>
            <a:r>
              <a:rPr lang="en-US" sz="600" dirty="0" smtClean="0"/>
              <a:t>GPU72      | </a:t>
            </a:r>
            <a:r>
              <a:rPr lang="en-US" sz="600" dirty="0"/>
              <a:t>nova     </a:t>
            </a:r>
            <a:r>
              <a:rPr lang="en-US" sz="600" dirty="0" smtClean="0"/>
              <a:t>      | enabled    </a:t>
            </a:r>
            <a:r>
              <a:rPr lang="en-US" sz="600" dirty="0"/>
              <a:t>| up    </a:t>
            </a:r>
            <a:r>
              <a:rPr lang="en-US" sz="600" dirty="0" smtClean="0"/>
              <a:t>            | 2025-18-05T13:05:21.000000 </a:t>
            </a:r>
            <a:r>
              <a:rPr lang="en-US" sz="600" dirty="0"/>
              <a:t>|</a:t>
            </a:r>
          </a:p>
          <a:p>
            <a:r>
              <a:rPr lang="en-US" sz="600" dirty="0" smtClean="0"/>
              <a:t>+--------------------------------------------------------+---------------------+-------------+---------------+--------------+----------------+-----------------------</a:t>
            </a:r>
            <a:r>
              <a:rPr lang="en-US" sz="600" dirty="0"/>
              <a:t>----</a:t>
            </a:r>
            <a:r>
              <a:rPr lang="en-US" sz="600" dirty="0" smtClean="0"/>
              <a:t>-------------+</a:t>
            </a:r>
            <a:endParaRPr lang="en-US" sz="600" dirty="0"/>
          </a:p>
        </p:txBody>
      </p:sp>
      <p:sp>
        <p:nvSpPr>
          <p:cNvPr id="13" name="Rectangle 12"/>
          <p:cNvSpPr/>
          <p:nvPr/>
        </p:nvSpPr>
        <p:spPr>
          <a:xfrm>
            <a:off x="156331" y="3702279"/>
            <a:ext cx="3423376" cy="107721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4" name="Rectangle 13"/>
          <p:cNvSpPr/>
          <p:nvPr/>
        </p:nvSpPr>
        <p:spPr>
          <a:xfrm>
            <a:off x="3967412" y="692276"/>
            <a:ext cx="4371369" cy="103698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14"/>
          <p:cNvSpPr/>
          <p:nvPr/>
        </p:nvSpPr>
        <p:spPr>
          <a:xfrm>
            <a:off x="3967412" y="1766385"/>
            <a:ext cx="3696525" cy="461665"/>
          </a:xfrm>
          <a:prstGeom prst="rect">
            <a:avLst/>
          </a:prstGeom>
        </p:spPr>
        <p:txBody>
          <a:bodyPr wrap="none">
            <a:spAutoFit/>
          </a:bodyPr>
          <a:lstStyle/>
          <a:p>
            <a:r>
              <a:rPr lang="en-US" sz="1200" b="1" dirty="0"/>
              <a:t>5. Access Web GUI (Horizon)</a:t>
            </a:r>
          </a:p>
          <a:p>
            <a:r>
              <a:rPr lang="en-US" sz="1200" dirty="0"/>
              <a:t>Get admin password from admin-</a:t>
            </a:r>
            <a:r>
              <a:rPr lang="en-US" sz="1200" dirty="0" err="1"/>
              <a:t>open.rc</a:t>
            </a:r>
            <a:r>
              <a:rPr lang="en-US" sz="1200" dirty="0"/>
              <a:t> or </a:t>
            </a:r>
            <a:r>
              <a:rPr lang="en-US" sz="1200" dirty="0" err="1"/>
              <a:t>clouds.yaml</a:t>
            </a:r>
            <a:endParaRPr lang="en-US" sz="1200" dirty="0"/>
          </a:p>
        </p:txBody>
      </p:sp>
      <p:pic>
        <p:nvPicPr>
          <p:cNvPr id="19" name="Picture 18"/>
          <p:cNvPicPr>
            <a:picLocks noChangeAspect="1"/>
          </p:cNvPicPr>
          <p:nvPr/>
        </p:nvPicPr>
        <p:blipFill>
          <a:blip r:embed="rId2"/>
          <a:stretch>
            <a:fillRect/>
          </a:stretch>
        </p:blipFill>
        <p:spPr>
          <a:xfrm>
            <a:off x="4006717" y="2265171"/>
            <a:ext cx="4877976" cy="2668346"/>
          </a:xfrm>
          <a:prstGeom prst="rect">
            <a:avLst/>
          </a:prstGeom>
        </p:spPr>
      </p:pic>
    </p:spTree>
    <p:extLst>
      <p:ext uri="{BB962C8B-B14F-4D97-AF65-F5344CB8AC3E}">
        <p14:creationId xmlns:p14="http://schemas.microsoft.com/office/powerpoint/2010/main" val="2170059388"/>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1438151" cy="276999"/>
          </a:xfrm>
          <a:prstGeom prst="rect">
            <a:avLst/>
          </a:prstGeom>
        </p:spPr>
        <p:txBody>
          <a:bodyPr wrap="none">
            <a:spAutoFit/>
          </a:bodyPr>
          <a:lstStyle/>
          <a:p>
            <a:r>
              <a:rPr lang="en-US" sz="1200" b="1" dirty="0" smtClean="0">
                <a:solidFill>
                  <a:srgbClr val="002060"/>
                </a:solidFill>
              </a:rPr>
              <a:t>System Information</a:t>
            </a:r>
            <a:endParaRPr lang="en-US" sz="1200" b="1" dirty="0">
              <a:solidFill>
                <a:srgbClr val="002060"/>
              </a:solidFill>
            </a:endParaRPr>
          </a:p>
        </p:txBody>
      </p:sp>
      <p:pic>
        <p:nvPicPr>
          <p:cNvPr id="7" name="Picture 6"/>
          <p:cNvPicPr>
            <a:picLocks noChangeAspect="1"/>
          </p:cNvPicPr>
          <p:nvPr/>
        </p:nvPicPr>
        <p:blipFill>
          <a:blip r:embed="rId2"/>
          <a:stretch>
            <a:fillRect/>
          </a:stretch>
        </p:blipFill>
        <p:spPr>
          <a:xfrm>
            <a:off x="174019" y="949831"/>
            <a:ext cx="8560547" cy="2761236"/>
          </a:xfrm>
          <a:prstGeom prst="rect">
            <a:avLst/>
          </a:prstGeom>
        </p:spPr>
      </p:pic>
    </p:spTree>
    <p:extLst>
      <p:ext uri="{BB962C8B-B14F-4D97-AF65-F5344CB8AC3E}">
        <p14:creationId xmlns:p14="http://schemas.microsoft.com/office/powerpoint/2010/main" val="65381589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4128118" cy="461665"/>
          </a:xfrm>
          <a:prstGeom prst="rect">
            <a:avLst/>
          </a:prstGeom>
        </p:spPr>
        <p:txBody>
          <a:bodyPr wrap="none">
            <a:spAutoFit/>
          </a:bodyPr>
          <a:lstStyle/>
          <a:p>
            <a:r>
              <a:rPr lang="en-US" sz="1200" b="1" dirty="0">
                <a:solidFill>
                  <a:srgbClr val="002060"/>
                </a:solidFill>
              </a:rPr>
              <a:t>Extra: create examples for demo</a:t>
            </a:r>
          </a:p>
          <a:p>
            <a:r>
              <a:rPr lang="en-US" sz="1200" b="1" dirty="0"/>
              <a:t>NOTE</a:t>
            </a:r>
            <a:r>
              <a:rPr lang="en-US" sz="1200" dirty="0"/>
              <a:t>: copy "</a:t>
            </a:r>
            <a:r>
              <a:rPr lang="en-US" sz="1200" dirty="0" err="1"/>
              <a:t>clouds.yaml</a:t>
            </a:r>
            <a:r>
              <a:rPr lang="en-US" sz="1200" dirty="0"/>
              <a:t>" in controller node to /</a:t>
            </a:r>
            <a:r>
              <a:rPr lang="en-US" sz="1200" dirty="0" err="1"/>
              <a:t>etc</a:t>
            </a:r>
            <a:r>
              <a:rPr lang="en-US" sz="1200" dirty="0"/>
              <a:t>/</a:t>
            </a:r>
            <a:r>
              <a:rPr lang="en-US" sz="1200" dirty="0" err="1"/>
              <a:t>kolla</a:t>
            </a:r>
            <a:r>
              <a:rPr lang="en-US" sz="1200" dirty="0"/>
              <a:t>/ first.</a:t>
            </a:r>
          </a:p>
        </p:txBody>
      </p:sp>
      <p:sp>
        <p:nvSpPr>
          <p:cNvPr id="4" name="Rectangle 3"/>
          <p:cNvSpPr/>
          <p:nvPr/>
        </p:nvSpPr>
        <p:spPr>
          <a:xfrm>
            <a:off x="46229" y="956605"/>
            <a:ext cx="4821875" cy="35086528"/>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~/Data/</a:t>
            </a:r>
            <a:r>
              <a:rPr lang="en-US" sz="600" dirty="0" err="1"/>
              <a:t>kolla-ansible-venv</a:t>
            </a:r>
            <a:r>
              <a:rPr lang="en-US" sz="600" dirty="0"/>
              <a:t>/share/</a:t>
            </a:r>
            <a:r>
              <a:rPr lang="en-US" sz="600" dirty="0" err="1"/>
              <a:t>kolla-ansible</a:t>
            </a:r>
            <a:r>
              <a:rPr lang="en-US" sz="600" dirty="0"/>
              <a:t>/</a:t>
            </a:r>
            <a:r>
              <a:rPr lang="en-US" sz="600" dirty="0" err="1"/>
              <a:t>init-runonce</a:t>
            </a:r>
            <a:endParaRPr lang="en-US" sz="600" dirty="0"/>
          </a:p>
          <a:p>
            <a:r>
              <a:rPr lang="en-US" sz="600" dirty="0"/>
              <a:t>Checking for locally available </a:t>
            </a:r>
            <a:r>
              <a:rPr lang="en-US" sz="600" dirty="0" err="1"/>
              <a:t>cirros</a:t>
            </a:r>
            <a:r>
              <a:rPr lang="en-US" sz="600" dirty="0"/>
              <a:t> image.</a:t>
            </a:r>
          </a:p>
          <a:p>
            <a:r>
              <a:rPr lang="en-US" sz="600" dirty="0"/>
              <a:t>None found, downloading </a:t>
            </a:r>
            <a:r>
              <a:rPr lang="en-US" sz="600" dirty="0" err="1"/>
              <a:t>cirros</a:t>
            </a:r>
            <a:r>
              <a:rPr lang="en-US" sz="600" dirty="0"/>
              <a:t> image.</a:t>
            </a:r>
          </a:p>
          <a:p>
            <a:r>
              <a:rPr lang="en-US" sz="600" dirty="0"/>
              <a:t>  % Total    % Received % </a:t>
            </a:r>
            <a:r>
              <a:rPr lang="en-US" sz="600" dirty="0" err="1"/>
              <a:t>Xferd</a:t>
            </a:r>
            <a:r>
              <a:rPr lang="en-US" sz="600" dirty="0"/>
              <a:t>  Average Speed   Time    </a:t>
            </a:r>
            <a:r>
              <a:rPr lang="en-US" sz="600" dirty="0" err="1"/>
              <a:t>Time</a:t>
            </a:r>
            <a:r>
              <a:rPr lang="en-US" sz="600" dirty="0"/>
              <a:t>     </a:t>
            </a:r>
            <a:r>
              <a:rPr lang="en-US" sz="600" dirty="0" err="1"/>
              <a:t>Time</a:t>
            </a:r>
            <a:r>
              <a:rPr lang="en-US" sz="600" dirty="0"/>
              <a:t>  Current</a:t>
            </a:r>
          </a:p>
          <a:p>
            <a:r>
              <a:rPr lang="en-US" sz="600" dirty="0"/>
              <a:t>                                 </a:t>
            </a:r>
            <a:r>
              <a:rPr lang="en-US" sz="600" dirty="0" err="1"/>
              <a:t>Dload</a:t>
            </a:r>
            <a:r>
              <a:rPr lang="en-US" sz="600" dirty="0"/>
              <a:t>  Upload   Total   Spent    Left  Speed</a:t>
            </a:r>
          </a:p>
          <a:p>
            <a:r>
              <a:rPr lang="en-US" sz="600" dirty="0"/>
              <a:t>  0     0    0     0    0     0      0      0 --:--:-- --:--:-- --:--:--     0</a:t>
            </a:r>
          </a:p>
          <a:p>
            <a:r>
              <a:rPr lang="en-US" sz="600" dirty="0"/>
              <a:t>100 20.1M  100 20.1M    0     0  2928k      0  0:00:07  0:00:07 --:--:-- 4371k</a:t>
            </a:r>
          </a:p>
          <a:p>
            <a:r>
              <a:rPr lang="en-US" sz="600" dirty="0"/>
              <a:t>Creating glance image.</a:t>
            </a:r>
          </a:p>
          <a:p>
            <a:r>
              <a:rPr lang="en-US" sz="600" dirty="0"/>
              <a:t>+------------------+-------------------------------------------------------------------------------------------------------------------------------------------------------------+</a:t>
            </a:r>
          </a:p>
          <a:p>
            <a:r>
              <a:rPr lang="en-US" sz="600" dirty="0"/>
              <a:t>| Field            | Value                                                                                                                                                       |</a:t>
            </a:r>
          </a:p>
          <a:p>
            <a:r>
              <a:rPr lang="en-US" sz="600" dirty="0"/>
              <a:t>+------------------+-------------------------------------------------------------------------------------------------------------------------------------------------------------+</a:t>
            </a:r>
          </a:p>
          <a:p>
            <a:r>
              <a:rPr lang="en-US" sz="600" dirty="0"/>
              <a:t>| </a:t>
            </a:r>
            <a:r>
              <a:rPr lang="en-US" sz="600" dirty="0" err="1"/>
              <a:t>container_format</a:t>
            </a:r>
            <a:r>
              <a:rPr lang="en-US" sz="600" dirty="0"/>
              <a:t> | bare                                                                                                                                                        |</a:t>
            </a:r>
          </a:p>
          <a:p>
            <a:r>
              <a:rPr lang="en-US" sz="600" dirty="0"/>
              <a:t>| </a:t>
            </a:r>
            <a:r>
              <a:rPr lang="en-US" sz="600" dirty="0" err="1"/>
              <a:t>created_at</a:t>
            </a:r>
            <a:r>
              <a:rPr lang="en-US" sz="600" dirty="0"/>
              <a:t>       | </a:t>
            </a:r>
            <a:r>
              <a:rPr lang="en-US" sz="600" dirty="0" smtClean="0"/>
              <a:t>2025-18-06T01:03:54Z                                                                                                                                        </a:t>
            </a:r>
            <a:r>
              <a:rPr lang="en-US" sz="600" dirty="0"/>
              <a:t>|</a:t>
            </a:r>
          </a:p>
          <a:p>
            <a:r>
              <a:rPr lang="en-US" sz="600" dirty="0"/>
              <a:t>| </a:t>
            </a:r>
            <a:r>
              <a:rPr lang="en-US" sz="600" dirty="0" err="1"/>
              <a:t>disk_format</a:t>
            </a:r>
            <a:r>
              <a:rPr lang="en-US" sz="600" dirty="0"/>
              <a:t>      | qcow2                                                                                                                                                       |</a:t>
            </a:r>
          </a:p>
          <a:p>
            <a:r>
              <a:rPr lang="en-US" sz="600" dirty="0"/>
              <a:t>| file             | /v2/images/1fa43af3-ac22-4dba-85e9-04b21807c5d4/file                                                                                                        |</a:t>
            </a:r>
          </a:p>
          <a:p>
            <a:r>
              <a:rPr lang="en-US" sz="600" dirty="0"/>
              <a:t>| id               | 1fa43af3-ac22-4dba-85e9-04b21807c5d4                                                                                                                        |</a:t>
            </a:r>
          </a:p>
          <a:p>
            <a:r>
              <a:rPr lang="en-US" sz="600" dirty="0"/>
              <a:t>| </a:t>
            </a:r>
            <a:r>
              <a:rPr lang="en-US" sz="600" dirty="0" err="1"/>
              <a:t>min_disk</a:t>
            </a:r>
            <a:r>
              <a:rPr lang="en-US" sz="600" dirty="0"/>
              <a:t>         | 0                                                                                                                                                           |</a:t>
            </a:r>
          </a:p>
          <a:p>
            <a:r>
              <a:rPr lang="en-US" sz="600" dirty="0"/>
              <a:t>| </a:t>
            </a:r>
            <a:r>
              <a:rPr lang="en-US" sz="600" dirty="0" err="1"/>
              <a:t>min_ram</a:t>
            </a:r>
            <a:r>
              <a:rPr lang="en-US" sz="600" dirty="0"/>
              <a:t>          | 0                                                                                                                                                           |</a:t>
            </a:r>
          </a:p>
          <a:p>
            <a:r>
              <a:rPr lang="en-US" sz="600" dirty="0"/>
              <a:t>| name             | </a:t>
            </a:r>
            <a:r>
              <a:rPr lang="en-US" sz="600" dirty="0" err="1"/>
              <a:t>cirros</a:t>
            </a:r>
            <a:r>
              <a:rPr lang="en-US" sz="600" dirty="0"/>
              <a:t>                                                                                                                                                      |</a:t>
            </a:r>
          </a:p>
          <a:p>
            <a:r>
              <a:rPr lang="en-US" sz="600" dirty="0"/>
              <a:t>| owner            | 496d5b465e684f20a8217fa408728ac2                                                                                                                            |</a:t>
            </a:r>
          </a:p>
          <a:p>
            <a:r>
              <a:rPr lang="en-US" sz="600" dirty="0"/>
              <a:t>| properties       | </a:t>
            </a:r>
            <a:r>
              <a:rPr lang="en-US" sz="600" dirty="0" err="1"/>
              <a:t>os_hidden</a:t>
            </a:r>
            <a:r>
              <a:rPr lang="en-US" sz="600" dirty="0"/>
              <a:t>='False', </a:t>
            </a:r>
            <a:r>
              <a:rPr lang="en-US" sz="600" dirty="0" err="1"/>
              <a:t>os_type</a:t>
            </a:r>
            <a:r>
              <a:rPr lang="en-US" sz="600" dirty="0"/>
              <a:t>='</a:t>
            </a:r>
            <a:r>
              <a:rPr lang="en-US" sz="600" dirty="0" err="1"/>
              <a:t>linux</a:t>
            </a:r>
            <a:r>
              <a:rPr lang="en-US" sz="600" dirty="0"/>
              <a:t>', owner_specified.openstack.md5='', </a:t>
            </a:r>
            <a:r>
              <a:rPr lang="en-US" sz="600" dirty="0" err="1"/>
              <a:t>owner_specified.openstack.object</a:t>
            </a:r>
            <a:r>
              <a:rPr lang="en-US" sz="600" dirty="0"/>
              <a:t>='images/</a:t>
            </a:r>
            <a:r>
              <a:rPr lang="en-US" sz="600" dirty="0" err="1"/>
              <a:t>cirros</a:t>
            </a:r>
            <a:r>
              <a:rPr lang="en-US" sz="600" dirty="0"/>
              <a:t>', owner_specified.openstack.sha256='' |</a:t>
            </a:r>
          </a:p>
          <a:p>
            <a:r>
              <a:rPr lang="en-US" sz="600" dirty="0"/>
              <a:t>| protected        | False                                                                                                                                                       |</a:t>
            </a:r>
          </a:p>
          <a:p>
            <a:r>
              <a:rPr lang="en-US" sz="600" dirty="0"/>
              <a:t>| schema           | /v2/schemas/image                                                                                                                                           |</a:t>
            </a:r>
          </a:p>
          <a:p>
            <a:r>
              <a:rPr lang="en-US" sz="600" dirty="0"/>
              <a:t>| status           | queued                                                                                                                                                      |</a:t>
            </a:r>
          </a:p>
          <a:p>
            <a:r>
              <a:rPr lang="en-US" sz="600" dirty="0"/>
              <a:t>| tags             |                                                                                                                                                             |</a:t>
            </a:r>
          </a:p>
          <a:p>
            <a:r>
              <a:rPr lang="en-US" sz="600" dirty="0"/>
              <a:t>| </a:t>
            </a:r>
            <a:r>
              <a:rPr lang="en-US" sz="600" dirty="0" err="1"/>
              <a:t>updated_at</a:t>
            </a:r>
            <a:r>
              <a:rPr lang="en-US" sz="600" dirty="0"/>
              <a:t>       | </a:t>
            </a:r>
            <a:r>
              <a:rPr lang="en-US" sz="600" dirty="0" smtClean="0"/>
              <a:t>2025-18-06T01:03:54Z                                                                                                                                        </a:t>
            </a:r>
            <a:r>
              <a:rPr lang="en-US" sz="600" dirty="0"/>
              <a:t>|</a:t>
            </a:r>
          </a:p>
          <a:p>
            <a:r>
              <a:rPr lang="en-US" sz="600" dirty="0"/>
              <a:t>| visibility       | public                                                                                                                                                      |</a:t>
            </a:r>
          </a:p>
          <a:p>
            <a:r>
              <a:rPr lang="en-US" sz="600" dirty="0"/>
              <a:t>+------------------+-------------------------------------------------------------------------------------------------------------------------------------------------------------+</a:t>
            </a:r>
          </a:p>
          <a:p>
            <a:r>
              <a:rPr lang="en-US" sz="600" dirty="0"/>
              <a:t>Configuring neutron.</a:t>
            </a:r>
          </a:p>
          <a:p>
            <a:r>
              <a:rPr lang="en-US" sz="600" dirty="0"/>
              <a:t>+-------------------------+--------------------------------------+</a:t>
            </a:r>
          </a:p>
          <a:p>
            <a:r>
              <a:rPr lang="en-US" sz="600" dirty="0"/>
              <a:t>| Field                   | Value                                |</a:t>
            </a:r>
          </a:p>
          <a:p>
            <a:r>
              <a:rPr lang="en-US" sz="600" dirty="0"/>
              <a:t>+-------------------------+--------------------------------------+</a:t>
            </a:r>
          </a:p>
          <a:p>
            <a:r>
              <a:rPr lang="en-US" sz="600" dirty="0"/>
              <a:t>| </a:t>
            </a:r>
            <a:r>
              <a:rPr lang="en-US" sz="600" dirty="0" err="1"/>
              <a:t>admin_state_up</a:t>
            </a:r>
            <a:r>
              <a:rPr lang="en-US" sz="600" dirty="0"/>
              <a:t>          | UP                                   |</a:t>
            </a:r>
          </a:p>
          <a:p>
            <a:r>
              <a:rPr lang="en-US" sz="600" dirty="0"/>
              <a:t>| </a:t>
            </a:r>
            <a:r>
              <a:rPr lang="en-US" sz="600" dirty="0" err="1"/>
              <a:t>availability_zone_hints</a:t>
            </a:r>
            <a:r>
              <a:rPr lang="en-US" sz="600" dirty="0"/>
              <a:t> |                                      |</a:t>
            </a:r>
          </a:p>
          <a:p>
            <a:r>
              <a:rPr lang="en-US" sz="600" dirty="0"/>
              <a:t>| </a:t>
            </a:r>
            <a:r>
              <a:rPr lang="en-US" sz="600" dirty="0" err="1"/>
              <a:t>availability_zones</a:t>
            </a:r>
            <a:r>
              <a:rPr lang="en-US" sz="600" dirty="0"/>
              <a:t>      |                                      |</a:t>
            </a:r>
          </a:p>
          <a:p>
            <a:r>
              <a:rPr lang="en-US" sz="600" dirty="0"/>
              <a:t>| </a:t>
            </a:r>
            <a:r>
              <a:rPr lang="en-US" sz="600" dirty="0" err="1"/>
              <a:t>created_at</a:t>
            </a:r>
            <a:r>
              <a:rPr lang="en-US" sz="600" dirty="0"/>
              <a:t>              | </a:t>
            </a:r>
            <a:r>
              <a:rPr lang="en-US" sz="600" dirty="0" smtClean="0"/>
              <a:t>2025-18-06T01:03:56Z                 </a:t>
            </a:r>
            <a:r>
              <a:rPr lang="en-US" sz="600" dirty="0"/>
              <a:t>|</a:t>
            </a:r>
          </a:p>
          <a:p>
            <a:r>
              <a:rPr lang="en-US" sz="600" dirty="0"/>
              <a:t>| description             |                                      |</a:t>
            </a:r>
          </a:p>
          <a:p>
            <a:r>
              <a:rPr lang="en-US" sz="600" dirty="0"/>
              <a:t>| distributed             | False                                |</a:t>
            </a:r>
          </a:p>
          <a:p>
            <a:r>
              <a:rPr lang="en-US" sz="600" dirty="0"/>
              <a:t>| </a:t>
            </a:r>
            <a:r>
              <a:rPr lang="en-US" sz="600" dirty="0" err="1"/>
              <a:t>enable_ndp_proxy</a:t>
            </a:r>
            <a:r>
              <a:rPr lang="en-US" sz="600" dirty="0"/>
              <a:t>        | None                                 |</a:t>
            </a:r>
          </a:p>
          <a:p>
            <a:r>
              <a:rPr lang="en-US" sz="600" dirty="0"/>
              <a:t>| </a:t>
            </a:r>
            <a:r>
              <a:rPr lang="en-US" sz="600" dirty="0" err="1"/>
              <a:t>external_gateway_info</a:t>
            </a:r>
            <a:r>
              <a:rPr lang="en-US" sz="600" dirty="0"/>
              <a:t>   | null                                 |</a:t>
            </a:r>
          </a:p>
          <a:p>
            <a:r>
              <a:rPr lang="en-US" sz="600" dirty="0"/>
              <a:t>| </a:t>
            </a:r>
            <a:r>
              <a:rPr lang="en-US" sz="600" dirty="0" err="1"/>
              <a:t>flavor_id</a:t>
            </a:r>
            <a:r>
              <a:rPr lang="en-US" sz="600" dirty="0"/>
              <a:t>               | None                                 |</a:t>
            </a:r>
          </a:p>
          <a:p>
            <a:r>
              <a:rPr lang="en-US" sz="600" dirty="0"/>
              <a:t>| ha                      | False                                |</a:t>
            </a:r>
          </a:p>
          <a:p>
            <a:r>
              <a:rPr lang="en-US" sz="600" dirty="0"/>
              <a:t>| id                      | d8adf379-d03a-4c58-80cb-9cf7003524a6 |</a:t>
            </a:r>
          </a:p>
          <a:p>
            <a:r>
              <a:rPr lang="en-US" sz="600" dirty="0"/>
              <a:t>| name                    | demo-router                          |</a:t>
            </a:r>
          </a:p>
          <a:p>
            <a:r>
              <a:rPr lang="en-US" sz="600" dirty="0"/>
              <a:t>| </a:t>
            </a:r>
            <a:r>
              <a:rPr lang="en-US" sz="600" dirty="0" err="1"/>
              <a:t>project_id</a:t>
            </a:r>
            <a:r>
              <a:rPr lang="en-US" sz="600" dirty="0"/>
              <a:t>              | 496d5b465e684f20a8217fa408728ac2     |</a:t>
            </a:r>
          </a:p>
          <a:p>
            <a:r>
              <a:rPr lang="en-US" sz="600" dirty="0"/>
              <a:t>| </a:t>
            </a:r>
            <a:r>
              <a:rPr lang="en-US" sz="600" dirty="0" err="1"/>
              <a:t>revision_number</a:t>
            </a:r>
            <a:r>
              <a:rPr lang="en-US" sz="600" dirty="0"/>
              <a:t>         | 1                                    |</a:t>
            </a:r>
          </a:p>
          <a:p>
            <a:r>
              <a:rPr lang="en-US" sz="600" dirty="0"/>
              <a:t>| routes                  |                                      |</a:t>
            </a:r>
          </a:p>
          <a:p>
            <a:r>
              <a:rPr lang="en-US" sz="600" dirty="0"/>
              <a:t>| status                  | ACTIVE                               |</a:t>
            </a:r>
          </a:p>
          <a:p>
            <a:r>
              <a:rPr lang="en-US" sz="600" dirty="0"/>
              <a:t>| tags                    |                                      |</a:t>
            </a:r>
          </a:p>
          <a:p>
            <a:r>
              <a:rPr lang="en-US" sz="600" dirty="0"/>
              <a:t>| </a:t>
            </a:r>
            <a:r>
              <a:rPr lang="en-US" sz="600" dirty="0" err="1"/>
              <a:t>tenant_id</a:t>
            </a:r>
            <a:r>
              <a:rPr lang="en-US" sz="600" dirty="0"/>
              <a:t>               | 496d5b465e684f20a8217fa408728ac2     |</a:t>
            </a:r>
          </a:p>
          <a:p>
            <a:r>
              <a:rPr lang="en-US" sz="600" dirty="0"/>
              <a:t>| </a:t>
            </a:r>
            <a:r>
              <a:rPr lang="en-US" sz="600" dirty="0" err="1"/>
              <a:t>updated_at</a:t>
            </a:r>
            <a:r>
              <a:rPr lang="en-US" sz="600" dirty="0"/>
              <a:t>              | </a:t>
            </a:r>
            <a:r>
              <a:rPr lang="en-US" sz="600" dirty="0" smtClean="0"/>
              <a:t>2025-18-06T01:03:56Z                 </a:t>
            </a:r>
            <a:r>
              <a:rPr lang="en-US" sz="600" dirty="0"/>
              <a:t>|</a:t>
            </a:r>
          </a:p>
          <a:p>
            <a:r>
              <a:rPr lang="en-US" sz="600" dirty="0"/>
              <a:t>+-------------------------+--------------------------------------+</a:t>
            </a:r>
          </a:p>
          <a:p>
            <a:r>
              <a:rPr lang="en-US" sz="600" dirty="0"/>
              <a:t>+---------------------------+--------------------------------------+</a:t>
            </a:r>
          </a:p>
          <a:p>
            <a:r>
              <a:rPr lang="en-US" sz="600" dirty="0"/>
              <a:t>| Field                     | Value                                |</a:t>
            </a:r>
          </a:p>
          <a:p>
            <a:r>
              <a:rPr lang="en-US" sz="600" dirty="0"/>
              <a:t>+---------------------------+--------------------------------------+</a:t>
            </a:r>
          </a:p>
          <a:p>
            <a:r>
              <a:rPr lang="en-US" sz="600" dirty="0"/>
              <a:t>| </a:t>
            </a:r>
            <a:r>
              <a:rPr lang="en-US" sz="600" dirty="0" err="1"/>
              <a:t>admin_state_up</a:t>
            </a:r>
            <a:r>
              <a:rPr lang="en-US" sz="600" dirty="0"/>
              <a:t>            | UP                                   |</a:t>
            </a:r>
          </a:p>
          <a:p>
            <a:r>
              <a:rPr lang="en-US" sz="600" dirty="0"/>
              <a:t>| </a:t>
            </a:r>
            <a:r>
              <a:rPr lang="en-US" sz="600" dirty="0" err="1"/>
              <a:t>availability_zone_hints</a:t>
            </a:r>
            <a:r>
              <a:rPr lang="en-US" sz="600" dirty="0"/>
              <a:t>   |                                      |</a:t>
            </a:r>
          </a:p>
          <a:p>
            <a:r>
              <a:rPr lang="en-US" sz="600" dirty="0"/>
              <a:t>| </a:t>
            </a:r>
            <a:r>
              <a:rPr lang="en-US" sz="600" dirty="0" err="1"/>
              <a:t>availability_zones</a:t>
            </a:r>
            <a:r>
              <a:rPr lang="en-US" sz="600" dirty="0"/>
              <a:t>        |                                      |</a:t>
            </a:r>
          </a:p>
          <a:p>
            <a:r>
              <a:rPr lang="en-US" sz="600" dirty="0"/>
              <a:t>| </a:t>
            </a:r>
            <a:r>
              <a:rPr lang="en-US" sz="600" dirty="0" err="1"/>
              <a:t>created_at</a:t>
            </a:r>
            <a:r>
              <a:rPr lang="en-US" sz="600" dirty="0"/>
              <a:t>                | </a:t>
            </a:r>
            <a:r>
              <a:rPr lang="en-US" sz="600" dirty="0" smtClean="0"/>
              <a:t>2025-18-06T01:03:57Z                 </a:t>
            </a:r>
            <a:r>
              <a:rPr lang="en-US" sz="600" dirty="0"/>
              <a:t>|</a:t>
            </a:r>
          </a:p>
          <a:p>
            <a:r>
              <a:rPr lang="en-US" sz="600" dirty="0"/>
              <a:t>| description               |                                      |</a:t>
            </a:r>
          </a:p>
          <a:p>
            <a:r>
              <a:rPr lang="en-US" sz="600" dirty="0"/>
              <a:t>| </a:t>
            </a:r>
            <a:r>
              <a:rPr lang="en-US" sz="600" dirty="0" err="1"/>
              <a:t>dns_domain</a:t>
            </a:r>
            <a:r>
              <a:rPr lang="en-US" sz="600" dirty="0"/>
              <a:t>                | None                                 |</a:t>
            </a:r>
          </a:p>
          <a:p>
            <a:r>
              <a:rPr lang="en-US" sz="600" dirty="0"/>
              <a:t>| id                        | 67e89302-e5c7-4a17-ad1c-675b664874c1 |</a:t>
            </a:r>
          </a:p>
          <a:p>
            <a:r>
              <a:rPr lang="en-US" sz="600" dirty="0"/>
              <a:t>| ipv4_address_scope        | None                                 |</a:t>
            </a:r>
          </a:p>
          <a:p>
            <a:r>
              <a:rPr lang="en-US" sz="600" dirty="0"/>
              <a:t>| ipv6_address_scope        | None                                 |</a:t>
            </a:r>
          </a:p>
          <a:p>
            <a:r>
              <a:rPr lang="en-US" sz="600" dirty="0"/>
              <a:t>| </a:t>
            </a:r>
            <a:r>
              <a:rPr lang="en-US" sz="600" dirty="0" err="1"/>
              <a:t>is_default</a:t>
            </a:r>
            <a:r>
              <a:rPr lang="en-US" sz="600" dirty="0"/>
              <a:t>                | False                                |</a:t>
            </a:r>
          </a:p>
          <a:p>
            <a:r>
              <a:rPr lang="en-US" sz="600" dirty="0"/>
              <a:t>| </a:t>
            </a:r>
            <a:r>
              <a:rPr lang="en-US" sz="600" dirty="0" err="1"/>
              <a:t>is_vlan_transparent</a:t>
            </a:r>
            <a:r>
              <a:rPr lang="en-US" sz="600" dirty="0"/>
              <a:t>       | None                                 |</a:t>
            </a:r>
          </a:p>
          <a:p>
            <a:r>
              <a:rPr lang="en-US" sz="600" dirty="0"/>
              <a:t>| </a:t>
            </a:r>
            <a:r>
              <a:rPr lang="en-US" sz="600" dirty="0" err="1"/>
              <a:t>mtu</a:t>
            </a:r>
            <a:r>
              <a:rPr lang="en-US" sz="600" dirty="0"/>
              <a:t>                       | 1450                                 |</a:t>
            </a:r>
          </a:p>
          <a:p>
            <a:r>
              <a:rPr lang="en-US" sz="600" dirty="0"/>
              <a:t>| name                      | demo-net                             |</a:t>
            </a:r>
          </a:p>
          <a:p>
            <a:r>
              <a:rPr lang="en-US" sz="600" dirty="0"/>
              <a:t>| </a:t>
            </a:r>
            <a:r>
              <a:rPr lang="en-US" sz="600" dirty="0" err="1"/>
              <a:t>port_security_enabled</a:t>
            </a:r>
            <a:r>
              <a:rPr lang="en-US" sz="600" dirty="0"/>
              <a:t>     | True                                 |</a:t>
            </a:r>
          </a:p>
          <a:p>
            <a:r>
              <a:rPr lang="en-US" sz="600" dirty="0"/>
              <a:t>| </a:t>
            </a:r>
            <a:r>
              <a:rPr lang="en-US" sz="600" dirty="0" err="1"/>
              <a:t>project_id</a:t>
            </a:r>
            <a:r>
              <a:rPr lang="en-US" sz="600" dirty="0"/>
              <a:t>                | 496d5b465e684f20a8217fa408728ac2     |</a:t>
            </a:r>
          </a:p>
          <a:p>
            <a:r>
              <a:rPr lang="en-US" sz="600" dirty="0"/>
              <a:t>| </a:t>
            </a:r>
            <a:r>
              <a:rPr lang="en-US" sz="600" dirty="0" err="1"/>
              <a:t>provider:network_type</a:t>
            </a:r>
            <a:r>
              <a:rPr lang="en-US" sz="600" dirty="0"/>
              <a:t>     | </a:t>
            </a:r>
            <a:r>
              <a:rPr lang="en-US" sz="600" dirty="0" err="1"/>
              <a:t>vxlan</a:t>
            </a:r>
            <a:r>
              <a:rPr lang="en-US" sz="600" dirty="0"/>
              <a:t>                                |</a:t>
            </a:r>
          </a:p>
          <a:p>
            <a:r>
              <a:rPr lang="en-US" sz="600" dirty="0"/>
              <a:t>| </a:t>
            </a:r>
            <a:r>
              <a:rPr lang="en-US" sz="600" dirty="0" err="1"/>
              <a:t>provider:physical_network</a:t>
            </a:r>
            <a:r>
              <a:rPr lang="en-US" sz="600" dirty="0"/>
              <a:t> | None                                 |</a:t>
            </a:r>
          </a:p>
          <a:p>
            <a:r>
              <a:rPr lang="en-US" sz="600" dirty="0"/>
              <a:t>| </a:t>
            </a:r>
            <a:r>
              <a:rPr lang="en-US" sz="600" dirty="0" err="1"/>
              <a:t>provider:segmentation_id</a:t>
            </a:r>
            <a:r>
              <a:rPr lang="en-US" sz="600" dirty="0"/>
              <a:t>  | 472                                  |</a:t>
            </a:r>
          </a:p>
          <a:p>
            <a:r>
              <a:rPr lang="en-US" sz="600" dirty="0"/>
              <a:t>| </a:t>
            </a:r>
            <a:r>
              <a:rPr lang="en-US" sz="600" dirty="0" err="1"/>
              <a:t>qos_policy_id</a:t>
            </a:r>
            <a:r>
              <a:rPr lang="en-US" sz="600" dirty="0"/>
              <a:t>             | None                                 |</a:t>
            </a:r>
          </a:p>
          <a:p>
            <a:r>
              <a:rPr lang="en-US" sz="600" dirty="0"/>
              <a:t>| </a:t>
            </a:r>
            <a:r>
              <a:rPr lang="en-US" sz="600" dirty="0" err="1"/>
              <a:t>revision_number</a:t>
            </a:r>
            <a:r>
              <a:rPr lang="en-US" sz="600" dirty="0"/>
              <a:t>           | 1                                    |</a:t>
            </a:r>
          </a:p>
          <a:p>
            <a:r>
              <a:rPr lang="en-US" sz="600" dirty="0"/>
              <a:t>| </a:t>
            </a:r>
            <a:r>
              <a:rPr lang="en-US" sz="600" dirty="0" err="1"/>
              <a:t>router:external</a:t>
            </a:r>
            <a:r>
              <a:rPr lang="en-US" sz="600" dirty="0"/>
              <a:t>           | Internal                             |</a:t>
            </a:r>
          </a:p>
          <a:p>
            <a:r>
              <a:rPr lang="en-US" sz="600" dirty="0"/>
              <a:t>| segments                  | None                                 |</a:t>
            </a:r>
          </a:p>
          <a:p>
            <a:r>
              <a:rPr lang="en-US" sz="600" dirty="0"/>
              <a:t>| shared                    | False                                |</a:t>
            </a:r>
          </a:p>
          <a:p>
            <a:r>
              <a:rPr lang="en-US" sz="600" dirty="0"/>
              <a:t>| status                    | ACTIVE                               |</a:t>
            </a:r>
          </a:p>
          <a:p>
            <a:r>
              <a:rPr lang="en-US" sz="600" dirty="0"/>
              <a:t>| subnets                   |                                      |</a:t>
            </a:r>
          </a:p>
          <a:p>
            <a:r>
              <a:rPr lang="en-US" sz="600" dirty="0"/>
              <a:t>| tags                      |                                      |</a:t>
            </a:r>
          </a:p>
          <a:p>
            <a:r>
              <a:rPr lang="en-US" sz="600" dirty="0"/>
              <a:t>| </a:t>
            </a:r>
            <a:r>
              <a:rPr lang="en-US" sz="600" dirty="0" err="1"/>
              <a:t>tenant_id</a:t>
            </a:r>
            <a:r>
              <a:rPr lang="en-US" sz="600" dirty="0"/>
              <a:t>                 | 496d5b465e684f20a8217fa408728ac2     |</a:t>
            </a:r>
          </a:p>
          <a:p>
            <a:r>
              <a:rPr lang="en-US" sz="600" dirty="0"/>
              <a:t>| </a:t>
            </a:r>
            <a:r>
              <a:rPr lang="en-US" sz="600" dirty="0" err="1"/>
              <a:t>updated_at</a:t>
            </a:r>
            <a:r>
              <a:rPr lang="en-US" sz="600" dirty="0"/>
              <a:t>                | </a:t>
            </a:r>
            <a:r>
              <a:rPr lang="en-US" sz="600" dirty="0" smtClean="0"/>
              <a:t>2025-18-06T01:03:57Z                 </a:t>
            </a:r>
            <a:r>
              <a:rPr lang="en-US" sz="600" dirty="0"/>
              <a:t>|</a:t>
            </a:r>
          </a:p>
          <a:p>
            <a:r>
              <a:rPr lang="en-US" sz="600" dirty="0"/>
              <a:t>+---------------------------+--------------------------------------+</a:t>
            </a:r>
          </a:p>
          <a:p>
            <a:r>
              <a:rPr lang="en-US" sz="600" dirty="0"/>
              <a:t>+----------------------+--------------------------------------+</a:t>
            </a:r>
          </a:p>
          <a:p>
            <a:r>
              <a:rPr lang="en-US" sz="600" dirty="0"/>
              <a:t>| Field                | Value                                |</a:t>
            </a:r>
          </a:p>
          <a:p>
            <a:r>
              <a:rPr lang="en-US" sz="600" dirty="0"/>
              <a:t>+----------------------+--------------------------------------+</a:t>
            </a:r>
          </a:p>
          <a:p>
            <a:r>
              <a:rPr lang="en-US" sz="600" dirty="0"/>
              <a:t>| </a:t>
            </a:r>
            <a:r>
              <a:rPr lang="en-US" sz="600" dirty="0" err="1"/>
              <a:t>allocation_pools</a:t>
            </a:r>
            <a:r>
              <a:rPr lang="en-US" sz="600" dirty="0"/>
              <a:t>     | 10.0.0.2-10.0.0.254                  |</a:t>
            </a:r>
          </a:p>
          <a:p>
            <a:r>
              <a:rPr lang="en-US" sz="600" dirty="0"/>
              <a:t>| </a:t>
            </a:r>
            <a:r>
              <a:rPr lang="en-US" sz="600" dirty="0" err="1"/>
              <a:t>cidr</a:t>
            </a:r>
            <a:r>
              <a:rPr lang="en-US" sz="600" dirty="0"/>
              <a:t>                 | 10.0.0.0/24                          |</a:t>
            </a:r>
          </a:p>
          <a:p>
            <a:r>
              <a:rPr lang="en-US" sz="600" dirty="0"/>
              <a:t>| </a:t>
            </a:r>
            <a:r>
              <a:rPr lang="en-US" sz="600" dirty="0" err="1"/>
              <a:t>created_at</a:t>
            </a:r>
            <a:r>
              <a:rPr lang="en-US" sz="600" dirty="0"/>
              <a:t>           | </a:t>
            </a:r>
            <a:r>
              <a:rPr lang="en-US" sz="600" dirty="0" smtClean="0"/>
              <a:t>2025-18-06T01:03:59Z                 </a:t>
            </a:r>
            <a:r>
              <a:rPr lang="en-US" sz="600" dirty="0"/>
              <a:t>|</a:t>
            </a:r>
          </a:p>
          <a:p>
            <a:r>
              <a:rPr lang="en-US" sz="600" dirty="0"/>
              <a:t>| description          |                                      |</a:t>
            </a:r>
          </a:p>
          <a:p>
            <a:r>
              <a:rPr lang="en-US" sz="600" dirty="0"/>
              <a:t>| </a:t>
            </a:r>
            <a:r>
              <a:rPr lang="en-US" sz="600" dirty="0" err="1"/>
              <a:t>dns_nameservers</a:t>
            </a:r>
            <a:r>
              <a:rPr lang="en-US" sz="600" dirty="0"/>
              <a:t>      | 8.8.8.8                              |</a:t>
            </a:r>
          </a:p>
          <a:p>
            <a:r>
              <a:rPr lang="en-US" sz="600" dirty="0"/>
              <a:t>| </a:t>
            </a:r>
            <a:r>
              <a:rPr lang="en-US" sz="600" dirty="0" err="1"/>
              <a:t>dns_publish_fixed_ip</a:t>
            </a:r>
            <a:r>
              <a:rPr lang="en-US" sz="600" dirty="0"/>
              <a:t> | None                                 |</a:t>
            </a:r>
          </a:p>
          <a:p>
            <a:r>
              <a:rPr lang="en-US" sz="600" dirty="0"/>
              <a:t>| </a:t>
            </a:r>
            <a:r>
              <a:rPr lang="en-US" sz="600" dirty="0" err="1"/>
              <a:t>enable_dhcp</a:t>
            </a:r>
            <a:r>
              <a:rPr lang="en-US" sz="600" dirty="0"/>
              <a:t>          | True                                 |</a:t>
            </a:r>
          </a:p>
          <a:p>
            <a:r>
              <a:rPr lang="en-US" sz="600" dirty="0"/>
              <a:t>| </a:t>
            </a:r>
            <a:r>
              <a:rPr lang="en-US" sz="600" dirty="0" err="1"/>
              <a:t>gateway_ip</a:t>
            </a:r>
            <a:r>
              <a:rPr lang="en-US" sz="600" dirty="0"/>
              <a:t>           | 10.0.0.1                             |</a:t>
            </a:r>
          </a:p>
          <a:p>
            <a:r>
              <a:rPr lang="en-US" sz="600" dirty="0"/>
              <a:t>| </a:t>
            </a:r>
            <a:r>
              <a:rPr lang="en-US" sz="600" dirty="0" err="1"/>
              <a:t>host_routes</a:t>
            </a:r>
            <a:r>
              <a:rPr lang="en-US" sz="600" dirty="0"/>
              <a:t>          |                                      |</a:t>
            </a:r>
          </a:p>
          <a:p>
            <a:r>
              <a:rPr lang="en-US" sz="600" dirty="0"/>
              <a:t>| id                   | 312eff74-d80c-4281-a51a-9b4bed5132c4 |</a:t>
            </a:r>
          </a:p>
          <a:p>
            <a:r>
              <a:rPr lang="en-US" sz="600" dirty="0"/>
              <a:t>| </a:t>
            </a:r>
            <a:r>
              <a:rPr lang="en-US" sz="600" dirty="0" err="1"/>
              <a:t>ip_version</a:t>
            </a:r>
            <a:r>
              <a:rPr lang="en-US" sz="600" dirty="0"/>
              <a:t>           | 4                                    |</a:t>
            </a:r>
          </a:p>
          <a:p>
            <a:r>
              <a:rPr lang="en-US" sz="600" dirty="0"/>
              <a:t>| ipv6_address_mode    | None                                 |</a:t>
            </a:r>
          </a:p>
          <a:p>
            <a:r>
              <a:rPr lang="en-US" sz="600" dirty="0"/>
              <a:t>| ipv6_ra_mode         | None                                 |</a:t>
            </a:r>
          </a:p>
          <a:p>
            <a:r>
              <a:rPr lang="en-US" sz="600" dirty="0"/>
              <a:t>| name                 | demo-subnet                          |</a:t>
            </a:r>
          </a:p>
          <a:p>
            <a:r>
              <a:rPr lang="en-US" sz="600" dirty="0"/>
              <a:t>| </a:t>
            </a:r>
            <a:r>
              <a:rPr lang="en-US" sz="600" dirty="0" err="1"/>
              <a:t>network_id</a:t>
            </a:r>
            <a:r>
              <a:rPr lang="en-US" sz="600" dirty="0"/>
              <a:t>           | 67e89302-e5c7-4a17-ad1c-675b664874c1 |</a:t>
            </a:r>
          </a:p>
          <a:p>
            <a:r>
              <a:rPr lang="en-US" sz="600" dirty="0"/>
              <a:t>| </a:t>
            </a:r>
            <a:r>
              <a:rPr lang="en-US" sz="600" dirty="0" err="1"/>
              <a:t>project_id</a:t>
            </a:r>
            <a:r>
              <a:rPr lang="en-US" sz="600" dirty="0"/>
              <a:t>           | 496d5b465e684f20a8217fa408728ac2     |</a:t>
            </a:r>
          </a:p>
          <a:p>
            <a:r>
              <a:rPr lang="en-US" sz="600" dirty="0"/>
              <a:t>| </a:t>
            </a:r>
            <a:r>
              <a:rPr lang="en-US" sz="600" dirty="0" err="1"/>
              <a:t>revision_number</a:t>
            </a:r>
            <a:r>
              <a:rPr lang="en-US" sz="600" dirty="0"/>
              <a:t>      | 0                                    |</a:t>
            </a:r>
          </a:p>
          <a:p>
            <a:r>
              <a:rPr lang="en-US" sz="600" dirty="0"/>
              <a:t>| </a:t>
            </a:r>
            <a:r>
              <a:rPr lang="en-US" sz="600" dirty="0" err="1"/>
              <a:t>segment_id</a:t>
            </a:r>
            <a:r>
              <a:rPr lang="en-US" sz="600" dirty="0"/>
              <a:t>           | None                                 |</a:t>
            </a:r>
          </a:p>
          <a:p>
            <a:r>
              <a:rPr lang="en-US" sz="600" dirty="0"/>
              <a:t>| </a:t>
            </a:r>
            <a:r>
              <a:rPr lang="en-US" sz="600" dirty="0" err="1"/>
              <a:t>service_types</a:t>
            </a:r>
            <a:r>
              <a:rPr lang="en-US" sz="600" dirty="0"/>
              <a:t>        |                                      |</a:t>
            </a:r>
          </a:p>
          <a:p>
            <a:r>
              <a:rPr lang="en-US" sz="600" dirty="0"/>
              <a:t>| </a:t>
            </a:r>
            <a:r>
              <a:rPr lang="en-US" sz="600" dirty="0" err="1"/>
              <a:t>subnetpool_id</a:t>
            </a:r>
            <a:r>
              <a:rPr lang="en-US" sz="600" dirty="0"/>
              <a:t>        | None                                 |</a:t>
            </a:r>
          </a:p>
          <a:p>
            <a:r>
              <a:rPr lang="en-US" sz="600" dirty="0"/>
              <a:t>| tags                 |                                      |</a:t>
            </a:r>
          </a:p>
          <a:p>
            <a:r>
              <a:rPr lang="en-US" sz="600" dirty="0"/>
              <a:t>| </a:t>
            </a:r>
            <a:r>
              <a:rPr lang="en-US" sz="600" dirty="0" err="1"/>
              <a:t>updated_at</a:t>
            </a:r>
            <a:r>
              <a:rPr lang="en-US" sz="600" dirty="0"/>
              <a:t>           | </a:t>
            </a:r>
            <a:r>
              <a:rPr lang="en-US" sz="600" dirty="0" smtClean="0"/>
              <a:t>2025-18-06T01:03:59Z                 </a:t>
            </a:r>
            <a:r>
              <a:rPr lang="en-US" sz="600" dirty="0"/>
              <a:t>|</a:t>
            </a:r>
          </a:p>
          <a:p>
            <a:r>
              <a:rPr lang="en-US" sz="600" dirty="0"/>
              <a:t>+----------------------+--------------------------------------+</a:t>
            </a:r>
          </a:p>
          <a:p>
            <a:r>
              <a:rPr lang="en-US" sz="600" dirty="0"/>
              <a:t>+---------------------------+--------------------------------------+</a:t>
            </a:r>
          </a:p>
          <a:p>
            <a:r>
              <a:rPr lang="en-US" sz="600" dirty="0"/>
              <a:t>| Field                     | Value                                |</a:t>
            </a:r>
          </a:p>
          <a:p>
            <a:r>
              <a:rPr lang="en-US" sz="600" dirty="0"/>
              <a:t>+---------------------------+--------------------------------------+</a:t>
            </a:r>
          </a:p>
          <a:p>
            <a:r>
              <a:rPr lang="en-US" sz="600" dirty="0"/>
              <a:t>| </a:t>
            </a:r>
            <a:r>
              <a:rPr lang="en-US" sz="600" dirty="0" err="1"/>
              <a:t>admin_state_up</a:t>
            </a:r>
            <a:r>
              <a:rPr lang="en-US" sz="600" dirty="0"/>
              <a:t>            | UP                                   |</a:t>
            </a:r>
          </a:p>
          <a:p>
            <a:r>
              <a:rPr lang="en-US" sz="600" dirty="0"/>
              <a:t>| </a:t>
            </a:r>
            <a:r>
              <a:rPr lang="en-US" sz="600" dirty="0" err="1"/>
              <a:t>availability_zone_hints</a:t>
            </a:r>
            <a:r>
              <a:rPr lang="en-US" sz="600" dirty="0"/>
              <a:t>   |                                      |</a:t>
            </a:r>
          </a:p>
          <a:p>
            <a:r>
              <a:rPr lang="en-US" sz="600" dirty="0"/>
              <a:t>| </a:t>
            </a:r>
            <a:r>
              <a:rPr lang="en-US" sz="600" dirty="0" err="1"/>
              <a:t>availability_zones</a:t>
            </a:r>
            <a:r>
              <a:rPr lang="en-US" sz="600" dirty="0"/>
              <a:t>        |                                      |</a:t>
            </a:r>
          </a:p>
          <a:p>
            <a:r>
              <a:rPr lang="en-US" sz="600" dirty="0"/>
              <a:t>| </a:t>
            </a:r>
            <a:r>
              <a:rPr lang="en-US" sz="600" dirty="0" err="1"/>
              <a:t>created_at</a:t>
            </a:r>
            <a:r>
              <a:rPr lang="en-US" sz="600" dirty="0"/>
              <a:t>                | </a:t>
            </a:r>
            <a:r>
              <a:rPr lang="en-US" sz="600" dirty="0" smtClean="0"/>
              <a:t>2025-18-06T01:04:03Z                 </a:t>
            </a:r>
            <a:r>
              <a:rPr lang="en-US" sz="600" dirty="0"/>
              <a:t>|</a:t>
            </a:r>
          </a:p>
          <a:p>
            <a:r>
              <a:rPr lang="en-US" sz="600" dirty="0"/>
              <a:t>| description               |                                      |</a:t>
            </a:r>
          </a:p>
          <a:p>
            <a:r>
              <a:rPr lang="en-US" sz="600" dirty="0"/>
              <a:t>| </a:t>
            </a:r>
            <a:r>
              <a:rPr lang="en-US" sz="600" dirty="0" err="1"/>
              <a:t>dns_domain</a:t>
            </a:r>
            <a:r>
              <a:rPr lang="en-US" sz="600" dirty="0"/>
              <a:t>                | None                                 |</a:t>
            </a:r>
          </a:p>
          <a:p>
            <a:r>
              <a:rPr lang="en-US" sz="600" dirty="0"/>
              <a:t>| id                        | 17cb537a-88ac-42ed-9eb2-29177cb7490e |</a:t>
            </a:r>
          </a:p>
          <a:p>
            <a:r>
              <a:rPr lang="en-US" sz="600" dirty="0"/>
              <a:t>| ipv4_address_scope        | None                                 |</a:t>
            </a:r>
          </a:p>
          <a:p>
            <a:r>
              <a:rPr lang="en-US" sz="600" dirty="0"/>
              <a:t>| ipv6_address_scope        | None                                 |</a:t>
            </a:r>
          </a:p>
          <a:p>
            <a:r>
              <a:rPr lang="en-US" sz="600" dirty="0"/>
              <a:t>| </a:t>
            </a:r>
            <a:r>
              <a:rPr lang="en-US" sz="600" dirty="0" err="1"/>
              <a:t>is_default</a:t>
            </a:r>
            <a:r>
              <a:rPr lang="en-US" sz="600" dirty="0"/>
              <a:t>                | False                                |</a:t>
            </a:r>
          </a:p>
          <a:p>
            <a:r>
              <a:rPr lang="en-US" sz="600" dirty="0"/>
              <a:t>| </a:t>
            </a:r>
            <a:r>
              <a:rPr lang="en-US" sz="600" dirty="0" err="1"/>
              <a:t>is_vlan_transparent</a:t>
            </a:r>
            <a:r>
              <a:rPr lang="en-US" sz="600" dirty="0"/>
              <a:t>       | None                                 |</a:t>
            </a:r>
          </a:p>
          <a:p>
            <a:r>
              <a:rPr lang="en-US" sz="600" dirty="0"/>
              <a:t>| </a:t>
            </a:r>
            <a:r>
              <a:rPr lang="en-US" sz="600" dirty="0" err="1"/>
              <a:t>mtu</a:t>
            </a:r>
            <a:r>
              <a:rPr lang="en-US" sz="600" dirty="0"/>
              <a:t>                       | 1500                                 |</a:t>
            </a:r>
          </a:p>
          <a:p>
            <a:r>
              <a:rPr lang="en-US" sz="600" dirty="0"/>
              <a:t>| name                      | public1                              |</a:t>
            </a:r>
          </a:p>
          <a:p>
            <a:r>
              <a:rPr lang="en-US" sz="600" dirty="0"/>
              <a:t>| </a:t>
            </a:r>
            <a:r>
              <a:rPr lang="en-US" sz="600" dirty="0" err="1"/>
              <a:t>port_security_enabled</a:t>
            </a:r>
            <a:r>
              <a:rPr lang="en-US" sz="600" dirty="0"/>
              <a:t>     | True                                 |</a:t>
            </a:r>
          </a:p>
          <a:p>
            <a:r>
              <a:rPr lang="en-US" sz="600" dirty="0"/>
              <a:t>| </a:t>
            </a:r>
            <a:r>
              <a:rPr lang="en-US" sz="600" dirty="0" err="1"/>
              <a:t>project_id</a:t>
            </a:r>
            <a:r>
              <a:rPr lang="en-US" sz="600" dirty="0"/>
              <a:t>                | 496d5b465e684f20a8217fa408728ac2     |</a:t>
            </a:r>
          </a:p>
          <a:p>
            <a:r>
              <a:rPr lang="en-US" sz="600" dirty="0"/>
              <a:t>| </a:t>
            </a:r>
            <a:r>
              <a:rPr lang="en-US" sz="600" dirty="0" err="1"/>
              <a:t>provider:network_type</a:t>
            </a:r>
            <a:r>
              <a:rPr lang="en-US" sz="600" dirty="0"/>
              <a:t>     | flat                                 |</a:t>
            </a:r>
          </a:p>
          <a:p>
            <a:r>
              <a:rPr lang="en-US" sz="600" dirty="0"/>
              <a:t>| </a:t>
            </a:r>
            <a:r>
              <a:rPr lang="en-US" sz="600" dirty="0" err="1"/>
              <a:t>provider:physical_network</a:t>
            </a:r>
            <a:r>
              <a:rPr lang="en-US" sz="600" dirty="0"/>
              <a:t> | physnet1                             |</a:t>
            </a:r>
          </a:p>
          <a:p>
            <a:r>
              <a:rPr lang="en-US" sz="600" dirty="0"/>
              <a:t>| </a:t>
            </a:r>
            <a:r>
              <a:rPr lang="en-US" sz="600" dirty="0" err="1"/>
              <a:t>provider:segmentation_id</a:t>
            </a:r>
            <a:r>
              <a:rPr lang="en-US" sz="600" dirty="0"/>
              <a:t>  | None                                 |</a:t>
            </a:r>
          </a:p>
          <a:p>
            <a:r>
              <a:rPr lang="en-US" sz="600" dirty="0"/>
              <a:t>| </a:t>
            </a:r>
            <a:r>
              <a:rPr lang="en-US" sz="600" dirty="0" err="1"/>
              <a:t>qos_policy_id</a:t>
            </a:r>
            <a:r>
              <a:rPr lang="en-US" sz="600" dirty="0"/>
              <a:t>             | None                                 |</a:t>
            </a:r>
          </a:p>
          <a:p>
            <a:r>
              <a:rPr lang="en-US" sz="600" dirty="0"/>
              <a:t>| </a:t>
            </a:r>
            <a:r>
              <a:rPr lang="en-US" sz="600" dirty="0" err="1"/>
              <a:t>revision_number</a:t>
            </a:r>
            <a:r>
              <a:rPr lang="en-US" sz="600" dirty="0"/>
              <a:t>           | 1                                    |</a:t>
            </a:r>
          </a:p>
          <a:p>
            <a:r>
              <a:rPr lang="en-US" sz="600" dirty="0"/>
              <a:t>| </a:t>
            </a:r>
            <a:r>
              <a:rPr lang="en-US" sz="600" dirty="0" err="1"/>
              <a:t>router:external</a:t>
            </a:r>
            <a:r>
              <a:rPr lang="en-US" sz="600" dirty="0"/>
              <a:t>           | External                             |</a:t>
            </a:r>
          </a:p>
          <a:p>
            <a:r>
              <a:rPr lang="en-US" sz="600" dirty="0"/>
              <a:t>| segments                  | None                                 |</a:t>
            </a:r>
          </a:p>
          <a:p>
            <a:r>
              <a:rPr lang="en-US" sz="600" dirty="0"/>
              <a:t>| shared                    | False                                |</a:t>
            </a:r>
          </a:p>
          <a:p>
            <a:r>
              <a:rPr lang="en-US" sz="600" dirty="0"/>
              <a:t>| status                    | ACTIVE                               |</a:t>
            </a:r>
          </a:p>
          <a:p>
            <a:r>
              <a:rPr lang="en-US" sz="600" dirty="0"/>
              <a:t>| subnets                   |                                      |</a:t>
            </a:r>
          </a:p>
          <a:p>
            <a:r>
              <a:rPr lang="en-US" sz="600" dirty="0"/>
              <a:t>| tags                      |                                      |</a:t>
            </a:r>
          </a:p>
          <a:p>
            <a:r>
              <a:rPr lang="en-US" sz="600" dirty="0"/>
              <a:t>| </a:t>
            </a:r>
            <a:r>
              <a:rPr lang="en-US" sz="600" dirty="0" err="1"/>
              <a:t>tenant_id</a:t>
            </a:r>
            <a:r>
              <a:rPr lang="en-US" sz="600" dirty="0"/>
              <a:t>                 | 496d5b465e684f20a8217fa408728ac2     |</a:t>
            </a:r>
          </a:p>
          <a:p>
            <a:r>
              <a:rPr lang="en-US" sz="600" dirty="0"/>
              <a:t>| </a:t>
            </a:r>
            <a:r>
              <a:rPr lang="en-US" sz="600" dirty="0" err="1"/>
              <a:t>updated_at</a:t>
            </a:r>
            <a:r>
              <a:rPr lang="en-US" sz="600" dirty="0"/>
              <a:t>                | </a:t>
            </a:r>
            <a:r>
              <a:rPr lang="en-US" sz="600" dirty="0" smtClean="0"/>
              <a:t>2025-18-06T01:04:03Z                 </a:t>
            </a:r>
            <a:r>
              <a:rPr lang="en-US" sz="600" dirty="0"/>
              <a:t>|</a:t>
            </a:r>
          </a:p>
          <a:p>
            <a:r>
              <a:rPr lang="en-US" sz="600" dirty="0"/>
              <a:t>+---------------------------+--------------------------------------+</a:t>
            </a:r>
          </a:p>
          <a:p>
            <a:r>
              <a:rPr lang="en-US" sz="600" dirty="0"/>
              <a:t>+----------------------+--------------------------------------+</a:t>
            </a:r>
          </a:p>
          <a:p>
            <a:r>
              <a:rPr lang="en-US" sz="600" dirty="0"/>
              <a:t>| Field                | Value                                |</a:t>
            </a:r>
          </a:p>
          <a:p>
            <a:r>
              <a:rPr lang="en-US" sz="600" dirty="0"/>
              <a:t>+----------------------+--------------------------------------+</a:t>
            </a:r>
          </a:p>
          <a:p>
            <a:r>
              <a:rPr lang="en-US" sz="600" dirty="0"/>
              <a:t>| </a:t>
            </a:r>
            <a:r>
              <a:rPr lang="en-US" sz="600" dirty="0" err="1"/>
              <a:t>allocation_pools</a:t>
            </a:r>
            <a:r>
              <a:rPr lang="en-US" sz="600" dirty="0"/>
              <a:t>     | 10.0.2.150-10.0.2.199                |</a:t>
            </a:r>
          </a:p>
          <a:p>
            <a:r>
              <a:rPr lang="en-US" sz="600" dirty="0"/>
              <a:t>| </a:t>
            </a:r>
            <a:r>
              <a:rPr lang="en-US" sz="600" dirty="0" err="1"/>
              <a:t>cidr</a:t>
            </a:r>
            <a:r>
              <a:rPr lang="en-US" sz="600" dirty="0"/>
              <a:t>                 | 10.0.2.0/24                          |</a:t>
            </a:r>
          </a:p>
          <a:p>
            <a:r>
              <a:rPr lang="en-US" sz="600" dirty="0"/>
              <a:t>| </a:t>
            </a:r>
            <a:r>
              <a:rPr lang="en-US" sz="600" dirty="0" err="1"/>
              <a:t>created_at</a:t>
            </a:r>
            <a:r>
              <a:rPr lang="en-US" sz="600" dirty="0"/>
              <a:t>           | </a:t>
            </a:r>
            <a:r>
              <a:rPr lang="en-US" sz="600" dirty="0" smtClean="0"/>
              <a:t>2025-18-06T01:04:04Z                 </a:t>
            </a:r>
            <a:r>
              <a:rPr lang="en-US" sz="600" dirty="0"/>
              <a:t>|</a:t>
            </a:r>
          </a:p>
          <a:p>
            <a:r>
              <a:rPr lang="en-US" sz="600" dirty="0"/>
              <a:t>| description          |                                      |</a:t>
            </a:r>
          </a:p>
          <a:p>
            <a:r>
              <a:rPr lang="en-US" sz="600" dirty="0"/>
              <a:t>| </a:t>
            </a:r>
            <a:r>
              <a:rPr lang="en-US" sz="600" dirty="0" err="1"/>
              <a:t>dns_nameservers</a:t>
            </a:r>
            <a:r>
              <a:rPr lang="en-US" sz="600" dirty="0"/>
              <a:t>      |                                      |</a:t>
            </a:r>
          </a:p>
          <a:p>
            <a:r>
              <a:rPr lang="en-US" sz="600" dirty="0"/>
              <a:t>| </a:t>
            </a:r>
            <a:r>
              <a:rPr lang="en-US" sz="600" dirty="0" err="1"/>
              <a:t>dns_publish_fixed_ip</a:t>
            </a:r>
            <a:r>
              <a:rPr lang="en-US" sz="600" dirty="0"/>
              <a:t> | None                                 |</a:t>
            </a:r>
          </a:p>
          <a:p>
            <a:r>
              <a:rPr lang="en-US" sz="600" dirty="0"/>
              <a:t>| </a:t>
            </a:r>
            <a:r>
              <a:rPr lang="en-US" sz="600" dirty="0" err="1"/>
              <a:t>enable_dhcp</a:t>
            </a:r>
            <a:r>
              <a:rPr lang="en-US" sz="600" dirty="0"/>
              <a:t>          | False                                |</a:t>
            </a:r>
          </a:p>
          <a:p>
            <a:r>
              <a:rPr lang="en-US" sz="600" dirty="0"/>
              <a:t>| </a:t>
            </a:r>
            <a:r>
              <a:rPr lang="en-US" sz="600" dirty="0" err="1"/>
              <a:t>gateway_ip</a:t>
            </a:r>
            <a:r>
              <a:rPr lang="en-US" sz="600" dirty="0"/>
              <a:t>           | 10.0.2.1                             |</a:t>
            </a:r>
          </a:p>
          <a:p>
            <a:r>
              <a:rPr lang="en-US" sz="600" dirty="0"/>
              <a:t>| </a:t>
            </a:r>
            <a:r>
              <a:rPr lang="en-US" sz="600" dirty="0" err="1"/>
              <a:t>host_routes</a:t>
            </a:r>
            <a:r>
              <a:rPr lang="en-US" sz="600" dirty="0"/>
              <a:t>          |                                      |</a:t>
            </a:r>
          </a:p>
          <a:p>
            <a:r>
              <a:rPr lang="en-US" sz="600" dirty="0"/>
              <a:t>| id                   | 142f17ca-c06d-4c07-abdc-dc935b1b83a3 |</a:t>
            </a:r>
          </a:p>
          <a:p>
            <a:r>
              <a:rPr lang="en-US" sz="600" dirty="0"/>
              <a:t>| </a:t>
            </a:r>
            <a:r>
              <a:rPr lang="en-US" sz="600" dirty="0" err="1"/>
              <a:t>ip_version</a:t>
            </a:r>
            <a:r>
              <a:rPr lang="en-US" sz="600" dirty="0"/>
              <a:t>           | 4                                    |</a:t>
            </a:r>
          </a:p>
          <a:p>
            <a:r>
              <a:rPr lang="en-US" sz="600" dirty="0"/>
              <a:t>| ipv6_address_mode    | None                                 |</a:t>
            </a:r>
          </a:p>
          <a:p>
            <a:r>
              <a:rPr lang="en-US" sz="600" dirty="0"/>
              <a:t>| ipv6_ra_mode         | None                                 |</a:t>
            </a:r>
          </a:p>
          <a:p>
            <a:r>
              <a:rPr lang="en-US" sz="600" dirty="0"/>
              <a:t>| name                 | public1-subnet                       |</a:t>
            </a:r>
          </a:p>
          <a:p>
            <a:r>
              <a:rPr lang="en-US" sz="600" dirty="0"/>
              <a:t>| </a:t>
            </a:r>
            <a:r>
              <a:rPr lang="en-US" sz="600" dirty="0" err="1"/>
              <a:t>network_id</a:t>
            </a:r>
            <a:r>
              <a:rPr lang="en-US" sz="600" dirty="0"/>
              <a:t>           | 17cb537a-88ac-42ed-9eb2-29177cb7490e |</a:t>
            </a:r>
          </a:p>
          <a:p>
            <a:r>
              <a:rPr lang="en-US" sz="600" dirty="0"/>
              <a:t>| </a:t>
            </a:r>
            <a:r>
              <a:rPr lang="en-US" sz="600" dirty="0" err="1"/>
              <a:t>project_id</a:t>
            </a:r>
            <a:r>
              <a:rPr lang="en-US" sz="600" dirty="0"/>
              <a:t>           | 496d5b465e684f20a8217fa408728ac2     |</a:t>
            </a:r>
          </a:p>
          <a:p>
            <a:r>
              <a:rPr lang="en-US" sz="600" dirty="0"/>
              <a:t>| </a:t>
            </a:r>
            <a:r>
              <a:rPr lang="en-US" sz="600" dirty="0" err="1"/>
              <a:t>revision_number</a:t>
            </a:r>
            <a:r>
              <a:rPr lang="en-US" sz="600" dirty="0"/>
              <a:t>      | 0                                    |</a:t>
            </a:r>
          </a:p>
          <a:p>
            <a:r>
              <a:rPr lang="en-US" sz="600" dirty="0"/>
              <a:t>| </a:t>
            </a:r>
            <a:r>
              <a:rPr lang="en-US" sz="600" dirty="0" err="1"/>
              <a:t>segment_id</a:t>
            </a:r>
            <a:r>
              <a:rPr lang="en-US" sz="600" dirty="0"/>
              <a:t>           | None                                 |</a:t>
            </a:r>
          </a:p>
          <a:p>
            <a:r>
              <a:rPr lang="en-US" sz="600" dirty="0"/>
              <a:t>| </a:t>
            </a:r>
            <a:r>
              <a:rPr lang="en-US" sz="600" dirty="0" err="1"/>
              <a:t>service_types</a:t>
            </a:r>
            <a:r>
              <a:rPr lang="en-US" sz="600" dirty="0"/>
              <a:t>        |                                      |</a:t>
            </a:r>
          </a:p>
          <a:p>
            <a:r>
              <a:rPr lang="en-US" sz="600" dirty="0"/>
              <a:t>| </a:t>
            </a:r>
            <a:r>
              <a:rPr lang="en-US" sz="600" dirty="0" err="1"/>
              <a:t>subnetpool_id</a:t>
            </a:r>
            <a:r>
              <a:rPr lang="en-US" sz="600" dirty="0"/>
              <a:t>        | None                                 |</a:t>
            </a:r>
          </a:p>
          <a:p>
            <a:r>
              <a:rPr lang="en-US" sz="600" dirty="0"/>
              <a:t>| tags                 |                                      |</a:t>
            </a:r>
          </a:p>
          <a:p>
            <a:r>
              <a:rPr lang="en-US" sz="600" dirty="0"/>
              <a:t>| </a:t>
            </a:r>
            <a:r>
              <a:rPr lang="en-US" sz="600" dirty="0" err="1"/>
              <a:t>updated_at</a:t>
            </a:r>
            <a:r>
              <a:rPr lang="en-US" sz="600" dirty="0"/>
              <a:t>           | </a:t>
            </a:r>
            <a:r>
              <a:rPr lang="en-US" sz="600" dirty="0" smtClean="0"/>
              <a:t>2025-18-06T01:04:04Z                 </a:t>
            </a:r>
            <a:r>
              <a:rPr lang="en-US" sz="600" dirty="0"/>
              <a:t>|</a:t>
            </a:r>
          </a:p>
          <a:p>
            <a:r>
              <a:rPr lang="en-US" sz="600" dirty="0"/>
              <a:t>+----------------------+--------------------------------------+</a:t>
            </a:r>
          </a:p>
          <a:p>
            <a:r>
              <a:rPr lang="en-US" sz="600" dirty="0"/>
              <a:t>+-------------------------+--------------------------------------+</a:t>
            </a:r>
          </a:p>
          <a:p>
            <a:r>
              <a:rPr lang="en-US" sz="600" dirty="0"/>
              <a:t>| Field                   | Value                                |</a:t>
            </a:r>
          </a:p>
          <a:p>
            <a:r>
              <a:rPr lang="en-US" sz="600" dirty="0"/>
              <a:t>+-------------------------+--------------------------------------+</a:t>
            </a:r>
          </a:p>
          <a:p>
            <a:r>
              <a:rPr lang="en-US" sz="600" dirty="0"/>
              <a:t>| </a:t>
            </a:r>
            <a:r>
              <a:rPr lang="en-US" sz="600" dirty="0" err="1"/>
              <a:t>created_at</a:t>
            </a:r>
            <a:r>
              <a:rPr lang="en-US" sz="600" dirty="0"/>
              <a:t>              | </a:t>
            </a:r>
            <a:r>
              <a:rPr lang="en-US" sz="600" dirty="0" smtClean="0"/>
              <a:t>2025-18-06T01:04:11Z                 </a:t>
            </a:r>
            <a:r>
              <a:rPr lang="en-US" sz="600" dirty="0"/>
              <a:t>|</a:t>
            </a:r>
          </a:p>
          <a:p>
            <a:r>
              <a:rPr lang="en-US" sz="600" dirty="0"/>
              <a:t>| description             |                                      |</a:t>
            </a:r>
          </a:p>
          <a:p>
            <a:r>
              <a:rPr lang="en-US" sz="600" dirty="0"/>
              <a:t>| direction               | ingress                              |</a:t>
            </a:r>
          </a:p>
          <a:p>
            <a:r>
              <a:rPr lang="en-US" sz="600" dirty="0"/>
              <a:t>| </a:t>
            </a:r>
            <a:r>
              <a:rPr lang="en-US" sz="600" dirty="0" err="1"/>
              <a:t>ether_type</a:t>
            </a:r>
            <a:r>
              <a:rPr lang="en-US" sz="600" dirty="0"/>
              <a:t>              | IPv4                                 |</a:t>
            </a:r>
          </a:p>
          <a:p>
            <a:r>
              <a:rPr lang="en-US" sz="600" dirty="0"/>
              <a:t>| id                      | b485970a-d7ee-43d2-a1ea-1e440be2dd12 |</a:t>
            </a:r>
          </a:p>
          <a:p>
            <a:r>
              <a:rPr lang="en-US" sz="600" dirty="0"/>
              <a:t>| name                    | None                                 |</a:t>
            </a:r>
          </a:p>
          <a:p>
            <a:r>
              <a:rPr lang="en-US" sz="600" dirty="0"/>
              <a:t>| </a:t>
            </a:r>
            <a:r>
              <a:rPr lang="en-US" sz="600" dirty="0" err="1"/>
              <a:t>normalized_cidr</a:t>
            </a:r>
            <a:r>
              <a:rPr lang="en-US" sz="600" dirty="0"/>
              <a:t>         | 0.0.0.0/0                            |</a:t>
            </a:r>
          </a:p>
          <a:p>
            <a:r>
              <a:rPr lang="en-US" sz="600" dirty="0"/>
              <a:t>| </a:t>
            </a:r>
            <a:r>
              <a:rPr lang="en-US" sz="600" dirty="0" err="1"/>
              <a:t>port_range_max</a:t>
            </a:r>
            <a:r>
              <a:rPr lang="en-US" sz="600" dirty="0"/>
              <a:t>          | None                                 |</a:t>
            </a:r>
          </a:p>
          <a:p>
            <a:r>
              <a:rPr lang="en-US" sz="600" dirty="0"/>
              <a:t>| </a:t>
            </a:r>
            <a:r>
              <a:rPr lang="en-US" sz="600" dirty="0" err="1"/>
              <a:t>port_range_min</a:t>
            </a:r>
            <a:r>
              <a:rPr lang="en-US" sz="600" dirty="0"/>
              <a:t>          | None                                 |</a:t>
            </a:r>
          </a:p>
          <a:p>
            <a:r>
              <a:rPr lang="en-US" sz="600" dirty="0"/>
              <a:t>| </a:t>
            </a:r>
            <a:r>
              <a:rPr lang="en-US" sz="600" dirty="0" err="1"/>
              <a:t>project_id</a:t>
            </a:r>
            <a:r>
              <a:rPr lang="en-US" sz="600" dirty="0"/>
              <a:t>              | 496d5b465e684f20a8217fa408728ac2     |</a:t>
            </a:r>
          </a:p>
          <a:p>
            <a:r>
              <a:rPr lang="en-US" sz="600" dirty="0"/>
              <a:t>| protocol                | </a:t>
            </a:r>
            <a:r>
              <a:rPr lang="en-US" sz="600" dirty="0" err="1"/>
              <a:t>icmp</a:t>
            </a:r>
            <a:r>
              <a:rPr lang="en-US" sz="600" dirty="0"/>
              <a:t>                                 |</a:t>
            </a:r>
          </a:p>
          <a:p>
            <a:r>
              <a:rPr lang="en-US" sz="600" dirty="0"/>
              <a:t>| </a:t>
            </a:r>
            <a:r>
              <a:rPr lang="en-US" sz="600" dirty="0" err="1"/>
              <a:t>remote_address_group_id</a:t>
            </a:r>
            <a:r>
              <a:rPr lang="en-US" sz="600" dirty="0"/>
              <a:t> | None                                 |</a:t>
            </a:r>
          </a:p>
          <a:p>
            <a:r>
              <a:rPr lang="en-US" sz="600" dirty="0"/>
              <a:t>| </a:t>
            </a:r>
            <a:r>
              <a:rPr lang="en-US" sz="600" dirty="0" err="1"/>
              <a:t>remote_group_id</a:t>
            </a:r>
            <a:r>
              <a:rPr lang="en-US" sz="600" dirty="0"/>
              <a:t>         | None                                 |</a:t>
            </a:r>
          </a:p>
          <a:p>
            <a:r>
              <a:rPr lang="en-US" sz="600" dirty="0"/>
              <a:t>| </a:t>
            </a:r>
            <a:r>
              <a:rPr lang="en-US" sz="600" dirty="0" err="1"/>
              <a:t>remote_ip_prefix</a:t>
            </a:r>
            <a:r>
              <a:rPr lang="en-US" sz="600" dirty="0"/>
              <a:t>        | 0.0.0.0/0                            |</a:t>
            </a:r>
          </a:p>
          <a:p>
            <a:r>
              <a:rPr lang="en-US" sz="600" dirty="0"/>
              <a:t>| </a:t>
            </a:r>
            <a:r>
              <a:rPr lang="en-US" sz="600" dirty="0" err="1"/>
              <a:t>revision_number</a:t>
            </a:r>
            <a:r>
              <a:rPr lang="en-US" sz="600" dirty="0"/>
              <a:t>         | 0                                    |</a:t>
            </a:r>
          </a:p>
          <a:p>
            <a:r>
              <a:rPr lang="en-US" sz="600" dirty="0"/>
              <a:t>| </a:t>
            </a:r>
            <a:r>
              <a:rPr lang="en-US" sz="600" dirty="0" err="1"/>
              <a:t>security_group_id</a:t>
            </a:r>
            <a:r>
              <a:rPr lang="en-US" sz="600" dirty="0"/>
              <a:t>       | ab6be57e-a748-4b92-bbe0-3d26bab3d60b |</a:t>
            </a:r>
          </a:p>
          <a:p>
            <a:r>
              <a:rPr lang="en-US" sz="600" dirty="0"/>
              <a:t>| tags                    | []                                   |</a:t>
            </a:r>
          </a:p>
          <a:p>
            <a:r>
              <a:rPr lang="en-US" sz="600" dirty="0"/>
              <a:t>| </a:t>
            </a:r>
            <a:r>
              <a:rPr lang="en-US" sz="600" dirty="0" err="1"/>
              <a:t>updated_at</a:t>
            </a:r>
            <a:r>
              <a:rPr lang="en-US" sz="600" dirty="0"/>
              <a:t>              | </a:t>
            </a:r>
            <a:r>
              <a:rPr lang="en-US" sz="600" dirty="0" smtClean="0"/>
              <a:t>2025-18-06T01:04:11Z                 </a:t>
            </a:r>
            <a:r>
              <a:rPr lang="en-US" sz="600" dirty="0"/>
              <a:t>|</a:t>
            </a:r>
          </a:p>
          <a:p>
            <a:r>
              <a:rPr lang="en-US" sz="600" dirty="0"/>
              <a:t>+-------------------------+--------------------------------------+</a:t>
            </a:r>
          </a:p>
          <a:p>
            <a:r>
              <a:rPr lang="en-US" sz="600" dirty="0"/>
              <a:t>+-------------------------+--------------------------------------+</a:t>
            </a:r>
          </a:p>
          <a:p>
            <a:r>
              <a:rPr lang="en-US" sz="600" dirty="0"/>
              <a:t>| Field                   | Value                                |</a:t>
            </a:r>
          </a:p>
          <a:p>
            <a:r>
              <a:rPr lang="en-US" sz="600" dirty="0"/>
              <a:t>+-------------------------+--------------------------------------+</a:t>
            </a:r>
          </a:p>
          <a:p>
            <a:r>
              <a:rPr lang="en-US" sz="600" dirty="0"/>
              <a:t>| </a:t>
            </a:r>
            <a:r>
              <a:rPr lang="en-US" sz="600" dirty="0" err="1"/>
              <a:t>created_at</a:t>
            </a:r>
            <a:r>
              <a:rPr lang="en-US" sz="600" dirty="0"/>
              <a:t>              | </a:t>
            </a:r>
            <a:r>
              <a:rPr lang="en-US" sz="600" dirty="0" smtClean="0"/>
              <a:t>2025-18-06T01:04:12Z                 </a:t>
            </a:r>
            <a:r>
              <a:rPr lang="en-US" sz="600" dirty="0"/>
              <a:t>|</a:t>
            </a:r>
          </a:p>
          <a:p>
            <a:r>
              <a:rPr lang="en-US" sz="600" dirty="0"/>
              <a:t>| description             |                                      |</a:t>
            </a:r>
          </a:p>
          <a:p>
            <a:r>
              <a:rPr lang="en-US" sz="600" dirty="0"/>
              <a:t>| direction               | ingress                              |</a:t>
            </a:r>
          </a:p>
          <a:p>
            <a:r>
              <a:rPr lang="en-US" sz="600" dirty="0"/>
              <a:t>| </a:t>
            </a:r>
            <a:r>
              <a:rPr lang="en-US" sz="600" dirty="0" err="1"/>
              <a:t>ether_type</a:t>
            </a:r>
            <a:r>
              <a:rPr lang="en-US" sz="600" dirty="0"/>
              <a:t>              | IPv4                                 |</a:t>
            </a:r>
          </a:p>
          <a:p>
            <a:r>
              <a:rPr lang="en-US" sz="600" dirty="0"/>
              <a:t>| id                      | caec3c73-02cd-4f31-8c6c-c27370599559 |</a:t>
            </a:r>
          </a:p>
          <a:p>
            <a:r>
              <a:rPr lang="en-US" sz="600" dirty="0"/>
              <a:t>| name                    | None                                 |</a:t>
            </a:r>
          </a:p>
          <a:p>
            <a:r>
              <a:rPr lang="en-US" sz="600" dirty="0"/>
              <a:t>| </a:t>
            </a:r>
            <a:r>
              <a:rPr lang="en-US" sz="600" dirty="0" err="1"/>
              <a:t>normalized_cidr</a:t>
            </a:r>
            <a:r>
              <a:rPr lang="en-US" sz="600" dirty="0"/>
              <a:t>         | 0.0.0.0/0                            |</a:t>
            </a:r>
          </a:p>
          <a:p>
            <a:r>
              <a:rPr lang="en-US" sz="600" dirty="0"/>
              <a:t>| </a:t>
            </a:r>
            <a:r>
              <a:rPr lang="en-US" sz="600" dirty="0" err="1"/>
              <a:t>port_range_max</a:t>
            </a:r>
            <a:r>
              <a:rPr lang="en-US" sz="600" dirty="0"/>
              <a:t>          | 22                                   |</a:t>
            </a:r>
          </a:p>
          <a:p>
            <a:r>
              <a:rPr lang="en-US" sz="600" dirty="0"/>
              <a:t>| </a:t>
            </a:r>
            <a:r>
              <a:rPr lang="en-US" sz="600" dirty="0" err="1"/>
              <a:t>port_range_min</a:t>
            </a:r>
            <a:r>
              <a:rPr lang="en-US" sz="600" dirty="0"/>
              <a:t>          | 22                                   |</a:t>
            </a:r>
          </a:p>
          <a:p>
            <a:r>
              <a:rPr lang="en-US" sz="600" dirty="0"/>
              <a:t>| </a:t>
            </a:r>
            <a:r>
              <a:rPr lang="en-US" sz="600" dirty="0" err="1"/>
              <a:t>project_id</a:t>
            </a:r>
            <a:r>
              <a:rPr lang="en-US" sz="600" dirty="0"/>
              <a:t>              | 496d5b465e684f20a8217fa408728ac2     |</a:t>
            </a:r>
          </a:p>
          <a:p>
            <a:r>
              <a:rPr lang="en-US" sz="600" dirty="0"/>
              <a:t>| protocol                | </a:t>
            </a:r>
            <a:r>
              <a:rPr lang="en-US" sz="600" dirty="0" err="1"/>
              <a:t>tcp</a:t>
            </a:r>
            <a:r>
              <a:rPr lang="en-US" sz="600" dirty="0"/>
              <a:t>                                  |</a:t>
            </a:r>
          </a:p>
          <a:p>
            <a:r>
              <a:rPr lang="en-US" sz="600" dirty="0"/>
              <a:t>| </a:t>
            </a:r>
            <a:r>
              <a:rPr lang="en-US" sz="600" dirty="0" err="1"/>
              <a:t>remote_address_group_id</a:t>
            </a:r>
            <a:r>
              <a:rPr lang="en-US" sz="600" dirty="0"/>
              <a:t> | None                                 |</a:t>
            </a:r>
          </a:p>
          <a:p>
            <a:r>
              <a:rPr lang="en-US" sz="600" dirty="0"/>
              <a:t>| </a:t>
            </a:r>
            <a:r>
              <a:rPr lang="en-US" sz="600" dirty="0" err="1"/>
              <a:t>remote_group_id</a:t>
            </a:r>
            <a:r>
              <a:rPr lang="en-US" sz="600" dirty="0"/>
              <a:t>         | None                                 |</a:t>
            </a:r>
          </a:p>
          <a:p>
            <a:r>
              <a:rPr lang="en-US" sz="600" dirty="0"/>
              <a:t>| </a:t>
            </a:r>
            <a:r>
              <a:rPr lang="en-US" sz="600" dirty="0" err="1"/>
              <a:t>remote_ip_prefix</a:t>
            </a:r>
            <a:r>
              <a:rPr lang="en-US" sz="600" dirty="0"/>
              <a:t>        | 0.0.0.0/0                            |</a:t>
            </a:r>
          </a:p>
          <a:p>
            <a:r>
              <a:rPr lang="en-US" sz="600" dirty="0"/>
              <a:t>| </a:t>
            </a:r>
            <a:r>
              <a:rPr lang="en-US" sz="600" dirty="0" err="1"/>
              <a:t>revision_number</a:t>
            </a:r>
            <a:r>
              <a:rPr lang="en-US" sz="600" dirty="0"/>
              <a:t>         | 0                                    |</a:t>
            </a:r>
          </a:p>
          <a:p>
            <a:r>
              <a:rPr lang="en-US" sz="600" dirty="0"/>
              <a:t>| </a:t>
            </a:r>
            <a:r>
              <a:rPr lang="en-US" sz="600" dirty="0" err="1"/>
              <a:t>security_group_id</a:t>
            </a:r>
            <a:r>
              <a:rPr lang="en-US" sz="600" dirty="0"/>
              <a:t>       | ab6be57e-a748-4b92-bbe0-3d26bab3d60b |</a:t>
            </a:r>
          </a:p>
          <a:p>
            <a:r>
              <a:rPr lang="en-US" sz="600" dirty="0"/>
              <a:t>| tags                    | []                                   |</a:t>
            </a:r>
          </a:p>
          <a:p>
            <a:r>
              <a:rPr lang="en-US" sz="600" dirty="0"/>
              <a:t>| </a:t>
            </a:r>
            <a:r>
              <a:rPr lang="en-US" sz="600" dirty="0" err="1"/>
              <a:t>updated_at</a:t>
            </a:r>
            <a:r>
              <a:rPr lang="en-US" sz="600" dirty="0"/>
              <a:t>              | </a:t>
            </a:r>
            <a:r>
              <a:rPr lang="en-US" sz="600" dirty="0" smtClean="0"/>
              <a:t>2025-18-06T01:04:12Z                 </a:t>
            </a:r>
            <a:r>
              <a:rPr lang="en-US" sz="600" dirty="0"/>
              <a:t>|</a:t>
            </a:r>
          </a:p>
          <a:p>
            <a:r>
              <a:rPr lang="en-US" sz="600" dirty="0"/>
              <a:t>+-------------------------+--------------------------------------+</a:t>
            </a:r>
          </a:p>
          <a:p>
            <a:r>
              <a:rPr lang="en-US" sz="600" dirty="0"/>
              <a:t>+-------------------------+--------------------------------------+</a:t>
            </a:r>
          </a:p>
          <a:p>
            <a:r>
              <a:rPr lang="en-US" sz="600" dirty="0"/>
              <a:t>| Field                   | Value                                |</a:t>
            </a:r>
          </a:p>
          <a:p>
            <a:r>
              <a:rPr lang="en-US" sz="600" dirty="0"/>
              <a:t>+-------------------------+--------------------------------------+</a:t>
            </a:r>
          </a:p>
          <a:p>
            <a:r>
              <a:rPr lang="en-US" sz="600" dirty="0"/>
              <a:t>| </a:t>
            </a:r>
            <a:r>
              <a:rPr lang="en-US" sz="600" dirty="0" err="1"/>
              <a:t>created_at</a:t>
            </a:r>
            <a:r>
              <a:rPr lang="en-US" sz="600" dirty="0"/>
              <a:t>              | </a:t>
            </a:r>
            <a:r>
              <a:rPr lang="en-US" sz="600" dirty="0" smtClean="0"/>
              <a:t>2025-18-06T01:04:13Z                 </a:t>
            </a:r>
            <a:r>
              <a:rPr lang="en-US" sz="600" dirty="0"/>
              <a:t>|</a:t>
            </a:r>
          </a:p>
          <a:p>
            <a:r>
              <a:rPr lang="en-US" sz="600" dirty="0"/>
              <a:t>| description             |                                      |</a:t>
            </a:r>
          </a:p>
          <a:p>
            <a:r>
              <a:rPr lang="en-US" sz="600" dirty="0"/>
              <a:t>| direction               | ingress                              |</a:t>
            </a:r>
          </a:p>
          <a:p>
            <a:r>
              <a:rPr lang="en-US" sz="600" dirty="0"/>
              <a:t>| </a:t>
            </a:r>
            <a:r>
              <a:rPr lang="en-US" sz="600" dirty="0" err="1"/>
              <a:t>ether_type</a:t>
            </a:r>
            <a:r>
              <a:rPr lang="en-US" sz="600" dirty="0"/>
              <a:t>              | IPv4                                 |</a:t>
            </a:r>
          </a:p>
          <a:p>
            <a:r>
              <a:rPr lang="en-US" sz="600" dirty="0"/>
              <a:t>| id                      | 1b7a08bc-cdf3-4ced-a402-113302e5bd6a |</a:t>
            </a:r>
          </a:p>
          <a:p>
            <a:r>
              <a:rPr lang="en-US" sz="600" dirty="0"/>
              <a:t>| name                    | None                                 |</a:t>
            </a:r>
          </a:p>
          <a:p>
            <a:r>
              <a:rPr lang="en-US" sz="600" dirty="0"/>
              <a:t>| </a:t>
            </a:r>
            <a:r>
              <a:rPr lang="en-US" sz="600" dirty="0" err="1"/>
              <a:t>normalized_cidr</a:t>
            </a:r>
            <a:r>
              <a:rPr lang="en-US" sz="600" dirty="0"/>
              <a:t>         | 0.0.0.0/0                            |</a:t>
            </a:r>
          </a:p>
          <a:p>
            <a:r>
              <a:rPr lang="en-US" sz="600" dirty="0"/>
              <a:t>| </a:t>
            </a:r>
            <a:r>
              <a:rPr lang="en-US" sz="600" dirty="0" err="1"/>
              <a:t>port_range_max</a:t>
            </a:r>
            <a:r>
              <a:rPr lang="en-US" sz="600" dirty="0"/>
              <a:t>          | 8000                                 |</a:t>
            </a:r>
          </a:p>
          <a:p>
            <a:r>
              <a:rPr lang="en-US" sz="600" dirty="0"/>
              <a:t>| </a:t>
            </a:r>
            <a:r>
              <a:rPr lang="en-US" sz="600" dirty="0" err="1"/>
              <a:t>port_range_min</a:t>
            </a:r>
            <a:r>
              <a:rPr lang="en-US" sz="600" dirty="0"/>
              <a:t>          | 8000                                 |</a:t>
            </a:r>
          </a:p>
          <a:p>
            <a:r>
              <a:rPr lang="en-US" sz="600" dirty="0"/>
              <a:t>| </a:t>
            </a:r>
            <a:r>
              <a:rPr lang="en-US" sz="600" dirty="0" err="1"/>
              <a:t>project_id</a:t>
            </a:r>
            <a:r>
              <a:rPr lang="en-US" sz="600" dirty="0"/>
              <a:t>              | 496d5b465e684f20a8217fa408728ac2     |</a:t>
            </a:r>
          </a:p>
          <a:p>
            <a:r>
              <a:rPr lang="en-US" sz="600" dirty="0"/>
              <a:t>| protocol                | </a:t>
            </a:r>
            <a:r>
              <a:rPr lang="en-US" sz="600" dirty="0" err="1"/>
              <a:t>tcp</a:t>
            </a:r>
            <a:r>
              <a:rPr lang="en-US" sz="600" dirty="0"/>
              <a:t>                                  |</a:t>
            </a:r>
          </a:p>
          <a:p>
            <a:r>
              <a:rPr lang="en-US" sz="600" dirty="0"/>
              <a:t>| </a:t>
            </a:r>
            <a:r>
              <a:rPr lang="en-US" sz="600" dirty="0" err="1"/>
              <a:t>remote_address_group_id</a:t>
            </a:r>
            <a:r>
              <a:rPr lang="en-US" sz="600" dirty="0"/>
              <a:t> | None                                 |</a:t>
            </a:r>
          </a:p>
          <a:p>
            <a:r>
              <a:rPr lang="en-US" sz="600" dirty="0"/>
              <a:t>| </a:t>
            </a:r>
            <a:r>
              <a:rPr lang="en-US" sz="600" dirty="0" err="1"/>
              <a:t>remote_group_id</a:t>
            </a:r>
            <a:r>
              <a:rPr lang="en-US" sz="600" dirty="0"/>
              <a:t>         | None                                 |</a:t>
            </a:r>
          </a:p>
          <a:p>
            <a:r>
              <a:rPr lang="en-US" sz="600" dirty="0"/>
              <a:t>| </a:t>
            </a:r>
            <a:r>
              <a:rPr lang="en-US" sz="600" dirty="0" err="1"/>
              <a:t>remote_ip_prefix</a:t>
            </a:r>
            <a:r>
              <a:rPr lang="en-US" sz="600" dirty="0"/>
              <a:t>        | 0.0.0.0/0                            |</a:t>
            </a:r>
          </a:p>
          <a:p>
            <a:r>
              <a:rPr lang="en-US" sz="600" dirty="0"/>
              <a:t>| </a:t>
            </a:r>
            <a:r>
              <a:rPr lang="en-US" sz="600" dirty="0" err="1"/>
              <a:t>revision_number</a:t>
            </a:r>
            <a:r>
              <a:rPr lang="en-US" sz="600" dirty="0"/>
              <a:t>         | 0                                    |</a:t>
            </a:r>
          </a:p>
          <a:p>
            <a:r>
              <a:rPr lang="en-US" sz="600" dirty="0"/>
              <a:t>| </a:t>
            </a:r>
            <a:r>
              <a:rPr lang="en-US" sz="600" dirty="0" err="1"/>
              <a:t>security_group_id</a:t>
            </a:r>
            <a:r>
              <a:rPr lang="en-US" sz="600" dirty="0"/>
              <a:t>       | ab6be57e-a748-4b92-bbe0-3d26bab3d60b |</a:t>
            </a:r>
          </a:p>
          <a:p>
            <a:r>
              <a:rPr lang="en-US" sz="600" dirty="0"/>
              <a:t>| tags                    | []                                   |</a:t>
            </a:r>
          </a:p>
          <a:p>
            <a:r>
              <a:rPr lang="en-US" sz="600" dirty="0"/>
              <a:t>| </a:t>
            </a:r>
            <a:r>
              <a:rPr lang="en-US" sz="600" dirty="0" err="1"/>
              <a:t>updated_at</a:t>
            </a:r>
            <a:r>
              <a:rPr lang="en-US" sz="600" dirty="0"/>
              <a:t>              | </a:t>
            </a:r>
            <a:r>
              <a:rPr lang="en-US" sz="600" dirty="0" smtClean="0"/>
              <a:t>2025-18-06T01:04:13Z                 </a:t>
            </a:r>
            <a:r>
              <a:rPr lang="en-US" sz="600" dirty="0"/>
              <a:t>|</a:t>
            </a:r>
          </a:p>
          <a:p>
            <a:r>
              <a:rPr lang="en-US" sz="600" dirty="0"/>
              <a:t>+-------------------------+--------------------------------------+</a:t>
            </a:r>
          </a:p>
          <a:p>
            <a:r>
              <a:rPr lang="en-US" sz="600" dirty="0"/>
              <a:t>+-------------------------+--------------------------------------+</a:t>
            </a:r>
          </a:p>
          <a:p>
            <a:r>
              <a:rPr lang="en-US" sz="600" dirty="0"/>
              <a:t>| Field                   | Value                                |</a:t>
            </a:r>
          </a:p>
          <a:p>
            <a:r>
              <a:rPr lang="en-US" sz="600" dirty="0"/>
              <a:t>+-------------------------+--------------------------------------+</a:t>
            </a:r>
          </a:p>
          <a:p>
            <a:r>
              <a:rPr lang="en-US" sz="600" dirty="0"/>
              <a:t>| </a:t>
            </a:r>
            <a:r>
              <a:rPr lang="en-US" sz="600" dirty="0" err="1"/>
              <a:t>created_at</a:t>
            </a:r>
            <a:r>
              <a:rPr lang="en-US" sz="600" dirty="0"/>
              <a:t>              | </a:t>
            </a:r>
            <a:r>
              <a:rPr lang="en-US" sz="600" dirty="0" smtClean="0"/>
              <a:t>2025-18-06T01:04:14Z                 </a:t>
            </a:r>
            <a:r>
              <a:rPr lang="en-US" sz="600" dirty="0"/>
              <a:t>|</a:t>
            </a:r>
          </a:p>
          <a:p>
            <a:r>
              <a:rPr lang="en-US" sz="600" dirty="0"/>
              <a:t>| description             |                                      |</a:t>
            </a:r>
          </a:p>
          <a:p>
            <a:r>
              <a:rPr lang="en-US" sz="600" dirty="0"/>
              <a:t>| direction               | ingress                              |</a:t>
            </a:r>
          </a:p>
          <a:p>
            <a:r>
              <a:rPr lang="en-US" sz="600" dirty="0"/>
              <a:t>| </a:t>
            </a:r>
            <a:r>
              <a:rPr lang="en-US" sz="600" dirty="0" err="1"/>
              <a:t>ether_type</a:t>
            </a:r>
            <a:r>
              <a:rPr lang="en-US" sz="600" dirty="0"/>
              <a:t>              | IPv4                                 |</a:t>
            </a:r>
          </a:p>
          <a:p>
            <a:r>
              <a:rPr lang="en-US" sz="600" dirty="0"/>
              <a:t>| id                      | 05ed928f-07b9-4af1-abf5-589a0493e206 |</a:t>
            </a:r>
          </a:p>
          <a:p>
            <a:r>
              <a:rPr lang="en-US" sz="600" dirty="0"/>
              <a:t>| name                    | None                                 |</a:t>
            </a:r>
          </a:p>
          <a:p>
            <a:r>
              <a:rPr lang="en-US" sz="600" dirty="0"/>
              <a:t>| </a:t>
            </a:r>
            <a:r>
              <a:rPr lang="en-US" sz="600" dirty="0" err="1"/>
              <a:t>normalized_cidr</a:t>
            </a:r>
            <a:r>
              <a:rPr lang="en-US" sz="600" dirty="0"/>
              <a:t>         | 0.0.0.0/0                            |</a:t>
            </a:r>
          </a:p>
          <a:p>
            <a:r>
              <a:rPr lang="en-US" sz="600" dirty="0"/>
              <a:t>| </a:t>
            </a:r>
            <a:r>
              <a:rPr lang="en-US" sz="600" dirty="0" err="1"/>
              <a:t>port_range_max</a:t>
            </a:r>
            <a:r>
              <a:rPr lang="en-US" sz="600" dirty="0"/>
              <a:t>          | 8080                                 |</a:t>
            </a:r>
          </a:p>
          <a:p>
            <a:r>
              <a:rPr lang="en-US" sz="600" dirty="0"/>
              <a:t>| </a:t>
            </a:r>
            <a:r>
              <a:rPr lang="en-US" sz="600" dirty="0" err="1"/>
              <a:t>port_range_min</a:t>
            </a:r>
            <a:r>
              <a:rPr lang="en-US" sz="600" dirty="0"/>
              <a:t>          | 8080                                 |</a:t>
            </a:r>
          </a:p>
          <a:p>
            <a:r>
              <a:rPr lang="en-US" sz="600" dirty="0"/>
              <a:t>| </a:t>
            </a:r>
            <a:r>
              <a:rPr lang="en-US" sz="600" dirty="0" err="1"/>
              <a:t>project_id</a:t>
            </a:r>
            <a:r>
              <a:rPr lang="en-US" sz="600" dirty="0"/>
              <a:t>              | 496d5b465e684f20a8217fa408728ac2     |</a:t>
            </a:r>
          </a:p>
          <a:p>
            <a:r>
              <a:rPr lang="en-US" sz="600" dirty="0"/>
              <a:t>| protocol                | </a:t>
            </a:r>
            <a:r>
              <a:rPr lang="en-US" sz="600" dirty="0" err="1"/>
              <a:t>tcp</a:t>
            </a:r>
            <a:r>
              <a:rPr lang="en-US" sz="600" dirty="0"/>
              <a:t>                                  |</a:t>
            </a:r>
          </a:p>
          <a:p>
            <a:r>
              <a:rPr lang="en-US" sz="600" dirty="0"/>
              <a:t>| </a:t>
            </a:r>
            <a:r>
              <a:rPr lang="en-US" sz="600" dirty="0" err="1"/>
              <a:t>remote_address_group_id</a:t>
            </a:r>
            <a:r>
              <a:rPr lang="en-US" sz="600" dirty="0"/>
              <a:t> | None                                 |</a:t>
            </a:r>
          </a:p>
          <a:p>
            <a:r>
              <a:rPr lang="en-US" sz="600" dirty="0"/>
              <a:t>| </a:t>
            </a:r>
            <a:r>
              <a:rPr lang="en-US" sz="600" dirty="0" err="1"/>
              <a:t>remote_group_id</a:t>
            </a:r>
            <a:r>
              <a:rPr lang="en-US" sz="600" dirty="0"/>
              <a:t>         | None                                 |</a:t>
            </a:r>
          </a:p>
          <a:p>
            <a:r>
              <a:rPr lang="en-US" sz="600" dirty="0"/>
              <a:t>| </a:t>
            </a:r>
            <a:r>
              <a:rPr lang="en-US" sz="600" dirty="0" err="1"/>
              <a:t>remote_ip_prefix</a:t>
            </a:r>
            <a:r>
              <a:rPr lang="en-US" sz="600" dirty="0"/>
              <a:t>        | 0.0.0.0/0                            |</a:t>
            </a:r>
          </a:p>
          <a:p>
            <a:r>
              <a:rPr lang="en-US" sz="600" dirty="0"/>
              <a:t>| </a:t>
            </a:r>
            <a:r>
              <a:rPr lang="en-US" sz="600" dirty="0" err="1"/>
              <a:t>revision_number</a:t>
            </a:r>
            <a:r>
              <a:rPr lang="en-US" sz="600" dirty="0"/>
              <a:t>         | 0                                    |</a:t>
            </a:r>
          </a:p>
          <a:p>
            <a:r>
              <a:rPr lang="en-US" sz="600" dirty="0"/>
              <a:t>| </a:t>
            </a:r>
            <a:r>
              <a:rPr lang="en-US" sz="600" dirty="0" err="1"/>
              <a:t>security_group_id</a:t>
            </a:r>
            <a:r>
              <a:rPr lang="en-US" sz="600" dirty="0"/>
              <a:t>       | ab6be57e-a748-4b92-bbe0-3d26bab3d60b |</a:t>
            </a:r>
          </a:p>
          <a:p>
            <a:r>
              <a:rPr lang="en-US" sz="600" dirty="0"/>
              <a:t>| tags                    | []                                   |</a:t>
            </a:r>
          </a:p>
          <a:p>
            <a:r>
              <a:rPr lang="en-US" sz="600" dirty="0"/>
              <a:t>| </a:t>
            </a:r>
            <a:r>
              <a:rPr lang="en-US" sz="600" dirty="0" err="1"/>
              <a:t>updated_at</a:t>
            </a:r>
            <a:r>
              <a:rPr lang="en-US" sz="600" dirty="0"/>
              <a:t>              | </a:t>
            </a:r>
            <a:r>
              <a:rPr lang="en-US" sz="600" dirty="0" smtClean="0"/>
              <a:t>2025-18-06T01:04:14Z                 </a:t>
            </a:r>
            <a:r>
              <a:rPr lang="en-US" sz="600" dirty="0"/>
              <a:t>|</a:t>
            </a:r>
          </a:p>
          <a:p>
            <a:r>
              <a:rPr lang="en-US" sz="600" dirty="0"/>
              <a:t>+-------------------------+--------------------------------------+</a:t>
            </a:r>
          </a:p>
          <a:p>
            <a:r>
              <a:rPr lang="en-US" sz="600" dirty="0"/>
              <a:t>Generating </a:t>
            </a:r>
            <a:r>
              <a:rPr lang="en-US" sz="600" dirty="0" err="1"/>
              <a:t>ssh</a:t>
            </a:r>
            <a:r>
              <a:rPr lang="en-US" sz="600" dirty="0"/>
              <a:t> key.</a:t>
            </a:r>
          </a:p>
          <a:p>
            <a:r>
              <a:rPr lang="en-US" sz="600" dirty="0"/>
              <a:t>Generating public/private </a:t>
            </a:r>
            <a:r>
              <a:rPr lang="en-US" sz="600" dirty="0" err="1"/>
              <a:t>ecdsa</a:t>
            </a:r>
            <a:r>
              <a:rPr lang="en-US" sz="600" dirty="0"/>
              <a:t> key pair.</a:t>
            </a:r>
          </a:p>
          <a:p>
            <a:r>
              <a:rPr lang="en-US" sz="600" dirty="0"/>
              <a:t>Your identification has been saved in /</a:t>
            </a:r>
            <a:r>
              <a:rPr lang="en-US" sz="600" dirty="0" smtClean="0"/>
              <a:t>home/</a:t>
            </a:r>
            <a:r>
              <a:rPr lang="en-US" sz="600" dirty="0" err="1" smtClean="0"/>
              <a:t>amel</a:t>
            </a:r>
            <a:r>
              <a:rPr lang="en-US" sz="600" dirty="0" smtClean="0"/>
              <a:t>/.</a:t>
            </a:r>
            <a:r>
              <a:rPr lang="en-US" sz="600" dirty="0" err="1"/>
              <a:t>ssh</a:t>
            </a:r>
            <a:r>
              <a:rPr lang="en-US" sz="600" dirty="0"/>
              <a:t>/</a:t>
            </a:r>
            <a:r>
              <a:rPr lang="en-US" sz="600" dirty="0" err="1"/>
              <a:t>id_ecdsa</a:t>
            </a:r>
            <a:endParaRPr lang="en-US" sz="600" dirty="0"/>
          </a:p>
          <a:p>
            <a:r>
              <a:rPr lang="en-US" sz="600" dirty="0"/>
              <a:t>Your public key has been saved in /</a:t>
            </a:r>
            <a:r>
              <a:rPr lang="en-US" sz="600" dirty="0" smtClean="0"/>
              <a:t>home/</a:t>
            </a:r>
            <a:r>
              <a:rPr lang="en-US" sz="600" dirty="0" err="1" smtClean="0"/>
              <a:t>amel</a:t>
            </a:r>
            <a:r>
              <a:rPr lang="en-US" sz="600" dirty="0" smtClean="0"/>
              <a:t>/.</a:t>
            </a:r>
            <a:r>
              <a:rPr lang="en-US" sz="600" dirty="0" err="1"/>
              <a:t>ssh</a:t>
            </a:r>
            <a:r>
              <a:rPr lang="en-US" sz="600" dirty="0"/>
              <a:t>/id_ecdsa.pub</a:t>
            </a:r>
          </a:p>
          <a:p>
            <a:r>
              <a:rPr lang="en-US" sz="600" dirty="0"/>
              <a:t>The key fingerprint is:</a:t>
            </a:r>
          </a:p>
          <a:p>
            <a:r>
              <a:rPr lang="en-US" sz="600" dirty="0"/>
              <a:t>SHA256:61Ij/vwAIbuaC7nT6W1LwCGCfJwNqhoJhq4+dia4Dao </a:t>
            </a:r>
            <a:r>
              <a:rPr lang="en-US" sz="600" dirty="0" smtClean="0"/>
              <a:t>amel@GPU10</a:t>
            </a:r>
            <a:endParaRPr lang="en-US" sz="600" dirty="0"/>
          </a:p>
          <a:p>
            <a:r>
              <a:rPr lang="en-US" sz="600" dirty="0"/>
              <a:t>The key's </a:t>
            </a:r>
            <a:r>
              <a:rPr lang="en-US" sz="600" dirty="0" err="1"/>
              <a:t>randomart</a:t>
            </a:r>
            <a:r>
              <a:rPr lang="en-US" sz="600" dirty="0"/>
              <a:t> image is:</a:t>
            </a:r>
          </a:p>
          <a:p>
            <a:r>
              <a:rPr lang="en-US" sz="600" dirty="0"/>
              <a:t>+---[ECDSA 256]---+</a:t>
            </a:r>
          </a:p>
          <a:p>
            <a:r>
              <a:rPr lang="en-US" sz="600" dirty="0"/>
              <a:t>|   .             |</a:t>
            </a:r>
          </a:p>
          <a:p>
            <a:r>
              <a:rPr lang="en-US" sz="600" dirty="0"/>
              <a:t>|+ o +            |</a:t>
            </a:r>
          </a:p>
          <a:p>
            <a:r>
              <a:rPr lang="en-US" sz="600" dirty="0"/>
              <a:t>|*+.+...          |</a:t>
            </a:r>
          </a:p>
          <a:p>
            <a:r>
              <a:rPr lang="en-US" sz="600" dirty="0"/>
              <a:t>|*+.. o .         |</a:t>
            </a:r>
          </a:p>
          <a:p>
            <a:r>
              <a:rPr lang="en-US" sz="600" dirty="0"/>
              <a:t>|+.o . . S        |</a:t>
            </a:r>
          </a:p>
          <a:p>
            <a:r>
              <a:rPr lang="en-US" sz="600" dirty="0"/>
              <a:t>|</a:t>
            </a:r>
            <a:r>
              <a:rPr lang="en-US" sz="600" dirty="0" err="1"/>
              <a:t>oo</a:t>
            </a:r>
            <a:r>
              <a:rPr lang="en-US" sz="600" dirty="0"/>
              <a:t> . ...o.       |</a:t>
            </a:r>
          </a:p>
          <a:p>
            <a:r>
              <a:rPr lang="en-US" sz="600" dirty="0"/>
              <a:t>|B. .o. </a:t>
            </a:r>
            <a:r>
              <a:rPr lang="en-US" sz="600" dirty="0" err="1"/>
              <a:t>oo</a:t>
            </a:r>
            <a:r>
              <a:rPr lang="en-US" sz="600" dirty="0"/>
              <a:t>.       |</a:t>
            </a:r>
          </a:p>
          <a:p>
            <a:r>
              <a:rPr lang="en-US" sz="600" dirty="0"/>
              <a:t>|=</a:t>
            </a:r>
            <a:r>
              <a:rPr lang="en-US" sz="600" dirty="0" err="1"/>
              <a:t>OoB</a:t>
            </a:r>
            <a:r>
              <a:rPr lang="en-US" sz="600" dirty="0"/>
              <a:t>. </a:t>
            </a:r>
            <a:r>
              <a:rPr lang="en-US" sz="600" dirty="0" err="1"/>
              <a:t>oo</a:t>
            </a:r>
            <a:r>
              <a:rPr lang="en-US" sz="600" dirty="0"/>
              <a:t> .       |</a:t>
            </a:r>
          </a:p>
          <a:p>
            <a:r>
              <a:rPr lang="en-US" sz="600" dirty="0"/>
              <a:t>|E=@</a:t>
            </a:r>
            <a:r>
              <a:rPr lang="en-US" sz="600" dirty="0" err="1"/>
              <a:t>oo</a:t>
            </a:r>
            <a:r>
              <a:rPr lang="en-US" sz="600" dirty="0"/>
              <a:t>. o+..      |</a:t>
            </a:r>
          </a:p>
          <a:p>
            <a:r>
              <a:rPr lang="en-US" sz="600" dirty="0"/>
              <a:t>+----[SHA256]-----+</a:t>
            </a:r>
          </a:p>
          <a:p>
            <a:r>
              <a:rPr lang="en-US" sz="600" dirty="0"/>
              <a:t>Configuring nova public key and quotas.</a:t>
            </a:r>
          </a:p>
          <a:p>
            <a:r>
              <a:rPr lang="en-US" sz="600" dirty="0"/>
              <a:t>+-------------+-------------------------------------------------+</a:t>
            </a:r>
          </a:p>
          <a:p>
            <a:r>
              <a:rPr lang="en-US" sz="600" dirty="0"/>
              <a:t>| Field       | Value                                           |</a:t>
            </a:r>
          </a:p>
          <a:p>
            <a:r>
              <a:rPr lang="en-US" sz="600" dirty="0"/>
              <a:t>+-------------+-------------------------------------------------+</a:t>
            </a:r>
          </a:p>
          <a:p>
            <a:r>
              <a:rPr lang="en-US" sz="600" dirty="0"/>
              <a:t>| </a:t>
            </a:r>
            <a:r>
              <a:rPr lang="en-US" sz="600" dirty="0" err="1"/>
              <a:t>created_at</a:t>
            </a:r>
            <a:r>
              <a:rPr lang="en-US" sz="600" dirty="0"/>
              <a:t>  | None                                            |</a:t>
            </a:r>
          </a:p>
          <a:p>
            <a:r>
              <a:rPr lang="en-US" sz="600" dirty="0"/>
              <a:t>| fingerprint | 4e:2d:29:67:6d:2e:af:24:b1:40:22:0a:79:d0:6e:35 |</a:t>
            </a:r>
          </a:p>
          <a:p>
            <a:r>
              <a:rPr lang="en-US" sz="600" dirty="0"/>
              <a:t>| id          | </a:t>
            </a:r>
            <a:r>
              <a:rPr lang="en-US" sz="600" dirty="0" err="1"/>
              <a:t>mykey</a:t>
            </a:r>
            <a:r>
              <a:rPr lang="en-US" sz="600" dirty="0"/>
              <a:t>                                           |</a:t>
            </a:r>
          </a:p>
          <a:p>
            <a:r>
              <a:rPr lang="en-US" sz="600" dirty="0"/>
              <a:t>| </a:t>
            </a:r>
            <a:r>
              <a:rPr lang="en-US" sz="600" dirty="0" err="1"/>
              <a:t>is_deleted</a:t>
            </a:r>
            <a:r>
              <a:rPr lang="en-US" sz="600" dirty="0"/>
              <a:t>  | None                                            |</a:t>
            </a:r>
          </a:p>
          <a:p>
            <a:r>
              <a:rPr lang="en-US" sz="600" dirty="0"/>
              <a:t>| name        | </a:t>
            </a:r>
            <a:r>
              <a:rPr lang="en-US" sz="600" dirty="0" err="1"/>
              <a:t>mykey</a:t>
            </a:r>
            <a:r>
              <a:rPr lang="en-US" sz="600" dirty="0"/>
              <a:t>                                           |</a:t>
            </a:r>
          </a:p>
          <a:p>
            <a:r>
              <a:rPr lang="en-US" sz="600" dirty="0"/>
              <a:t>| type        | </a:t>
            </a:r>
            <a:r>
              <a:rPr lang="en-US" sz="600" dirty="0" err="1"/>
              <a:t>ssh</a:t>
            </a:r>
            <a:r>
              <a:rPr lang="en-US" sz="600" dirty="0"/>
              <a:t>                                             |</a:t>
            </a:r>
          </a:p>
          <a:p>
            <a:r>
              <a:rPr lang="en-US" sz="600" dirty="0"/>
              <a:t>| </a:t>
            </a:r>
            <a:r>
              <a:rPr lang="en-US" sz="600" dirty="0" err="1"/>
              <a:t>user_id</a:t>
            </a:r>
            <a:r>
              <a:rPr lang="en-US" sz="600" dirty="0"/>
              <a:t>     | 6714a667d1e3406fab0c7add7d71d412                |</a:t>
            </a:r>
          </a:p>
          <a:p>
            <a:r>
              <a:rPr lang="en-US" sz="600" dirty="0"/>
              <a:t>+-------------+-------------------------------------------------+</a:t>
            </a:r>
          </a:p>
          <a:p>
            <a:r>
              <a:rPr lang="en-US" sz="600" dirty="0"/>
              <a:t>+----------------------------+---------+</a:t>
            </a:r>
          </a:p>
          <a:p>
            <a:r>
              <a:rPr lang="en-US" sz="600" dirty="0"/>
              <a:t>| Field                      | Value   |</a:t>
            </a:r>
          </a:p>
          <a:p>
            <a:r>
              <a:rPr lang="en-US" sz="600" dirty="0"/>
              <a:t>+----------------------------+---------+</a:t>
            </a:r>
          </a:p>
          <a:p>
            <a:r>
              <a:rPr lang="en-US" sz="600" dirty="0"/>
              <a:t>| </a:t>
            </a:r>
            <a:r>
              <a:rPr lang="en-US" sz="600" dirty="0" err="1"/>
              <a:t>OS-FLV-DISABLED:disabled</a:t>
            </a:r>
            <a:r>
              <a:rPr lang="en-US" sz="600" dirty="0"/>
              <a:t>   | False   |</a:t>
            </a:r>
          </a:p>
          <a:p>
            <a:r>
              <a:rPr lang="en-US" sz="600" dirty="0"/>
              <a:t>| </a:t>
            </a:r>
            <a:r>
              <a:rPr lang="en-US" sz="600" dirty="0" err="1"/>
              <a:t>OS-FLV-EXT-DATA:ephemeral</a:t>
            </a:r>
            <a:r>
              <a:rPr lang="en-US" sz="600" dirty="0"/>
              <a:t>  | 0       |</a:t>
            </a:r>
          </a:p>
          <a:p>
            <a:r>
              <a:rPr lang="en-US" sz="600" dirty="0"/>
              <a:t>| description                | None    |</a:t>
            </a:r>
          </a:p>
          <a:p>
            <a:r>
              <a:rPr lang="en-US" sz="600" dirty="0"/>
              <a:t>| disk                       | 1       |</a:t>
            </a:r>
          </a:p>
          <a:p>
            <a:r>
              <a:rPr lang="en-US" sz="600" dirty="0"/>
              <a:t>| id                         | 1       |</a:t>
            </a:r>
          </a:p>
          <a:p>
            <a:r>
              <a:rPr lang="en-US" sz="600" dirty="0"/>
              <a:t>| name                       | m1.tiny |</a:t>
            </a:r>
          </a:p>
          <a:p>
            <a:r>
              <a:rPr lang="en-US" sz="600" dirty="0"/>
              <a:t>| </a:t>
            </a:r>
            <a:r>
              <a:rPr lang="en-US" sz="600" dirty="0" err="1"/>
              <a:t>os-flavor-access:is_public</a:t>
            </a:r>
            <a:r>
              <a:rPr lang="en-US" sz="600" dirty="0"/>
              <a:t> | True    |</a:t>
            </a:r>
          </a:p>
          <a:p>
            <a:r>
              <a:rPr lang="en-US" sz="600" dirty="0"/>
              <a:t>| properties                 |         |</a:t>
            </a:r>
          </a:p>
          <a:p>
            <a:r>
              <a:rPr lang="en-US" sz="600" dirty="0"/>
              <a:t>| ram                        | 512     |</a:t>
            </a:r>
          </a:p>
          <a:p>
            <a:r>
              <a:rPr lang="en-US" sz="600" dirty="0"/>
              <a:t>| </a:t>
            </a:r>
            <a:r>
              <a:rPr lang="en-US" sz="600" dirty="0" err="1"/>
              <a:t>rxtx_factor</a:t>
            </a:r>
            <a:r>
              <a:rPr lang="en-US" sz="600" dirty="0"/>
              <a:t>                | 1.0     |</a:t>
            </a:r>
          </a:p>
          <a:p>
            <a:r>
              <a:rPr lang="en-US" sz="600" dirty="0"/>
              <a:t>| swap                       |         |</a:t>
            </a:r>
          </a:p>
          <a:p>
            <a:r>
              <a:rPr lang="en-US" sz="600" dirty="0"/>
              <a:t>| </a:t>
            </a:r>
            <a:r>
              <a:rPr lang="en-US" sz="600" dirty="0" err="1"/>
              <a:t>vcpus</a:t>
            </a:r>
            <a:r>
              <a:rPr lang="en-US" sz="600" dirty="0"/>
              <a:t>                      | 1       |</a:t>
            </a:r>
          </a:p>
          <a:p>
            <a:r>
              <a:rPr lang="en-US" sz="600" dirty="0"/>
              <a:t>+----------------------------+---------+</a:t>
            </a:r>
          </a:p>
          <a:p>
            <a:r>
              <a:rPr lang="en-US" sz="600" dirty="0"/>
              <a:t>+----------------------------+----------+</a:t>
            </a:r>
          </a:p>
          <a:p>
            <a:r>
              <a:rPr lang="en-US" sz="600" dirty="0"/>
              <a:t>| Field                      | Value    |</a:t>
            </a:r>
          </a:p>
          <a:p>
            <a:r>
              <a:rPr lang="en-US" sz="600" dirty="0"/>
              <a:t>+----------------------------+----------+</a:t>
            </a:r>
          </a:p>
          <a:p>
            <a:r>
              <a:rPr lang="en-US" sz="600" dirty="0"/>
              <a:t>| </a:t>
            </a:r>
            <a:r>
              <a:rPr lang="en-US" sz="600" dirty="0" err="1"/>
              <a:t>OS-FLV-DISABLED:disabled</a:t>
            </a:r>
            <a:r>
              <a:rPr lang="en-US" sz="600" dirty="0"/>
              <a:t>   | False    |</a:t>
            </a:r>
          </a:p>
          <a:p>
            <a:r>
              <a:rPr lang="en-US" sz="600" dirty="0"/>
              <a:t>| </a:t>
            </a:r>
            <a:r>
              <a:rPr lang="en-US" sz="600" dirty="0" err="1"/>
              <a:t>OS-FLV-EXT-DATA:ephemeral</a:t>
            </a:r>
            <a:r>
              <a:rPr lang="en-US" sz="600" dirty="0"/>
              <a:t>  | 0        |</a:t>
            </a:r>
          </a:p>
          <a:p>
            <a:r>
              <a:rPr lang="en-US" sz="600" dirty="0"/>
              <a:t>| description                | None     |</a:t>
            </a:r>
          </a:p>
          <a:p>
            <a:r>
              <a:rPr lang="en-US" sz="600" dirty="0"/>
              <a:t>| disk                       | 20       |</a:t>
            </a:r>
          </a:p>
          <a:p>
            <a:r>
              <a:rPr lang="en-US" sz="600" dirty="0"/>
              <a:t>| id                         | 2        |</a:t>
            </a:r>
          </a:p>
          <a:p>
            <a:r>
              <a:rPr lang="en-US" sz="600" dirty="0"/>
              <a:t>| name                       | m1.small |</a:t>
            </a:r>
          </a:p>
          <a:p>
            <a:r>
              <a:rPr lang="en-US" sz="600" dirty="0"/>
              <a:t>| </a:t>
            </a:r>
            <a:r>
              <a:rPr lang="en-US" sz="600" dirty="0" err="1"/>
              <a:t>os-flavor-access:is_public</a:t>
            </a:r>
            <a:r>
              <a:rPr lang="en-US" sz="600" dirty="0"/>
              <a:t> | True     |</a:t>
            </a:r>
          </a:p>
          <a:p>
            <a:r>
              <a:rPr lang="en-US" sz="600" dirty="0"/>
              <a:t>| properties                 |          |</a:t>
            </a:r>
          </a:p>
          <a:p>
            <a:r>
              <a:rPr lang="en-US" sz="600" dirty="0"/>
              <a:t>| ram                        | 2048     |</a:t>
            </a:r>
          </a:p>
          <a:p>
            <a:r>
              <a:rPr lang="en-US" sz="600" dirty="0"/>
              <a:t>| </a:t>
            </a:r>
            <a:r>
              <a:rPr lang="en-US" sz="600" dirty="0" err="1"/>
              <a:t>rxtx_factor</a:t>
            </a:r>
            <a:r>
              <a:rPr lang="en-US" sz="600" dirty="0"/>
              <a:t>                | 1.0      |</a:t>
            </a:r>
          </a:p>
          <a:p>
            <a:r>
              <a:rPr lang="en-US" sz="600" dirty="0"/>
              <a:t>| swap                       |          |</a:t>
            </a:r>
          </a:p>
          <a:p>
            <a:r>
              <a:rPr lang="en-US" sz="600" dirty="0"/>
              <a:t>| </a:t>
            </a:r>
            <a:r>
              <a:rPr lang="en-US" sz="600" dirty="0" err="1"/>
              <a:t>vcpus</a:t>
            </a:r>
            <a:r>
              <a:rPr lang="en-US" sz="600" dirty="0"/>
              <a:t>                      | 1        |</a:t>
            </a:r>
          </a:p>
          <a:p>
            <a:r>
              <a:rPr lang="en-US" sz="600" dirty="0"/>
              <a:t>+----------------------------+----------+</a:t>
            </a:r>
          </a:p>
          <a:p>
            <a:r>
              <a:rPr lang="en-US" sz="600" dirty="0"/>
              <a:t>+----------------------------+-----------+</a:t>
            </a:r>
          </a:p>
          <a:p>
            <a:r>
              <a:rPr lang="en-US" sz="600" dirty="0"/>
              <a:t>| Field                      | Value     |</a:t>
            </a:r>
          </a:p>
          <a:p>
            <a:r>
              <a:rPr lang="en-US" sz="600" dirty="0"/>
              <a:t>+----------------------------+-----------+</a:t>
            </a:r>
          </a:p>
          <a:p>
            <a:r>
              <a:rPr lang="en-US" sz="600" dirty="0"/>
              <a:t>| </a:t>
            </a:r>
            <a:r>
              <a:rPr lang="en-US" sz="600" dirty="0" err="1"/>
              <a:t>OS-FLV-DISABLED:disabled</a:t>
            </a:r>
            <a:r>
              <a:rPr lang="en-US" sz="600" dirty="0"/>
              <a:t>   | False     |</a:t>
            </a:r>
          </a:p>
          <a:p>
            <a:r>
              <a:rPr lang="en-US" sz="600" dirty="0"/>
              <a:t>| </a:t>
            </a:r>
            <a:r>
              <a:rPr lang="en-US" sz="600" dirty="0" err="1"/>
              <a:t>OS-FLV-EXT-DATA:ephemeral</a:t>
            </a:r>
            <a:r>
              <a:rPr lang="en-US" sz="600" dirty="0"/>
              <a:t>  | 0         |</a:t>
            </a:r>
          </a:p>
          <a:p>
            <a:r>
              <a:rPr lang="en-US" sz="600" dirty="0"/>
              <a:t>| description                | None      |</a:t>
            </a:r>
          </a:p>
          <a:p>
            <a:r>
              <a:rPr lang="en-US" sz="600" dirty="0"/>
              <a:t>| disk                       | 40        |</a:t>
            </a:r>
          </a:p>
          <a:p>
            <a:r>
              <a:rPr lang="en-US" sz="600" dirty="0"/>
              <a:t>| id                         | 3         |</a:t>
            </a:r>
          </a:p>
          <a:p>
            <a:r>
              <a:rPr lang="en-US" sz="600" dirty="0"/>
              <a:t>| name                       | m1.medium |</a:t>
            </a:r>
          </a:p>
          <a:p>
            <a:r>
              <a:rPr lang="en-US" sz="600" dirty="0"/>
              <a:t>| </a:t>
            </a:r>
            <a:r>
              <a:rPr lang="en-US" sz="600" dirty="0" err="1"/>
              <a:t>os-flavor-access:is_public</a:t>
            </a:r>
            <a:r>
              <a:rPr lang="en-US" sz="600" dirty="0"/>
              <a:t> | True      |</a:t>
            </a:r>
          </a:p>
          <a:p>
            <a:r>
              <a:rPr lang="en-US" sz="600" dirty="0"/>
              <a:t>| properties                 |           |</a:t>
            </a:r>
          </a:p>
          <a:p>
            <a:r>
              <a:rPr lang="en-US" sz="600" dirty="0"/>
              <a:t>| ram                        | 4096      |</a:t>
            </a:r>
          </a:p>
          <a:p>
            <a:r>
              <a:rPr lang="en-US" sz="600" dirty="0"/>
              <a:t>| </a:t>
            </a:r>
            <a:r>
              <a:rPr lang="en-US" sz="600" dirty="0" err="1"/>
              <a:t>rxtx_factor</a:t>
            </a:r>
            <a:r>
              <a:rPr lang="en-US" sz="600" dirty="0"/>
              <a:t>                | 1.0       |</a:t>
            </a:r>
          </a:p>
          <a:p>
            <a:r>
              <a:rPr lang="en-US" sz="600" dirty="0"/>
              <a:t>| swap                       |           |</a:t>
            </a:r>
          </a:p>
          <a:p>
            <a:r>
              <a:rPr lang="en-US" sz="600" dirty="0"/>
              <a:t>| </a:t>
            </a:r>
            <a:r>
              <a:rPr lang="en-US" sz="600" dirty="0" err="1"/>
              <a:t>vcpus</a:t>
            </a:r>
            <a:r>
              <a:rPr lang="en-US" sz="600" dirty="0"/>
              <a:t>                      | 2         |</a:t>
            </a:r>
          </a:p>
          <a:p>
            <a:r>
              <a:rPr lang="en-US" sz="600" dirty="0"/>
              <a:t>+----------------------------+-----------+</a:t>
            </a:r>
          </a:p>
          <a:p>
            <a:r>
              <a:rPr lang="en-US" sz="600" dirty="0"/>
              <a:t>+----------------------------+----------+</a:t>
            </a:r>
          </a:p>
          <a:p>
            <a:r>
              <a:rPr lang="en-US" sz="600" dirty="0"/>
              <a:t>| Field                      | Value    |</a:t>
            </a:r>
          </a:p>
          <a:p>
            <a:r>
              <a:rPr lang="en-US" sz="600" dirty="0"/>
              <a:t>+----------------------------+----------+</a:t>
            </a:r>
          </a:p>
          <a:p>
            <a:r>
              <a:rPr lang="en-US" sz="600" dirty="0"/>
              <a:t>| </a:t>
            </a:r>
            <a:r>
              <a:rPr lang="en-US" sz="600" dirty="0" err="1"/>
              <a:t>OS-FLV-DISABLED:disabled</a:t>
            </a:r>
            <a:r>
              <a:rPr lang="en-US" sz="600" dirty="0"/>
              <a:t>   | False    |</a:t>
            </a:r>
          </a:p>
          <a:p>
            <a:r>
              <a:rPr lang="en-US" sz="600" dirty="0"/>
              <a:t>| </a:t>
            </a:r>
            <a:r>
              <a:rPr lang="en-US" sz="600" dirty="0" err="1"/>
              <a:t>OS-FLV-EXT-DATA:ephemeral</a:t>
            </a:r>
            <a:r>
              <a:rPr lang="en-US" sz="600" dirty="0"/>
              <a:t>  | 0        |</a:t>
            </a:r>
          </a:p>
          <a:p>
            <a:r>
              <a:rPr lang="en-US" sz="600" dirty="0"/>
              <a:t>| description                | None     |</a:t>
            </a:r>
          </a:p>
          <a:p>
            <a:r>
              <a:rPr lang="en-US" sz="600" dirty="0"/>
              <a:t>| disk                       | 80       |</a:t>
            </a:r>
          </a:p>
          <a:p>
            <a:r>
              <a:rPr lang="en-US" sz="600" dirty="0"/>
              <a:t>| id                         | 4        |</a:t>
            </a:r>
          </a:p>
          <a:p>
            <a:r>
              <a:rPr lang="en-US" sz="600" dirty="0"/>
              <a:t>| name                       | m1.large |</a:t>
            </a:r>
          </a:p>
          <a:p>
            <a:r>
              <a:rPr lang="en-US" sz="600" dirty="0"/>
              <a:t>| </a:t>
            </a:r>
            <a:r>
              <a:rPr lang="en-US" sz="600" dirty="0" err="1"/>
              <a:t>os-flavor-access:is_public</a:t>
            </a:r>
            <a:r>
              <a:rPr lang="en-US" sz="600" dirty="0"/>
              <a:t> | True     |</a:t>
            </a:r>
          </a:p>
          <a:p>
            <a:r>
              <a:rPr lang="en-US" sz="600" dirty="0"/>
              <a:t>| properties                 |          |</a:t>
            </a:r>
          </a:p>
          <a:p>
            <a:r>
              <a:rPr lang="en-US" sz="600" dirty="0"/>
              <a:t>| ram                        | 8192     |</a:t>
            </a:r>
          </a:p>
          <a:p>
            <a:r>
              <a:rPr lang="en-US" sz="600" dirty="0"/>
              <a:t>| </a:t>
            </a:r>
            <a:r>
              <a:rPr lang="en-US" sz="600" dirty="0" err="1"/>
              <a:t>rxtx_factor</a:t>
            </a:r>
            <a:r>
              <a:rPr lang="en-US" sz="600" dirty="0"/>
              <a:t>                | 1.0      |</a:t>
            </a:r>
          </a:p>
          <a:p>
            <a:r>
              <a:rPr lang="en-US" sz="600" dirty="0"/>
              <a:t>| swap                       |          |</a:t>
            </a:r>
          </a:p>
          <a:p>
            <a:r>
              <a:rPr lang="en-US" sz="600" dirty="0"/>
              <a:t>| </a:t>
            </a:r>
            <a:r>
              <a:rPr lang="en-US" sz="600" dirty="0" err="1"/>
              <a:t>vcpus</a:t>
            </a:r>
            <a:r>
              <a:rPr lang="en-US" sz="600" dirty="0"/>
              <a:t>                      | 4        |</a:t>
            </a:r>
          </a:p>
          <a:p>
            <a:r>
              <a:rPr lang="en-US" sz="600" dirty="0"/>
              <a:t>+----------------------------+----------+</a:t>
            </a:r>
          </a:p>
          <a:p>
            <a:r>
              <a:rPr lang="en-US" sz="600" dirty="0"/>
              <a:t>+----------------------------+-----------+</a:t>
            </a:r>
          </a:p>
          <a:p>
            <a:r>
              <a:rPr lang="en-US" sz="600" dirty="0"/>
              <a:t>| Field                      | Value     |</a:t>
            </a:r>
          </a:p>
          <a:p>
            <a:r>
              <a:rPr lang="en-US" sz="600" dirty="0"/>
              <a:t>+----------------------------+-----------+</a:t>
            </a:r>
          </a:p>
          <a:p>
            <a:r>
              <a:rPr lang="en-US" sz="600" dirty="0"/>
              <a:t>| </a:t>
            </a:r>
            <a:r>
              <a:rPr lang="en-US" sz="600" dirty="0" err="1"/>
              <a:t>OS-FLV-DISABLED:disabled</a:t>
            </a:r>
            <a:r>
              <a:rPr lang="en-US" sz="600" dirty="0"/>
              <a:t>   | False     |</a:t>
            </a:r>
          </a:p>
          <a:p>
            <a:r>
              <a:rPr lang="en-US" sz="600" dirty="0"/>
              <a:t>| </a:t>
            </a:r>
            <a:r>
              <a:rPr lang="en-US" sz="600" dirty="0" err="1"/>
              <a:t>OS-FLV-EXT-DATA:ephemeral</a:t>
            </a:r>
            <a:r>
              <a:rPr lang="en-US" sz="600" dirty="0"/>
              <a:t>  | 0         |</a:t>
            </a:r>
          </a:p>
          <a:p>
            <a:r>
              <a:rPr lang="en-US" sz="600" dirty="0"/>
              <a:t>| description                | None      |</a:t>
            </a:r>
          </a:p>
          <a:p>
            <a:r>
              <a:rPr lang="en-US" sz="600" dirty="0"/>
              <a:t>| disk                       | 160       |</a:t>
            </a:r>
          </a:p>
          <a:p>
            <a:r>
              <a:rPr lang="en-US" sz="600" dirty="0"/>
              <a:t>| id                         | 5         |</a:t>
            </a:r>
          </a:p>
          <a:p>
            <a:r>
              <a:rPr lang="en-US" sz="600" dirty="0"/>
              <a:t>| name                       | m1.xlarge |</a:t>
            </a:r>
          </a:p>
          <a:p>
            <a:r>
              <a:rPr lang="en-US" sz="600" dirty="0"/>
              <a:t>| </a:t>
            </a:r>
            <a:r>
              <a:rPr lang="en-US" sz="600" dirty="0" err="1"/>
              <a:t>os-flavor-access:is_public</a:t>
            </a:r>
            <a:r>
              <a:rPr lang="en-US" sz="600" dirty="0"/>
              <a:t> | True      |</a:t>
            </a:r>
          </a:p>
          <a:p>
            <a:r>
              <a:rPr lang="en-US" sz="600" dirty="0"/>
              <a:t>| properties                 |           |</a:t>
            </a:r>
          </a:p>
          <a:p>
            <a:r>
              <a:rPr lang="en-US" sz="600" dirty="0"/>
              <a:t>| ram                        | 16384     |</a:t>
            </a:r>
          </a:p>
          <a:p>
            <a:r>
              <a:rPr lang="en-US" sz="600" dirty="0"/>
              <a:t>| </a:t>
            </a:r>
            <a:r>
              <a:rPr lang="en-US" sz="600" dirty="0" err="1"/>
              <a:t>rxtx_factor</a:t>
            </a:r>
            <a:r>
              <a:rPr lang="en-US" sz="600" dirty="0"/>
              <a:t>                | 1.0       |</a:t>
            </a:r>
          </a:p>
          <a:p>
            <a:r>
              <a:rPr lang="en-US" sz="600" dirty="0"/>
              <a:t>| swap                       |           |</a:t>
            </a:r>
          </a:p>
          <a:p>
            <a:r>
              <a:rPr lang="en-US" sz="600" dirty="0"/>
              <a:t>| </a:t>
            </a:r>
            <a:r>
              <a:rPr lang="en-US" sz="600" dirty="0" err="1"/>
              <a:t>vcpus</a:t>
            </a:r>
            <a:r>
              <a:rPr lang="en-US" sz="600" dirty="0"/>
              <a:t>                      | 8         |</a:t>
            </a:r>
          </a:p>
          <a:p>
            <a:r>
              <a:rPr lang="en-US" sz="600" dirty="0"/>
              <a:t>+----------------------------+-----------+</a:t>
            </a:r>
          </a:p>
          <a:p>
            <a:endParaRPr lang="en-US" sz="600" dirty="0"/>
          </a:p>
          <a:p>
            <a:r>
              <a:rPr lang="en-US" sz="600" dirty="0"/>
              <a:t>Done.</a:t>
            </a:r>
          </a:p>
          <a:p>
            <a:endParaRPr lang="en-US" sz="600" dirty="0"/>
          </a:p>
          <a:p>
            <a:r>
              <a:rPr lang="en-US" sz="600" dirty="0"/>
              <a:t>To deploy a demo instance, run:</a:t>
            </a:r>
          </a:p>
          <a:p>
            <a:endParaRPr lang="en-US" sz="600" dirty="0"/>
          </a:p>
          <a:p>
            <a:r>
              <a:rPr lang="en-US" sz="600" dirty="0" err="1"/>
              <a:t>openstack</a:t>
            </a:r>
            <a:r>
              <a:rPr lang="en-US" sz="600" dirty="0"/>
              <a:t> --</a:t>
            </a:r>
            <a:r>
              <a:rPr lang="en-US" sz="600" dirty="0" err="1"/>
              <a:t>os</a:t>
            </a:r>
            <a:r>
              <a:rPr lang="en-US" sz="600" dirty="0"/>
              <a:t>-cloud=</a:t>
            </a:r>
            <a:r>
              <a:rPr lang="en-US" sz="600" dirty="0" err="1"/>
              <a:t>kolla</a:t>
            </a:r>
            <a:r>
              <a:rPr lang="en-US" sz="600" dirty="0"/>
              <a:t>-admin server create \</a:t>
            </a:r>
          </a:p>
          <a:p>
            <a:r>
              <a:rPr lang="en-US" sz="600" dirty="0"/>
              <a:t>    --image </a:t>
            </a:r>
            <a:r>
              <a:rPr lang="en-US" sz="600" dirty="0" err="1"/>
              <a:t>cirros</a:t>
            </a:r>
            <a:r>
              <a:rPr lang="en-US" sz="600" dirty="0"/>
              <a:t> \</a:t>
            </a:r>
          </a:p>
          <a:p>
            <a:r>
              <a:rPr lang="en-US" sz="600" dirty="0"/>
              <a:t>    --flavor m1.tiny \</a:t>
            </a:r>
          </a:p>
          <a:p>
            <a:r>
              <a:rPr lang="en-US" sz="600" dirty="0"/>
              <a:t>    --key-name </a:t>
            </a:r>
            <a:r>
              <a:rPr lang="en-US" sz="600" dirty="0" err="1"/>
              <a:t>mykey</a:t>
            </a:r>
            <a:r>
              <a:rPr lang="en-US" sz="600" dirty="0"/>
              <a:t> \</a:t>
            </a:r>
          </a:p>
          <a:p>
            <a:r>
              <a:rPr lang="en-US" sz="600" dirty="0"/>
              <a:t>    --network demo-net \</a:t>
            </a:r>
          </a:p>
          <a:p>
            <a:r>
              <a:rPr lang="en-US" sz="600" dirty="0"/>
              <a:t>    demo1</a:t>
            </a:r>
          </a:p>
          <a:p>
            <a:r>
              <a:rPr lang="en-US" sz="600" dirty="0"/>
              <a:t>(</a:t>
            </a:r>
            <a:r>
              <a:rPr lang="en-US" sz="600" dirty="0" err="1"/>
              <a:t>kolla-ansible-venv</a:t>
            </a:r>
            <a:r>
              <a:rPr lang="en-US" sz="600" dirty="0"/>
              <a:t>) </a:t>
            </a:r>
            <a:r>
              <a:rPr lang="en-US" sz="600" dirty="0" smtClean="0"/>
              <a:t>amel@GPU10</a:t>
            </a:r>
            <a:r>
              <a:rPr lang="en-US" sz="600" dirty="0"/>
              <a:t>:~/Data/</a:t>
            </a:r>
            <a:r>
              <a:rPr lang="en-US" sz="600" dirty="0" err="1"/>
              <a:t>kolla-ansible-venv</a:t>
            </a:r>
            <a:r>
              <a:rPr lang="en-US" sz="600" dirty="0"/>
              <a:t>/share/</a:t>
            </a:r>
            <a:r>
              <a:rPr lang="en-US" sz="600" dirty="0" err="1"/>
              <a:t>kolla-ansible</a:t>
            </a:r>
            <a:r>
              <a:rPr lang="en-US" sz="600" dirty="0"/>
              <a:t>$</a:t>
            </a:r>
          </a:p>
        </p:txBody>
      </p:sp>
      <p:sp>
        <p:nvSpPr>
          <p:cNvPr id="7" name="Rectangle 6"/>
          <p:cNvSpPr/>
          <p:nvPr/>
        </p:nvSpPr>
        <p:spPr>
          <a:xfrm>
            <a:off x="100820" y="935280"/>
            <a:ext cx="4371369" cy="602507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8" name="Rectangle 7"/>
          <p:cNvSpPr/>
          <p:nvPr/>
        </p:nvSpPr>
        <p:spPr>
          <a:xfrm>
            <a:off x="4603166" y="935280"/>
            <a:ext cx="3244298" cy="378565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4603166" y="935280"/>
            <a:ext cx="3694674" cy="3785652"/>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openstack</a:t>
            </a:r>
            <a:r>
              <a:rPr lang="en-US" sz="600" dirty="0"/>
              <a:t> --</a:t>
            </a:r>
            <a:r>
              <a:rPr lang="en-US" sz="600" dirty="0" err="1"/>
              <a:t>os</a:t>
            </a:r>
            <a:r>
              <a:rPr lang="en-US" sz="600" dirty="0"/>
              <a:t>-cloud=</a:t>
            </a:r>
            <a:r>
              <a:rPr lang="en-US" sz="600" dirty="0" err="1"/>
              <a:t>kolla</a:t>
            </a:r>
            <a:r>
              <a:rPr lang="en-US" sz="600" dirty="0"/>
              <a:t>-admin server create \</a:t>
            </a:r>
          </a:p>
          <a:p>
            <a:r>
              <a:rPr lang="en-US" sz="600" dirty="0"/>
              <a:t>    --image </a:t>
            </a:r>
            <a:r>
              <a:rPr lang="en-US" sz="600" dirty="0" err="1"/>
              <a:t>cirros</a:t>
            </a:r>
            <a:r>
              <a:rPr lang="en-US" sz="600" dirty="0"/>
              <a:t> \</a:t>
            </a:r>
          </a:p>
          <a:p>
            <a:r>
              <a:rPr lang="en-US" sz="600" dirty="0"/>
              <a:t>    --flavor m1.tiny \</a:t>
            </a:r>
          </a:p>
          <a:p>
            <a:r>
              <a:rPr lang="en-US" sz="600" dirty="0"/>
              <a:t>    --key-name </a:t>
            </a:r>
            <a:r>
              <a:rPr lang="en-US" sz="600" dirty="0" err="1"/>
              <a:t>mykey</a:t>
            </a:r>
            <a:r>
              <a:rPr lang="en-US" sz="600" dirty="0"/>
              <a:t> \</a:t>
            </a:r>
          </a:p>
          <a:p>
            <a:r>
              <a:rPr lang="en-US" sz="600" dirty="0"/>
              <a:t>    --network demo-net \</a:t>
            </a:r>
          </a:p>
          <a:p>
            <a:r>
              <a:rPr lang="en-US" sz="600" dirty="0"/>
              <a:t>    demo1</a:t>
            </a:r>
          </a:p>
          <a:p>
            <a:r>
              <a:rPr lang="en-US" sz="600" dirty="0"/>
              <a:t>+-------------------------------------+-----------------------------------------------+</a:t>
            </a:r>
          </a:p>
          <a:p>
            <a:r>
              <a:rPr lang="en-US" sz="600" dirty="0"/>
              <a:t>| Field                               | Value                                         |</a:t>
            </a:r>
          </a:p>
          <a:p>
            <a:r>
              <a:rPr lang="en-US" sz="600" dirty="0"/>
              <a:t>+-------------------------------------+-----------------------------------------------+</a:t>
            </a:r>
          </a:p>
          <a:p>
            <a:r>
              <a:rPr lang="en-US" sz="600" dirty="0"/>
              <a:t>| </a:t>
            </a:r>
            <a:r>
              <a:rPr lang="en-US" sz="600" dirty="0" err="1"/>
              <a:t>OS-DCF:diskConfig</a:t>
            </a:r>
            <a:r>
              <a:rPr lang="en-US" sz="600" dirty="0"/>
              <a:t>                   | MANUAL                                        |</a:t>
            </a:r>
          </a:p>
          <a:p>
            <a:r>
              <a:rPr lang="en-US" sz="600" dirty="0"/>
              <a:t>| </a:t>
            </a:r>
            <a:r>
              <a:rPr lang="en-US" sz="600" dirty="0" err="1"/>
              <a:t>OS-EXT-AZ:availability_zone</a:t>
            </a:r>
            <a:r>
              <a:rPr lang="en-US" sz="600" dirty="0"/>
              <a:t>         |                                               |</a:t>
            </a:r>
          </a:p>
          <a:p>
            <a:r>
              <a:rPr lang="en-US" sz="600" dirty="0"/>
              <a:t>| </a:t>
            </a:r>
            <a:r>
              <a:rPr lang="en-US" sz="600" dirty="0" err="1"/>
              <a:t>OS-EXT-SRV-ATTR:host</a:t>
            </a:r>
            <a:r>
              <a:rPr lang="en-US" sz="600" dirty="0"/>
              <a:t>                | None                                          |</a:t>
            </a:r>
          </a:p>
          <a:p>
            <a:r>
              <a:rPr lang="en-US" sz="600" dirty="0"/>
              <a:t>| </a:t>
            </a:r>
            <a:r>
              <a:rPr lang="en-US" sz="600" dirty="0" err="1"/>
              <a:t>OS-EXT-SRV-ATTR:hypervisor_hostname</a:t>
            </a:r>
            <a:r>
              <a:rPr lang="en-US" sz="600" dirty="0"/>
              <a:t> | None                                          |</a:t>
            </a:r>
          </a:p>
          <a:p>
            <a:r>
              <a:rPr lang="en-US" sz="600" dirty="0"/>
              <a:t>| </a:t>
            </a:r>
            <a:r>
              <a:rPr lang="en-US" sz="600" dirty="0" err="1"/>
              <a:t>OS-EXT-SRV-ATTR:instance_name</a:t>
            </a:r>
            <a:r>
              <a:rPr lang="en-US" sz="600" dirty="0"/>
              <a:t>       |                                               |</a:t>
            </a:r>
          </a:p>
          <a:p>
            <a:r>
              <a:rPr lang="en-US" sz="600" dirty="0"/>
              <a:t>| </a:t>
            </a:r>
            <a:r>
              <a:rPr lang="en-US" sz="600" dirty="0" err="1"/>
              <a:t>OS-EXT-STS:power_state</a:t>
            </a:r>
            <a:r>
              <a:rPr lang="en-US" sz="600" dirty="0"/>
              <a:t>              | NOSTATE                                       |</a:t>
            </a:r>
          </a:p>
          <a:p>
            <a:r>
              <a:rPr lang="en-US" sz="600" dirty="0"/>
              <a:t>| </a:t>
            </a:r>
            <a:r>
              <a:rPr lang="en-US" sz="600" dirty="0" err="1"/>
              <a:t>OS-EXT-STS:task_state</a:t>
            </a:r>
            <a:r>
              <a:rPr lang="en-US" sz="600" dirty="0"/>
              <a:t>               | scheduling                                    |</a:t>
            </a:r>
          </a:p>
          <a:p>
            <a:r>
              <a:rPr lang="en-US" sz="600" dirty="0"/>
              <a:t>| </a:t>
            </a:r>
            <a:r>
              <a:rPr lang="en-US" sz="600" dirty="0" err="1"/>
              <a:t>OS-EXT-STS:vm_state</a:t>
            </a:r>
            <a:r>
              <a:rPr lang="en-US" sz="600" dirty="0"/>
              <a:t>                 | building                                      |</a:t>
            </a:r>
          </a:p>
          <a:p>
            <a:r>
              <a:rPr lang="en-US" sz="600" dirty="0"/>
              <a:t>| </a:t>
            </a:r>
            <a:r>
              <a:rPr lang="en-US" sz="600" dirty="0" err="1"/>
              <a:t>OS-SRV-USG:launched_at</a:t>
            </a:r>
            <a:r>
              <a:rPr lang="en-US" sz="600" dirty="0"/>
              <a:t>              | None                                          |</a:t>
            </a:r>
          </a:p>
          <a:p>
            <a:r>
              <a:rPr lang="en-US" sz="600" dirty="0"/>
              <a:t>| </a:t>
            </a:r>
            <a:r>
              <a:rPr lang="en-US" sz="600" dirty="0" err="1"/>
              <a:t>OS-SRV-USG:terminated_at</a:t>
            </a:r>
            <a:r>
              <a:rPr lang="en-US" sz="600" dirty="0"/>
              <a:t>            | None                                          |</a:t>
            </a:r>
          </a:p>
          <a:p>
            <a:r>
              <a:rPr lang="en-US" sz="600" dirty="0"/>
              <a:t>| accessIPv4                          |                                               |</a:t>
            </a:r>
          </a:p>
          <a:p>
            <a:r>
              <a:rPr lang="en-US" sz="600" dirty="0"/>
              <a:t>| accessIPv6                          |                                               |</a:t>
            </a:r>
          </a:p>
          <a:p>
            <a:r>
              <a:rPr lang="en-US" sz="600" dirty="0"/>
              <a:t>| addresses                           |                                               |</a:t>
            </a:r>
          </a:p>
          <a:p>
            <a:r>
              <a:rPr lang="en-US" sz="600" dirty="0"/>
              <a:t>| </a:t>
            </a:r>
            <a:r>
              <a:rPr lang="en-US" sz="600" dirty="0" err="1"/>
              <a:t>adminPass</a:t>
            </a:r>
            <a:r>
              <a:rPr lang="en-US" sz="600" dirty="0"/>
              <a:t>                           | 6Fa52DZ6AXEy                                  |</a:t>
            </a:r>
          </a:p>
          <a:p>
            <a:r>
              <a:rPr lang="en-US" sz="600" dirty="0"/>
              <a:t>| </a:t>
            </a:r>
            <a:r>
              <a:rPr lang="en-US" sz="600" dirty="0" err="1"/>
              <a:t>config_drive</a:t>
            </a:r>
            <a:r>
              <a:rPr lang="en-US" sz="600" dirty="0"/>
              <a:t>                        |                                               |</a:t>
            </a:r>
          </a:p>
          <a:p>
            <a:r>
              <a:rPr lang="en-US" sz="600" dirty="0"/>
              <a:t>| created                             | </a:t>
            </a:r>
            <a:r>
              <a:rPr lang="en-US" sz="600" dirty="0" smtClean="0"/>
              <a:t>2025-18-06T01:08:01Z                          </a:t>
            </a:r>
            <a:r>
              <a:rPr lang="en-US" sz="600" dirty="0"/>
              <a:t>|</a:t>
            </a:r>
          </a:p>
          <a:p>
            <a:r>
              <a:rPr lang="en-US" sz="600" dirty="0"/>
              <a:t>| flavor                              | m1.tiny (1)                                   |</a:t>
            </a:r>
          </a:p>
          <a:p>
            <a:r>
              <a:rPr lang="en-US" sz="600" dirty="0"/>
              <a:t>| </a:t>
            </a:r>
            <a:r>
              <a:rPr lang="en-US" sz="600" dirty="0" err="1"/>
              <a:t>hostId</a:t>
            </a:r>
            <a:r>
              <a:rPr lang="en-US" sz="600" dirty="0"/>
              <a:t>                              |                                               |</a:t>
            </a:r>
          </a:p>
          <a:p>
            <a:r>
              <a:rPr lang="en-US" sz="600" dirty="0"/>
              <a:t>| id                                  | b942a0c6-7541-4380-91a4-19a16d875860          |</a:t>
            </a:r>
          </a:p>
          <a:p>
            <a:r>
              <a:rPr lang="en-US" sz="600" dirty="0"/>
              <a:t>| image                               | </a:t>
            </a:r>
            <a:r>
              <a:rPr lang="en-US" sz="600" dirty="0" err="1"/>
              <a:t>cirros</a:t>
            </a:r>
            <a:r>
              <a:rPr lang="en-US" sz="600" dirty="0"/>
              <a:t> (1fa43af3-ac22-4dba-85e9-04b21807c5d4) |</a:t>
            </a:r>
          </a:p>
          <a:p>
            <a:r>
              <a:rPr lang="en-US" sz="600" dirty="0"/>
              <a:t>| </a:t>
            </a:r>
            <a:r>
              <a:rPr lang="en-US" sz="600" dirty="0" err="1"/>
              <a:t>key_name</a:t>
            </a:r>
            <a:r>
              <a:rPr lang="en-US" sz="600" dirty="0"/>
              <a:t>                            | </a:t>
            </a:r>
            <a:r>
              <a:rPr lang="en-US" sz="600" dirty="0" err="1"/>
              <a:t>mykey</a:t>
            </a:r>
            <a:r>
              <a:rPr lang="en-US" sz="600" dirty="0"/>
              <a:t>                                         |</a:t>
            </a:r>
          </a:p>
          <a:p>
            <a:r>
              <a:rPr lang="en-US" sz="600" dirty="0"/>
              <a:t>| name                                | demo1                                         |</a:t>
            </a:r>
          </a:p>
          <a:p>
            <a:r>
              <a:rPr lang="en-US" sz="600" dirty="0"/>
              <a:t>| progress                            | 0                                             |</a:t>
            </a:r>
          </a:p>
          <a:p>
            <a:r>
              <a:rPr lang="en-US" sz="600" dirty="0"/>
              <a:t>| </a:t>
            </a:r>
            <a:r>
              <a:rPr lang="en-US" sz="600" dirty="0" err="1"/>
              <a:t>project_id</a:t>
            </a:r>
            <a:r>
              <a:rPr lang="en-US" sz="600" dirty="0"/>
              <a:t>                          | 496d5b465e684f20a8217fa408728ac2              |</a:t>
            </a:r>
          </a:p>
          <a:p>
            <a:r>
              <a:rPr lang="en-US" sz="600" dirty="0"/>
              <a:t>| properties                          |                                               |</a:t>
            </a:r>
          </a:p>
          <a:p>
            <a:r>
              <a:rPr lang="en-US" sz="600" dirty="0"/>
              <a:t>| </a:t>
            </a:r>
            <a:r>
              <a:rPr lang="en-US" sz="600" dirty="0" err="1"/>
              <a:t>security_groups</a:t>
            </a:r>
            <a:r>
              <a:rPr lang="en-US" sz="600" dirty="0"/>
              <a:t>                     | name='default'                                |</a:t>
            </a:r>
          </a:p>
          <a:p>
            <a:r>
              <a:rPr lang="en-US" sz="600" dirty="0"/>
              <a:t>| status                              | BUILD                                         |</a:t>
            </a:r>
          </a:p>
          <a:p>
            <a:r>
              <a:rPr lang="en-US" sz="600" dirty="0"/>
              <a:t>| updated                             | </a:t>
            </a:r>
            <a:r>
              <a:rPr lang="en-US" sz="600" dirty="0" smtClean="0"/>
              <a:t>2025-18-06T01:08:02Z                          </a:t>
            </a:r>
            <a:r>
              <a:rPr lang="en-US" sz="600" dirty="0"/>
              <a:t>|</a:t>
            </a:r>
          </a:p>
          <a:p>
            <a:r>
              <a:rPr lang="en-US" sz="600" dirty="0"/>
              <a:t>| </a:t>
            </a:r>
            <a:r>
              <a:rPr lang="en-US" sz="600" dirty="0" err="1"/>
              <a:t>user_id</a:t>
            </a:r>
            <a:r>
              <a:rPr lang="en-US" sz="600" dirty="0"/>
              <a:t>                             | 6714a667d1e3406fab0c7add7d71d412              |</a:t>
            </a:r>
          </a:p>
          <a:p>
            <a:r>
              <a:rPr lang="en-US" sz="600" dirty="0"/>
              <a:t>| </a:t>
            </a:r>
            <a:r>
              <a:rPr lang="en-US" sz="600" dirty="0" err="1"/>
              <a:t>volumes_attached</a:t>
            </a:r>
            <a:r>
              <a:rPr lang="en-US" sz="600" dirty="0"/>
              <a:t>                    |                                               |</a:t>
            </a:r>
          </a:p>
          <a:p>
            <a:r>
              <a:rPr lang="en-US" sz="600" dirty="0"/>
              <a:t>+-------------------------------------+-----------------------------------------------+</a:t>
            </a:r>
          </a:p>
        </p:txBody>
      </p:sp>
      <p:sp>
        <p:nvSpPr>
          <p:cNvPr id="2" name="Rectangle 1"/>
          <p:cNvSpPr/>
          <p:nvPr/>
        </p:nvSpPr>
        <p:spPr>
          <a:xfrm>
            <a:off x="4603166" y="4717636"/>
            <a:ext cx="4572000" cy="276999"/>
          </a:xfrm>
          <a:prstGeom prst="rect">
            <a:avLst/>
          </a:prstGeom>
        </p:spPr>
        <p:txBody>
          <a:bodyPr>
            <a:spAutoFit/>
          </a:bodyPr>
          <a:lstStyle/>
          <a:p>
            <a:r>
              <a:rPr lang="en-US" sz="1200" b="1" i="1" dirty="0"/>
              <a:t>NOTE</a:t>
            </a:r>
            <a:r>
              <a:rPr lang="en-US" sz="1200" dirty="0"/>
              <a:t>: configuration are located in /</a:t>
            </a:r>
            <a:r>
              <a:rPr lang="en-US" sz="1200" dirty="0" err="1"/>
              <a:t>etc</a:t>
            </a:r>
            <a:r>
              <a:rPr lang="en-US" sz="1200" dirty="0"/>
              <a:t>/</a:t>
            </a:r>
            <a:r>
              <a:rPr lang="en-US" sz="1200" dirty="0" err="1"/>
              <a:t>kolla</a:t>
            </a:r>
            <a:r>
              <a:rPr lang="en-US" sz="1200" dirty="0"/>
              <a:t> in all cluster nodes.</a:t>
            </a:r>
          </a:p>
        </p:txBody>
      </p:sp>
    </p:spTree>
    <p:extLst>
      <p:ext uri="{BB962C8B-B14F-4D97-AF65-F5344CB8AC3E}">
        <p14:creationId xmlns:p14="http://schemas.microsoft.com/office/powerpoint/2010/main" val="1029049232"/>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4" name="Rectangle 3"/>
          <p:cNvSpPr/>
          <p:nvPr/>
        </p:nvSpPr>
        <p:spPr>
          <a:xfrm>
            <a:off x="167644" y="539494"/>
            <a:ext cx="2398135" cy="350865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7" name="Rectangle 6"/>
          <p:cNvSpPr/>
          <p:nvPr/>
        </p:nvSpPr>
        <p:spPr>
          <a:xfrm>
            <a:off x="167644" y="539494"/>
            <a:ext cx="2684738" cy="3508653"/>
          </a:xfrm>
          <a:prstGeom prst="rect">
            <a:avLst/>
          </a:prstGeom>
        </p:spPr>
        <p:txBody>
          <a:bodyPr wrap="square">
            <a:spAutoFit/>
          </a:bodyPr>
          <a:lstStyle/>
          <a:p>
            <a:r>
              <a:rPr lang="en-US" sz="600" dirty="0" smtClean="0"/>
              <a:t>root@GPU111</a:t>
            </a:r>
            <a:r>
              <a:rPr lang="en-US" sz="600" dirty="0"/>
              <a:t>:/</a:t>
            </a:r>
            <a:r>
              <a:rPr lang="en-US" sz="600" dirty="0" err="1"/>
              <a:t>etc</a:t>
            </a:r>
            <a:r>
              <a:rPr lang="en-US" sz="600" dirty="0"/>
              <a:t>/</a:t>
            </a:r>
            <a:r>
              <a:rPr lang="en-US" sz="600" dirty="0" err="1"/>
              <a:t>kolla</a:t>
            </a:r>
            <a:r>
              <a:rPr lang="en-US" sz="600" dirty="0"/>
              <a:t># ls -l</a:t>
            </a:r>
          </a:p>
          <a:p>
            <a:r>
              <a:rPr lang="en-US" sz="600" dirty="0"/>
              <a:t>total 140</a:t>
            </a:r>
          </a:p>
          <a:p>
            <a:r>
              <a:rPr lang="en-US" sz="600" dirty="0" err="1"/>
              <a:t>drwxrwx</a:t>
            </a:r>
            <a:r>
              <a:rPr lang="en-US" sz="600" dirty="0"/>
              <a:t>--- 2 root </a:t>
            </a:r>
            <a:r>
              <a:rPr lang="en-US" sz="600" dirty="0" err="1"/>
              <a:t>root</a:t>
            </a:r>
            <a:r>
              <a:rPr lang="en-US" sz="600" dirty="0"/>
              <a:t> 4096 Nov  5 11:44 cinder-</a:t>
            </a:r>
            <a:r>
              <a:rPr lang="en-US" sz="600" dirty="0" err="1"/>
              <a:t>api</a:t>
            </a:r>
            <a:endParaRPr lang="en-US" sz="600" dirty="0"/>
          </a:p>
          <a:p>
            <a:r>
              <a:rPr lang="en-US" sz="600" dirty="0" err="1"/>
              <a:t>drwxrwx</a:t>
            </a:r>
            <a:r>
              <a:rPr lang="en-US" sz="600" dirty="0"/>
              <a:t>--- 2 root </a:t>
            </a:r>
            <a:r>
              <a:rPr lang="en-US" sz="600" dirty="0" err="1"/>
              <a:t>root</a:t>
            </a:r>
            <a:r>
              <a:rPr lang="en-US" sz="600" dirty="0"/>
              <a:t> 4096 Nov  7 13:11 cinder-backup</a:t>
            </a:r>
          </a:p>
          <a:p>
            <a:r>
              <a:rPr lang="en-US" sz="600" dirty="0" err="1"/>
              <a:t>drwxrwx</a:t>
            </a:r>
            <a:r>
              <a:rPr lang="en-US" sz="600" dirty="0"/>
              <a:t>--- 2 root </a:t>
            </a:r>
            <a:r>
              <a:rPr lang="en-US" sz="600" dirty="0" err="1"/>
              <a:t>root</a:t>
            </a:r>
            <a:r>
              <a:rPr lang="en-US" sz="600" dirty="0"/>
              <a:t> 4096 Nov  5 11:44 cinder-scheduler</a:t>
            </a:r>
          </a:p>
          <a:p>
            <a:r>
              <a:rPr lang="en-US" sz="600" dirty="0" err="1"/>
              <a:t>drwxrwx</a:t>
            </a:r>
            <a:r>
              <a:rPr lang="en-US" sz="600" dirty="0"/>
              <a:t>--- 2 root </a:t>
            </a:r>
            <a:r>
              <a:rPr lang="en-US" sz="600" dirty="0" err="1"/>
              <a:t>root</a:t>
            </a:r>
            <a:r>
              <a:rPr lang="en-US" sz="600" dirty="0"/>
              <a:t> 4096 Nov  5 12:03 cinder-volume</a:t>
            </a:r>
          </a:p>
          <a:p>
            <a:r>
              <a:rPr lang="en-US" sz="600" dirty="0" err="1"/>
              <a:t>drwxrwx</a:t>
            </a:r>
            <a:r>
              <a:rPr lang="en-US" sz="600" dirty="0"/>
              <a:t>--- 2 root </a:t>
            </a:r>
            <a:r>
              <a:rPr lang="en-US" sz="600" dirty="0" err="1"/>
              <a:t>root</a:t>
            </a:r>
            <a:r>
              <a:rPr lang="en-US" sz="600" dirty="0"/>
              <a:t> 4096 Nov  5 11:29 </a:t>
            </a:r>
            <a:r>
              <a:rPr lang="en-US" sz="600" dirty="0" err="1"/>
              <a:t>cron</a:t>
            </a:r>
            <a:endParaRPr lang="en-US" sz="600" dirty="0"/>
          </a:p>
          <a:p>
            <a:r>
              <a:rPr lang="en-US" sz="600" dirty="0" err="1"/>
              <a:t>drwxrwx</a:t>
            </a:r>
            <a:r>
              <a:rPr lang="en-US" sz="600" dirty="0"/>
              <a:t>--- 2 root </a:t>
            </a:r>
            <a:r>
              <a:rPr lang="en-US" sz="600" dirty="0" err="1"/>
              <a:t>root</a:t>
            </a:r>
            <a:r>
              <a:rPr lang="en-US" sz="600" dirty="0"/>
              <a:t> 4096 Nov  5 11:29 </a:t>
            </a:r>
            <a:r>
              <a:rPr lang="en-US" sz="600" dirty="0" err="1"/>
              <a:t>fluentd</a:t>
            </a:r>
            <a:endParaRPr lang="en-US" sz="600" dirty="0"/>
          </a:p>
          <a:p>
            <a:r>
              <a:rPr lang="en-US" sz="600" dirty="0" err="1"/>
              <a:t>drwxrwx</a:t>
            </a:r>
            <a:r>
              <a:rPr lang="en-US" sz="600" dirty="0"/>
              <a:t>--- 2 root </a:t>
            </a:r>
            <a:r>
              <a:rPr lang="en-US" sz="600" dirty="0" err="1"/>
              <a:t>root</a:t>
            </a:r>
            <a:r>
              <a:rPr lang="en-US" sz="600" dirty="0"/>
              <a:t> 4096 Nov  5 11:42 glance-</a:t>
            </a:r>
            <a:r>
              <a:rPr lang="en-US" sz="600" dirty="0" err="1"/>
              <a:t>api</a:t>
            </a:r>
            <a:endParaRPr lang="en-US" sz="600" dirty="0"/>
          </a:p>
          <a:p>
            <a:r>
              <a:rPr lang="en-US" sz="600" dirty="0" err="1"/>
              <a:t>drwxrwx</a:t>
            </a:r>
            <a:r>
              <a:rPr lang="en-US" sz="600" dirty="0"/>
              <a:t>--- 3 root </a:t>
            </a:r>
            <a:r>
              <a:rPr lang="en-US" sz="600" dirty="0" err="1"/>
              <a:t>root</a:t>
            </a:r>
            <a:r>
              <a:rPr lang="en-US" sz="600" dirty="0"/>
              <a:t> 4096 Nov  5 11:36 </a:t>
            </a:r>
            <a:r>
              <a:rPr lang="en-US" sz="600" dirty="0" err="1"/>
              <a:t>haproxy</a:t>
            </a:r>
            <a:endParaRPr lang="en-US" sz="600" dirty="0"/>
          </a:p>
          <a:p>
            <a:r>
              <a:rPr lang="en-US" sz="600" dirty="0" err="1"/>
              <a:t>drwxrwx</a:t>
            </a:r>
            <a:r>
              <a:rPr lang="en-US" sz="600" dirty="0"/>
              <a:t>--- 2 root </a:t>
            </a:r>
            <a:r>
              <a:rPr lang="en-US" sz="600" dirty="0" err="1"/>
              <a:t>root</a:t>
            </a:r>
            <a:r>
              <a:rPr lang="en-US" sz="600" dirty="0"/>
              <a:t> 4096 Nov  5 12:24 heat-</a:t>
            </a:r>
            <a:r>
              <a:rPr lang="en-US" sz="600" dirty="0" err="1"/>
              <a:t>api</a:t>
            </a:r>
            <a:endParaRPr lang="en-US" sz="600" dirty="0"/>
          </a:p>
          <a:p>
            <a:r>
              <a:rPr lang="en-US" sz="600" dirty="0" err="1"/>
              <a:t>drwxrwx</a:t>
            </a:r>
            <a:r>
              <a:rPr lang="en-US" sz="600" dirty="0"/>
              <a:t>--- 2 root </a:t>
            </a:r>
            <a:r>
              <a:rPr lang="en-US" sz="600" dirty="0" err="1"/>
              <a:t>root</a:t>
            </a:r>
            <a:r>
              <a:rPr lang="en-US" sz="600" dirty="0"/>
              <a:t> 4096 Nov  5 12:24 heat-</a:t>
            </a:r>
            <a:r>
              <a:rPr lang="en-US" sz="600" dirty="0" err="1"/>
              <a:t>api</a:t>
            </a:r>
            <a:r>
              <a:rPr lang="en-US" sz="600" dirty="0"/>
              <a:t>-</a:t>
            </a:r>
            <a:r>
              <a:rPr lang="en-US" sz="600" dirty="0" err="1"/>
              <a:t>cfn</a:t>
            </a:r>
            <a:endParaRPr lang="en-US" sz="600" dirty="0"/>
          </a:p>
          <a:p>
            <a:r>
              <a:rPr lang="en-US" sz="600" dirty="0" err="1"/>
              <a:t>drwxrwx</a:t>
            </a:r>
            <a:r>
              <a:rPr lang="en-US" sz="600" dirty="0"/>
              <a:t>--- 2 root </a:t>
            </a:r>
            <a:r>
              <a:rPr lang="en-US" sz="600" dirty="0" err="1"/>
              <a:t>root</a:t>
            </a:r>
            <a:r>
              <a:rPr lang="en-US" sz="600" dirty="0"/>
              <a:t> 4096 Nov  5 12:24 heat-engine</a:t>
            </a:r>
          </a:p>
          <a:p>
            <a:r>
              <a:rPr lang="en-US" sz="600" dirty="0" err="1"/>
              <a:t>drwxrwx</a:t>
            </a:r>
            <a:r>
              <a:rPr lang="en-US" sz="600" dirty="0"/>
              <a:t>--- 2 root </a:t>
            </a:r>
            <a:r>
              <a:rPr lang="en-US" sz="600" dirty="0" err="1"/>
              <a:t>root</a:t>
            </a:r>
            <a:r>
              <a:rPr lang="en-US" sz="600" dirty="0"/>
              <a:t> 4096 Nov  5 12:25 horizon</a:t>
            </a:r>
          </a:p>
          <a:p>
            <a:r>
              <a:rPr lang="en-US" sz="600" dirty="0" err="1"/>
              <a:t>drwxrwx</a:t>
            </a:r>
            <a:r>
              <a:rPr lang="en-US" sz="600" dirty="0"/>
              <a:t>--- 3 root </a:t>
            </a:r>
            <a:r>
              <a:rPr lang="en-US" sz="600" dirty="0" err="1"/>
              <a:t>root</a:t>
            </a:r>
            <a:r>
              <a:rPr lang="en-US" sz="600" dirty="0"/>
              <a:t> 4096 Nov  5 11:36 </a:t>
            </a:r>
            <a:r>
              <a:rPr lang="en-US" sz="600" dirty="0" err="1"/>
              <a:t>keepalived</a:t>
            </a:r>
            <a:endParaRPr lang="en-US" sz="600" dirty="0"/>
          </a:p>
          <a:p>
            <a:r>
              <a:rPr lang="en-US" sz="600" dirty="0" err="1"/>
              <a:t>drwxrwx</a:t>
            </a:r>
            <a:r>
              <a:rPr lang="en-US" sz="600" dirty="0"/>
              <a:t>--- 2 root </a:t>
            </a:r>
            <a:r>
              <a:rPr lang="en-US" sz="600" dirty="0" err="1"/>
              <a:t>root</a:t>
            </a:r>
            <a:r>
              <a:rPr lang="en-US" sz="600" dirty="0"/>
              <a:t> 4096 Nov  5 11:39 keystone</a:t>
            </a:r>
          </a:p>
          <a:p>
            <a:r>
              <a:rPr lang="en-US" sz="600" dirty="0" err="1"/>
              <a:t>drwxrwx</a:t>
            </a:r>
            <a:r>
              <a:rPr lang="en-US" sz="600" dirty="0"/>
              <a:t>--- 2 root </a:t>
            </a:r>
            <a:r>
              <a:rPr lang="en-US" sz="600" dirty="0" err="1"/>
              <a:t>root</a:t>
            </a:r>
            <a:r>
              <a:rPr lang="en-US" sz="600" dirty="0"/>
              <a:t> 4096 Nov  5 11:39 keystone-</a:t>
            </a:r>
            <a:r>
              <a:rPr lang="en-US" sz="600" dirty="0" err="1"/>
              <a:t>fernet</a:t>
            </a:r>
            <a:endParaRPr lang="en-US" sz="600" dirty="0"/>
          </a:p>
          <a:p>
            <a:r>
              <a:rPr lang="en-US" sz="600" dirty="0" err="1"/>
              <a:t>drwxrwx</a:t>
            </a:r>
            <a:r>
              <a:rPr lang="en-US" sz="600" dirty="0"/>
              <a:t>--- 2 root </a:t>
            </a:r>
            <a:r>
              <a:rPr lang="en-US" sz="600" dirty="0" err="1"/>
              <a:t>root</a:t>
            </a:r>
            <a:r>
              <a:rPr lang="en-US" sz="600" dirty="0"/>
              <a:t> 4096 Nov  5 11:39 keystone-</a:t>
            </a:r>
            <a:r>
              <a:rPr lang="en-US" sz="600" dirty="0" err="1"/>
              <a:t>ssh</a:t>
            </a:r>
            <a:endParaRPr lang="en-US" sz="600" dirty="0"/>
          </a:p>
          <a:p>
            <a:r>
              <a:rPr lang="en-US" sz="600" dirty="0" err="1"/>
              <a:t>drwxrwx</a:t>
            </a:r>
            <a:r>
              <a:rPr lang="en-US" sz="600" dirty="0"/>
              <a:t>--- 2 root </a:t>
            </a:r>
            <a:r>
              <a:rPr lang="en-US" sz="600" dirty="0" err="1"/>
              <a:t>root</a:t>
            </a:r>
            <a:r>
              <a:rPr lang="en-US" sz="600" dirty="0"/>
              <a:t> 4096 Nov  5 11:29 </a:t>
            </a:r>
            <a:r>
              <a:rPr lang="en-US" sz="600" dirty="0" err="1"/>
              <a:t>kolla</a:t>
            </a:r>
            <a:r>
              <a:rPr lang="en-US" sz="600" dirty="0"/>
              <a:t>-toolbox</a:t>
            </a:r>
          </a:p>
          <a:p>
            <a:r>
              <a:rPr lang="en-US" sz="600" dirty="0" err="1"/>
              <a:t>drwxrwx</a:t>
            </a:r>
            <a:r>
              <a:rPr lang="en-US" sz="600" dirty="0"/>
              <a:t>--- 2 root </a:t>
            </a:r>
            <a:r>
              <a:rPr lang="en-US" sz="600" dirty="0" err="1"/>
              <a:t>root</a:t>
            </a:r>
            <a:r>
              <a:rPr lang="en-US" sz="600" dirty="0"/>
              <a:t> 4096 Nov  5 11:37 </a:t>
            </a:r>
            <a:r>
              <a:rPr lang="en-US" sz="600" dirty="0" err="1"/>
              <a:t>mariadb</a:t>
            </a:r>
            <a:endParaRPr lang="en-US" sz="600" dirty="0"/>
          </a:p>
          <a:p>
            <a:r>
              <a:rPr lang="en-US" sz="600" dirty="0" err="1"/>
              <a:t>drwxrwx</a:t>
            </a:r>
            <a:r>
              <a:rPr lang="en-US" sz="600" dirty="0"/>
              <a:t>--- 2 root </a:t>
            </a:r>
            <a:r>
              <a:rPr lang="en-US" sz="600" dirty="0" err="1"/>
              <a:t>root</a:t>
            </a:r>
            <a:r>
              <a:rPr lang="en-US" sz="600" dirty="0"/>
              <a:t> 4096 Nov  5 11:37 </a:t>
            </a:r>
            <a:r>
              <a:rPr lang="en-US" sz="600" dirty="0" err="1"/>
              <a:t>mariadb-clustercheck</a:t>
            </a:r>
            <a:endParaRPr lang="en-US" sz="600" dirty="0"/>
          </a:p>
          <a:p>
            <a:r>
              <a:rPr lang="en-US" sz="600" dirty="0" err="1"/>
              <a:t>drwxrwx</a:t>
            </a:r>
            <a:r>
              <a:rPr lang="en-US" sz="600" dirty="0"/>
              <a:t>--- 2 root </a:t>
            </a:r>
            <a:r>
              <a:rPr lang="en-US" sz="600" dirty="0" err="1"/>
              <a:t>root</a:t>
            </a:r>
            <a:r>
              <a:rPr lang="en-US" sz="600" dirty="0"/>
              <a:t> 4096 Nov  5 11:38 </a:t>
            </a:r>
            <a:r>
              <a:rPr lang="en-US" sz="600" dirty="0" err="1"/>
              <a:t>memcached</a:t>
            </a:r>
            <a:endParaRPr lang="en-US" sz="600" dirty="0"/>
          </a:p>
          <a:p>
            <a:r>
              <a:rPr lang="en-US" sz="600" dirty="0" err="1"/>
              <a:t>drwxrwx</a:t>
            </a:r>
            <a:r>
              <a:rPr lang="en-US" sz="600" dirty="0"/>
              <a:t>--- 2 root </a:t>
            </a:r>
            <a:r>
              <a:rPr lang="en-US" sz="600" dirty="0" err="1"/>
              <a:t>root</a:t>
            </a:r>
            <a:r>
              <a:rPr lang="en-US" sz="600" dirty="0"/>
              <a:t> 4096 Nov  5 12:20 neutron-</a:t>
            </a:r>
            <a:r>
              <a:rPr lang="en-US" sz="600" dirty="0" err="1"/>
              <a:t>dhcp</a:t>
            </a:r>
            <a:r>
              <a:rPr lang="en-US" sz="600" dirty="0"/>
              <a:t>-agent</a:t>
            </a:r>
          </a:p>
          <a:p>
            <a:r>
              <a:rPr lang="en-US" sz="600" dirty="0" err="1"/>
              <a:t>drwxrwx</a:t>
            </a:r>
            <a:r>
              <a:rPr lang="en-US" sz="600" dirty="0"/>
              <a:t>--- 2 root </a:t>
            </a:r>
            <a:r>
              <a:rPr lang="en-US" sz="600" dirty="0" err="1"/>
              <a:t>root</a:t>
            </a:r>
            <a:r>
              <a:rPr lang="en-US" sz="600" dirty="0"/>
              <a:t> 4096 Nov  5 12:21 neutron-l3-agent</a:t>
            </a:r>
          </a:p>
          <a:p>
            <a:r>
              <a:rPr lang="en-US" sz="600" dirty="0" err="1"/>
              <a:t>drwxrwx</a:t>
            </a:r>
            <a:r>
              <a:rPr lang="en-US" sz="600" dirty="0"/>
              <a:t>--- 2 root </a:t>
            </a:r>
            <a:r>
              <a:rPr lang="en-US" sz="600" dirty="0" err="1"/>
              <a:t>root</a:t>
            </a:r>
            <a:r>
              <a:rPr lang="en-US" sz="600" dirty="0"/>
              <a:t> 4096 Nov  5 12:21 neutron-metadata-agent</a:t>
            </a:r>
          </a:p>
          <a:p>
            <a:r>
              <a:rPr lang="en-US" sz="600" dirty="0" err="1"/>
              <a:t>drwxrwx</a:t>
            </a:r>
            <a:r>
              <a:rPr lang="en-US" sz="600" dirty="0"/>
              <a:t>--- 2 root </a:t>
            </a:r>
            <a:r>
              <a:rPr lang="en-US" sz="600" dirty="0" err="1"/>
              <a:t>root</a:t>
            </a:r>
            <a:r>
              <a:rPr lang="en-US" sz="600" dirty="0"/>
              <a:t> 4096 Nov  5 12:20 neutron-</a:t>
            </a:r>
            <a:r>
              <a:rPr lang="en-US" sz="600" dirty="0" err="1"/>
              <a:t>openvswitch</a:t>
            </a:r>
            <a:r>
              <a:rPr lang="en-US" sz="600" dirty="0"/>
              <a:t>-agent</a:t>
            </a:r>
          </a:p>
          <a:p>
            <a:r>
              <a:rPr lang="en-US" sz="600" dirty="0" err="1"/>
              <a:t>drwxrwx</a:t>
            </a:r>
            <a:r>
              <a:rPr lang="en-US" sz="600" dirty="0"/>
              <a:t>--- 2 root </a:t>
            </a:r>
            <a:r>
              <a:rPr lang="en-US" sz="600" dirty="0" err="1"/>
              <a:t>root</a:t>
            </a:r>
            <a:r>
              <a:rPr lang="en-US" sz="600" dirty="0"/>
              <a:t> 4096 Nov  5 12:20 neutron-server</a:t>
            </a:r>
          </a:p>
          <a:p>
            <a:r>
              <a:rPr lang="en-US" sz="600" dirty="0" err="1"/>
              <a:t>drwxrwx</a:t>
            </a:r>
            <a:r>
              <a:rPr lang="en-US" sz="600" dirty="0"/>
              <a:t>--- 2 root </a:t>
            </a:r>
            <a:r>
              <a:rPr lang="en-US" sz="600" dirty="0" err="1"/>
              <a:t>root</a:t>
            </a:r>
            <a:r>
              <a:rPr lang="en-US" sz="600" dirty="0"/>
              <a:t> 4096 Nov  5 12:07 nova-</a:t>
            </a:r>
            <a:r>
              <a:rPr lang="en-US" sz="600" dirty="0" err="1"/>
              <a:t>api</a:t>
            </a:r>
            <a:endParaRPr lang="en-US" sz="600" dirty="0"/>
          </a:p>
          <a:p>
            <a:r>
              <a:rPr lang="en-US" sz="600" dirty="0" err="1"/>
              <a:t>drwxrwx</a:t>
            </a:r>
            <a:r>
              <a:rPr lang="en-US" sz="600" dirty="0"/>
              <a:t>--- 2 root </a:t>
            </a:r>
            <a:r>
              <a:rPr lang="en-US" sz="600" dirty="0" err="1"/>
              <a:t>root</a:t>
            </a:r>
            <a:r>
              <a:rPr lang="en-US" sz="600" dirty="0"/>
              <a:t> 4096 Nov  5 12:05 nova-</a:t>
            </a:r>
            <a:r>
              <a:rPr lang="en-US" sz="600" dirty="0" err="1"/>
              <a:t>api</a:t>
            </a:r>
            <a:r>
              <a:rPr lang="en-US" sz="600" dirty="0"/>
              <a:t>-bootstrap</a:t>
            </a:r>
          </a:p>
          <a:p>
            <a:r>
              <a:rPr lang="en-US" sz="600" dirty="0" err="1"/>
              <a:t>drwxrwx</a:t>
            </a:r>
            <a:r>
              <a:rPr lang="en-US" sz="600" dirty="0"/>
              <a:t>--- 2 root </a:t>
            </a:r>
            <a:r>
              <a:rPr lang="en-US" sz="600" dirty="0" err="1"/>
              <a:t>root</a:t>
            </a:r>
            <a:r>
              <a:rPr lang="en-US" sz="600" dirty="0"/>
              <a:t> 4096 Nov  5 12:06 nova-cell-bootstrap</a:t>
            </a:r>
          </a:p>
          <a:p>
            <a:r>
              <a:rPr lang="en-US" sz="600" dirty="0" err="1"/>
              <a:t>drwxrwx</a:t>
            </a:r>
            <a:r>
              <a:rPr lang="en-US" sz="600" dirty="0"/>
              <a:t>--- 2 root </a:t>
            </a:r>
            <a:r>
              <a:rPr lang="en-US" sz="600" dirty="0" err="1"/>
              <a:t>root</a:t>
            </a:r>
            <a:r>
              <a:rPr lang="en-US" sz="600" dirty="0"/>
              <a:t> 4096 Nov  5 12:07 nova-conductor</a:t>
            </a:r>
          </a:p>
          <a:p>
            <a:r>
              <a:rPr lang="en-US" sz="600" dirty="0" err="1"/>
              <a:t>drwxrwx</a:t>
            </a:r>
            <a:r>
              <a:rPr lang="en-US" sz="600" dirty="0"/>
              <a:t>--- 2 root </a:t>
            </a:r>
            <a:r>
              <a:rPr lang="en-US" sz="600" dirty="0" err="1"/>
              <a:t>root</a:t>
            </a:r>
            <a:r>
              <a:rPr lang="en-US" sz="600" dirty="0"/>
              <a:t> 4096 Nov  5 12:07 nova-</a:t>
            </a:r>
            <a:r>
              <a:rPr lang="en-US" sz="600" dirty="0" err="1"/>
              <a:t>novncproxy</a:t>
            </a:r>
            <a:endParaRPr lang="en-US" sz="600" dirty="0"/>
          </a:p>
          <a:p>
            <a:r>
              <a:rPr lang="en-US" sz="600" dirty="0" err="1"/>
              <a:t>drwxrwx</a:t>
            </a:r>
            <a:r>
              <a:rPr lang="en-US" sz="600" dirty="0"/>
              <a:t>--- 2 root </a:t>
            </a:r>
            <a:r>
              <a:rPr lang="en-US" sz="600" dirty="0" err="1"/>
              <a:t>root</a:t>
            </a:r>
            <a:r>
              <a:rPr lang="en-US" sz="600" dirty="0"/>
              <a:t> 4096 Nov  5 12:07 nova-scheduler</a:t>
            </a:r>
          </a:p>
          <a:p>
            <a:r>
              <a:rPr lang="en-US" sz="600" dirty="0" err="1"/>
              <a:t>drwxrwx</a:t>
            </a:r>
            <a:r>
              <a:rPr lang="en-US" sz="600" dirty="0"/>
              <a:t>--- 2 root </a:t>
            </a:r>
            <a:r>
              <a:rPr lang="en-US" sz="600" dirty="0" err="1"/>
              <a:t>root</a:t>
            </a:r>
            <a:r>
              <a:rPr lang="en-US" sz="600" dirty="0"/>
              <a:t> 4096 Nov  5 12:18 </a:t>
            </a:r>
            <a:r>
              <a:rPr lang="en-US" sz="600" dirty="0" err="1"/>
              <a:t>openvswitch</a:t>
            </a:r>
            <a:r>
              <a:rPr lang="en-US" sz="600" dirty="0"/>
              <a:t>-</a:t>
            </a:r>
            <a:r>
              <a:rPr lang="en-US" sz="600" dirty="0" err="1"/>
              <a:t>db</a:t>
            </a:r>
            <a:r>
              <a:rPr lang="en-US" sz="600" dirty="0"/>
              <a:t>-server</a:t>
            </a:r>
          </a:p>
          <a:p>
            <a:r>
              <a:rPr lang="en-US" sz="600" dirty="0" err="1"/>
              <a:t>drwxrwx</a:t>
            </a:r>
            <a:r>
              <a:rPr lang="en-US" sz="600" dirty="0"/>
              <a:t>--- 2 root </a:t>
            </a:r>
            <a:r>
              <a:rPr lang="en-US" sz="600" dirty="0" err="1"/>
              <a:t>root</a:t>
            </a:r>
            <a:r>
              <a:rPr lang="en-US" sz="600" dirty="0"/>
              <a:t> 4096 Nov  5 12:18 </a:t>
            </a:r>
            <a:r>
              <a:rPr lang="en-US" sz="600" dirty="0" err="1"/>
              <a:t>openvswitch-vswitchd</a:t>
            </a:r>
            <a:endParaRPr lang="en-US" sz="600" dirty="0"/>
          </a:p>
          <a:p>
            <a:r>
              <a:rPr lang="en-US" sz="600" dirty="0" err="1"/>
              <a:t>drwxrwx</a:t>
            </a:r>
            <a:r>
              <a:rPr lang="en-US" sz="600" dirty="0"/>
              <a:t>--- 2 root </a:t>
            </a:r>
            <a:r>
              <a:rPr lang="en-US" sz="600" dirty="0" err="1"/>
              <a:t>root</a:t>
            </a:r>
            <a:r>
              <a:rPr lang="en-US" sz="600" dirty="0"/>
              <a:t> 4096 Nov  5 12:05 placement-</a:t>
            </a:r>
            <a:r>
              <a:rPr lang="en-US" sz="600" dirty="0" err="1"/>
              <a:t>api</a:t>
            </a:r>
            <a:endParaRPr lang="en-US" sz="600" dirty="0"/>
          </a:p>
          <a:p>
            <a:r>
              <a:rPr lang="en-US" sz="600" dirty="0" err="1"/>
              <a:t>drwxrwx</a:t>
            </a:r>
            <a:r>
              <a:rPr lang="en-US" sz="600" dirty="0"/>
              <a:t>--- 2 root </a:t>
            </a:r>
            <a:r>
              <a:rPr lang="en-US" sz="600" dirty="0" err="1"/>
              <a:t>root</a:t>
            </a:r>
            <a:r>
              <a:rPr lang="en-US" sz="600" dirty="0"/>
              <a:t> 4096 Nov  5 11:39 </a:t>
            </a:r>
            <a:r>
              <a:rPr lang="en-US" sz="600" dirty="0" err="1"/>
              <a:t>rabbitmq</a:t>
            </a:r>
            <a:endParaRPr lang="en-US" sz="600" dirty="0"/>
          </a:p>
        </p:txBody>
      </p:sp>
      <p:sp>
        <p:nvSpPr>
          <p:cNvPr id="8" name="Rectangle 7"/>
          <p:cNvSpPr/>
          <p:nvPr/>
        </p:nvSpPr>
        <p:spPr>
          <a:xfrm>
            <a:off x="3647823" y="533078"/>
            <a:ext cx="2398135" cy="129266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3647823" y="533077"/>
            <a:ext cx="2684738" cy="1292662"/>
          </a:xfrm>
          <a:prstGeom prst="rect">
            <a:avLst/>
          </a:prstGeom>
        </p:spPr>
        <p:txBody>
          <a:bodyPr wrap="square">
            <a:spAutoFit/>
          </a:bodyPr>
          <a:lstStyle/>
          <a:p>
            <a:r>
              <a:rPr lang="en-US" sz="600" dirty="0" smtClean="0"/>
              <a:t>ubuntu@GPU71</a:t>
            </a:r>
            <a:r>
              <a:rPr lang="en-US" sz="600" dirty="0"/>
              <a:t>:~$ ls -al /</a:t>
            </a:r>
            <a:r>
              <a:rPr lang="en-US" sz="600" dirty="0" err="1"/>
              <a:t>etc</a:t>
            </a:r>
            <a:r>
              <a:rPr lang="en-US" sz="600" dirty="0"/>
              <a:t>/</a:t>
            </a:r>
            <a:r>
              <a:rPr lang="en-US" sz="600" dirty="0" err="1"/>
              <a:t>kolla</a:t>
            </a:r>
            <a:r>
              <a:rPr lang="en-US" sz="600" dirty="0"/>
              <a:t>/</a:t>
            </a:r>
          </a:p>
          <a:p>
            <a:r>
              <a:rPr lang="en-US" sz="600" dirty="0"/>
              <a:t>total 44</a:t>
            </a:r>
          </a:p>
          <a:p>
            <a:r>
              <a:rPr lang="en-US" sz="600" dirty="0" err="1"/>
              <a:t>drwxr</a:t>
            </a:r>
            <a:r>
              <a:rPr lang="en-US" sz="600" dirty="0"/>
              <a:t>-</a:t>
            </a:r>
            <a:r>
              <a:rPr lang="en-US" sz="600" dirty="0" err="1"/>
              <a:t>xr</a:t>
            </a:r>
            <a:r>
              <a:rPr lang="en-US" sz="600" dirty="0"/>
              <a:t>-x  11 root </a:t>
            </a:r>
            <a:r>
              <a:rPr lang="en-US" sz="600" dirty="0" err="1"/>
              <a:t>root</a:t>
            </a:r>
            <a:r>
              <a:rPr lang="en-US" sz="600" dirty="0"/>
              <a:t> 4096 Nov  5 12:20 .</a:t>
            </a:r>
          </a:p>
          <a:p>
            <a:r>
              <a:rPr lang="en-US" sz="600" dirty="0" err="1"/>
              <a:t>drwxr</a:t>
            </a:r>
            <a:r>
              <a:rPr lang="en-US" sz="600" dirty="0"/>
              <a:t>-</a:t>
            </a:r>
            <a:r>
              <a:rPr lang="en-US" sz="600" dirty="0" err="1"/>
              <a:t>xr</a:t>
            </a:r>
            <a:r>
              <a:rPr lang="en-US" sz="600" dirty="0"/>
              <a:t>-x 107 root </a:t>
            </a:r>
            <a:r>
              <a:rPr lang="en-US" sz="600" dirty="0" err="1"/>
              <a:t>root</a:t>
            </a:r>
            <a:r>
              <a:rPr lang="en-US" sz="600" dirty="0"/>
              <a:t> 4096 Nov  5 12:07 ..</a:t>
            </a:r>
          </a:p>
          <a:p>
            <a:r>
              <a:rPr lang="en-US" sz="600" dirty="0" err="1"/>
              <a:t>drwxrwx</a:t>
            </a:r>
            <a:r>
              <a:rPr lang="en-US" sz="600" dirty="0"/>
              <a:t>---   2 root </a:t>
            </a:r>
            <a:r>
              <a:rPr lang="en-US" sz="600" dirty="0" err="1"/>
              <a:t>root</a:t>
            </a:r>
            <a:r>
              <a:rPr lang="en-US" sz="600" dirty="0"/>
              <a:t> 4096 Nov  5 11:29 </a:t>
            </a:r>
            <a:r>
              <a:rPr lang="en-US" sz="600" dirty="0" err="1"/>
              <a:t>cron</a:t>
            </a:r>
            <a:endParaRPr lang="en-US" sz="600" dirty="0"/>
          </a:p>
          <a:p>
            <a:r>
              <a:rPr lang="en-US" sz="600" dirty="0" err="1"/>
              <a:t>drwxrwx</a:t>
            </a:r>
            <a:r>
              <a:rPr lang="en-US" sz="600" dirty="0"/>
              <a:t>---   2 root </a:t>
            </a:r>
            <a:r>
              <a:rPr lang="en-US" sz="600" dirty="0" err="1"/>
              <a:t>root</a:t>
            </a:r>
            <a:r>
              <a:rPr lang="en-US" sz="600" dirty="0"/>
              <a:t> 4096 Nov  5 11:29 </a:t>
            </a:r>
            <a:r>
              <a:rPr lang="en-US" sz="600" dirty="0" err="1"/>
              <a:t>fluentd</a:t>
            </a:r>
            <a:endParaRPr lang="en-US" sz="600" dirty="0"/>
          </a:p>
          <a:p>
            <a:r>
              <a:rPr lang="en-US" sz="600" dirty="0" err="1"/>
              <a:t>drwxrwx</a:t>
            </a:r>
            <a:r>
              <a:rPr lang="en-US" sz="600" dirty="0"/>
              <a:t>---   2 root </a:t>
            </a:r>
            <a:r>
              <a:rPr lang="en-US" sz="600" dirty="0" err="1"/>
              <a:t>root</a:t>
            </a:r>
            <a:r>
              <a:rPr lang="en-US" sz="600" dirty="0"/>
              <a:t> 4096 Nov  5 11:29 </a:t>
            </a:r>
            <a:r>
              <a:rPr lang="en-US" sz="600" dirty="0" err="1"/>
              <a:t>kolla</a:t>
            </a:r>
            <a:r>
              <a:rPr lang="en-US" sz="600" dirty="0"/>
              <a:t>-toolbox</a:t>
            </a:r>
          </a:p>
          <a:p>
            <a:r>
              <a:rPr lang="en-US" sz="600" dirty="0" err="1"/>
              <a:t>drwxrwx</a:t>
            </a:r>
            <a:r>
              <a:rPr lang="en-US" sz="600" dirty="0"/>
              <a:t>---   2 root </a:t>
            </a:r>
            <a:r>
              <a:rPr lang="en-US" sz="600" dirty="0" err="1"/>
              <a:t>root</a:t>
            </a:r>
            <a:r>
              <a:rPr lang="en-US" sz="600" dirty="0"/>
              <a:t> 4096 Nov  5 12:20 neutron-</a:t>
            </a:r>
            <a:r>
              <a:rPr lang="en-US" sz="600" dirty="0" err="1"/>
              <a:t>openvswitch</a:t>
            </a:r>
            <a:r>
              <a:rPr lang="en-US" sz="600" dirty="0"/>
              <a:t>-agent</a:t>
            </a:r>
          </a:p>
          <a:p>
            <a:r>
              <a:rPr lang="en-US" sz="600" dirty="0" err="1"/>
              <a:t>drwxrwx</a:t>
            </a:r>
            <a:r>
              <a:rPr lang="en-US" sz="600" dirty="0"/>
              <a:t>---   2 root </a:t>
            </a:r>
            <a:r>
              <a:rPr lang="en-US" sz="600" dirty="0" err="1"/>
              <a:t>root</a:t>
            </a:r>
            <a:r>
              <a:rPr lang="en-US" sz="600" dirty="0"/>
              <a:t> 4096 Nov  5 12:08 nova-compute</a:t>
            </a:r>
          </a:p>
          <a:p>
            <a:r>
              <a:rPr lang="en-US" sz="600" dirty="0" err="1"/>
              <a:t>drwxrwx</a:t>
            </a:r>
            <a:r>
              <a:rPr lang="en-US" sz="600" dirty="0"/>
              <a:t>---   2 root </a:t>
            </a:r>
            <a:r>
              <a:rPr lang="en-US" sz="600" dirty="0" err="1"/>
              <a:t>root</a:t>
            </a:r>
            <a:r>
              <a:rPr lang="en-US" sz="600" dirty="0"/>
              <a:t> 4096 Nov  5 12:08 nova-</a:t>
            </a:r>
            <a:r>
              <a:rPr lang="en-US" sz="600" dirty="0" err="1"/>
              <a:t>libvirt</a:t>
            </a:r>
            <a:endParaRPr lang="en-US" sz="600" dirty="0"/>
          </a:p>
          <a:p>
            <a:r>
              <a:rPr lang="en-US" sz="600" dirty="0" err="1"/>
              <a:t>drwxrwx</a:t>
            </a:r>
            <a:r>
              <a:rPr lang="en-US" sz="600" dirty="0"/>
              <a:t>---   2 root </a:t>
            </a:r>
            <a:r>
              <a:rPr lang="en-US" sz="600" dirty="0" err="1"/>
              <a:t>root</a:t>
            </a:r>
            <a:r>
              <a:rPr lang="en-US" sz="600" dirty="0"/>
              <a:t> 4096 Nov  5 12:08 nova-</a:t>
            </a:r>
            <a:r>
              <a:rPr lang="en-US" sz="600" dirty="0" err="1"/>
              <a:t>ssh</a:t>
            </a:r>
            <a:endParaRPr lang="en-US" sz="600" dirty="0"/>
          </a:p>
          <a:p>
            <a:r>
              <a:rPr lang="en-US" sz="600" dirty="0" err="1"/>
              <a:t>drwxrwx</a:t>
            </a:r>
            <a:r>
              <a:rPr lang="en-US" sz="600" dirty="0"/>
              <a:t>---   2 root </a:t>
            </a:r>
            <a:r>
              <a:rPr lang="en-US" sz="600" dirty="0" err="1"/>
              <a:t>root</a:t>
            </a:r>
            <a:r>
              <a:rPr lang="en-US" sz="600" dirty="0"/>
              <a:t> 4096 Nov  5 12:18 </a:t>
            </a:r>
            <a:r>
              <a:rPr lang="en-US" sz="600" dirty="0" err="1"/>
              <a:t>openvswitch</a:t>
            </a:r>
            <a:r>
              <a:rPr lang="en-US" sz="600" dirty="0"/>
              <a:t>-</a:t>
            </a:r>
            <a:r>
              <a:rPr lang="en-US" sz="600" dirty="0" err="1"/>
              <a:t>db</a:t>
            </a:r>
            <a:r>
              <a:rPr lang="en-US" sz="600" dirty="0"/>
              <a:t>-server</a:t>
            </a:r>
          </a:p>
          <a:p>
            <a:r>
              <a:rPr lang="en-US" sz="600" dirty="0" err="1"/>
              <a:t>drwxrwx</a:t>
            </a:r>
            <a:r>
              <a:rPr lang="en-US" sz="600" dirty="0"/>
              <a:t>---   2 root </a:t>
            </a:r>
            <a:r>
              <a:rPr lang="en-US" sz="600" dirty="0" err="1"/>
              <a:t>root</a:t>
            </a:r>
            <a:r>
              <a:rPr lang="en-US" sz="600" dirty="0"/>
              <a:t> 4096 Nov  5 12:18 </a:t>
            </a:r>
            <a:r>
              <a:rPr lang="en-US" sz="600" dirty="0" err="1"/>
              <a:t>openvswitch-vswitchd</a:t>
            </a:r>
            <a:endParaRPr lang="en-US" sz="600" dirty="0"/>
          </a:p>
        </p:txBody>
      </p:sp>
      <p:sp>
        <p:nvSpPr>
          <p:cNvPr id="2" name="Rectangle 1"/>
          <p:cNvSpPr/>
          <p:nvPr/>
        </p:nvSpPr>
        <p:spPr>
          <a:xfrm>
            <a:off x="3487002" y="2293820"/>
            <a:ext cx="5315803" cy="1446550"/>
          </a:xfrm>
          <a:prstGeom prst="rect">
            <a:avLst/>
          </a:prstGeom>
        </p:spPr>
        <p:txBody>
          <a:bodyPr wrap="square">
            <a:spAutoFit/>
          </a:bodyPr>
          <a:lstStyle/>
          <a:p>
            <a:r>
              <a:rPr lang="en-US" b="1" dirty="0">
                <a:solidFill>
                  <a:srgbClr val="002060"/>
                </a:solidFill>
              </a:rPr>
              <a:t>Extra: Add </a:t>
            </a:r>
            <a:r>
              <a:rPr lang="en-US" b="1" dirty="0" err="1">
                <a:solidFill>
                  <a:srgbClr val="002060"/>
                </a:solidFill>
              </a:rPr>
              <a:t>Ceph</a:t>
            </a:r>
            <a:r>
              <a:rPr lang="en-US" b="1" dirty="0">
                <a:solidFill>
                  <a:srgbClr val="002060"/>
                </a:solidFill>
              </a:rPr>
              <a:t> storage as an Cinder </a:t>
            </a:r>
            <a:r>
              <a:rPr lang="en-US" b="1" dirty="0" smtClean="0">
                <a:solidFill>
                  <a:srgbClr val="002060"/>
                </a:solidFill>
              </a:rPr>
              <a:t>backend</a:t>
            </a:r>
          </a:p>
          <a:p>
            <a:r>
              <a:rPr lang="en-US" sz="1400" dirty="0" smtClean="0"/>
              <a:t>NOTE</a:t>
            </a:r>
            <a:r>
              <a:rPr lang="en-US" sz="1400" dirty="0"/>
              <a:t>: Refer to https</a:t>
            </a:r>
            <a:r>
              <a:rPr lang="en-US" sz="1400" dirty="0" smtClean="0"/>
              <a:t>://verdysgn.io/8tkrVJP7QU-MjO-0_W13jQ </a:t>
            </a:r>
            <a:r>
              <a:rPr lang="en-US" sz="1400" dirty="0"/>
              <a:t>for setup a </a:t>
            </a:r>
            <a:r>
              <a:rPr lang="en-US" sz="1400" dirty="0" err="1"/>
              <a:t>Ceph</a:t>
            </a:r>
            <a:r>
              <a:rPr lang="en-US" sz="1400" dirty="0"/>
              <a:t> storage</a:t>
            </a:r>
            <a:r>
              <a:rPr lang="en-US" sz="1400" dirty="0" smtClean="0"/>
              <a:t>.</a:t>
            </a:r>
          </a:p>
          <a:p>
            <a:endParaRPr lang="en-US" sz="1400" dirty="0"/>
          </a:p>
          <a:p>
            <a:r>
              <a:rPr lang="en-US" sz="1400" dirty="0"/>
              <a:t>This section provides steps to add a </a:t>
            </a:r>
            <a:r>
              <a:rPr lang="en-US" sz="1400" dirty="0" err="1"/>
              <a:t>Ceph</a:t>
            </a:r>
            <a:r>
              <a:rPr lang="en-US" sz="1400" dirty="0"/>
              <a:t> storage into Cinder volume as backend; and set Nova to use the </a:t>
            </a:r>
            <a:r>
              <a:rPr lang="en-US" sz="1400" dirty="0" err="1"/>
              <a:t>Ceph</a:t>
            </a:r>
            <a:r>
              <a:rPr lang="en-US" sz="1400" dirty="0"/>
              <a:t> storage for running instance.</a:t>
            </a:r>
          </a:p>
        </p:txBody>
      </p:sp>
    </p:spTree>
    <p:extLst>
      <p:ext uri="{BB962C8B-B14F-4D97-AF65-F5344CB8AC3E}">
        <p14:creationId xmlns:p14="http://schemas.microsoft.com/office/powerpoint/2010/main" val="730442825"/>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2265685" cy="276999"/>
          </a:xfrm>
          <a:prstGeom prst="rect">
            <a:avLst/>
          </a:prstGeom>
        </p:spPr>
        <p:txBody>
          <a:bodyPr wrap="none">
            <a:spAutoFit/>
          </a:bodyPr>
          <a:lstStyle/>
          <a:p>
            <a:r>
              <a:rPr lang="sv-SE" sz="1200" b="1" dirty="0">
                <a:solidFill>
                  <a:srgbClr val="002060"/>
                </a:solidFill>
              </a:rPr>
              <a:t>Setup Ceph storage via cephadm</a:t>
            </a:r>
            <a:endParaRPr lang="en-US" sz="1200" b="1" dirty="0">
              <a:solidFill>
                <a:srgbClr val="002060"/>
              </a:solidFill>
            </a:endParaRPr>
          </a:p>
        </p:txBody>
      </p:sp>
      <p:sp>
        <p:nvSpPr>
          <p:cNvPr id="4" name="Rectangle 3"/>
          <p:cNvSpPr/>
          <p:nvPr/>
        </p:nvSpPr>
        <p:spPr>
          <a:xfrm>
            <a:off x="46229" y="740726"/>
            <a:ext cx="3816087" cy="1384995"/>
          </a:xfrm>
          <a:prstGeom prst="rect">
            <a:avLst/>
          </a:prstGeom>
        </p:spPr>
        <p:txBody>
          <a:bodyPr wrap="square">
            <a:spAutoFit/>
          </a:bodyPr>
          <a:lstStyle/>
          <a:p>
            <a:pPr algn="just"/>
            <a:r>
              <a:rPr lang="en-US" sz="1200" dirty="0"/>
              <a:t>tags: </a:t>
            </a:r>
            <a:r>
              <a:rPr lang="en-US" sz="1200" dirty="0" err="1" smtClean="0"/>
              <a:t>ceph</a:t>
            </a:r>
            <a:endParaRPr lang="en-US" sz="1200" dirty="0" smtClean="0"/>
          </a:p>
          <a:p>
            <a:pPr algn="just"/>
            <a:r>
              <a:rPr lang="en-US" sz="1200" dirty="0" smtClean="0"/>
              <a:t>Example </a:t>
            </a:r>
            <a:r>
              <a:rPr lang="en-US" sz="1200" dirty="0"/>
              <a:t>of </a:t>
            </a:r>
            <a:r>
              <a:rPr lang="en-US" sz="1200" dirty="0" err="1"/>
              <a:t>Ceph</a:t>
            </a:r>
            <a:r>
              <a:rPr lang="en-US" sz="1200" dirty="0"/>
              <a:t> storage cluster setup via </a:t>
            </a:r>
            <a:r>
              <a:rPr lang="en-US" sz="1200" dirty="0" err="1"/>
              <a:t>cephadm</a:t>
            </a:r>
            <a:r>
              <a:rPr lang="en-US" sz="1200" dirty="0" smtClean="0"/>
              <a:t>.</a:t>
            </a:r>
          </a:p>
          <a:p>
            <a:pPr algn="just"/>
            <a:r>
              <a:rPr lang="en-US" sz="1200" dirty="0" smtClean="0"/>
              <a:t>I </a:t>
            </a:r>
            <a:r>
              <a:rPr lang="en-US" sz="1200" dirty="0"/>
              <a:t>setup </a:t>
            </a:r>
            <a:r>
              <a:rPr lang="en-US" sz="1200" dirty="0" err="1"/>
              <a:t>Ceph</a:t>
            </a:r>
            <a:r>
              <a:rPr lang="en-US" sz="1200" dirty="0"/>
              <a:t> storage for OpenStack to use as "shared" storage which allow "live-migration" of instance</a:t>
            </a:r>
            <a:r>
              <a:rPr lang="en-US" sz="1200" dirty="0" smtClean="0"/>
              <a:t>.</a:t>
            </a:r>
          </a:p>
          <a:p>
            <a:pPr algn="just"/>
            <a:r>
              <a:rPr lang="en-US" sz="1200" dirty="0" smtClean="0"/>
              <a:t>OpenStack </a:t>
            </a:r>
            <a:r>
              <a:rPr lang="en-US" sz="1200" dirty="0"/>
              <a:t>setup: https</a:t>
            </a:r>
            <a:r>
              <a:rPr lang="en-US" sz="1200" dirty="0" smtClean="0"/>
              <a:t>://verdysgn.io/v2HFpS2AS8CVXiv_I2svZg </a:t>
            </a:r>
            <a:r>
              <a:rPr lang="en-US" sz="1200" dirty="0"/>
              <a:t>(</a:t>
            </a:r>
            <a:r>
              <a:rPr lang="en-US" sz="1200" dirty="0" err="1"/>
              <a:t>kolla-ansible</a:t>
            </a:r>
            <a:r>
              <a:rPr lang="en-US" sz="1200" dirty="0"/>
              <a:t>)</a:t>
            </a:r>
          </a:p>
        </p:txBody>
      </p:sp>
      <p:sp>
        <p:nvSpPr>
          <p:cNvPr id="7" name="Rectangle 6"/>
          <p:cNvSpPr/>
          <p:nvPr/>
        </p:nvSpPr>
        <p:spPr>
          <a:xfrm>
            <a:off x="46229" y="2318470"/>
            <a:ext cx="1007968" cy="276999"/>
          </a:xfrm>
          <a:prstGeom prst="rect">
            <a:avLst/>
          </a:prstGeom>
        </p:spPr>
        <p:txBody>
          <a:bodyPr wrap="none">
            <a:spAutoFit/>
          </a:bodyPr>
          <a:lstStyle/>
          <a:p>
            <a:r>
              <a:rPr lang="sv-SE" sz="1200" b="1" dirty="0">
                <a:solidFill>
                  <a:srgbClr val="002060"/>
                </a:solidFill>
              </a:rPr>
              <a:t>Environment</a:t>
            </a:r>
            <a:endParaRPr lang="en-US" sz="1200" b="1" dirty="0">
              <a:solidFill>
                <a:srgbClr val="002060"/>
              </a:solidFill>
            </a:endParaRPr>
          </a:p>
        </p:txBody>
      </p:sp>
      <p:sp>
        <p:nvSpPr>
          <p:cNvPr id="8" name="Rectangle 7"/>
          <p:cNvSpPr/>
          <p:nvPr/>
        </p:nvSpPr>
        <p:spPr>
          <a:xfrm>
            <a:off x="100820" y="2616794"/>
            <a:ext cx="1550558" cy="646331"/>
          </a:xfrm>
          <a:prstGeom prst="rect">
            <a:avLst/>
          </a:prstGeom>
        </p:spPr>
        <p:txBody>
          <a:bodyPr wrap="square">
            <a:spAutoFit/>
          </a:bodyPr>
          <a:lstStyle/>
          <a:p>
            <a:r>
              <a:rPr lang="en-US" sz="600" dirty="0"/>
              <a:t>IP Address      hostname  </a:t>
            </a:r>
            <a:r>
              <a:rPr lang="en-US" sz="600" dirty="0" err="1"/>
              <a:t>Ceph</a:t>
            </a:r>
            <a:r>
              <a:rPr lang="en-US" sz="600" dirty="0"/>
              <a:t> Node</a:t>
            </a:r>
          </a:p>
          <a:p>
            <a:r>
              <a:rPr lang="en-US" sz="600" dirty="0"/>
              <a:t>-----------------------------------------</a:t>
            </a:r>
          </a:p>
          <a:p>
            <a:r>
              <a:rPr lang="en-US" sz="600" dirty="0"/>
              <a:t>192.168.1.23    </a:t>
            </a:r>
            <a:r>
              <a:rPr lang="en-US" sz="600" dirty="0" smtClean="0"/>
              <a:t>GPU111    </a:t>
            </a:r>
            <a:r>
              <a:rPr lang="en-US" sz="600" dirty="0"/>
              <a:t>deploy &amp; mon</a:t>
            </a:r>
          </a:p>
          <a:p>
            <a:r>
              <a:rPr lang="en-US" sz="600" dirty="0"/>
              <a:t>192.168.1.24    </a:t>
            </a:r>
            <a:r>
              <a:rPr lang="en-US" sz="600" dirty="0" smtClean="0"/>
              <a:t>GPU71     </a:t>
            </a:r>
            <a:r>
              <a:rPr lang="en-US" sz="600" dirty="0" err="1"/>
              <a:t>osd</a:t>
            </a:r>
            <a:endParaRPr lang="en-US" sz="600" dirty="0"/>
          </a:p>
          <a:p>
            <a:r>
              <a:rPr lang="en-US" sz="600" dirty="0"/>
              <a:t>192.168.1.25    </a:t>
            </a:r>
            <a:r>
              <a:rPr lang="en-US" sz="600" dirty="0" smtClean="0"/>
              <a:t>GPU72     </a:t>
            </a:r>
            <a:r>
              <a:rPr lang="en-US" sz="600" dirty="0" err="1"/>
              <a:t>osd</a:t>
            </a:r>
            <a:endParaRPr lang="en-US" sz="600" dirty="0"/>
          </a:p>
          <a:p>
            <a:r>
              <a:rPr lang="en-US" sz="600" dirty="0"/>
              <a:t>192.168.1.26    </a:t>
            </a:r>
            <a:r>
              <a:rPr lang="en-US" sz="600" dirty="0" smtClean="0"/>
              <a:t>GPU73     </a:t>
            </a:r>
            <a:r>
              <a:rPr lang="en-US" sz="600" dirty="0" err="1"/>
              <a:t>osd</a:t>
            </a:r>
            <a:endParaRPr lang="en-US" sz="600" dirty="0"/>
          </a:p>
        </p:txBody>
      </p:sp>
      <p:sp>
        <p:nvSpPr>
          <p:cNvPr id="9" name="Rectangle 8"/>
          <p:cNvSpPr/>
          <p:nvPr/>
        </p:nvSpPr>
        <p:spPr>
          <a:xfrm>
            <a:off x="100820" y="2595469"/>
            <a:ext cx="4371369" cy="66765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 name="Rectangle 1"/>
          <p:cNvSpPr/>
          <p:nvPr/>
        </p:nvSpPr>
        <p:spPr>
          <a:xfrm>
            <a:off x="100820" y="3669694"/>
            <a:ext cx="4572000" cy="830997"/>
          </a:xfrm>
          <a:prstGeom prst="rect">
            <a:avLst/>
          </a:prstGeom>
        </p:spPr>
        <p:txBody>
          <a:bodyPr>
            <a:spAutoFit/>
          </a:bodyPr>
          <a:lstStyle/>
          <a:p>
            <a:pPr algn="just"/>
            <a:r>
              <a:rPr lang="en-US" sz="1200" dirty="0"/>
              <a:t>The </a:t>
            </a:r>
            <a:r>
              <a:rPr lang="en-US" sz="1200" dirty="0" smtClean="0"/>
              <a:t>GPU111 </a:t>
            </a:r>
            <a:r>
              <a:rPr lang="en-US" sz="1200" dirty="0"/>
              <a:t>will be deploy node, and initial </a:t>
            </a:r>
            <a:r>
              <a:rPr lang="en-US" sz="1200" dirty="0" err="1"/>
              <a:t>ceph</a:t>
            </a:r>
            <a:r>
              <a:rPr lang="en-US" sz="1200" dirty="0"/>
              <a:t> monitor host. (</a:t>
            </a:r>
            <a:r>
              <a:rPr lang="en-US" sz="1200" dirty="0" err="1"/>
              <a:t>cephadm</a:t>
            </a:r>
            <a:r>
              <a:rPr lang="en-US" sz="1200" dirty="0"/>
              <a:t> will auto add 2 </a:t>
            </a:r>
            <a:r>
              <a:rPr lang="en-US" sz="1200" dirty="0" err="1"/>
              <a:t>addtional</a:t>
            </a:r>
            <a:r>
              <a:rPr lang="en-US" sz="1200" dirty="0"/>
              <a:t> monitors automatically base on cluster size)The </a:t>
            </a:r>
            <a:r>
              <a:rPr lang="en-US" sz="1200" dirty="0" smtClean="0"/>
              <a:t>GPU71</a:t>
            </a:r>
            <a:r>
              <a:rPr lang="en-US" sz="1200" dirty="0"/>
              <a:t>, </a:t>
            </a:r>
            <a:r>
              <a:rPr lang="en-US" sz="1200" dirty="0" smtClean="0"/>
              <a:t>GPU72 </a:t>
            </a:r>
            <a:r>
              <a:rPr lang="en-US" sz="1200" dirty="0"/>
              <a:t>and </a:t>
            </a:r>
            <a:r>
              <a:rPr lang="en-US" sz="1200" dirty="0" smtClean="0"/>
              <a:t>GPU73 </a:t>
            </a:r>
            <a:r>
              <a:rPr lang="en-US" sz="1200" dirty="0"/>
              <a:t>are OSD hosts, they have additional disk /dev/</a:t>
            </a:r>
            <a:r>
              <a:rPr lang="en-US" sz="1200" dirty="0" err="1"/>
              <a:t>sdb</a:t>
            </a:r>
            <a:r>
              <a:rPr lang="en-US" sz="1200" dirty="0"/>
              <a:t> (</a:t>
            </a:r>
            <a:r>
              <a:rPr lang="en-US" sz="1200" dirty="0" err="1"/>
              <a:t>usb</a:t>
            </a:r>
            <a:r>
              <a:rPr lang="en-US" sz="1200" dirty="0"/>
              <a:t> 3.0 drive) for OSD drive.</a:t>
            </a:r>
          </a:p>
        </p:txBody>
      </p:sp>
      <p:sp>
        <p:nvSpPr>
          <p:cNvPr id="10" name="Rectangle 9"/>
          <p:cNvSpPr/>
          <p:nvPr/>
        </p:nvSpPr>
        <p:spPr>
          <a:xfrm>
            <a:off x="4417598" y="400498"/>
            <a:ext cx="2775696" cy="461665"/>
          </a:xfrm>
          <a:prstGeom prst="rect">
            <a:avLst/>
          </a:prstGeom>
        </p:spPr>
        <p:txBody>
          <a:bodyPr wrap="none">
            <a:spAutoFit/>
          </a:bodyPr>
          <a:lstStyle/>
          <a:p>
            <a:r>
              <a:rPr lang="en-US" sz="1200" b="1" dirty="0" smtClean="0">
                <a:solidFill>
                  <a:srgbClr val="002060"/>
                </a:solidFill>
              </a:rPr>
              <a:t>Steps</a:t>
            </a:r>
          </a:p>
          <a:p>
            <a:r>
              <a:rPr lang="en-US" sz="1200" dirty="0"/>
              <a:t>Create </a:t>
            </a:r>
            <a:r>
              <a:rPr lang="en-US" sz="1200" b="1" dirty="0" err="1"/>
              <a:t>cephadmin</a:t>
            </a:r>
            <a:r>
              <a:rPr lang="en-US" sz="1200" dirty="0"/>
              <a:t> user and set to </a:t>
            </a:r>
            <a:r>
              <a:rPr lang="en-US" sz="1200" dirty="0" err="1"/>
              <a:t>sudoer</a:t>
            </a:r>
            <a:endParaRPr lang="en-US" sz="1200" b="1" dirty="0">
              <a:solidFill>
                <a:srgbClr val="002060"/>
              </a:solidFill>
            </a:endParaRPr>
          </a:p>
        </p:txBody>
      </p:sp>
      <p:sp>
        <p:nvSpPr>
          <p:cNvPr id="11" name="Rectangle 10"/>
          <p:cNvSpPr/>
          <p:nvPr/>
        </p:nvSpPr>
        <p:spPr>
          <a:xfrm>
            <a:off x="4472189" y="1008090"/>
            <a:ext cx="4166844" cy="923330"/>
          </a:xfrm>
          <a:prstGeom prst="rect">
            <a:avLst/>
          </a:prstGeom>
        </p:spPr>
        <p:txBody>
          <a:bodyPr wrap="square">
            <a:spAutoFit/>
          </a:bodyPr>
          <a:lstStyle/>
          <a:p>
            <a:r>
              <a:rPr lang="en-US" sz="600" dirty="0" smtClean="0"/>
              <a:t>root@GPU111</a:t>
            </a:r>
            <a:r>
              <a:rPr lang="en-US" sz="600" dirty="0"/>
              <a:t>:~# </a:t>
            </a:r>
            <a:r>
              <a:rPr lang="en-US" sz="600" dirty="0" err="1"/>
              <a:t>useradd</a:t>
            </a:r>
            <a:r>
              <a:rPr lang="en-US" sz="600" dirty="0"/>
              <a:t> -m -s /bin/bash </a:t>
            </a:r>
            <a:r>
              <a:rPr lang="en-US" sz="600" dirty="0" err="1"/>
              <a:t>cephadmin</a:t>
            </a:r>
            <a:endParaRPr lang="en-US" sz="600" dirty="0"/>
          </a:p>
          <a:p>
            <a:r>
              <a:rPr lang="en-US" sz="600" dirty="0" smtClean="0"/>
              <a:t>root@GPU111</a:t>
            </a:r>
            <a:r>
              <a:rPr lang="en-US" sz="600" dirty="0"/>
              <a:t>:~# </a:t>
            </a:r>
            <a:r>
              <a:rPr lang="en-US" sz="600" dirty="0" err="1"/>
              <a:t>passwd</a:t>
            </a:r>
            <a:r>
              <a:rPr lang="en-US" sz="600" dirty="0"/>
              <a:t> </a:t>
            </a:r>
            <a:r>
              <a:rPr lang="en-US" sz="600" dirty="0" err="1"/>
              <a:t>cephadmin</a:t>
            </a:r>
            <a:endParaRPr lang="en-US" sz="600" dirty="0"/>
          </a:p>
          <a:p>
            <a:r>
              <a:rPr lang="en-US" sz="600" dirty="0"/>
              <a:t>New password: </a:t>
            </a:r>
          </a:p>
          <a:p>
            <a:r>
              <a:rPr lang="en-US" sz="600" dirty="0"/>
              <a:t>Retype new password: </a:t>
            </a:r>
          </a:p>
          <a:p>
            <a:r>
              <a:rPr lang="en-US" sz="600" dirty="0" err="1"/>
              <a:t>passwd</a:t>
            </a:r>
            <a:r>
              <a:rPr lang="en-US" sz="600" dirty="0"/>
              <a:t>: password updated successfully</a:t>
            </a:r>
          </a:p>
          <a:p>
            <a:r>
              <a:rPr lang="en-US" sz="600" dirty="0" smtClean="0"/>
              <a:t>root@GPU111</a:t>
            </a:r>
            <a:r>
              <a:rPr lang="en-US" sz="600" dirty="0"/>
              <a:t>:~# echo "</a:t>
            </a:r>
            <a:r>
              <a:rPr lang="en-US" sz="600" dirty="0" err="1"/>
              <a:t>cephadmin</a:t>
            </a:r>
            <a:r>
              <a:rPr lang="en-US" sz="600" dirty="0"/>
              <a:t> ALL=(ALL:ALL) NOPASSWD:ALL" &gt;&gt; /</a:t>
            </a:r>
            <a:r>
              <a:rPr lang="en-US" sz="600" dirty="0" err="1"/>
              <a:t>etc</a:t>
            </a:r>
            <a:r>
              <a:rPr lang="en-US" sz="600" dirty="0"/>
              <a:t>/</a:t>
            </a:r>
            <a:r>
              <a:rPr lang="en-US" sz="600" dirty="0" err="1"/>
              <a:t>sudoers.d</a:t>
            </a:r>
            <a:r>
              <a:rPr lang="en-US" sz="600" dirty="0"/>
              <a:t>/</a:t>
            </a:r>
            <a:r>
              <a:rPr lang="en-US" sz="600" dirty="0" err="1"/>
              <a:t>cephadmin</a:t>
            </a:r>
            <a:endParaRPr lang="en-US" sz="600" dirty="0"/>
          </a:p>
          <a:p>
            <a:r>
              <a:rPr lang="en-US" sz="600" dirty="0" smtClean="0"/>
              <a:t>root@GPU111</a:t>
            </a:r>
            <a:r>
              <a:rPr lang="en-US" sz="600" dirty="0"/>
              <a:t>:~# ls /</a:t>
            </a:r>
            <a:r>
              <a:rPr lang="en-US" sz="600" dirty="0" err="1"/>
              <a:t>etc</a:t>
            </a:r>
            <a:r>
              <a:rPr lang="en-US" sz="600" dirty="0"/>
              <a:t>/</a:t>
            </a:r>
            <a:r>
              <a:rPr lang="en-US" sz="600" dirty="0" err="1"/>
              <a:t>sudoers.d</a:t>
            </a:r>
            <a:r>
              <a:rPr lang="en-US" sz="600" dirty="0"/>
              <a:t>/</a:t>
            </a:r>
          </a:p>
          <a:p>
            <a:r>
              <a:rPr lang="en-US" sz="600" dirty="0" err="1"/>
              <a:t>cephadmin</a:t>
            </a:r>
            <a:r>
              <a:rPr lang="en-US" sz="600" dirty="0"/>
              <a:t>  README     </a:t>
            </a:r>
          </a:p>
          <a:p>
            <a:r>
              <a:rPr lang="en-US" sz="600" dirty="0" smtClean="0"/>
              <a:t>root@GPU111</a:t>
            </a:r>
            <a:r>
              <a:rPr lang="en-US" sz="600" dirty="0"/>
              <a:t>:~# </a:t>
            </a:r>
            <a:r>
              <a:rPr lang="en-US" sz="600" dirty="0" err="1"/>
              <a:t>chmod</a:t>
            </a:r>
            <a:r>
              <a:rPr lang="en-US" sz="600" dirty="0"/>
              <a:t> 0440 /</a:t>
            </a:r>
            <a:r>
              <a:rPr lang="en-US" sz="600" dirty="0" err="1"/>
              <a:t>etc</a:t>
            </a:r>
            <a:r>
              <a:rPr lang="en-US" sz="600" dirty="0"/>
              <a:t>/</a:t>
            </a:r>
            <a:r>
              <a:rPr lang="en-US" sz="600" dirty="0" err="1"/>
              <a:t>sudoers.d</a:t>
            </a:r>
            <a:r>
              <a:rPr lang="en-US" sz="600" dirty="0"/>
              <a:t>/</a:t>
            </a:r>
            <a:r>
              <a:rPr lang="en-US" sz="600" dirty="0" err="1"/>
              <a:t>cephadmin</a:t>
            </a:r>
            <a:endParaRPr lang="en-US" sz="600" dirty="0"/>
          </a:p>
        </p:txBody>
      </p:sp>
      <p:sp>
        <p:nvSpPr>
          <p:cNvPr id="12" name="Rectangle 11"/>
          <p:cNvSpPr/>
          <p:nvPr/>
        </p:nvSpPr>
        <p:spPr>
          <a:xfrm>
            <a:off x="4472189" y="986765"/>
            <a:ext cx="4371369" cy="103698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3" name="Rectangle 12"/>
          <p:cNvSpPr/>
          <p:nvPr/>
        </p:nvSpPr>
        <p:spPr>
          <a:xfrm>
            <a:off x="4472189" y="2155411"/>
            <a:ext cx="1466812" cy="276999"/>
          </a:xfrm>
          <a:prstGeom prst="rect">
            <a:avLst/>
          </a:prstGeom>
        </p:spPr>
        <p:txBody>
          <a:bodyPr wrap="none">
            <a:spAutoFit/>
          </a:bodyPr>
          <a:lstStyle/>
          <a:p>
            <a:r>
              <a:rPr lang="en-US" sz="1200" dirty="0"/>
              <a:t>Install </a:t>
            </a:r>
            <a:r>
              <a:rPr lang="en-US" sz="1200" b="1" dirty="0" err="1"/>
              <a:t>cephadm</a:t>
            </a:r>
            <a:r>
              <a:rPr lang="en-US" sz="1200" dirty="0"/>
              <a:t> tool</a:t>
            </a:r>
            <a:endParaRPr lang="en-US" sz="1200" b="1" dirty="0">
              <a:solidFill>
                <a:srgbClr val="002060"/>
              </a:solidFill>
            </a:endParaRPr>
          </a:p>
        </p:txBody>
      </p:sp>
      <p:sp>
        <p:nvSpPr>
          <p:cNvPr id="14" name="Rectangle 13"/>
          <p:cNvSpPr/>
          <p:nvPr/>
        </p:nvSpPr>
        <p:spPr>
          <a:xfrm>
            <a:off x="4526779" y="2453735"/>
            <a:ext cx="4112253" cy="2215991"/>
          </a:xfrm>
          <a:prstGeom prst="rect">
            <a:avLst/>
          </a:prstGeom>
        </p:spPr>
        <p:txBody>
          <a:bodyPr wrap="square">
            <a:spAutoFit/>
          </a:bodyPr>
          <a:lstStyle/>
          <a:p>
            <a:r>
              <a:rPr lang="en-US" sz="600" dirty="0" smtClean="0"/>
              <a:t>root@GPU111</a:t>
            </a:r>
            <a:r>
              <a:rPr lang="en-US" sz="600" dirty="0"/>
              <a:t>:~# apt install </a:t>
            </a:r>
            <a:r>
              <a:rPr lang="en-US" sz="600" dirty="0" err="1"/>
              <a:t>cephadm</a:t>
            </a:r>
            <a:endParaRPr lang="en-US" sz="600" dirty="0"/>
          </a:p>
          <a:p>
            <a:r>
              <a:rPr lang="en-US" sz="600" dirty="0"/>
              <a:t>Reading package lists... Done</a:t>
            </a:r>
          </a:p>
          <a:p>
            <a:r>
              <a:rPr lang="en-US" sz="600" dirty="0"/>
              <a:t>Building dependency tree       </a:t>
            </a:r>
          </a:p>
          <a:p>
            <a:r>
              <a:rPr lang="en-US" sz="600" dirty="0"/>
              <a:t>Reading state information... Done</a:t>
            </a:r>
          </a:p>
          <a:p>
            <a:r>
              <a:rPr lang="en-US" sz="600" dirty="0"/>
              <a:t>The following packages were automatically installed and are no longer required:</a:t>
            </a:r>
          </a:p>
          <a:p>
            <a:r>
              <a:rPr lang="en-US" sz="600" dirty="0"/>
              <a:t>  libfwupdplugin1 libisns0</a:t>
            </a:r>
          </a:p>
          <a:p>
            <a:r>
              <a:rPr lang="en-US" sz="600" dirty="0"/>
              <a:t>Use 'apt </a:t>
            </a:r>
            <a:r>
              <a:rPr lang="en-US" sz="600" dirty="0" err="1"/>
              <a:t>autoremove</a:t>
            </a:r>
            <a:r>
              <a:rPr lang="en-US" sz="600" dirty="0"/>
              <a:t>' to remove them.</a:t>
            </a:r>
          </a:p>
          <a:p>
            <a:r>
              <a:rPr lang="en-US" sz="600" dirty="0"/>
              <a:t>Recommended packages:</a:t>
            </a:r>
          </a:p>
          <a:p>
            <a:r>
              <a:rPr lang="en-US" sz="600" dirty="0"/>
              <a:t>  docker.io</a:t>
            </a:r>
          </a:p>
          <a:p>
            <a:r>
              <a:rPr lang="en-US" sz="600" dirty="0"/>
              <a:t>The following NEW packages will be installed:</a:t>
            </a:r>
          </a:p>
          <a:p>
            <a:r>
              <a:rPr lang="en-US" sz="600" dirty="0"/>
              <a:t>  </a:t>
            </a:r>
            <a:r>
              <a:rPr lang="en-US" sz="600" dirty="0" err="1"/>
              <a:t>cephadm</a:t>
            </a:r>
            <a:endParaRPr lang="en-US" sz="600" dirty="0"/>
          </a:p>
          <a:p>
            <a:r>
              <a:rPr lang="en-US" sz="600" dirty="0"/>
              <a:t>0 upgraded, 1 newly installed, 0 to remove and 11 not upgraded.</a:t>
            </a:r>
          </a:p>
          <a:p>
            <a:r>
              <a:rPr lang="en-US" sz="600" dirty="0"/>
              <a:t>Need to get 58.5 kB of archives.</a:t>
            </a:r>
          </a:p>
          <a:p>
            <a:r>
              <a:rPr lang="en-US" sz="600" dirty="0"/>
              <a:t>After this operation, 307 kB of additional disk space will be used.</a:t>
            </a:r>
          </a:p>
          <a:p>
            <a:r>
              <a:rPr lang="en-US" sz="600" dirty="0"/>
              <a:t>Get:1 http://au.archive.ubuntu.com/ubuntu focal-updates/universe amd64 </a:t>
            </a:r>
            <a:r>
              <a:rPr lang="en-US" sz="600" dirty="0" err="1"/>
              <a:t>cephadm</a:t>
            </a:r>
            <a:r>
              <a:rPr lang="en-US" sz="600" dirty="0"/>
              <a:t> amd64 15.2.16-0ubuntu0.20.04.1 [58.5 kB]</a:t>
            </a:r>
          </a:p>
          <a:p>
            <a:r>
              <a:rPr lang="en-US" sz="600" dirty="0"/>
              <a:t>Fetched 58.5 kB in 0s (665 kB/s)   </a:t>
            </a:r>
          </a:p>
          <a:p>
            <a:r>
              <a:rPr lang="en-US" sz="600" dirty="0"/>
              <a:t>Selecting previously unselected package </a:t>
            </a:r>
            <a:r>
              <a:rPr lang="en-US" sz="600" dirty="0" err="1"/>
              <a:t>cephadm</a:t>
            </a:r>
            <a:r>
              <a:rPr lang="en-US" sz="600" dirty="0"/>
              <a:t>.</a:t>
            </a:r>
          </a:p>
          <a:p>
            <a:r>
              <a:rPr lang="en-US" sz="600" dirty="0"/>
              <a:t>(Reading database ... 130835 files and directories currently installed.)</a:t>
            </a:r>
          </a:p>
          <a:p>
            <a:r>
              <a:rPr lang="en-US" sz="600" dirty="0"/>
              <a:t>Preparing to unpack .../cephadm_15.2.16-0ubuntu0.20.04.1_amd64.deb ...</a:t>
            </a:r>
          </a:p>
          <a:p>
            <a:r>
              <a:rPr lang="en-US" sz="600" dirty="0"/>
              <a:t>Unpacking </a:t>
            </a:r>
            <a:r>
              <a:rPr lang="en-US" sz="600" dirty="0" err="1"/>
              <a:t>cephadm</a:t>
            </a:r>
            <a:r>
              <a:rPr lang="en-US" sz="600" dirty="0"/>
              <a:t> (15.2.16-0ubuntu0.20.04.1) ...</a:t>
            </a:r>
          </a:p>
          <a:p>
            <a:r>
              <a:rPr lang="en-US" sz="600" dirty="0"/>
              <a:t>Setting up </a:t>
            </a:r>
            <a:r>
              <a:rPr lang="en-US" sz="600" dirty="0" err="1"/>
              <a:t>cephadm</a:t>
            </a:r>
            <a:r>
              <a:rPr lang="en-US" sz="600" dirty="0"/>
              <a:t> (15.2.16-0ubuntu0.20.04.1) ...</a:t>
            </a:r>
          </a:p>
          <a:p>
            <a:r>
              <a:rPr lang="en-US" sz="600" dirty="0"/>
              <a:t>Adding system user </a:t>
            </a:r>
            <a:r>
              <a:rPr lang="en-US" sz="600" dirty="0" err="1"/>
              <a:t>cephadm</a:t>
            </a:r>
            <a:r>
              <a:rPr lang="en-US" sz="600" dirty="0"/>
              <a:t>....done</a:t>
            </a:r>
          </a:p>
        </p:txBody>
      </p:sp>
      <p:sp>
        <p:nvSpPr>
          <p:cNvPr id="15" name="Rectangle 14"/>
          <p:cNvSpPr/>
          <p:nvPr/>
        </p:nvSpPr>
        <p:spPr>
          <a:xfrm>
            <a:off x="4526780" y="2432410"/>
            <a:ext cx="4371369" cy="223731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3" name="Rectangle 2"/>
          <p:cNvSpPr/>
          <p:nvPr/>
        </p:nvSpPr>
        <p:spPr>
          <a:xfrm>
            <a:off x="4526779" y="4691051"/>
            <a:ext cx="4490113" cy="276999"/>
          </a:xfrm>
          <a:prstGeom prst="rect">
            <a:avLst/>
          </a:prstGeom>
        </p:spPr>
        <p:txBody>
          <a:bodyPr wrap="square">
            <a:spAutoFit/>
          </a:bodyPr>
          <a:lstStyle/>
          <a:p>
            <a:r>
              <a:rPr lang="en-US" sz="1200" b="1" dirty="0"/>
              <a:t>NOTE</a:t>
            </a:r>
            <a:r>
              <a:rPr lang="en-US" sz="1200" dirty="0"/>
              <a:t>: or install via curl to fetch most recent version. For example</a:t>
            </a:r>
          </a:p>
        </p:txBody>
      </p:sp>
    </p:spTree>
    <p:extLst>
      <p:ext uri="{BB962C8B-B14F-4D97-AF65-F5344CB8AC3E}">
        <p14:creationId xmlns:p14="http://schemas.microsoft.com/office/powerpoint/2010/main" val="3857431380"/>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4" name="Rectangle 3"/>
          <p:cNvSpPr/>
          <p:nvPr/>
        </p:nvSpPr>
        <p:spPr>
          <a:xfrm>
            <a:off x="100819" y="1128087"/>
            <a:ext cx="1816716" cy="276999"/>
          </a:xfrm>
          <a:prstGeom prst="rect">
            <a:avLst/>
          </a:prstGeom>
        </p:spPr>
        <p:txBody>
          <a:bodyPr wrap="none">
            <a:spAutoFit/>
          </a:bodyPr>
          <a:lstStyle/>
          <a:p>
            <a:r>
              <a:rPr lang="en-US" sz="1200" dirty="0"/>
              <a:t>Switch to </a:t>
            </a:r>
            <a:r>
              <a:rPr lang="en-US" sz="1200" b="1" dirty="0" err="1"/>
              <a:t>cephadmin</a:t>
            </a:r>
            <a:r>
              <a:rPr lang="en-US" sz="1200" dirty="0"/>
              <a:t> user</a:t>
            </a:r>
            <a:endParaRPr lang="en-US" sz="1200" b="1" dirty="0">
              <a:solidFill>
                <a:srgbClr val="002060"/>
              </a:solidFill>
            </a:endParaRPr>
          </a:p>
        </p:txBody>
      </p:sp>
      <p:sp>
        <p:nvSpPr>
          <p:cNvPr id="7" name="Rectangle 6"/>
          <p:cNvSpPr/>
          <p:nvPr/>
        </p:nvSpPr>
        <p:spPr>
          <a:xfrm>
            <a:off x="155410" y="710195"/>
            <a:ext cx="4371369" cy="276999"/>
          </a:xfrm>
          <a:prstGeom prst="rect">
            <a:avLst/>
          </a:prstGeom>
        </p:spPr>
        <p:txBody>
          <a:bodyPr wrap="square">
            <a:spAutoFit/>
          </a:bodyPr>
          <a:lstStyle/>
          <a:p>
            <a:r>
              <a:rPr lang="en-US" sz="600" dirty="0"/>
              <a:t>root@node1:~# curl --silent --remote-name --location https://github.com/ceph/ceph/raw/quincy/src/cephadm/cephadm</a:t>
            </a:r>
          </a:p>
          <a:p>
            <a:r>
              <a:rPr lang="en-US" sz="600" dirty="0"/>
              <a:t>root@node1:~# </a:t>
            </a:r>
            <a:r>
              <a:rPr lang="en-US" sz="600" dirty="0" err="1"/>
              <a:t>chmod</a:t>
            </a:r>
            <a:r>
              <a:rPr lang="en-US" sz="600" dirty="0"/>
              <a:t> +x ./</a:t>
            </a:r>
            <a:r>
              <a:rPr lang="en-US" sz="600" dirty="0" err="1"/>
              <a:t>cephadm</a:t>
            </a:r>
            <a:endParaRPr lang="en-US" sz="600" dirty="0"/>
          </a:p>
        </p:txBody>
      </p:sp>
      <p:sp>
        <p:nvSpPr>
          <p:cNvPr id="8" name="Rectangle 7"/>
          <p:cNvSpPr/>
          <p:nvPr/>
        </p:nvSpPr>
        <p:spPr>
          <a:xfrm>
            <a:off x="155411" y="688870"/>
            <a:ext cx="4371369" cy="29832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155410" y="1428805"/>
            <a:ext cx="1550558" cy="276999"/>
          </a:xfrm>
          <a:prstGeom prst="rect">
            <a:avLst/>
          </a:prstGeom>
        </p:spPr>
        <p:txBody>
          <a:bodyPr wrap="square">
            <a:spAutoFit/>
          </a:bodyPr>
          <a:lstStyle/>
          <a:p>
            <a:r>
              <a:rPr lang="en-US" sz="600" dirty="0" smtClean="0"/>
              <a:t>root@GPU111</a:t>
            </a:r>
            <a:r>
              <a:rPr lang="en-US" sz="600" dirty="0"/>
              <a:t>:~# </a:t>
            </a:r>
            <a:r>
              <a:rPr lang="en-US" sz="600" dirty="0" err="1"/>
              <a:t>su</a:t>
            </a:r>
            <a:r>
              <a:rPr lang="en-US" sz="600" dirty="0"/>
              <a:t> </a:t>
            </a:r>
            <a:r>
              <a:rPr lang="en-US" sz="600" dirty="0" err="1"/>
              <a:t>cephadmin</a:t>
            </a:r>
            <a:r>
              <a:rPr lang="en-US" sz="600" dirty="0"/>
              <a:t> -</a:t>
            </a:r>
          </a:p>
          <a:p>
            <a:r>
              <a:rPr lang="en-US" sz="600" dirty="0" smtClean="0"/>
              <a:t>cephadmin@GPU111</a:t>
            </a:r>
            <a:r>
              <a:rPr lang="en-US" sz="600" dirty="0"/>
              <a:t>:/root$ </a:t>
            </a:r>
          </a:p>
        </p:txBody>
      </p:sp>
      <p:sp>
        <p:nvSpPr>
          <p:cNvPr id="10" name="Rectangle 9"/>
          <p:cNvSpPr/>
          <p:nvPr/>
        </p:nvSpPr>
        <p:spPr>
          <a:xfrm>
            <a:off x="155410" y="1407480"/>
            <a:ext cx="4371369" cy="29832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1" name="Rectangle 10"/>
          <p:cNvSpPr/>
          <p:nvPr/>
        </p:nvSpPr>
        <p:spPr>
          <a:xfrm>
            <a:off x="155410" y="1825372"/>
            <a:ext cx="1663212" cy="276999"/>
          </a:xfrm>
          <a:prstGeom prst="rect">
            <a:avLst/>
          </a:prstGeom>
        </p:spPr>
        <p:txBody>
          <a:bodyPr wrap="none">
            <a:spAutoFit/>
          </a:bodyPr>
          <a:lstStyle/>
          <a:p>
            <a:r>
              <a:rPr lang="en-US" sz="1200" dirty="0"/>
              <a:t>Bootstrap a new cluster</a:t>
            </a:r>
            <a:endParaRPr lang="en-US" sz="1200" b="1" dirty="0">
              <a:solidFill>
                <a:srgbClr val="002060"/>
              </a:solidFill>
            </a:endParaRPr>
          </a:p>
        </p:txBody>
      </p:sp>
      <p:sp>
        <p:nvSpPr>
          <p:cNvPr id="12" name="Rectangle 11"/>
          <p:cNvSpPr/>
          <p:nvPr/>
        </p:nvSpPr>
        <p:spPr>
          <a:xfrm>
            <a:off x="210000" y="1981310"/>
            <a:ext cx="4716841" cy="10433625"/>
          </a:xfrm>
          <a:prstGeom prst="rect">
            <a:avLst/>
          </a:prstGeom>
        </p:spPr>
        <p:txBody>
          <a:bodyPr wrap="square">
            <a:spAutoFit/>
          </a:bodyPr>
          <a:lstStyle/>
          <a:p>
            <a:r>
              <a:rPr lang="en-US" sz="800" dirty="0" smtClean="0"/>
              <a:t>cephadmin@GPU111</a:t>
            </a:r>
            <a:r>
              <a:rPr lang="en-US" sz="800" dirty="0"/>
              <a:t>:~$ </a:t>
            </a:r>
            <a:r>
              <a:rPr lang="en-US" sz="800" dirty="0" err="1"/>
              <a:t>sudo</a:t>
            </a:r>
            <a:r>
              <a:rPr lang="en-US" sz="800" dirty="0"/>
              <a:t> </a:t>
            </a:r>
            <a:r>
              <a:rPr lang="en-US" sz="800" dirty="0" err="1"/>
              <a:t>cephadm</a:t>
            </a:r>
            <a:r>
              <a:rPr lang="en-US" sz="800" dirty="0"/>
              <a:t> bootstrap --mon-</a:t>
            </a:r>
            <a:r>
              <a:rPr lang="en-US" sz="800" dirty="0" err="1"/>
              <a:t>ip</a:t>
            </a:r>
            <a:r>
              <a:rPr lang="en-US" sz="800" dirty="0"/>
              <a:t> 192.168.1.23</a:t>
            </a:r>
          </a:p>
          <a:p>
            <a:r>
              <a:rPr lang="en-US" sz="800" dirty="0"/>
              <a:t>Creating directory /</a:t>
            </a:r>
            <a:r>
              <a:rPr lang="en-US" sz="800" dirty="0" err="1"/>
              <a:t>etc</a:t>
            </a:r>
            <a:r>
              <a:rPr lang="en-US" sz="800" dirty="0"/>
              <a:t>/</a:t>
            </a:r>
            <a:r>
              <a:rPr lang="en-US" sz="800" dirty="0" err="1"/>
              <a:t>ceph</a:t>
            </a:r>
            <a:r>
              <a:rPr lang="en-US" sz="800" dirty="0"/>
              <a:t> for </a:t>
            </a:r>
            <a:r>
              <a:rPr lang="en-US" sz="800" dirty="0" err="1"/>
              <a:t>ceph.conf</a:t>
            </a:r>
            <a:endParaRPr lang="en-US" sz="800" dirty="0"/>
          </a:p>
          <a:p>
            <a:r>
              <a:rPr lang="en-US" sz="800" dirty="0"/>
              <a:t>Verifying </a:t>
            </a:r>
            <a:r>
              <a:rPr lang="en-US" sz="800" dirty="0" err="1"/>
              <a:t>podman|docker</a:t>
            </a:r>
            <a:r>
              <a:rPr lang="en-US" sz="800" dirty="0"/>
              <a:t> is present...</a:t>
            </a:r>
          </a:p>
          <a:p>
            <a:r>
              <a:rPr lang="en-US" sz="800" dirty="0"/>
              <a:t>Verifying lvm2 is present...</a:t>
            </a:r>
          </a:p>
          <a:p>
            <a:r>
              <a:rPr lang="en-US" sz="800" dirty="0"/>
              <a:t>Verifying time synchronization is in place...</a:t>
            </a:r>
          </a:p>
          <a:p>
            <a:r>
              <a:rPr lang="en-US" sz="800" dirty="0"/>
              <a:t>Unit </a:t>
            </a:r>
            <a:r>
              <a:rPr lang="en-US" sz="800" dirty="0" err="1"/>
              <a:t>chrony.service</a:t>
            </a:r>
            <a:r>
              <a:rPr lang="en-US" sz="800" dirty="0"/>
              <a:t> is enabled and running</a:t>
            </a:r>
          </a:p>
          <a:p>
            <a:r>
              <a:rPr lang="en-US" sz="800" dirty="0"/>
              <a:t>Repeating the final host check...</a:t>
            </a:r>
          </a:p>
          <a:p>
            <a:r>
              <a:rPr lang="en-US" sz="800" dirty="0" err="1"/>
              <a:t>podman|docker</a:t>
            </a:r>
            <a:r>
              <a:rPr lang="en-US" sz="800" dirty="0"/>
              <a:t> (/</a:t>
            </a:r>
            <a:r>
              <a:rPr lang="en-US" sz="800" dirty="0" err="1"/>
              <a:t>usr</a:t>
            </a:r>
            <a:r>
              <a:rPr lang="en-US" sz="800" dirty="0"/>
              <a:t>/bin/</a:t>
            </a:r>
            <a:r>
              <a:rPr lang="en-US" sz="800" dirty="0" err="1"/>
              <a:t>docker</a:t>
            </a:r>
            <a:r>
              <a:rPr lang="en-US" sz="800" dirty="0"/>
              <a:t>) is present</a:t>
            </a:r>
          </a:p>
          <a:p>
            <a:r>
              <a:rPr lang="en-US" sz="800" dirty="0" err="1"/>
              <a:t>systemctl</a:t>
            </a:r>
            <a:r>
              <a:rPr lang="en-US" sz="800" dirty="0"/>
              <a:t> is present</a:t>
            </a:r>
          </a:p>
          <a:p>
            <a:r>
              <a:rPr lang="en-US" sz="800" dirty="0" err="1"/>
              <a:t>lvcreate</a:t>
            </a:r>
            <a:r>
              <a:rPr lang="en-US" sz="800" dirty="0"/>
              <a:t> is present</a:t>
            </a:r>
          </a:p>
          <a:p>
            <a:r>
              <a:rPr lang="en-US" sz="800" dirty="0"/>
              <a:t>Unit </a:t>
            </a:r>
            <a:r>
              <a:rPr lang="en-US" sz="800" dirty="0" err="1"/>
              <a:t>chrony.service</a:t>
            </a:r>
            <a:r>
              <a:rPr lang="en-US" sz="800" dirty="0"/>
              <a:t> is enabled and running</a:t>
            </a:r>
          </a:p>
          <a:p>
            <a:r>
              <a:rPr lang="en-US" sz="800" dirty="0"/>
              <a:t>Host looks OK</a:t>
            </a:r>
          </a:p>
          <a:p>
            <a:r>
              <a:rPr lang="en-US" sz="800" dirty="0"/>
              <a:t>Cluster </a:t>
            </a:r>
            <a:r>
              <a:rPr lang="en-US" sz="800" dirty="0" err="1"/>
              <a:t>fsid</a:t>
            </a:r>
            <a:r>
              <a:rPr lang="en-US" sz="800" dirty="0"/>
              <a:t>: 16e21856-6030-11ed-8a24-db02e0e54b22</a:t>
            </a:r>
          </a:p>
          <a:p>
            <a:r>
              <a:rPr lang="en-US" sz="800" dirty="0"/>
              <a:t>Verifying IP 192.168.1.23 port 3300 ...</a:t>
            </a:r>
          </a:p>
          <a:p>
            <a:r>
              <a:rPr lang="en-US" sz="800" dirty="0"/>
              <a:t>Verifying IP 192.168.1.23 port 6789 ...</a:t>
            </a:r>
          </a:p>
          <a:p>
            <a:r>
              <a:rPr lang="en-US" sz="800" dirty="0"/>
              <a:t>Mon IP 192.168.1.23 is in CIDR network 192.168.1.0/24</a:t>
            </a:r>
          </a:p>
          <a:p>
            <a:r>
              <a:rPr lang="en-US" sz="800" dirty="0"/>
              <a:t>Pulling container image quay.io/</a:t>
            </a:r>
            <a:r>
              <a:rPr lang="en-US" sz="800" dirty="0" err="1"/>
              <a:t>ceph</a:t>
            </a:r>
            <a:r>
              <a:rPr lang="en-US" sz="800" dirty="0"/>
              <a:t>/ceph:v15...</a:t>
            </a:r>
          </a:p>
          <a:p>
            <a:r>
              <a:rPr lang="en-US" sz="800" dirty="0"/>
              <a:t>Extracting </a:t>
            </a:r>
            <a:r>
              <a:rPr lang="en-US" sz="800" dirty="0" err="1"/>
              <a:t>ceph</a:t>
            </a:r>
            <a:r>
              <a:rPr lang="en-US" sz="800" dirty="0"/>
              <a:t> user </a:t>
            </a:r>
            <a:r>
              <a:rPr lang="en-US" sz="800" dirty="0" err="1"/>
              <a:t>uid</a:t>
            </a:r>
            <a:r>
              <a:rPr lang="en-US" sz="800" dirty="0"/>
              <a:t>/</a:t>
            </a:r>
            <a:r>
              <a:rPr lang="en-US" sz="800" dirty="0" err="1"/>
              <a:t>gid</a:t>
            </a:r>
            <a:r>
              <a:rPr lang="en-US" sz="800" dirty="0"/>
              <a:t> from container image...</a:t>
            </a:r>
          </a:p>
          <a:p>
            <a:r>
              <a:rPr lang="en-US" sz="800" dirty="0"/>
              <a:t>Creating initial keys...</a:t>
            </a:r>
          </a:p>
          <a:p>
            <a:r>
              <a:rPr lang="en-US" sz="800" dirty="0"/>
              <a:t>Creating initial </a:t>
            </a:r>
            <a:r>
              <a:rPr lang="en-US" sz="800" dirty="0" err="1"/>
              <a:t>monmap</a:t>
            </a:r>
            <a:r>
              <a:rPr lang="en-US" sz="800" dirty="0"/>
              <a:t>...</a:t>
            </a:r>
          </a:p>
          <a:p>
            <a:r>
              <a:rPr lang="en-US" sz="800" dirty="0"/>
              <a:t>Creating mon...</a:t>
            </a:r>
          </a:p>
          <a:p>
            <a:r>
              <a:rPr lang="en-US" sz="800" dirty="0"/>
              <a:t>Waiting for mon to start...</a:t>
            </a:r>
          </a:p>
          <a:p>
            <a:r>
              <a:rPr lang="en-US" sz="800" dirty="0"/>
              <a:t>Waiting for mon...</a:t>
            </a:r>
          </a:p>
          <a:p>
            <a:r>
              <a:rPr lang="en-US" sz="800" dirty="0"/>
              <a:t>mon is available</a:t>
            </a:r>
          </a:p>
          <a:p>
            <a:r>
              <a:rPr lang="en-US" sz="800" dirty="0"/>
              <a:t>Assimilating anything we can from </a:t>
            </a:r>
            <a:r>
              <a:rPr lang="en-US" sz="800" dirty="0" err="1"/>
              <a:t>ceph.conf</a:t>
            </a:r>
            <a:r>
              <a:rPr lang="en-US" sz="800" dirty="0"/>
              <a:t>...</a:t>
            </a:r>
          </a:p>
          <a:p>
            <a:r>
              <a:rPr lang="en-US" sz="800" dirty="0"/>
              <a:t>Generating new minimal </a:t>
            </a:r>
            <a:r>
              <a:rPr lang="en-US" sz="800" dirty="0" err="1"/>
              <a:t>ceph.conf</a:t>
            </a:r>
            <a:r>
              <a:rPr lang="en-US" sz="800" dirty="0"/>
              <a:t>...</a:t>
            </a:r>
          </a:p>
          <a:p>
            <a:r>
              <a:rPr lang="en-US" sz="800" dirty="0"/>
              <a:t>Restarting the monitor...</a:t>
            </a:r>
          </a:p>
          <a:p>
            <a:r>
              <a:rPr lang="en-US" sz="800" dirty="0"/>
              <a:t>Setting mon </a:t>
            </a:r>
            <a:r>
              <a:rPr lang="en-US" sz="800" dirty="0" err="1"/>
              <a:t>public_network</a:t>
            </a:r>
            <a:r>
              <a:rPr lang="en-US" sz="800" dirty="0"/>
              <a:t>...</a:t>
            </a:r>
          </a:p>
          <a:p>
            <a:r>
              <a:rPr lang="en-US" sz="800" dirty="0"/>
              <a:t>Creating mgr...</a:t>
            </a:r>
          </a:p>
          <a:p>
            <a:r>
              <a:rPr lang="en-US" sz="800" dirty="0"/>
              <a:t>Verifying port 9283 ...</a:t>
            </a:r>
          </a:p>
          <a:p>
            <a:r>
              <a:rPr lang="en-US" sz="800" dirty="0"/>
              <a:t>Wrote keyring to /</a:t>
            </a:r>
            <a:r>
              <a:rPr lang="en-US" sz="800" dirty="0" err="1"/>
              <a:t>etc</a:t>
            </a:r>
            <a:r>
              <a:rPr lang="en-US" sz="800" dirty="0"/>
              <a:t>/</a:t>
            </a:r>
            <a:r>
              <a:rPr lang="en-US" sz="800" dirty="0" err="1"/>
              <a:t>ceph</a:t>
            </a:r>
            <a:r>
              <a:rPr lang="en-US" sz="800" dirty="0"/>
              <a:t>/</a:t>
            </a:r>
            <a:r>
              <a:rPr lang="en-US" sz="800" dirty="0" err="1"/>
              <a:t>ceph.client.admin.keyring</a:t>
            </a:r>
            <a:endParaRPr lang="en-US" sz="800" dirty="0"/>
          </a:p>
          <a:p>
            <a:r>
              <a:rPr lang="en-US" sz="800" dirty="0"/>
              <a:t>Wrote </a:t>
            </a:r>
            <a:r>
              <a:rPr lang="en-US" sz="800" dirty="0" err="1"/>
              <a:t>config</a:t>
            </a:r>
            <a:r>
              <a:rPr lang="en-US" sz="800" dirty="0"/>
              <a:t> to /</a:t>
            </a:r>
            <a:r>
              <a:rPr lang="en-US" sz="800" dirty="0" err="1"/>
              <a:t>etc</a:t>
            </a:r>
            <a:r>
              <a:rPr lang="en-US" sz="800" dirty="0"/>
              <a:t>/</a:t>
            </a:r>
            <a:r>
              <a:rPr lang="en-US" sz="800" dirty="0" err="1"/>
              <a:t>ceph</a:t>
            </a:r>
            <a:r>
              <a:rPr lang="en-US" sz="800" dirty="0"/>
              <a:t>/</a:t>
            </a:r>
            <a:r>
              <a:rPr lang="en-US" sz="800" dirty="0" err="1"/>
              <a:t>ceph.conf</a:t>
            </a:r>
            <a:endParaRPr lang="en-US" sz="800" dirty="0"/>
          </a:p>
          <a:p>
            <a:r>
              <a:rPr lang="en-US" sz="800" dirty="0"/>
              <a:t>Waiting for </a:t>
            </a:r>
            <a:r>
              <a:rPr lang="en-US" sz="800" dirty="0" err="1"/>
              <a:t>mgr</a:t>
            </a:r>
            <a:r>
              <a:rPr lang="en-US" sz="800" dirty="0"/>
              <a:t> to start...</a:t>
            </a:r>
          </a:p>
          <a:p>
            <a:r>
              <a:rPr lang="en-US" sz="800" dirty="0"/>
              <a:t>Waiting for mgr...</a:t>
            </a:r>
          </a:p>
          <a:p>
            <a:r>
              <a:rPr lang="en-US" sz="800" dirty="0" err="1"/>
              <a:t>mgr</a:t>
            </a:r>
            <a:r>
              <a:rPr lang="en-US" sz="800" dirty="0"/>
              <a:t> not available, waiting (1/10)...</a:t>
            </a:r>
          </a:p>
          <a:p>
            <a:r>
              <a:rPr lang="en-US" sz="800" dirty="0" err="1"/>
              <a:t>mgr</a:t>
            </a:r>
            <a:r>
              <a:rPr lang="en-US" sz="800" dirty="0"/>
              <a:t> not available, waiting (2/10)...</a:t>
            </a:r>
          </a:p>
          <a:p>
            <a:r>
              <a:rPr lang="en-US" sz="800" dirty="0" err="1"/>
              <a:t>mgr</a:t>
            </a:r>
            <a:r>
              <a:rPr lang="en-US" sz="800" dirty="0"/>
              <a:t> not available, waiting (3/10)...</a:t>
            </a:r>
          </a:p>
          <a:p>
            <a:r>
              <a:rPr lang="en-US" sz="800" dirty="0" err="1"/>
              <a:t>mgr</a:t>
            </a:r>
            <a:r>
              <a:rPr lang="en-US" sz="800" dirty="0"/>
              <a:t> not available, waiting (4/10)...</a:t>
            </a:r>
          </a:p>
          <a:p>
            <a:r>
              <a:rPr lang="en-US" sz="800" dirty="0" err="1"/>
              <a:t>mgr</a:t>
            </a:r>
            <a:r>
              <a:rPr lang="en-US" sz="800" dirty="0"/>
              <a:t> not available, waiting (5/10)...</a:t>
            </a:r>
          </a:p>
          <a:p>
            <a:r>
              <a:rPr lang="en-US" sz="800" dirty="0" err="1"/>
              <a:t>mgr</a:t>
            </a:r>
            <a:r>
              <a:rPr lang="en-US" sz="800" dirty="0"/>
              <a:t> is available</a:t>
            </a:r>
          </a:p>
          <a:p>
            <a:r>
              <a:rPr lang="en-US" sz="800" dirty="0"/>
              <a:t>Enabling </a:t>
            </a:r>
            <a:r>
              <a:rPr lang="en-US" sz="800" dirty="0" err="1"/>
              <a:t>cephadm</a:t>
            </a:r>
            <a:r>
              <a:rPr lang="en-US" sz="800" dirty="0"/>
              <a:t> module...</a:t>
            </a:r>
          </a:p>
          <a:p>
            <a:r>
              <a:rPr lang="en-US" sz="800" dirty="0"/>
              <a:t>Waiting for the </a:t>
            </a:r>
            <a:r>
              <a:rPr lang="en-US" sz="800" dirty="0" err="1"/>
              <a:t>mgr</a:t>
            </a:r>
            <a:r>
              <a:rPr lang="en-US" sz="800" dirty="0"/>
              <a:t> to restart...</a:t>
            </a:r>
          </a:p>
          <a:p>
            <a:r>
              <a:rPr lang="en-US" sz="800" dirty="0"/>
              <a:t>Waiting for </a:t>
            </a:r>
            <a:r>
              <a:rPr lang="en-US" sz="800" dirty="0" err="1"/>
              <a:t>Mgr</a:t>
            </a:r>
            <a:r>
              <a:rPr lang="en-US" sz="800" dirty="0"/>
              <a:t> epoch 5...</a:t>
            </a:r>
          </a:p>
          <a:p>
            <a:r>
              <a:rPr lang="en-US" sz="800" dirty="0" err="1"/>
              <a:t>Mgr</a:t>
            </a:r>
            <a:r>
              <a:rPr lang="en-US" sz="800" dirty="0"/>
              <a:t> epoch 5 is available</a:t>
            </a:r>
          </a:p>
          <a:p>
            <a:r>
              <a:rPr lang="en-US" sz="800" dirty="0"/>
              <a:t>Setting orchestrator backend to </a:t>
            </a:r>
            <a:r>
              <a:rPr lang="en-US" sz="800" dirty="0" err="1"/>
              <a:t>cephadm</a:t>
            </a:r>
            <a:r>
              <a:rPr lang="en-US" sz="800" dirty="0"/>
              <a:t>...</a:t>
            </a:r>
          </a:p>
          <a:p>
            <a:r>
              <a:rPr lang="en-US" sz="800" dirty="0"/>
              <a:t>Generating </a:t>
            </a:r>
            <a:r>
              <a:rPr lang="en-US" sz="800" dirty="0" err="1"/>
              <a:t>ssh</a:t>
            </a:r>
            <a:r>
              <a:rPr lang="en-US" sz="800" dirty="0"/>
              <a:t> key...</a:t>
            </a:r>
          </a:p>
          <a:p>
            <a:r>
              <a:rPr lang="en-US" sz="800" dirty="0"/>
              <a:t>Wrote public SSH key to </a:t>
            </a:r>
            <a:r>
              <a:rPr lang="en-US" sz="800" dirty="0" err="1"/>
              <a:t>to</a:t>
            </a:r>
            <a:r>
              <a:rPr lang="en-US" sz="800" dirty="0"/>
              <a:t> /</a:t>
            </a:r>
            <a:r>
              <a:rPr lang="en-US" sz="800" dirty="0" err="1"/>
              <a:t>etc</a:t>
            </a:r>
            <a:r>
              <a:rPr lang="en-US" sz="800" dirty="0"/>
              <a:t>/</a:t>
            </a:r>
            <a:r>
              <a:rPr lang="en-US" sz="800" dirty="0" err="1"/>
              <a:t>ceph</a:t>
            </a:r>
            <a:r>
              <a:rPr lang="en-US" sz="800" dirty="0"/>
              <a:t>/ceph.pub</a:t>
            </a:r>
          </a:p>
          <a:p>
            <a:r>
              <a:rPr lang="en-US" sz="800" dirty="0"/>
              <a:t>Adding key to </a:t>
            </a:r>
            <a:r>
              <a:rPr lang="en-US" sz="800" dirty="0" err="1"/>
              <a:t>root@localhost's</a:t>
            </a:r>
            <a:r>
              <a:rPr lang="en-US" sz="800" dirty="0"/>
              <a:t> </a:t>
            </a:r>
            <a:r>
              <a:rPr lang="en-US" sz="800" dirty="0" err="1"/>
              <a:t>authorized_keys</a:t>
            </a:r>
            <a:r>
              <a:rPr lang="en-US" sz="800" dirty="0"/>
              <a:t>...</a:t>
            </a:r>
          </a:p>
          <a:p>
            <a:r>
              <a:rPr lang="en-US" sz="800" dirty="0"/>
              <a:t>Adding host </a:t>
            </a:r>
            <a:r>
              <a:rPr lang="en-US" sz="800" dirty="0" smtClean="0"/>
              <a:t>GPU111</a:t>
            </a:r>
            <a:r>
              <a:rPr lang="en-US" sz="800" dirty="0"/>
              <a:t>...</a:t>
            </a:r>
          </a:p>
          <a:p>
            <a:r>
              <a:rPr lang="en-US" sz="800" dirty="0"/>
              <a:t>Deploying mon service with default placement...</a:t>
            </a:r>
          </a:p>
          <a:p>
            <a:r>
              <a:rPr lang="en-US" sz="800" dirty="0"/>
              <a:t>Deploying </a:t>
            </a:r>
            <a:r>
              <a:rPr lang="en-US" sz="800" dirty="0" err="1"/>
              <a:t>mgr</a:t>
            </a:r>
            <a:r>
              <a:rPr lang="en-US" sz="800" dirty="0"/>
              <a:t> service with default placement...</a:t>
            </a:r>
          </a:p>
          <a:p>
            <a:r>
              <a:rPr lang="en-US" sz="800" dirty="0"/>
              <a:t>Deploying crash service with default placement...</a:t>
            </a:r>
          </a:p>
          <a:p>
            <a:r>
              <a:rPr lang="en-US" sz="800" dirty="0"/>
              <a:t>Enabling </a:t>
            </a:r>
            <a:r>
              <a:rPr lang="en-US" sz="800" dirty="0" err="1"/>
              <a:t>mgr</a:t>
            </a:r>
            <a:r>
              <a:rPr lang="en-US" sz="800" dirty="0"/>
              <a:t> </a:t>
            </a:r>
            <a:r>
              <a:rPr lang="en-US" sz="800" dirty="0" err="1"/>
              <a:t>prometheus</a:t>
            </a:r>
            <a:r>
              <a:rPr lang="en-US" sz="800" dirty="0"/>
              <a:t> module...</a:t>
            </a:r>
          </a:p>
          <a:p>
            <a:r>
              <a:rPr lang="en-US" sz="800" dirty="0"/>
              <a:t>Deploying </a:t>
            </a:r>
            <a:r>
              <a:rPr lang="en-US" sz="800" dirty="0" err="1"/>
              <a:t>prometheus</a:t>
            </a:r>
            <a:r>
              <a:rPr lang="en-US" sz="800" dirty="0"/>
              <a:t> service with default placement...</a:t>
            </a:r>
          </a:p>
          <a:p>
            <a:r>
              <a:rPr lang="en-US" sz="800" dirty="0"/>
              <a:t>Deploying </a:t>
            </a:r>
            <a:r>
              <a:rPr lang="en-US" sz="800" dirty="0" err="1"/>
              <a:t>grafana</a:t>
            </a:r>
            <a:r>
              <a:rPr lang="en-US" sz="800" dirty="0"/>
              <a:t> service with default placement...</a:t>
            </a:r>
          </a:p>
          <a:p>
            <a:r>
              <a:rPr lang="en-US" sz="800" dirty="0"/>
              <a:t>Deploying node-exporter service with default placement...</a:t>
            </a:r>
          </a:p>
          <a:p>
            <a:r>
              <a:rPr lang="en-US" sz="800" dirty="0"/>
              <a:t>Deploying </a:t>
            </a:r>
            <a:r>
              <a:rPr lang="en-US" sz="800" dirty="0" err="1"/>
              <a:t>alertmanager</a:t>
            </a:r>
            <a:r>
              <a:rPr lang="en-US" sz="800" dirty="0"/>
              <a:t> service with default placement...</a:t>
            </a:r>
          </a:p>
          <a:p>
            <a:r>
              <a:rPr lang="en-US" sz="800" dirty="0"/>
              <a:t>Enabling the dashboard module...</a:t>
            </a:r>
          </a:p>
          <a:p>
            <a:r>
              <a:rPr lang="en-US" sz="800" dirty="0"/>
              <a:t>Waiting for the </a:t>
            </a:r>
            <a:r>
              <a:rPr lang="en-US" sz="800" dirty="0" err="1"/>
              <a:t>mgr</a:t>
            </a:r>
            <a:r>
              <a:rPr lang="en-US" sz="800" dirty="0"/>
              <a:t> to restart...</a:t>
            </a:r>
          </a:p>
          <a:p>
            <a:r>
              <a:rPr lang="en-US" sz="800" dirty="0"/>
              <a:t>Waiting for </a:t>
            </a:r>
            <a:r>
              <a:rPr lang="en-US" sz="800" dirty="0" err="1"/>
              <a:t>Mgr</a:t>
            </a:r>
            <a:r>
              <a:rPr lang="en-US" sz="800" dirty="0"/>
              <a:t> epoch 13...</a:t>
            </a:r>
          </a:p>
          <a:p>
            <a:r>
              <a:rPr lang="en-US" sz="800" dirty="0" err="1"/>
              <a:t>Mgr</a:t>
            </a:r>
            <a:r>
              <a:rPr lang="en-US" sz="800" dirty="0"/>
              <a:t> epoch 13 is available</a:t>
            </a:r>
          </a:p>
          <a:p>
            <a:r>
              <a:rPr lang="en-US" sz="800" dirty="0"/>
              <a:t>Generating a dashboard self-signed certificate...</a:t>
            </a:r>
          </a:p>
          <a:p>
            <a:r>
              <a:rPr lang="en-US" sz="800" dirty="0"/>
              <a:t>Creating initial admin user...</a:t>
            </a:r>
          </a:p>
          <a:p>
            <a:r>
              <a:rPr lang="en-US" sz="800" dirty="0"/>
              <a:t>Fetching dashboard port number...</a:t>
            </a:r>
          </a:p>
          <a:p>
            <a:r>
              <a:rPr lang="en-US" sz="800" dirty="0" err="1"/>
              <a:t>Ceph</a:t>
            </a:r>
            <a:r>
              <a:rPr lang="en-US" sz="800" dirty="0"/>
              <a:t> Dashboard is now available at:</a:t>
            </a:r>
          </a:p>
          <a:p>
            <a:endParaRPr lang="en-US" sz="800" dirty="0"/>
          </a:p>
          <a:p>
            <a:r>
              <a:rPr lang="en-US" sz="800" dirty="0"/>
              <a:t>	     URL: https</a:t>
            </a:r>
            <a:r>
              <a:rPr lang="en-US" sz="800" dirty="0" smtClean="0"/>
              <a:t>://GPU11ATKC41:8443</a:t>
            </a:r>
            <a:r>
              <a:rPr lang="en-US" sz="800" dirty="0"/>
              <a:t>/</a:t>
            </a:r>
          </a:p>
          <a:p>
            <a:r>
              <a:rPr lang="en-US" sz="800" dirty="0"/>
              <a:t>	    User: admin</a:t>
            </a:r>
          </a:p>
          <a:p>
            <a:r>
              <a:rPr lang="en-US" sz="800" dirty="0"/>
              <a:t>	Password: plur7o63uu</a:t>
            </a:r>
          </a:p>
          <a:p>
            <a:endParaRPr lang="en-US" sz="800" dirty="0"/>
          </a:p>
          <a:p>
            <a:r>
              <a:rPr lang="en-US" sz="800" dirty="0"/>
              <a:t>You can access the </a:t>
            </a:r>
            <a:r>
              <a:rPr lang="en-US" sz="800" dirty="0" err="1"/>
              <a:t>Ceph</a:t>
            </a:r>
            <a:r>
              <a:rPr lang="en-US" sz="800" dirty="0"/>
              <a:t> CLI with:</a:t>
            </a:r>
          </a:p>
          <a:p>
            <a:endParaRPr lang="en-US" sz="800" dirty="0"/>
          </a:p>
          <a:p>
            <a:r>
              <a:rPr lang="en-US" sz="800" dirty="0"/>
              <a:t>	</a:t>
            </a:r>
            <a:r>
              <a:rPr lang="en-US" sz="800" dirty="0" err="1"/>
              <a:t>sudo</a:t>
            </a:r>
            <a:r>
              <a:rPr lang="en-US" sz="800" dirty="0"/>
              <a:t> /</a:t>
            </a:r>
            <a:r>
              <a:rPr lang="en-US" sz="800" dirty="0" err="1"/>
              <a:t>usr</a:t>
            </a:r>
            <a:r>
              <a:rPr lang="en-US" sz="800" dirty="0"/>
              <a:t>/</a:t>
            </a:r>
            <a:r>
              <a:rPr lang="en-US" sz="800" dirty="0" err="1"/>
              <a:t>sbin</a:t>
            </a:r>
            <a:r>
              <a:rPr lang="en-US" sz="800" dirty="0"/>
              <a:t>/</a:t>
            </a:r>
            <a:r>
              <a:rPr lang="en-US" sz="800" dirty="0" err="1"/>
              <a:t>cephadm</a:t>
            </a:r>
            <a:r>
              <a:rPr lang="en-US" sz="800" dirty="0"/>
              <a:t> shell --</a:t>
            </a:r>
            <a:r>
              <a:rPr lang="en-US" sz="800" dirty="0" err="1"/>
              <a:t>fsid</a:t>
            </a:r>
            <a:r>
              <a:rPr lang="en-US" sz="800" dirty="0"/>
              <a:t> 16e21856-6030-11ed-8a24-db02e0e54b22 -c /</a:t>
            </a:r>
            <a:r>
              <a:rPr lang="en-US" sz="800" dirty="0" err="1"/>
              <a:t>etc</a:t>
            </a:r>
            <a:r>
              <a:rPr lang="en-US" sz="800" dirty="0"/>
              <a:t>/</a:t>
            </a:r>
            <a:r>
              <a:rPr lang="en-US" sz="800" dirty="0" err="1"/>
              <a:t>ceph</a:t>
            </a:r>
            <a:r>
              <a:rPr lang="en-US" sz="800" dirty="0"/>
              <a:t>/</a:t>
            </a:r>
            <a:r>
              <a:rPr lang="en-US" sz="800" dirty="0" err="1"/>
              <a:t>ceph.conf</a:t>
            </a:r>
            <a:r>
              <a:rPr lang="en-US" sz="800" dirty="0"/>
              <a:t> -k /</a:t>
            </a:r>
            <a:r>
              <a:rPr lang="en-US" sz="800" dirty="0" err="1"/>
              <a:t>etc</a:t>
            </a:r>
            <a:r>
              <a:rPr lang="en-US" sz="800" dirty="0"/>
              <a:t>/</a:t>
            </a:r>
            <a:r>
              <a:rPr lang="en-US" sz="800" dirty="0" err="1"/>
              <a:t>ceph</a:t>
            </a:r>
            <a:r>
              <a:rPr lang="en-US" sz="800" dirty="0"/>
              <a:t>/</a:t>
            </a:r>
            <a:r>
              <a:rPr lang="en-US" sz="800" dirty="0" err="1"/>
              <a:t>ceph.client.admin.keyring</a:t>
            </a:r>
            <a:endParaRPr lang="en-US" sz="800" dirty="0"/>
          </a:p>
          <a:p>
            <a:endParaRPr lang="en-US" sz="800" dirty="0"/>
          </a:p>
          <a:p>
            <a:r>
              <a:rPr lang="en-US" sz="800" dirty="0"/>
              <a:t>Please consider enabling telemetry to help improve </a:t>
            </a:r>
            <a:r>
              <a:rPr lang="en-US" sz="800" dirty="0" err="1"/>
              <a:t>Ceph</a:t>
            </a:r>
            <a:r>
              <a:rPr lang="en-US" sz="800" dirty="0"/>
              <a:t>:</a:t>
            </a:r>
          </a:p>
          <a:p>
            <a:endParaRPr lang="en-US" sz="800" dirty="0"/>
          </a:p>
          <a:p>
            <a:r>
              <a:rPr lang="en-US" sz="800" dirty="0"/>
              <a:t>	</a:t>
            </a:r>
            <a:r>
              <a:rPr lang="en-US" sz="800" dirty="0" err="1"/>
              <a:t>ceph</a:t>
            </a:r>
            <a:r>
              <a:rPr lang="en-US" sz="800" dirty="0"/>
              <a:t> telemetry on</a:t>
            </a:r>
          </a:p>
          <a:p>
            <a:endParaRPr lang="en-US" sz="800" dirty="0"/>
          </a:p>
          <a:p>
            <a:r>
              <a:rPr lang="en-US" sz="800" dirty="0"/>
              <a:t>For more information see:</a:t>
            </a:r>
          </a:p>
          <a:p>
            <a:endParaRPr lang="en-US" sz="800" dirty="0"/>
          </a:p>
          <a:p>
            <a:r>
              <a:rPr lang="en-US" sz="800" dirty="0"/>
              <a:t>	https://docs.ceph.com/docs/master/mgr/telemetry/</a:t>
            </a:r>
          </a:p>
          <a:p>
            <a:endParaRPr lang="en-US" sz="800" dirty="0"/>
          </a:p>
          <a:p>
            <a:r>
              <a:rPr lang="en-US" sz="800" dirty="0"/>
              <a:t>Bootstrap complete.</a:t>
            </a:r>
          </a:p>
        </p:txBody>
      </p:sp>
      <p:sp>
        <p:nvSpPr>
          <p:cNvPr id="13" name="Rectangle 12"/>
          <p:cNvSpPr/>
          <p:nvPr/>
        </p:nvSpPr>
        <p:spPr>
          <a:xfrm>
            <a:off x="210000" y="2022870"/>
            <a:ext cx="4371369" cy="463722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 name="Rectangle 1"/>
          <p:cNvSpPr/>
          <p:nvPr/>
        </p:nvSpPr>
        <p:spPr>
          <a:xfrm>
            <a:off x="4810836" y="551641"/>
            <a:ext cx="4572000" cy="1200329"/>
          </a:xfrm>
          <a:prstGeom prst="rect">
            <a:avLst/>
          </a:prstGeom>
        </p:spPr>
        <p:txBody>
          <a:bodyPr>
            <a:spAutoFit/>
          </a:bodyPr>
          <a:lstStyle/>
          <a:p>
            <a:r>
              <a:rPr lang="en-US" sz="1200" dirty="0"/>
              <a:t>NOTE: add --skip-monitoring-stack option to skip monitoring stack (Prometheus, </a:t>
            </a:r>
            <a:r>
              <a:rPr lang="en-US" sz="1200" dirty="0" err="1"/>
              <a:t>Grafana</a:t>
            </a:r>
            <a:r>
              <a:rPr lang="en-US" sz="1200" dirty="0"/>
              <a:t>, etc…) deploy</a:t>
            </a:r>
            <a:r>
              <a:rPr lang="en-US" sz="1200" dirty="0" smtClean="0"/>
              <a:t>.</a:t>
            </a:r>
          </a:p>
          <a:p>
            <a:endParaRPr lang="en-US" sz="1200" dirty="0"/>
          </a:p>
          <a:p>
            <a:r>
              <a:rPr lang="en-US" sz="1200" dirty="0" smtClean="0"/>
              <a:t>NOTE</a:t>
            </a:r>
            <a:r>
              <a:rPr lang="en-US" sz="1200" dirty="0"/>
              <a:t>: add --cluster-network to use cluster network. (for example, 192.168.122.0/24) (for newer </a:t>
            </a:r>
            <a:r>
              <a:rPr lang="en-US" sz="1200" dirty="0" err="1"/>
              <a:t>cephadm</a:t>
            </a:r>
            <a:r>
              <a:rPr lang="en-US" sz="1200" dirty="0"/>
              <a:t> version??) </a:t>
            </a:r>
            <a:r>
              <a:rPr lang="en-US" sz="1200" dirty="0">
                <a:solidFill>
                  <a:schemeClr val="bg1">
                    <a:lumMod val="95000"/>
                  </a:schemeClr>
                </a:solidFill>
              </a:rPr>
              <a:t>https://github.com/ceph/ceph/pull/38911</a:t>
            </a:r>
          </a:p>
        </p:txBody>
      </p:sp>
      <p:sp>
        <p:nvSpPr>
          <p:cNvPr id="14" name="Rectangle 13"/>
          <p:cNvSpPr/>
          <p:nvPr/>
        </p:nvSpPr>
        <p:spPr>
          <a:xfrm>
            <a:off x="4679179" y="1705804"/>
            <a:ext cx="4425960" cy="461665"/>
          </a:xfrm>
          <a:prstGeom prst="rect">
            <a:avLst/>
          </a:prstGeom>
        </p:spPr>
        <p:txBody>
          <a:bodyPr wrap="square">
            <a:spAutoFit/>
          </a:bodyPr>
          <a:lstStyle/>
          <a:p>
            <a:r>
              <a:rPr lang="en-US" sz="1200" dirty="0"/>
              <a:t>When login </a:t>
            </a:r>
            <a:r>
              <a:rPr lang="en-US" sz="1200" dirty="0" err="1"/>
              <a:t>dashbaoard</a:t>
            </a:r>
            <a:r>
              <a:rPr lang="en-US" sz="1200" dirty="0"/>
              <a:t> first time, you will be asked to update password. Here I simply update the password.</a:t>
            </a:r>
            <a:endParaRPr lang="en-US" sz="1200" b="1" dirty="0">
              <a:solidFill>
                <a:srgbClr val="002060"/>
              </a:solidFill>
            </a:endParaRPr>
          </a:p>
        </p:txBody>
      </p:sp>
      <p:sp>
        <p:nvSpPr>
          <p:cNvPr id="15" name="Rectangle 14"/>
          <p:cNvSpPr/>
          <p:nvPr/>
        </p:nvSpPr>
        <p:spPr>
          <a:xfrm>
            <a:off x="4733770" y="2149490"/>
            <a:ext cx="1550558" cy="184666"/>
          </a:xfrm>
          <a:prstGeom prst="rect">
            <a:avLst/>
          </a:prstGeom>
        </p:spPr>
        <p:txBody>
          <a:bodyPr wrap="square">
            <a:spAutoFit/>
          </a:bodyPr>
          <a:lstStyle/>
          <a:p>
            <a:r>
              <a:rPr lang="en-US" sz="600" dirty="0"/>
              <a:t>username/password: admin/</a:t>
            </a:r>
            <a:r>
              <a:rPr lang="en-US" sz="600" dirty="0" err="1"/>
              <a:t>cephadmin</a:t>
            </a:r>
            <a:endParaRPr lang="en-US" sz="600" dirty="0"/>
          </a:p>
        </p:txBody>
      </p:sp>
      <p:sp>
        <p:nvSpPr>
          <p:cNvPr id="16" name="Rectangle 15"/>
          <p:cNvSpPr/>
          <p:nvPr/>
        </p:nvSpPr>
        <p:spPr>
          <a:xfrm>
            <a:off x="4733770" y="2128165"/>
            <a:ext cx="4371369" cy="29832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7" name="Rectangle 16"/>
          <p:cNvSpPr/>
          <p:nvPr/>
        </p:nvSpPr>
        <p:spPr>
          <a:xfrm>
            <a:off x="4718040" y="2609556"/>
            <a:ext cx="4425960" cy="276999"/>
          </a:xfrm>
          <a:prstGeom prst="rect">
            <a:avLst/>
          </a:prstGeom>
        </p:spPr>
        <p:txBody>
          <a:bodyPr wrap="square">
            <a:spAutoFit/>
          </a:bodyPr>
          <a:lstStyle/>
          <a:p>
            <a:r>
              <a:rPr lang="en-US" sz="1200" dirty="0"/>
              <a:t>Check </a:t>
            </a:r>
            <a:r>
              <a:rPr lang="en-US" sz="1200" dirty="0" err="1"/>
              <a:t>Ceph</a:t>
            </a:r>
            <a:r>
              <a:rPr lang="en-US" sz="1200" dirty="0"/>
              <a:t> containers</a:t>
            </a:r>
            <a:endParaRPr lang="en-US" sz="1200" b="1" dirty="0">
              <a:solidFill>
                <a:srgbClr val="002060"/>
              </a:solidFill>
            </a:endParaRPr>
          </a:p>
        </p:txBody>
      </p:sp>
      <p:sp>
        <p:nvSpPr>
          <p:cNvPr id="18" name="Rectangle 17"/>
          <p:cNvSpPr/>
          <p:nvPr/>
        </p:nvSpPr>
        <p:spPr>
          <a:xfrm>
            <a:off x="4772631" y="3053242"/>
            <a:ext cx="4332508" cy="1569660"/>
          </a:xfrm>
          <a:prstGeom prst="rect">
            <a:avLst/>
          </a:prstGeom>
        </p:spPr>
        <p:txBody>
          <a:bodyPr wrap="square">
            <a:spAutoFit/>
          </a:bodyPr>
          <a:lstStyle/>
          <a:p>
            <a:r>
              <a:rPr lang="en-US" sz="600" dirty="0" smtClean="0"/>
              <a:t>cephadmin@GPU111</a:t>
            </a:r>
            <a:r>
              <a:rPr lang="en-US" sz="600" dirty="0"/>
              <a:t>:~$ </a:t>
            </a:r>
            <a:r>
              <a:rPr lang="en-US" sz="600" dirty="0" err="1"/>
              <a:t>sudo</a:t>
            </a:r>
            <a:r>
              <a:rPr lang="en-US" sz="600" dirty="0"/>
              <a:t> </a:t>
            </a:r>
            <a:r>
              <a:rPr lang="en-US" sz="600" dirty="0" err="1"/>
              <a:t>docker</a:t>
            </a:r>
            <a:r>
              <a:rPr lang="en-US" sz="600" dirty="0"/>
              <a:t> </a:t>
            </a:r>
            <a:r>
              <a:rPr lang="en-US" sz="600" dirty="0" err="1"/>
              <a:t>ps</a:t>
            </a:r>
            <a:endParaRPr lang="en-US" sz="600" dirty="0"/>
          </a:p>
          <a:p>
            <a:r>
              <a:rPr lang="en-US" sz="600" dirty="0"/>
              <a:t>CONTAINER ID   IMAGE                                                              COMMAND                  CREATED         STATUS                PORTS     NAMES</a:t>
            </a:r>
          </a:p>
          <a:p>
            <a:r>
              <a:rPr lang="en-US" sz="600" dirty="0"/>
              <a:t>15225fbe7d8a   quay.io/</a:t>
            </a:r>
            <a:r>
              <a:rPr lang="en-US" sz="600" dirty="0" err="1"/>
              <a:t>prometheus</a:t>
            </a:r>
            <a:r>
              <a:rPr lang="en-US" sz="600" dirty="0"/>
              <a:t>/alertmanager:v0.20.0                            "/bin/</a:t>
            </a:r>
            <a:r>
              <a:rPr lang="en-US" sz="600" dirty="0" err="1"/>
              <a:t>alertmanager</a:t>
            </a:r>
            <a:r>
              <a:rPr lang="en-US" sz="600" dirty="0"/>
              <a:t> -…"   3 minutes ago   Up 3 minutes                    </a:t>
            </a:r>
            <a:r>
              <a:rPr lang="en-US" sz="600" dirty="0" smtClean="0"/>
              <a:t>ceph-16e21856-6030-11ed-8a24-db02e0e54b22-alertmanager.GPU111</a:t>
            </a:r>
            <a:endParaRPr lang="en-US" sz="600" dirty="0"/>
          </a:p>
          <a:p>
            <a:r>
              <a:rPr lang="en-US" sz="600" dirty="0"/>
              <a:t>23d37d214780   quay.io/</a:t>
            </a:r>
            <a:r>
              <a:rPr lang="en-US" sz="600" dirty="0" err="1"/>
              <a:t>ceph</a:t>
            </a:r>
            <a:r>
              <a:rPr lang="en-US" sz="600" dirty="0"/>
              <a:t>/ceph-grafana:6.7.4                                    "/bin/</a:t>
            </a:r>
            <a:r>
              <a:rPr lang="en-US" sz="600" dirty="0" err="1"/>
              <a:t>sh</a:t>
            </a:r>
            <a:r>
              <a:rPr lang="en-US" sz="600" dirty="0"/>
              <a:t> -c '</a:t>
            </a:r>
            <a:r>
              <a:rPr lang="en-US" sz="600" dirty="0" err="1"/>
              <a:t>grafana</a:t>
            </a:r>
            <a:r>
              <a:rPr lang="en-US" sz="600" dirty="0"/>
              <a:t>…"   3 minutes ago   Up 3 minutes                    </a:t>
            </a:r>
            <a:r>
              <a:rPr lang="en-US" sz="600" dirty="0" smtClean="0"/>
              <a:t>ceph-16e21856-6030-11ed-8a24-db02e0e54b22-grafana.GPU111</a:t>
            </a:r>
            <a:endParaRPr lang="en-US" sz="600" dirty="0"/>
          </a:p>
          <a:p>
            <a:r>
              <a:rPr lang="en-US" sz="600" dirty="0"/>
              <a:t>a506c9016de5   quay.io/</a:t>
            </a:r>
            <a:r>
              <a:rPr lang="en-US" sz="600" dirty="0" err="1"/>
              <a:t>prometheus</a:t>
            </a:r>
            <a:r>
              <a:rPr lang="en-US" sz="600" dirty="0"/>
              <a:t>/prometheus:v2.18.1                              "/bin/</a:t>
            </a:r>
            <a:r>
              <a:rPr lang="en-US" sz="600" dirty="0" err="1"/>
              <a:t>prometheus</a:t>
            </a:r>
            <a:r>
              <a:rPr lang="en-US" sz="600" dirty="0"/>
              <a:t> --c…"   4 minutes ago   Up 4 minutes                    </a:t>
            </a:r>
            <a:r>
              <a:rPr lang="en-US" sz="600" dirty="0" smtClean="0"/>
              <a:t>ceph-16e21856-6030-11ed-8a24-db02e0e54b22-prometheus.GPU111</a:t>
            </a:r>
            <a:endParaRPr lang="en-US" sz="600" dirty="0"/>
          </a:p>
          <a:p>
            <a:r>
              <a:rPr lang="en-US" sz="600" dirty="0"/>
              <a:t>795ec188ff2a   quay.io/</a:t>
            </a:r>
            <a:r>
              <a:rPr lang="en-US" sz="600" dirty="0" err="1"/>
              <a:t>prometheus</a:t>
            </a:r>
            <a:r>
              <a:rPr lang="en-US" sz="600" dirty="0"/>
              <a:t>/node-exporter:v0.18.1                           "/bin/</a:t>
            </a:r>
            <a:r>
              <a:rPr lang="en-US" sz="600" dirty="0" err="1"/>
              <a:t>node_exporter</a:t>
            </a:r>
            <a:r>
              <a:rPr lang="en-US" sz="600" dirty="0"/>
              <a:t> …"   4 minutes ago   Up 4 minutes                    </a:t>
            </a:r>
            <a:r>
              <a:rPr lang="en-US" sz="600" dirty="0" smtClean="0"/>
              <a:t>ceph-16e21856-6030-11ed-8a24-db02e0e54b22-node-exporter.GPU111</a:t>
            </a:r>
            <a:endParaRPr lang="en-US" sz="600" dirty="0"/>
          </a:p>
          <a:p>
            <a:r>
              <a:rPr lang="en-US" sz="600" dirty="0"/>
              <a:t>a497030e7c57   quay.io/</a:t>
            </a:r>
            <a:r>
              <a:rPr lang="en-US" sz="600" dirty="0" err="1"/>
              <a:t>ceph</a:t>
            </a:r>
            <a:r>
              <a:rPr lang="en-US" sz="600" dirty="0"/>
              <a:t>/ceph:v15                                              "/</a:t>
            </a:r>
            <a:r>
              <a:rPr lang="en-US" sz="600" dirty="0" err="1"/>
              <a:t>usr</a:t>
            </a:r>
            <a:r>
              <a:rPr lang="en-US" sz="600" dirty="0"/>
              <a:t>/bin/</a:t>
            </a:r>
            <a:r>
              <a:rPr lang="en-US" sz="600" dirty="0" err="1"/>
              <a:t>ceph</a:t>
            </a:r>
            <a:r>
              <a:rPr lang="en-US" sz="600" dirty="0"/>
              <a:t>-crash…"   5 minutes ago   Up 5 minutes                    </a:t>
            </a:r>
            <a:r>
              <a:rPr lang="en-US" sz="600" dirty="0" smtClean="0"/>
              <a:t>ceph-16e21856-6030-11ed-8a24-db02e0e54b22-crash.GPU111</a:t>
            </a:r>
            <a:endParaRPr lang="en-US" sz="600" dirty="0"/>
          </a:p>
          <a:p>
            <a:r>
              <a:rPr lang="en-US" sz="600" dirty="0"/>
              <a:t>19e955a4dadc   quay.io/</a:t>
            </a:r>
            <a:r>
              <a:rPr lang="en-US" sz="600" dirty="0" err="1"/>
              <a:t>ceph</a:t>
            </a:r>
            <a:r>
              <a:rPr lang="en-US" sz="600" dirty="0"/>
              <a:t>/ceph:v15                                              "/</a:t>
            </a:r>
            <a:r>
              <a:rPr lang="en-US" sz="600" dirty="0" err="1"/>
              <a:t>usr</a:t>
            </a:r>
            <a:r>
              <a:rPr lang="en-US" sz="600" dirty="0"/>
              <a:t>/bin/</a:t>
            </a:r>
            <a:r>
              <a:rPr lang="en-US" sz="600" dirty="0" err="1"/>
              <a:t>ceph-mgr</a:t>
            </a:r>
            <a:r>
              <a:rPr lang="en-US" sz="600" dirty="0"/>
              <a:t> -…"   6 minutes ago   Up 6 minutes                    </a:t>
            </a:r>
            <a:r>
              <a:rPr lang="en-US" sz="600" dirty="0" smtClean="0"/>
              <a:t>ceph-16e21856-6030-11ed-8a24-db02e0e54b22-mgr.GPU111.oezajx</a:t>
            </a:r>
            <a:endParaRPr lang="en-US" sz="600" dirty="0"/>
          </a:p>
          <a:p>
            <a:r>
              <a:rPr lang="en-US" sz="600" dirty="0"/>
              <a:t>6120dd3bf195   quay.io/</a:t>
            </a:r>
            <a:r>
              <a:rPr lang="en-US" sz="600" dirty="0" err="1"/>
              <a:t>ceph</a:t>
            </a:r>
            <a:r>
              <a:rPr lang="en-US" sz="600" dirty="0"/>
              <a:t>/ceph:v15                                              "/</a:t>
            </a:r>
            <a:r>
              <a:rPr lang="en-US" sz="600" dirty="0" err="1"/>
              <a:t>usr</a:t>
            </a:r>
            <a:r>
              <a:rPr lang="en-US" sz="600" dirty="0"/>
              <a:t>/bin/</a:t>
            </a:r>
            <a:r>
              <a:rPr lang="en-US" sz="600" dirty="0" err="1"/>
              <a:t>ceph</a:t>
            </a:r>
            <a:r>
              <a:rPr lang="en-US" sz="600" dirty="0"/>
              <a:t>-mon -…"   6 minutes ago   Up 6 minutes                    </a:t>
            </a:r>
            <a:r>
              <a:rPr lang="en-US" sz="600" dirty="0" smtClean="0"/>
              <a:t>ceph-16e21856-6030-11ed-8a24-db02e0e54b22-mon.GPU111</a:t>
            </a:r>
            <a:endParaRPr lang="en-US" sz="600" dirty="0"/>
          </a:p>
        </p:txBody>
      </p:sp>
      <p:sp>
        <p:nvSpPr>
          <p:cNvPr id="19" name="Rectangle 18"/>
          <p:cNvSpPr/>
          <p:nvPr/>
        </p:nvSpPr>
        <p:spPr>
          <a:xfrm>
            <a:off x="4772631" y="3031917"/>
            <a:ext cx="4371369" cy="169020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53397343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1342227" cy="276999"/>
          </a:xfrm>
          <a:prstGeom prst="rect">
            <a:avLst/>
          </a:prstGeom>
        </p:spPr>
        <p:txBody>
          <a:bodyPr wrap="none">
            <a:spAutoFit/>
          </a:bodyPr>
          <a:lstStyle/>
          <a:p>
            <a:r>
              <a:rPr lang="en-US" sz="1200" b="1" dirty="0">
                <a:solidFill>
                  <a:srgbClr val="002060"/>
                </a:solidFill>
              </a:rPr>
              <a:t>Check </a:t>
            </a:r>
            <a:r>
              <a:rPr lang="en-US" sz="1200" b="1" dirty="0" err="1">
                <a:solidFill>
                  <a:srgbClr val="002060"/>
                </a:solidFill>
              </a:rPr>
              <a:t>Ceph</a:t>
            </a:r>
            <a:r>
              <a:rPr lang="en-US" sz="1200" b="1" dirty="0">
                <a:solidFill>
                  <a:srgbClr val="002060"/>
                </a:solidFill>
              </a:rPr>
              <a:t> status</a:t>
            </a:r>
          </a:p>
        </p:txBody>
      </p:sp>
      <p:sp>
        <p:nvSpPr>
          <p:cNvPr id="4" name="Rectangle 3"/>
          <p:cNvSpPr/>
          <p:nvPr/>
        </p:nvSpPr>
        <p:spPr>
          <a:xfrm>
            <a:off x="155410" y="710195"/>
            <a:ext cx="4371369" cy="1938992"/>
          </a:xfrm>
          <a:prstGeom prst="rect">
            <a:avLst/>
          </a:prstGeom>
        </p:spPr>
        <p:txBody>
          <a:bodyPr wrap="square">
            <a:spAutoFit/>
          </a:bodyPr>
          <a:lstStyle/>
          <a:p>
            <a:r>
              <a:rPr lang="en-US" sz="600" dirty="0" smtClean="0"/>
              <a:t>cephadmin@GPU111</a:t>
            </a:r>
            <a:r>
              <a:rPr lang="en-US" sz="600" dirty="0"/>
              <a:t>:~$ </a:t>
            </a:r>
            <a:r>
              <a:rPr lang="en-US" sz="600" dirty="0" err="1"/>
              <a:t>sudo</a:t>
            </a:r>
            <a:r>
              <a:rPr lang="en-US" sz="600" dirty="0"/>
              <a:t> /</a:t>
            </a:r>
            <a:r>
              <a:rPr lang="en-US" sz="600" dirty="0" err="1"/>
              <a:t>usr</a:t>
            </a:r>
            <a:r>
              <a:rPr lang="en-US" sz="600" dirty="0"/>
              <a:t>/</a:t>
            </a:r>
            <a:r>
              <a:rPr lang="en-US" sz="600" dirty="0" err="1"/>
              <a:t>sbin</a:t>
            </a:r>
            <a:r>
              <a:rPr lang="en-US" sz="600" dirty="0"/>
              <a:t>/</a:t>
            </a:r>
            <a:r>
              <a:rPr lang="en-US" sz="600" dirty="0" err="1"/>
              <a:t>cephadm</a:t>
            </a:r>
            <a:r>
              <a:rPr lang="en-US" sz="600" dirty="0"/>
              <a:t> shell --</a:t>
            </a:r>
            <a:r>
              <a:rPr lang="en-US" sz="600" dirty="0" err="1"/>
              <a:t>fsid</a:t>
            </a:r>
            <a:r>
              <a:rPr lang="en-US" sz="600" dirty="0"/>
              <a:t> 16e21856-6030-11ed-8a24-db02e0e54b22 -c /</a:t>
            </a:r>
            <a:r>
              <a:rPr lang="en-US" sz="600" dirty="0" err="1"/>
              <a:t>etc</a:t>
            </a:r>
            <a:r>
              <a:rPr lang="en-US" sz="600" dirty="0"/>
              <a:t>/</a:t>
            </a:r>
            <a:r>
              <a:rPr lang="en-US" sz="600" dirty="0" err="1"/>
              <a:t>ceph</a:t>
            </a:r>
            <a:r>
              <a:rPr lang="en-US" sz="600" dirty="0"/>
              <a:t>/</a:t>
            </a:r>
            <a:r>
              <a:rPr lang="en-US" sz="600" dirty="0" err="1"/>
              <a:t>ceph.conf</a:t>
            </a:r>
            <a:r>
              <a:rPr lang="en-US" sz="600" dirty="0"/>
              <a:t> -k /</a:t>
            </a:r>
            <a:r>
              <a:rPr lang="en-US" sz="600" dirty="0" err="1"/>
              <a:t>etc</a:t>
            </a:r>
            <a:r>
              <a:rPr lang="en-US" sz="600" dirty="0"/>
              <a:t>/</a:t>
            </a:r>
            <a:r>
              <a:rPr lang="en-US" sz="600" dirty="0" err="1"/>
              <a:t>ceph</a:t>
            </a:r>
            <a:r>
              <a:rPr lang="en-US" sz="600" dirty="0"/>
              <a:t>/</a:t>
            </a:r>
            <a:r>
              <a:rPr lang="en-US" sz="600" dirty="0" err="1"/>
              <a:t>ceph.client.admin.keyring</a:t>
            </a:r>
            <a:endParaRPr lang="en-US" sz="600" dirty="0"/>
          </a:p>
          <a:p>
            <a:r>
              <a:rPr lang="en-US" sz="600" dirty="0"/>
              <a:t>Using recent </a:t>
            </a:r>
            <a:r>
              <a:rPr lang="en-US" sz="600" dirty="0" err="1"/>
              <a:t>ceph</a:t>
            </a:r>
            <a:r>
              <a:rPr lang="en-US" sz="600" dirty="0"/>
              <a:t> image quay.io/</a:t>
            </a:r>
            <a:r>
              <a:rPr lang="en-US" sz="600" dirty="0" err="1"/>
              <a:t>ceph</a:t>
            </a:r>
            <a:r>
              <a:rPr lang="en-US" sz="600" dirty="0"/>
              <a:t>/ceph@sha256:c08064dde4bba4e72a1f55d90ca32df9ef5aafab82efe2e0a0722444a5aaacca</a:t>
            </a:r>
          </a:p>
          <a:p>
            <a:endParaRPr lang="en-US" sz="600" dirty="0"/>
          </a:p>
          <a:p>
            <a:r>
              <a:rPr lang="en-US" sz="600" dirty="0" smtClean="0"/>
              <a:t>root@GPU111</a:t>
            </a:r>
            <a:r>
              <a:rPr lang="en-US" sz="600" dirty="0"/>
              <a:t>:/# </a:t>
            </a:r>
            <a:r>
              <a:rPr lang="en-US" sz="600" dirty="0" err="1"/>
              <a:t>sudo</a:t>
            </a:r>
            <a:r>
              <a:rPr lang="en-US" sz="600" dirty="0"/>
              <a:t> </a:t>
            </a:r>
            <a:r>
              <a:rPr lang="en-US" sz="600" dirty="0" err="1"/>
              <a:t>ceph</a:t>
            </a:r>
            <a:r>
              <a:rPr lang="en-US" sz="600" dirty="0"/>
              <a:t> -s</a:t>
            </a:r>
          </a:p>
          <a:p>
            <a:r>
              <a:rPr lang="en-US" sz="600" dirty="0"/>
              <a:t>  cluster:</a:t>
            </a:r>
          </a:p>
          <a:p>
            <a:r>
              <a:rPr lang="en-US" sz="600" dirty="0"/>
              <a:t>    id:     16e21856-6030-11ed-8a24-db02e0e54b22</a:t>
            </a:r>
          </a:p>
          <a:p>
            <a:r>
              <a:rPr lang="en-US" sz="600" dirty="0"/>
              <a:t>    health: HEALTH_WARN</a:t>
            </a:r>
          </a:p>
          <a:p>
            <a:r>
              <a:rPr lang="en-US" sz="600" dirty="0"/>
              <a:t>            OSD count 0 &lt; </a:t>
            </a:r>
            <a:r>
              <a:rPr lang="en-US" sz="600" dirty="0" err="1"/>
              <a:t>osd_pool_default_size</a:t>
            </a:r>
            <a:r>
              <a:rPr lang="en-US" sz="600" dirty="0"/>
              <a:t> 3</a:t>
            </a:r>
          </a:p>
          <a:p>
            <a:r>
              <a:rPr lang="en-US" sz="600" dirty="0"/>
              <a:t> </a:t>
            </a:r>
          </a:p>
          <a:p>
            <a:r>
              <a:rPr lang="en-US" sz="600" dirty="0"/>
              <a:t>  services:</a:t>
            </a:r>
          </a:p>
          <a:p>
            <a:r>
              <a:rPr lang="en-US" sz="600" dirty="0"/>
              <a:t>    mon: 1 daemons, quorum </a:t>
            </a:r>
            <a:r>
              <a:rPr lang="en-US" sz="600" dirty="0" smtClean="0"/>
              <a:t>GPU111 </a:t>
            </a:r>
            <a:r>
              <a:rPr lang="en-US" sz="600" dirty="0"/>
              <a:t>(age 8m)</a:t>
            </a:r>
          </a:p>
          <a:p>
            <a:r>
              <a:rPr lang="en-US" sz="600" dirty="0"/>
              <a:t>    </a:t>
            </a:r>
            <a:r>
              <a:rPr lang="en-US" sz="600" dirty="0" err="1"/>
              <a:t>mgr</a:t>
            </a:r>
            <a:r>
              <a:rPr lang="en-US" sz="600" dirty="0"/>
              <a:t>: </a:t>
            </a:r>
            <a:r>
              <a:rPr lang="en-US" sz="600" dirty="0" smtClean="0"/>
              <a:t>GPU111.oezajx(active</a:t>
            </a:r>
            <a:r>
              <a:rPr lang="en-US" sz="600" dirty="0"/>
              <a:t>, since 7m)</a:t>
            </a:r>
          </a:p>
          <a:p>
            <a:r>
              <a:rPr lang="en-US" sz="600" dirty="0"/>
              <a:t>    </a:t>
            </a:r>
            <a:r>
              <a:rPr lang="en-US" sz="600" dirty="0" err="1"/>
              <a:t>osd</a:t>
            </a:r>
            <a:r>
              <a:rPr lang="en-US" sz="600" dirty="0"/>
              <a:t>: 0 </a:t>
            </a:r>
            <a:r>
              <a:rPr lang="en-US" sz="600" dirty="0" err="1"/>
              <a:t>osds</a:t>
            </a:r>
            <a:r>
              <a:rPr lang="en-US" sz="600" dirty="0"/>
              <a:t>: 0 up, 0 in</a:t>
            </a:r>
          </a:p>
          <a:p>
            <a:r>
              <a:rPr lang="en-US" sz="600" dirty="0"/>
              <a:t> </a:t>
            </a:r>
          </a:p>
          <a:p>
            <a:r>
              <a:rPr lang="en-US" sz="600" dirty="0"/>
              <a:t>  data:</a:t>
            </a:r>
          </a:p>
          <a:p>
            <a:r>
              <a:rPr lang="en-US" sz="600" dirty="0"/>
              <a:t>    pools:   0 pools, 0 </a:t>
            </a:r>
            <a:r>
              <a:rPr lang="en-US" sz="600" dirty="0" err="1"/>
              <a:t>pgs</a:t>
            </a:r>
            <a:endParaRPr lang="en-US" sz="600" dirty="0"/>
          </a:p>
          <a:p>
            <a:r>
              <a:rPr lang="en-US" sz="600" dirty="0"/>
              <a:t>    objects: 0 objects, 0 B</a:t>
            </a:r>
          </a:p>
          <a:p>
            <a:r>
              <a:rPr lang="en-US" sz="600" dirty="0"/>
              <a:t>    usage:   0 B used, 0 B / 0 B avail</a:t>
            </a:r>
          </a:p>
          <a:p>
            <a:r>
              <a:rPr lang="en-US" sz="600" dirty="0"/>
              <a:t>    </a:t>
            </a:r>
            <a:r>
              <a:rPr lang="en-US" sz="600" dirty="0" err="1"/>
              <a:t>pgs</a:t>
            </a:r>
            <a:r>
              <a:rPr lang="en-US" sz="600" dirty="0"/>
              <a:t>: </a:t>
            </a:r>
          </a:p>
        </p:txBody>
      </p:sp>
      <p:sp>
        <p:nvSpPr>
          <p:cNvPr id="7" name="Rectangle 6"/>
          <p:cNvSpPr/>
          <p:nvPr/>
        </p:nvSpPr>
        <p:spPr>
          <a:xfrm>
            <a:off x="155411" y="688869"/>
            <a:ext cx="4371369" cy="196031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8" name="Rectangle 7"/>
          <p:cNvSpPr/>
          <p:nvPr/>
        </p:nvSpPr>
        <p:spPr>
          <a:xfrm>
            <a:off x="155410" y="2930501"/>
            <a:ext cx="4170930" cy="461665"/>
          </a:xfrm>
          <a:prstGeom prst="rect">
            <a:avLst/>
          </a:prstGeom>
        </p:spPr>
        <p:txBody>
          <a:bodyPr wrap="square">
            <a:spAutoFit/>
          </a:bodyPr>
          <a:lstStyle/>
          <a:p>
            <a:r>
              <a:rPr lang="en-US" sz="1200" dirty="0"/>
              <a:t>Install </a:t>
            </a:r>
            <a:r>
              <a:rPr lang="en-US" sz="1200" dirty="0" err="1"/>
              <a:t>Ceph</a:t>
            </a:r>
            <a:r>
              <a:rPr lang="en-US" sz="1200" dirty="0"/>
              <a:t>-common package so we can use </a:t>
            </a:r>
            <a:r>
              <a:rPr lang="en-US" sz="1200" dirty="0" err="1"/>
              <a:t>ceph</a:t>
            </a:r>
            <a:r>
              <a:rPr lang="en-US" sz="1200" dirty="0"/>
              <a:t> command to check cluster directly</a:t>
            </a:r>
            <a:endParaRPr lang="en-US" sz="1200" b="1" dirty="0">
              <a:solidFill>
                <a:srgbClr val="002060"/>
              </a:solidFill>
            </a:endParaRPr>
          </a:p>
        </p:txBody>
      </p:sp>
      <p:sp>
        <p:nvSpPr>
          <p:cNvPr id="9" name="Rectangle 8"/>
          <p:cNvSpPr/>
          <p:nvPr/>
        </p:nvSpPr>
        <p:spPr>
          <a:xfrm>
            <a:off x="222425" y="3513334"/>
            <a:ext cx="4371369" cy="1015663"/>
          </a:xfrm>
          <a:prstGeom prst="rect">
            <a:avLst/>
          </a:prstGeom>
        </p:spPr>
        <p:txBody>
          <a:bodyPr wrap="square">
            <a:spAutoFit/>
          </a:bodyPr>
          <a:lstStyle/>
          <a:p>
            <a:r>
              <a:rPr lang="en-US" sz="600" dirty="0" smtClean="0"/>
              <a:t>cephadmin@GPU111</a:t>
            </a:r>
            <a:r>
              <a:rPr lang="en-US" sz="600" dirty="0"/>
              <a:t>:~$ </a:t>
            </a:r>
            <a:r>
              <a:rPr lang="en-US" sz="600" dirty="0" err="1"/>
              <a:t>sudo</a:t>
            </a:r>
            <a:r>
              <a:rPr lang="en-US" sz="600" dirty="0"/>
              <a:t> </a:t>
            </a:r>
            <a:r>
              <a:rPr lang="en-US" sz="600" dirty="0" err="1"/>
              <a:t>cephadm</a:t>
            </a:r>
            <a:r>
              <a:rPr lang="en-US" sz="600" dirty="0"/>
              <a:t> version</a:t>
            </a:r>
          </a:p>
          <a:p>
            <a:r>
              <a:rPr lang="en-US" sz="600" dirty="0"/>
              <a:t>Using recent </a:t>
            </a:r>
            <a:r>
              <a:rPr lang="en-US" sz="600" dirty="0" err="1"/>
              <a:t>ceph</a:t>
            </a:r>
            <a:r>
              <a:rPr lang="en-US" sz="600" dirty="0"/>
              <a:t> image quay.io/</a:t>
            </a:r>
            <a:r>
              <a:rPr lang="en-US" sz="600" dirty="0" err="1"/>
              <a:t>ceph</a:t>
            </a:r>
            <a:r>
              <a:rPr lang="en-US" sz="600" dirty="0"/>
              <a:t>/ceph@sha256:c08064dde4bba4e72a1f55d90ca32df9ef5aafab82efe2e0a0722444a5aaacca</a:t>
            </a:r>
          </a:p>
          <a:p>
            <a:r>
              <a:rPr lang="en-US" sz="600" dirty="0" err="1"/>
              <a:t>ceph</a:t>
            </a:r>
            <a:r>
              <a:rPr lang="en-US" sz="600" dirty="0"/>
              <a:t> version 15.2.17 (8a82819d84cf884bd39c17e3236e0632ac146dc4) octopus (stable)</a:t>
            </a:r>
          </a:p>
          <a:p>
            <a:endParaRPr lang="en-US" sz="600" dirty="0"/>
          </a:p>
          <a:p>
            <a:r>
              <a:rPr lang="en-US" sz="600" dirty="0" smtClean="0"/>
              <a:t>cephadmin@GPU111</a:t>
            </a:r>
            <a:r>
              <a:rPr lang="en-US" sz="600" dirty="0"/>
              <a:t>:~$ </a:t>
            </a:r>
            <a:r>
              <a:rPr lang="en-US" sz="600" dirty="0" err="1"/>
              <a:t>sudo</a:t>
            </a:r>
            <a:r>
              <a:rPr lang="en-US" sz="600" dirty="0"/>
              <a:t> </a:t>
            </a:r>
            <a:r>
              <a:rPr lang="en-US" sz="600" dirty="0" err="1"/>
              <a:t>cephadm</a:t>
            </a:r>
            <a:r>
              <a:rPr lang="en-US" sz="600" dirty="0"/>
              <a:t> add-repo --release octopus</a:t>
            </a:r>
          </a:p>
          <a:p>
            <a:r>
              <a:rPr lang="en-US" sz="600" dirty="0"/>
              <a:t>Installing repo GPG key from https://download.ceph.com/keys/</a:t>
            </a:r>
            <a:r>
              <a:rPr lang="en-US" sz="600" dirty="0" err="1"/>
              <a:t>release.asc</a:t>
            </a:r>
            <a:r>
              <a:rPr lang="en-US" sz="600" dirty="0"/>
              <a:t>...</a:t>
            </a:r>
          </a:p>
          <a:p>
            <a:r>
              <a:rPr lang="en-US" sz="600" dirty="0"/>
              <a:t>Installing repo file at /</a:t>
            </a:r>
            <a:r>
              <a:rPr lang="en-US" sz="600" dirty="0" err="1"/>
              <a:t>etc</a:t>
            </a:r>
            <a:r>
              <a:rPr lang="en-US" sz="600" dirty="0"/>
              <a:t>/apt/</a:t>
            </a:r>
            <a:r>
              <a:rPr lang="en-US" sz="600" dirty="0" err="1"/>
              <a:t>sources.list.d</a:t>
            </a:r>
            <a:r>
              <a:rPr lang="en-US" sz="600" dirty="0"/>
              <a:t>/</a:t>
            </a:r>
            <a:r>
              <a:rPr lang="en-US" sz="600" dirty="0" err="1"/>
              <a:t>ceph.list</a:t>
            </a:r>
            <a:r>
              <a:rPr lang="en-US" sz="600" dirty="0"/>
              <a:t>...</a:t>
            </a:r>
          </a:p>
          <a:p>
            <a:endParaRPr lang="en-US" sz="600" dirty="0"/>
          </a:p>
          <a:p>
            <a:r>
              <a:rPr lang="en-US" sz="600" dirty="0" smtClean="0"/>
              <a:t>cephadmin@GPU111</a:t>
            </a:r>
            <a:r>
              <a:rPr lang="en-US" sz="600" dirty="0"/>
              <a:t>:~$ </a:t>
            </a:r>
            <a:r>
              <a:rPr lang="en-US" sz="600" dirty="0" err="1"/>
              <a:t>sudo</a:t>
            </a:r>
            <a:r>
              <a:rPr lang="en-US" sz="600" dirty="0"/>
              <a:t> </a:t>
            </a:r>
            <a:r>
              <a:rPr lang="en-US" sz="600" dirty="0" err="1"/>
              <a:t>cephadm</a:t>
            </a:r>
            <a:r>
              <a:rPr lang="en-US" sz="600" dirty="0"/>
              <a:t> install </a:t>
            </a:r>
            <a:r>
              <a:rPr lang="en-US" sz="600" dirty="0" err="1"/>
              <a:t>ceph</a:t>
            </a:r>
            <a:r>
              <a:rPr lang="en-US" sz="600" dirty="0"/>
              <a:t>-common</a:t>
            </a:r>
          </a:p>
          <a:p>
            <a:r>
              <a:rPr lang="en-US" sz="600" dirty="0"/>
              <a:t>Installing packages ['</a:t>
            </a:r>
            <a:r>
              <a:rPr lang="en-US" sz="600" dirty="0" err="1"/>
              <a:t>ceph</a:t>
            </a:r>
            <a:r>
              <a:rPr lang="en-US" sz="600" dirty="0"/>
              <a:t>-common']...</a:t>
            </a:r>
          </a:p>
        </p:txBody>
      </p:sp>
      <p:sp>
        <p:nvSpPr>
          <p:cNvPr id="10" name="Rectangle 9"/>
          <p:cNvSpPr/>
          <p:nvPr/>
        </p:nvSpPr>
        <p:spPr>
          <a:xfrm>
            <a:off x="155411" y="3457192"/>
            <a:ext cx="4371369" cy="119669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2" name="Rectangle 11"/>
          <p:cNvSpPr/>
          <p:nvPr/>
        </p:nvSpPr>
        <p:spPr>
          <a:xfrm>
            <a:off x="4702975" y="745011"/>
            <a:ext cx="4371369" cy="1569660"/>
          </a:xfrm>
          <a:prstGeom prst="rect">
            <a:avLst/>
          </a:prstGeom>
        </p:spPr>
        <p:txBody>
          <a:bodyPr wrap="square">
            <a:spAutoFit/>
          </a:bodyPr>
          <a:lstStyle/>
          <a:p>
            <a:r>
              <a:rPr lang="en-US" sz="600" dirty="0" smtClean="0"/>
              <a:t>cephadmin@GPU111</a:t>
            </a:r>
            <a:r>
              <a:rPr lang="en-US" sz="600" dirty="0"/>
              <a:t>:~$ </a:t>
            </a:r>
            <a:r>
              <a:rPr lang="en-US" sz="600" dirty="0" err="1"/>
              <a:t>sudo</a:t>
            </a:r>
            <a:r>
              <a:rPr lang="en-US" sz="600" dirty="0"/>
              <a:t> </a:t>
            </a:r>
            <a:r>
              <a:rPr lang="en-US" sz="600" dirty="0" err="1"/>
              <a:t>ceph</a:t>
            </a:r>
            <a:r>
              <a:rPr lang="en-US" sz="600" dirty="0"/>
              <a:t> -s</a:t>
            </a:r>
          </a:p>
          <a:p>
            <a:r>
              <a:rPr lang="en-US" sz="600" dirty="0"/>
              <a:t>  cluster:</a:t>
            </a:r>
          </a:p>
          <a:p>
            <a:r>
              <a:rPr lang="en-US" sz="600" dirty="0"/>
              <a:t>    id:     16e21856-6030-11ed-8a24-db02e0e54b22</a:t>
            </a:r>
          </a:p>
          <a:p>
            <a:r>
              <a:rPr lang="en-US" sz="600" dirty="0"/>
              <a:t>    health: HEALTH_WARN</a:t>
            </a:r>
          </a:p>
          <a:p>
            <a:r>
              <a:rPr lang="en-US" sz="600" dirty="0"/>
              <a:t>            OSD count 0 &lt; </a:t>
            </a:r>
            <a:r>
              <a:rPr lang="en-US" sz="600" dirty="0" err="1"/>
              <a:t>osd_pool_default_size</a:t>
            </a:r>
            <a:r>
              <a:rPr lang="en-US" sz="600" dirty="0"/>
              <a:t> 3</a:t>
            </a:r>
          </a:p>
          <a:p>
            <a:r>
              <a:rPr lang="en-US" sz="600" dirty="0"/>
              <a:t> </a:t>
            </a:r>
          </a:p>
          <a:p>
            <a:r>
              <a:rPr lang="en-US" sz="600" dirty="0"/>
              <a:t>  services:</a:t>
            </a:r>
          </a:p>
          <a:p>
            <a:r>
              <a:rPr lang="en-US" sz="600" dirty="0"/>
              <a:t>    mon: 1 daemons, quorum </a:t>
            </a:r>
            <a:r>
              <a:rPr lang="en-US" sz="600" dirty="0" smtClean="0"/>
              <a:t>GPU111 </a:t>
            </a:r>
            <a:r>
              <a:rPr lang="en-US" sz="600" dirty="0"/>
              <a:t>(age 12m)</a:t>
            </a:r>
          </a:p>
          <a:p>
            <a:r>
              <a:rPr lang="en-US" sz="600" dirty="0"/>
              <a:t>    </a:t>
            </a:r>
            <a:r>
              <a:rPr lang="en-US" sz="600" dirty="0" err="1"/>
              <a:t>mgr</a:t>
            </a:r>
            <a:r>
              <a:rPr lang="en-US" sz="600" dirty="0"/>
              <a:t>: </a:t>
            </a:r>
            <a:r>
              <a:rPr lang="en-US" sz="600" dirty="0" smtClean="0"/>
              <a:t>GPU111.oezajx(active</a:t>
            </a:r>
            <a:r>
              <a:rPr lang="en-US" sz="600" dirty="0"/>
              <a:t>, since 12m)</a:t>
            </a:r>
          </a:p>
          <a:p>
            <a:r>
              <a:rPr lang="en-US" sz="600" dirty="0"/>
              <a:t>    </a:t>
            </a:r>
            <a:r>
              <a:rPr lang="en-US" sz="600" dirty="0" err="1"/>
              <a:t>osd</a:t>
            </a:r>
            <a:r>
              <a:rPr lang="en-US" sz="600" dirty="0"/>
              <a:t>: 0 </a:t>
            </a:r>
            <a:r>
              <a:rPr lang="en-US" sz="600" dirty="0" err="1"/>
              <a:t>osds</a:t>
            </a:r>
            <a:r>
              <a:rPr lang="en-US" sz="600" dirty="0"/>
              <a:t>: 0 up, 0 in</a:t>
            </a:r>
          </a:p>
          <a:p>
            <a:r>
              <a:rPr lang="en-US" sz="600" dirty="0"/>
              <a:t> </a:t>
            </a:r>
          </a:p>
          <a:p>
            <a:r>
              <a:rPr lang="en-US" sz="600" dirty="0"/>
              <a:t>  data:</a:t>
            </a:r>
          </a:p>
          <a:p>
            <a:r>
              <a:rPr lang="en-US" sz="600" dirty="0"/>
              <a:t>    pools:   0 pools, 0 </a:t>
            </a:r>
            <a:r>
              <a:rPr lang="en-US" sz="600" dirty="0" err="1"/>
              <a:t>pgs</a:t>
            </a:r>
            <a:endParaRPr lang="en-US" sz="600" dirty="0"/>
          </a:p>
          <a:p>
            <a:r>
              <a:rPr lang="en-US" sz="600" dirty="0"/>
              <a:t>    objects: 0 objects, 0 B</a:t>
            </a:r>
          </a:p>
          <a:p>
            <a:r>
              <a:rPr lang="en-US" sz="600" dirty="0"/>
              <a:t>    usage:   0 B used, 0 B / 0 B avail</a:t>
            </a:r>
          </a:p>
          <a:p>
            <a:r>
              <a:rPr lang="en-US" sz="600" dirty="0"/>
              <a:t>    </a:t>
            </a:r>
            <a:r>
              <a:rPr lang="en-US" sz="600" dirty="0" err="1"/>
              <a:t>pgs</a:t>
            </a:r>
            <a:r>
              <a:rPr lang="en-US" sz="600" dirty="0"/>
              <a:t>: </a:t>
            </a:r>
          </a:p>
        </p:txBody>
      </p:sp>
      <p:sp>
        <p:nvSpPr>
          <p:cNvPr id="13" name="Rectangle 12"/>
          <p:cNvSpPr/>
          <p:nvPr/>
        </p:nvSpPr>
        <p:spPr>
          <a:xfrm>
            <a:off x="4635961" y="688869"/>
            <a:ext cx="4371369" cy="162580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4" name="Rectangle 13"/>
          <p:cNvSpPr/>
          <p:nvPr/>
        </p:nvSpPr>
        <p:spPr>
          <a:xfrm>
            <a:off x="4593794" y="2381783"/>
            <a:ext cx="4170930" cy="276999"/>
          </a:xfrm>
          <a:prstGeom prst="rect">
            <a:avLst/>
          </a:prstGeom>
        </p:spPr>
        <p:txBody>
          <a:bodyPr wrap="square">
            <a:spAutoFit/>
          </a:bodyPr>
          <a:lstStyle/>
          <a:p>
            <a:r>
              <a:rPr lang="en-US" sz="1200" dirty="0"/>
              <a:t>Add host label to </a:t>
            </a:r>
            <a:r>
              <a:rPr lang="en-US" sz="1200" dirty="0" smtClean="0"/>
              <a:t>GPU111</a:t>
            </a:r>
            <a:endParaRPr lang="en-US" sz="1200" b="1" dirty="0">
              <a:solidFill>
                <a:srgbClr val="002060"/>
              </a:solidFill>
            </a:endParaRPr>
          </a:p>
        </p:txBody>
      </p:sp>
      <p:sp>
        <p:nvSpPr>
          <p:cNvPr id="15" name="Rectangle 14"/>
          <p:cNvSpPr/>
          <p:nvPr/>
        </p:nvSpPr>
        <p:spPr>
          <a:xfrm>
            <a:off x="4660810" y="2729481"/>
            <a:ext cx="4371369" cy="1015663"/>
          </a:xfrm>
          <a:prstGeom prst="rect">
            <a:avLst/>
          </a:prstGeom>
        </p:spPr>
        <p:txBody>
          <a:bodyPr wrap="square">
            <a:spAutoFit/>
          </a:bodyPr>
          <a:lstStyle/>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ls</a:t>
            </a:r>
          </a:p>
          <a:p>
            <a:r>
              <a:rPr lang="en-US" sz="600" dirty="0"/>
              <a:t>HOST    ADDR    LABELS  STATUS  </a:t>
            </a:r>
          </a:p>
          <a:p>
            <a:r>
              <a:rPr lang="en-US" sz="600" dirty="0" smtClean="0"/>
              <a:t>GPU111  </a:t>
            </a:r>
            <a:r>
              <a:rPr lang="en-US" sz="600" dirty="0" err="1" smtClean="0"/>
              <a:t>GPU111</a:t>
            </a:r>
            <a:r>
              <a:rPr lang="en-US" sz="600" dirty="0" smtClean="0"/>
              <a:t>  </a:t>
            </a:r>
            <a:endParaRPr lang="en-US" sz="600" dirty="0"/>
          </a:p>
          <a:p>
            <a:endParaRPr lang="en-US" sz="600" dirty="0"/>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label add </a:t>
            </a:r>
            <a:r>
              <a:rPr lang="en-US" sz="600" dirty="0" smtClean="0"/>
              <a:t>GPU111 </a:t>
            </a:r>
            <a:r>
              <a:rPr lang="en-US" sz="600" dirty="0"/>
              <a:t>_admin</a:t>
            </a:r>
          </a:p>
          <a:p>
            <a:r>
              <a:rPr lang="en-US" sz="600" dirty="0"/>
              <a:t>Added label _admin to host </a:t>
            </a:r>
            <a:r>
              <a:rPr lang="en-US" sz="600" dirty="0" smtClean="0"/>
              <a:t>GPU111</a:t>
            </a:r>
            <a:endParaRPr lang="en-US" sz="600" dirty="0"/>
          </a:p>
          <a:p>
            <a:endParaRPr lang="en-US" sz="600" dirty="0"/>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ls</a:t>
            </a:r>
          </a:p>
          <a:p>
            <a:r>
              <a:rPr lang="en-US" sz="600" dirty="0"/>
              <a:t>HOST    ADDR    LABELS  STATUS  </a:t>
            </a:r>
          </a:p>
          <a:p>
            <a:r>
              <a:rPr lang="en-US" sz="600" dirty="0" smtClean="0"/>
              <a:t>GPU111  </a:t>
            </a:r>
            <a:r>
              <a:rPr lang="en-US" sz="600" dirty="0" err="1" smtClean="0"/>
              <a:t>GPU111</a:t>
            </a:r>
            <a:r>
              <a:rPr lang="en-US" sz="600" dirty="0" smtClean="0"/>
              <a:t>  </a:t>
            </a:r>
            <a:r>
              <a:rPr lang="en-US" sz="600" dirty="0"/>
              <a:t>_admin </a:t>
            </a:r>
          </a:p>
        </p:txBody>
      </p:sp>
      <p:sp>
        <p:nvSpPr>
          <p:cNvPr id="16" name="Rectangle 15"/>
          <p:cNvSpPr/>
          <p:nvPr/>
        </p:nvSpPr>
        <p:spPr>
          <a:xfrm>
            <a:off x="4660810" y="2673270"/>
            <a:ext cx="4371369" cy="119669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184020728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2510367" cy="276999"/>
          </a:xfrm>
          <a:prstGeom prst="rect">
            <a:avLst/>
          </a:prstGeom>
        </p:spPr>
        <p:txBody>
          <a:bodyPr wrap="none">
            <a:spAutoFit/>
          </a:bodyPr>
          <a:lstStyle/>
          <a:p>
            <a:r>
              <a:rPr lang="en-US" sz="1200" dirty="0"/>
              <a:t>Copy public key of </a:t>
            </a:r>
            <a:r>
              <a:rPr lang="en-US" sz="1200" dirty="0" err="1"/>
              <a:t>Ceph</a:t>
            </a:r>
            <a:r>
              <a:rPr lang="en-US" sz="1200" dirty="0"/>
              <a:t> to OSD hosts</a:t>
            </a:r>
            <a:endParaRPr lang="en-US" sz="1200" b="1" dirty="0">
              <a:solidFill>
                <a:srgbClr val="002060"/>
              </a:solidFill>
            </a:endParaRPr>
          </a:p>
        </p:txBody>
      </p:sp>
      <p:sp>
        <p:nvSpPr>
          <p:cNvPr id="4" name="Rectangle 3"/>
          <p:cNvSpPr/>
          <p:nvPr/>
        </p:nvSpPr>
        <p:spPr>
          <a:xfrm>
            <a:off x="155410" y="710195"/>
            <a:ext cx="4371369" cy="3323987"/>
          </a:xfrm>
          <a:prstGeom prst="rect">
            <a:avLst/>
          </a:prstGeom>
        </p:spPr>
        <p:txBody>
          <a:bodyPr wrap="square">
            <a:spAutoFit/>
          </a:bodyPr>
          <a:lstStyle/>
          <a:p>
            <a:r>
              <a:rPr lang="en-US" sz="600" dirty="0" smtClean="0"/>
              <a:t>cephadmin@GPU111</a:t>
            </a:r>
            <a:r>
              <a:rPr lang="en-US" sz="600" dirty="0"/>
              <a:t>:~$ </a:t>
            </a:r>
            <a:r>
              <a:rPr lang="en-US" sz="600" dirty="0" err="1"/>
              <a:t>ssh</a:t>
            </a:r>
            <a:r>
              <a:rPr lang="en-US" sz="600" dirty="0"/>
              <a:t>-copy-id -f -</a:t>
            </a:r>
            <a:r>
              <a:rPr lang="en-US" sz="600" dirty="0" err="1"/>
              <a:t>i</a:t>
            </a:r>
            <a:r>
              <a:rPr lang="en-US" sz="600" dirty="0"/>
              <a:t> /</a:t>
            </a:r>
            <a:r>
              <a:rPr lang="en-US" sz="600" dirty="0" err="1"/>
              <a:t>etc</a:t>
            </a:r>
            <a:r>
              <a:rPr lang="en-US" sz="600" dirty="0"/>
              <a:t>/</a:t>
            </a:r>
            <a:r>
              <a:rPr lang="en-US" sz="600" dirty="0" err="1"/>
              <a:t>ceph</a:t>
            </a:r>
            <a:r>
              <a:rPr lang="en-US" sz="600" dirty="0"/>
              <a:t>/ceph.pub </a:t>
            </a:r>
            <a:r>
              <a:rPr lang="en-US" sz="600" dirty="0" smtClean="0"/>
              <a:t>root@GPU71</a:t>
            </a:r>
            <a:endParaRPr lang="en-US" sz="600" dirty="0"/>
          </a:p>
          <a:p>
            <a:r>
              <a:rPr lang="en-US" sz="600" dirty="0"/>
              <a:t>/</a:t>
            </a:r>
            <a:r>
              <a:rPr lang="en-US" sz="600" dirty="0" err="1"/>
              <a:t>usr</a:t>
            </a:r>
            <a:r>
              <a:rPr lang="en-US" sz="600" dirty="0"/>
              <a:t>/bin/</a:t>
            </a:r>
            <a:r>
              <a:rPr lang="en-US" sz="600" dirty="0" err="1"/>
              <a:t>ssh</a:t>
            </a:r>
            <a:r>
              <a:rPr lang="en-US" sz="600" dirty="0"/>
              <a:t>-copy-id: INFO: Source of key(s) to be installed: "/</a:t>
            </a:r>
            <a:r>
              <a:rPr lang="en-US" sz="600" dirty="0" err="1"/>
              <a:t>etc</a:t>
            </a:r>
            <a:r>
              <a:rPr lang="en-US" sz="600" dirty="0"/>
              <a:t>/</a:t>
            </a:r>
            <a:r>
              <a:rPr lang="en-US" sz="600" dirty="0" err="1"/>
              <a:t>ceph</a:t>
            </a:r>
            <a:r>
              <a:rPr lang="en-US" sz="600" dirty="0"/>
              <a:t>/ceph.pub"</a:t>
            </a:r>
          </a:p>
          <a:p>
            <a:r>
              <a:rPr lang="en-US" sz="600" dirty="0"/>
              <a:t>The authenticity of host </a:t>
            </a:r>
            <a:r>
              <a:rPr lang="en-US" sz="600" dirty="0" smtClean="0"/>
              <a:t>'GPU71 </a:t>
            </a:r>
            <a:r>
              <a:rPr lang="en-US" sz="600" dirty="0"/>
              <a:t>(192.168.1.24)' can't be established.</a:t>
            </a:r>
          </a:p>
          <a:p>
            <a:r>
              <a:rPr lang="en-US" sz="600" dirty="0"/>
              <a:t>ECDSA key fingerprint is SHA256:jwfxrwrwnLwLblfkfLJC3Yr894+FGQznY8+ylYTNXR8.</a:t>
            </a:r>
          </a:p>
          <a:p>
            <a:r>
              <a:rPr lang="en-US" sz="600" dirty="0"/>
              <a:t>Are you sure you want to continue connecting (yes/no/[fingerprint])? yes</a:t>
            </a:r>
          </a:p>
          <a:p>
            <a:r>
              <a:rPr lang="en-US" sz="600" dirty="0" smtClean="0"/>
              <a:t>root@GPU71's </a:t>
            </a:r>
            <a:r>
              <a:rPr lang="en-US" sz="600" dirty="0"/>
              <a:t>password: </a:t>
            </a:r>
          </a:p>
          <a:p>
            <a:endParaRPr lang="en-US" sz="600" dirty="0"/>
          </a:p>
          <a:p>
            <a:r>
              <a:rPr lang="en-US" sz="600" dirty="0"/>
              <a:t>Number of key(s) added: 1</a:t>
            </a:r>
          </a:p>
          <a:p>
            <a:endParaRPr lang="en-US" sz="600" dirty="0"/>
          </a:p>
          <a:p>
            <a:r>
              <a:rPr lang="en-US" sz="600" dirty="0"/>
              <a:t>Now try logging into the machine, with:   "</a:t>
            </a:r>
            <a:r>
              <a:rPr lang="en-US" sz="600" dirty="0" err="1"/>
              <a:t>ssh</a:t>
            </a:r>
            <a:r>
              <a:rPr lang="en-US" sz="600" dirty="0"/>
              <a:t> </a:t>
            </a:r>
            <a:r>
              <a:rPr lang="en-US" sz="600" dirty="0" smtClean="0"/>
              <a:t>'root@GPU71</a:t>
            </a:r>
            <a:r>
              <a:rPr lang="en-US" sz="600" dirty="0"/>
              <a:t>'"</a:t>
            </a:r>
          </a:p>
          <a:p>
            <a:r>
              <a:rPr lang="en-US" sz="600" dirty="0"/>
              <a:t>and check to make sure that only the key(s) you wanted were added.</a:t>
            </a:r>
          </a:p>
          <a:p>
            <a:endParaRPr lang="en-US" sz="600" dirty="0"/>
          </a:p>
          <a:p>
            <a:r>
              <a:rPr lang="en-US" sz="600" dirty="0" smtClean="0"/>
              <a:t>cephadmin@GPU111</a:t>
            </a:r>
            <a:r>
              <a:rPr lang="en-US" sz="600" dirty="0"/>
              <a:t>:~$ </a:t>
            </a:r>
            <a:r>
              <a:rPr lang="en-US" sz="600" dirty="0" err="1"/>
              <a:t>ssh</a:t>
            </a:r>
            <a:r>
              <a:rPr lang="en-US" sz="600" dirty="0"/>
              <a:t>-copy-id -f -</a:t>
            </a:r>
            <a:r>
              <a:rPr lang="en-US" sz="600" dirty="0" err="1"/>
              <a:t>i</a:t>
            </a:r>
            <a:r>
              <a:rPr lang="en-US" sz="600" dirty="0"/>
              <a:t> /</a:t>
            </a:r>
            <a:r>
              <a:rPr lang="en-US" sz="600" dirty="0" err="1"/>
              <a:t>etc</a:t>
            </a:r>
            <a:r>
              <a:rPr lang="en-US" sz="600" dirty="0"/>
              <a:t>/</a:t>
            </a:r>
            <a:r>
              <a:rPr lang="en-US" sz="600" dirty="0" err="1"/>
              <a:t>ceph</a:t>
            </a:r>
            <a:r>
              <a:rPr lang="en-US" sz="600" dirty="0"/>
              <a:t>/ceph.pub </a:t>
            </a:r>
            <a:r>
              <a:rPr lang="en-US" sz="600" dirty="0" smtClean="0"/>
              <a:t>root@GPU72</a:t>
            </a:r>
            <a:endParaRPr lang="en-US" sz="600" dirty="0"/>
          </a:p>
          <a:p>
            <a:r>
              <a:rPr lang="en-US" sz="600" dirty="0"/>
              <a:t>/</a:t>
            </a:r>
            <a:r>
              <a:rPr lang="en-US" sz="600" dirty="0" err="1"/>
              <a:t>usr</a:t>
            </a:r>
            <a:r>
              <a:rPr lang="en-US" sz="600" dirty="0"/>
              <a:t>/bin/</a:t>
            </a:r>
            <a:r>
              <a:rPr lang="en-US" sz="600" dirty="0" err="1"/>
              <a:t>ssh</a:t>
            </a:r>
            <a:r>
              <a:rPr lang="en-US" sz="600" dirty="0"/>
              <a:t>-copy-id: INFO: Source of key(s) to be installed: "/</a:t>
            </a:r>
            <a:r>
              <a:rPr lang="en-US" sz="600" dirty="0" err="1"/>
              <a:t>etc</a:t>
            </a:r>
            <a:r>
              <a:rPr lang="en-US" sz="600" dirty="0"/>
              <a:t>/</a:t>
            </a:r>
            <a:r>
              <a:rPr lang="en-US" sz="600" dirty="0" err="1"/>
              <a:t>ceph</a:t>
            </a:r>
            <a:r>
              <a:rPr lang="en-US" sz="600" dirty="0"/>
              <a:t>/ceph.pub"</a:t>
            </a:r>
          </a:p>
          <a:p>
            <a:r>
              <a:rPr lang="en-US" sz="600" dirty="0"/>
              <a:t>The authenticity of host </a:t>
            </a:r>
            <a:r>
              <a:rPr lang="en-US" sz="600" dirty="0" smtClean="0"/>
              <a:t>'GPU72 </a:t>
            </a:r>
            <a:r>
              <a:rPr lang="en-US" sz="600" dirty="0"/>
              <a:t>(192.168.1.25)' can't be established.</a:t>
            </a:r>
          </a:p>
          <a:p>
            <a:r>
              <a:rPr lang="en-US" sz="600" dirty="0"/>
              <a:t>ECDSA key fingerprint is SHA256:9gXSkvu9mZsfNu56cQgMcSYnfEr33h5haoYs8CVxh6E.</a:t>
            </a:r>
          </a:p>
          <a:p>
            <a:r>
              <a:rPr lang="en-US" sz="600" dirty="0"/>
              <a:t>Are you sure you want to continue connecting (yes/no/[fingerprint])? yes</a:t>
            </a:r>
          </a:p>
          <a:p>
            <a:r>
              <a:rPr lang="en-US" sz="600" dirty="0" smtClean="0"/>
              <a:t>root@GPU72's </a:t>
            </a:r>
            <a:r>
              <a:rPr lang="en-US" sz="600" dirty="0"/>
              <a:t>password: </a:t>
            </a:r>
          </a:p>
          <a:p>
            <a:endParaRPr lang="en-US" sz="600" dirty="0"/>
          </a:p>
          <a:p>
            <a:r>
              <a:rPr lang="en-US" sz="600" dirty="0"/>
              <a:t>Number of key(s) added: 1</a:t>
            </a:r>
          </a:p>
          <a:p>
            <a:endParaRPr lang="en-US" sz="600" dirty="0"/>
          </a:p>
          <a:p>
            <a:r>
              <a:rPr lang="en-US" sz="600" dirty="0"/>
              <a:t>Now try logging into the machine, with:   "</a:t>
            </a:r>
            <a:r>
              <a:rPr lang="en-US" sz="600" dirty="0" err="1"/>
              <a:t>ssh</a:t>
            </a:r>
            <a:r>
              <a:rPr lang="en-US" sz="600" dirty="0"/>
              <a:t> </a:t>
            </a:r>
            <a:r>
              <a:rPr lang="en-US" sz="600" dirty="0" smtClean="0"/>
              <a:t>'root@GPU72</a:t>
            </a:r>
            <a:r>
              <a:rPr lang="en-US" sz="600" dirty="0"/>
              <a:t>'"</a:t>
            </a:r>
          </a:p>
          <a:p>
            <a:r>
              <a:rPr lang="en-US" sz="600" dirty="0"/>
              <a:t>and check to make sure that only the key(s) you wanted were added.</a:t>
            </a:r>
          </a:p>
          <a:p>
            <a:endParaRPr lang="en-US" sz="600" dirty="0"/>
          </a:p>
          <a:p>
            <a:r>
              <a:rPr lang="en-US" sz="600" dirty="0" smtClean="0"/>
              <a:t>cephadmin@GPU111</a:t>
            </a:r>
            <a:r>
              <a:rPr lang="en-US" sz="600" dirty="0"/>
              <a:t>:~$ </a:t>
            </a:r>
            <a:r>
              <a:rPr lang="en-US" sz="600" dirty="0" err="1"/>
              <a:t>ssh</a:t>
            </a:r>
            <a:r>
              <a:rPr lang="en-US" sz="600" dirty="0"/>
              <a:t>-copy-id -f -</a:t>
            </a:r>
            <a:r>
              <a:rPr lang="en-US" sz="600" dirty="0" err="1"/>
              <a:t>i</a:t>
            </a:r>
            <a:r>
              <a:rPr lang="en-US" sz="600" dirty="0"/>
              <a:t> /</a:t>
            </a:r>
            <a:r>
              <a:rPr lang="en-US" sz="600" dirty="0" err="1"/>
              <a:t>etc</a:t>
            </a:r>
            <a:r>
              <a:rPr lang="en-US" sz="600" dirty="0"/>
              <a:t>/</a:t>
            </a:r>
            <a:r>
              <a:rPr lang="en-US" sz="600" dirty="0" err="1"/>
              <a:t>ceph</a:t>
            </a:r>
            <a:r>
              <a:rPr lang="en-US" sz="600" dirty="0"/>
              <a:t>/ceph.pub </a:t>
            </a:r>
            <a:r>
              <a:rPr lang="en-US" sz="600" dirty="0" smtClean="0"/>
              <a:t>root@GPU73</a:t>
            </a:r>
            <a:endParaRPr lang="en-US" sz="600" dirty="0"/>
          </a:p>
          <a:p>
            <a:r>
              <a:rPr lang="en-US" sz="600" dirty="0"/>
              <a:t>/</a:t>
            </a:r>
            <a:r>
              <a:rPr lang="en-US" sz="600" dirty="0" err="1"/>
              <a:t>usr</a:t>
            </a:r>
            <a:r>
              <a:rPr lang="en-US" sz="600" dirty="0"/>
              <a:t>/bin/</a:t>
            </a:r>
            <a:r>
              <a:rPr lang="en-US" sz="600" dirty="0" err="1"/>
              <a:t>ssh</a:t>
            </a:r>
            <a:r>
              <a:rPr lang="en-US" sz="600" dirty="0"/>
              <a:t>-copy-id: INFO: Source of key(s) to be installed: "/</a:t>
            </a:r>
            <a:r>
              <a:rPr lang="en-US" sz="600" dirty="0" err="1"/>
              <a:t>etc</a:t>
            </a:r>
            <a:r>
              <a:rPr lang="en-US" sz="600" dirty="0"/>
              <a:t>/</a:t>
            </a:r>
            <a:r>
              <a:rPr lang="en-US" sz="600" dirty="0" err="1"/>
              <a:t>ceph</a:t>
            </a:r>
            <a:r>
              <a:rPr lang="en-US" sz="600" dirty="0"/>
              <a:t>/ceph.pub"</a:t>
            </a:r>
          </a:p>
          <a:p>
            <a:r>
              <a:rPr lang="en-US" sz="600" dirty="0"/>
              <a:t>The authenticity of host </a:t>
            </a:r>
            <a:r>
              <a:rPr lang="en-US" sz="600" dirty="0" smtClean="0"/>
              <a:t>'GPU73 </a:t>
            </a:r>
            <a:r>
              <a:rPr lang="en-US" sz="600" dirty="0"/>
              <a:t>(192.168.1.26)' can't be established.</a:t>
            </a:r>
          </a:p>
          <a:p>
            <a:r>
              <a:rPr lang="en-US" sz="600" dirty="0"/>
              <a:t>ECDSA key fingerprint is SHA256:4GMMsd+hO9Zh71ZrI/cHneRFoPO3kBuV/f5K7JeMVhY.</a:t>
            </a:r>
          </a:p>
          <a:p>
            <a:r>
              <a:rPr lang="en-US" sz="600" dirty="0"/>
              <a:t>Are you sure you want to continue connecting (yes/no/[fingerprint])? yes</a:t>
            </a:r>
          </a:p>
          <a:p>
            <a:r>
              <a:rPr lang="en-US" sz="600" dirty="0" smtClean="0"/>
              <a:t>root@GPU73's </a:t>
            </a:r>
            <a:r>
              <a:rPr lang="en-US" sz="600" dirty="0"/>
              <a:t>password: </a:t>
            </a:r>
          </a:p>
          <a:p>
            <a:endParaRPr lang="en-US" sz="600" dirty="0"/>
          </a:p>
          <a:p>
            <a:r>
              <a:rPr lang="en-US" sz="600" dirty="0"/>
              <a:t>Number of key(s) added: 1</a:t>
            </a:r>
          </a:p>
          <a:p>
            <a:endParaRPr lang="en-US" sz="600" dirty="0"/>
          </a:p>
          <a:p>
            <a:r>
              <a:rPr lang="en-US" sz="600" dirty="0"/>
              <a:t>Now try logging into the machine, with:   "</a:t>
            </a:r>
            <a:r>
              <a:rPr lang="en-US" sz="600" dirty="0" err="1"/>
              <a:t>ssh</a:t>
            </a:r>
            <a:r>
              <a:rPr lang="en-US" sz="600" dirty="0"/>
              <a:t> </a:t>
            </a:r>
            <a:r>
              <a:rPr lang="en-US" sz="600" dirty="0" smtClean="0"/>
              <a:t>'root@GPU73</a:t>
            </a:r>
            <a:r>
              <a:rPr lang="en-US" sz="600" dirty="0"/>
              <a:t>'"</a:t>
            </a:r>
          </a:p>
          <a:p>
            <a:r>
              <a:rPr lang="en-US" sz="600" dirty="0"/>
              <a:t>and check to make sure that only the key(s) you wanted were added.</a:t>
            </a:r>
          </a:p>
        </p:txBody>
      </p:sp>
      <p:sp>
        <p:nvSpPr>
          <p:cNvPr id="7" name="Rectangle 6"/>
          <p:cNvSpPr/>
          <p:nvPr/>
        </p:nvSpPr>
        <p:spPr>
          <a:xfrm>
            <a:off x="155411" y="688869"/>
            <a:ext cx="4371369" cy="334531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2" name="Rectangle 11"/>
          <p:cNvSpPr/>
          <p:nvPr/>
        </p:nvSpPr>
        <p:spPr>
          <a:xfrm>
            <a:off x="4702975" y="745011"/>
            <a:ext cx="4371369" cy="2585323"/>
          </a:xfrm>
          <a:prstGeom prst="rect">
            <a:avLst/>
          </a:prstGeom>
        </p:spPr>
        <p:txBody>
          <a:bodyPr wrap="square">
            <a:spAutoFit/>
          </a:bodyPr>
          <a:lstStyle/>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add </a:t>
            </a:r>
            <a:r>
              <a:rPr lang="en-US" sz="600" dirty="0" smtClean="0"/>
              <a:t>GPU71</a:t>
            </a:r>
            <a:endParaRPr lang="en-US" sz="600" dirty="0"/>
          </a:p>
          <a:p>
            <a:r>
              <a:rPr lang="en-US" sz="600" dirty="0"/>
              <a:t>Added host </a:t>
            </a:r>
            <a:r>
              <a:rPr lang="en-US" sz="600" dirty="0" smtClean="0"/>
              <a:t>'GPU71</a:t>
            </a:r>
            <a:r>
              <a:rPr lang="en-US" sz="600" dirty="0"/>
              <a:t>'</a:t>
            </a:r>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add </a:t>
            </a:r>
            <a:r>
              <a:rPr lang="en-US" sz="600" dirty="0" smtClean="0"/>
              <a:t>GPU72</a:t>
            </a:r>
            <a:endParaRPr lang="en-US" sz="600" dirty="0"/>
          </a:p>
          <a:p>
            <a:r>
              <a:rPr lang="en-US" sz="600" dirty="0"/>
              <a:t>Added host </a:t>
            </a:r>
            <a:r>
              <a:rPr lang="en-US" sz="600" dirty="0" smtClean="0"/>
              <a:t>'GPU72</a:t>
            </a:r>
            <a:r>
              <a:rPr lang="en-US" sz="600" dirty="0"/>
              <a:t>'</a:t>
            </a:r>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add </a:t>
            </a:r>
            <a:r>
              <a:rPr lang="en-US" sz="600" dirty="0" smtClean="0"/>
              <a:t>GPU73</a:t>
            </a:r>
            <a:endParaRPr lang="en-US" sz="600" dirty="0"/>
          </a:p>
          <a:p>
            <a:r>
              <a:rPr lang="en-US" sz="600" dirty="0"/>
              <a:t>Added host </a:t>
            </a:r>
            <a:r>
              <a:rPr lang="en-US" sz="600" dirty="0" smtClean="0"/>
              <a:t>'GPU73</a:t>
            </a:r>
            <a:r>
              <a:rPr lang="en-US" sz="600" dirty="0"/>
              <a:t>'</a:t>
            </a:r>
          </a:p>
          <a:p>
            <a:endParaRPr lang="en-US" sz="600" dirty="0"/>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ls</a:t>
            </a:r>
          </a:p>
          <a:p>
            <a:r>
              <a:rPr lang="en-US" sz="600" dirty="0"/>
              <a:t>HOST    ADDR    LABELS      STATUS  </a:t>
            </a:r>
          </a:p>
          <a:p>
            <a:r>
              <a:rPr lang="en-US" sz="600" dirty="0" smtClean="0"/>
              <a:t>GPU111  </a:t>
            </a:r>
            <a:r>
              <a:rPr lang="en-US" sz="600" dirty="0" err="1" smtClean="0"/>
              <a:t>GPU111</a:t>
            </a:r>
            <a:r>
              <a:rPr lang="en-US" sz="600" dirty="0" smtClean="0"/>
              <a:t>  </a:t>
            </a:r>
            <a:r>
              <a:rPr lang="en-US" sz="600" dirty="0"/>
              <a:t>_admin mon          </a:t>
            </a:r>
          </a:p>
          <a:p>
            <a:r>
              <a:rPr lang="en-US" sz="600" dirty="0" smtClean="0"/>
              <a:t>GPU71   </a:t>
            </a:r>
            <a:r>
              <a:rPr lang="en-US" sz="600" dirty="0" err="1" smtClean="0"/>
              <a:t>GPU71</a:t>
            </a:r>
            <a:r>
              <a:rPr lang="en-US" sz="600" dirty="0" smtClean="0"/>
              <a:t>                       </a:t>
            </a:r>
            <a:endParaRPr lang="en-US" sz="600" dirty="0"/>
          </a:p>
          <a:p>
            <a:r>
              <a:rPr lang="en-US" sz="600" dirty="0" smtClean="0"/>
              <a:t>GPU72   </a:t>
            </a:r>
            <a:r>
              <a:rPr lang="en-US" sz="600" dirty="0" err="1" smtClean="0"/>
              <a:t>GPU72</a:t>
            </a:r>
            <a:r>
              <a:rPr lang="en-US" sz="600" dirty="0" smtClean="0"/>
              <a:t>                       </a:t>
            </a:r>
            <a:endParaRPr lang="en-US" sz="600" dirty="0"/>
          </a:p>
          <a:p>
            <a:r>
              <a:rPr lang="en-US" sz="600" dirty="0" smtClean="0"/>
              <a:t>GPU73   </a:t>
            </a:r>
            <a:r>
              <a:rPr lang="en-US" sz="600" dirty="0" err="1" smtClean="0"/>
              <a:t>GPU73</a:t>
            </a:r>
            <a:endParaRPr lang="en-US" sz="600" dirty="0"/>
          </a:p>
          <a:p>
            <a:endParaRPr lang="en-US" sz="600" dirty="0"/>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label add </a:t>
            </a:r>
            <a:r>
              <a:rPr lang="en-US" sz="600" dirty="0" smtClean="0"/>
              <a:t>GPU71 </a:t>
            </a:r>
            <a:r>
              <a:rPr lang="en-US" sz="600" dirty="0" err="1"/>
              <a:t>osd</a:t>
            </a:r>
            <a:endParaRPr lang="en-US" sz="600" dirty="0"/>
          </a:p>
          <a:p>
            <a:r>
              <a:rPr lang="en-US" sz="600" dirty="0"/>
              <a:t>Added label </a:t>
            </a:r>
            <a:r>
              <a:rPr lang="en-US" sz="600" dirty="0" err="1"/>
              <a:t>osd</a:t>
            </a:r>
            <a:r>
              <a:rPr lang="en-US" sz="600" dirty="0"/>
              <a:t> to host </a:t>
            </a:r>
            <a:r>
              <a:rPr lang="en-US" sz="600" dirty="0" smtClean="0"/>
              <a:t>GPU71</a:t>
            </a:r>
            <a:endParaRPr lang="en-US" sz="600" dirty="0"/>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label add </a:t>
            </a:r>
            <a:r>
              <a:rPr lang="en-US" sz="600" dirty="0" smtClean="0"/>
              <a:t>GPU72 </a:t>
            </a:r>
            <a:r>
              <a:rPr lang="en-US" sz="600" dirty="0" err="1"/>
              <a:t>osd</a:t>
            </a:r>
            <a:endParaRPr lang="en-US" sz="600" dirty="0"/>
          </a:p>
          <a:p>
            <a:r>
              <a:rPr lang="en-US" sz="600" dirty="0"/>
              <a:t>Added label </a:t>
            </a:r>
            <a:r>
              <a:rPr lang="en-US" sz="600" dirty="0" err="1"/>
              <a:t>osd</a:t>
            </a:r>
            <a:r>
              <a:rPr lang="en-US" sz="600" dirty="0"/>
              <a:t> to host </a:t>
            </a:r>
            <a:r>
              <a:rPr lang="en-US" sz="600" dirty="0" smtClean="0"/>
              <a:t>GPU72</a:t>
            </a:r>
            <a:endParaRPr lang="en-US" sz="600" dirty="0"/>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label add </a:t>
            </a:r>
            <a:r>
              <a:rPr lang="en-US" sz="600" dirty="0" smtClean="0"/>
              <a:t>GPU73 </a:t>
            </a:r>
            <a:r>
              <a:rPr lang="en-US" sz="600" dirty="0" err="1"/>
              <a:t>osd</a:t>
            </a:r>
            <a:endParaRPr lang="en-US" sz="600" dirty="0"/>
          </a:p>
          <a:p>
            <a:r>
              <a:rPr lang="en-US" sz="600" dirty="0"/>
              <a:t>Added label </a:t>
            </a:r>
            <a:r>
              <a:rPr lang="en-US" sz="600" dirty="0" err="1"/>
              <a:t>osd</a:t>
            </a:r>
            <a:r>
              <a:rPr lang="en-US" sz="600" dirty="0"/>
              <a:t> to host </a:t>
            </a:r>
            <a:r>
              <a:rPr lang="en-US" sz="600" dirty="0" smtClean="0"/>
              <a:t>GPU73</a:t>
            </a:r>
            <a:endParaRPr lang="en-US" sz="600" dirty="0"/>
          </a:p>
          <a:p>
            <a:endParaRPr lang="en-US" sz="600" dirty="0"/>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host ls</a:t>
            </a:r>
          </a:p>
          <a:p>
            <a:r>
              <a:rPr lang="en-US" sz="600" dirty="0"/>
              <a:t>HOST    ADDR    LABELS      STATUS  </a:t>
            </a:r>
          </a:p>
          <a:p>
            <a:r>
              <a:rPr lang="en-US" sz="600" dirty="0" smtClean="0"/>
              <a:t>GPU111  </a:t>
            </a:r>
            <a:r>
              <a:rPr lang="en-US" sz="600" dirty="0" err="1" smtClean="0"/>
              <a:t>GPU111</a:t>
            </a:r>
            <a:r>
              <a:rPr lang="en-US" sz="600" dirty="0" smtClean="0"/>
              <a:t>  </a:t>
            </a:r>
            <a:r>
              <a:rPr lang="en-US" sz="600" dirty="0"/>
              <a:t>_admin mon          </a:t>
            </a:r>
          </a:p>
          <a:p>
            <a:r>
              <a:rPr lang="en-US" sz="600" dirty="0" smtClean="0"/>
              <a:t>GPU71   </a:t>
            </a:r>
            <a:r>
              <a:rPr lang="en-US" sz="600" dirty="0" err="1" smtClean="0"/>
              <a:t>GPU71</a:t>
            </a:r>
            <a:r>
              <a:rPr lang="en-US" sz="600" dirty="0" smtClean="0"/>
              <a:t>   </a:t>
            </a:r>
            <a:r>
              <a:rPr lang="en-US" sz="600" dirty="0" err="1"/>
              <a:t>osd</a:t>
            </a:r>
            <a:r>
              <a:rPr lang="en-US" sz="600" dirty="0"/>
              <a:t>                 </a:t>
            </a:r>
          </a:p>
          <a:p>
            <a:r>
              <a:rPr lang="en-US" sz="600" dirty="0" smtClean="0"/>
              <a:t>GPU72   </a:t>
            </a:r>
            <a:r>
              <a:rPr lang="en-US" sz="600" dirty="0" err="1" smtClean="0"/>
              <a:t>GPU72</a:t>
            </a:r>
            <a:r>
              <a:rPr lang="en-US" sz="600" dirty="0" smtClean="0"/>
              <a:t>   </a:t>
            </a:r>
            <a:r>
              <a:rPr lang="en-US" sz="600" dirty="0" err="1"/>
              <a:t>osd</a:t>
            </a:r>
            <a:r>
              <a:rPr lang="en-US" sz="600" dirty="0"/>
              <a:t>                 </a:t>
            </a:r>
          </a:p>
          <a:p>
            <a:r>
              <a:rPr lang="en-US" sz="600" dirty="0" smtClean="0"/>
              <a:t>GPU73   </a:t>
            </a:r>
            <a:r>
              <a:rPr lang="en-US" sz="600" dirty="0" err="1" smtClean="0"/>
              <a:t>GPU73</a:t>
            </a:r>
            <a:r>
              <a:rPr lang="en-US" sz="600" dirty="0" smtClean="0"/>
              <a:t>   </a:t>
            </a:r>
            <a:r>
              <a:rPr lang="en-US" sz="600" dirty="0" err="1"/>
              <a:t>osd</a:t>
            </a:r>
            <a:r>
              <a:rPr lang="en-US" sz="600" dirty="0"/>
              <a:t> </a:t>
            </a:r>
          </a:p>
        </p:txBody>
      </p:sp>
      <p:sp>
        <p:nvSpPr>
          <p:cNvPr id="13" name="Rectangle 12"/>
          <p:cNvSpPr/>
          <p:nvPr/>
        </p:nvSpPr>
        <p:spPr>
          <a:xfrm>
            <a:off x="4635961" y="688868"/>
            <a:ext cx="4371369" cy="275036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4" name="Rectangle 13"/>
          <p:cNvSpPr/>
          <p:nvPr/>
        </p:nvSpPr>
        <p:spPr>
          <a:xfrm>
            <a:off x="4593794" y="373818"/>
            <a:ext cx="4170930" cy="276999"/>
          </a:xfrm>
          <a:prstGeom prst="rect">
            <a:avLst/>
          </a:prstGeom>
        </p:spPr>
        <p:txBody>
          <a:bodyPr wrap="square">
            <a:spAutoFit/>
          </a:bodyPr>
          <a:lstStyle/>
          <a:p>
            <a:r>
              <a:rPr lang="en-US" sz="1200" dirty="0"/>
              <a:t>Add OSD host to cluster and set label</a:t>
            </a:r>
            <a:endParaRPr lang="en-US" sz="1200" b="1" dirty="0">
              <a:solidFill>
                <a:srgbClr val="002060"/>
              </a:solidFill>
            </a:endParaRPr>
          </a:p>
        </p:txBody>
      </p:sp>
      <p:sp>
        <p:nvSpPr>
          <p:cNvPr id="2" name="Rectangle 1"/>
          <p:cNvSpPr/>
          <p:nvPr/>
        </p:nvSpPr>
        <p:spPr>
          <a:xfrm>
            <a:off x="4635961" y="3495378"/>
            <a:ext cx="4572000" cy="430887"/>
          </a:xfrm>
          <a:prstGeom prst="rect">
            <a:avLst/>
          </a:prstGeom>
        </p:spPr>
        <p:txBody>
          <a:bodyPr>
            <a:spAutoFit/>
          </a:bodyPr>
          <a:lstStyle/>
          <a:p>
            <a:r>
              <a:rPr lang="en-US" sz="1100" dirty="0"/>
              <a:t>NOTE: you could tell </a:t>
            </a:r>
            <a:r>
              <a:rPr lang="en-US" sz="1100" dirty="0" err="1"/>
              <a:t>cephadm</a:t>
            </a:r>
            <a:r>
              <a:rPr lang="en-US" sz="1100" dirty="0"/>
              <a:t> to deploy daemons base on label. For example, to limit monitors run on host with "mon" label.</a:t>
            </a:r>
          </a:p>
        </p:txBody>
      </p:sp>
    </p:spTree>
    <p:extLst>
      <p:ext uri="{BB962C8B-B14F-4D97-AF65-F5344CB8AC3E}">
        <p14:creationId xmlns:p14="http://schemas.microsoft.com/office/powerpoint/2010/main" val="3716061231"/>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4" name="Rectangle 3"/>
          <p:cNvSpPr/>
          <p:nvPr/>
        </p:nvSpPr>
        <p:spPr>
          <a:xfrm>
            <a:off x="100819" y="1128087"/>
            <a:ext cx="1553952" cy="276999"/>
          </a:xfrm>
          <a:prstGeom prst="rect">
            <a:avLst/>
          </a:prstGeom>
        </p:spPr>
        <p:txBody>
          <a:bodyPr wrap="none">
            <a:spAutoFit/>
          </a:bodyPr>
          <a:lstStyle/>
          <a:p>
            <a:r>
              <a:rPr lang="en-US" sz="1200" dirty="0"/>
              <a:t>Add storage to cluster</a:t>
            </a:r>
            <a:endParaRPr lang="en-US" sz="1200" b="1" dirty="0">
              <a:solidFill>
                <a:srgbClr val="002060"/>
              </a:solidFill>
            </a:endParaRPr>
          </a:p>
        </p:txBody>
      </p:sp>
      <p:sp>
        <p:nvSpPr>
          <p:cNvPr id="7" name="Rectangle 6"/>
          <p:cNvSpPr/>
          <p:nvPr/>
        </p:nvSpPr>
        <p:spPr>
          <a:xfrm>
            <a:off x="155410" y="710195"/>
            <a:ext cx="4371369" cy="184666"/>
          </a:xfrm>
          <a:prstGeom prst="rect">
            <a:avLst/>
          </a:prstGeom>
        </p:spPr>
        <p:txBody>
          <a:bodyPr wrap="square">
            <a:spAutoFit/>
          </a:bodyPr>
          <a:lstStyle/>
          <a:p>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apply mon --placement="</a:t>
            </a:r>
            <a:r>
              <a:rPr lang="en-US" sz="600" dirty="0" err="1"/>
              <a:t>label:mon</a:t>
            </a:r>
            <a:r>
              <a:rPr lang="en-US" sz="600" dirty="0"/>
              <a:t>"</a:t>
            </a:r>
          </a:p>
        </p:txBody>
      </p:sp>
      <p:sp>
        <p:nvSpPr>
          <p:cNvPr id="8" name="Rectangle 7"/>
          <p:cNvSpPr/>
          <p:nvPr/>
        </p:nvSpPr>
        <p:spPr>
          <a:xfrm>
            <a:off x="155411" y="688870"/>
            <a:ext cx="4371369" cy="29832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155410" y="1428805"/>
            <a:ext cx="1550558" cy="923330"/>
          </a:xfrm>
          <a:prstGeom prst="rect">
            <a:avLst/>
          </a:prstGeom>
        </p:spPr>
        <p:txBody>
          <a:bodyPr wrap="square">
            <a:spAutoFit/>
          </a:bodyPr>
          <a:lstStyle/>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daemon add </a:t>
            </a:r>
            <a:r>
              <a:rPr lang="en-US" sz="600" dirty="0" err="1"/>
              <a:t>osd</a:t>
            </a:r>
            <a:r>
              <a:rPr lang="en-US" sz="600" dirty="0"/>
              <a:t> </a:t>
            </a:r>
            <a:r>
              <a:rPr lang="en-US" sz="600" dirty="0" smtClean="0"/>
              <a:t>GPU71</a:t>
            </a:r>
            <a:r>
              <a:rPr lang="en-US" sz="600" dirty="0"/>
              <a:t>:/dev/</a:t>
            </a:r>
            <a:r>
              <a:rPr lang="en-US" sz="600" dirty="0" err="1"/>
              <a:t>sdb</a:t>
            </a:r>
            <a:endParaRPr lang="en-US" sz="600" dirty="0"/>
          </a:p>
          <a:p>
            <a:r>
              <a:rPr lang="en-US" sz="600" dirty="0"/>
              <a:t>Created </a:t>
            </a:r>
            <a:r>
              <a:rPr lang="en-US" sz="600" dirty="0" err="1"/>
              <a:t>osd</a:t>
            </a:r>
            <a:r>
              <a:rPr lang="en-US" sz="600" dirty="0"/>
              <a:t>(s) 0 on host </a:t>
            </a:r>
            <a:r>
              <a:rPr lang="en-US" sz="600" dirty="0" smtClean="0"/>
              <a:t>'GPU71</a:t>
            </a:r>
            <a:r>
              <a:rPr lang="en-US" sz="600" dirty="0"/>
              <a:t>'</a:t>
            </a:r>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daemon add </a:t>
            </a:r>
            <a:r>
              <a:rPr lang="en-US" sz="600" dirty="0" err="1"/>
              <a:t>osd</a:t>
            </a:r>
            <a:r>
              <a:rPr lang="en-US" sz="600" dirty="0"/>
              <a:t> </a:t>
            </a:r>
            <a:r>
              <a:rPr lang="en-US" sz="600" dirty="0" smtClean="0"/>
              <a:t>GPU72</a:t>
            </a:r>
            <a:r>
              <a:rPr lang="en-US" sz="600" dirty="0"/>
              <a:t>:/dev/</a:t>
            </a:r>
            <a:r>
              <a:rPr lang="en-US" sz="600" dirty="0" err="1"/>
              <a:t>sdb</a:t>
            </a:r>
            <a:endParaRPr lang="en-US" sz="600" dirty="0"/>
          </a:p>
          <a:p>
            <a:r>
              <a:rPr lang="en-US" sz="600" dirty="0"/>
              <a:t>Created </a:t>
            </a:r>
            <a:r>
              <a:rPr lang="en-US" sz="600" dirty="0" err="1"/>
              <a:t>osd</a:t>
            </a:r>
            <a:r>
              <a:rPr lang="en-US" sz="600" dirty="0"/>
              <a:t>(s) 1 on host </a:t>
            </a:r>
            <a:r>
              <a:rPr lang="en-US" sz="600" dirty="0" smtClean="0"/>
              <a:t>'GPU72</a:t>
            </a:r>
            <a:r>
              <a:rPr lang="en-US" sz="600" dirty="0"/>
              <a:t>'</a:t>
            </a:r>
          </a:p>
          <a:p>
            <a:r>
              <a:rPr lang="en-US" sz="600" dirty="0" smtClean="0"/>
              <a:t>cephadmin@GPU111</a:t>
            </a:r>
            <a:r>
              <a:rPr lang="en-US" sz="600" dirty="0"/>
              <a:t>:~$ </a:t>
            </a:r>
            <a:r>
              <a:rPr lang="en-US" sz="600" dirty="0" err="1"/>
              <a:t>sudo</a:t>
            </a:r>
            <a:r>
              <a:rPr lang="en-US" sz="600" dirty="0"/>
              <a:t> </a:t>
            </a:r>
            <a:r>
              <a:rPr lang="en-US" sz="600" dirty="0" err="1"/>
              <a:t>ceph</a:t>
            </a:r>
            <a:r>
              <a:rPr lang="en-US" sz="600" dirty="0"/>
              <a:t> </a:t>
            </a:r>
            <a:r>
              <a:rPr lang="en-US" sz="600" dirty="0" err="1"/>
              <a:t>orch</a:t>
            </a:r>
            <a:r>
              <a:rPr lang="en-US" sz="600" dirty="0"/>
              <a:t> daemon add </a:t>
            </a:r>
            <a:r>
              <a:rPr lang="en-US" sz="600" dirty="0" err="1"/>
              <a:t>osd</a:t>
            </a:r>
            <a:r>
              <a:rPr lang="en-US" sz="600" dirty="0"/>
              <a:t> </a:t>
            </a:r>
            <a:r>
              <a:rPr lang="en-US" sz="600" dirty="0" smtClean="0"/>
              <a:t>GPU73</a:t>
            </a:r>
            <a:r>
              <a:rPr lang="en-US" sz="600" dirty="0"/>
              <a:t>:/dev/</a:t>
            </a:r>
            <a:r>
              <a:rPr lang="en-US" sz="600" dirty="0" err="1"/>
              <a:t>sdb</a:t>
            </a:r>
            <a:endParaRPr lang="en-US" sz="600" dirty="0"/>
          </a:p>
          <a:p>
            <a:r>
              <a:rPr lang="en-US" sz="600" dirty="0"/>
              <a:t>Created </a:t>
            </a:r>
            <a:r>
              <a:rPr lang="en-US" sz="600" dirty="0" err="1"/>
              <a:t>osd</a:t>
            </a:r>
            <a:r>
              <a:rPr lang="en-US" sz="600" dirty="0"/>
              <a:t>(s) 2 on host </a:t>
            </a:r>
            <a:r>
              <a:rPr lang="en-US" sz="600" dirty="0" smtClean="0"/>
              <a:t>'GPU73</a:t>
            </a:r>
            <a:r>
              <a:rPr lang="en-US" sz="600" dirty="0"/>
              <a:t>'</a:t>
            </a:r>
          </a:p>
        </p:txBody>
      </p:sp>
      <p:sp>
        <p:nvSpPr>
          <p:cNvPr id="10" name="Rectangle 9"/>
          <p:cNvSpPr/>
          <p:nvPr/>
        </p:nvSpPr>
        <p:spPr>
          <a:xfrm>
            <a:off x="155410" y="1407479"/>
            <a:ext cx="4371369" cy="94465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0" name="Rectangle 19"/>
          <p:cNvSpPr/>
          <p:nvPr/>
        </p:nvSpPr>
        <p:spPr>
          <a:xfrm>
            <a:off x="167834" y="2426489"/>
            <a:ext cx="1423403" cy="276999"/>
          </a:xfrm>
          <a:prstGeom prst="rect">
            <a:avLst/>
          </a:prstGeom>
        </p:spPr>
        <p:txBody>
          <a:bodyPr wrap="none">
            <a:spAutoFit/>
          </a:bodyPr>
          <a:lstStyle/>
          <a:p>
            <a:r>
              <a:rPr lang="en-US" sz="1200" dirty="0"/>
              <a:t>Check cluster status</a:t>
            </a:r>
            <a:endParaRPr lang="en-US" sz="1200" b="1" dirty="0">
              <a:solidFill>
                <a:srgbClr val="002060"/>
              </a:solidFill>
            </a:endParaRPr>
          </a:p>
        </p:txBody>
      </p:sp>
      <p:sp>
        <p:nvSpPr>
          <p:cNvPr id="21" name="Rectangle 20"/>
          <p:cNvSpPr/>
          <p:nvPr/>
        </p:nvSpPr>
        <p:spPr>
          <a:xfrm>
            <a:off x="222425" y="2727207"/>
            <a:ext cx="1550558" cy="1938992"/>
          </a:xfrm>
          <a:prstGeom prst="rect">
            <a:avLst/>
          </a:prstGeom>
        </p:spPr>
        <p:txBody>
          <a:bodyPr wrap="square">
            <a:spAutoFit/>
          </a:bodyPr>
          <a:lstStyle/>
          <a:p>
            <a:r>
              <a:rPr lang="en-US" sz="600" dirty="0" smtClean="0"/>
              <a:t>cephadmin@GPU111</a:t>
            </a:r>
            <a:r>
              <a:rPr lang="en-US" sz="600" dirty="0"/>
              <a:t>:~$ </a:t>
            </a:r>
            <a:r>
              <a:rPr lang="en-US" sz="600" dirty="0" err="1"/>
              <a:t>sudo</a:t>
            </a:r>
            <a:r>
              <a:rPr lang="en-US" sz="600" dirty="0"/>
              <a:t> </a:t>
            </a:r>
            <a:r>
              <a:rPr lang="en-US" sz="600" dirty="0" err="1"/>
              <a:t>ceph</a:t>
            </a:r>
            <a:r>
              <a:rPr lang="en-US" sz="600" dirty="0"/>
              <a:t> -s</a:t>
            </a:r>
          </a:p>
          <a:p>
            <a:r>
              <a:rPr lang="en-US" sz="600" dirty="0"/>
              <a:t>  cluster:</a:t>
            </a:r>
          </a:p>
          <a:p>
            <a:r>
              <a:rPr lang="en-US" sz="600" dirty="0"/>
              <a:t>    id:     16e21856-6030-11ed-8a24-db02e0e54b22</a:t>
            </a:r>
          </a:p>
          <a:p>
            <a:r>
              <a:rPr lang="en-US" sz="600" dirty="0"/>
              <a:t>    health: HEALTH_OK</a:t>
            </a:r>
          </a:p>
          <a:p>
            <a:r>
              <a:rPr lang="en-US" sz="600" dirty="0"/>
              <a:t> </a:t>
            </a:r>
          </a:p>
          <a:p>
            <a:r>
              <a:rPr lang="en-US" sz="600" dirty="0"/>
              <a:t>  services:</a:t>
            </a:r>
          </a:p>
          <a:p>
            <a:r>
              <a:rPr lang="en-US" sz="600" dirty="0"/>
              <a:t>    mon: 3 daemons, quorum </a:t>
            </a:r>
            <a:r>
              <a:rPr lang="en-US" sz="600" dirty="0" smtClean="0"/>
              <a:t>GPU111,GPU71,GPU72 </a:t>
            </a:r>
            <a:r>
              <a:rPr lang="en-US" sz="600" dirty="0"/>
              <a:t>(age 119s)</a:t>
            </a:r>
          </a:p>
          <a:p>
            <a:r>
              <a:rPr lang="en-US" sz="600" dirty="0"/>
              <a:t>    </a:t>
            </a:r>
            <a:r>
              <a:rPr lang="en-US" sz="600" dirty="0" err="1"/>
              <a:t>mgr</a:t>
            </a:r>
            <a:r>
              <a:rPr lang="en-US" sz="600" dirty="0"/>
              <a:t>: </a:t>
            </a:r>
            <a:r>
              <a:rPr lang="en-US" sz="600" dirty="0" smtClean="0"/>
              <a:t>GPU111.oezajx(active</a:t>
            </a:r>
            <a:r>
              <a:rPr lang="en-US" sz="600" dirty="0"/>
              <a:t>, since 36m), standbys: </a:t>
            </a:r>
            <a:r>
              <a:rPr lang="en-US" sz="600" dirty="0" smtClean="0"/>
              <a:t>GPU71.pmlfuu</a:t>
            </a:r>
            <a:endParaRPr lang="en-US" sz="600" dirty="0"/>
          </a:p>
          <a:p>
            <a:r>
              <a:rPr lang="en-US" sz="600" dirty="0"/>
              <a:t>    </a:t>
            </a:r>
            <a:r>
              <a:rPr lang="en-US" sz="600" dirty="0" err="1"/>
              <a:t>osd</a:t>
            </a:r>
            <a:r>
              <a:rPr lang="en-US" sz="600" dirty="0"/>
              <a:t>: 3 </a:t>
            </a:r>
            <a:r>
              <a:rPr lang="en-US" sz="600" dirty="0" err="1"/>
              <a:t>osds</a:t>
            </a:r>
            <a:r>
              <a:rPr lang="en-US" sz="600" dirty="0"/>
              <a:t>: 3 up (since 24s), 3 in (since 24s)</a:t>
            </a:r>
          </a:p>
          <a:p>
            <a:r>
              <a:rPr lang="en-US" sz="600" dirty="0"/>
              <a:t> </a:t>
            </a:r>
          </a:p>
          <a:p>
            <a:r>
              <a:rPr lang="en-US" sz="600" dirty="0"/>
              <a:t>  data:</a:t>
            </a:r>
          </a:p>
          <a:p>
            <a:r>
              <a:rPr lang="en-US" sz="600" dirty="0"/>
              <a:t>    pools:   1 pools, 1 </a:t>
            </a:r>
            <a:r>
              <a:rPr lang="en-US" sz="600" dirty="0" err="1"/>
              <a:t>pgs</a:t>
            </a:r>
            <a:endParaRPr lang="en-US" sz="600" dirty="0"/>
          </a:p>
          <a:p>
            <a:r>
              <a:rPr lang="en-US" sz="600" dirty="0"/>
              <a:t>    objects: 0 objects, 0 B</a:t>
            </a:r>
          </a:p>
          <a:p>
            <a:r>
              <a:rPr lang="en-US" sz="600" dirty="0"/>
              <a:t>    usage:   3.0 </a:t>
            </a:r>
            <a:r>
              <a:rPr lang="en-US" sz="600" dirty="0" err="1"/>
              <a:t>GiB</a:t>
            </a:r>
            <a:r>
              <a:rPr lang="en-US" sz="600" dirty="0"/>
              <a:t> used, 692 </a:t>
            </a:r>
            <a:r>
              <a:rPr lang="en-US" sz="600" dirty="0" err="1"/>
              <a:t>GiB</a:t>
            </a:r>
            <a:r>
              <a:rPr lang="en-US" sz="600" dirty="0"/>
              <a:t> / 695 </a:t>
            </a:r>
            <a:r>
              <a:rPr lang="en-US" sz="600" dirty="0" err="1"/>
              <a:t>GiB</a:t>
            </a:r>
            <a:r>
              <a:rPr lang="en-US" sz="600" dirty="0"/>
              <a:t> avail</a:t>
            </a:r>
          </a:p>
          <a:p>
            <a:r>
              <a:rPr lang="en-US" sz="600" dirty="0"/>
              <a:t>    </a:t>
            </a:r>
            <a:r>
              <a:rPr lang="en-US" sz="600" dirty="0" err="1"/>
              <a:t>pgs</a:t>
            </a:r>
            <a:r>
              <a:rPr lang="en-US" sz="600" dirty="0"/>
              <a:t>:     1 </a:t>
            </a:r>
            <a:r>
              <a:rPr lang="en-US" sz="600" dirty="0" err="1"/>
              <a:t>active+clean</a:t>
            </a:r>
            <a:endParaRPr lang="en-US" sz="600" dirty="0"/>
          </a:p>
        </p:txBody>
      </p:sp>
      <p:sp>
        <p:nvSpPr>
          <p:cNvPr id="22" name="Rectangle 21"/>
          <p:cNvSpPr/>
          <p:nvPr/>
        </p:nvSpPr>
        <p:spPr>
          <a:xfrm>
            <a:off x="222425" y="2705881"/>
            <a:ext cx="4371369" cy="216637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3" name="Rectangle 22"/>
          <p:cNvSpPr/>
          <p:nvPr/>
        </p:nvSpPr>
        <p:spPr>
          <a:xfrm>
            <a:off x="4741058" y="442167"/>
            <a:ext cx="780470" cy="276999"/>
          </a:xfrm>
          <a:prstGeom prst="rect">
            <a:avLst/>
          </a:prstGeom>
        </p:spPr>
        <p:txBody>
          <a:bodyPr wrap="none">
            <a:spAutoFit/>
          </a:bodyPr>
          <a:lstStyle/>
          <a:p>
            <a:r>
              <a:rPr lang="en-US" sz="1200" dirty="0" err="1" smtClean="0"/>
              <a:t>Dasboard</a:t>
            </a:r>
            <a:endParaRPr lang="en-US" sz="1200" b="1" dirty="0">
              <a:solidFill>
                <a:srgbClr val="002060"/>
              </a:solidFill>
            </a:endParaRPr>
          </a:p>
        </p:txBody>
      </p:sp>
      <p:pic>
        <p:nvPicPr>
          <p:cNvPr id="3" name="Picture 2"/>
          <p:cNvPicPr>
            <a:picLocks noChangeAspect="1"/>
          </p:cNvPicPr>
          <p:nvPr/>
        </p:nvPicPr>
        <p:blipFill>
          <a:blip r:embed="rId3"/>
          <a:stretch>
            <a:fillRect/>
          </a:stretch>
        </p:blipFill>
        <p:spPr>
          <a:xfrm>
            <a:off x="4872251" y="763010"/>
            <a:ext cx="4135271" cy="2567044"/>
          </a:xfrm>
          <a:prstGeom prst="rect">
            <a:avLst/>
          </a:prstGeom>
        </p:spPr>
      </p:pic>
    </p:spTree>
    <p:extLst>
      <p:ext uri="{BB962C8B-B14F-4D97-AF65-F5344CB8AC3E}">
        <p14:creationId xmlns:p14="http://schemas.microsoft.com/office/powerpoint/2010/main" val="2269139665"/>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4" name="Rectangle 3"/>
          <p:cNvSpPr/>
          <p:nvPr/>
        </p:nvSpPr>
        <p:spPr>
          <a:xfrm>
            <a:off x="100819" y="422491"/>
            <a:ext cx="1110497" cy="276999"/>
          </a:xfrm>
          <a:prstGeom prst="rect">
            <a:avLst/>
          </a:prstGeom>
        </p:spPr>
        <p:txBody>
          <a:bodyPr wrap="none">
            <a:spAutoFit/>
          </a:bodyPr>
          <a:lstStyle/>
          <a:p>
            <a:r>
              <a:rPr lang="en-US" sz="1200" dirty="0"/>
              <a:t>Purging cluster</a:t>
            </a:r>
            <a:endParaRPr lang="en-US" sz="1200" b="1" dirty="0">
              <a:solidFill>
                <a:srgbClr val="002060"/>
              </a:solidFill>
            </a:endParaRPr>
          </a:p>
        </p:txBody>
      </p:sp>
      <p:sp>
        <p:nvSpPr>
          <p:cNvPr id="7" name="Rectangle 6"/>
          <p:cNvSpPr/>
          <p:nvPr/>
        </p:nvSpPr>
        <p:spPr>
          <a:xfrm>
            <a:off x="155409" y="723209"/>
            <a:ext cx="4102691" cy="646331"/>
          </a:xfrm>
          <a:prstGeom prst="rect">
            <a:avLst/>
          </a:prstGeom>
        </p:spPr>
        <p:txBody>
          <a:bodyPr wrap="square">
            <a:spAutoFit/>
          </a:bodyPr>
          <a:lstStyle/>
          <a:p>
            <a:r>
              <a:rPr lang="en-US" sz="600" dirty="0" smtClean="0"/>
              <a:t>root@GPU111</a:t>
            </a:r>
            <a:r>
              <a:rPr lang="en-US" sz="600" dirty="0"/>
              <a:t>:~# </a:t>
            </a:r>
            <a:r>
              <a:rPr lang="en-US" sz="600" dirty="0" err="1"/>
              <a:t>ceph</a:t>
            </a:r>
            <a:r>
              <a:rPr lang="en-US" sz="600" dirty="0"/>
              <a:t> </a:t>
            </a:r>
            <a:r>
              <a:rPr lang="en-US" sz="600" dirty="0" err="1"/>
              <a:t>mgr</a:t>
            </a:r>
            <a:r>
              <a:rPr lang="en-US" sz="600" dirty="0"/>
              <a:t> module disable </a:t>
            </a:r>
            <a:r>
              <a:rPr lang="en-US" sz="600" dirty="0" err="1"/>
              <a:t>cephadm</a:t>
            </a:r>
            <a:endParaRPr lang="en-US" sz="600" dirty="0"/>
          </a:p>
          <a:p>
            <a:endParaRPr lang="en-US" sz="600" dirty="0"/>
          </a:p>
          <a:p>
            <a:r>
              <a:rPr lang="en-US" sz="600" dirty="0" smtClean="0"/>
              <a:t>root@GPU111</a:t>
            </a:r>
            <a:r>
              <a:rPr lang="en-US" sz="600" dirty="0"/>
              <a:t>:~# </a:t>
            </a:r>
            <a:r>
              <a:rPr lang="en-US" sz="600" dirty="0" err="1"/>
              <a:t>ceph</a:t>
            </a:r>
            <a:r>
              <a:rPr lang="en-US" sz="600" dirty="0"/>
              <a:t> </a:t>
            </a:r>
            <a:r>
              <a:rPr lang="en-US" sz="600" dirty="0" err="1"/>
              <a:t>fsid</a:t>
            </a:r>
            <a:endParaRPr lang="en-US" sz="600" dirty="0"/>
          </a:p>
          <a:p>
            <a:r>
              <a:rPr lang="en-US" sz="600" dirty="0"/>
              <a:t>16e21856-6030-11ed-8a24-db02e0e54b22</a:t>
            </a:r>
          </a:p>
          <a:p>
            <a:endParaRPr lang="en-US" sz="600" dirty="0"/>
          </a:p>
          <a:p>
            <a:r>
              <a:rPr lang="en-US" sz="600" dirty="0" err="1"/>
              <a:t>cephadm</a:t>
            </a:r>
            <a:r>
              <a:rPr lang="en-US" sz="600" dirty="0"/>
              <a:t> </a:t>
            </a:r>
            <a:r>
              <a:rPr lang="en-US" sz="600" dirty="0" err="1"/>
              <a:t>rm</a:t>
            </a:r>
            <a:r>
              <a:rPr lang="en-US" sz="600" dirty="0"/>
              <a:t>-cluster --force --zap-</a:t>
            </a:r>
            <a:r>
              <a:rPr lang="en-US" sz="600" dirty="0" err="1"/>
              <a:t>osds</a:t>
            </a:r>
            <a:r>
              <a:rPr lang="en-US" sz="600" dirty="0"/>
              <a:t> --</a:t>
            </a:r>
            <a:r>
              <a:rPr lang="en-US" sz="600" dirty="0" err="1"/>
              <a:t>fsid</a:t>
            </a:r>
            <a:r>
              <a:rPr lang="en-US" sz="600" dirty="0"/>
              <a:t> 16e21856-6030-11ed-8a24-db02e0e54b22</a:t>
            </a:r>
          </a:p>
        </p:txBody>
      </p:sp>
      <p:sp>
        <p:nvSpPr>
          <p:cNvPr id="8" name="Rectangle 7"/>
          <p:cNvSpPr/>
          <p:nvPr/>
        </p:nvSpPr>
        <p:spPr>
          <a:xfrm>
            <a:off x="155410" y="701883"/>
            <a:ext cx="4371369" cy="66765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100819" y="1716415"/>
            <a:ext cx="3765326" cy="276999"/>
          </a:xfrm>
          <a:prstGeom prst="rect">
            <a:avLst/>
          </a:prstGeom>
        </p:spPr>
        <p:txBody>
          <a:bodyPr wrap="none">
            <a:spAutoFit/>
          </a:bodyPr>
          <a:lstStyle/>
          <a:p>
            <a:r>
              <a:rPr lang="en-US" sz="1200" dirty="0"/>
              <a:t>To disable/remove the Prometheus </a:t>
            </a:r>
            <a:r>
              <a:rPr lang="en-US" sz="1200" dirty="0" err="1"/>
              <a:t>rleated</a:t>
            </a:r>
            <a:r>
              <a:rPr lang="en-US" sz="1200" dirty="0"/>
              <a:t> services (TBC)</a:t>
            </a:r>
            <a:endParaRPr lang="en-US" sz="1200" b="1" dirty="0">
              <a:solidFill>
                <a:srgbClr val="002060"/>
              </a:solidFill>
            </a:endParaRPr>
          </a:p>
        </p:txBody>
      </p:sp>
      <p:sp>
        <p:nvSpPr>
          <p:cNvPr id="10" name="Rectangle 9"/>
          <p:cNvSpPr/>
          <p:nvPr/>
        </p:nvSpPr>
        <p:spPr>
          <a:xfrm>
            <a:off x="155409" y="2017133"/>
            <a:ext cx="4102691" cy="276999"/>
          </a:xfrm>
          <a:prstGeom prst="rect">
            <a:avLst/>
          </a:prstGeom>
        </p:spPr>
        <p:txBody>
          <a:bodyPr wrap="square">
            <a:spAutoFit/>
          </a:bodyPr>
          <a:lstStyle/>
          <a:p>
            <a:r>
              <a:rPr lang="en-US" sz="600" dirty="0"/>
              <a:t>$ </a:t>
            </a:r>
            <a:r>
              <a:rPr lang="en-US" sz="600" dirty="0" err="1"/>
              <a:t>ceph</a:t>
            </a:r>
            <a:r>
              <a:rPr lang="en-US" sz="600" dirty="0"/>
              <a:t> </a:t>
            </a:r>
            <a:r>
              <a:rPr lang="en-US" sz="600" dirty="0" err="1"/>
              <a:t>mgr</a:t>
            </a:r>
            <a:r>
              <a:rPr lang="en-US" sz="600" dirty="0"/>
              <a:t> module disable </a:t>
            </a:r>
            <a:r>
              <a:rPr lang="en-US" sz="600" dirty="0" err="1"/>
              <a:t>prometheus</a:t>
            </a:r>
            <a:endParaRPr lang="en-US" sz="600" dirty="0"/>
          </a:p>
          <a:p>
            <a:r>
              <a:rPr lang="en-US" sz="600" dirty="0"/>
              <a:t>$ </a:t>
            </a:r>
            <a:r>
              <a:rPr lang="en-US" sz="600" dirty="0" err="1"/>
              <a:t>ceph</a:t>
            </a:r>
            <a:r>
              <a:rPr lang="en-US" sz="600" dirty="0"/>
              <a:t> </a:t>
            </a:r>
            <a:r>
              <a:rPr lang="en-US" sz="600" dirty="0" err="1"/>
              <a:t>orch</a:t>
            </a:r>
            <a:r>
              <a:rPr lang="en-US" sz="600" dirty="0"/>
              <a:t> </a:t>
            </a:r>
            <a:r>
              <a:rPr lang="en-US" sz="600" dirty="0" err="1"/>
              <a:t>rm</a:t>
            </a:r>
            <a:r>
              <a:rPr lang="en-US" sz="600" dirty="0"/>
              <a:t> node-exporter</a:t>
            </a:r>
          </a:p>
        </p:txBody>
      </p:sp>
      <p:sp>
        <p:nvSpPr>
          <p:cNvPr id="11" name="Rectangle 10"/>
          <p:cNvSpPr/>
          <p:nvPr/>
        </p:nvSpPr>
        <p:spPr>
          <a:xfrm>
            <a:off x="155410" y="1995807"/>
            <a:ext cx="4371369" cy="32076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2021762807"/>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4128118" cy="461665"/>
          </a:xfrm>
          <a:prstGeom prst="rect">
            <a:avLst/>
          </a:prstGeom>
        </p:spPr>
        <p:txBody>
          <a:bodyPr wrap="none">
            <a:spAutoFit/>
          </a:bodyPr>
          <a:lstStyle/>
          <a:p>
            <a:r>
              <a:rPr lang="en-US" sz="1200" b="1" dirty="0">
                <a:solidFill>
                  <a:srgbClr val="002060"/>
                </a:solidFill>
              </a:rPr>
              <a:t>Extra: create examples for demo</a:t>
            </a:r>
          </a:p>
          <a:p>
            <a:r>
              <a:rPr lang="en-US" sz="1200" b="1" dirty="0"/>
              <a:t>NOTE</a:t>
            </a:r>
            <a:r>
              <a:rPr lang="en-US" sz="1200" dirty="0"/>
              <a:t>: copy "</a:t>
            </a:r>
            <a:r>
              <a:rPr lang="en-US" sz="1200" dirty="0" err="1"/>
              <a:t>clouds.yaml</a:t>
            </a:r>
            <a:r>
              <a:rPr lang="en-US" sz="1200" dirty="0"/>
              <a:t>" in controller node to /</a:t>
            </a:r>
            <a:r>
              <a:rPr lang="en-US" sz="1200" dirty="0" err="1"/>
              <a:t>etc</a:t>
            </a:r>
            <a:r>
              <a:rPr lang="en-US" sz="1200" dirty="0"/>
              <a:t>/</a:t>
            </a:r>
            <a:r>
              <a:rPr lang="en-US" sz="1200" dirty="0" err="1"/>
              <a:t>kolla</a:t>
            </a:r>
            <a:r>
              <a:rPr lang="en-US" sz="1200" dirty="0"/>
              <a:t>/ first.</a:t>
            </a:r>
          </a:p>
        </p:txBody>
      </p:sp>
      <p:sp>
        <p:nvSpPr>
          <p:cNvPr id="8" name="Rectangle 7"/>
          <p:cNvSpPr/>
          <p:nvPr/>
        </p:nvSpPr>
        <p:spPr>
          <a:xfrm>
            <a:off x="262951" y="1157181"/>
            <a:ext cx="3244298" cy="71068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262951" y="1196345"/>
            <a:ext cx="3694674" cy="646331"/>
          </a:xfrm>
          <a:prstGeom prst="rect">
            <a:avLst/>
          </a:prstGeom>
        </p:spPr>
        <p:txBody>
          <a:bodyPr wrap="square">
            <a:spAutoFit/>
          </a:bodyPr>
          <a:lstStyle/>
          <a:p>
            <a:r>
              <a:rPr lang="en-US" sz="600" dirty="0" smtClean="0"/>
              <a:t>root@GPU111</a:t>
            </a:r>
            <a:r>
              <a:rPr lang="en-US" sz="600" dirty="0"/>
              <a:t>:~# </a:t>
            </a:r>
            <a:r>
              <a:rPr lang="en-US" sz="600" dirty="0" err="1"/>
              <a:t>ceph</a:t>
            </a:r>
            <a:r>
              <a:rPr lang="en-US" sz="600" dirty="0"/>
              <a:t> </a:t>
            </a:r>
            <a:r>
              <a:rPr lang="en-US" sz="600" dirty="0" err="1"/>
              <a:t>osd</a:t>
            </a:r>
            <a:r>
              <a:rPr lang="en-US" sz="600" dirty="0"/>
              <a:t> pool create volumes</a:t>
            </a:r>
          </a:p>
          <a:p>
            <a:r>
              <a:rPr lang="en-US" sz="600" dirty="0"/>
              <a:t>pool 'volumes' created</a:t>
            </a:r>
          </a:p>
          <a:p>
            <a:r>
              <a:rPr lang="en-US" sz="600" dirty="0" smtClean="0"/>
              <a:t>root@GPU111</a:t>
            </a:r>
            <a:r>
              <a:rPr lang="en-US" sz="600" dirty="0"/>
              <a:t>:~# </a:t>
            </a:r>
            <a:r>
              <a:rPr lang="en-US" sz="600" dirty="0" err="1"/>
              <a:t>ceph</a:t>
            </a:r>
            <a:r>
              <a:rPr lang="en-US" sz="600" dirty="0"/>
              <a:t> </a:t>
            </a:r>
            <a:r>
              <a:rPr lang="en-US" sz="600" dirty="0" err="1"/>
              <a:t>osd</a:t>
            </a:r>
            <a:r>
              <a:rPr lang="en-US" sz="600" dirty="0"/>
              <a:t> pool create </a:t>
            </a:r>
            <a:r>
              <a:rPr lang="en-US" sz="600" dirty="0" err="1"/>
              <a:t>vms</a:t>
            </a:r>
            <a:endParaRPr lang="en-US" sz="600" dirty="0"/>
          </a:p>
          <a:p>
            <a:r>
              <a:rPr lang="en-US" sz="600" dirty="0"/>
              <a:t>pool '</a:t>
            </a:r>
            <a:r>
              <a:rPr lang="en-US" sz="600" dirty="0" err="1"/>
              <a:t>vms</a:t>
            </a:r>
            <a:r>
              <a:rPr lang="en-US" sz="600" dirty="0"/>
              <a:t>' created</a:t>
            </a:r>
          </a:p>
          <a:p>
            <a:r>
              <a:rPr lang="en-US" sz="600" dirty="0" smtClean="0"/>
              <a:t>root@GPU111</a:t>
            </a:r>
            <a:r>
              <a:rPr lang="en-US" sz="600" dirty="0"/>
              <a:t>:~# </a:t>
            </a:r>
            <a:r>
              <a:rPr lang="en-US" sz="600" dirty="0" err="1"/>
              <a:t>ceph</a:t>
            </a:r>
            <a:r>
              <a:rPr lang="en-US" sz="600" dirty="0"/>
              <a:t> </a:t>
            </a:r>
            <a:r>
              <a:rPr lang="en-US" sz="600" dirty="0" err="1"/>
              <a:t>osd</a:t>
            </a:r>
            <a:r>
              <a:rPr lang="en-US" sz="600" dirty="0"/>
              <a:t> pool create backups</a:t>
            </a:r>
          </a:p>
          <a:p>
            <a:r>
              <a:rPr lang="en-US" sz="600" dirty="0"/>
              <a:t>pool 'backups' created</a:t>
            </a:r>
          </a:p>
        </p:txBody>
      </p:sp>
      <p:sp>
        <p:nvSpPr>
          <p:cNvPr id="2" name="Rectangle 1"/>
          <p:cNvSpPr/>
          <p:nvPr/>
        </p:nvSpPr>
        <p:spPr>
          <a:xfrm>
            <a:off x="153996" y="2542412"/>
            <a:ext cx="3353253" cy="1200329"/>
          </a:xfrm>
          <a:prstGeom prst="rect">
            <a:avLst/>
          </a:prstGeom>
        </p:spPr>
        <p:txBody>
          <a:bodyPr wrap="square">
            <a:spAutoFit/>
          </a:bodyPr>
          <a:lstStyle/>
          <a:p>
            <a:pPr algn="just"/>
            <a:r>
              <a:rPr lang="en-US" sz="1200" b="1" i="1" dirty="0"/>
              <a:t>NOTE</a:t>
            </a:r>
            <a:r>
              <a:rPr lang="en-US" sz="1200" dirty="0"/>
              <a:t>: we still create "backups" pool because "</a:t>
            </a:r>
            <a:r>
              <a:rPr lang="en-US" sz="1200" dirty="0" err="1"/>
              <a:t>Kolla-Ansible</a:t>
            </a:r>
            <a:r>
              <a:rPr lang="en-US" sz="1200" dirty="0"/>
              <a:t>" playbook still add </a:t>
            </a:r>
            <a:r>
              <a:rPr lang="en-US" sz="1200" dirty="0" err="1"/>
              <a:t>Ceph</a:t>
            </a:r>
            <a:r>
              <a:rPr lang="en-US" sz="1200" dirty="0"/>
              <a:t> keyring for cinder-backup no matter "</a:t>
            </a:r>
            <a:r>
              <a:rPr lang="en-US" sz="1200" dirty="0" err="1"/>
              <a:t>nfs</a:t>
            </a:r>
            <a:r>
              <a:rPr lang="en-US" sz="1200" dirty="0"/>
              <a:t>" is configured to </a:t>
            </a:r>
            <a:r>
              <a:rPr lang="en-US" sz="1200" dirty="0" err="1"/>
              <a:t>cinder_backup_driver</a:t>
            </a:r>
            <a:r>
              <a:rPr lang="en-US" sz="1200" dirty="0"/>
              <a:t>. I think its </a:t>
            </a:r>
            <a:r>
              <a:rPr lang="en-US" sz="1200" dirty="0" err="1"/>
              <a:t>kinda</a:t>
            </a:r>
            <a:r>
              <a:rPr lang="en-US" sz="1200" dirty="0"/>
              <a:t> of bug. Fail message if no keyring for "cinder-backup" configured.</a:t>
            </a:r>
          </a:p>
        </p:txBody>
      </p:sp>
      <p:sp>
        <p:nvSpPr>
          <p:cNvPr id="10" name="Rectangle 9"/>
          <p:cNvSpPr/>
          <p:nvPr/>
        </p:nvSpPr>
        <p:spPr>
          <a:xfrm>
            <a:off x="46229" y="935324"/>
            <a:ext cx="1653914" cy="276999"/>
          </a:xfrm>
          <a:prstGeom prst="rect">
            <a:avLst/>
          </a:prstGeom>
        </p:spPr>
        <p:txBody>
          <a:bodyPr wrap="none">
            <a:spAutoFit/>
          </a:bodyPr>
          <a:lstStyle/>
          <a:p>
            <a:r>
              <a:rPr lang="en-US" sz="1200" b="1" dirty="0">
                <a:solidFill>
                  <a:srgbClr val="002060"/>
                </a:solidFill>
              </a:rPr>
              <a:t>Create pool for volume</a:t>
            </a:r>
          </a:p>
        </p:txBody>
      </p:sp>
      <p:sp>
        <p:nvSpPr>
          <p:cNvPr id="11" name="Rectangle 10"/>
          <p:cNvSpPr/>
          <p:nvPr/>
        </p:nvSpPr>
        <p:spPr>
          <a:xfrm>
            <a:off x="262951" y="2050560"/>
            <a:ext cx="3244298" cy="40849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2" name="Rectangle 11"/>
          <p:cNvSpPr/>
          <p:nvPr/>
        </p:nvSpPr>
        <p:spPr>
          <a:xfrm>
            <a:off x="262951" y="2089723"/>
            <a:ext cx="3694674" cy="369332"/>
          </a:xfrm>
          <a:prstGeom prst="rect">
            <a:avLst/>
          </a:prstGeom>
        </p:spPr>
        <p:txBody>
          <a:bodyPr wrap="square">
            <a:spAutoFit/>
          </a:bodyPr>
          <a:lstStyle/>
          <a:p>
            <a:r>
              <a:rPr lang="en-US" sz="600" dirty="0" smtClean="0"/>
              <a:t>root@GPU111</a:t>
            </a:r>
            <a:r>
              <a:rPr lang="en-US" sz="600" dirty="0"/>
              <a:t>:~# </a:t>
            </a:r>
            <a:r>
              <a:rPr lang="en-US" sz="600" dirty="0" err="1"/>
              <a:t>rbd</a:t>
            </a:r>
            <a:r>
              <a:rPr lang="en-US" sz="600" dirty="0"/>
              <a:t> pool </a:t>
            </a:r>
            <a:r>
              <a:rPr lang="en-US" sz="600" dirty="0" err="1"/>
              <a:t>init</a:t>
            </a:r>
            <a:r>
              <a:rPr lang="en-US" sz="600" dirty="0"/>
              <a:t> volumes</a:t>
            </a:r>
          </a:p>
          <a:p>
            <a:r>
              <a:rPr lang="en-US" sz="600" dirty="0" smtClean="0"/>
              <a:t>root@GPU111</a:t>
            </a:r>
            <a:r>
              <a:rPr lang="en-US" sz="600" dirty="0"/>
              <a:t>:~# </a:t>
            </a:r>
            <a:r>
              <a:rPr lang="en-US" sz="600" dirty="0" err="1"/>
              <a:t>rbd</a:t>
            </a:r>
            <a:r>
              <a:rPr lang="en-US" sz="600" dirty="0"/>
              <a:t> pool </a:t>
            </a:r>
            <a:r>
              <a:rPr lang="en-US" sz="600" dirty="0" err="1"/>
              <a:t>init</a:t>
            </a:r>
            <a:r>
              <a:rPr lang="en-US" sz="600" dirty="0"/>
              <a:t> </a:t>
            </a:r>
            <a:r>
              <a:rPr lang="en-US" sz="600" dirty="0" err="1"/>
              <a:t>vms</a:t>
            </a:r>
            <a:endParaRPr lang="en-US" sz="600" dirty="0"/>
          </a:p>
          <a:p>
            <a:r>
              <a:rPr lang="en-US" sz="600" dirty="0" smtClean="0"/>
              <a:t>root@GPU111</a:t>
            </a:r>
            <a:r>
              <a:rPr lang="en-US" sz="600" dirty="0"/>
              <a:t>:~# </a:t>
            </a:r>
            <a:r>
              <a:rPr lang="en-US" sz="600" dirty="0" err="1"/>
              <a:t>rbd</a:t>
            </a:r>
            <a:r>
              <a:rPr lang="en-US" sz="600" dirty="0"/>
              <a:t> pool </a:t>
            </a:r>
            <a:r>
              <a:rPr lang="en-US" sz="600" dirty="0" err="1"/>
              <a:t>init</a:t>
            </a:r>
            <a:r>
              <a:rPr lang="en-US" sz="600" dirty="0"/>
              <a:t> backups</a:t>
            </a:r>
          </a:p>
        </p:txBody>
      </p:sp>
      <p:sp>
        <p:nvSpPr>
          <p:cNvPr id="13" name="Rectangle 12"/>
          <p:cNvSpPr/>
          <p:nvPr/>
        </p:nvSpPr>
        <p:spPr>
          <a:xfrm>
            <a:off x="262951" y="3792540"/>
            <a:ext cx="3694674" cy="142415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4" name="Rectangle 13"/>
          <p:cNvSpPr/>
          <p:nvPr/>
        </p:nvSpPr>
        <p:spPr>
          <a:xfrm>
            <a:off x="262951" y="3831703"/>
            <a:ext cx="3694674" cy="1384995"/>
          </a:xfrm>
          <a:prstGeom prst="rect">
            <a:avLst/>
          </a:prstGeom>
        </p:spPr>
        <p:txBody>
          <a:bodyPr wrap="square">
            <a:spAutoFit/>
          </a:bodyPr>
          <a:lstStyle/>
          <a:p>
            <a:pPr algn="just"/>
            <a:r>
              <a:rPr lang="en-US" sz="600" dirty="0"/>
              <a:t>TASK [cinder : Copy over </a:t>
            </a:r>
            <a:r>
              <a:rPr lang="en-US" sz="600" dirty="0" err="1"/>
              <a:t>Ceph</a:t>
            </a:r>
            <a:r>
              <a:rPr lang="en-US" sz="600" dirty="0"/>
              <a:t> keyring files for cinder-backup] ***************************************************</a:t>
            </a:r>
          </a:p>
          <a:p>
            <a:pPr algn="just"/>
            <a:r>
              <a:rPr lang="en-US" sz="600" dirty="0"/>
              <a:t>An exception occurred during task execution. To see the full </a:t>
            </a:r>
            <a:r>
              <a:rPr lang="en-US" sz="600" dirty="0" err="1"/>
              <a:t>traceback</a:t>
            </a:r>
            <a:r>
              <a:rPr lang="en-US" sz="600" dirty="0"/>
              <a:t>, use -</a:t>
            </a:r>
            <a:r>
              <a:rPr lang="en-US" sz="600" dirty="0" err="1"/>
              <a:t>vvv</a:t>
            </a:r>
            <a:r>
              <a:rPr lang="en-US" sz="600" dirty="0"/>
              <a:t>. The error was: If you are using a module and expect the file to exist on the remote, see the </a:t>
            </a:r>
            <a:r>
              <a:rPr lang="en-US" sz="600" dirty="0" err="1"/>
              <a:t>remote_src</a:t>
            </a:r>
            <a:r>
              <a:rPr lang="en-US" sz="600" dirty="0"/>
              <a:t> option</a:t>
            </a:r>
          </a:p>
          <a:p>
            <a:pPr algn="just"/>
            <a:r>
              <a:rPr lang="en-US" sz="600" dirty="0"/>
              <a:t>failed: </a:t>
            </a:r>
            <a:r>
              <a:rPr lang="en-US" sz="600" dirty="0" smtClean="0"/>
              <a:t>[GPU111</a:t>
            </a:r>
            <a:r>
              <a:rPr lang="en-US" sz="600" dirty="0"/>
              <a:t>] (item=cinder-backup/</a:t>
            </a:r>
            <a:r>
              <a:rPr lang="en-US" sz="600" dirty="0" err="1"/>
              <a:t>ceph.client.cinder.keyring</a:t>
            </a:r>
            <a:r>
              <a:rPr lang="en-US" sz="600" dirty="0"/>
              <a:t>) =&gt; {"</a:t>
            </a:r>
            <a:r>
              <a:rPr lang="en-US" sz="600" dirty="0" err="1"/>
              <a:t>ansible_loop_var</a:t>
            </a:r>
            <a:r>
              <a:rPr lang="en-US" sz="600" dirty="0"/>
              <a:t>": "item", "changed": false, "item": "cinder-backup/</a:t>
            </a:r>
            <a:r>
              <a:rPr lang="en-US" sz="600" dirty="0" err="1"/>
              <a:t>ceph.client.cinder.keyring</a:t>
            </a:r>
            <a:r>
              <a:rPr lang="en-US" sz="600" dirty="0"/>
              <a:t>", "</a:t>
            </a:r>
            <a:r>
              <a:rPr lang="en-US" sz="600" dirty="0" err="1"/>
              <a:t>msg</a:t>
            </a:r>
            <a:r>
              <a:rPr lang="en-US" sz="600" dirty="0"/>
              <a:t>": "Could not find or access '/</a:t>
            </a:r>
            <a:r>
              <a:rPr lang="en-US" sz="600" dirty="0" err="1"/>
              <a:t>etc</a:t>
            </a:r>
            <a:r>
              <a:rPr lang="en-US" sz="600" dirty="0"/>
              <a:t>/</a:t>
            </a:r>
            <a:r>
              <a:rPr lang="en-US" sz="600" dirty="0" err="1"/>
              <a:t>kolla</a:t>
            </a:r>
            <a:r>
              <a:rPr lang="en-US" sz="600" dirty="0"/>
              <a:t>/</a:t>
            </a:r>
            <a:r>
              <a:rPr lang="en-US" sz="600" dirty="0" err="1"/>
              <a:t>config</a:t>
            </a:r>
            <a:r>
              <a:rPr lang="en-US" sz="600" dirty="0"/>
              <a:t>/cinder/cinder-backup/</a:t>
            </a:r>
            <a:r>
              <a:rPr lang="en-US" sz="600" dirty="0" err="1"/>
              <a:t>ceph.client.cinder.keyring</a:t>
            </a:r>
            <a:r>
              <a:rPr lang="en-US" sz="600" dirty="0"/>
              <a:t>' on the </a:t>
            </a:r>
            <a:r>
              <a:rPr lang="en-US" sz="600" dirty="0" err="1"/>
              <a:t>Ansible</a:t>
            </a:r>
            <a:r>
              <a:rPr lang="en-US" sz="600" dirty="0"/>
              <a:t> Controller.\</a:t>
            </a:r>
            <a:r>
              <a:rPr lang="en-US" sz="600" dirty="0" err="1"/>
              <a:t>nIf</a:t>
            </a:r>
            <a:r>
              <a:rPr lang="en-US" sz="600" dirty="0"/>
              <a:t> you are using a module and expect the file to exist on the remote, see the </a:t>
            </a:r>
            <a:r>
              <a:rPr lang="en-US" sz="600" dirty="0" err="1"/>
              <a:t>remote_src</a:t>
            </a:r>
            <a:r>
              <a:rPr lang="en-US" sz="600" dirty="0"/>
              <a:t> option"}</a:t>
            </a:r>
          </a:p>
          <a:p>
            <a:pPr algn="just"/>
            <a:r>
              <a:rPr lang="en-US" sz="600" dirty="0"/>
              <a:t>An exception occurred during task execution. To see the full </a:t>
            </a:r>
            <a:r>
              <a:rPr lang="en-US" sz="600" dirty="0" err="1"/>
              <a:t>traceback</a:t>
            </a:r>
            <a:r>
              <a:rPr lang="en-US" sz="600" dirty="0"/>
              <a:t>, use -</a:t>
            </a:r>
            <a:r>
              <a:rPr lang="en-US" sz="600" dirty="0" err="1"/>
              <a:t>vvv</a:t>
            </a:r>
            <a:r>
              <a:rPr lang="en-US" sz="600" dirty="0"/>
              <a:t>. The error was: If you are using a module and expect the file to exist on the remote, see the </a:t>
            </a:r>
            <a:r>
              <a:rPr lang="en-US" sz="600" dirty="0" err="1"/>
              <a:t>remote_src</a:t>
            </a:r>
            <a:r>
              <a:rPr lang="en-US" sz="600" dirty="0"/>
              <a:t> option</a:t>
            </a:r>
          </a:p>
          <a:p>
            <a:pPr algn="just"/>
            <a:r>
              <a:rPr lang="en-US" sz="600" dirty="0"/>
              <a:t>failed: </a:t>
            </a:r>
            <a:r>
              <a:rPr lang="en-US" sz="600" dirty="0" smtClean="0"/>
              <a:t>[GPU111</a:t>
            </a:r>
            <a:r>
              <a:rPr lang="en-US" sz="600" dirty="0"/>
              <a:t>] (item=cinder-backup/</a:t>
            </a:r>
            <a:r>
              <a:rPr lang="en-US" sz="600" dirty="0" err="1"/>
              <a:t>ceph.client.cinder-backup.keyring</a:t>
            </a:r>
            <a:r>
              <a:rPr lang="en-US" sz="600" dirty="0"/>
              <a:t>) =&gt; {"</a:t>
            </a:r>
            <a:r>
              <a:rPr lang="en-US" sz="600" dirty="0" err="1"/>
              <a:t>ansible_loop_var</a:t>
            </a:r>
            <a:r>
              <a:rPr lang="en-US" sz="600" dirty="0"/>
              <a:t>": "item", "changed": false, "item": "cinder-backup/</a:t>
            </a:r>
            <a:r>
              <a:rPr lang="en-US" sz="600" dirty="0" err="1"/>
              <a:t>ceph.client.cinder-backup.keyring</a:t>
            </a:r>
            <a:r>
              <a:rPr lang="en-US" sz="600" dirty="0"/>
              <a:t>", "</a:t>
            </a:r>
            <a:r>
              <a:rPr lang="en-US" sz="600" dirty="0" err="1"/>
              <a:t>msg</a:t>
            </a:r>
            <a:r>
              <a:rPr lang="en-US" sz="600" dirty="0"/>
              <a:t>": "Could not find or access '/</a:t>
            </a:r>
            <a:r>
              <a:rPr lang="en-US" sz="600" dirty="0" err="1"/>
              <a:t>etc</a:t>
            </a:r>
            <a:r>
              <a:rPr lang="en-US" sz="600" dirty="0"/>
              <a:t>/</a:t>
            </a:r>
            <a:r>
              <a:rPr lang="en-US" sz="600" dirty="0" err="1"/>
              <a:t>kolla</a:t>
            </a:r>
            <a:r>
              <a:rPr lang="en-US" sz="600" dirty="0"/>
              <a:t>/</a:t>
            </a:r>
            <a:r>
              <a:rPr lang="en-US" sz="600" dirty="0" err="1"/>
              <a:t>config</a:t>
            </a:r>
            <a:r>
              <a:rPr lang="en-US" sz="600" dirty="0"/>
              <a:t>/cinder/cinder-backup/</a:t>
            </a:r>
            <a:r>
              <a:rPr lang="en-US" sz="600" dirty="0" err="1"/>
              <a:t>ceph.client.cinder-backup.keyring</a:t>
            </a:r>
            <a:r>
              <a:rPr lang="en-US" sz="600" dirty="0"/>
              <a:t>' on the </a:t>
            </a:r>
            <a:r>
              <a:rPr lang="en-US" sz="600" dirty="0" err="1"/>
              <a:t>Ansible</a:t>
            </a:r>
            <a:r>
              <a:rPr lang="en-US" sz="600" dirty="0"/>
              <a:t> Controller.\</a:t>
            </a:r>
            <a:r>
              <a:rPr lang="en-US" sz="600" dirty="0" err="1"/>
              <a:t>nIf</a:t>
            </a:r>
            <a:r>
              <a:rPr lang="en-US" sz="600" dirty="0"/>
              <a:t> you are using a module and expect the file to exist on the remote, see the </a:t>
            </a:r>
            <a:r>
              <a:rPr lang="en-US" sz="600" dirty="0" err="1"/>
              <a:t>remote_src</a:t>
            </a:r>
            <a:r>
              <a:rPr lang="en-US" sz="600" dirty="0"/>
              <a:t> option"}</a:t>
            </a:r>
          </a:p>
        </p:txBody>
      </p:sp>
      <p:sp>
        <p:nvSpPr>
          <p:cNvPr id="15" name="Rectangle 14"/>
          <p:cNvSpPr/>
          <p:nvPr/>
        </p:nvSpPr>
        <p:spPr>
          <a:xfrm>
            <a:off x="4391069" y="995644"/>
            <a:ext cx="4439032" cy="71068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6" name="Rectangle 15"/>
          <p:cNvSpPr/>
          <p:nvPr/>
        </p:nvSpPr>
        <p:spPr>
          <a:xfrm>
            <a:off x="4283529" y="495878"/>
            <a:ext cx="4410095" cy="461665"/>
          </a:xfrm>
          <a:prstGeom prst="rect">
            <a:avLst/>
          </a:prstGeom>
        </p:spPr>
        <p:txBody>
          <a:bodyPr wrap="square">
            <a:spAutoFit/>
          </a:bodyPr>
          <a:lstStyle/>
          <a:p>
            <a:pPr algn="just"/>
            <a:r>
              <a:rPr lang="en-US" sz="1200" b="1" dirty="0">
                <a:solidFill>
                  <a:srgbClr val="002060"/>
                </a:solidFill>
              </a:rPr>
              <a:t>Setup </a:t>
            </a:r>
            <a:r>
              <a:rPr lang="en-US" sz="1200" b="1" dirty="0" err="1">
                <a:solidFill>
                  <a:srgbClr val="002060"/>
                </a:solidFill>
              </a:rPr>
              <a:t>Ceph</a:t>
            </a:r>
            <a:r>
              <a:rPr lang="en-US" sz="1200" b="1" dirty="0">
                <a:solidFill>
                  <a:srgbClr val="002060"/>
                </a:solidFill>
              </a:rPr>
              <a:t> client authentication to create cinder user for accessing volumes and </a:t>
            </a:r>
            <a:r>
              <a:rPr lang="en-US" sz="1200" b="1" dirty="0" err="1">
                <a:solidFill>
                  <a:srgbClr val="002060"/>
                </a:solidFill>
              </a:rPr>
              <a:t>vms</a:t>
            </a:r>
            <a:r>
              <a:rPr lang="en-US" sz="1200" b="1" dirty="0">
                <a:solidFill>
                  <a:srgbClr val="002060"/>
                </a:solidFill>
              </a:rPr>
              <a:t> pool.</a:t>
            </a:r>
          </a:p>
        </p:txBody>
      </p:sp>
      <p:sp>
        <p:nvSpPr>
          <p:cNvPr id="17" name="Rectangle 16"/>
          <p:cNvSpPr/>
          <p:nvPr/>
        </p:nvSpPr>
        <p:spPr>
          <a:xfrm>
            <a:off x="4391069" y="1071845"/>
            <a:ext cx="4439032" cy="461665"/>
          </a:xfrm>
          <a:prstGeom prst="rect">
            <a:avLst/>
          </a:prstGeom>
        </p:spPr>
        <p:txBody>
          <a:bodyPr wrap="square">
            <a:spAutoFit/>
          </a:bodyPr>
          <a:lstStyle/>
          <a:p>
            <a:r>
              <a:rPr lang="en-US" sz="600" dirty="0" smtClean="0"/>
              <a:t>root@GPU111</a:t>
            </a:r>
            <a:r>
              <a:rPr lang="en-US" sz="600" dirty="0"/>
              <a:t>:~# </a:t>
            </a:r>
            <a:r>
              <a:rPr lang="en-US" sz="600" dirty="0" err="1"/>
              <a:t>ceph</a:t>
            </a:r>
            <a:r>
              <a:rPr lang="en-US" sz="600" dirty="0"/>
              <a:t> </a:t>
            </a:r>
            <a:r>
              <a:rPr lang="en-US" sz="600" dirty="0" err="1"/>
              <a:t>auth</a:t>
            </a:r>
            <a:r>
              <a:rPr lang="en-US" sz="600" dirty="0"/>
              <a:t> get-or-create </a:t>
            </a:r>
            <a:r>
              <a:rPr lang="en-US" sz="600" dirty="0" err="1"/>
              <a:t>client.cinder</a:t>
            </a:r>
            <a:r>
              <a:rPr lang="en-US" sz="600" dirty="0"/>
              <a:t> mon 'profile </a:t>
            </a:r>
            <a:r>
              <a:rPr lang="en-US" sz="600" dirty="0" err="1"/>
              <a:t>rbd</a:t>
            </a:r>
            <a:r>
              <a:rPr lang="en-US" sz="600" dirty="0"/>
              <a:t>' </a:t>
            </a:r>
            <a:r>
              <a:rPr lang="en-US" sz="600" dirty="0" err="1"/>
              <a:t>osd</a:t>
            </a:r>
            <a:r>
              <a:rPr lang="en-US" sz="600" dirty="0"/>
              <a:t> 'profile </a:t>
            </a:r>
            <a:r>
              <a:rPr lang="en-US" sz="600" dirty="0" err="1"/>
              <a:t>rbd</a:t>
            </a:r>
            <a:r>
              <a:rPr lang="en-US" sz="600" dirty="0"/>
              <a:t> pool=volumes, profile </a:t>
            </a:r>
            <a:r>
              <a:rPr lang="en-US" sz="600" dirty="0" err="1"/>
              <a:t>rbd</a:t>
            </a:r>
            <a:r>
              <a:rPr lang="en-US" sz="600" dirty="0"/>
              <a:t> pool=</a:t>
            </a:r>
            <a:r>
              <a:rPr lang="en-US" sz="600" dirty="0" err="1"/>
              <a:t>vms</a:t>
            </a:r>
            <a:r>
              <a:rPr lang="en-US" sz="600" dirty="0"/>
              <a:t>' </a:t>
            </a:r>
            <a:r>
              <a:rPr lang="en-US" sz="600" dirty="0" err="1"/>
              <a:t>mgr</a:t>
            </a:r>
            <a:r>
              <a:rPr lang="en-US" sz="600" dirty="0"/>
              <a:t> 'profile </a:t>
            </a:r>
            <a:r>
              <a:rPr lang="en-US" sz="600" dirty="0" err="1"/>
              <a:t>rbd</a:t>
            </a:r>
            <a:r>
              <a:rPr lang="en-US" sz="600" dirty="0"/>
              <a:t> pool=volumes, profile </a:t>
            </a:r>
            <a:r>
              <a:rPr lang="en-US" sz="600" dirty="0" err="1"/>
              <a:t>rbd</a:t>
            </a:r>
            <a:r>
              <a:rPr lang="en-US" sz="600" dirty="0"/>
              <a:t> pool=</a:t>
            </a:r>
            <a:r>
              <a:rPr lang="en-US" sz="600" dirty="0" err="1"/>
              <a:t>vms</a:t>
            </a:r>
            <a:r>
              <a:rPr lang="en-US" sz="600" dirty="0"/>
              <a:t>'</a:t>
            </a:r>
          </a:p>
          <a:p>
            <a:r>
              <a:rPr lang="en-US" sz="600" dirty="0"/>
              <a:t>[</a:t>
            </a:r>
            <a:r>
              <a:rPr lang="en-US" sz="600" dirty="0" err="1"/>
              <a:t>client.cinder</a:t>
            </a:r>
            <a:r>
              <a:rPr lang="en-US" sz="600" dirty="0"/>
              <a:t>]</a:t>
            </a:r>
          </a:p>
          <a:p>
            <a:r>
              <a:rPr lang="en-US" sz="600" dirty="0"/>
              <a:t>	key = AQAC5nBjU4CrCRAAi3kUAheIpOz5dvWZKg9pNw==</a:t>
            </a:r>
          </a:p>
        </p:txBody>
      </p:sp>
      <p:sp>
        <p:nvSpPr>
          <p:cNvPr id="18" name="Rectangle 17"/>
          <p:cNvSpPr/>
          <p:nvPr/>
        </p:nvSpPr>
        <p:spPr>
          <a:xfrm>
            <a:off x="4391069" y="2340210"/>
            <a:ext cx="4439032" cy="71068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9" name="Rectangle 18"/>
          <p:cNvSpPr/>
          <p:nvPr/>
        </p:nvSpPr>
        <p:spPr>
          <a:xfrm>
            <a:off x="4283529" y="1840444"/>
            <a:ext cx="4410095" cy="461665"/>
          </a:xfrm>
          <a:prstGeom prst="rect">
            <a:avLst/>
          </a:prstGeom>
        </p:spPr>
        <p:txBody>
          <a:bodyPr wrap="square">
            <a:spAutoFit/>
          </a:bodyPr>
          <a:lstStyle/>
          <a:p>
            <a:pPr algn="just"/>
            <a:r>
              <a:rPr lang="en-US" sz="1200" b="1" dirty="0">
                <a:solidFill>
                  <a:srgbClr val="002060"/>
                </a:solidFill>
              </a:rPr>
              <a:t>Also for cinder-backup. (We still use NFS for cinder-backup anyway)</a:t>
            </a:r>
          </a:p>
        </p:txBody>
      </p:sp>
      <p:sp>
        <p:nvSpPr>
          <p:cNvPr id="20" name="Rectangle 19"/>
          <p:cNvSpPr/>
          <p:nvPr/>
        </p:nvSpPr>
        <p:spPr>
          <a:xfrm>
            <a:off x="4391069" y="2416411"/>
            <a:ext cx="4439032" cy="461665"/>
          </a:xfrm>
          <a:prstGeom prst="rect">
            <a:avLst/>
          </a:prstGeom>
        </p:spPr>
        <p:txBody>
          <a:bodyPr wrap="square">
            <a:spAutoFit/>
          </a:bodyPr>
          <a:lstStyle/>
          <a:p>
            <a:r>
              <a:rPr lang="en-US" sz="600" dirty="0" smtClean="0"/>
              <a:t>root@GPU111</a:t>
            </a:r>
            <a:r>
              <a:rPr lang="en-US" sz="600" dirty="0"/>
              <a:t>:/</a:t>
            </a:r>
            <a:r>
              <a:rPr lang="en-US" sz="600" dirty="0" err="1"/>
              <a:t>etc</a:t>
            </a:r>
            <a:r>
              <a:rPr lang="en-US" sz="600" dirty="0"/>
              <a:t>/</a:t>
            </a:r>
            <a:r>
              <a:rPr lang="en-US" sz="600" dirty="0" err="1"/>
              <a:t>kolla</a:t>
            </a:r>
            <a:r>
              <a:rPr lang="en-US" sz="600" dirty="0"/>
              <a:t># </a:t>
            </a:r>
            <a:r>
              <a:rPr lang="en-US" sz="600" dirty="0" err="1"/>
              <a:t>ceph</a:t>
            </a:r>
            <a:r>
              <a:rPr lang="en-US" sz="600" dirty="0"/>
              <a:t> </a:t>
            </a:r>
            <a:r>
              <a:rPr lang="en-US" sz="600" dirty="0" err="1"/>
              <a:t>auth</a:t>
            </a:r>
            <a:r>
              <a:rPr lang="en-US" sz="600" dirty="0"/>
              <a:t> get-or-create </a:t>
            </a:r>
            <a:r>
              <a:rPr lang="en-US" sz="600" dirty="0" err="1"/>
              <a:t>client.cinder</a:t>
            </a:r>
            <a:r>
              <a:rPr lang="en-US" sz="600" dirty="0"/>
              <a:t>-backup mon 'profile </a:t>
            </a:r>
            <a:r>
              <a:rPr lang="en-US" sz="600" dirty="0" err="1"/>
              <a:t>rbd</a:t>
            </a:r>
            <a:r>
              <a:rPr lang="en-US" sz="600" dirty="0"/>
              <a:t>' </a:t>
            </a:r>
            <a:r>
              <a:rPr lang="en-US" sz="600" dirty="0" err="1"/>
              <a:t>osd</a:t>
            </a:r>
            <a:r>
              <a:rPr lang="en-US" sz="600" dirty="0"/>
              <a:t> 'profile </a:t>
            </a:r>
            <a:r>
              <a:rPr lang="en-US" sz="600" dirty="0" err="1"/>
              <a:t>rbd</a:t>
            </a:r>
            <a:r>
              <a:rPr lang="en-US" sz="600" dirty="0"/>
              <a:t> pool=backups' </a:t>
            </a:r>
            <a:r>
              <a:rPr lang="en-US" sz="600" dirty="0" err="1"/>
              <a:t>mgr</a:t>
            </a:r>
            <a:r>
              <a:rPr lang="en-US" sz="600" dirty="0"/>
              <a:t> 'profile </a:t>
            </a:r>
            <a:r>
              <a:rPr lang="en-US" sz="600" dirty="0" err="1"/>
              <a:t>rbd</a:t>
            </a:r>
            <a:r>
              <a:rPr lang="en-US" sz="600" dirty="0"/>
              <a:t> pool=backups'</a:t>
            </a:r>
          </a:p>
          <a:p>
            <a:r>
              <a:rPr lang="en-US" sz="600" dirty="0"/>
              <a:t>[</a:t>
            </a:r>
            <a:r>
              <a:rPr lang="en-US" sz="600" dirty="0" err="1"/>
              <a:t>client.cinder</a:t>
            </a:r>
            <a:r>
              <a:rPr lang="en-US" sz="600" dirty="0"/>
              <a:t>-backup]</a:t>
            </a:r>
          </a:p>
          <a:p>
            <a:r>
              <a:rPr lang="en-US" sz="600" dirty="0"/>
              <a:t>	key = AQB++HBjbprHIBAAai68wc04/</a:t>
            </a:r>
            <a:r>
              <a:rPr lang="en-US" sz="600" dirty="0" err="1"/>
              <a:t>vfhYJGmNgTQoQ</a:t>
            </a:r>
            <a:r>
              <a:rPr lang="en-US" sz="600" dirty="0"/>
              <a:t>==</a:t>
            </a:r>
          </a:p>
        </p:txBody>
      </p:sp>
      <p:sp>
        <p:nvSpPr>
          <p:cNvPr id="21" name="Rectangle 20"/>
          <p:cNvSpPr/>
          <p:nvPr/>
        </p:nvSpPr>
        <p:spPr>
          <a:xfrm>
            <a:off x="4498609" y="3679449"/>
            <a:ext cx="4439032" cy="71068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2" name="Rectangle 21"/>
          <p:cNvSpPr/>
          <p:nvPr/>
        </p:nvSpPr>
        <p:spPr>
          <a:xfrm>
            <a:off x="4391069" y="3179683"/>
            <a:ext cx="4410095" cy="276999"/>
          </a:xfrm>
          <a:prstGeom prst="rect">
            <a:avLst/>
          </a:prstGeom>
        </p:spPr>
        <p:txBody>
          <a:bodyPr wrap="square">
            <a:spAutoFit/>
          </a:bodyPr>
          <a:lstStyle/>
          <a:p>
            <a:pPr algn="just"/>
            <a:r>
              <a:rPr lang="en-US" sz="1200" b="1" dirty="0">
                <a:solidFill>
                  <a:srgbClr val="002060"/>
                </a:solidFill>
              </a:rPr>
              <a:t>Copy the key to deploy node for cinder</a:t>
            </a:r>
          </a:p>
        </p:txBody>
      </p:sp>
      <p:sp>
        <p:nvSpPr>
          <p:cNvPr id="23" name="Rectangle 22"/>
          <p:cNvSpPr/>
          <p:nvPr/>
        </p:nvSpPr>
        <p:spPr>
          <a:xfrm>
            <a:off x="4498609" y="3755650"/>
            <a:ext cx="4439032" cy="553998"/>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mkdir</a:t>
            </a:r>
            <a:r>
              <a:rPr lang="en-US" sz="600" dirty="0"/>
              <a:t> -p ./</a:t>
            </a:r>
            <a:r>
              <a:rPr lang="en-US" sz="600" dirty="0" err="1"/>
              <a:t>config</a:t>
            </a:r>
            <a:r>
              <a:rPr lang="en-US" sz="600" dirty="0"/>
              <a:t>/cinder/cinder-volume/</a:t>
            </a:r>
          </a:p>
          <a:p>
            <a:endParaRPr lang="en-US" sz="600" dirty="0"/>
          </a:p>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cat ./</a:t>
            </a:r>
            <a:r>
              <a:rPr lang="en-US" sz="600" dirty="0" err="1"/>
              <a:t>config</a:t>
            </a:r>
            <a:r>
              <a:rPr lang="en-US" sz="600" dirty="0"/>
              <a:t>/cinder/cinder-volume/</a:t>
            </a:r>
            <a:r>
              <a:rPr lang="en-US" sz="600" dirty="0" err="1"/>
              <a:t>ceph.client.cinder.keyring</a:t>
            </a:r>
            <a:endParaRPr lang="en-US" sz="600" dirty="0"/>
          </a:p>
          <a:p>
            <a:r>
              <a:rPr lang="en-US" sz="600" dirty="0"/>
              <a:t>[</a:t>
            </a:r>
            <a:r>
              <a:rPr lang="en-US" sz="600" dirty="0" err="1"/>
              <a:t>client.cinder</a:t>
            </a:r>
            <a:r>
              <a:rPr lang="en-US" sz="600" dirty="0"/>
              <a:t>]</a:t>
            </a:r>
          </a:p>
          <a:p>
            <a:r>
              <a:rPr lang="en-US" sz="600" dirty="0"/>
              <a:t>	key = AQAC5nBjU4CrCRAAi3kUAheIpOz5dvWZKg9pNw==</a:t>
            </a:r>
          </a:p>
        </p:txBody>
      </p:sp>
    </p:spTree>
    <p:extLst>
      <p:ext uri="{BB962C8B-B14F-4D97-AF65-F5344CB8AC3E}">
        <p14:creationId xmlns:p14="http://schemas.microsoft.com/office/powerpoint/2010/main" val="42835029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7" presetClass="emph" presetSubtype="0" fill="remove" nodeType="clickEffect">
                                  <p:stCondLst>
                                    <p:cond delay="0"/>
                                  </p:stCondLst>
                                  <p:childTnLst>
                                    <p:animClr clrSpc="rgb" dir="cw">
                                      <p:cBhvr override="childStyle">
                                        <p:cTn id="6" dur="250" autoRev="1" fill="remove"/>
                                        <p:tgtEl>
                                          <p:spTgt spid="6">
                                            <p:txEl>
                                              <p:pRg st="0" end="0"/>
                                            </p:txEl>
                                          </p:spTgt>
                                        </p:tgtEl>
                                        <p:attrNameLst>
                                          <p:attrName>style.color</p:attrName>
                                        </p:attrNameLst>
                                      </p:cBhvr>
                                      <p:to>
                                        <a:schemeClr val="bg1"/>
                                      </p:to>
                                    </p:animClr>
                                    <p:animClr clrSpc="rgb" dir="cw">
                                      <p:cBhvr>
                                        <p:cTn id="7" dur="250" autoRev="1" fill="remove"/>
                                        <p:tgtEl>
                                          <p:spTgt spid="6">
                                            <p:txEl>
                                              <p:pRg st="0" end="0"/>
                                            </p:txEl>
                                          </p:spTgt>
                                        </p:tgtEl>
                                        <p:attrNameLst>
                                          <p:attrName>fillcolor</p:attrName>
                                        </p:attrNameLst>
                                      </p:cBhvr>
                                      <p:to>
                                        <a:schemeClr val="bg1"/>
                                      </p:to>
                                    </p:animClr>
                                    <p:set>
                                      <p:cBhvr>
                                        <p:cTn id="8" dur="250" autoRev="1" fill="remove"/>
                                        <p:tgtEl>
                                          <p:spTgt spid="6">
                                            <p:txEl>
                                              <p:pRg st="0" end="0"/>
                                            </p:txEl>
                                          </p:spTgt>
                                        </p:tgtEl>
                                        <p:attrNameLst>
                                          <p:attrName>fill.type</p:attrName>
                                        </p:attrNameLst>
                                      </p:cBhvr>
                                      <p:to>
                                        <p:strVal val="solid"/>
                                      </p:to>
                                    </p:set>
                                    <p:set>
                                      <p:cBhvr>
                                        <p:cTn id="9" dur="250" autoRev="1" fill="remove"/>
                                        <p:tgtEl>
                                          <p:spTgt spid="6">
                                            <p:txEl>
                                              <p:pRg st="0" end="0"/>
                                            </p:txEl>
                                          </p:spTgt>
                                        </p:tgtEl>
                                        <p:attrNameLst>
                                          <p:attrName>fill.on</p:attrName>
                                        </p:attrNameLst>
                                      </p:cBhvr>
                                      <p:to>
                                        <p:strVal val="true"/>
                                      </p:to>
                                    </p:set>
                                  </p:childTnLst>
                                </p:cTn>
                              </p:par>
                              <p:par>
                                <p:cTn id="10" presetID="27" presetClass="emph" presetSubtype="0" fill="remove" nodeType="withEffect">
                                  <p:stCondLst>
                                    <p:cond delay="0"/>
                                  </p:stCondLst>
                                  <p:childTnLst>
                                    <p:animClr clrSpc="rgb" dir="cw">
                                      <p:cBhvr override="childStyle">
                                        <p:cTn id="11" dur="250" autoRev="1" fill="remove"/>
                                        <p:tgtEl>
                                          <p:spTgt spid="6">
                                            <p:txEl>
                                              <p:pRg st="1" end="1"/>
                                            </p:txEl>
                                          </p:spTgt>
                                        </p:tgtEl>
                                        <p:attrNameLst>
                                          <p:attrName>style.color</p:attrName>
                                        </p:attrNameLst>
                                      </p:cBhvr>
                                      <p:to>
                                        <a:schemeClr val="bg1"/>
                                      </p:to>
                                    </p:animClr>
                                    <p:animClr clrSpc="rgb" dir="cw">
                                      <p:cBhvr>
                                        <p:cTn id="12" dur="250" autoRev="1" fill="remove"/>
                                        <p:tgtEl>
                                          <p:spTgt spid="6">
                                            <p:txEl>
                                              <p:pRg st="1" end="1"/>
                                            </p:txEl>
                                          </p:spTgt>
                                        </p:tgtEl>
                                        <p:attrNameLst>
                                          <p:attrName>fillcolor</p:attrName>
                                        </p:attrNameLst>
                                      </p:cBhvr>
                                      <p:to>
                                        <a:schemeClr val="bg1"/>
                                      </p:to>
                                    </p:animClr>
                                    <p:set>
                                      <p:cBhvr>
                                        <p:cTn id="13" dur="250" autoRev="1" fill="remove"/>
                                        <p:tgtEl>
                                          <p:spTgt spid="6">
                                            <p:txEl>
                                              <p:pRg st="1" end="1"/>
                                            </p:txEl>
                                          </p:spTgt>
                                        </p:tgtEl>
                                        <p:attrNameLst>
                                          <p:attrName>fill.type</p:attrName>
                                        </p:attrNameLst>
                                      </p:cBhvr>
                                      <p:to>
                                        <p:strVal val="solid"/>
                                      </p:to>
                                    </p:set>
                                    <p:set>
                                      <p:cBhvr>
                                        <p:cTn id="14" dur="250" autoRev="1" fill="remove"/>
                                        <p:tgtEl>
                                          <p:spTgt spid="6">
                                            <p:txEl>
                                              <p:pRg st="1" end="1"/>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4" name="Rectangle 3"/>
          <p:cNvSpPr/>
          <p:nvPr/>
        </p:nvSpPr>
        <p:spPr>
          <a:xfrm>
            <a:off x="78593" y="539393"/>
            <a:ext cx="3879032" cy="84724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7" name="Rectangle 6"/>
          <p:cNvSpPr/>
          <p:nvPr/>
        </p:nvSpPr>
        <p:spPr>
          <a:xfrm>
            <a:off x="78593" y="539709"/>
            <a:ext cx="4063389" cy="830997"/>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mkdir</a:t>
            </a:r>
            <a:r>
              <a:rPr lang="en-US" sz="600" dirty="0"/>
              <a:t> -p ./</a:t>
            </a:r>
            <a:r>
              <a:rPr lang="en-US" sz="600" dirty="0" err="1"/>
              <a:t>config</a:t>
            </a:r>
            <a:r>
              <a:rPr lang="en-US" sz="600" dirty="0"/>
              <a:t>/cinder/cinder-backup/</a:t>
            </a:r>
          </a:p>
          <a:p>
            <a:endParaRPr lang="en-US" sz="600" dirty="0"/>
          </a:p>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cp</a:t>
            </a:r>
            <a:r>
              <a:rPr lang="en-US" sz="600" dirty="0"/>
              <a:t> ./</a:t>
            </a:r>
            <a:r>
              <a:rPr lang="en-US" sz="600" dirty="0" err="1"/>
              <a:t>config</a:t>
            </a:r>
            <a:r>
              <a:rPr lang="en-US" sz="600" dirty="0"/>
              <a:t>/cinder/cinder-volume/</a:t>
            </a:r>
            <a:r>
              <a:rPr lang="en-US" sz="600" dirty="0" err="1"/>
              <a:t>ceph.client.cinder.keyring</a:t>
            </a:r>
            <a:r>
              <a:rPr lang="en-US" sz="600" dirty="0"/>
              <a:t> ./</a:t>
            </a:r>
            <a:r>
              <a:rPr lang="en-US" sz="600" dirty="0" err="1"/>
              <a:t>config</a:t>
            </a:r>
            <a:r>
              <a:rPr lang="en-US" sz="600" dirty="0"/>
              <a:t>/cinder/cinder-backup/</a:t>
            </a:r>
          </a:p>
          <a:p>
            <a:endParaRPr lang="en-US" sz="600" dirty="0"/>
          </a:p>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cat ./</a:t>
            </a:r>
            <a:r>
              <a:rPr lang="en-US" sz="600" dirty="0" err="1"/>
              <a:t>config</a:t>
            </a:r>
            <a:r>
              <a:rPr lang="en-US" sz="600" dirty="0"/>
              <a:t>/cinder/cinder-backup/</a:t>
            </a:r>
            <a:r>
              <a:rPr lang="en-US" sz="600" dirty="0" err="1"/>
              <a:t>ceph.client.cinder-backup.keyring</a:t>
            </a:r>
            <a:endParaRPr lang="en-US" sz="600" dirty="0"/>
          </a:p>
          <a:p>
            <a:r>
              <a:rPr lang="en-US" sz="600" dirty="0"/>
              <a:t>[</a:t>
            </a:r>
            <a:r>
              <a:rPr lang="en-US" sz="600" dirty="0" err="1"/>
              <a:t>client.cinder</a:t>
            </a:r>
            <a:r>
              <a:rPr lang="en-US" sz="600" dirty="0"/>
              <a:t>-backup]</a:t>
            </a:r>
          </a:p>
          <a:p>
            <a:r>
              <a:rPr lang="en-US" sz="600" dirty="0"/>
              <a:t>	key = AQB++HBjbprHIBAAai68wc04/</a:t>
            </a:r>
            <a:r>
              <a:rPr lang="en-US" sz="600" dirty="0" err="1"/>
              <a:t>vfhYJGmNgTQoQ</a:t>
            </a:r>
            <a:r>
              <a:rPr lang="en-US" sz="600" dirty="0"/>
              <a:t>==</a:t>
            </a:r>
          </a:p>
        </p:txBody>
      </p:sp>
      <p:sp>
        <p:nvSpPr>
          <p:cNvPr id="9" name="Rectangle 8"/>
          <p:cNvSpPr/>
          <p:nvPr/>
        </p:nvSpPr>
        <p:spPr>
          <a:xfrm>
            <a:off x="262951" y="1897489"/>
            <a:ext cx="3244298" cy="71068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0" name="Rectangle 9"/>
          <p:cNvSpPr/>
          <p:nvPr/>
        </p:nvSpPr>
        <p:spPr>
          <a:xfrm>
            <a:off x="262951" y="1936653"/>
            <a:ext cx="3694674" cy="553998"/>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cat ./</a:t>
            </a:r>
            <a:r>
              <a:rPr lang="en-US" sz="600" dirty="0" err="1"/>
              <a:t>config</a:t>
            </a:r>
            <a:r>
              <a:rPr lang="en-US" sz="600" dirty="0"/>
              <a:t>/cinder/</a:t>
            </a:r>
            <a:r>
              <a:rPr lang="en-US" sz="600" dirty="0" err="1"/>
              <a:t>ceph.conf</a:t>
            </a:r>
            <a:r>
              <a:rPr lang="en-US" sz="600" dirty="0"/>
              <a:t> </a:t>
            </a:r>
          </a:p>
          <a:p>
            <a:r>
              <a:rPr lang="en-US" sz="600" dirty="0"/>
              <a:t># minimal </a:t>
            </a:r>
            <a:r>
              <a:rPr lang="en-US" sz="600" dirty="0" err="1"/>
              <a:t>ceph.conf</a:t>
            </a:r>
            <a:r>
              <a:rPr lang="en-US" sz="600" dirty="0"/>
              <a:t> for 16e21856-6030-11ed-8a24-db02e0e54b22</a:t>
            </a:r>
          </a:p>
          <a:p>
            <a:r>
              <a:rPr lang="en-US" sz="600" dirty="0"/>
              <a:t>[global]</a:t>
            </a:r>
          </a:p>
          <a:p>
            <a:r>
              <a:rPr lang="en-US" sz="600" dirty="0" err="1"/>
              <a:t>fsid</a:t>
            </a:r>
            <a:r>
              <a:rPr lang="en-US" sz="600" dirty="0"/>
              <a:t> = 16e21856-6030-11ed-8a24-db02e0e54b22</a:t>
            </a:r>
          </a:p>
          <a:p>
            <a:r>
              <a:rPr lang="en-US" sz="600" dirty="0" err="1"/>
              <a:t>mon_host</a:t>
            </a:r>
            <a:r>
              <a:rPr lang="en-US" sz="600" dirty="0"/>
              <a:t> = [v2:192.168.1.23:3300/0,v1:192.168.1.23:6789/0]</a:t>
            </a:r>
          </a:p>
        </p:txBody>
      </p:sp>
      <p:sp>
        <p:nvSpPr>
          <p:cNvPr id="11" name="Rectangle 10"/>
          <p:cNvSpPr/>
          <p:nvPr/>
        </p:nvSpPr>
        <p:spPr>
          <a:xfrm>
            <a:off x="46229" y="1675632"/>
            <a:ext cx="2123851" cy="276999"/>
          </a:xfrm>
          <a:prstGeom prst="rect">
            <a:avLst/>
          </a:prstGeom>
        </p:spPr>
        <p:txBody>
          <a:bodyPr wrap="none">
            <a:spAutoFit/>
          </a:bodyPr>
          <a:lstStyle/>
          <a:p>
            <a:r>
              <a:rPr lang="en-US" sz="1200" dirty="0"/>
              <a:t>Copy </a:t>
            </a:r>
            <a:r>
              <a:rPr lang="en-US" sz="1200" dirty="0" err="1"/>
              <a:t>ceph.conf</a:t>
            </a:r>
            <a:r>
              <a:rPr lang="en-US" sz="1200" dirty="0"/>
              <a:t> to deploy node</a:t>
            </a:r>
            <a:endParaRPr lang="en-US" sz="1200" b="1" dirty="0">
              <a:solidFill>
                <a:srgbClr val="002060"/>
              </a:solidFill>
            </a:endParaRPr>
          </a:p>
        </p:txBody>
      </p:sp>
      <p:sp>
        <p:nvSpPr>
          <p:cNvPr id="2" name="Rectangle 1"/>
          <p:cNvSpPr/>
          <p:nvPr/>
        </p:nvSpPr>
        <p:spPr>
          <a:xfrm>
            <a:off x="0" y="1500938"/>
            <a:ext cx="3957625" cy="261610"/>
          </a:xfrm>
          <a:prstGeom prst="rect">
            <a:avLst/>
          </a:prstGeom>
        </p:spPr>
        <p:txBody>
          <a:bodyPr wrap="square">
            <a:spAutoFit/>
          </a:bodyPr>
          <a:lstStyle/>
          <a:p>
            <a:r>
              <a:rPr lang="en-US" sz="1100" dirty="0"/>
              <a:t>NOTE: cinder-backup needs cinder and cinder-backup keys.</a:t>
            </a:r>
          </a:p>
        </p:txBody>
      </p:sp>
      <p:sp>
        <p:nvSpPr>
          <p:cNvPr id="13" name="Rectangle 12"/>
          <p:cNvSpPr/>
          <p:nvPr/>
        </p:nvSpPr>
        <p:spPr>
          <a:xfrm>
            <a:off x="39296" y="2592399"/>
            <a:ext cx="3957625" cy="430887"/>
          </a:xfrm>
          <a:prstGeom prst="rect">
            <a:avLst/>
          </a:prstGeom>
        </p:spPr>
        <p:txBody>
          <a:bodyPr wrap="square">
            <a:spAutoFit/>
          </a:bodyPr>
          <a:lstStyle/>
          <a:p>
            <a:r>
              <a:rPr lang="en-US" sz="1100" dirty="0"/>
              <a:t>NOTE: remove the "tab" in the </a:t>
            </a:r>
            <a:r>
              <a:rPr lang="en-US" sz="1100" dirty="0" err="1"/>
              <a:t>ceph.conf</a:t>
            </a:r>
            <a:r>
              <a:rPr lang="en-US" sz="1100" dirty="0"/>
              <a:t>. Otherwise </a:t>
            </a:r>
            <a:r>
              <a:rPr lang="en-US" sz="1100" dirty="0" err="1"/>
              <a:t>kolla-ansible</a:t>
            </a:r>
            <a:r>
              <a:rPr lang="en-US" sz="1100" dirty="0"/>
              <a:t> would fail with error.</a:t>
            </a:r>
          </a:p>
        </p:txBody>
      </p:sp>
      <p:sp>
        <p:nvSpPr>
          <p:cNvPr id="14" name="Rectangle 13"/>
          <p:cNvSpPr/>
          <p:nvPr/>
        </p:nvSpPr>
        <p:spPr>
          <a:xfrm>
            <a:off x="138384" y="3025633"/>
            <a:ext cx="4003597" cy="63742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14"/>
          <p:cNvSpPr/>
          <p:nvPr/>
        </p:nvSpPr>
        <p:spPr>
          <a:xfrm>
            <a:off x="138385" y="3025949"/>
            <a:ext cx="4063389" cy="553998"/>
          </a:xfrm>
          <a:prstGeom prst="rect">
            <a:avLst/>
          </a:prstGeom>
        </p:spPr>
        <p:txBody>
          <a:bodyPr wrap="square">
            <a:spAutoFit/>
          </a:bodyPr>
          <a:lstStyle/>
          <a:p>
            <a:r>
              <a:rPr lang="en-US" sz="600" dirty="0"/>
              <a:t>TASK [cinder : Copying over </a:t>
            </a:r>
            <a:r>
              <a:rPr lang="en-US" sz="600" dirty="0" err="1"/>
              <a:t>ceph.conf</a:t>
            </a:r>
            <a:r>
              <a:rPr lang="en-US" sz="600" dirty="0"/>
              <a:t> for Cinder]</a:t>
            </a:r>
          </a:p>
          <a:p>
            <a:endParaRPr lang="en-US" sz="600" dirty="0"/>
          </a:p>
          <a:p>
            <a:r>
              <a:rPr lang="en-US" sz="600" dirty="0"/>
              <a:t>An exception occurred during task execution. To see the full </a:t>
            </a:r>
            <a:r>
              <a:rPr lang="en-US" sz="600" dirty="0" err="1"/>
              <a:t>traceback</a:t>
            </a:r>
            <a:r>
              <a:rPr lang="en-US" sz="600" dirty="0"/>
              <a:t>, use -</a:t>
            </a:r>
            <a:r>
              <a:rPr lang="en-US" sz="600" dirty="0" err="1"/>
              <a:t>vvv</a:t>
            </a:r>
            <a:r>
              <a:rPr lang="en-US" sz="600" dirty="0"/>
              <a:t>. The error was: </a:t>
            </a:r>
            <a:r>
              <a:rPr lang="en-US" sz="600" dirty="0" err="1"/>
              <a:t>oslo_config.iniparser.ParseError</a:t>
            </a:r>
            <a:r>
              <a:rPr lang="en-US" sz="600" dirty="0"/>
              <a:t>: at line 3, Unexpected continuation line: '\</a:t>
            </a:r>
            <a:r>
              <a:rPr lang="en-US" sz="600" dirty="0" err="1"/>
              <a:t>tfsid</a:t>
            </a:r>
            <a:r>
              <a:rPr lang="en-US" sz="600" dirty="0"/>
              <a:t> = 16e21856-6030-11ed-8a24-db02e0e54b22'</a:t>
            </a:r>
          </a:p>
          <a:p>
            <a:r>
              <a:rPr lang="en-US" sz="600" dirty="0"/>
              <a:t>fatal: </a:t>
            </a:r>
            <a:r>
              <a:rPr lang="en-US" sz="600" dirty="0" smtClean="0"/>
              <a:t>[GPU111</a:t>
            </a:r>
            <a:r>
              <a:rPr lang="en-US" sz="600" dirty="0"/>
              <a:t>]: FAILED! =&gt; {"</a:t>
            </a:r>
            <a:r>
              <a:rPr lang="en-US" sz="600" dirty="0" err="1"/>
              <a:t>msg</a:t>
            </a:r>
            <a:r>
              <a:rPr lang="en-US" sz="600" dirty="0"/>
              <a:t>": "Unexpected failure during module execution.", "</a:t>
            </a:r>
            <a:r>
              <a:rPr lang="en-US" sz="600" dirty="0" err="1"/>
              <a:t>stdout</a:t>
            </a:r>
            <a:r>
              <a:rPr lang="en-US" sz="600" dirty="0"/>
              <a:t>": ""}</a:t>
            </a:r>
          </a:p>
        </p:txBody>
      </p:sp>
      <p:sp>
        <p:nvSpPr>
          <p:cNvPr id="16" name="Rectangle 15"/>
          <p:cNvSpPr/>
          <p:nvPr/>
        </p:nvSpPr>
        <p:spPr>
          <a:xfrm>
            <a:off x="138384" y="3830298"/>
            <a:ext cx="3879032" cy="43280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7" name="Rectangle 16"/>
          <p:cNvSpPr/>
          <p:nvPr/>
        </p:nvSpPr>
        <p:spPr>
          <a:xfrm>
            <a:off x="138384" y="3830614"/>
            <a:ext cx="4063389" cy="369332"/>
          </a:xfrm>
          <a:prstGeom prst="rect">
            <a:avLst/>
          </a:prstGeom>
        </p:spPr>
        <p:txBody>
          <a:bodyPr wrap="square">
            <a:spAutoFit/>
          </a:bodyPr>
          <a:lstStyle/>
          <a:p>
            <a:r>
              <a:rPr lang="en-US" sz="600" dirty="0"/>
              <a:t>[global]</a:t>
            </a:r>
          </a:p>
          <a:p>
            <a:r>
              <a:rPr lang="en-US" sz="600" dirty="0" err="1"/>
              <a:t>fsid</a:t>
            </a:r>
            <a:r>
              <a:rPr lang="en-US" sz="600" dirty="0"/>
              <a:t> = </a:t>
            </a:r>
          </a:p>
          <a:p>
            <a:r>
              <a:rPr lang="en-US" sz="600" dirty="0" err="1"/>
              <a:t>mon_host</a:t>
            </a:r>
            <a:r>
              <a:rPr lang="en-US" sz="600" dirty="0"/>
              <a:t> = </a:t>
            </a:r>
          </a:p>
        </p:txBody>
      </p:sp>
      <p:sp>
        <p:nvSpPr>
          <p:cNvPr id="18" name="Rectangle 17"/>
          <p:cNvSpPr/>
          <p:nvPr/>
        </p:nvSpPr>
        <p:spPr>
          <a:xfrm>
            <a:off x="4258100" y="439593"/>
            <a:ext cx="2896370" cy="276999"/>
          </a:xfrm>
          <a:prstGeom prst="rect">
            <a:avLst/>
          </a:prstGeom>
        </p:spPr>
        <p:txBody>
          <a:bodyPr wrap="none">
            <a:spAutoFit/>
          </a:bodyPr>
          <a:lstStyle/>
          <a:p>
            <a:r>
              <a:rPr lang="en-US" sz="1200" dirty="0"/>
              <a:t>Copy </a:t>
            </a:r>
            <a:r>
              <a:rPr lang="en-US" sz="1200" dirty="0" err="1"/>
              <a:t>ceph.conf</a:t>
            </a:r>
            <a:r>
              <a:rPr lang="en-US" sz="1200" dirty="0"/>
              <a:t> and cinder keyring for Nova</a:t>
            </a:r>
            <a:endParaRPr lang="en-US" sz="1200" b="1" dirty="0">
              <a:solidFill>
                <a:srgbClr val="002060"/>
              </a:solidFill>
            </a:endParaRPr>
          </a:p>
        </p:txBody>
      </p:sp>
      <p:sp>
        <p:nvSpPr>
          <p:cNvPr id="19" name="Rectangle 18"/>
          <p:cNvSpPr/>
          <p:nvPr/>
        </p:nvSpPr>
        <p:spPr>
          <a:xfrm>
            <a:off x="4312690" y="740311"/>
            <a:ext cx="4102691" cy="461665"/>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mkdir</a:t>
            </a:r>
            <a:r>
              <a:rPr lang="en-US" sz="600" dirty="0"/>
              <a:t> -p ./</a:t>
            </a:r>
            <a:r>
              <a:rPr lang="en-US" sz="600" dirty="0" err="1"/>
              <a:t>config</a:t>
            </a:r>
            <a:r>
              <a:rPr lang="en-US" sz="600" dirty="0"/>
              <a:t>/nova</a:t>
            </a:r>
          </a:p>
          <a:p>
            <a:endParaRPr lang="en-US" sz="600" dirty="0"/>
          </a:p>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cp</a:t>
            </a:r>
            <a:r>
              <a:rPr lang="en-US" sz="600" dirty="0"/>
              <a:t> ./</a:t>
            </a:r>
            <a:r>
              <a:rPr lang="en-US" sz="600" dirty="0" err="1"/>
              <a:t>config</a:t>
            </a:r>
            <a:r>
              <a:rPr lang="en-US" sz="600" dirty="0"/>
              <a:t>/cinder/</a:t>
            </a:r>
            <a:r>
              <a:rPr lang="en-US" sz="600" dirty="0" err="1"/>
              <a:t>ceph.conf</a:t>
            </a:r>
            <a:r>
              <a:rPr lang="en-US" sz="600" dirty="0"/>
              <a:t> ./</a:t>
            </a:r>
            <a:r>
              <a:rPr lang="en-US" sz="600" dirty="0" err="1"/>
              <a:t>config</a:t>
            </a:r>
            <a:r>
              <a:rPr lang="en-US" sz="600" dirty="0"/>
              <a:t>/nova/</a:t>
            </a:r>
          </a:p>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cp</a:t>
            </a:r>
            <a:r>
              <a:rPr lang="en-US" sz="600" dirty="0"/>
              <a:t> ./</a:t>
            </a:r>
            <a:r>
              <a:rPr lang="en-US" sz="600" dirty="0" err="1"/>
              <a:t>config</a:t>
            </a:r>
            <a:r>
              <a:rPr lang="en-US" sz="600" dirty="0"/>
              <a:t>/cinder/cinder-volume/</a:t>
            </a:r>
            <a:r>
              <a:rPr lang="en-US" sz="600" dirty="0" err="1"/>
              <a:t>ceph.client.cinder.keyring</a:t>
            </a:r>
            <a:r>
              <a:rPr lang="en-US" sz="600" dirty="0"/>
              <a:t> ./</a:t>
            </a:r>
            <a:r>
              <a:rPr lang="en-US" sz="600" dirty="0" err="1"/>
              <a:t>config</a:t>
            </a:r>
            <a:r>
              <a:rPr lang="en-US" sz="600" dirty="0"/>
              <a:t>/nova/</a:t>
            </a:r>
          </a:p>
        </p:txBody>
      </p:sp>
      <p:sp>
        <p:nvSpPr>
          <p:cNvPr id="20" name="Rectangle 19"/>
          <p:cNvSpPr/>
          <p:nvPr/>
        </p:nvSpPr>
        <p:spPr>
          <a:xfrm>
            <a:off x="4312691" y="718985"/>
            <a:ext cx="4371369" cy="48299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1" name="Rectangle 20"/>
          <p:cNvSpPr/>
          <p:nvPr/>
        </p:nvSpPr>
        <p:spPr>
          <a:xfrm>
            <a:off x="4258100" y="1370706"/>
            <a:ext cx="2158604" cy="276999"/>
          </a:xfrm>
          <a:prstGeom prst="rect">
            <a:avLst/>
          </a:prstGeom>
        </p:spPr>
        <p:txBody>
          <a:bodyPr wrap="none">
            <a:spAutoFit/>
          </a:bodyPr>
          <a:lstStyle/>
          <a:p>
            <a:r>
              <a:rPr lang="en-US" sz="1200" dirty="0"/>
              <a:t>Check </a:t>
            </a:r>
            <a:r>
              <a:rPr lang="en-US" sz="1200" dirty="0" err="1"/>
              <a:t>Ceph</a:t>
            </a:r>
            <a:r>
              <a:rPr lang="en-US" sz="1200" dirty="0"/>
              <a:t> </a:t>
            </a:r>
            <a:r>
              <a:rPr lang="en-US" sz="1200" dirty="0" err="1"/>
              <a:t>config</a:t>
            </a:r>
            <a:r>
              <a:rPr lang="en-US" sz="1200" dirty="0"/>
              <a:t> files for </a:t>
            </a:r>
            <a:r>
              <a:rPr lang="en-US" sz="1200" dirty="0" err="1"/>
              <a:t>kolla</a:t>
            </a:r>
            <a:endParaRPr lang="en-US" sz="1200" b="1" dirty="0">
              <a:solidFill>
                <a:srgbClr val="002060"/>
              </a:solidFill>
            </a:endParaRPr>
          </a:p>
        </p:txBody>
      </p:sp>
      <p:sp>
        <p:nvSpPr>
          <p:cNvPr id="22" name="Rectangle 21"/>
          <p:cNvSpPr/>
          <p:nvPr/>
        </p:nvSpPr>
        <p:spPr>
          <a:xfrm>
            <a:off x="4312690" y="1671424"/>
            <a:ext cx="4102691" cy="1292662"/>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tree ./</a:t>
            </a:r>
            <a:r>
              <a:rPr lang="en-US" sz="600" dirty="0" err="1"/>
              <a:t>config</a:t>
            </a:r>
            <a:r>
              <a:rPr lang="en-US" sz="600" dirty="0"/>
              <a:t>/</a:t>
            </a:r>
          </a:p>
          <a:p>
            <a:r>
              <a:rPr lang="en-US" sz="600" dirty="0"/>
              <a:t>./</a:t>
            </a:r>
            <a:r>
              <a:rPr lang="en-US" sz="600" dirty="0" err="1"/>
              <a:t>config</a:t>
            </a:r>
            <a:r>
              <a:rPr lang="en-US" sz="600" dirty="0"/>
              <a:t>/</a:t>
            </a:r>
          </a:p>
          <a:p>
            <a:r>
              <a:rPr lang="en-US" sz="600" dirty="0"/>
              <a:t>├── cinder</a:t>
            </a:r>
          </a:p>
          <a:p>
            <a:r>
              <a:rPr lang="en-US" sz="600" dirty="0"/>
              <a:t>│   ├── </a:t>
            </a:r>
            <a:r>
              <a:rPr lang="en-US" sz="600" dirty="0" err="1"/>
              <a:t>ceph.conf</a:t>
            </a:r>
            <a:endParaRPr lang="en-US" sz="600" dirty="0"/>
          </a:p>
          <a:p>
            <a:r>
              <a:rPr lang="en-US" sz="600" dirty="0"/>
              <a:t>│   ├── cinder-backup</a:t>
            </a:r>
          </a:p>
          <a:p>
            <a:r>
              <a:rPr lang="en-US" sz="600" dirty="0"/>
              <a:t>│   │   ├── </a:t>
            </a:r>
            <a:r>
              <a:rPr lang="en-US" sz="600" dirty="0" err="1"/>
              <a:t>ceph.client.cinder-backup.keyring</a:t>
            </a:r>
            <a:endParaRPr lang="en-US" sz="600" dirty="0"/>
          </a:p>
          <a:p>
            <a:r>
              <a:rPr lang="en-US" sz="600" dirty="0"/>
              <a:t>│   │   └── </a:t>
            </a:r>
            <a:r>
              <a:rPr lang="en-US" sz="600" dirty="0" err="1"/>
              <a:t>ceph.client.cinder.keyring</a:t>
            </a:r>
            <a:endParaRPr lang="en-US" sz="600" dirty="0"/>
          </a:p>
          <a:p>
            <a:r>
              <a:rPr lang="en-US" sz="600" dirty="0"/>
              <a:t>│   └── cinder-volume</a:t>
            </a:r>
          </a:p>
          <a:p>
            <a:r>
              <a:rPr lang="en-US" sz="600" dirty="0"/>
              <a:t>│       └── </a:t>
            </a:r>
            <a:r>
              <a:rPr lang="en-US" sz="600" dirty="0" err="1"/>
              <a:t>ceph.client.cinder.keyring</a:t>
            </a:r>
            <a:endParaRPr lang="en-US" sz="600" dirty="0"/>
          </a:p>
          <a:p>
            <a:r>
              <a:rPr lang="en-US" sz="600" dirty="0"/>
              <a:t>├── </a:t>
            </a:r>
            <a:r>
              <a:rPr lang="en-US" sz="600" dirty="0" err="1"/>
              <a:t>nfs_shares</a:t>
            </a:r>
            <a:endParaRPr lang="en-US" sz="600" dirty="0"/>
          </a:p>
          <a:p>
            <a:r>
              <a:rPr lang="en-US" sz="600" dirty="0"/>
              <a:t>└── nova</a:t>
            </a:r>
          </a:p>
          <a:p>
            <a:r>
              <a:rPr lang="en-US" sz="600" dirty="0"/>
              <a:t>    ├── </a:t>
            </a:r>
            <a:r>
              <a:rPr lang="en-US" sz="600" dirty="0" err="1"/>
              <a:t>ceph.client.cinder.keyring</a:t>
            </a:r>
            <a:endParaRPr lang="en-US" sz="600" dirty="0"/>
          </a:p>
          <a:p>
            <a:r>
              <a:rPr lang="en-US" sz="600" dirty="0"/>
              <a:t>    └── </a:t>
            </a:r>
            <a:r>
              <a:rPr lang="en-US" sz="600" dirty="0" err="1"/>
              <a:t>ceph.conf</a:t>
            </a:r>
            <a:endParaRPr lang="en-US" sz="600" dirty="0"/>
          </a:p>
        </p:txBody>
      </p:sp>
      <p:sp>
        <p:nvSpPr>
          <p:cNvPr id="23" name="Rectangle 22"/>
          <p:cNvSpPr/>
          <p:nvPr/>
        </p:nvSpPr>
        <p:spPr>
          <a:xfrm>
            <a:off x="4312691" y="1650098"/>
            <a:ext cx="4371369" cy="131398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4" name="Rectangle 23"/>
          <p:cNvSpPr/>
          <p:nvPr/>
        </p:nvSpPr>
        <p:spPr>
          <a:xfrm>
            <a:off x="4258099" y="3017504"/>
            <a:ext cx="1316130" cy="276999"/>
          </a:xfrm>
          <a:prstGeom prst="rect">
            <a:avLst/>
          </a:prstGeom>
        </p:spPr>
        <p:txBody>
          <a:bodyPr wrap="none">
            <a:spAutoFit/>
          </a:bodyPr>
          <a:lstStyle/>
          <a:p>
            <a:r>
              <a:rPr lang="en-US" sz="1200" dirty="0" err="1"/>
              <a:t>Config</a:t>
            </a:r>
            <a:r>
              <a:rPr lang="en-US" sz="1200" dirty="0"/>
              <a:t> </a:t>
            </a:r>
            <a:r>
              <a:rPr lang="en-US" sz="1200" dirty="0" err="1"/>
              <a:t>globals.yml</a:t>
            </a:r>
            <a:endParaRPr lang="en-US" sz="1200" b="1" dirty="0">
              <a:solidFill>
                <a:srgbClr val="002060"/>
              </a:solidFill>
            </a:endParaRPr>
          </a:p>
        </p:txBody>
      </p:sp>
      <p:sp>
        <p:nvSpPr>
          <p:cNvPr id="25" name="Rectangle 24"/>
          <p:cNvSpPr/>
          <p:nvPr/>
        </p:nvSpPr>
        <p:spPr>
          <a:xfrm>
            <a:off x="4312689" y="3318222"/>
            <a:ext cx="4102691" cy="1292662"/>
          </a:xfrm>
          <a:prstGeom prst="rect">
            <a:avLst/>
          </a:prstGeom>
        </p:spPr>
        <p:txBody>
          <a:bodyPr wrap="square">
            <a:spAutoFit/>
          </a:bodyPr>
          <a:lstStyle/>
          <a:p>
            <a:r>
              <a:rPr lang="en-US" sz="600" dirty="0" err="1"/>
              <a:t>cinder_backend_ceph</a:t>
            </a:r>
            <a:r>
              <a:rPr lang="en-US" sz="600" dirty="0"/>
              <a:t>: "yes"</a:t>
            </a:r>
          </a:p>
          <a:p>
            <a:r>
              <a:rPr lang="en-US" sz="600" dirty="0" err="1"/>
              <a:t>nova_backend_ceph</a:t>
            </a:r>
            <a:r>
              <a:rPr lang="en-US" sz="600" dirty="0"/>
              <a:t>: "yes"</a:t>
            </a:r>
          </a:p>
          <a:p>
            <a:endParaRPr lang="en-US" sz="600" dirty="0"/>
          </a:p>
          <a:p>
            <a:r>
              <a:rPr lang="en-US" sz="600" dirty="0" err="1"/>
              <a:t>ceph_cinder_keyring</a:t>
            </a:r>
            <a:r>
              <a:rPr lang="en-US" sz="600" dirty="0"/>
              <a:t>: "</a:t>
            </a:r>
            <a:r>
              <a:rPr lang="en-US" sz="600" dirty="0" err="1"/>
              <a:t>ceph.client.cinder.keyring</a:t>
            </a:r>
            <a:r>
              <a:rPr lang="en-US" sz="600" dirty="0"/>
              <a:t>"</a:t>
            </a:r>
          </a:p>
          <a:p>
            <a:r>
              <a:rPr lang="en-US" sz="600" dirty="0" err="1"/>
              <a:t>ceph_cinder_user</a:t>
            </a:r>
            <a:r>
              <a:rPr lang="en-US" sz="600" dirty="0"/>
              <a:t>: "cinder"</a:t>
            </a:r>
          </a:p>
          <a:p>
            <a:r>
              <a:rPr lang="en-US" sz="600" dirty="0" err="1"/>
              <a:t>ceph_cinder_pool_name</a:t>
            </a:r>
            <a:r>
              <a:rPr lang="en-US" sz="600" dirty="0"/>
              <a:t>: "volumes"</a:t>
            </a:r>
          </a:p>
          <a:p>
            <a:r>
              <a:rPr lang="en-US" sz="600" dirty="0" err="1"/>
              <a:t>ceph_cinder_backup_keyring</a:t>
            </a:r>
            <a:r>
              <a:rPr lang="en-US" sz="600" dirty="0"/>
              <a:t>: "</a:t>
            </a:r>
            <a:r>
              <a:rPr lang="en-US" sz="600" dirty="0" err="1"/>
              <a:t>ceph.client.cinder-backup.keyring</a:t>
            </a:r>
            <a:r>
              <a:rPr lang="en-US" sz="600" dirty="0"/>
              <a:t>"</a:t>
            </a:r>
          </a:p>
          <a:p>
            <a:r>
              <a:rPr lang="en-US" sz="600" dirty="0" err="1"/>
              <a:t>ceph_cinder_backup_user</a:t>
            </a:r>
            <a:r>
              <a:rPr lang="en-US" sz="600" dirty="0"/>
              <a:t>: "cinder-backup"</a:t>
            </a:r>
          </a:p>
          <a:p>
            <a:r>
              <a:rPr lang="en-US" sz="600" dirty="0" err="1"/>
              <a:t>ceph_cinder_backup_pool_name</a:t>
            </a:r>
            <a:r>
              <a:rPr lang="en-US" sz="600" dirty="0"/>
              <a:t>: "backups"</a:t>
            </a:r>
          </a:p>
          <a:p>
            <a:endParaRPr lang="en-US" sz="600" dirty="0"/>
          </a:p>
          <a:p>
            <a:r>
              <a:rPr lang="en-US" sz="600" dirty="0" err="1"/>
              <a:t>ceph_nova_keyring</a:t>
            </a:r>
            <a:r>
              <a:rPr lang="en-US" sz="600" dirty="0"/>
              <a:t>: "{{ </a:t>
            </a:r>
            <a:r>
              <a:rPr lang="en-US" sz="600" dirty="0" err="1"/>
              <a:t>ceph_cinder_keyring</a:t>
            </a:r>
            <a:r>
              <a:rPr lang="en-US" sz="600" dirty="0"/>
              <a:t> }}"</a:t>
            </a:r>
          </a:p>
          <a:p>
            <a:r>
              <a:rPr lang="en-US" sz="600" dirty="0" err="1"/>
              <a:t>ceph_nova_user</a:t>
            </a:r>
            <a:r>
              <a:rPr lang="en-US" sz="600" dirty="0"/>
              <a:t>: "{{ </a:t>
            </a:r>
            <a:r>
              <a:rPr lang="en-US" sz="600" dirty="0" err="1"/>
              <a:t>ceph_cinder_user</a:t>
            </a:r>
            <a:r>
              <a:rPr lang="en-US" sz="600" dirty="0"/>
              <a:t> }}"</a:t>
            </a:r>
          </a:p>
          <a:p>
            <a:r>
              <a:rPr lang="en-US" sz="600" dirty="0" err="1"/>
              <a:t>ceph_nova_pool_name</a:t>
            </a:r>
            <a:r>
              <a:rPr lang="en-US" sz="600" dirty="0"/>
              <a:t>: "</a:t>
            </a:r>
            <a:r>
              <a:rPr lang="en-US" sz="600" dirty="0" err="1"/>
              <a:t>vms</a:t>
            </a:r>
            <a:r>
              <a:rPr lang="en-US" sz="600" dirty="0"/>
              <a:t>"</a:t>
            </a:r>
          </a:p>
        </p:txBody>
      </p:sp>
      <p:sp>
        <p:nvSpPr>
          <p:cNvPr id="26" name="Rectangle 25"/>
          <p:cNvSpPr/>
          <p:nvPr/>
        </p:nvSpPr>
        <p:spPr>
          <a:xfrm>
            <a:off x="4312690" y="3296896"/>
            <a:ext cx="4371369" cy="131398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294063492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4" name="Rectangle 3"/>
          <p:cNvSpPr/>
          <p:nvPr/>
        </p:nvSpPr>
        <p:spPr>
          <a:xfrm>
            <a:off x="100819" y="422491"/>
            <a:ext cx="1404231" cy="276999"/>
          </a:xfrm>
          <a:prstGeom prst="rect">
            <a:avLst/>
          </a:prstGeom>
        </p:spPr>
        <p:txBody>
          <a:bodyPr wrap="none">
            <a:spAutoFit/>
          </a:bodyPr>
          <a:lstStyle/>
          <a:p>
            <a:r>
              <a:rPr lang="en-US" sz="1200" dirty="0"/>
              <a:t>Apply configuration</a:t>
            </a:r>
            <a:endParaRPr lang="en-US" sz="1200" b="1" dirty="0">
              <a:solidFill>
                <a:srgbClr val="002060"/>
              </a:solidFill>
            </a:endParaRPr>
          </a:p>
        </p:txBody>
      </p:sp>
      <p:sp>
        <p:nvSpPr>
          <p:cNvPr id="7" name="Rectangle 6"/>
          <p:cNvSpPr/>
          <p:nvPr/>
        </p:nvSpPr>
        <p:spPr>
          <a:xfrm>
            <a:off x="155409" y="723209"/>
            <a:ext cx="4102691" cy="184666"/>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kolla-ansible</a:t>
            </a:r>
            <a:r>
              <a:rPr lang="en-US" sz="600" dirty="0"/>
              <a:t> -</a:t>
            </a:r>
            <a:r>
              <a:rPr lang="en-US" sz="600" dirty="0" err="1"/>
              <a:t>i</a:t>
            </a:r>
            <a:r>
              <a:rPr lang="en-US" sz="600" dirty="0"/>
              <a:t> </a:t>
            </a:r>
            <a:r>
              <a:rPr lang="en-US" sz="600" dirty="0" err="1"/>
              <a:t>multinode</a:t>
            </a:r>
            <a:r>
              <a:rPr lang="en-US" sz="600" dirty="0"/>
              <a:t> deploy</a:t>
            </a:r>
          </a:p>
        </p:txBody>
      </p:sp>
      <p:sp>
        <p:nvSpPr>
          <p:cNvPr id="8" name="Rectangle 7"/>
          <p:cNvSpPr/>
          <p:nvPr/>
        </p:nvSpPr>
        <p:spPr>
          <a:xfrm>
            <a:off x="155410" y="701884"/>
            <a:ext cx="4371369" cy="20599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100819" y="953787"/>
            <a:ext cx="4425960" cy="276999"/>
          </a:xfrm>
          <a:prstGeom prst="rect">
            <a:avLst/>
          </a:prstGeom>
        </p:spPr>
        <p:txBody>
          <a:bodyPr wrap="square">
            <a:spAutoFit/>
          </a:bodyPr>
          <a:lstStyle/>
          <a:p>
            <a:r>
              <a:rPr lang="en-US" sz="1200" dirty="0"/>
              <a:t>Check cinder volume service status</a:t>
            </a:r>
            <a:endParaRPr lang="en-US" sz="1200" b="1" dirty="0">
              <a:solidFill>
                <a:srgbClr val="002060"/>
              </a:solidFill>
            </a:endParaRPr>
          </a:p>
        </p:txBody>
      </p:sp>
      <p:sp>
        <p:nvSpPr>
          <p:cNvPr id="10" name="Rectangle 9"/>
          <p:cNvSpPr/>
          <p:nvPr/>
        </p:nvSpPr>
        <p:spPr>
          <a:xfrm>
            <a:off x="155409" y="1221608"/>
            <a:ext cx="4332508" cy="923330"/>
          </a:xfrm>
          <a:prstGeom prst="rect">
            <a:avLst/>
          </a:prstGeom>
        </p:spPr>
        <p:txBody>
          <a:bodyPr wrap="square">
            <a:spAutoFit/>
          </a:bodyPr>
          <a:lstStyle/>
          <a:p>
            <a:r>
              <a:rPr lang="en-US" sz="600" dirty="0" smtClean="0"/>
              <a:t>root@GPU111</a:t>
            </a:r>
            <a:r>
              <a:rPr lang="en-US" sz="600" dirty="0"/>
              <a:t>:~# </a:t>
            </a:r>
            <a:r>
              <a:rPr lang="en-US" sz="600" dirty="0" err="1"/>
              <a:t>openstack</a:t>
            </a:r>
            <a:r>
              <a:rPr lang="en-US" sz="600" dirty="0"/>
              <a:t> volume service list</a:t>
            </a:r>
          </a:p>
          <a:p>
            <a:r>
              <a:rPr lang="en-US" sz="600" dirty="0"/>
              <a:t>+------------------+--------------+------+---------+-------+----------------------------+</a:t>
            </a:r>
          </a:p>
          <a:p>
            <a:r>
              <a:rPr lang="en-US" sz="600" dirty="0"/>
              <a:t>| Binary           | Host         | Zone | Status  | State | Updated At                 |</a:t>
            </a:r>
          </a:p>
          <a:p>
            <a:r>
              <a:rPr lang="en-US" sz="600" dirty="0"/>
              <a:t>+------------------+--------------+------+---------+-------+----------------------------+</a:t>
            </a:r>
          </a:p>
          <a:p>
            <a:r>
              <a:rPr lang="en-US" sz="600" dirty="0"/>
              <a:t>| cinder-scheduler | </a:t>
            </a:r>
            <a:r>
              <a:rPr lang="en-US" sz="600" dirty="0" smtClean="0"/>
              <a:t>GPU111       </a:t>
            </a:r>
            <a:r>
              <a:rPr lang="en-US" sz="600" dirty="0"/>
              <a:t>| nova | enabled | up    | </a:t>
            </a:r>
            <a:r>
              <a:rPr lang="en-US" sz="600" dirty="0" smtClean="0"/>
              <a:t>2025-18-13T14:36:43.000000 </a:t>
            </a:r>
            <a:r>
              <a:rPr lang="en-US" sz="600" dirty="0"/>
              <a:t>|</a:t>
            </a:r>
          </a:p>
          <a:p>
            <a:r>
              <a:rPr lang="en-US" sz="600" dirty="0"/>
              <a:t>| cinder-volume    | </a:t>
            </a:r>
            <a:r>
              <a:rPr lang="en-US" sz="600" dirty="0" smtClean="0"/>
              <a:t>GPU111@nfs-1 </a:t>
            </a:r>
            <a:r>
              <a:rPr lang="en-US" sz="600" dirty="0"/>
              <a:t>| nova | enabled | up    | </a:t>
            </a:r>
            <a:r>
              <a:rPr lang="en-US" sz="600" dirty="0" smtClean="0"/>
              <a:t>2025-18-13T14:36:44.000000 </a:t>
            </a:r>
            <a:r>
              <a:rPr lang="en-US" sz="600" dirty="0"/>
              <a:t>|</a:t>
            </a:r>
          </a:p>
          <a:p>
            <a:r>
              <a:rPr lang="en-US" sz="600" dirty="0"/>
              <a:t>| cinder-backup    | </a:t>
            </a:r>
            <a:r>
              <a:rPr lang="en-US" sz="600" dirty="0" smtClean="0"/>
              <a:t>GPU111       </a:t>
            </a:r>
            <a:r>
              <a:rPr lang="en-US" sz="600" dirty="0"/>
              <a:t>| nova | enabled | up    | </a:t>
            </a:r>
            <a:r>
              <a:rPr lang="en-US" sz="600" dirty="0" smtClean="0"/>
              <a:t>2025-18-13T14:36:48.000000 </a:t>
            </a:r>
            <a:r>
              <a:rPr lang="en-US" sz="600" dirty="0"/>
              <a:t>|</a:t>
            </a:r>
          </a:p>
          <a:p>
            <a:r>
              <a:rPr lang="en-US" sz="600" dirty="0"/>
              <a:t>| cinder-volume    | </a:t>
            </a:r>
            <a:r>
              <a:rPr lang="en-US" sz="600" dirty="0" smtClean="0"/>
              <a:t>GPU111@rbd-1 </a:t>
            </a:r>
            <a:r>
              <a:rPr lang="en-US" sz="600" dirty="0"/>
              <a:t>| nova | enabled | up    | </a:t>
            </a:r>
            <a:r>
              <a:rPr lang="en-US" sz="600" dirty="0" smtClean="0"/>
              <a:t>2025-18-13T14:36:47.000000 </a:t>
            </a:r>
            <a:r>
              <a:rPr lang="en-US" sz="600" dirty="0"/>
              <a:t>|</a:t>
            </a:r>
          </a:p>
          <a:p>
            <a:r>
              <a:rPr lang="en-US" sz="600" dirty="0"/>
              <a:t>+------------------+--------------+------+---------+-------+----------------------------+</a:t>
            </a:r>
          </a:p>
        </p:txBody>
      </p:sp>
      <p:sp>
        <p:nvSpPr>
          <p:cNvPr id="11" name="Rectangle 10"/>
          <p:cNvSpPr/>
          <p:nvPr/>
        </p:nvSpPr>
        <p:spPr>
          <a:xfrm>
            <a:off x="155409" y="1200283"/>
            <a:ext cx="4371369" cy="94465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2" name="Rectangle 11"/>
          <p:cNvSpPr/>
          <p:nvPr/>
        </p:nvSpPr>
        <p:spPr>
          <a:xfrm>
            <a:off x="155409" y="2392421"/>
            <a:ext cx="4332508" cy="646331"/>
          </a:xfrm>
          <a:prstGeom prst="rect">
            <a:avLst/>
          </a:prstGeom>
        </p:spPr>
        <p:txBody>
          <a:bodyPr wrap="square">
            <a:spAutoFit/>
          </a:bodyPr>
          <a:lstStyle/>
          <a:p>
            <a:r>
              <a:rPr lang="en-US" sz="600" dirty="0" smtClean="0"/>
              <a:t>root@GPU111</a:t>
            </a:r>
            <a:r>
              <a:rPr lang="en-US" sz="600" dirty="0"/>
              <a:t>:/</a:t>
            </a:r>
            <a:r>
              <a:rPr lang="en-US" sz="600" dirty="0" err="1"/>
              <a:t>etc</a:t>
            </a:r>
            <a:r>
              <a:rPr lang="en-US" sz="600" dirty="0"/>
              <a:t>/</a:t>
            </a:r>
            <a:r>
              <a:rPr lang="en-US" sz="600" dirty="0" err="1"/>
              <a:t>kolla</a:t>
            </a:r>
            <a:r>
              <a:rPr lang="en-US" sz="600" dirty="0"/>
              <a:t>/cinder-backup# cat </a:t>
            </a:r>
            <a:r>
              <a:rPr lang="en-US" sz="600" dirty="0" err="1"/>
              <a:t>cinder.conf</a:t>
            </a:r>
            <a:r>
              <a:rPr lang="en-US" sz="600" dirty="0"/>
              <a:t>  | </a:t>
            </a:r>
            <a:r>
              <a:rPr lang="en-US" sz="600" dirty="0" err="1"/>
              <a:t>grep</a:t>
            </a:r>
            <a:r>
              <a:rPr lang="en-US" sz="600" dirty="0"/>
              <a:t> backup</a:t>
            </a:r>
          </a:p>
          <a:p>
            <a:r>
              <a:rPr lang="en-US" sz="600" dirty="0" err="1"/>
              <a:t>backup_driver</a:t>
            </a:r>
            <a:r>
              <a:rPr lang="en-US" sz="600" dirty="0"/>
              <a:t> = </a:t>
            </a:r>
            <a:r>
              <a:rPr lang="en-US" sz="600" dirty="0" err="1"/>
              <a:t>cinder.backup.drivers.nfs.NFSBackupDriver</a:t>
            </a:r>
            <a:endParaRPr lang="en-US" sz="600" dirty="0"/>
          </a:p>
          <a:p>
            <a:r>
              <a:rPr lang="en-US" sz="600" dirty="0" err="1"/>
              <a:t>backup_mount_options</a:t>
            </a:r>
            <a:r>
              <a:rPr lang="en-US" sz="600" dirty="0"/>
              <a:t> =</a:t>
            </a:r>
          </a:p>
          <a:p>
            <a:r>
              <a:rPr lang="en-US" sz="600" dirty="0" err="1"/>
              <a:t>backup_mount_point_base</a:t>
            </a:r>
            <a:r>
              <a:rPr lang="en-US" sz="600" dirty="0"/>
              <a:t> = /</a:t>
            </a:r>
            <a:r>
              <a:rPr lang="en-US" sz="600" dirty="0" err="1"/>
              <a:t>var</a:t>
            </a:r>
            <a:r>
              <a:rPr lang="en-US" sz="600" dirty="0"/>
              <a:t>/lib/cinder/backup</a:t>
            </a:r>
          </a:p>
          <a:p>
            <a:r>
              <a:rPr lang="en-US" sz="600" dirty="0" err="1"/>
              <a:t>backup_share</a:t>
            </a:r>
            <a:r>
              <a:rPr lang="en-US" sz="600" dirty="0"/>
              <a:t> = </a:t>
            </a:r>
            <a:r>
              <a:rPr lang="en-US" sz="600" dirty="0" smtClean="0"/>
              <a:t>GPU111</a:t>
            </a:r>
            <a:r>
              <a:rPr lang="en-US" sz="600" dirty="0"/>
              <a:t>:/</a:t>
            </a:r>
            <a:r>
              <a:rPr lang="en-US" sz="600" dirty="0" err="1"/>
              <a:t>kolla_nfs</a:t>
            </a:r>
            <a:endParaRPr lang="en-US" sz="600" dirty="0"/>
          </a:p>
          <a:p>
            <a:r>
              <a:rPr lang="en-US" sz="600" dirty="0" err="1"/>
              <a:t>backup_file_size</a:t>
            </a:r>
            <a:r>
              <a:rPr lang="en-US" sz="600" dirty="0"/>
              <a:t> = 327680000</a:t>
            </a:r>
          </a:p>
        </p:txBody>
      </p:sp>
      <p:sp>
        <p:nvSpPr>
          <p:cNvPr id="13" name="Rectangle 12"/>
          <p:cNvSpPr/>
          <p:nvPr/>
        </p:nvSpPr>
        <p:spPr>
          <a:xfrm>
            <a:off x="155409" y="2371097"/>
            <a:ext cx="4371369" cy="704528"/>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4" name="Rectangle 13"/>
          <p:cNvSpPr/>
          <p:nvPr/>
        </p:nvSpPr>
        <p:spPr>
          <a:xfrm>
            <a:off x="108683" y="2161472"/>
            <a:ext cx="4425960" cy="276999"/>
          </a:xfrm>
          <a:prstGeom prst="rect">
            <a:avLst/>
          </a:prstGeom>
        </p:spPr>
        <p:txBody>
          <a:bodyPr wrap="square">
            <a:spAutoFit/>
          </a:bodyPr>
          <a:lstStyle/>
          <a:p>
            <a:r>
              <a:rPr lang="en-US" sz="1200" dirty="0"/>
              <a:t>The cinder-backup use NFS backup driver</a:t>
            </a:r>
            <a:endParaRPr lang="en-US" sz="1200" b="1" dirty="0">
              <a:solidFill>
                <a:srgbClr val="002060"/>
              </a:solidFill>
            </a:endParaRPr>
          </a:p>
        </p:txBody>
      </p:sp>
      <p:sp>
        <p:nvSpPr>
          <p:cNvPr id="15" name="Rectangle 14"/>
          <p:cNvSpPr/>
          <p:nvPr/>
        </p:nvSpPr>
        <p:spPr>
          <a:xfrm>
            <a:off x="222425" y="3610140"/>
            <a:ext cx="4332508" cy="276999"/>
          </a:xfrm>
          <a:prstGeom prst="rect">
            <a:avLst/>
          </a:prstGeom>
        </p:spPr>
        <p:txBody>
          <a:bodyPr wrap="square">
            <a:spAutoFit/>
          </a:bodyPr>
          <a:lstStyle/>
          <a:p>
            <a:r>
              <a:rPr lang="en-US" sz="600" dirty="0" smtClean="0"/>
              <a:t>root@GPU111</a:t>
            </a:r>
            <a:r>
              <a:rPr lang="en-US" sz="600" dirty="0"/>
              <a:t>:/</a:t>
            </a:r>
            <a:r>
              <a:rPr lang="en-US" sz="600" dirty="0" err="1"/>
              <a:t>etc</a:t>
            </a:r>
            <a:r>
              <a:rPr lang="en-US" sz="600" dirty="0"/>
              <a:t>/</a:t>
            </a:r>
            <a:r>
              <a:rPr lang="en-US" sz="600" dirty="0" err="1"/>
              <a:t>kolla</a:t>
            </a:r>
            <a:r>
              <a:rPr lang="en-US" sz="600" dirty="0"/>
              <a:t>/cinder-volume# cat </a:t>
            </a:r>
            <a:r>
              <a:rPr lang="en-US" sz="600" dirty="0" err="1"/>
              <a:t>cinder.conf</a:t>
            </a:r>
            <a:r>
              <a:rPr lang="en-US" sz="600" dirty="0"/>
              <a:t> | </a:t>
            </a:r>
            <a:r>
              <a:rPr lang="en-US" sz="600" dirty="0" err="1"/>
              <a:t>grep</a:t>
            </a:r>
            <a:r>
              <a:rPr lang="en-US" sz="600" dirty="0"/>
              <a:t> </a:t>
            </a:r>
            <a:r>
              <a:rPr lang="en-US" sz="600" dirty="0" err="1"/>
              <a:t>enabled_backends</a:t>
            </a:r>
            <a:endParaRPr lang="en-US" sz="600" dirty="0"/>
          </a:p>
          <a:p>
            <a:r>
              <a:rPr lang="en-US" sz="600" dirty="0" err="1"/>
              <a:t>enabled_backends</a:t>
            </a:r>
            <a:r>
              <a:rPr lang="en-US" sz="600" dirty="0"/>
              <a:t> = rbd-1,nfs-1</a:t>
            </a:r>
          </a:p>
        </p:txBody>
      </p:sp>
      <p:sp>
        <p:nvSpPr>
          <p:cNvPr id="16" name="Rectangle 15"/>
          <p:cNvSpPr/>
          <p:nvPr/>
        </p:nvSpPr>
        <p:spPr>
          <a:xfrm>
            <a:off x="222425" y="3588816"/>
            <a:ext cx="4371369" cy="60165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7" name="Rectangle 16"/>
          <p:cNvSpPr/>
          <p:nvPr/>
        </p:nvSpPr>
        <p:spPr>
          <a:xfrm>
            <a:off x="175699" y="3379191"/>
            <a:ext cx="4425960" cy="276999"/>
          </a:xfrm>
          <a:prstGeom prst="rect">
            <a:avLst/>
          </a:prstGeom>
        </p:spPr>
        <p:txBody>
          <a:bodyPr wrap="square">
            <a:spAutoFit/>
          </a:bodyPr>
          <a:lstStyle/>
          <a:p>
            <a:r>
              <a:rPr lang="en-US" sz="1200" dirty="0"/>
              <a:t>Cinder volume has two </a:t>
            </a:r>
            <a:r>
              <a:rPr lang="en-US" sz="1200" dirty="0" err="1"/>
              <a:t>backends</a:t>
            </a:r>
            <a:r>
              <a:rPr lang="en-US" sz="1200" dirty="0"/>
              <a:t> enabled</a:t>
            </a:r>
            <a:endParaRPr lang="en-US" sz="1200" b="1" dirty="0">
              <a:solidFill>
                <a:srgbClr val="002060"/>
              </a:solidFill>
            </a:endParaRPr>
          </a:p>
        </p:txBody>
      </p:sp>
      <p:sp>
        <p:nvSpPr>
          <p:cNvPr id="19" name="Rectangle 18"/>
          <p:cNvSpPr/>
          <p:nvPr/>
        </p:nvSpPr>
        <p:spPr>
          <a:xfrm>
            <a:off x="4648385" y="618117"/>
            <a:ext cx="4332508" cy="1661993"/>
          </a:xfrm>
          <a:prstGeom prst="rect">
            <a:avLst/>
          </a:prstGeom>
        </p:spPr>
        <p:txBody>
          <a:bodyPr wrap="square">
            <a:spAutoFit/>
          </a:bodyPr>
          <a:lstStyle/>
          <a:p>
            <a:r>
              <a:rPr lang="en-US" sz="600" dirty="0"/>
              <a:t>[rbd-1]</a:t>
            </a:r>
          </a:p>
          <a:p>
            <a:r>
              <a:rPr lang="en-US" sz="600" dirty="0" err="1"/>
              <a:t>volume_driver</a:t>
            </a:r>
            <a:r>
              <a:rPr lang="en-US" sz="600" dirty="0"/>
              <a:t> = </a:t>
            </a:r>
            <a:r>
              <a:rPr lang="en-US" sz="600" dirty="0" err="1"/>
              <a:t>cinder.volume.drivers.rbd.RBDDriver</a:t>
            </a:r>
            <a:endParaRPr lang="en-US" sz="600" dirty="0"/>
          </a:p>
          <a:p>
            <a:r>
              <a:rPr lang="en-US" sz="600" dirty="0" err="1"/>
              <a:t>volume_backend_name</a:t>
            </a:r>
            <a:r>
              <a:rPr lang="en-US" sz="600" dirty="0"/>
              <a:t> = rbd-1</a:t>
            </a:r>
          </a:p>
          <a:p>
            <a:r>
              <a:rPr lang="en-US" sz="600" dirty="0" err="1"/>
              <a:t>rbd_pool</a:t>
            </a:r>
            <a:r>
              <a:rPr lang="en-US" sz="600" dirty="0"/>
              <a:t> = volumes</a:t>
            </a:r>
          </a:p>
          <a:p>
            <a:r>
              <a:rPr lang="en-US" sz="600" dirty="0" err="1"/>
              <a:t>rbd_ceph_conf</a:t>
            </a:r>
            <a:r>
              <a:rPr lang="en-US" sz="600" dirty="0"/>
              <a:t> = /</a:t>
            </a:r>
            <a:r>
              <a:rPr lang="en-US" sz="600" dirty="0" err="1"/>
              <a:t>etc</a:t>
            </a:r>
            <a:r>
              <a:rPr lang="en-US" sz="600" dirty="0"/>
              <a:t>/</a:t>
            </a:r>
            <a:r>
              <a:rPr lang="en-US" sz="600" dirty="0" err="1"/>
              <a:t>ceph</a:t>
            </a:r>
            <a:r>
              <a:rPr lang="en-US" sz="600" dirty="0"/>
              <a:t>/</a:t>
            </a:r>
            <a:r>
              <a:rPr lang="en-US" sz="600" dirty="0" err="1"/>
              <a:t>ceph.conf</a:t>
            </a:r>
            <a:endParaRPr lang="en-US" sz="600" dirty="0"/>
          </a:p>
          <a:p>
            <a:r>
              <a:rPr lang="en-US" sz="600" dirty="0" err="1"/>
              <a:t>rados_connect_timeout</a:t>
            </a:r>
            <a:r>
              <a:rPr lang="en-US" sz="600" dirty="0"/>
              <a:t> = 5</a:t>
            </a:r>
          </a:p>
          <a:p>
            <a:r>
              <a:rPr lang="en-US" sz="600" dirty="0" err="1"/>
              <a:t>rbd_user</a:t>
            </a:r>
            <a:r>
              <a:rPr lang="en-US" sz="600" dirty="0"/>
              <a:t> = cinder</a:t>
            </a:r>
          </a:p>
          <a:p>
            <a:r>
              <a:rPr lang="en-US" sz="600" dirty="0" err="1"/>
              <a:t>rbd_secret_uuid</a:t>
            </a:r>
            <a:r>
              <a:rPr lang="en-US" sz="600" dirty="0"/>
              <a:t> = a8c5fb21-a2da-46a3-9275-2c3365bc3a12</a:t>
            </a:r>
          </a:p>
          <a:p>
            <a:r>
              <a:rPr lang="en-US" sz="600" dirty="0" err="1"/>
              <a:t>report_discard_supported</a:t>
            </a:r>
            <a:r>
              <a:rPr lang="en-US" sz="600" dirty="0"/>
              <a:t> = True</a:t>
            </a:r>
          </a:p>
          <a:p>
            <a:endParaRPr lang="en-US" sz="600" dirty="0"/>
          </a:p>
          <a:p>
            <a:r>
              <a:rPr lang="en-US" sz="600" dirty="0"/>
              <a:t>[nfs-1]</a:t>
            </a:r>
          </a:p>
          <a:p>
            <a:r>
              <a:rPr lang="en-US" sz="600" dirty="0" err="1"/>
              <a:t>volume_driver</a:t>
            </a:r>
            <a:r>
              <a:rPr lang="en-US" sz="600" dirty="0"/>
              <a:t> = </a:t>
            </a:r>
            <a:r>
              <a:rPr lang="en-US" sz="600" dirty="0" err="1"/>
              <a:t>cinder.volume.drivers.nfs.NfsDriver</a:t>
            </a:r>
            <a:endParaRPr lang="en-US" sz="600" dirty="0"/>
          </a:p>
          <a:p>
            <a:r>
              <a:rPr lang="en-US" sz="600" dirty="0" err="1"/>
              <a:t>volume_backend_name</a:t>
            </a:r>
            <a:r>
              <a:rPr lang="en-US" sz="600" dirty="0"/>
              <a:t> = nfs-1</a:t>
            </a:r>
          </a:p>
          <a:p>
            <a:r>
              <a:rPr lang="en-US" sz="600" dirty="0" err="1"/>
              <a:t>nfs_shares_config</a:t>
            </a:r>
            <a:r>
              <a:rPr lang="en-US" sz="600" dirty="0"/>
              <a:t> = /</a:t>
            </a:r>
            <a:r>
              <a:rPr lang="en-US" sz="600" dirty="0" err="1"/>
              <a:t>etc</a:t>
            </a:r>
            <a:r>
              <a:rPr lang="en-US" sz="600" dirty="0"/>
              <a:t>/cinder/</a:t>
            </a:r>
            <a:r>
              <a:rPr lang="en-US" sz="600" dirty="0" err="1"/>
              <a:t>nfs_shares</a:t>
            </a:r>
            <a:endParaRPr lang="en-US" sz="600" dirty="0"/>
          </a:p>
          <a:p>
            <a:r>
              <a:rPr lang="en-US" sz="600" dirty="0" err="1"/>
              <a:t>nfs_snapshot_support</a:t>
            </a:r>
            <a:r>
              <a:rPr lang="en-US" sz="600" dirty="0"/>
              <a:t> = True</a:t>
            </a:r>
          </a:p>
          <a:p>
            <a:r>
              <a:rPr lang="en-US" sz="600" dirty="0" err="1"/>
              <a:t>nas_secure_file_permissions</a:t>
            </a:r>
            <a:r>
              <a:rPr lang="en-US" sz="600" dirty="0"/>
              <a:t> = False</a:t>
            </a:r>
          </a:p>
          <a:p>
            <a:r>
              <a:rPr lang="en-US" sz="600" dirty="0" err="1"/>
              <a:t>nas_secure_file_operations</a:t>
            </a:r>
            <a:r>
              <a:rPr lang="en-US" sz="600" dirty="0"/>
              <a:t> = False</a:t>
            </a:r>
          </a:p>
        </p:txBody>
      </p:sp>
      <p:sp>
        <p:nvSpPr>
          <p:cNvPr id="20" name="Rectangle 19"/>
          <p:cNvSpPr/>
          <p:nvPr/>
        </p:nvSpPr>
        <p:spPr>
          <a:xfrm>
            <a:off x="4648385" y="596792"/>
            <a:ext cx="4371369" cy="168331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2" name="Rectangle 21"/>
          <p:cNvSpPr/>
          <p:nvPr/>
        </p:nvSpPr>
        <p:spPr>
          <a:xfrm>
            <a:off x="4695111" y="2602046"/>
            <a:ext cx="4332508" cy="1107996"/>
          </a:xfrm>
          <a:prstGeom prst="rect">
            <a:avLst/>
          </a:prstGeom>
        </p:spPr>
        <p:txBody>
          <a:bodyPr wrap="square">
            <a:spAutoFit/>
          </a:bodyPr>
          <a:lstStyle/>
          <a:p>
            <a:r>
              <a:rPr lang="en-US" sz="600" dirty="0" smtClean="0"/>
              <a:t>root@GPU111</a:t>
            </a:r>
            <a:r>
              <a:rPr lang="en-US" sz="600" dirty="0"/>
              <a:t>:/</a:t>
            </a:r>
            <a:r>
              <a:rPr lang="en-US" sz="600" dirty="0" err="1"/>
              <a:t>etc</a:t>
            </a:r>
            <a:r>
              <a:rPr lang="en-US" sz="600" dirty="0"/>
              <a:t>/</a:t>
            </a:r>
            <a:r>
              <a:rPr lang="en-US" sz="600" dirty="0" err="1"/>
              <a:t>kolla</a:t>
            </a:r>
            <a:r>
              <a:rPr lang="en-US" sz="600" dirty="0"/>
              <a:t>/cinder-volume# </a:t>
            </a:r>
            <a:r>
              <a:rPr lang="en-US" sz="600" dirty="0" err="1"/>
              <a:t>openstack</a:t>
            </a:r>
            <a:r>
              <a:rPr lang="en-US" sz="600" dirty="0"/>
              <a:t> volume type create </a:t>
            </a:r>
            <a:r>
              <a:rPr lang="en-US" sz="600" dirty="0" err="1"/>
              <a:t>ceph</a:t>
            </a:r>
            <a:endParaRPr lang="en-US" sz="600" dirty="0"/>
          </a:p>
          <a:p>
            <a:r>
              <a:rPr lang="en-US" sz="600" dirty="0"/>
              <a:t>+-------------+--------------------------------------+</a:t>
            </a:r>
          </a:p>
          <a:p>
            <a:r>
              <a:rPr lang="en-US" sz="600" dirty="0"/>
              <a:t>| Field       | Value                                |</a:t>
            </a:r>
          </a:p>
          <a:p>
            <a:r>
              <a:rPr lang="en-US" sz="600" dirty="0"/>
              <a:t>+-------------+--------------------------------------+</a:t>
            </a:r>
          </a:p>
          <a:p>
            <a:r>
              <a:rPr lang="en-US" sz="600" dirty="0"/>
              <a:t>| description | None                                 |</a:t>
            </a:r>
          </a:p>
          <a:p>
            <a:r>
              <a:rPr lang="en-US" sz="600" dirty="0"/>
              <a:t>| id          | f2c1ce62-d33f-4045-b94b-fce501961679 |</a:t>
            </a:r>
          </a:p>
          <a:p>
            <a:r>
              <a:rPr lang="en-US" sz="600" dirty="0"/>
              <a:t>| </a:t>
            </a:r>
            <a:r>
              <a:rPr lang="en-US" sz="600" dirty="0" err="1"/>
              <a:t>is_public</a:t>
            </a:r>
            <a:r>
              <a:rPr lang="en-US" sz="600" dirty="0"/>
              <a:t>   | True                                 |</a:t>
            </a:r>
          </a:p>
          <a:p>
            <a:r>
              <a:rPr lang="en-US" sz="600" dirty="0"/>
              <a:t>| name        | </a:t>
            </a:r>
            <a:r>
              <a:rPr lang="en-US" sz="600" dirty="0" err="1"/>
              <a:t>ceph</a:t>
            </a:r>
            <a:r>
              <a:rPr lang="en-US" sz="600" dirty="0"/>
              <a:t>                                 |</a:t>
            </a:r>
          </a:p>
          <a:p>
            <a:r>
              <a:rPr lang="en-US" sz="600" dirty="0"/>
              <a:t>+-------------+--------------------------------------+</a:t>
            </a:r>
          </a:p>
          <a:p>
            <a:endParaRPr lang="en-US" sz="600" dirty="0"/>
          </a:p>
          <a:p>
            <a:r>
              <a:rPr lang="en-US" sz="600" dirty="0" smtClean="0"/>
              <a:t>root@GPU111</a:t>
            </a:r>
            <a:r>
              <a:rPr lang="en-US" sz="600" dirty="0"/>
              <a:t>:/</a:t>
            </a:r>
            <a:r>
              <a:rPr lang="en-US" sz="600" dirty="0" err="1"/>
              <a:t>etc</a:t>
            </a:r>
            <a:r>
              <a:rPr lang="en-US" sz="600" dirty="0"/>
              <a:t>/</a:t>
            </a:r>
            <a:r>
              <a:rPr lang="en-US" sz="600" dirty="0" err="1"/>
              <a:t>kolla</a:t>
            </a:r>
            <a:r>
              <a:rPr lang="en-US" sz="600" dirty="0"/>
              <a:t>/cinder-volume# </a:t>
            </a:r>
            <a:r>
              <a:rPr lang="en-US" sz="600" dirty="0" err="1"/>
              <a:t>openstack</a:t>
            </a:r>
            <a:r>
              <a:rPr lang="en-US" sz="600" dirty="0"/>
              <a:t> volume type set </a:t>
            </a:r>
            <a:r>
              <a:rPr lang="en-US" sz="600" dirty="0" err="1"/>
              <a:t>ceph</a:t>
            </a:r>
            <a:r>
              <a:rPr lang="en-US" sz="600" dirty="0"/>
              <a:t> --property </a:t>
            </a:r>
            <a:r>
              <a:rPr lang="en-US" sz="600" dirty="0" err="1"/>
              <a:t>volume_backend_name</a:t>
            </a:r>
            <a:r>
              <a:rPr lang="en-US" sz="600" dirty="0"/>
              <a:t>=rbd-1</a:t>
            </a:r>
          </a:p>
        </p:txBody>
      </p:sp>
      <p:sp>
        <p:nvSpPr>
          <p:cNvPr id="23" name="Rectangle 22"/>
          <p:cNvSpPr/>
          <p:nvPr/>
        </p:nvSpPr>
        <p:spPr>
          <a:xfrm>
            <a:off x="4695111" y="2580722"/>
            <a:ext cx="4371369" cy="60165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4" name="Rectangle 23"/>
          <p:cNvSpPr/>
          <p:nvPr/>
        </p:nvSpPr>
        <p:spPr>
          <a:xfrm>
            <a:off x="4648385" y="2371097"/>
            <a:ext cx="4425960" cy="276999"/>
          </a:xfrm>
          <a:prstGeom prst="rect">
            <a:avLst/>
          </a:prstGeom>
        </p:spPr>
        <p:txBody>
          <a:bodyPr wrap="square">
            <a:spAutoFit/>
          </a:bodyPr>
          <a:lstStyle/>
          <a:p>
            <a:r>
              <a:rPr lang="en-US" sz="1200" dirty="0"/>
              <a:t>Create volume types</a:t>
            </a:r>
            <a:endParaRPr lang="en-US" sz="1200" b="1" dirty="0">
              <a:solidFill>
                <a:srgbClr val="002060"/>
              </a:solidFill>
            </a:endParaRPr>
          </a:p>
        </p:txBody>
      </p:sp>
    </p:spTree>
    <p:extLst>
      <p:ext uri="{BB962C8B-B14F-4D97-AF65-F5344CB8AC3E}">
        <p14:creationId xmlns:p14="http://schemas.microsoft.com/office/powerpoint/2010/main" val="2111579269"/>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7" name="Rectangle 6"/>
          <p:cNvSpPr/>
          <p:nvPr/>
        </p:nvSpPr>
        <p:spPr>
          <a:xfrm>
            <a:off x="155409" y="723209"/>
            <a:ext cx="4102691" cy="738664"/>
          </a:xfrm>
          <a:prstGeom prst="rect">
            <a:avLst/>
          </a:prstGeom>
        </p:spPr>
        <p:txBody>
          <a:bodyPr wrap="square">
            <a:spAutoFit/>
          </a:bodyPr>
          <a:lstStyle/>
          <a:p>
            <a:r>
              <a:rPr lang="en-US" sz="600" dirty="0" smtClean="0"/>
              <a:t>root@GPU111</a:t>
            </a:r>
            <a:r>
              <a:rPr lang="en-US" sz="600" dirty="0"/>
              <a:t>:/</a:t>
            </a:r>
            <a:r>
              <a:rPr lang="en-US" sz="600" dirty="0" err="1"/>
              <a:t>etc</a:t>
            </a:r>
            <a:r>
              <a:rPr lang="en-US" sz="600" dirty="0"/>
              <a:t>/</a:t>
            </a:r>
            <a:r>
              <a:rPr lang="en-US" sz="600" dirty="0" err="1"/>
              <a:t>kolla</a:t>
            </a:r>
            <a:r>
              <a:rPr lang="en-US" sz="600" dirty="0"/>
              <a:t>/cinder-volume# </a:t>
            </a:r>
            <a:r>
              <a:rPr lang="en-US" sz="600" dirty="0" err="1"/>
              <a:t>openstack</a:t>
            </a:r>
            <a:r>
              <a:rPr lang="en-US" sz="600" dirty="0"/>
              <a:t> volume type list --long</a:t>
            </a:r>
          </a:p>
          <a:p>
            <a:r>
              <a:rPr lang="en-US" sz="600" dirty="0"/>
              <a:t>+--------------------------------------+-------------+-----------+---------------------+-----------------------------+</a:t>
            </a:r>
          </a:p>
          <a:p>
            <a:r>
              <a:rPr lang="en-US" sz="600" dirty="0"/>
              <a:t>| ID                                   | Name        | Is Public | Description         | Properties                  |</a:t>
            </a:r>
          </a:p>
          <a:p>
            <a:r>
              <a:rPr lang="en-US" sz="600" dirty="0"/>
              <a:t>+--------------------------------------+-------------+-----------+---------------------+-----------------------------+</a:t>
            </a:r>
          </a:p>
          <a:p>
            <a:r>
              <a:rPr lang="en-US" sz="600" dirty="0"/>
              <a:t>| f2c1ce62-d33f-4045-b94b-fce501961679 | </a:t>
            </a:r>
            <a:r>
              <a:rPr lang="en-US" sz="600" dirty="0" err="1"/>
              <a:t>ceph</a:t>
            </a:r>
            <a:r>
              <a:rPr lang="en-US" sz="600" dirty="0"/>
              <a:t>        | True      | None                | </a:t>
            </a:r>
            <a:r>
              <a:rPr lang="en-US" sz="600" dirty="0" err="1"/>
              <a:t>volume_backend_name</a:t>
            </a:r>
            <a:r>
              <a:rPr lang="en-US" sz="600" dirty="0"/>
              <a:t>='rbd-1' |</a:t>
            </a:r>
          </a:p>
          <a:p>
            <a:r>
              <a:rPr lang="en-US" sz="600" dirty="0"/>
              <a:t>| f9782ab2-931d-430b-92dd-b6810677c0e0 | __DEFAULT__ | True      | Default Volume Type |                             |</a:t>
            </a:r>
          </a:p>
          <a:p>
            <a:r>
              <a:rPr lang="en-US" sz="600" dirty="0"/>
              <a:t>+--------------------------------------+-------------+-----------+---------------------+-----------------------------+</a:t>
            </a:r>
          </a:p>
        </p:txBody>
      </p:sp>
      <p:sp>
        <p:nvSpPr>
          <p:cNvPr id="8" name="Rectangle 7"/>
          <p:cNvSpPr/>
          <p:nvPr/>
        </p:nvSpPr>
        <p:spPr>
          <a:xfrm>
            <a:off x="155410" y="701884"/>
            <a:ext cx="4371369" cy="205992"/>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155410" y="1649823"/>
            <a:ext cx="4425960" cy="276999"/>
          </a:xfrm>
          <a:prstGeom prst="rect">
            <a:avLst/>
          </a:prstGeom>
        </p:spPr>
        <p:txBody>
          <a:bodyPr wrap="square">
            <a:spAutoFit/>
          </a:bodyPr>
          <a:lstStyle/>
          <a:p>
            <a:r>
              <a:rPr lang="en-US" sz="1200" dirty="0"/>
              <a:t>Test VM creation with </a:t>
            </a:r>
            <a:r>
              <a:rPr lang="en-US" sz="1200" dirty="0" err="1"/>
              <a:t>ceph</a:t>
            </a:r>
            <a:r>
              <a:rPr lang="en-US" sz="1200" dirty="0"/>
              <a:t> volume type</a:t>
            </a:r>
            <a:endParaRPr lang="en-US" sz="1200" b="1" dirty="0">
              <a:solidFill>
                <a:srgbClr val="002060"/>
              </a:solidFill>
            </a:endParaRPr>
          </a:p>
        </p:txBody>
      </p:sp>
      <p:sp>
        <p:nvSpPr>
          <p:cNvPr id="10" name="Rectangle 9"/>
          <p:cNvSpPr/>
          <p:nvPr/>
        </p:nvSpPr>
        <p:spPr>
          <a:xfrm>
            <a:off x="210000" y="1917644"/>
            <a:ext cx="4332508" cy="3231654"/>
          </a:xfrm>
          <a:prstGeom prst="rect">
            <a:avLst/>
          </a:prstGeom>
        </p:spPr>
        <p:txBody>
          <a:bodyPr wrap="square">
            <a:spAutoFit/>
          </a:bodyPr>
          <a:lstStyle/>
          <a:p>
            <a:r>
              <a:rPr lang="en-US" sz="600" dirty="0" smtClean="0"/>
              <a:t>root@GPU111</a:t>
            </a:r>
            <a:r>
              <a:rPr lang="en-US" sz="600" dirty="0"/>
              <a:t>:/</a:t>
            </a:r>
            <a:r>
              <a:rPr lang="en-US" sz="600" dirty="0" err="1"/>
              <a:t>etc</a:t>
            </a:r>
            <a:r>
              <a:rPr lang="en-US" sz="600" dirty="0"/>
              <a:t>/</a:t>
            </a:r>
            <a:r>
              <a:rPr lang="en-US" sz="600" dirty="0" err="1"/>
              <a:t>kolla</a:t>
            </a:r>
            <a:r>
              <a:rPr lang="en-US" sz="600" dirty="0"/>
              <a:t>/cinder-volume# </a:t>
            </a:r>
            <a:r>
              <a:rPr lang="en-US" sz="600" dirty="0" err="1"/>
              <a:t>openstack</a:t>
            </a:r>
            <a:r>
              <a:rPr lang="en-US" sz="600" dirty="0"/>
              <a:t> flavor list</a:t>
            </a:r>
          </a:p>
          <a:p>
            <a:r>
              <a:rPr lang="en-US" sz="600" dirty="0"/>
              <a:t>+--------------------------------------+-----------+-------+------+-----------+-------+-----------+</a:t>
            </a:r>
          </a:p>
          <a:p>
            <a:r>
              <a:rPr lang="en-US" sz="600" dirty="0"/>
              <a:t>| ID                                   | Name      |   RAM | Disk | Ephemeral | VCPUs | Is Public |</a:t>
            </a:r>
          </a:p>
          <a:p>
            <a:r>
              <a:rPr lang="en-US" sz="600" dirty="0"/>
              <a:t>+--------------------------------------+-----------+-------+------+-----------+-------+-----------+</a:t>
            </a:r>
          </a:p>
          <a:p>
            <a:r>
              <a:rPr lang="en-US" sz="600" dirty="0"/>
              <a:t>| 1                                    | m1.tiny   |   512 |    1 |         0 |     1 | True      |</a:t>
            </a:r>
          </a:p>
          <a:p>
            <a:r>
              <a:rPr lang="en-US" sz="600" dirty="0"/>
              <a:t>| 2                                    | m1.small  |  2048 |   20 |         0 |     1 | True      |</a:t>
            </a:r>
          </a:p>
          <a:p>
            <a:r>
              <a:rPr lang="en-US" sz="600" dirty="0"/>
              <a:t>| 3                                    | m1.medium |  4096 |   40 |         0 |     2 | True      |</a:t>
            </a:r>
          </a:p>
          <a:p>
            <a:r>
              <a:rPr lang="en-US" sz="600" dirty="0"/>
              <a:t>| 4                                    | m1.large  |  8192 |   80 |         0 |     4 | True      |</a:t>
            </a:r>
          </a:p>
          <a:p>
            <a:r>
              <a:rPr lang="en-US" sz="600" dirty="0"/>
              <a:t>| 5                                    | m1.xlarge | 16384 |  160 |         0 |     8 | True      |</a:t>
            </a:r>
          </a:p>
          <a:p>
            <a:r>
              <a:rPr lang="en-US" sz="600" dirty="0"/>
              <a:t>| 8f99ab4a-e2de-493d-9940-37de21dfd623 | 1c2r4d    |  2048 |    4 |         0 |     1 | False     |</a:t>
            </a:r>
          </a:p>
          <a:p>
            <a:r>
              <a:rPr lang="en-US" sz="600" dirty="0"/>
              <a:t>+--------------------------------------+-----------+-------+------+-----------+-------+-----------+</a:t>
            </a:r>
          </a:p>
          <a:p>
            <a:endParaRPr lang="en-US" sz="600" dirty="0"/>
          </a:p>
          <a:p>
            <a:r>
              <a:rPr lang="en-US" sz="600" dirty="0" smtClean="0"/>
              <a:t>root@GPU111</a:t>
            </a:r>
            <a:r>
              <a:rPr lang="en-US" sz="600" dirty="0"/>
              <a:t>:/</a:t>
            </a:r>
            <a:r>
              <a:rPr lang="en-US" sz="600" dirty="0" err="1"/>
              <a:t>etc</a:t>
            </a:r>
            <a:r>
              <a:rPr lang="en-US" sz="600" dirty="0"/>
              <a:t>/</a:t>
            </a:r>
            <a:r>
              <a:rPr lang="en-US" sz="600" dirty="0" err="1"/>
              <a:t>kolla</a:t>
            </a:r>
            <a:r>
              <a:rPr lang="en-US" sz="600" dirty="0"/>
              <a:t>/cinder-volume# </a:t>
            </a:r>
            <a:r>
              <a:rPr lang="en-US" sz="600" dirty="0" err="1"/>
              <a:t>openstack</a:t>
            </a:r>
            <a:r>
              <a:rPr lang="en-US" sz="600" dirty="0"/>
              <a:t> </a:t>
            </a:r>
            <a:r>
              <a:rPr lang="en-US" sz="600" dirty="0" err="1"/>
              <a:t>keypair</a:t>
            </a:r>
            <a:r>
              <a:rPr lang="en-US" sz="600" dirty="0"/>
              <a:t> list </a:t>
            </a:r>
          </a:p>
          <a:p>
            <a:r>
              <a:rPr lang="en-US" sz="600" dirty="0"/>
              <a:t>+-----------+-------------------------------------------------+</a:t>
            </a:r>
          </a:p>
          <a:p>
            <a:r>
              <a:rPr lang="en-US" sz="600" dirty="0"/>
              <a:t>| Name      | Fingerprint                                     |</a:t>
            </a:r>
          </a:p>
          <a:p>
            <a:r>
              <a:rPr lang="en-US" sz="600" dirty="0"/>
              <a:t>+-----------+-------------------------------------------------+</a:t>
            </a:r>
          </a:p>
          <a:p>
            <a:r>
              <a:rPr lang="en-US" sz="600" dirty="0"/>
              <a:t>| key-pair1 | 31:a1:03:89:15:fb:5b:46:e7:b8:5a:94:8d:39:82:12 |</a:t>
            </a:r>
          </a:p>
          <a:p>
            <a:r>
              <a:rPr lang="en-US" sz="600" dirty="0"/>
              <a:t>+-----------+-------------------------------------------------+</a:t>
            </a:r>
          </a:p>
          <a:p>
            <a:endParaRPr lang="en-US" sz="600" dirty="0"/>
          </a:p>
          <a:p>
            <a:r>
              <a:rPr lang="en-US" sz="600" dirty="0" smtClean="0"/>
              <a:t>root@GPU111</a:t>
            </a:r>
            <a:r>
              <a:rPr lang="en-US" sz="600" dirty="0"/>
              <a:t>:/</a:t>
            </a:r>
            <a:r>
              <a:rPr lang="en-US" sz="600" dirty="0" err="1"/>
              <a:t>etc</a:t>
            </a:r>
            <a:r>
              <a:rPr lang="en-US" sz="600" dirty="0"/>
              <a:t>/</a:t>
            </a:r>
            <a:r>
              <a:rPr lang="en-US" sz="600" dirty="0" err="1"/>
              <a:t>kolla</a:t>
            </a:r>
            <a:r>
              <a:rPr lang="en-US" sz="600" dirty="0"/>
              <a:t>/cinder-volume# </a:t>
            </a:r>
            <a:r>
              <a:rPr lang="en-US" sz="600" dirty="0" err="1"/>
              <a:t>openstack</a:t>
            </a:r>
            <a:r>
              <a:rPr lang="en-US" sz="600" dirty="0"/>
              <a:t> image list</a:t>
            </a:r>
          </a:p>
          <a:p>
            <a:r>
              <a:rPr lang="en-US" sz="600" dirty="0"/>
              <a:t>+--------------------------------------+-------------+--------+</a:t>
            </a:r>
          </a:p>
          <a:p>
            <a:r>
              <a:rPr lang="en-US" sz="600" dirty="0"/>
              <a:t>| ID                                   | Name        | Status |</a:t>
            </a:r>
          </a:p>
          <a:p>
            <a:r>
              <a:rPr lang="en-US" sz="600" dirty="0"/>
              <a:t>+--------------------------------------+-------------+--------+</a:t>
            </a:r>
          </a:p>
          <a:p>
            <a:r>
              <a:rPr lang="en-US" sz="600" dirty="0"/>
              <a:t>| 1fa43af3-ac22-4dba-85e9-04b21807c5d4 | </a:t>
            </a:r>
            <a:r>
              <a:rPr lang="en-US" sz="600" dirty="0" err="1"/>
              <a:t>cirros</a:t>
            </a:r>
            <a:r>
              <a:rPr lang="en-US" sz="600" dirty="0"/>
              <a:t>      | active |</a:t>
            </a:r>
          </a:p>
          <a:p>
            <a:r>
              <a:rPr lang="en-US" sz="600" dirty="0"/>
              <a:t>| 40cbae5f-79ab-4c4f-ba97-fc97c6cd65f4 | ubuntu22.04 | active |</a:t>
            </a:r>
          </a:p>
          <a:p>
            <a:r>
              <a:rPr lang="en-US" sz="600" dirty="0"/>
              <a:t>+--------------------------------------+-------------+--------+</a:t>
            </a:r>
          </a:p>
          <a:p>
            <a:endParaRPr lang="en-US" sz="600" dirty="0"/>
          </a:p>
          <a:p>
            <a:r>
              <a:rPr lang="en-US" sz="600" dirty="0" smtClean="0"/>
              <a:t>root@GPU111</a:t>
            </a:r>
            <a:r>
              <a:rPr lang="en-US" sz="600" dirty="0"/>
              <a:t>:/</a:t>
            </a:r>
            <a:r>
              <a:rPr lang="en-US" sz="600" dirty="0" err="1"/>
              <a:t>etc</a:t>
            </a:r>
            <a:r>
              <a:rPr lang="en-US" sz="600" dirty="0"/>
              <a:t>/</a:t>
            </a:r>
            <a:r>
              <a:rPr lang="en-US" sz="600" dirty="0" err="1"/>
              <a:t>kolla</a:t>
            </a:r>
            <a:r>
              <a:rPr lang="en-US" sz="600" dirty="0"/>
              <a:t>/cinder-volume# </a:t>
            </a:r>
            <a:r>
              <a:rPr lang="en-US" sz="600" dirty="0" err="1"/>
              <a:t>openstack</a:t>
            </a:r>
            <a:r>
              <a:rPr lang="en-US" sz="600" dirty="0"/>
              <a:t> network list</a:t>
            </a:r>
          </a:p>
          <a:p>
            <a:r>
              <a:rPr lang="en-US" sz="600" dirty="0"/>
              <a:t>+--------------------------------------+----------+--------------------------------------+</a:t>
            </a:r>
          </a:p>
          <a:p>
            <a:r>
              <a:rPr lang="en-US" sz="600" dirty="0"/>
              <a:t>| ID                                   | Name     | Subnets                              |</a:t>
            </a:r>
          </a:p>
          <a:p>
            <a:r>
              <a:rPr lang="en-US" sz="600" dirty="0"/>
              <a:t>+--------------------------------------+----------+--------------------------------------+</a:t>
            </a:r>
          </a:p>
          <a:p>
            <a:r>
              <a:rPr lang="en-US" sz="600" dirty="0"/>
              <a:t>| 17cb537a-88ac-42ed-9eb2-29177cb7490e | public1  | 142f17ca-c06d-4c07-abdc-dc935b1b83a3 |</a:t>
            </a:r>
          </a:p>
          <a:p>
            <a:r>
              <a:rPr lang="en-US" sz="600" dirty="0"/>
              <a:t>| 67e89302-e5c7-4a17-ad1c-675b664874c1 | demo-net | 312eff74-d80c-4281-a51a-9b4bed5132c4 |</a:t>
            </a:r>
          </a:p>
          <a:p>
            <a:r>
              <a:rPr lang="en-US" sz="600" dirty="0"/>
              <a:t>+--------------------------------------+----------+--------------------------------------+</a:t>
            </a:r>
          </a:p>
        </p:txBody>
      </p:sp>
      <p:sp>
        <p:nvSpPr>
          <p:cNvPr id="11" name="Rectangle 10"/>
          <p:cNvSpPr/>
          <p:nvPr/>
        </p:nvSpPr>
        <p:spPr>
          <a:xfrm>
            <a:off x="210000" y="1896319"/>
            <a:ext cx="4371369" cy="325297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2" name="Rectangle 11"/>
          <p:cNvSpPr/>
          <p:nvPr/>
        </p:nvSpPr>
        <p:spPr>
          <a:xfrm>
            <a:off x="4635959" y="394273"/>
            <a:ext cx="4425960" cy="276999"/>
          </a:xfrm>
          <a:prstGeom prst="rect">
            <a:avLst/>
          </a:prstGeom>
        </p:spPr>
        <p:txBody>
          <a:bodyPr wrap="square">
            <a:spAutoFit/>
          </a:bodyPr>
          <a:lstStyle/>
          <a:p>
            <a:r>
              <a:rPr lang="en-US" sz="1200" dirty="0"/>
              <a:t>Create a VM with "ephemeral" disk.</a:t>
            </a:r>
            <a:endParaRPr lang="en-US" sz="1200" b="1" dirty="0">
              <a:solidFill>
                <a:srgbClr val="002060"/>
              </a:solidFill>
            </a:endParaRPr>
          </a:p>
        </p:txBody>
      </p:sp>
      <p:sp>
        <p:nvSpPr>
          <p:cNvPr id="13" name="Rectangle 12"/>
          <p:cNvSpPr/>
          <p:nvPr/>
        </p:nvSpPr>
        <p:spPr>
          <a:xfrm>
            <a:off x="4690549" y="662094"/>
            <a:ext cx="4332508" cy="7017306"/>
          </a:xfrm>
          <a:prstGeom prst="rect">
            <a:avLst/>
          </a:prstGeom>
        </p:spPr>
        <p:txBody>
          <a:bodyPr wrap="square">
            <a:spAutoFit/>
          </a:bodyPr>
          <a:lstStyle/>
          <a:p>
            <a:r>
              <a:rPr lang="en-US" sz="600" dirty="0" smtClean="0"/>
              <a:t>root@GPU111</a:t>
            </a:r>
            <a:r>
              <a:rPr lang="en-US" sz="600" dirty="0"/>
              <a:t>:~# </a:t>
            </a:r>
            <a:r>
              <a:rPr lang="en-US" sz="600" dirty="0" err="1"/>
              <a:t>openstack</a:t>
            </a:r>
            <a:r>
              <a:rPr lang="en-US" sz="600" dirty="0"/>
              <a:t> server create --flavor 1c2r4d --image ubuntu22.04 --key-name key-pair1 --network demo-net </a:t>
            </a:r>
            <a:r>
              <a:rPr lang="en-US" sz="600" dirty="0" err="1"/>
              <a:t>ubuntu_vm</a:t>
            </a:r>
            <a:endParaRPr lang="en-US" sz="600" dirty="0"/>
          </a:p>
          <a:p>
            <a:r>
              <a:rPr lang="en-US" sz="600" dirty="0"/>
              <a:t>+-------------------------------------+----------------------------------------------------+</a:t>
            </a:r>
          </a:p>
          <a:p>
            <a:r>
              <a:rPr lang="en-US" sz="600" dirty="0"/>
              <a:t>| Field                               | Value                                              |</a:t>
            </a:r>
          </a:p>
          <a:p>
            <a:r>
              <a:rPr lang="en-US" sz="600" dirty="0"/>
              <a:t>+-------------------------------------+----------------------------------------------------+</a:t>
            </a:r>
          </a:p>
          <a:p>
            <a:r>
              <a:rPr lang="en-US" sz="600" dirty="0"/>
              <a:t>| </a:t>
            </a:r>
            <a:r>
              <a:rPr lang="en-US" sz="600" dirty="0" err="1"/>
              <a:t>OS-DCF:diskConfig</a:t>
            </a:r>
            <a:r>
              <a:rPr lang="en-US" sz="600" dirty="0"/>
              <a:t>                   | MANUAL                                             |</a:t>
            </a:r>
          </a:p>
          <a:p>
            <a:r>
              <a:rPr lang="en-US" sz="600" dirty="0"/>
              <a:t>| </a:t>
            </a:r>
            <a:r>
              <a:rPr lang="en-US" sz="600" dirty="0" err="1"/>
              <a:t>OS-EXT-AZ:availability_zone</a:t>
            </a:r>
            <a:r>
              <a:rPr lang="en-US" sz="600" dirty="0"/>
              <a:t>         |                                                    |</a:t>
            </a:r>
          </a:p>
          <a:p>
            <a:r>
              <a:rPr lang="en-US" sz="600" dirty="0"/>
              <a:t>| </a:t>
            </a:r>
            <a:r>
              <a:rPr lang="en-US" sz="600" dirty="0" err="1"/>
              <a:t>OS-EXT-SRV-ATTR:host</a:t>
            </a:r>
            <a:r>
              <a:rPr lang="en-US" sz="600" dirty="0"/>
              <a:t>                | None                                               |</a:t>
            </a:r>
          </a:p>
          <a:p>
            <a:r>
              <a:rPr lang="en-US" sz="600" dirty="0"/>
              <a:t>| </a:t>
            </a:r>
            <a:r>
              <a:rPr lang="en-US" sz="600" dirty="0" err="1"/>
              <a:t>OS-EXT-SRV-ATTR:hypervisor_hostname</a:t>
            </a:r>
            <a:r>
              <a:rPr lang="en-US" sz="600" dirty="0"/>
              <a:t> | None                                               |</a:t>
            </a:r>
          </a:p>
          <a:p>
            <a:r>
              <a:rPr lang="en-US" sz="600" dirty="0"/>
              <a:t>| </a:t>
            </a:r>
            <a:r>
              <a:rPr lang="en-US" sz="600" dirty="0" err="1"/>
              <a:t>OS-EXT-SRV-ATTR:instance_name</a:t>
            </a:r>
            <a:r>
              <a:rPr lang="en-US" sz="600" dirty="0"/>
              <a:t>       |                                                    |</a:t>
            </a:r>
          </a:p>
          <a:p>
            <a:r>
              <a:rPr lang="en-US" sz="600" dirty="0"/>
              <a:t>| </a:t>
            </a:r>
            <a:r>
              <a:rPr lang="en-US" sz="600" dirty="0" err="1"/>
              <a:t>OS-EXT-STS:power_state</a:t>
            </a:r>
            <a:r>
              <a:rPr lang="en-US" sz="600" dirty="0"/>
              <a:t>              | NOSTATE                                            |</a:t>
            </a:r>
          </a:p>
          <a:p>
            <a:r>
              <a:rPr lang="en-US" sz="600" dirty="0"/>
              <a:t>| </a:t>
            </a:r>
            <a:r>
              <a:rPr lang="en-US" sz="600" dirty="0" err="1"/>
              <a:t>OS-EXT-STS:task_state</a:t>
            </a:r>
            <a:r>
              <a:rPr lang="en-US" sz="600" dirty="0"/>
              <a:t>               | scheduling                                         |</a:t>
            </a:r>
          </a:p>
          <a:p>
            <a:r>
              <a:rPr lang="en-US" sz="600" dirty="0"/>
              <a:t>| </a:t>
            </a:r>
            <a:r>
              <a:rPr lang="en-US" sz="600" dirty="0" err="1"/>
              <a:t>OS-EXT-STS:vm_state</a:t>
            </a:r>
            <a:r>
              <a:rPr lang="en-US" sz="600" dirty="0"/>
              <a:t>                 | building                                           |</a:t>
            </a:r>
          </a:p>
          <a:p>
            <a:r>
              <a:rPr lang="en-US" sz="600" dirty="0"/>
              <a:t>| </a:t>
            </a:r>
            <a:r>
              <a:rPr lang="en-US" sz="600" dirty="0" err="1"/>
              <a:t>OS-SRV-USG:launched_at</a:t>
            </a:r>
            <a:r>
              <a:rPr lang="en-US" sz="600" dirty="0"/>
              <a:t>              | None                                               |</a:t>
            </a:r>
          </a:p>
          <a:p>
            <a:r>
              <a:rPr lang="en-US" sz="600" dirty="0"/>
              <a:t>| </a:t>
            </a:r>
            <a:r>
              <a:rPr lang="en-US" sz="600" dirty="0" err="1"/>
              <a:t>OS-SRV-USG:terminated_at</a:t>
            </a:r>
            <a:r>
              <a:rPr lang="en-US" sz="600" dirty="0"/>
              <a:t>            | None                                               |</a:t>
            </a:r>
          </a:p>
          <a:p>
            <a:r>
              <a:rPr lang="en-US" sz="600" dirty="0"/>
              <a:t>| accessIPv4                          |                                                    |</a:t>
            </a:r>
          </a:p>
          <a:p>
            <a:r>
              <a:rPr lang="en-US" sz="600" dirty="0"/>
              <a:t>| accessIPv6                          |                                                    |</a:t>
            </a:r>
          </a:p>
          <a:p>
            <a:r>
              <a:rPr lang="en-US" sz="600" dirty="0"/>
              <a:t>| addresses                           |                                                    |</a:t>
            </a:r>
          </a:p>
          <a:p>
            <a:r>
              <a:rPr lang="en-US" sz="600" dirty="0"/>
              <a:t>| </a:t>
            </a:r>
            <a:r>
              <a:rPr lang="en-US" sz="600" dirty="0" err="1"/>
              <a:t>adminPass</a:t>
            </a:r>
            <a:r>
              <a:rPr lang="en-US" sz="600" dirty="0"/>
              <a:t>                           | s5vdJaDqsBh7                                       |</a:t>
            </a:r>
          </a:p>
          <a:p>
            <a:r>
              <a:rPr lang="en-US" sz="600" dirty="0"/>
              <a:t>| </a:t>
            </a:r>
            <a:r>
              <a:rPr lang="en-US" sz="600" dirty="0" err="1"/>
              <a:t>config_drive</a:t>
            </a:r>
            <a:r>
              <a:rPr lang="en-US" sz="600" dirty="0"/>
              <a:t>                        |                                                    |</a:t>
            </a:r>
          </a:p>
          <a:p>
            <a:r>
              <a:rPr lang="en-US" sz="600" dirty="0"/>
              <a:t>| created                             | </a:t>
            </a:r>
            <a:r>
              <a:rPr lang="en-US" sz="600" dirty="0" smtClean="0"/>
              <a:t>2025-18-14T11:58:01Z                               </a:t>
            </a:r>
            <a:r>
              <a:rPr lang="en-US" sz="600" dirty="0"/>
              <a:t>|</a:t>
            </a:r>
          </a:p>
          <a:p>
            <a:r>
              <a:rPr lang="en-US" sz="600" dirty="0"/>
              <a:t>| flavor                              | 1c2r4d (8f99ab4a-e2de-493d-9940-37de21dfd623)      |</a:t>
            </a:r>
          </a:p>
          <a:p>
            <a:r>
              <a:rPr lang="en-US" sz="600" dirty="0"/>
              <a:t>| </a:t>
            </a:r>
            <a:r>
              <a:rPr lang="en-US" sz="600" dirty="0" err="1"/>
              <a:t>hostId</a:t>
            </a:r>
            <a:r>
              <a:rPr lang="en-US" sz="600" dirty="0"/>
              <a:t>                              |                                                    |</a:t>
            </a:r>
          </a:p>
          <a:p>
            <a:r>
              <a:rPr lang="en-US" sz="600" dirty="0"/>
              <a:t>| id                                  | 1adcbf1f-0dd9-4086-a67f-ccf73d8b94e6               |</a:t>
            </a:r>
          </a:p>
          <a:p>
            <a:r>
              <a:rPr lang="en-US" sz="600" dirty="0"/>
              <a:t>| image                               | ubuntu22.04 (40cbae5f-79ab-4c4f-ba97-fc97c6cd65f4) |</a:t>
            </a:r>
          </a:p>
          <a:p>
            <a:r>
              <a:rPr lang="en-US" sz="600" dirty="0"/>
              <a:t>| </a:t>
            </a:r>
            <a:r>
              <a:rPr lang="en-US" sz="600" dirty="0" err="1"/>
              <a:t>key_name</a:t>
            </a:r>
            <a:r>
              <a:rPr lang="en-US" sz="600" dirty="0"/>
              <a:t>                            | key-pair1                                          |</a:t>
            </a:r>
          </a:p>
          <a:p>
            <a:r>
              <a:rPr lang="en-US" sz="600" dirty="0"/>
              <a:t>| name                                | </a:t>
            </a:r>
            <a:r>
              <a:rPr lang="en-US" sz="600" dirty="0" err="1"/>
              <a:t>ubuntu_vm</a:t>
            </a:r>
            <a:r>
              <a:rPr lang="en-US" sz="600" dirty="0"/>
              <a:t>                                          |</a:t>
            </a:r>
          </a:p>
          <a:p>
            <a:r>
              <a:rPr lang="en-US" sz="600" dirty="0"/>
              <a:t>| progress                            | 0                                                  |</a:t>
            </a:r>
          </a:p>
          <a:p>
            <a:r>
              <a:rPr lang="en-US" sz="600" dirty="0"/>
              <a:t>| </a:t>
            </a:r>
            <a:r>
              <a:rPr lang="en-US" sz="600" dirty="0" err="1"/>
              <a:t>project_id</a:t>
            </a:r>
            <a:r>
              <a:rPr lang="en-US" sz="600" dirty="0"/>
              <a:t>                          | 496d5b465e684f20a8217fa408728ac2                   |</a:t>
            </a:r>
          </a:p>
          <a:p>
            <a:r>
              <a:rPr lang="en-US" sz="600" dirty="0"/>
              <a:t>| properties                          |                                                    |</a:t>
            </a:r>
          </a:p>
          <a:p>
            <a:r>
              <a:rPr lang="en-US" sz="600" dirty="0"/>
              <a:t>| </a:t>
            </a:r>
            <a:r>
              <a:rPr lang="en-US" sz="600" dirty="0" err="1"/>
              <a:t>security_groups</a:t>
            </a:r>
            <a:r>
              <a:rPr lang="en-US" sz="600" dirty="0"/>
              <a:t>                     | name='default'                                     |</a:t>
            </a:r>
          </a:p>
          <a:p>
            <a:r>
              <a:rPr lang="en-US" sz="600" dirty="0"/>
              <a:t>| status                              | BUILD                                              |</a:t>
            </a:r>
          </a:p>
          <a:p>
            <a:r>
              <a:rPr lang="en-US" sz="600" dirty="0"/>
              <a:t>| updated                             | </a:t>
            </a:r>
            <a:r>
              <a:rPr lang="en-US" sz="600" dirty="0" smtClean="0"/>
              <a:t>2025-18-14T11:58:01Z                               </a:t>
            </a:r>
            <a:r>
              <a:rPr lang="en-US" sz="600" dirty="0"/>
              <a:t>|</a:t>
            </a:r>
          </a:p>
          <a:p>
            <a:r>
              <a:rPr lang="en-US" sz="600" dirty="0"/>
              <a:t>| </a:t>
            </a:r>
            <a:r>
              <a:rPr lang="en-US" sz="600" dirty="0" err="1"/>
              <a:t>user_id</a:t>
            </a:r>
            <a:r>
              <a:rPr lang="en-US" sz="600" dirty="0"/>
              <a:t>                             | 6714a667d1e3406fab0c7add7d71d412                   |</a:t>
            </a:r>
          </a:p>
          <a:p>
            <a:r>
              <a:rPr lang="en-US" sz="600" dirty="0"/>
              <a:t>| </a:t>
            </a:r>
            <a:r>
              <a:rPr lang="en-US" sz="600" dirty="0" err="1"/>
              <a:t>volumes_attached</a:t>
            </a:r>
            <a:r>
              <a:rPr lang="en-US" sz="600" dirty="0"/>
              <a:t>                    |                                                    |</a:t>
            </a:r>
          </a:p>
          <a:p>
            <a:r>
              <a:rPr lang="en-US" sz="600" dirty="0"/>
              <a:t>+-------------------------------------+----------------------------------------------------+</a:t>
            </a:r>
          </a:p>
          <a:p>
            <a:endParaRPr lang="en-US" sz="600" dirty="0"/>
          </a:p>
          <a:p>
            <a:r>
              <a:rPr lang="en-US" sz="600" dirty="0" smtClean="0"/>
              <a:t>root@GPU111</a:t>
            </a:r>
            <a:r>
              <a:rPr lang="en-US" sz="600" dirty="0"/>
              <a:t>:~# </a:t>
            </a:r>
            <a:r>
              <a:rPr lang="en-US" sz="600" dirty="0" err="1"/>
              <a:t>openstack</a:t>
            </a:r>
            <a:r>
              <a:rPr lang="en-US" sz="600" dirty="0"/>
              <a:t> server show </a:t>
            </a:r>
            <a:r>
              <a:rPr lang="en-US" sz="600" dirty="0" err="1"/>
              <a:t>ubuntu_vm</a:t>
            </a:r>
            <a:endParaRPr lang="en-US" sz="600" dirty="0"/>
          </a:p>
          <a:p>
            <a:r>
              <a:rPr lang="en-US" sz="600" dirty="0"/>
              <a:t>+-------------------------------------+----------------------------------------------------------+</a:t>
            </a:r>
          </a:p>
          <a:p>
            <a:r>
              <a:rPr lang="en-US" sz="600" dirty="0"/>
              <a:t>| Field                               | Value                                                    |</a:t>
            </a:r>
          </a:p>
          <a:p>
            <a:r>
              <a:rPr lang="en-US" sz="600" dirty="0"/>
              <a:t>+-------------------------------------+----------------------------------------------------------+</a:t>
            </a:r>
          </a:p>
          <a:p>
            <a:r>
              <a:rPr lang="en-US" sz="600" dirty="0"/>
              <a:t>| </a:t>
            </a:r>
            <a:r>
              <a:rPr lang="en-US" sz="600" dirty="0" err="1"/>
              <a:t>OS-DCF:diskConfig</a:t>
            </a:r>
            <a:r>
              <a:rPr lang="en-US" sz="600" dirty="0"/>
              <a:t>                   | MANUAL                                                   |</a:t>
            </a:r>
          </a:p>
          <a:p>
            <a:r>
              <a:rPr lang="en-US" sz="600" dirty="0"/>
              <a:t>| </a:t>
            </a:r>
            <a:r>
              <a:rPr lang="en-US" sz="600" dirty="0" err="1"/>
              <a:t>OS-EXT-AZ:availability_zone</a:t>
            </a:r>
            <a:r>
              <a:rPr lang="en-US" sz="600" dirty="0"/>
              <a:t>         | nova                                                     |</a:t>
            </a:r>
          </a:p>
          <a:p>
            <a:r>
              <a:rPr lang="en-US" sz="600" dirty="0"/>
              <a:t>| </a:t>
            </a:r>
            <a:r>
              <a:rPr lang="en-US" sz="600" dirty="0" err="1"/>
              <a:t>OS-EXT-SRV-ATTR:host</a:t>
            </a:r>
            <a:r>
              <a:rPr lang="en-US" sz="600" dirty="0"/>
              <a:t>                | </a:t>
            </a:r>
            <a:r>
              <a:rPr lang="en-US" sz="600" dirty="0" smtClean="0"/>
              <a:t>GPU72                                                    </a:t>
            </a:r>
            <a:r>
              <a:rPr lang="en-US" sz="600" dirty="0"/>
              <a:t>|</a:t>
            </a:r>
          </a:p>
          <a:p>
            <a:r>
              <a:rPr lang="en-US" sz="600" dirty="0"/>
              <a:t>| </a:t>
            </a:r>
            <a:r>
              <a:rPr lang="en-US" sz="600" dirty="0" err="1"/>
              <a:t>OS-EXT-SRV-ATTR:hypervisor_hostname</a:t>
            </a:r>
            <a:r>
              <a:rPr lang="en-US" sz="600" dirty="0"/>
              <a:t> | </a:t>
            </a:r>
            <a:r>
              <a:rPr lang="en-US" sz="600" dirty="0" smtClean="0"/>
              <a:t>GPU7CJYHN2                                               </a:t>
            </a:r>
            <a:r>
              <a:rPr lang="en-US" sz="600" dirty="0"/>
              <a:t>|</a:t>
            </a:r>
          </a:p>
          <a:p>
            <a:r>
              <a:rPr lang="en-US" sz="600" dirty="0"/>
              <a:t>| </a:t>
            </a:r>
            <a:r>
              <a:rPr lang="en-US" sz="600" dirty="0" err="1"/>
              <a:t>OS-EXT-SRV-ATTR:instance_name</a:t>
            </a:r>
            <a:r>
              <a:rPr lang="en-US" sz="600" dirty="0"/>
              <a:t>       | instance-00000007                                        |</a:t>
            </a:r>
          </a:p>
          <a:p>
            <a:r>
              <a:rPr lang="en-US" sz="600" dirty="0"/>
              <a:t>| </a:t>
            </a:r>
            <a:r>
              <a:rPr lang="en-US" sz="600" dirty="0" err="1"/>
              <a:t>OS-EXT-STS:power_state</a:t>
            </a:r>
            <a:r>
              <a:rPr lang="en-US" sz="600" dirty="0"/>
              <a:t>              | Running                                                  |</a:t>
            </a:r>
          </a:p>
          <a:p>
            <a:r>
              <a:rPr lang="en-US" sz="600" dirty="0"/>
              <a:t>| </a:t>
            </a:r>
            <a:r>
              <a:rPr lang="en-US" sz="600" dirty="0" err="1"/>
              <a:t>OS-EXT-STS:task_state</a:t>
            </a:r>
            <a:r>
              <a:rPr lang="en-US" sz="600" dirty="0"/>
              <a:t>               | None                                                     |</a:t>
            </a:r>
          </a:p>
          <a:p>
            <a:r>
              <a:rPr lang="en-US" sz="600" dirty="0"/>
              <a:t>| </a:t>
            </a:r>
            <a:r>
              <a:rPr lang="en-US" sz="600" dirty="0" err="1"/>
              <a:t>OS-EXT-STS:vm_state</a:t>
            </a:r>
            <a:r>
              <a:rPr lang="en-US" sz="600" dirty="0"/>
              <a:t>                 | active                                                   |</a:t>
            </a:r>
          </a:p>
          <a:p>
            <a:r>
              <a:rPr lang="en-US" sz="600" dirty="0"/>
              <a:t>| </a:t>
            </a:r>
            <a:r>
              <a:rPr lang="en-US" sz="600" dirty="0" err="1"/>
              <a:t>OS-SRV-USG:launched_at</a:t>
            </a:r>
            <a:r>
              <a:rPr lang="en-US" sz="600" dirty="0"/>
              <a:t>              | </a:t>
            </a:r>
            <a:r>
              <a:rPr lang="en-US" sz="600" dirty="0" smtClean="0"/>
              <a:t>2025-18-14T11:59:04.000000                               </a:t>
            </a:r>
            <a:r>
              <a:rPr lang="en-US" sz="600" dirty="0"/>
              <a:t>|</a:t>
            </a:r>
          </a:p>
          <a:p>
            <a:r>
              <a:rPr lang="en-US" sz="600" dirty="0"/>
              <a:t>| </a:t>
            </a:r>
            <a:r>
              <a:rPr lang="en-US" sz="600" dirty="0" err="1"/>
              <a:t>OS-SRV-USG:terminated_at</a:t>
            </a:r>
            <a:r>
              <a:rPr lang="en-US" sz="600" dirty="0"/>
              <a:t>            | None                                                     |</a:t>
            </a:r>
          </a:p>
          <a:p>
            <a:r>
              <a:rPr lang="en-US" sz="600" dirty="0"/>
              <a:t>| accessIPv4                          |                                                          |</a:t>
            </a:r>
          </a:p>
          <a:p>
            <a:r>
              <a:rPr lang="en-US" sz="600" dirty="0"/>
              <a:t>| accessIPv6                          |                                                          |</a:t>
            </a:r>
          </a:p>
          <a:p>
            <a:r>
              <a:rPr lang="en-US" sz="600" dirty="0"/>
              <a:t>| addresses                           | demo-net=10.0.0.142                                      |</a:t>
            </a:r>
          </a:p>
          <a:p>
            <a:r>
              <a:rPr lang="en-US" sz="600" dirty="0"/>
              <a:t>| </a:t>
            </a:r>
            <a:r>
              <a:rPr lang="en-US" sz="600" dirty="0" err="1"/>
              <a:t>config_drive</a:t>
            </a:r>
            <a:r>
              <a:rPr lang="en-US" sz="600" dirty="0"/>
              <a:t>                        |                                                          |</a:t>
            </a:r>
          </a:p>
          <a:p>
            <a:r>
              <a:rPr lang="en-US" sz="600" dirty="0"/>
              <a:t>| created                             | </a:t>
            </a:r>
            <a:r>
              <a:rPr lang="en-US" sz="600" dirty="0" smtClean="0"/>
              <a:t>2025-18-14T11:58:01Z                                     </a:t>
            </a:r>
            <a:r>
              <a:rPr lang="en-US" sz="600" dirty="0"/>
              <a:t>|</a:t>
            </a:r>
          </a:p>
          <a:p>
            <a:r>
              <a:rPr lang="en-US" sz="600" dirty="0"/>
              <a:t>| flavor                              | 1c2r4d (8f99ab4a-e2de-493d-9940-37de21dfd623)            |</a:t>
            </a:r>
          </a:p>
          <a:p>
            <a:r>
              <a:rPr lang="en-US" sz="600" dirty="0"/>
              <a:t>| </a:t>
            </a:r>
            <a:r>
              <a:rPr lang="en-US" sz="600" dirty="0" err="1"/>
              <a:t>hostId</a:t>
            </a:r>
            <a:r>
              <a:rPr lang="en-US" sz="600" dirty="0"/>
              <a:t>                              | 6a619bdab198165b54faafe85d858871dff1042234d57e47742b0720 |</a:t>
            </a:r>
          </a:p>
          <a:p>
            <a:r>
              <a:rPr lang="en-US" sz="600" dirty="0"/>
              <a:t>| id                                  | 1adcbf1f-0dd9-4086-a67f-ccf73d8b94e6                     |</a:t>
            </a:r>
          </a:p>
          <a:p>
            <a:r>
              <a:rPr lang="en-US" sz="600" dirty="0"/>
              <a:t>| image                               | ubuntu22.04 (40cbae5f-79ab-4c4f-ba97-fc97c6cd65f4)       |</a:t>
            </a:r>
          </a:p>
          <a:p>
            <a:r>
              <a:rPr lang="en-US" sz="600" dirty="0"/>
              <a:t>| </a:t>
            </a:r>
            <a:r>
              <a:rPr lang="en-US" sz="600" dirty="0" err="1"/>
              <a:t>key_name</a:t>
            </a:r>
            <a:r>
              <a:rPr lang="en-US" sz="600" dirty="0"/>
              <a:t>                            | key-pair1                                                |</a:t>
            </a:r>
          </a:p>
          <a:p>
            <a:r>
              <a:rPr lang="en-US" sz="600" dirty="0"/>
              <a:t>| name                                | </a:t>
            </a:r>
            <a:r>
              <a:rPr lang="en-US" sz="600" dirty="0" err="1"/>
              <a:t>ubuntu_vm</a:t>
            </a:r>
            <a:r>
              <a:rPr lang="en-US" sz="600" dirty="0"/>
              <a:t>                                                |</a:t>
            </a:r>
          </a:p>
          <a:p>
            <a:r>
              <a:rPr lang="en-US" sz="600" dirty="0"/>
              <a:t>| progress                            | 0                                                        |</a:t>
            </a:r>
          </a:p>
          <a:p>
            <a:r>
              <a:rPr lang="en-US" sz="600" dirty="0"/>
              <a:t>| </a:t>
            </a:r>
            <a:r>
              <a:rPr lang="en-US" sz="600" dirty="0" err="1"/>
              <a:t>project_id</a:t>
            </a:r>
            <a:r>
              <a:rPr lang="en-US" sz="600" dirty="0"/>
              <a:t>                          | 496d5b465e684f20a8217fa408728ac2                         |</a:t>
            </a:r>
          </a:p>
          <a:p>
            <a:r>
              <a:rPr lang="en-US" sz="600" dirty="0"/>
              <a:t>| properties                          |                                                          |</a:t>
            </a:r>
          </a:p>
          <a:p>
            <a:r>
              <a:rPr lang="en-US" sz="600" dirty="0"/>
              <a:t>| </a:t>
            </a:r>
            <a:r>
              <a:rPr lang="en-US" sz="600" dirty="0" err="1"/>
              <a:t>security_groups</a:t>
            </a:r>
            <a:r>
              <a:rPr lang="en-US" sz="600" dirty="0"/>
              <a:t>                     | name='default'                                           |</a:t>
            </a:r>
          </a:p>
          <a:p>
            <a:r>
              <a:rPr lang="en-US" sz="600" dirty="0"/>
              <a:t>| status                              | ACTIVE                                                   |</a:t>
            </a:r>
          </a:p>
          <a:p>
            <a:r>
              <a:rPr lang="en-US" sz="600" dirty="0"/>
              <a:t>| updated                             | </a:t>
            </a:r>
            <a:r>
              <a:rPr lang="en-US" sz="600" dirty="0" smtClean="0"/>
              <a:t>2025-18-14T11:59:04Z                                     </a:t>
            </a:r>
            <a:r>
              <a:rPr lang="en-US" sz="600" dirty="0"/>
              <a:t>|</a:t>
            </a:r>
          </a:p>
          <a:p>
            <a:r>
              <a:rPr lang="en-US" sz="600" dirty="0"/>
              <a:t>| </a:t>
            </a:r>
            <a:r>
              <a:rPr lang="en-US" sz="600" dirty="0" err="1"/>
              <a:t>user_id</a:t>
            </a:r>
            <a:r>
              <a:rPr lang="en-US" sz="600" dirty="0"/>
              <a:t>                             | 6714a667d1e3406fab0c7add7d71d412                         |</a:t>
            </a:r>
          </a:p>
          <a:p>
            <a:r>
              <a:rPr lang="en-US" sz="600" dirty="0"/>
              <a:t>| </a:t>
            </a:r>
            <a:r>
              <a:rPr lang="en-US" sz="600" dirty="0" err="1"/>
              <a:t>volumes_attached</a:t>
            </a:r>
            <a:r>
              <a:rPr lang="en-US" sz="600" dirty="0"/>
              <a:t>                    |                                                          |</a:t>
            </a:r>
          </a:p>
          <a:p>
            <a:r>
              <a:rPr lang="en-US" sz="600" dirty="0"/>
              <a:t>+-------------------------------------+----------------------------------------------------------+</a:t>
            </a:r>
          </a:p>
          <a:p>
            <a:endParaRPr lang="en-US" sz="600" dirty="0"/>
          </a:p>
          <a:p>
            <a:r>
              <a:rPr lang="en-US" sz="600" dirty="0" smtClean="0"/>
              <a:t>root@GPU111</a:t>
            </a:r>
            <a:r>
              <a:rPr lang="en-US" sz="600" dirty="0"/>
              <a:t>:~# </a:t>
            </a:r>
            <a:r>
              <a:rPr lang="en-US" sz="600" dirty="0" err="1"/>
              <a:t>rbd</a:t>
            </a:r>
            <a:r>
              <a:rPr lang="en-US" sz="600" dirty="0"/>
              <a:t> ls -l </a:t>
            </a:r>
            <a:r>
              <a:rPr lang="en-US" sz="600" dirty="0" err="1"/>
              <a:t>vms</a:t>
            </a:r>
            <a:endParaRPr lang="en-US" sz="600" dirty="0"/>
          </a:p>
          <a:p>
            <a:r>
              <a:rPr lang="en-US" sz="600" dirty="0"/>
              <a:t>NAME                                       SIZE     PARENT  FMT  PROT  LOCK</a:t>
            </a:r>
          </a:p>
          <a:p>
            <a:r>
              <a:rPr lang="en-US" sz="600" dirty="0"/>
              <a:t>1adcbf1f-0dd9-4086-a67f-ccf73d8b94e6_disk  2.2 </a:t>
            </a:r>
            <a:r>
              <a:rPr lang="en-US" sz="600" dirty="0" err="1"/>
              <a:t>GiB</a:t>
            </a:r>
            <a:r>
              <a:rPr lang="en-US" sz="600" dirty="0"/>
              <a:t>            2        </a:t>
            </a:r>
            <a:r>
              <a:rPr lang="en-US" sz="600" dirty="0" err="1"/>
              <a:t>excl</a:t>
            </a:r>
            <a:endParaRPr lang="en-US" sz="600" dirty="0"/>
          </a:p>
        </p:txBody>
      </p:sp>
      <p:sp>
        <p:nvSpPr>
          <p:cNvPr id="14" name="Rectangle 13"/>
          <p:cNvSpPr/>
          <p:nvPr/>
        </p:nvSpPr>
        <p:spPr>
          <a:xfrm>
            <a:off x="4690549" y="640769"/>
            <a:ext cx="4371369" cy="6128521"/>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2446314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4" name="Rectangle 3"/>
          <p:cNvSpPr/>
          <p:nvPr/>
        </p:nvSpPr>
        <p:spPr>
          <a:xfrm>
            <a:off x="116548" y="435216"/>
            <a:ext cx="4425960" cy="276999"/>
          </a:xfrm>
          <a:prstGeom prst="rect">
            <a:avLst/>
          </a:prstGeom>
        </p:spPr>
        <p:txBody>
          <a:bodyPr wrap="square">
            <a:spAutoFit/>
          </a:bodyPr>
          <a:lstStyle/>
          <a:p>
            <a:r>
              <a:rPr lang="en-US" sz="1200" dirty="0"/>
              <a:t>Test live migration</a:t>
            </a:r>
            <a:endParaRPr lang="en-US" sz="1200" b="1" dirty="0">
              <a:solidFill>
                <a:srgbClr val="002060"/>
              </a:solidFill>
            </a:endParaRPr>
          </a:p>
        </p:txBody>
      </p:sp>
      <p:sp>
        <p:nvSpPr>
          <p:cNvPr id="7" name="Rectangle 6"/>
          <p:cNvSpPr/>
          <p:nvPr/>
        </p:nvSpPr>
        <p:spPr>
          <a:xfrm>
            <a:off x="171138" y="703037"/>
            <a:ext cx="4332508" cy="3323987"/>
          </a:xfrm>
          <a:prstGeom prst="rect">
            <a:avLst/>
          </a:prstGeom>
        </p:spPr>
        <p:txBody>
          <a:bodyPr wrap="square">
            <a:spAutoFit/>
          </a:bodyPr>
          <a:lstStyle/>
          <a:p>
            <a:r>
              <a:rPr lang="en-US" sz="600" dirty="0" smtClean="0"/>
              <a:t>root@GPU111</a:t>
            </a:r>
            <a:r>
              <a:rPr lang="en-US" sz="600" dirty="0"/>
              <a:t>:~# </a:t>
            </a:r>
            <a:r>
              <a:rPr lang="en-US" sz="600" dirty="0" err="1"/>
              <a:t>openstack</a:t>
            </a:r>
            <a:r>
              <a:rPr lang="en-US" sz="600" dirty="0"/>
              <a:t> server migrate --live-migration </a:t>
            </a:r>
            <a:r>
              <a:rPr lang="en-US" sz="600" dirty="0" err="1"/>
              <a:t>ubuntu_vm</a:t>
            </a:r>
            <a:endParaRPr lang="en-US" sz="600" dirty="0"/>
          </a:p>
          <a:p>
            <a:r>
              <a:rPr lang="en-US" sz="600" dirty="0" smtClean="0"/>
              <a:t>root@GPU111</a:t>
            </a:r>
            <a:r>
              <a:rPr lang="en-US" sz="600" dirty="0"/>
              <a:t>:~# </a:t>
            </a:r>
            <a:r>
              <a:rPr lang="en-US" sz="600" dirty="0" err="1"/>
              <a:t>openstack</a:t>
            </a:r>
            <a:r>
              <a:rPr lang="en-US" sz="600" dirty="0"/>
              <a:t> server show </a:t>
            </a:r>
            <a:r>
              <a:rPr lang="en-US" sz="600" dirty="0" err="1"/>
              <a:t>ubuntu_vm</a:t>
            </a:r>
            <a:endParaRPr lang="en-US" sz="600" dirty="0"/>
          </a:p>
          <a:p>
            <a:r>
              <a:rPr lang="en-US" sz="600" dirty="0"/>
              <a:t>+-------------------------------------+----------------------------------------------------------+</a:t>
            </a:r>
          </a:p>
          <a:p>
            <a:r>
              <a:rPr lang="en-US" sz="600" dirty="0"/>
              <a:t>| Field                               | Value                                                    |</a:t>
            </a:r>
          </a:p>
          <a:p>
            <a:r>
              <a:rPr lang="en-US" sz="600" dirty="0"/>
              <a:t>+-------------------------------------+----------------------------------------------------------+</a:t>
            </a:r>
          </a:p>
          <a:p>
            <a:r>
              <a:rPr lang="en-US" sz="600" dirty="0"/>
              <a:t>| </a:t>
            </a:r>
            <a:r>
              <a:rPr lang="en-US" sz="600" dirty="0" err="1"/>
              <a:t>OS-DCF:diskConfig</a:t>
            </a:r>
            <a:r>
              <a:rPr lang="en-US" sz="600" dirty="0"/>
              <a:t>                   | MANUAL                                                   |</a:t>
            </a:r>
          </a:p>
          <a:p>
            <a:r>
              <a:rPr lang="en-US" sz="600" dirty="0"/>
              <a:t>| </a:t>
            </a:r>
            <a:r>
              <a:rPr lang="en-US" sz="600" dirty="0" err="1"/>
              <a:t>OS-EXT-AZ:availability_zone</a:t>
            </a:r>
            <a:r>
              <a:rPr lang="en-US" sz="600" dirty="0"/>
              <a:t>         | nova                                                     |</a:t>
            </a:r>
          </a:p>
          <a:p>
            <a:r>
              <a:rPr lang="en-US" sz="600" dirty="0"/>
              <a:t>| </a:t>
            </a:r>
            <a:r>
              <a:rPr lang="en-US" sz="600" dirty="0" err="1"/>
              <a:t>OS-EXT-SRV-ATTR:host</a:t>
            </a:r>
            <a:r>
              <a:rPr lang="en-US" sz="600" dirty="0"/>
              <a:t>                | </a:t>
            </a:r>
            <a:r>
              <a:rPr lang="en-US" sz="600" dirty="0" smtClean="0"/>
              <a:t>GPU71                                                    </a:t>
            </a:r>
            <a:r>
              <a:rPr lang="en-US" sz="600" dirty="0"/>
              <a:t>|</a:t>
            </a:r>
          </a:p>
          <a:p>
            <a:r>
              <a:rPr lang="en-US" sz="600" dirty="0"/>
              <a:t>| </a:t>
            </a:r>
            <a:r>
              <a:rPr lang="en-US" sz="600" dirty="0" err="1"/>
              <a:t>OS-EXT-SRV-ATTR:hypervisor_hostname</a:t>
            </a:r>
            <a:r>
              <a:rPr lang="en-US" sz="600" dirty="0"/>
              <a:t> | </a:t>
            </a:r>
            <a:r>
              <a:rPr lang="en-US" sz="600" dirty="0" smtClean="0"/>
              <a:t>GPU7CJYHN1                                               </a:t>
            </a:r>
            <a:r>
              <a:rPr lang="en-US" sz="600" dirty="0"/>
              <a:t>|</a:t>
            </a:r>
          </a:p>
          <a:p>
            <a:r>
              <a:rPr lang="en-US" sz="600" dirty="0"/>
              <a:t>| </a:t>
            </a:r>
            <a:r>
              <a:rPr lang="en-US" sz="600" dirty="0" err="1"/>
              <a:t>OS-EXT-SRV-ATTR:instance_name</a:t>
            </a:r>
            <a:r>
              <a:rPr lang="en-US" sz="600" dirty="0"/>
              <a:t>       | instance-00000007                                        |</a:t>
            </a:r>
          </a:p>
          <a:p>
            <a:r>
              <a:rPr lang="en-US" sz="600" dirty="0"/>
              <a:t>| </a:t>
            </a:r>
            <a:r>
              <a:rPr lang="en-US" sz="600" dirty="0" err="1"/>
              <a:t>OS-EXT-STS:power_state</a:t>
            </a:r>
            <a:r>
              <a:rPr lang="en-US" sz="600" dirty="0"/>
              <a:t>              | Running                                                  |</a:t>
            </a:r>
          </a:p>
          <a:p>
            <a:r>
              <a:rPr lang="en-US" sz="600" dirty="0"/>
              <a:t>| </a:t>
            </a:r>
            <a:r>
              <a:rPr lang="en-US" sz="600" dirty="0" err="1"/>
              <a:t>OS-EXT-STS:task_state</a:t>
            </a:r>
            <a:r>
              <a:rPr lang="en-US" sz="600" dirty="0"/>
              <a:t>               | None                                                     |</a:t>
            </a:r>
          </a:p>
          <a:p>
            <a:r>
              <a:rPr lang="en-US" sz="600" dirty="0"/>
              <a:t>| </a:t>
            </a:r>
            <a:r>
              <a:rPr lang="en-US" sz="600" dirty="0" err="1"/>
              <a:t>OS-EXT-STS:vm_state</a:t>
            </a:r>
            <a:r>
              <a:rPr lang="en-US" sz="600" dirty="0"/>
              <a:t>                 | active                                                   |</a:t>
            </a:r>
          </a:p>
          <a:p>
            <a:r>
              <a:rPr lang="en-US" sz="600" dirty="0"/>
              <a:t>| </a:t>
            </a:r>
            <a:r>
              <a:rPr lang="en-US" sz="600" dirty="0" err="1"/>
              <a:t>OS-SRV-USG:launched_at</a:t>
            </a:r>
            <a:r>
              <a:rPr lang="en-US" sz="600" dirty="0"/>
              <a:t>              | </a:t>
            </a:r>
            <a:r>
              <a:rPr lang="en-US" sz="600" dirty="0" smtClean="0"/>
              <a:t>2025-18-14T11:59:04.000000                               </a:t>
            </a:r>
            <a:r>
              <a:rPr lang="en-US" sz="600" dirty="0"/>
              <a:t>|</a:t>
            </a:r>
          </a:p>
          <a:p>
            <a:r>
              <a:rPr lang="en-US" sz="600" dirty="0"/>
              <a:t>| </a:t>
            </a:r>
            <a:r>
              <a:rPr lang="en-US" sz="600" dirty="0" err="1"/>
              <a:t>OS-SRV-USG:terminated_at</a:t>
            </a:r>
            <a:r>
              <a:rPr lang="en-US" sz="600" dirty="0"/>
              <a:t>            | None                                                     |</a:t>
            </a:r>
          </a:p>
          <a:p>
            <a:r>
              <a:rPr lang="en-US" sz="600" dirty="0"/>
              <a:t>| accessIPv4                          |                                                          |</a:t>
            </a:r>
          </a:p>
          <a:p>
            <a:r>
              <a:rPr lang="en-US" sz="600" dirty="0"/>
              <a:t>| accessIPv6                          |                                                          |</a:t>
            </a:r>
          </a:p>
          <a:p>
            <a:r>
              <a:rPr lang="en-US" sz="600" dirty="0"/>
              <a:t>| addresses                           | demo-net=10.0.0.142                                      |</a:t>
            </a:r>
          </a:p>
          <a:p>
            <a:r>
              <a:rPr lang="en-US" sz="600" dirty="0"/>
              <a:t>| </a:t>
            </a:r>
            <a:r>
              <a:rPr lang="en-US" sz="600" dirty="0" err="1"/>
              <a:t>config_drive</a:t>
            </a:r>
            <a:r>
              <a:rPr lang="en-US" sz="600" dirty="0"/>
              <a:t>                        |                                                          |</a:t>
            </a:r>
          </a:p>
          <a:p>
            <a:r>
              <a:rPr lang="en-US" sz="600" dirty="0"/>
              <a:t>| created                             | </a:t>
            </a:r>
            <a:r>
              <a:rPr lang="en-US" sz="600" dirty="0" smtClean="0"/>
              <a:t>2025-18-14T11:58:01Z                                     </a:t>
            </a:r>
            <a:r>
              <a:rPr lang="en-US" sz="600" dirty="0"/>
              <a:t>|</a:t>
            </a:r>
          </a:p>
          <a:p>
            <a:r>
              <a:rPr lang="en-US" sz="600" dirty="0"/>
              <a:t>| flavor                              | 1c2r4d (8f99ab4a-e2de-493d-9940-37de21dfd623)            |</a:t>
            </a:r>
          </a:p>
          <a:p>
            <a:r>
              <a:rPr lang="en-US" sz="600" dirty="0"/>
              <a:t>| </a:t>
            </a:r>
            <a:r>
              <a:rPr lang="en-US" sz="600" dirty="0" err="1"/>
              <a:t>hostId</a:t>
            </a:r>
            <a:r>
              <a:rPr lang="en-US" sz="600" dirty="0"/>
              <a:t>                              | c7db1b2553c921575d60036b5d792993c9a242db70405cb52bc0bfea |</a:t>
            </a:r>
          </a:p>
          <a:p>
            <a:r>
              <a:rPr lang="en-US" sz="600" dirty="0"/>
              <a:t>| id                                  | 1adcbf1f-0dd9-4086-a67f-ccf73d8b94e6                     |</a:t>
            </a:r>
          </a:p>
          <a:p>
            <a:r>
              <a:rPr lang="en-US" sz="600" dirty="0"/>
              <a:t>| image                               | ubuntu22.04 (40cbae5f-79ab-4c4f-ba97-fc97c6cd65f4)       |</a:t>
            </a:r>
          </a:p>
          <a:p>
            <a:r>
              <a:rPr lang="en-US" sz="600" dirty="0"/>
              <a:t>| </a:t>
            </a:r>
            <a:r>
              <a:rPr lang="en-US" sz="600" dirty="0" err="1"/>
              <a:t>key_name</a:t>
            </a:r>
            <a:r>
              <a:rPr lang="en-US" sz="600" dirty="0"/>
              <a:t>                            | key-pair1                                                |</a:t>
            </a:r>
          </a:p>
          <a:p>
            <a:r>
              <a:rPr lang="en-US" sz="600" dirty="0"/>
              <a:t>| name                                | </a:t>
            </a:r>
            <a:r>
              <a:rPr lang="en-US" sz="600" dirty="0" err="1"/>
              <a:t>ubuntu_vm</a:t>
            </a:r>
            <a:r>
              <a:rPr lang="en-US" sz="600" dirty="0"/>
              <a:t>                                                |</a:t>
            </a:r>
          </a:p>
          <a:p>
            <a:r>
              <a:rPr lang="en-US" sz="600" dirty="0"/>
              <a:t>| progress                            | 0                                                        |</a:t>
            </a:r>
          </a:p>
          <a:p>
            <a:r>
              <a:rPr lang="en-US" sz="600" dirty="0"/>
              <a:t>| </a:t>
            </a:r>
            <a:r>
              <a:rPr lang="en-US" sz="600" dirty="0" err="1"/>
              <a:t>project_id</a:t>
            </a:r>
            <a:r>
              <a:rPr lang="en-US" sz="600" dirty="0"/>
              <a:t>                          | 496d5b465e684f20a8217fa408728ac2                         |</a:t>
            </a:r>
          </a:p>
          <a:p>
            <a:r>
              <a:rPr lang="en-US" sz="600" dirty="0"/>
              <a:t>| properties                          |                                                          |</a:t>
            </a:r>
          </a:p>
          <a:p>
            <a:r>
              <a:rPr lang="en-US" sz="600" dirty="0"/>
              <a:t>| </a:t>
            </a:r>
            <a:r>
              <a:rPr lang="en-US" sz="600" dirty="0" err="1"/>
              <a:t>security_groups</a:t>
            </a:r>
            <a:r>
              <a:rPr lang="en-US" sz="600" dirty="0"/>
              <a:t>                     | name='default'                                           |</a:t>
            </a:r>
          </a:p>
          <a:p>
            <a:r>
              <a:rPr lang="en-US" sz="600" dirty="0"/>
              <a:t>| status                              | ACTIVE                                                   |</a:t>
            </a:r>
          </a:p>
          <a:p>
            <a:r>
              <a:rPr lang="en-US" sz="600" dirty="0"/>
              <a:t>| updated                             | </a:t>
            </a:r>
            <a:r>
              <a:rPr lang="en-US" sz="600" dirty="0" smtClean="0"/>
              <a:t>2025-18-14T12:33:46Z                                     </a:t>
            </a:r>
            <a:r>
              <a:rPr lang="en-US" sz="600" dirty="0"/>
              <a:t>|</a:t>
            </a:r>
          </a:p>
          <a:p>
            <a:r>
              <a:rPr lang="en-US" sz="600" dirty="0"/>
              <a:t>| </a:t>
            </a:r>
            <a:r>
              <a:rPr lang="en-US" sz="600" dirty="0" err="1"/>
              <a:t>user_id</a:t>
            </a:r>
            <a:r>
              <a:rPr lang="en-US" sz="600" dirty="0"/>
              <a:t>                             | 6714a667d1e3406fab0c7add7d71d412                         |</a:t>
            </a:r>
          </a:p>
          <a:p>
            <a:r>
              <a:rPr lang="en-US" sz="600" dirty="0"/>
              <a:t>| </a:t>
            </a:r>
            <a:r>
              <a:rPr lang="en-US" sz="600" dirty="0" err="1"/>
              <a:t>volumes_attached</a:t>
            </a:r>
            <a:r>
              <a:rPr lang="en-US" sz="600" dirty="0"/>
              <a:t>                    |                                                          |</a:t>
            </a:r>
          </a:p>
          <a:p>
            <a:r>
              <a:rPr lang="en-US" sz="600" dirty="0"/>
              <a:t>+-------------------------------------+----------------------------------------------------------+</a:t>
            </a:r>
          </a:p>
        </p:txBody>
      </p:sp>
      <p:sp>
        <p:nvSpPr>
          <p:cNvPr id="8" name="Rectangle 7"/>
          <p:cNvSpPr/>
          <p:nvPr/>
        </p:nvSpPr>
        <p:spPr>
          <a:xfrm>
            <a:off x="171138" y="681712"/>
            <a:ext cx="4371369" cy="325297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4718040" y="409477"/>
            <a:ext cx="4425960" cy="276999"/>
          </a:xfrm>
          <a:prstGeom prst="rect">
            <a:avLst/>
          </a:prstGeom>
        </p:spPr>
        <p:txBody>
          <a:bodyPr wrap="square">
            <a:spAutoFit/>
          </a:bodyPr>
          <a:lstStyle/>
          <a:p>
            <a:r>
              <a:rPr lang="en-US" sz="1200" dirty="0"/>
              <a:t>Create cinder volume on </a:t>
            </a:r>
            <a:r>
              <a:rPr lang="en-US" sz="1200" dirty="0" err="1"/>
              <a:t>ceph</a:t>
            </a:r>
            <a:endParaRPr lang="en-US" sz="1200" b="1" dirty="0">
              <a:solidFill>
                <a:srgbClr val="002060"/>
              </a:solidFill>
            </a:endParaRPr>
          </a:p>
        </p:txBody>
      </p:sp>
      <p:sp>
        <p:nvSpPr>
          <p:cNvPr id="10" name="Rectangle 9"/>
          <p:cNvSpPr/>
          <p:nvPr/>
        </p:nvSpPr>
        <p:spPr>
          <a:xfrm>
            <a:off x="4772630" y="677298"/>
            <a:ext cx="4332508" cy="3416320"/>
          </a:xfrm>
          <a:prstGeom prst="rect">
            <a:avLst/>
          </a:prstGeom>
        </p:spPr>
        <p:txBody>
          <a:bodyPr wrap="square">
            <a:spAutoFit/>
          </a:bodyPr>
          <a:lstStyle/>
          <a:p>
            <a:r>
              <a:rPr lang="en-US" sz="600" dirty="0" smtClean="0"/>
              <a:t>root@GPU111</a:t>
            </a:r>
            <a:r>
              <a:rPr lang="en-US" sz="600" dirty="0"/>
              <a:t>:~# </a:t>
            </a:r>
            <a:r>
              <a:rPr lang="en-US" sz="600" dirty="0" err="1"/>
              <a:t>openstack</a:t>
            </a:r>
            <a:r>
              <a:rPr lang="en-US" sz="600" dirty="0"/>
              <a:t> volume create --bootable --image ubuntu22.04 --type </a:t>
            </a:r>
            <a:r>
              <a:rPr lang="en-US" sz="600" dirty="0" err="1"/>
              <a:t>ceph</a:t>
            </a:r>
            <a:r>
              <a:rPr lang="en-US" sz="600" dirty="0"/>
              <a:t> --size 3 ubuntu22.04_boot_image</a:t>
            </a:r>
          </a:p>
          <a:p>
            <a:r>
              <a:rPr lang="en-US" sz="600" dirty="0"/>
              <a:t>+---------------------+--------------------------------------+</a:t>
            </a:r>
          </a:p>
          <a:p>
            <a:r>
              <a:rPr lang="en-US" sz="600" dirty="0"/>
              <a:t>| Field               | Value                                |</a:t>
            </a:r>
          </a:p>
          <a:p>
            <a:r>
              <a:rPr lang="en-US" sz="600" dirty="0"/>
              <a:t>+---------------------+--------------------------------------+</a:t>
            </a:r>
          </a:p>
          <a:p>
            <a:r>
              <a:rPr lang="en-US" sz="600" dirty="0"/>
              <a:t>| attachments         | []                                   |</a:t>
            </a:r>
          </a:p>
          <a:p>
            <a:r>
              <a:rPr lang="en-US" sz="600" dirty="0"/>
              <a:t>| </a:t>
            </a:r>
            <a:r>
              <a:rPr lang="en-US" sz="600" dirty="0" err="1"/>
              <a:t>availability_zone</a:t>
            </a:r>
            <a:r>
              <a:rPr lang="en-US" sz="600" dirty="0"/>
              <a:t>   | nova                                 |</a:t>
            </a:r>
          </a:p>
          <a:p>
            <a:r>
              <a:rPr lang="en-US" sz="600" dirty="0"/>
              <a:t>| bootable            | false                                |</a:t>
            </a:r>
          </a:p>
          <a:p>
            <a:r>
              <a:rPr lang="en-US" sz="600" dirty="0"/>
              <a:t>| </a:t>
            </a:r>
            <a:r>
              <a:rPr lang="en-US" sz="600" dirty="0" err="1"/>
              <a:t>consistencygroup_id</a:t>
            </a:r>
            <a:r>
              <a:rPr lang="en-US" sz="600" dirty="0"/>
              <a:t> | None                                 |</a:t>
            </a:r>
          </a:p>
          <a:p>
            <a:r>
              <a:rPr lang="en-US" sz="600" dirty="0"/>
              <a:t>| </a:t>
            </a:r>
            <a:r>
              <a:rPr lang="en-US" sz="600" dirty="0" err="1"/>
              <a:t>created_at</a:t>
            </a:r>
            <a:r>
              <a:rPr lang="en-US" sz="600" dirty="0"/>
              <a:t>          | </a:t>
            </a:r>
            <a:r>
              <a:rPr lang="en-US" sz="600" dirty="0" smtClean="0"/>
              <a:t>2025-18-14T12:37:31.146975           </a:t>
            </a:r>
            <a:r>
              <a:rPr lang="en-US" sz="600" dirty="0"/>
              <a:t>|</a:t>
            </a:r>
          </a:p>
          <a:p>
            <a:r>
              <a:rPr lang="en-US" sz="600" dirty="0"/>
              <a:t>| description         | None                                 |</a:t>
            </a:r>
          </a:p>
          <a:p>
            <a:r>
              <a:rPr lang="en-US" sz="600" dirty="0"/>
              <a:t>| encrypted           | False                                |</a:t>
            </a:r>
          </a:p>
          <a:p>
            <a:r>
              <a:rPr lang="en-US" sz="600" dirty="0"/>
              <a:t>| id                  | 6c4f5912-4480-46cd-a960-f0a59a3f5d98 |</a:t>
            </a:r>
          </a:p>
          <a:p>
            <a:r>
              <a:rPr lang="en-US" sz="600" dirty="0"/>
              <a:t>| </a:t>
            </a:r>
            <a:r>
              <a:rPr lang="en-US" sz="600" dirty="0" err="1"/>
              <a:t>migration_status</a:t>
            </a:r>
            <a:r>
              <a:rPr lang="en-US" sz="600" dirty="0"/>
              <a:t>    | None                                 |</a:t>
            </a:r>
          </a:p>
          <a:p>
            <a:r>
              <a:rPr lang="en-US" sz="600" dirty="0"/>
              <a:t>| </a:t>
            </a:r>
            <a:r>
              <a:rPr lang="en-US" sz="600" dirty="0" err="1"/>
              <a:t>multiattach</a:t>
            </a:r>
            <a:r>
              <a:rPr lang="en-US" sz="600" dirty="0"/>
              <a:t>         | False                                |</a:t>
            </a:r>
          </a:p>
          <a:p>
            <a:r>
              <a:rPr lang="en-US" sz="600" dirty="0"/>
              <a:t>| name                | ubuntu22.04_boot_image               |</a:t>
            </a:r>
          </a:p>
          <a:p>
            <a:r>
              <a:rPr lang="en-US" sz="600" dirty="0"/>
              <a:t>| properties          |                                      |</a:t>
            </a:r>
          </a:p>
          <a:p>
            <a:r>
              <a:rPr lang="en-US" sz="600" dirty="0"/>
              <a:t>| </a:t>
            </a:r>
            <a:r>
              <a:rPr lang="en-US" sz="600" dirty="0" err="1"/>
              <a:t>replication_status</a:t>
            </a:r>
            <a:r>
              <a:rPr lang="en-US" sz="600" dirty="0"/>
              <a:t>  | None                                 |</a:t>
            </a:r>
          </a:p>
          <a:p>
            <a:r>
              <a:rPr lang="en-US" sz="600" dirty="0"/>
              <a:t>| size                | 3                                    |</a:t>
            </a:r>
          </a:p>
          <a:p>
            <a:r>
              <a:rPr lang="en-US" sz="600" dirty="0"/>
              <a:t>| </a:t>
            </a:r>
            <a:r>
              <a:rPr lang="en-US" sz="600" dirty="0" err="1"/>
              <a:t>snapshot_id</a:t>
            </a:r>
            <a:r>
              <a:rPr lang="en-US" sz="600" dirty="0"/>
              <a:t>         | None                                 |</a:t>
            </a:r>
          </a:p>
          <a:p>
            <a:r>
              <a:rPr lang="en-US" sz="600" dirty="0"/>
              <a:t>| </a:t>
            </a:r>
            <a:r>
              <a:rPr lang="en-US" sz="600" dirty="0" err="1"/>
              <a:t>source_volid</a:t>
            </a:r>
            <a:r>
              <a:rPr lang="en-US" sz="600" dirty="0"/>
              <a:t>        | None                                 |</a:t>
            </a:r>
          </a:p>
          <a:p>
            <a:r>
              <a:rPr lang="en-US" sz="600" dirty="0"/>
              <a:t>| status              | creating                             |</a:t>
            </a:r>
          </a:p>
          <a:p>
            <a:r>
              <a:rPr lang="en-US" sz="600" dirty="0"/>
              <a:t>| type                | </a:t>
            </a:r>
            <a:r>
              <a:rPr lang="en-US" sz="600" dirty="0" err="1"/>
              <a:t>ceph</a:t>
            </a:r>
            <a:r>
              <a:rPr lang="en-US" sz="600" dirty="0"/>
              <a:t>                                 |</a:t>
            </a:r>
          </a:p>
          <a:p>
            <a:r>
              <a:rPr lang="en-US" sz="600" dirty="0"/>
              <a:t>| </a:t>
            </a:r>
            <a:r>
              <a:rPr lang="en-US" sz="600" dirty="0" err="1"/>
              <a:t>updated_at</a:t>
            </a:r>
            <a:r>
              <a:rPr lang="en-US" sz="600" dirty="0"/>
              <a:t>          | None                                 |</a:t>
            </a:r>
          </a:p>
          <a:p>
            <a:r>
              <a:rPr lang="en-US" sz="600" dirty="0"/>
              <a:t>| </a:t>
            </a:r>
            <a:r>
              <a:rPr lang="en-US" sz="600" dirty="0" err="1"/>
              <a:t>user_id</a:t>
            </a:r>
            <a:r>
              <a:rPr lang="en-US" sz="600" dirty="0"/>
              <a:t>             | 6714a667d1e3406fab0c7add7d71d412     |</a:t>
            </a:r>
          </a:p>
          <a:p>
            <a:r>
              <a:rPr lang="en-US" sz="600" dirty="0"/>
              <a:t>+---------------------+--------------------------------------+</a:t>
            </a:r>
          </a:p>
          <a:p>
            <a:endParaRPr lang="en-US" sz="600" dirty="0"/>
          </a:p>
          <a:p>
            <a:r>
              <a:rPr lang="en-US" sz="600" dirty="0" smtClean="0"/>
              <a:t>root@GPU111</a:t>
            </a:r>
            <a:r>
              <a:rPr lang="en-US" sz="600" dirty="0"/>
              <a:t>:~# </a:t>
            </a:r>
            <a:r>
              <a:rPr lang="en-US" sz="600" dirty="0" err="1"/>
              <a:t>openstack</a:t>
            </a:r>
            <a:r>
              <a:rPr lang="en-US" sz="600" dirty="0"/>
              <a:t> volume list --long</a:t>
            </a:r>
          </a:p>
          <a:p>
            <a:r>
              <a:rPr lang="en-US" sz="600" dirty="0"/>
              <a:t>+--------------------------------------+------------------------+-----------+------+------+----------+-------------+------------+</a:t>
            </a:r>
          </a:p>
          <a:p>
            <a:r>
              <a:rPr lang="en-US" sz="600" dirty="0"/>
              <a:t>| ID                                   | Name                   | Status    | Size | Type | Bootable | Attached to | Properties |</a:t>
            </a:r>
          </a:p>
          <a:p>
            <a:r>
              <a:rPr lang="en-US" sz="600" dirty="0"/>
              <a:t>+--------------------------------------+------------------------+-----------+------+------+----------+-------------+------------+</a:t>
            </a:r>
          </a:p>
          <a:p>
            <a:r>
              <a:rPr lang="en-US" sz="600" dirty="0"/>
              <a:t>| 6c4f5912-4480-46cd-a960-f0a59a3f5d98 | ubuntu22.04_boot_image | available |    3 | </a:t>
            </a:r>
            <a:r>
              <a:rPr lang="en-US" sz="600" dirty="0" err="1"/>
              <a:t>ceph</a:t>
            </a:r>
            <a:r>
              <a:rPr lang="en-US" sz="600" dirty="0"/>
              <a:t> | true     |             |            |</a:t>
            </a:r>
          </a:p>
          <a:p>
            <a:r>
              <a:rPr lang="en-US" sz="600" dirty="0"/>
              <a:t>+--------------------------------------+------------------------+-----------+------+------+----------+-------------+------------+</a:t>
            </a:r>
          </a:p>
          <a:p>
            <a:endParaRPr lang="en-US" sz="600" dirty="0"/>
          </a:p>
          <a:p>
            <a:r>
              <a:rPr lang="en-US" sz="600" dirty="0" smtClean="0"/>
              <a:t>root@GPU111</a:t>
            </a:r>
            <a:r>
              <a:rPr lang="en-US" sz="600" dirty="0"/>
              <a:t>:~# </a:t>
            </a:r>
            <a:r>
              <a:rPr lang="en-US" sz="600" dirty="0" err="1"/>
              <a:t>rbd</a:t>
            </a:r>
            <a:r>
              <a:rPr lang="en-US" sz="600" dirty="0"/>
              <a:t> ls -l volumes</a:t>
            </a:r>
          </a:p>
          <a:p>
            <a:r>
              <a:rPr lang="en-US" sz="600" dirty="0"/>
              <a:t>NAME                                         SIZE   PARENT  FMT  PROT  LOCK</a:t>
            </a:r>
          </a:p>
          <a:p>
            <a:r>
              <a:rPr lang="en-US" sz="600" dirty="0"/>
              <a:t>volume-6c4f5912-4480-46cd-a960-f0a59a3f5d98  3 </a:t>
            </a:r>
            <a:r>
              <a:rPr lang="en-US" sz="600" dirty="0" err="1"/>
              <a:t>GiB</a:t>
            </a:r>
            <a:r>
              <a:rPr lang="en-US" sz="600" dirty="0"/>
              <a:t>            2 </a:t>
            </a:r>
          </a:p>
        </p:txBody>
      </p:sp>
      <p:sp>
        <p:nvSpPr>
          <p:cNvPr id="11" name="Rectangle 10"/>
          <p:cNvSpPr/>
          <p:nvPr/>
        </p:nvSpPr>
        <p:spPr>
          <a:xfrm>
            <a:off x="4772630" y="655973"/>
            <a:ext cx="4371369" cy="325297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1120551503"/>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4" name="Rectangle 3"/>
          <p:cNvSpPr/>
          <p:nvPr/>
        </p:nvSpPr>
        <p:spPr>
          <a:xfrm>
            <a:off x="116548" y="435216"/>
            <a:ext cx="4425960" cy="276999"/>
          </a:xfrm>
          <a:prstGeom prst="rect">
            <a:avLst/>
          </a:prstGeom>
        </p:spPr>
        <p:txBody>
          <a:bodyPr wrap="square">
            <a:spAutoFit/>
          </a:bodyPr>
          <a:lstStyle/>
          <a:p>
            <a:r>
              <a:rPr lang="en-US" sz="1200" dirty="0"/>
              <a:t>Create VM with the volume</a:t>
            </a:r>
            <a:endParaRPr lang="en-US" sz="1200" b="1" dirty="0">
              <a:solidFill>
                <a:srgbClr val="002060"/>
              </a:solidFill>
            </a:endParaRPr>
          </a:p>
        </p:txBody>
      </p:sp>
      <p:sp>
        <p:nvSpPr>
          <p:cNvPr id="7" name="Rectangle 6"/>
          <p:cNvSpPr/>
          <p:nvPr/>
        </p:nvSpPr>
        <p:spPr>
          <a:xfrm>
            <a:off x="171138" y="703037"/>
            <a:ext cx="4332508" cy="4154984"/>
          </a:xfrm>
          <a:prstGeom prst="rect">
            <a:avLst/>
          </a:prstGeom>
        </p:spPr>
        <p:txBody>
          <a:bodyPr wrap="square">
            <a:spAutoFit/>
          </a:bodyPr>
          <a:lstStyle/>
          <a:p>
            <a:r>
              <a:rPr lang="en-US" sz="600" dirty="0" smtClean="0"/>
              <a:t>root@GPU111</a:t>
            </a:r>
            <a:r>
              <a:rPr lang="en-US" sz="600" dirty="0"/>
              <a:t>:~# </a:t>
            </a:r>
            <a:r>
              <a:rPr lang="en-US" sz="600" dirty="0" err="1"/>
              <a:t>openstack</a:t>
            </a:r>
            <a:r>
              <a:rPr lang="en-US" sz="600" dirty="0"/>
              <a:t> server create --volume ubuntu22.04_boot_image --flavor 1c2r4d --key-name key-pair1 --network demo-net ubuntu22.04_ceph_volume_vm</a:t>
            </a:r>
          </a:p>
          <a:p>
            <a:r>
              <a:rPr lang="en-US" sz="600" dirty="0"/>
              <a:t>+-------------------------------------+-----------------------------------------------+</a:t>
            </a:r>
          </a:p>
          <a:p>
            <a:r>
              <a:rPr lang="en-US" sz="600" dirty="0"/>
              <a:t>| Field                               | Value                                         |</a:t>
            </a:r>
          </a:p>
          <a:p>
            <a:r>
              <a:rPr lang="en-US" sz="600" dirty="0"/>
              <a:t>+-------------------------------------+-----------------------------------------------+</a:t>
            </a:r>
          </a:p>
          <a:p>
            <a:r>
              <a:rPr lang="en-US" sz="600" dirty="0"/>
              <a:t>| </a:t>
            </a:r>
            <a:r>
              <a:rPr lang="en-US" sz="600" dirty="0" err="1"/>
              <a:t>OS-DCF:diskConfig</a:t>
            </a:r>
            <a:r>
              <a:rPr lang="en-US" sz="600" dirty="0"/>
              <a:t>                   | MANUAL                                        |</a:t>
            </a:r>
          </a:p>
          <a:p>
            <a:r>
              <a:rPr lang="en-US" sz="600" dirty="0"/>
              <a:t>| </a:t>
            </a:r>
            <a:r>
              <a:rPr lang="en-US" sz="600" dirty="0" err="1"/>
              <a:t>OS-EXT-AZ:availability_zone</a:t>
            </a:r>
            <a:r>
              <a:rPr lang="en-US" sz="600" dirty="0"/>
              <a:t>         |                                               |</a:t>
            </a:r>
          </a:p>
          <a:p>
            <a:r>
              <a:rPr lang="en-US" sz="600" dirty="0"/>
              <a:t>| </a:t>
            </a:r>
            <a:r>
              <a:rPr lang="en-US" sz="600" dirty="0" err="1"/>
              <a:t>OS-EXT-SRV-ATTR:host</a:t>
            </a:r>
            <a:r>
              <a:rPr lang="en-US" sz="600" dirty="0"/>
              <a:t>                | None                                          |</a:t>
            </a:r>
          </a:p>
          <a:p>
            <a:r>
              <a:rPr lang="en-US" sz="600" dirty="0"/>
              <a:t>| </a:t>
            </a:r>
            <a:r>
              <a:rPr lang="en-US" sz="600" dirty="0" err="1"/>
              <a:t>OS-EXT-SRV-ATTR:hypervisor_hostname</a:t>
            </a:r>
            <a:r>
              <a:rPr lang="en-US" sz="600" dirty="0"/>
              <a:t> | None                                          |</a:t>
            </a:r>
          </a:p>
          <a:p>
            <a:r>
              <a:rPr lang="en-US" sz="600" dirty="0"/>
              <a:t>| </a:t>
            </a:r>
            <a:r>
              <a:rPr lang="en-US" sz="600" dirty="0" err="1"/>
              <a:t>OS-EXT-SRV-ATTR:instance_name</a:t>
            </a:r>
            <a:r>
              <a:rPr lang="en-US" sz="600" dirty="0"/>
              <a:t>       |                                               |</a:t>
            </a:r>
          </a:p>
          <a:p>
            <a:r>
              <a:rPr lang="en-US" sz="600" dirty="0"/>
              <a:t>| </a:t>
            </a:r>
            <a:r>
              <a:rPr lang="en-US" sz="600" dirty="0" err="1"/>
              <a:t>OS-EXT-STS:power_state</a:t>
            </a:r>
            <a:r>
              <a:rPr lang="en-US" sz="600" dirty="0"/>
              <a:t>              | NOSTATE                                       |</a:t>
            </a:r>
          </a:p>
          <a:p>
            <a:r>
              <a:rPr lang="en-US" sz="600" dirty="0"/>
              <a:t>| </a:t>
            </a:r>
            <a:r>
              <a:rPr lang="en-US" sz="600" dirty="0" err="1"/>
              <a:t>OS-EXT-STS:task_state</a:t>
            </a:r>
            <a:r>
              <a:rPr lang="en-US" sz="600" dirty="0"/>
              <a:t>               | scheduling                                    |</a:t>
            </a:r>
          </a:p>
          <a:p>
            <a:r>
              <a:rPr lang="en-US" sz="600" dirty="0"/>
              <a:t>| </a:t>
            </a:r>
            <a:r>
              <a:rPr lang="en-US" sz="600" dirty="0" err="1"/>
              <a:t>OS-EXT-STS:vm_state</a:t>
            </a:r>
            <a:r>
              <a:rPr lang="en-US" sz="600" dirty="0"/>
              <a:t>                 | building                                      |</a:t>
            </a:r>
          </a:p>
          <a:p>
            <a:r>
              <a:rPr lang="en-US" sz="600" dirty="0"/>
              <a:t>| </a:t>
            </a:r>
            <a:r>
              <a:rPr lang="en-US" sz="600" dirty="0" err="1"/>
              <a:t>OS-SRV-USG:launched_at</a:t>
            </a:r>
            <a:r>
              <a:rPr lang="en-US" sz="600" dirty="0"/>
              <a:t>              | None                                          |</a:t>
            </a:r>
          </a:p>
          <a:p>
            <a:r>
              <a:rPr lang="en-US" sz="600" dirty="0"/>
              <a:t>| </a:t>
            </a:r>
            <a:r>
              <a:rPr lang="en-US" sz="600" dirty="0" err="1"/>
              <a:t>OS-SRV-USG:terminated_at</a:t>
            </a:r>
            <a:r>
              <a:rPr lang="en-US" sz="600" dirty="0"/>
              <a:t>            | None                                          |</a:t>
            </a:r>
          </a:p>
          <a:p>
            <a:r>
              <a:rPr lang="en-US" sz="600" dirty="0"/>
              <a:t>| accessIPv4                          |                                               |</a:t>
            </a:r>
          </a:p>
          <a:p>
            <a:r>
              <a:rPr lang="en-US" sz="600" dirty="0"/>
              <a:t>| accessIPv6                          |                                               |</a:t>
            </a:r>
          </a:p>
          <a:p>
            <a:r>
              <a:rPr lang="en-US" sz="600" dirty="0"/>
              <a:t>| addresses                           |                                               |</a:t>
            </a:r>
          </a:p>
          <a:p>
            <a:r>
              <a:rPr lang="en-US" sz="600" dirty="0"/>
              <a:t>| </a:t>
            </a:r>
            <a:r>
              <a:rPr lang="en-US" sz="600" dirty="0" err="1"/>
              <a:t>adminPass</a:t>
            </a:r>
            <a:r>
              <a:rPr lang="en-US" sz="600" dirty="0"/>
              <a:t>                           | vTNp7WWrhuFi                                  |</a:t>
            </a:r>
          </a:p>
          <a:p>
            <a:r>
              <a:rPr lang="en-US" sz="600" dirty="0"/>
              <a:t>| </a:t>
            </a:r>
            <a:r>
              <a:rPr lang="en-US" sz="600" dirty="0" err="1"/>
              <a:t>config_drive</a:t>
            </a:r>
            <a:r>
              <a:rPr lang="en-US" sz="600" dirty="0"/>
              <a:t>                        |                                               |</a:t>
            </a:r>
          </a:p>
          <a:p>
            <a:r>
              <a:rPr lang="en-US" sz="600" dirty="0"/>
              <a:t>| created                             | </a:t>
            </a:r>
            <a:r>
              <a:rPr lang="en-US" sz="600" dirty="0" smtClean="0"/>
              <a:t>2025-18-14T12:41:40Z                          </a:t>
            </a:r>
            <a:r>
              <a:rPr lang="en-US" sz="600" dirty="0"/>
              <a:t>|</a:t>
            </a:r>
          </a:p>
          <a:p>
            <a:r>
              <a:rPr lang="en-US" sz="600" dirty="0"/>
              <a:t>| flavor                              | 1c2r4d (8f99ab4a-e2de-493d-9940-37de21dfd623) |</a:t>
            </a:r>
          </a:p>
          <a:p>
            <a:r>
              <a:rPr lang="en-US" sz="600" dirty="0"/>
              <a:t>| </a:t>
            </a:r>
            <a:r>
              <a:rPr lang="en-US" sz="600" dirty="0" err="1"/>
              <a:t>hostId</a:t>
            </a:r>
            <a:r>
              <a:rPr lang="en-US" sz="600" dirty="0"/>
              <a:t>                              |                                               |</a:t>
            </a:r>
          </a:p>
          <a:p>
            <a:r>
              <a:rPr lang="en-US" sz="600" dirty="0"/>
              <a:t>| id                                  | b7143bbd-f23e-42f9-9125-0b61592602f0          |</a:t>
            </a:r>
          </a:p>
          <a:p>
            <a:r>
              <a:rPr lang="en-US" sz="600" dirty="0"/>
              <a:t>| image                               |                                               |</a:t>
            </a:r>
          </a:p>
          <a:p>
            <a:r>
              <a:rPr lang="en-US" sz="600" dirty="0"/>
              <a:t>| </a:t>
            </a:r>
            <a:r>
              <a:rPr lang="en-US" sz="600" dirty="0" err="1"/>
              <a:t>key_name</a:t>
            </a:r>
            <a:r>
              <a:rPr lang="en-US" sz="600" dirty="0"/>
              <a:t>                            | key-pair1                                     |</a:t>
            </a:r>
          </a:p>
          <a:p>
            <a:r>
              <a:rPr lang="en-US" sz="600" dirty="0"/>
              <a:t>| name                                | ubuntu22.04_ceph_volume_vm                    |</a:t>
            </a:r>
          </a:p>
          <a:p>
            <a:r>
              <a:rPr lang="en-US" sz="600" dirty="0"/>
              <a:t>| progress                            | 0                                             |</a:t>
            </a:r>
          </a:p>
          <a:p>
            <a:r>
              <a:rPr lang="en-US" sz="600" dirty="0"/>
              <a:t>| </a:t>
            </a:r>
            <a:r>
              <a:rPr lang="en-US" sz="600" dirty="0" err="1"/>
              <a:t>project_id</a:t>
            </a:r>
            <a:r>
              <a:rPr lang="en-US" sz="600" dirty="0"/>
              <a:t>                          | 496d5b465e684f20a8217fa408728ac2              |</a:t>
            </a:r>
          </a:p>
          <a:p>
            <a:r>
              <a:rPr lang="en-US" sz="600" dirty="0"/>
              <a:t>| properties                          |                                               |</a:t>
            </a:r>
          </a:p>
          <a:p>
            <a:r>
              <a:rPr lang="en-US" sz="600" dirty="0"/>
              <a:t>| </a:t>
            </a:r>
            <a:r>
              <a:rPr lang="en-US" sz="600" dirty="0" err="1"/>
              <a:t>security_groups</a:t>
            </a:r>
            <a:r>
              <a:rPr lang="en-US" sz="600" dirty="0"/>
              <a:t>                     | name='default'                                |</a:t>
            </a:r>
          </a:p>
          <a:p>
            <a:r>
              <a:rPr lang="en-US" sz="600" dirty="0"/>
              <a:t>| status                              | BUILD                                         |</a:t>
            </a:r>
          </a:p>
          <a:p>
            <a:r>
              <a:rPr lang="en-US" sz="600" dirty="0"/>
              <a:t>| updated                             | </a:t>
            </a:r>
            <a:r>
              <a:rPr lang="en-US" sz="600" dirty="0" smtClean="0"/>
              <a:t>2025-18-14T12:41:40Z                          </a:t>
            </a:r>
            <a:r>
              <a:rPr lang="en-US" sz="600" dirty="0"/>
              <a:t>|</a:t>
            </a:r>
          </a:p>
          <a:p>
            <a:r>
              <a:rPr lang="en-US" sz="600" dirty="0"/>
              <a:t>| </a:t>
            </a:r>
            <a:r>
              <a:rPr lang="en-US" sz="600" dirty="0" err="1"/>
              <a:t>user_id</a:t>
            </a:r>
            <a:r>
              <a:rPr lang="en-US" sz="600" dirty="0"/>
              <a:t>                             | 6714a667d1e3406fab0c7add7d71d412              |</a:t>
            </a:r>
          </a:p>
          <a:p>
            <a:r>
              <a:rPr lang="en-US" sz="600" dirty="0"/>
              <a:t>| </a:t>
            </a:r>
            <a:r>
              <a:rPr lang="en-US" sz="600" dirty="0" err="1"/>
              <a:t>volumes_attached</a:t>
            </a:r>
            <a:r>
              <a:rPr lang="en-US" sz="600" dirty="0"/>
              <a:t>                    |                                               |</a:t>
            </a:r>
          </a:p>
          <a:p>
            <a:r>
              <a:rPr lang="en-US" sz="600" dirty="0"/>
              <a:t>+-------------------------------------+-----------------------------------------------+</a:t>
            </a:r>
          </a:p>
          <a:p>
            <a:endParaRPr lang="en-US" sz="600" dirty="0"/>
          </a:p>
          <a:p>
            <a:r>
              <a:rPr lang="en-US" sz="600" dirty="0" smtClean="0"/>
              <a:t>root@GPU111</a:t>
            </a:r>
            <a:r>
              <a:rPr lang="en-US" sz="600" dirty="0"/>
              <a:t>:~# </a:t>
            </a:r>
            <a:r>
              <a:rPr lang="en-US" sz="600" dirty="0" err="1"/>
              <a:t>openstack</a:t>
            </a:r>
            <a:r>
              <a:rPr lang="en-US" sz="600" dirty="0"/>
              <a:t> server list</a:t>
            </a:r>
          </a:p>
          <a:p>
            <a:r>
              <a:rPr lang="en-US" sz="600" dirty="0"/>
              <a:t>+--------------------------------------+----------------------------+--------+---------------------+-------------+--------+</a:t>
            </a:r>
          </a:p>
          <a:p>
            <a:r>
              <a:rPr lang="en-US" sz="600" dirty="0"/>
              <a:t>| ID                                   | Name                       | Status | Networks            | Image       | Flavor |</a:t>
            </a:r>
          </a:p>
          <a:p>
            <a:r>
              <a:rPr lang="en-US" sz="600" dirty="0"/>
              <a:t>+--------------------------------------+----------------------------+--------+---------------------+-------------+--------+</a:t>
            </a:r>
          </a:p>
          <a:p>
            <a:r>
              <a:rPr lang="en-US" sz="600" dirty="0"/>
              <a:t>| b7143bbd-f23e-42f9-9125-0b61592602f0 | ubuntu22.04_ceph_volume_vm | ACTIVE | demo-net=10.0.0.182 |             | 1c2r4d |</a:t>
            </a:r>
          </a:p>
          <a:p>
            <a:r>
              <a:rPr lang="en-US" sz="600" dirty="0"/>
              <a:t>| 1adcbf1f-0dd9-4086-a67f-ccf73d8b94e6 | </a:t>
            </a:r>
            <a:r>
              <a:rPr lang="en-US" sz="600" dirty="0" err="1"/>
              <a:t>ubuntu_vm</a:t>
            </a:r>
            <a:r>
              <a:rPr lang="en-US" sz="600" dirty="0"/>
              <a:t>                  | ACTIVE | demo-net=10.0.0.142 | ubuntu22.04 | 1c2r4d |</a:t>
            </a:r>
          </a:p>
          <a:p>
            <a:r>
              <a:rPr lang="en-US" sz="600" dirty="0"/>
              <a:t>+--------------------------------------+----------------------------+--------+---------------------+-------------+--------+</a:t>
            </a:r>
          </a:p>
        </p:txBody>
      </p:sp>
      <p:sp>
        <p:nvSpPr>
          <p:cNvPr id="8" name="Rectangle 7"/>
          <p:cNvSpPr/>
          <p:nvPr/>
        </p:nvSpPr>
        <p:spPr>
          <a:xfrm>
            <a:off x="171138" y="681712"/>
            <a:ext cx="4371369" cy="417630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4718040" y="409477"/>
            <a:ext cx="4030175" cy="1200329"/>
          </a:xfrm>
          <a:prstGeom prst="rect">
            <a:avLst/>
          </a:prstGeom>
        </p:spPr>
        <p:txBody>
          <a:bodyPr wrap="square">
            <a:spAutoFit/>
          </a:bodyPr>
          <a:lstStyle/>
          <a:p>
            <a:pPr algn="just"/>
            <a:r>
              <a:rPr lang="en-US" sz="1200" b="1" dirty="0"/>
              <a:t>Extra: Use local </a:t>
            </a:r>
            <a:r>
              <a:rPr lang="en-US" sz="1200" b="1" dirty="0" err="1"/>
              <a:t>docker</a:t>
            </a:r>
            <a:r>
              <a:rPr lang="en-US" sz="1200" b="1" dirty="0"/>
              <a:t> registry to deploy (Not Work)</a:t>
            </a:r>
          </a:p>
          <a:p>
            <a:pPr algn="just"/>
            <a:r>
              <a:rPr lang="en-US" sz="1200" dirty="0"/>
              <a:t>Create a local </a:t>
            </a:r>
            <a:r>
              <a:rPr lang="en-US" sz="1200" dirty="0" err="1"/>
              <a:t>docker</a:t>
            </a:r>
            <a:r>
              <a:rPr lang="en-US" sz="1200" dirty="0"/>
              <a:t> registry on host </a:t>
            </a:r>
            <a:r>
              <a:rPr lang="en-US" sz="1200" dirty="0" smtClean="0"/>
              <a:t>GPU10 </a:t>
            </a:r>
            <a:r>
              <a:rPr lang="en-US" sz="1200" dirty="0"/>
              <a:t>for </a:t>
            </a:r>
            <a:r>
              <a:rPr lang="en-US" sz="1200" dirty="0" err="1"/>
              <a:t>Kolla-Ansible</a:t>
            </a:r>
            <a:endParaRPr lang="en-US" sz="1200" dirty="0"/>
          </a:p>
          <a:p>
            <a:pPr algn="just"/>
            <a:r>
              <a:rPr lang="en-US" sz="1200" b="1" dirty="0"/>
              <a:t>NOTE</a:t>
            </a:r>
            <a:r>
              <a:rPr lang="en-US" sz="1200" dirty="0"/>
              <a:t>: This does not work because </a:t>
            </a:r>
            <a:r>
              <a:rPr lang="en-US" sz="1200" dirty="0" err="1"/>
              <a:t>kolla-ansible</a:t>
            </a:r>
            <a:r>
              <a:rPr lang="en-US" sz="1200" dirty="0"/>
              <a:t> use "</a:t>
            </a:r>
            <a:r>
              <a:rPr lang="en-US" sz="1200" dirty="0">
                <a:hlinkClick r:id="rId3"/>
              </a:rPr>
              <a:t>quay.io</a:t>
            </a:r>
            <a:r>
              <a:rPr lang="en-US" sz="1200" dirty="0"/>
              <a:t>" to pull images and under "</a:t>
            </a:r>
            <a:r>
              <a:rPr lang="en-US" sz="1200" dirty="0" err="1"/>
              <a:t>openstack.kolla</a:t>
            </a:r>
            <a:r>
              <a:rPr lang="en-US" sz="1200" dirty="0"/>
              <a:t>" organization. However the </a:t>
            </a:r>
            <a:r>
              <a:rPr lang="en-US" sz="1200" dirty="0" err="1"/>
              <a:t>docker</a:t>
            </a:r>
            <a:r>
              <a:rPr lang="en-US" sz="1200" dirty="0"/>
              <a:t> registry </a:t>
            </a:r>
            <a:r>
              <a:rPr lang="en-US" sz="1200" b="1" dirty="0">
                <a:hlinkClick r:id="rId4"/>
              </a:rPr>
              <a:t>https://registry-1.docker.io</a:t>
            </a:r>
            <a:r>
              <a:rPr lang="en-US" sz="1200" dirty="0"/>
              <a:t> does not have "</a:t>
            </a:r>
            <a:r>
              <a:rPr lang="en-US" sz="1200" dirty="0" err="1"/>
              <a:t>openstack.kolla</a:t>
            </a:r>
            <a:r>
              <a:rPr lang="en-US" sz="1200" dirty="0"/>
              <a:t>". This results image pull failure.</a:t>
            </a:r>
          </a:p>
        </p:txBody>
      </p:sp>
      <p:sp>
        <p:nvSpPr>
          <p:cNvPr id="12" name="Rectangle 11"/>
          <p:cNvSpPr/>
          <p:nvPr/>
        </p:nvSpPr>
        <p:spPr>
          <a:xfrm>
            <a:off x="4718040" y="1746324"/>
            <a:ext cx="1708288" cy="276999"/>
          </a:xfrm>
          <a:prstGeom prst="rect">
            <a:avLst/>
          </a:prstGeom>
        </p:spPr>
        <p:txBody>
          <a:bodyPr wrap="none">
            <a:spAutoFit/>
          </a:bodyPr>
          <a:lstStyle/>
          <a:p>
            <a:r>
              <a:rPr lang="en-US" sz="1200" dirty="0"/>
              <a:t>Error message </a:t>
            </a:r>
            <a:r>
              <a:rPr lang="en-US" sz="1200" dirty="0" err="1"/>
              <a:t>exampes</a:t>
            </a:r>
            <a:r>
              <a:rPr lang="en-US" sz="1200" dirty="0"/>
              <a:t>:</a:t>
            </a:r>
            <a:endParaRPr lang="en-US" sz="1200" b="1" dirty="0">
              <a:solidFill>
                <a:srgbClr val="002060"/>
              </a:solidFill>
            </a:endParaRPr>
          </a:p>
        </p:txBody>
      </p:sp>
      <p:sp>
        <p:nvSpPr>
          <p:cNvPr id="13" name="Rectangle 12"/>
          <p:cNvSpPr/>
          <p:nvPr/>
        </p:nvSpPr>
        <p:spPr>
          <a:xfrm>
            <a:off x="4772630" y="2047042"/>
            <a:ext cx="4102691" cy="369332"/>
          </a:xfrm>
          <a:prstGeom prst="rect">
            <a:avLst/>
          </a:prstGeom>
        </p:spPr>
        <p:txBody>
          <a:bodyPr wrap="square">
            <a:spAutoFit/>
          </a:bodyPr>
          <a:lstStyle/>
          <a:p>
            <a:r>
              <a:rPr lang="en-US" sz="600" dirty="0" smtClean="0"/>
              <a:t>root@GPU111</a:t>
            </a:r>
            <a:r>
              <a:rPr lang="en-US" sz="600" dirty="0"/>
              <a:t>:~# </a:t>
            </a:r>
            <a:r>
              <a:rPr lang="en-US" sz="600" dirty="0" err="1"/>
              <a:t>docker</a:t>
            </a:r>
            <a:r>
              <a:rPr lang="en-US" sz="600" dirty="0"/>
              <a:t> pull </a:t>
            </a:r>
            <a:r>
              <a:rPr lang="en-US" sz="600" dirty="0" smtClean="0"/>
              <a:t>GPU10:5000/</a:t>
            </a:r>
            <a:r>
              <a:rPr lang="en-US" sz="600" dirty="0" err="1" smtClean="0"/>
              <a:t>openstack.kolla</a:t>
            </a:r>
            <a:r>
              <a:rPr lang="en-US" sz="600" dirty="0" smtClean="0"/>
              <a:t>/fluentd:master-rocky-9</a:t>
            </a:r>
            <a:endParaRPr lang="en-US" sz="600" dirty="0"/>
          </a:p>
          <a:p>
            <a:r>
              <a:rPr lang="en-US" sz="600" dirty="0"/>
              <a:t>Error response from daemon: manifest for </a:t>
            </a:r>
            <a:r>
              <a:rPr lang="en-US" sz="600" dirty="0" smtClean="0"/>
              <a:t>GPU10:5000/</a:t>
            </a:r>
            <a:r>
              <a:rPr lang="en-US" sz="600" dirty="0" err="1" smtClean="0"/>
              <a:t>openstack.kolla</a:t>
            </a:r>
            <a:r>
              <a:rPr lang="en-US" sz="600" dirty="0" smtClean="0"/>
              <a:t>/fluentd:master-rocky-9 </a:t>
            </a:r>
            <a:r>
              <a:rPr lang="en-US" sz="600" dirty="0"/>
              <a:t>not found: manifest unknown: manifest unknown</a:t>
            </a:r>
          </a:p>
        </p:txBody>
      </p:sp>
      <p:sp>
        <p:nvSpPr>
          <p:cNvPr id="14" name="Rectangle 13"/>
          <p:cNvSpPr/>
          <p:nvPr/>
        </p:nvSpPr>
        <p:spPr>
          <a:xfrm>
            <a:off x="4772631" y="2025717"/>
            <a:ext cx="4371369" cy="41437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14"/>
          <p:cNvSpPr/>
          <p:nvPr/>
        </p:nvSpPr>
        <p:spPr>
          <a:xfrm>
            <a:off x="4772631" y="2670141"/>
            <a:ext cx="4102691" cy="369332"/>
          </a:xfrm>
          <a:prstGeom prst="rect">
            <a:avLst/>
          </a:prstGeom>
        </p:spPr>
        <p:txBody>
          <a:bodyPr wrap="square">
            <a:spAutoFit/>
          </a:bodyPr>
          <a:lstStyle/>
          <a:p>
            <a:r>
              <a:rPr lang="en-US" sz="600" dirty="0" err="1"/>
              <a:t>docker.errors.NotFound</a:t>
            </a:r>
            <a:r>
              <a:rPr lang="en-US" sz="600" dirty="0"/>
              <a:t>: 404 Client Error for </a:t>
            </a:r>
            <a:r>
              <a:rPr lang="en-US" sz="600" dirty="0" err="1"/>
              <a:t>http+docker</a:t>
            </a:r>
            <a:r>
              <a:rPr lang="en-US" sz="600" dirty="0"/>
              <a:t>://</a:t>
            </a:r>
            <a:r>
              <a:rPr lang="en-US" sz="600" dirty="0" smtClean="0"/>
              <a:t>localhost/v1.41/images/</a:t>
            </a:r>
            <a:r>
              <a:rPr lang="en-US" sz="600" dirty="0" err="1" smtClean="0"/>
              <a:t>create?tag</a:t>
            </a:r>
            <a:r>
              <a:rPr lang="en-US" sz="600" dirty="0" smtClean="0"/>
              <a:t>=master-rocky-9&amp;fromImage=GPU10%3A5000%2Fopenstack.kolla%2Ffluentd</a:t>
            </a:r>
            <a:r>
              <a:rPr lang="en-US" sz="600" dirty="0"/>
              <a:t>: Not Found (\"manifest for </a:t>
            </a:r>
            <a:r>
              <a:rPr lang="en-US" sz="600" dirty="0" smtClean="0"/>
              <a:t>GPU10:5000/</a:t>
            </a:r>
            <a:r>
              <a:rPr lang="en-US" sz="600" dirty="0" err="1" smtClean="0"/>
              <a:t>openstack.kolla</a:t>
            </a:r>
            <a:r>
              <a:rPr lang="en-US" sz="600" dirty="0" smtClean="0"/>
              <a:t>/fluentd:master-rocky-9 </a:t>
            </a:r>
            <a:r>
              <a:rPr lang="en-US" sz="600" dirty="0"/>
              <a:t>not found: manifest unknown: manifest unknown</a:t>
            </a:r>
          </a:p>
        </p:txBody>
      </p:sp>
      <p:sp>
        <p:nvSpPr>
          <p:cNvPr id="16" name="Rectangle 15"/>
          <p:cNvSpPr/>
          <p:nvPr/>
        </p:nvSpPr>
        <p:spPr>
          <a:xfrm>
            <a:off x="4772632" y="2648816"/>
            <a:ext cx="4371369" cy="414376"/>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3599205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9">
                                            <p:txEl>
                                              <p:pRg st="0" end="0"/>
                                            </p:txEl>
                                          </p:spTgt>
                                        </p:tgtEl>
                                      </p:cBhvr>
                                    </p:animEffect>
                                    <p:animScale>
                                      <p:cBhvr>
                                        <p:cTn id="7" dur="250" autoRev="1" fill="hold"/>
                                        <p:tgtEl>
                                          <p:spTgt spid="9">
                                            <p:txEl>
                                              <p:pRg st="0" end="0"/>
                                            </p:txEl>
                                          </p:spTgt>
                                        </p:tgtEl>
                                      </p:cBhvr>
                                      <p:by x="105000" y="105000"/>
                                    </p:animScale>
                                  </p:childTnLst>
                                </p:cTn>
                              </p:par>
                              <p:par>
                                <p:cTn id="8" presetID="26" presetClass="emph" presetSubtype="0" fill="hold" nodeType="withEffect">
                                  <p:stCondLst>
                                    <p:cond delay="0"/>
                                  </p:stCondLst>
                                  <p:childTnLst>
                                    <p:animEffect transition="out" filter="fade">
                                      <p:cBhvr>
                                        <p:cTn id="9" dur="500" tmFilter="0, 0; .2, .5; .8, .5; 1, 0"/>
                                        <p:tgtEl>
                                          <p:spTgt spid="9">
                                            <p:txEl>
                                              <p:pRg st="1" end="1"/>
                                            </p:txEl>
                                          </p:spTgt>
                                        </p:tgtEl>
                                      </p:cBhvr>
                                    </p:animEffect>
                                    <p:animScale>
                                      <p:cBhvr>
                                        <p:cTn id="10" dur="250" autoRev="1" fill="hold"/>
                                        <p:tgtEl>
                                          <p:spTgt spid="9">
                                            <p:txEl>
                                              <p:pRg st="1" end="1"/>
                                            </p:txEl>
                                          </p:spTgt>
                                        </p:tgtEl>
                                      </p:cBhvr>
                                      <p:by x="105000" y="105000"/>
                                    </p:animScale>
                                  </p:childTnLst>
                                </p:cTn>
                              </p:par>
                              <p:par>
                                <p:cTn id="11" presetID="26" presetClass="emph" presetSubtype="0" fill="hold" nodeType="withEffect">
                                  <p:stCondLst>
                                    <p:cond delay="0"/>
                                  </p:stCondLst>
                                  <p:childTnLst>
                                    <p:animEffect transition="out" filter="fade">
                                      <p:cBhvr>
                                        <p:cTn id="12" dur="500" tmFilter="0, 0; .2, .5; .8, .5; 1, 0"/>
                                        <p:tgtEl>
                                          <p:spTgt spid="9">
                                            <p:txEl>
                                              <p:pRg st="2" end="2"/>
                                            </p:txEl>
                                          </p:spTgt>
                                        </p:tgtEl>
                                      </p:cBhvr>
                                    </p:animEffect>
                                    <p:animScale>
                                      <p:cBhvr>
                                        <p:cTn id="13" dur="250" autoRev="1" fill="hold"/>
                                        <p:tgtEl>
                                          <p:spTgt spid="9">
                                            <p:txEl>
                                              <p:pRg st="2" end="2"/>
                                            </p:txEl>
                                          </p:spTgt>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4" name="Rectangle 3"/>
          <p:cNvSpPr/>
          <p:nvPr/>
        </p:nvSpPr>
        <p:spPr>
          <a:xfrm>
            <a:off x="61956" y="439008"/>
            <a:ext cx="4425960" cy="276999"/>
          </a:xfrm>
          <a:prstGeom prst="rect">
            <a:avLst/>
          </a:prstGeom>
        </p:spPr>
        <p:txBody>
          <a:bodyPr wrap="square">
            <a:spAutoFit/>
          </a:bodyPr>
          <a:lstStyle/>
          <a:p>
            <a:r>
              <a:rPr lang="en-US" sz="1200" b="1" dirty="0">
                <a:solidFill>
                  <a:srgbClr val="002060"/>
                </a:solidFill>
              </a:rPr>
              <a:t>Create /</a:t>
            </a:r>
            <a:r>
              <a:rPr lang="en-US" sz="1200" b="1" dirty="0" err="1">
                <a:solidFill>
                  <a:srgbClr val="002060"/>
                </a:solidFill>
              </a:rPr>
              <a:t>etc</a:t>
            </a:r>
            <a:r>
              <a:rPr lang="en-US" sz="1200" b="1" dirty="0">
                <a:solidFill>
                  <a:srgbClr val="002060"/>
                </a:solidFill>
              </a:rPr>
              <a:t>/registry directory</a:t>
            </a:r>
          </a:p>
        </p:txBody>
      </p:sp>
      <p:sp>
        <p:nvSpPr>
          <p:cNvPr id="7" name="Rectangle 6"/>
          <p:cNvSpPr/>
          <p:nvPr/>
        </p:nvSpPr>
        <p:spPr>
          <a:xfrm>
            <a:off x="116546" y="706829"/>
            <a:ext cx="4332508" cy="369332"/>
          </a:xfrm>
          <a:prstGeom prst="rect">
            <a:avLst/>
          </a:prstGeom>
        </p:spPr>
        <p:txBody>
          <a:bodyPr wrap="square">
            <a:spAutoFit/>
          </a:bodyPr>
          <a:lstStyle/>
          <a:p>
            <a:r>
              <a:rPr lang="en-US" sz="600" dirty="0" smtClean="0"/>
              <a:t>root@GPU10</a:t>
            </a:r>
            <a:r>
              <a:rPr lang="en-US" sz="600" dirty="0"/>
              <a:t>:~# </a:t>
            </a:r>
            <a:r>
              <a:rPr lang="en-US" sz="600" dirty="0" err="1"/>
              <a:t>mkdir</a:t>
            </a:r>
            <a:r>
              <a:rPr lang="en-US" sz="600" dirty="0"/>
              <a:t> -p /</a:t>
            </a:r>
            <a:r>
              <a:rPr lang="en-US" sz="600" dirty="0" err="1"/>
              <a:t>etc</a:t>
            </a:r>
            <a:r>
              <a:rPr lang="en-US" sz="600" dirty="0"/>
              <a:t>/</a:t>
            </a:r>
            <a:r>
              <a:rPr lang="en-US" sz="600" dirty="0" err="1"/>
              <a:t>docker</a:t>
            </a:r>
            <a:r>
              <a:rPr lang="en-US" sz="600" dirty="0"/>
              <a:t>/registry</a:t>
            </a:r>
          </a:p>
          <a:p>
            <a:r>
              <a:rPr lang="en-US" sz="600" dirty="0" smtClean="0"/>
              <a:t>root@GPU10</a:t>
            </a:r>
            <a:r>
              <a:rPr lang="en-US" sz="600" dirty="0"/>
              <a:t>:~# cd /</a:t>
            </a:r>
            <a:r>
              <a:rPr lang="en-US" sz="600" dirty="0" err="1"/>
              <a:t>etc</a:t>
            </a:r>
            <a:r>
              <a:rPr lang="en-US" sz="600" dirty="0"/>
              <a:t>/</a:t>
            </a:r>
            <a:r>
              <a:rPr lang="en-US" sz="600" dirty="0" err="1"/>
              <a:t>docker</a:t>
            </a:r>
            <a:r>
              <a:rPr lang="en-US" sz="600" dirty="0"/>
              <a:t>/registry</a:t>
            </a:r>
          </a:p>
          <a:p>
            <a:r>
              <a:rPr lang="en-US" sz="600" dirty="0" smtClean="0"/>
              <a:t>root@GPU10</a:t>
            </a:r>
            <a:r>
              <a:rPr lang="en-US" sz="600" dirty="0"/>
              <a:t>:/</a:t>
            </a:r>
            <a:r>
              <a:rPr lang="en-US" sz="600" dirty="0" err="1"/>
              <a:t>etc</a:t>
            </a:r>
            <a:r>
              <a:rPr lang="en-US" sz="600" dirty="0"/>
              <a:t>/</a:t>
            </a:r>
            <a:r>
              <a:rPr lang="en-US" sz="600" dirty="0" err="1"/>
              <a:t>docker</a:t>
            </a:r>
            <a:r>
              <a:rPr lang="en-US" sz="600" dirty="0"/>
              <a:t>/registry#</a:t>
            </a:r>
          </a:p>
        </p:txBody>
      </p:sp>
      <p:sp>
        <p:nvSpPr>
          <p:cNvPr id="8" name="Rectangle 7"/>
          <p:cNvSpPr/>
          <p:nvPr/>
        </p:nvSpPr>
        <p:spPr>
          <a:xfrm>
            <a:off x="116546" y="685504"/>
            <a:ext cx="4371369" cy="390657"/>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61956" y="1184157"/>
            <a:ext cx="4425960" cy="276999"/>
          </a:xfrm>
          <a:prstGeom prst="rect">
            <a:avLst/>
          </a:prstGeom>
        </p:spPr>
        <p:txBody>
          <a:bodyPr wrap="square">
            <a:spAutoFit/>
          </a:bodyPr>
          <a:lstStyle/>
          <a:p>
            <a:r>
              <a:rPr lang="en-US" sz="1200" dirty="0"/>
              <a:t>Create </a:t>
            </a:r>
            <a:r>
              <a:rPr lang="en-US" sz="1200" b="1" dirty="0" err="1"/>
              <a:t>docker-compose.yml</a:t>
            </a:r>
            <a:r>
              <a:rPr lang="en-US" sz="1200" dirty="0"/>
              <a:t> file</a:t>
            </a:r>
            <a:endParaRPr lang="en-US" sz="1200" b="1" dirty="0">
              <a:solidFill>
                <a:srgbClr val="002060"/>
              </a:solidFill>
            </a:endParaRPr>
          </a:p>
        </p:txBody>
      </p:sp>
      <p:sp>
        <p:nvSpPr>
          <p:cNvPr id="10" name="Rectangle 9"/>
          <p:cNvSpPr/>
          <p:nvPr/>
        </p:nvSpPr>
        <p:spPr>
          <a:xfrm>
            <a:off x="116546" y="1451978"/>
            <a:ext cx="4332508" cy="1384995"/>
          </a:xfrm>
          <a:prstGeom prst="rect">
            <a:avLst/>
          </a:prstGeom>
        </p:spPr>
        <p:txBody>
          <a:bodyPr wrap="square">
            <a:spAutoFit/>
          </a:bodyPr>
          <a:lstStyle/>
          <a:p>
            <a:r>
              <a:rPr lang="en-US" sz="600" dirty="0" smtClean="0"/>
              <a:t>root@GPU10</a:t>
            </a:r>
            <a:r>
              <a:rPr lang="en-US" sz="600" dirty="0"/>
              <a:t>:/</a:t>
            </a:r>
            <a:r>
              <a:rPr lang="en-US" sz="600" dirty="0" err="1"/>
              <a:t>etc</a:t>
            </a:r>
            <a:r>
              <a:rPr lang="en-US" sz="600" dirty="0"/>
              <a:t>/</a:t>
            </a:r>
            <a:r>
              <a:rPr lang="en-US" sz="600" dirty="0" err="1"/>
              <a:t>docker</a:t>
            </a:r>
            <a:r>
              <a:rPr lang="en-US" sz="600" dirty="0"/>
              <a:t>/registry# cat </a:t>
            </a:r>
            <a:r>
              <a:rPr lang="en-US" sz="600" dirty="0" err="1"/>
              <a:t>docker-compose.yml</a:t>
            </a:r>
            <a:r>
              <a:rPr lang="en-US" sz="600" dirty="0"/>
              <a:t> </a:t>
            </a:r>
          </a:p>
          <a:p>
            <a:r>
              <a:rPr lang="en-US" sz="600" dirty="0"/>
              <a:t>version: '3'</a:t>
            </a:r>
          </a:p>
          <a:p>
            <a:endParaRPr lang="en-US" sz="600" dirty="0"/>
          </a:p>
          <a:p>
            <a:r>
              <a:rPr lang="en-US" sz="600" dirty="0"/>
              <a:t>services:</a:t>
            </a:r>
          </a:p>
          <a:p>
            <a:r>
              <a:rPr lang="en-US" sz="600" dirty="0"/>
              <a:t>  registry:</a:t>
            </a:r>
          </a:p>
          <a:p>
            <a:r>
              <a:rPr lang="en-US" sz="600" dirty="0"/>
              <a:t>    </a:t>
            </a:r>
            <a:r>
              <a:rPr lang="en-US" sz="600" dirty="0" err="1"/>
              <a:t>container_name</a:t>
            </a:r>
            <a:r>
              <a:rPr lang="en-US" sz="600" dirty="0"/>
              <a:t>: registry</a:t>
            </a:r>
          </a:p>
          <a:p>
            <a:r>
              <a:rPr lang="en-US" sz="600" dirty="0"/>
              <a:t>    image: registry:2</a:t>
            </a:r>
          </a:p>
          <a:p>
            <a:r>
              <a:rPr lang="en-US" sz="600" dirty="0"/>
              <a:t>    ports:</a:t>
            </a:r>
          </a:p>
          <a:p>
            <a:r>
              <a:rPr lang="en-US" sz="600" dirty="0"/>
              <a:t>    - "5000:5000"</a:t>
            </a:r>
          </a:p>
          <a:p>
            <a:r>
              <a:rPr lang="en-US" sz="600" dirty="0"/>
              <a:t>    environment:</a:t>
            </a:r>
          </a:p>
          <a:p>
            <a:r>
              <a:rPr lang="en-US" sz="600" dirty="0"/>
              <a:t>      REGISTRY_STORAGE_FILESYSTEM_ROOTDIRECTORY: /data</a:t>
            </a:r>
          </a:p>
          <a:p>
            <a:r>
              <a:rPr lang="en-US" sz="600" dirty="0"/>
              <a:t>    volumes:</a:t>
            </a:r>
          </a:p>
          <a:p>
            <a:r>
              <a:rPr lang="en-US" sz="600" dirty="0"/>
              <a:t>      - /</a:t>
            </a:r>
            <a:r>
              <a:rPr lang="en-US" sz="600" dirty="0" err="1"/>
              <a:t>mnt</a:t>
            </a:r>
            <a:r>
              <a:rPr lang="en-US" sz="600" dirty="0"/>
              <a:t>/</a:t>
            </a:r>
            <a:r>
              <a:rPr lang="en-US" sz="600" dirty="0" err="1"/>
              <a:t>docker</a:t>
            </a:r>
            <a:r>
              <a:rPr lang="en-US" sz="600" dirty="0"/>
              <a:t>-registry-data:/data</a:t>
            </a:r>
          </a:p>
          <a:p>
            <a:r>
              <a:rPr lang="en-US" sz="600" dirty="0"/>
              <a:t>      - /</a:t>
            </a:r>
            <a:r>
              <a:rPr lang="en-US" sz="600" dirty="0" err="1"/>
              <a:t>etc</a:t>
            </a:r>
            <a:r>
              <a:rPr lang="en-US" sz="600" dirty="0"/>
              <a:t>/</a:t>
            </a:r>
            <a:r>
              <a:rPr lang="en-US" sz="600" dirty="0" err="1"/>
              <a:t>docker</a:t>
            </a:r>
            <a:r>
              <a:rPr lang="en-US" sz="600" dirty="0"/>
              <a:t>/registry/</a:t>
            </a:r>
            <a:r>
              <a:rPr lang="en-US" sz="600" dirty="0" err="1"/>
              <a:t>config.yml</a:t>
            </a:r>
            <a:r>
              <a:rPr lang="en-US" sz="600" dirty="0"/>
              <a:t>:/</a:t>
            </a:r>
            <a:r>
              <a:rPr lang="en-US" sz="600" dirty="0" err="1"/>
              <a:t>etc</a:t>
            </a:r>
            <a:r>
              <a:rPr lang="en-US" sz="600" dirty="0"/>
              <a:t>/</a:t>
            </a:r>
            <a:r>
              <a:rPr lang="en-US" sz="600" dirty="0" err="1"/>
              <a:t>docker</a:t>
            </a:r>
            <a:r>
              <a:rPr lang="en-US" sz="600" dirty="0"/>
              <a:t>/registry/</a:t>
            </a:r>
            <a:r>
              <a:rPr lang="en-US" sz="600" dirty="0" err="1"/>
              <a:t>config.yml</a:t>
            </a:r>
            <a:endParaRPr lang="en-US" sz="600" dirty="0"/>
          </a:p>
        </p:txBody>
      </p:sp>
      <p:sp>
        <p:nvSpPr>
          <p:cNvPr id="11" name="Rectangle 10"/>
          <p:cNvSpPr/>
          <p:nvPr/>
        </p:nvSpPr>
        <p:spPr>
          <a:xfrm>
            <a:off x="116546" y="1430653"/>
            <a:ext cx="4371369" cy="140632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2" name="Rectangle 11"/>
          <p:cNvSpPr/>
          <p:nvPr/>
        </p:nvSpPr>
        <p:spPr>
          <a:xfrm>
            <a:off x="77685" y="2863864"/>
            <a:ext cx="4425960" cy="276999"/>
          </a:xfrm>
          <a:prstGeom prst="rect">
            <a:avLst/>
          </a:prstGeom>
        </p:spPr>
        <p:txBody>
          <a:bodyPr wrap="square">
            <a:spAutoFit/>
          </a:bodyPr>
          <a:lstStyle/>
          <a:p>
            <a:r>
              <a:rPr lang="en-US" sz="1200" dirty="0"/>
              <a:t>Create </a:t>
            </a:r>
            <a:r>
              <a:rPr lang="en-US" sz="1200" dirty="0" err="1"/>
              <a:t>config.yml</a:t>
            </a:r>
            <a:r>
              <a:rPr lang="en-US" sz="1200" dirty="0"/>
              <a:t> file</a:t>
            </a:r>
            <a:endParaRPr lang="en-US" sz="1200" b="1" dirty="0">
              <a:solidFill>
                <a:srgbClr val="002060"/>
              </a:solidFill>
            </a:endParaRPr>
          </a:p>
        </p:txBody>
      </p:sp>
      <p:sp>
        <p:nvSpPr>
          <p:cNvPr id="13" name="Rectangle 12"/>
          <p:cNvSpPr/>
          <p:nvPr/>
        </p:nvSpPr>
        <p:spPr>
          <a:xfrm>
            <a:off x="132275" y="3131685"/>
            <a:ext cx="4332508" cy="2031325"/>
          </a:xfrm>
          <a:prstGeom prst="rect">
            <a:avLst/>
          </a:prstGeom>
        </p:spPr>
        <p:txBody>
          <a:bodyPr wrap="square">
            <a:spAutoFit/>
          </a:bodyPr>
          <a:lstStyle/>
          <a:p>
            <a:r>
              <a:rPr lang="en-US" sz="600" dirty="0" smtClean="0"/>
              <a:t>root@GPU10</a:t>
            </a:r>
            <a:r>
              <a:rPr lang="en-US" sz="600" dirty="0"/>
              <a:t>:/</a:t>
            </a:r>
            <a:r>
              <a:rPr lang="en-US" sz="600" dirty="0" err="1"/>
              <a:t>etc</a:t>
            </a:r>
            <a:r>
              <a:rPr lang="en-US" sz="600" dirty="0"/>
              <a:t>/</a:t>
            </a:r>
            <a:r>
              <a:rPr lang="en-US" sz="600" dirty="0" err="1"/>
              <a:t>docker</a:t>
            </a:r>
            <a:r>
              <a:rPr lang="en-US" sz="600" dirty="0"/>
              <a:t>/registry# cat ./</a:t>
            </a:r>
            <a:r>
              <a:rPr lang="en-US" sz="600" dirty="0" err="1"/>
              <a:t>config.yml</a:t>
            </a:r>
            <a:r>
              <a:rPr lang="en-US" sz="600" dirty="0"/>
              <a:t> </a:t>
            </a:r>
          </a:p>
          <a:p>
            <a:r>
              <a:rPr lang="en-US" sz="600" dirty="0"/>
              <a:t>version: 0.1</a:t>
            </a:r>
          </a:p>
          <a:p>
            <a:r>
              <a:rPr lang="en-US" sz="600" dirty="0"/>
              <a:t>log:</a:t>
            </a:r>
          </a:p>
          <a:p>
            <a:r>
              <a:rPr lang="en-US" sz="600" dirty="0"/>
              <a:t>  fields:</a:t>
            </a:r>
          </a:p>
          <a:p>
            <a:r>
              <a:rPr lang="en-US" sz="600" dirty="0"/>
              <a:t>    service: registry</a:t>
            </a:r>
          </a:p>
          <a:p>
            <a:r>
              <a:rPr lang="en-US" sz="600" dirty="0"/>
              <a:t>storage:</a:t>
            </a:r>
          </a:p>
          <a:p>
            <a:r>
              <a:rPr lang="en-US" sz="600" dirty="0"/>
              <a:t>  cache:</a:t>
            </a:r>
          </a:p>
          <a:p>
            <a:r>
              <a:rPr lang="en-US" sz="600" dirty="0"/>
              <a:t>    </a:t>
            </a:r>
            <a:r>
              <a:rPr lang="en-US" sz="600" dirty="0" err="1"/>
              <a:t>blobdescriptor</a:t>
            </a:r>
            <a:r>
              <a:rPr lang="en-US" sz="600" dirty="0"/>
              <a:t>: </a:t>
            </a:r>
            <a:r>
              <a:rPr lang="en-US" sz="600" dirty="0" err="1"/>
              <a:t>inmemory</a:t>
            </a:r>
            <a:endParaRPr lang="en-US" sz="600" dirty="0"/>
          </a:p>
          <a:p>
            <a:r>
              <a:rPr lang="en-US" sz="600" dirty="0"/>
              <a:t>  </a:t>
            </a:r>
            <a:r>
              <a:rPr lang="en-US" sz="600" dirty="0" err="1"/>
              <a:t>filesystem</a:t>
            </a:r>
            <a:r>
              <a:rPr lang="en-US" sz="600" dirty="0"/>
              <a:t>:</a:t>
            </a:r>
          </a:p>
          <a:p>
            <a:r>
              <a:rPr lang="en-US" sz="600" dirty="0"/>
              <a:t>    </a:t>
            </a:r>
            <a:r>
              <a:rPr lang="en-US" sz="600" dirty="0" err="1"/>
              <a:t>rootdirectory</a:t>
            </a:r>
            <a:r>
              <a:rPr lang="en-US" sz="600" dirty="0"/>
              <a:t>: /</a:t>
            </a:r>
            <a:r>
              <a:rPr lang="en-US" sz="600" dirty="0" err="1"/>
              <a:t>var</a:t>
            </a:r>
            <a:r>
              <a:rPr lang="en-US" sz="600" dirty="0"/>
              <a:t>/lib/registry</a:t>
            </a:r>
          </a:p>
          <a:p>
            <a:r>
              <a:rPr lang="en-US" sz="600" dirty="0"/>
              <a:t>http:</a:t>
            </a:r>
          </a:p>
          <a:p>
            <a:r>
              <a:rPr lang="en-US" sz="600" dirty="0"/>
              <a:t>  </a:t>
            </a:r>
            <a:r>
              <a:rPr lang="en-US" sz="600" dirty="0" err="1"/>
              <a:t>addr</a:t>
            </a:r>
            <a:r>
              <a:rPr lang="en-US" sz="600" dirty="0"/>
              <a:t>: :5000</a:t>
            </a:r>
          </a:p>
          <a:p>
            <a:r>
              <a:rPr lang="en-US" sz="600" dirty="0"/>
              <a:t>  headers:</a:t>
            </a:r>
          </a:p>
          <a:p>
            <a:r>
              <a:rPr lang="en-US" sz="600" dirty="0"/>
              <a:t>    X-Content-Type-Options: [</a:t>
            </a:r>
            <a:r>
              <a:rPr lang="en-US" sz="600" dirty="0" err="1"/>
              <a:t>nosniff</a:t>
            </a:r>
            <a:r>
              <a:rPr lang="en-US" sz="600" dirty="0"/>
              <a:t>]</a:t>
            </a:r>
          </a:p>
          <a:p>
            <a:r>
              <a:rPr lang="en-US" sz="600" dirty="0"/>
              <a:t>health:</a:t>
            </a:r>
          </a:p>
          <a:p>
            <a:r>
              <a:rPr lang="en-US" sz="600" dirty="0"/>
              <a:t>  </a:t>
            </a:r>
            <a:r>
              <a:rPr lang="en-US" sz="600" dirty="0" err="1"/>
              <a:t>storagedriver</a:t>
            </a:r>
            <a:r>
              <a:rPr lang="en-US" sz="600" dirty="0"/>
              <a:t>:</a:t>
            </a:r>
          </a:p>
          <a:p>
            <a:r>
              <a:rPr lang="en-US" sz="600" dirty="0"/>
              <a:t>    enabled: true</a:t>
            </a:r>
          </a:p>
          <a:p>
            <a:r>
              <a:rPr lang="en-US" sz="600" dirty="0"/>
              <a:t>    interval: 10s</a:t>
            </a:r>
          </a:p>
          <a:p>
            <a:r>
              <a:rPr lang="en-US" sz="600" dirty="0"/>
              <a:t>    threshold: 3</a:t>
            </a:r>
          </a:p>
          <a:p>
            <a:r>
              <a:rPr lang="en-US" sz="600" dirty="0"/>
              <a:t>proxy:</a:t>
            </a:r>
          </a:p>
          <a:p>
            <a:r>
              <a:rPr lang="en-US" sz="600" dirty="0"/>
              <a:t>  </a:t>
            </a:r>
            <a:r>
              <a:rPr lang="en-US" sz="600" dirty="0" err="1"/>
              <a:t>remoteurl</a:t>
            </a:r>
            <a:r>
              <a:rPr lang="en-US" sz="600" dirty="0"/>
              <a:t>: https://registry-1.docker.io</a:t>
            </a:r>
          </a:p>
        </p:txBody>
      </p:sp>
      <p:sp>
        <p:nvSpPr>
          <p:cNvPr id="14" name="Rectangle 13"/>
          <p:cNvSpPr/>
          <p:nvPr/>
        </p:nvSpPr>
        <p:spPr>
          <a:xfrm>
            <a:off x="132275" y="3110360"/>
            <a:ext cx="4371369" cy="2052650"/>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5" name="Rectangle 14"/>
          <p:cNvSpPr/>
          <p:nvPr/>
        </p:nvSpPr>
        <p:spPr>
          <a:xfrm>
            <a:off x="4542505" y="409477"/>
            <a:ext cx="4425960" cy="276999"/>
          </a:xfrm>
          <a:prstGeom prst="rect">
            <a:avLst/>
          </a:prstGeom>
        </p:spPr>
        <p:txBody>
          <a:bodyPr wrap="square">
            <a:spAutoFit/>
          </a:bodyPr>
          <a:lstStyle/>
          <a:p>
            <a:r>
              <a:rPr lang="en-US" sz="1200" b="1" dirty="0">
                <a:solidFill>
                  <a:srgbClr val="002060"/>
                </a:solidFill>
              </a:rPr>
              <a:t>Run </a:t>
            </a:r>
            <a:r>
              <a:rPr lang="en-US" sz="1200" b="1" dirty="0" err="1">
                <a:solidFill>
                  <a:srgbClr val="002060"/>
                </a:solidFill>
              </a:rPr>
              <a:t>docker</a:t>
            </a:r>
            <a:r>
              <a:rPr lang="en-US" sz="1200" b="1" dirty="0">
                <a:solidFill>
                  <a:srgbClr val="002060"/>
                </a:solidFill>
              </a:rPr>
              <a:t> registry container</a:t>
            </a:r>
          </a:p>
        </p:txBody>
      </p:sp>
      <p:sp>
        <p:nvSpPr>
          <p:cNvPr id="16" name="Rectangle 15"/>
          <p:cNvSpPr/>
          <p:nvPr/>
        </p:nvSpPr>
        <p:spPr>
          <a:xfrm>
            <a:off x="4597095" y="677298"/>
            <a:ext cx="4332508" cy="1200329"/>
          </a:xfrm>
          <a:prstGeom prst="rect">
            <a:avLst/>
          </a:prstGeom>
        </p:spPr>
        <p:txBody>
          <a:bodyPr wrap="square">
            <a:spAutoFit/>
          </a:bodyPr>
          <a:lstStyle/>
          <a:p>
            <a:r>
              <a:rPr lang="en-US" sz="600" dirty="0" smtClean="0"/>
              <a:t>root@GPU10</a:t>
            </a:r>
            <a:r>
              <a:rPr lang="en-US" sz="600" dirty="0"/>
              <a:t>:/</a:t>
            </a:r>
            <a:r>
              <a:rPr lang="en-US" sz="600" dirty="0" err="1"/>
              <a:t>etc</a:t>
            </a:r>
            <a:r>
              <a:rPr lang="en-US" sz="600" dirty="0"/>
              <a:t>/</a:t>
            </a:r>
            <a:r>
              <a:rPr lang="en-US" sz="600" dirty="0" err="1"/>
              <a:t>docker</a:t>
            </a:r>
            <a:r>
              <a:rPr lang="en-US" sz="600" dirty="0"/>
              <a:t>/registry# </a:t>
            </a:r>
            <a:r>
              <a:rPr lang="en-US" sz="600" dirty="0" err="1"/>
              <a:t>docker</a:t>
            </a:r>
            <a:r>
              <a:rPr lang="en-US" sz="600" dirty="0"/>
              <a:t>-compose up -d</a:t>
            </a:r>
          </a:p>
          <a:p>
            <a:r>
              <a:rPr lang="en-US" sz="600" dirty="0"/>
              <a:t>Creating network "</a:t>
            </a:r>
            <a:r>
              <a:rPr lang="en-US" sz="600" dirty="0" err="1"/>
              <a:t>registry_default</a:t>
            </a:r>
            <a:r>
              <a:rPr lang="en-US" sz="600" dirty="0"/>
              <a:t>" with the default driver</a:t>
            </a:r>
          </a:p>
          <a:p>
            <a:r>
              <a:rPr lang="en-US" sz="600" dirty="0"/>
              <a:t>Pulling registry (registry:2)...</a:t>
            </a:r>
          </a:p>
          <a:p>
            <a:r>
              <a:rPr lang="en-US" sz="600" dirty="0"/>
              <a:t>2: Pulling from library/registry</a:t>
            </a:r>
          </a:p>
          <a:p>
            <a:r>
              <a:rPr lang="en-US" sz="600" dirty="0"/>
              <a:t>ca7dd9ec2225: Pull complete</a:t>
            </a:r>
          </a:p>
          <a:p>
            <a:r>
              <a:rPr lang="en-US" sz="600" dirty="0"/>
              <a:t>c41ae7ad2b39: Pull complete</a:t>
            </a:r>
          </a:p>
          <a:p>
            <a:r>
              <a:rPr lang="en-US" sz="600" dirty="0"/>
              <a:t>1ed0fc8a6161: Pull complete</a:t>
            </a:r>
          </a:p>
          <a:p>
            <a:r>
              <a:rPr lang="en-US" sz="600" dirty="0"/>
              <a:t>21df229223d2: Pull complete</a:t>
            </a:r>
          </a:p>
          <a:p>
            <a:r>
              <a:rPr lang="en-US" sz="600" dirty="0"/>
              <a:t>626897ccab21: Pull complete</a:t>
            </a:r>
          </a:p>
          <a:p>
            <a:r>
              <a:rPr lang="en-US" sz="600" dirty="0"/>
              <a:t>Digest: sha256:ce14a6258f37702ff3cd92232a6f5b81ace542d9f1631966999e9f7c1ee6ddba</a:t>
            </a:r>
          </a:p>
          <a:p>
            <a:r>
              <a:rPr lang="en-US" sz="600" dirty="0"/>
              <a:t>Status: Downloaded newer image for registry:2</a:t>
            </a:r>
          </a:p>
          <a:p>
            <a:r>
              <a:rPr lang="en-US" sz="600" dirty="0"/>
              <a:t>Creating registry ... done</a:t>
            </a:r>
          </a:p>
        </p:txBody>
      </p:sp>
      <p:sp>
        <p:nvSpPr>
          <p:cNvPr id="17" name="Rectangle 16"/>
          <p:cNvSpPr/>
          <p:nvPr/>
        </p:nvSpPr>
        <p:spPr>
          <a:xfrm>
            <a:off x="4597095" y="655973"/>
            <a:ext cx="4371369" cy="122165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8" name="Rectangle 17"/>
          <p:cNvSpPr/>
          <p:nvPr/>
        </p:nvSpPr>
        <p:spPr>
          <a:xfrm>
            <a:off x="4597095" y="1877627"/>
            <a:ext cx="4425960" cy="276999"/>
          </a:xfrm>
          <a:prstGeom prst="rect">
            <a:avLst/>
          </a:prstGeom>
        </p:spPr>
        <p:txBody>
          <a:bodyPr wrap="square">
            <a:spAutoFit/>
          </a:bodyPr>
          <a:lstStyle/>
          <a:p>
            <a:r>
              <a:rPr lang="en-US" sz="1200" b="1" dirty="0">
                <a:solidFill>
                  <a:srgbClr val="002060"/>
                </a:solidFill>
              </a:rPr>
              <a:t>Configure insecure-registries and registry-mirrors</a:t>
            </a:r>
          </a:p>
        </p:txBody>
      </p:sp>
      <p:sp>
        <p:nvSpPr>
          <p:cNvPr id="19" name="Rectangle 18"/>
          <p:cNvSpPr/>
          <p:nvPr/>
        </p:nvSpPr>
        <p:spPr>
          <a:xfrm>
            <a:off x="4651685" y="2145448"/>
            <a:ext cx="4332508" cy="738664"/>
          </a:xfrm>
          <a:prstGeom prst="rect">
            <a:avLst/>
          </a:prstGeom>
        </p:spPr>
        <p:txBody>
          <a:bodyPr wrap="square">
            <a:spAutoFit/>
          </a:bodyPr>
          <a:lstStyle/>
          <a:p>
            <a:r>
              <a:rPr lang="en-US" sz="600" dirty="0" smtClean="0"/>
              <a:t>root@GPU10</a:t>
            </a:r>
            <a:r>
              <a:rPr lang="en-US" sz="600" dirty="0"/>
              <a:t>:/</a:t>
            </a:r>
            <a:r>
              <a:rPr lang="en-US" sz="600" dirty="0" err="1"/>
              <a:t>etc</a:t>
            </a:r>
            <a:r>
              <a:rPr lang="en-US" sz="600" dirty="0"/>
              <a:t>/</a:t>
            </a:r>
            <a:r>
              <a:rPr lang="en-US" sz="600" dirty="0" err="1"/>
              <a:t>docker</a:t>
            </a:r>
            <a:r>
              <a:rPr lang="en-US" sz="600" dirty="0"/>
              <a:t>/registry# cat /</a:t>
            </a:r>
            <a:r>
              <a:rPr lang="en-US" sz="600" dirty="0" err="1"/>
              <a:t>etc</a:t>
            </a:r>
            <a:r>
              <a:rPr lang="en-US" sz="600" dirty="0"/>
              <a:t>/</a:t>
            </a:r>
            <a:r>
              <a:rPr lang="en-US" sz="600" dirty="0" err="1"/>
              <a:t>docker</a:t>
            </a:r>
            <a:r>
              <a:rPr lang="en-US" sz="600" dirty="0"/>
              <a:t>/</a:t>
            </a:r>
            <a:r>
              <a:rPr lang="en-US" sz="600" dirty="0" err="1"/>
              <a:t>daemon.json</a:t>
            </a:r>
            <a:r>
              <a:rPr lang="en-US" sz="600" dirty="0"/>
              <a:t> </a:t>
            </a:r>
          </a:p>
          <a:p>
            <a:r>
              <a:rPr lang="en-US" sz="600" dirty="0"/>
              <a:t>{</a:t>
            </a:r>
          </a:p>
          <a:p>
            <a:r>
              <a:rPr lang="en-US" sz="600" dirty="0"/>
              <a:t>  "insecure-registries": </a:t>
            </a:r>
            <a:r>
              <a:rPr lang="en-US" sz="600" dirty="0" smtClean="0"/>
              <a:t>["GPU10:5000</a:t>
            </a:r>
            <a:r>
              <a:rPr lang="en-US" sz="600" dirty="0"/>
              <a:t>"],</a:t>
            </a:r>
          </a:p>
          <a:p>
            <a:r>
              <a:rPr lang="en-US" sz="600" dirty="0"/>
              <a:t>  "registry-mirrors": ["http</a:t>
            </a:r>
            <a:r>
              <a:rPr lang="en-US" sz="600" dirty="0" smtClean="0"/>
              <a:t>://GPU10:5000</a:t>
            </a:r>
            <a:r>
              <a:rPr lang="en-US" sz="600" dirty="0"/>
              <a:t>"]</a:t>
            </a:r>
          </a:p>
          <a:p>
            <a:r>
              <a:rPr lang="en-US" sz="600" dirty="0"/>
              <a:t>}</a:t>
            </a:r>
          </a:p>
          <a:p>
            <a:endParaRPr lang="en-US" sz="600" dirty="0"/>
          </a:p>
          <a:p>
            <a:r>
              <a:rPr lang="en-US" sz="600" dirty="0" smtClean="0"/>
              <a:t>root@GPU10</a:t>
            </a:r>
            <a:r>
              <a:rPr lang="en-US" sz="600" dirty="0"/>
              <a:t>:/</a:t>
            </a:r>
            <a:r>
              <a:rPr lang="en-US" sz="600" dirty="0" err="1"/>
              <a:t>etc</a:t>
            </a:r>
            <a:r>
              <a:rPr lang="en-US" sz="600" dirty="0"/>
              <a:t>/</a:t>
            </a:r>
            <a:r>
              <a:rPr lang="en-US" sz="600" dirty="0" err="1"/>
              <a:t>docker</a:t>
            </a:r>
            <a:r>
              <a:rPr lang="en-US" sz="600" dirty="0"/>
              <a:t>/registry# </a:t>
            </a:r>
            <a:r>
              <a:rPr lang="en-US" sz="600" dirty="0" err="1"/>
              <a:t>systemctl</a:t>
            </a:r>
            <a:r>
              <a:rPr lang="en-US" sz="600" dirty="0"/>
              <a:t> restart </a:t>
            </a:r>
            <a:r>
              <a:rPr lang="en-US" sz="600" dirty="0" err="1"/>
              <a:t>docker</a:t>
            </a:r>
            <a:endParaRPr lang="en-US" sz="600" dirty="0"/>
          </a:p>
        </p:txBody>
      </p:sp>
      <p:sp>
        <p:nvSpPr>
          <p:cNvPr id="20" name="Rectangle 19"/>
          <p:cNvSpPr/>
          <p:nvPr/>
        </p:nvSpPr>
        <p:spPr>
          <a:xfrm>
            <a:off x="4651685" y="2124123"/>
            <a:ext cx="4371369" cy="75998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1" name="Rectangle 20"/>
          <p:cNvSpPr/>
          <p:nvPr/>
        </p:nvSpPr>
        <p:spPr>
          <a:xfrm>
            <a:off x="4597096" y="2912146"/>
            <a:ext cx="4425960" cy="276999"/>
          </a:xfrm>
          <a:prstGeom prst="rect">
            <a:avLst/>
          </a:prstGeom>
        </p:spPr>
        <p:txBody>
          <a:bodyPr wrap="square">
            <a:spAutoFit/>
          </a:bodyPr>
          <a:lstStyle/>
          <a:p>
            <a:r>
              <a:rPr lang="en-US" sz="1200" dirty="0"/>
              <a:t>Test </a:t>
            </a:r>
            <a:r>
              <a:rPr lang="en-US" sz="1200" dirty="0" err="1"/>
              <a:t>docker</a:t>
            </a:r>
            <a:r>
              <a:rPr lang="en-US" sz="1200" dirty="0"/>
              <a:t> registry</a:t>
            </a:r>
            <a:endParaRPr lang="en-US" sz="1200" b="1" dirty="0">
              <a:solidFill>
                <a:srgbClr val="002060"/>
              </a:solidFill>
            </a:endParaRPr>
          </a:p>
        </p:txBody>
      </p:sp>
      <p:sp>
        <p:nvSpPr>
          <p:cNvPr id="22" name="Rectangle 21"/>
          <p:cNvSpPr/>
          <p:nvPr/>
        </p:nvSpPr>
        <p:spPr>
          <a:xfrm>
            <a:off x="4651686" y="3179967"/>
            <a:ext cx="4332508" cy="1015663"/>
          </a:xfrm>
          <a:prstGeom prst="rect">
            <a:avLst/>
          </a:prstGeom>
        </p:spPr>
        <p:txBody>
          <a:bodyPr wrap="square">
            <a:spAutoFit/>
          </a:bodyPr>
          <a:lstStyle/>
          <a:p>
            <a:r>
              <a:rPr lang="en-US" sz="600" dirty="0" smtClean="0"/>
              <a:t>root@GPU10</a:t>
            </a:r>
            <a:r>
              <a:rPr lang="en-US" sz="600" dirty="0"/>
              <a:t>:/</a:t>
            </a:r>
            <a:r>
              <a:rPr lang="en-US" sz="600" dirty="0" err="1"/>
              <a:t>etc</a:t>
            </a:r>
            <a:r>
              <a:rPr lang="en-US" sz="600" dirty="0"/>
              <a:t>/</a:t>
            </a:r>
            <a:r>
              <a:rPr lang="en-US" sz="600" dirty="0" err="1"/>
              <a:t>docker</a:t>
            </a:r>
            <a:r>
              <a:rPr lang="en-US" sz="600" dirty="0"/>
              <a:t>/registry# </a:t>
            </a:r>
            <a:r>
              <a:rPr lang="en-US" sz="600" dirty="0" err="1"/>
              <a:t>docker</a:t>
            </a:r>
            <a:r>
              <a:rPr lang="en-US" sz="600" dirty="0"/>
              <a:t> pull fedora</a:t>
            </a:r>
          </a:p>
          <a:p>
            <a:r>
              <a:rPr lang="en-US" sz="600" dirty="0"/>
              <a:t>Using default tag: latest</a:t>
            </a:r>
          </a:p>
          <a:p>
            <a:r>
              <a:rPr lang="en-US" sz="600" dirty="0"/>
              <a:t>latest: Pulling from library/fedora</a:t>
            </a:r>
          </a:p>
          <a:p>
            <a:r>
              <a:rPr lang="en-US" sz="600" dirty="0"/>
              <a:t>cb8b1ed77979: Pull complete </a:t>
            </a:r>
          </a:p>
          <a:p>
            <a:r>
              <a:rPr lang="en-US" sz="600" dirty="0"/>
              <a:t>Digest: sha256:f99efcddc4dd6736d8a88cc1ab6722098ec1d77dbf7aed9a7a514fc997ca08e0</a:t>
            </a:r>
          </a:p>
          <a:p>
            <a:r>
              <a:rPr lang="en-US" sz="600" dirty="0"/>
              <a:t>Status: Downloaded newer image for </a:t>
            </a:r>
            <a:r>
              <a:rPr lang="en-US" sz="600" dirty="0" err="1"/>
              <a:t>fedora:latest</a:t>
            </a:r>
            <a:endParaRPr lang="en-US" sz="600" dirty="0"/>
          </a:p>
          <a:p>
            <a:r>
              <a:rPr lang="en-US" sz="600" dirty="0"/>
              <a:t>docker.io/library/</a:t>
            </a:r>
            <a:r>
              <a:rPr lang="en-US" sz="600" dirty="0" err="1"/>
              <a:t>fedora:latest</a:t>
            </a:r>
            <a:endParaRPr lang="en-US" sz="600" dirty="0"/>
          </a:p>
          <a:p>
            <a:endParaRPr lang="en-US" sz="600" dirty="0"/>
          </a:p>
          <a:p>
            <a:r>
              <a:rPr lang="en-US" sz="600" dirty="0" smtClean="0"/>
              <a:t>root@GPU10</a:t>
            </a:r>
            <a:r>
              <a:rPr lang="en-US" sz="600" dirty="0"/>
              <a:t>:/</a:t>
            </a:r>
            <a:r>
              <a:rPr lang="en-US" sz="600" dirty="0" err="1"/>
              <a:t>etc</a:t>
            </a:r>
            <a:r>
              <a:rPr lang="en-US" sz="600" dirty="0"/>
              <a:t>/</a:t>
            </a:r>
            <a:r>
              <a:rPr lang="en-US" sz="600" dirty="0" err="1"/>
              <a:t>docker</a:t>
            </a:r>
            <a:r>
              <a:rPr lang="en-US" sz="600" dirty="0"/>
              <a:t>/registry# du -</a:t>
            </a:r>
            <a:r>
              <a:rPr lang="en-US" sz="600" dirty="0" err="1"/>
              <a:t>sh</a:t>
            </a:r>
            <a:r>
              <a:rPr lang="en-US" sz="600" dirty="0"/>
              <a:t> /</a:t>
            </a:r>
            <a:r>
              <a:rPr lang="en-US" sz="600" dirty="0" err="1"/>
              <a:t>mnt</a:t>
            </a:r>
            <a:r>
              <a:rPr lang="en-US" sz="600" dirty="0"/>
              <a:t>/</a:t>
            </a:r>
            <a:r>
              <a:rPr lang="en-US" sz="600" dirty="0" err="1"/>
              <a:t>docker</a:t>
            </a:r>
            <a:r>
              <a:rPr lang="en-US" sz="600" dirty="0"/>
              <a:t>-registry-data/</a:t>
            </a:r>
            <a:r>
              <a:rPr lang="en-US" sz="600" dirty="0" err="1"/>
              <a:t>docker</a:t>
            </a:r>
            <a:r>
              <a:rPr lang="en-US" sz="600" dirty="0"/>
              <a:t>/registry/v2/</a:t>
            </a:r>
          </a:p>
          <a:p>
            <a:r>
              <a:rPr lang="en-US" sz="600" dirty="0"/>
              <a:t>64M	/</a:t>
            </a:r>
            <a:r>
              <a:rPr lang="en-US" sz="600" dirty="0" err="1"/>
              <a:t>mnt</a:t>
            </a:r>
            <a:r>
              <a:rPr lang="en-US" sz="600" dirty="0"/>
              <a:t>/</a:t>
            </a:r>
            <a:r>
              <a:rPr lang="en-US" sz="600" dirty="0" err="1"/>
              <a:t>docker</a:t>
            </a:r>
            <a:r>
              <a:rPr lang="en-US" sz="600" dirty="0"/>
              <a:t>-registry-data/</a:t>
            </a:r>
            <a:r>
              <a:rPr lang="en-US" sz="600" dirty="0" err="1"/>
              <a:t>docker</a:t>
            </a:r>
            <a:r>
              <a:rPr lang="en-US" sz="600" dirty="0"/>
              <a:t>/registry/v2/</a:t>
            </a:r>
          </a:p>
        </p:txBody>
      </p:sp>
      <p:sp>
        <p:nvSpPr>
          <p:cNvPr id="23" name="Rectangle 22"/>
          <p:cNvSpPr/>
          <p:nvPr/>
        </p:nvSpPr>
        <p:spPr>
          <a:xfrm>
            <a:off x="4651686" y="3158642"/>
            <a:ext cx="4371369" cy="75998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 name="Rectangle 1"/>
          <p:cNvSpPr/>
          <p:nvPr/>
        </p:nvSpPr>
        <p:spPr>
          <a:xfrm>
            <a:off x="4756245" y="4175700"/>
            <a:ext cx="4212219" cy="600164"/>
          </a:xfrm>
          <a:prstGeom prst="rect">
            <a:avLst/>
          </a:prstGeom>
        </p:spPr>
        <p:txBody>
          <a:bodyPr wrap="square">
            <a:spAutoFit/>
          </a:bodyPr>
          <a:lstStyle/>
          <a:p>
            <a:pPr algn="just"/>
            <a:r>
              <a:rPr lang="en-US" sz="1100" dirty="0"/>
              <a:t>NOTE: </a:t>
            </a:r>
            <a:r>
              <a:rPr lang="en-US" sz="1100" dirty="0" err="1"/>
              <a:t>docker</a:t>
            </a:r>
            <a:r>
              <a:rPr lang="en-US" sz="1100" dirty="0"/>
              <a:t> will query configured registry mirror which trigger mirror download image. You should see image data usage increased in "/</a:t>
            </a:r>
            <a:r>
              <a:rPr lang="en-US" sz="1100" dirty="0" err="1"/>
              <a:t>mnt</a:t>
            </a:r>
            <a:r>
              <a:rPr lang="en-US" sz="1100" dirty="0"/>
              <a:t>/</a:t>
            </a:r>
            <a:r>
              <a:rPr lang="en-US" sz="1100" dirty="0" err="1"/>
              <a:t>docker</a:t>
            </a:r>
            <a:r>
              <a:rPr lang="en-US" sz="1100" dirty="0"/>
              <a:t>-registry-data/</a:t>
            </a:r>
            <a:r>
              <a:rPr lang="en-US" sz="1100" dirty="0" err="1"/>
              <a:t>docker</a:t>
            </a:r>
            <a:r>
              <a:rPr lang="en-US" sz="1100" dirty="0"/>
              <a:t>/registry/v2/blobs/" )</a:t>
            </a:r>
          </a:p>
        </p:txBody>
      </p:sp>
    </p:spTree>
    <p:extLst>
      <p:ext uri="{BB962C8B-B14F-4D97-AF65-F5344CB8AC3E}">
        <p14:creationId xmlns:p14="http://schemas.microsoft.com/office/powerpoint/2010/main" val="448946087"/>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6" name="Rectangle 5"/>
          <p:cNvSpPr/>
          <p:nvPr/>
        </p:nvSpPr>
        <p:spPr>
          <a:xfrm>
            <a:off x="46229" y="436602"/>
            <a:ext cx="3625019" cy="461665"/>
          </a:xfrm>
          <a:prstGeom prst="rect">
            <a:avLst/>
          </a:prstGeom>
        </p:spPr>
        <p:txBody>
          <a:bodyPr wrap="square">
            <a:spAutoFit/>
          </a:bodyPr>
          <a:lstStyle/>
          <a:p>
            <a:pPr algn="just"/>
            <a:r>
              <a:rPr lang="en-US" sz="1200" dirty="0"/>
              <a:t>If test success, configure </a:t>
            </a:r>
            <a:r>
              <a:rPr lang="en-US" sz="1200" b="1" dirty="0"/>
              <a:t>/</a:t>
            </a:r>
            <a:r>
              <a:rPr lang="en-US" sz="1200" b="1" dirty="0" err="1"/>
              <a:t>etc</a:t>
            </a:r>
            <a:r>
              <a:rPr lang="en-US" sz="1200" b="1" dirty="0"/>
              <a:t>/</a:t>
            </a:r>
            <a:r>
              <a:rPr lang="en-US" sz="1200" b="1" dirty="0" err="1"/>
              <a:t>docker</a:t>
            </a:r>
            <a:r>
              <a:rPr lang="en-US" sz="1200" b="1" dirty="0"/>
              <a:t>/</a:t>
            </a:r>
            <a:r>
              <a:rPr lang="en-US" sz="1200" b="1" dirty="0" err="1"/>
              <a:t>daemon.json</a:t>
            </a:r>
            <a:r>
              <a:rPr lang="en-US" sz="1200" dirty="0"/>
              <a:t> on all OpenStack nodes. For example on controller host:</a:t>
            </a:r>
            <a:endParaRPr lang="en-US" sz="1200" b="1" dirty="0">
              <a:solidFill>
                <a:srgbClr val="002060"/>
              </a:solidFill>
            </a:endParaRPr>
          </a:p>
        </p:txBody>
      </p:sp>
      <p:sp>
        <p:nvSpPr>
          <p:cNvPr id="4" name="Rectangle 3"/>
          <p:cNvSpPr/>
          <p:nvPr/>
        </p:nvSpPr>
        <p:spPr>
          <a:xfrm>
            <a:off x="93414" y="931910"/>
            <a:ext cx="4332508" cy="1015663"/>
          </a:xfrm>
          <a:prstGeom prst="rect">
            <a:avLst/>
          </a:prstGeom>
        </p:spPr>
        <p:txBody>
          <a:bodyPr wrap="square">
            <a:spAutoFit/>
          </a:bodyPr>
          <a:lstStyle/>
          <a:p>
            <a:r>
              <a:rPr lang="en-US" sz="600" dirty="0" smtClean="0"/>
              <a:t>ubuntu@GPU111</a:t>
            </a:r>
            <a:r>
              <a:rPr lang="en-US" sz="600" dirty="0"/>
              <a:t>:~$ cat /</a:t>
            </a:r>
            <a:r>
              <a:rPr lang="en-US" sz="600" dirty="0" err="1"/>
              <a:t>etc</a:t>
            </a:r>
            <a:r>
              <a:rPr lang="en-US" sz="600" dirty="0"/>
              <a:t>/</a:t>
            </a:r>
            <a:r>
              <a:rPr lang="en-US" sz="600" dirty="0" err="1"/>
              <a:t>docker</a:t>
            </a:r>
            <a:r>
              <a:rPr lang="en-US" sz="600" dirty="0"/>
              <a:t>/</a:t>
            </a:r>
            <a:r>
              <a:rPr lang="en-US" sz="600" dirty="0" err="1"/>
              <a:t>daemon.json</a:t>
            </a:r>
            <a:r>
              <a:rPr lang="en-US" sz="600" dirty="0"/>
              <a:t> </a:t>
            </a:r>
          </a:p>
          <a:p>
            <a:r>
              <a:rPr lang="en-US" sz="600" dirty="0"/>
              <a:t>{</a:t>
            </a:r>
          </a:p>
          <a:p>
            <a:r>
              <a:rPr lang="en-US" sz="600" dirty="0"/>
              <a:t>    "bridge": "none",</a:t>
            </a:r>
          </a:p>
          <a:p>
            <a:r>
              <a:rPr lang="en-US" sz="600" dirty="0"/>
              <a:t>    "</a:t>
            </a:r>
            <a:r>
              <a:rPr lang="en-US" sz="600" dirty="0" err="1"/>
              <a:t>ip</a:t>
            </a:r>
            <a:r>
              <a:rPr lang="en-US" sz="600" dirty="0"/>
              <a:t>-forward": false,</a:t>
            </a:r>
          </a:p>
          <a:p>
            <a:r>
              <a:rPr lang="en-US" sz="600" dirty="0"/>
              <a:t>    "</a:t>
            </a:r>
            <a:r>
              <a:rPr lang="en-US" sz="600" dirty="0" err="1"/>
              <a:t>iptables</a:t>
            </a:r>
            <a:r>
              <a:rPr lang="en-US" sz="600" dirty="0"/>
              <a:t>": false,</a:t>
            </a:r>
          </a:p>
          <a:p>
            <a:r>
              <a:rPr lang="en-US" sz="600" dirty="0"/>
              <a:t>    "insecure-registries" : </a:t>
            </a:r>
            <a:r>
              <a:rPr lang="en-US" sz="600" dirty="0" smtClean="0"/>
              <a:t>["GPU10:5000</a:t>
            </a:r>
            <a:r>
              <a:rPr lang="en-US" sz="600" dirty="0"/>
              <a:t>"],</a:t>
            </a:r>
          </a:p>
          <a:p>
            <a:r>
              <a:rPr lang="en-US" sz="600" dirty="0"/>
              <a:t>    "registry-mirrors": ["http</a:t>
            </a:r>
            <a:r>
              <a:rPr lang="en-US" sz="600" dirty="0" smtClean="0"/>
              <a:t>://GPU10:5000</a:t>
            </a:r>
            <a:r>
              <a:rPr lang="en-US" sz="600" dirty="0"/>
              <a:t>"]</a:t>
            </a:r>
          </a:p>
          <a:p>
            <a:r>
              <a:rPr lang="en-US" sz="600" dirty="0"/>
              <a:t>}</a:t>
            </a:r>
          </a:p>
          <a:p>
            <a:endParaRPr lang="en-US" sz="600" dirty="0"/>
          </a:p>
          <a:p>
            <a:r>
              <a:rPr lang="en-US" sz="600" dirty="0" smtClean="0"/>
              <a:t>ubuntu@GPU111</a:t>
            </a:r>
            <a:r>
              <a:rPr lang="en-US" sz="600" dirty="0"/>
              <a:t>:~$ </a:t>
            </a:r>
            <a:r>
              <a:rPr lang="en-US" sz="600" dirty="0" err="1"/>
              <a:t>sudo</a:t>
            </a:r>
            <a:r>
              <a:rPr lang="en-US" sz="600" dirty="0"/>
              <a:t> </a:t>
            </a:r>
            <a:r>
              <a:rPr lang="en-US" sz="600" dirty="0" err="1"/>
              <a:t>systemctl</a:t>
            </a:r>
            <a:r>
              <a:rPr lang="en-US" sz="600" dirty="0"/>
              <a:t> restart </a:t>
            </a:r>
            <a:r>
              <a:rPr lang="en-US" sz="600" dirty="0" err="1"/>
              <a:t>docker</a:t>
            </a:r>
            <a:endParaRPr lang="en-US" sz="600" dirty="0"/>
          </a:p>
        </p:txBody>
      </p:sp>
      <p:sp>
        <p:nvSpPr>
          <p:cNvPr id="7" name="Rectangle 6"/>
          <p:cNvSpPr/>
          <p:nvPr/>
        </p:nvSpPr>
        <p:spPr>
          <a:xfrm>
            <a:off x="93414" y="910585"/>
            <a:ext cx="3959971" cy="1136579"/>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8" name="Rectangle 7"/>
          <p:cNvSpPr/>
          <p:nvPr/>
        </p:nvSpPr>
        <p:spPr>
          <a:xfrm>
            <a:off x="93414" y="2239173"/>
            <a:ext cx="3625019" cy="276999"/>
          </a:xfrm>
          <a:prstGeom prst="rect">
            <a:avLst/>
          </a:prstGeom>
        </p:spPr>
        <p:txBody>
          <a:bodyPr wrap="square">
            <a:spAutoFit/>
          </a:bodyPr>
          <a:lstStyle/>
          <a:p>
            <a:pPr algn="just"/>
            <a:r>
              <a:rPr lang="en-US" sz="1200" dirty="0"/>
              <a:t>Edit </a:t>
            </a:r>
            <a:r>
              <a:rPr lang="en-US" sz="1200" dirty="0" err="1"/>
              <a:t>globals.yml</a:t>
            </a:r>
            <a:endParaRPr lang="en-US" sz="1200" b="1" dirty="0">
              <a:solidFill>
                <a:srgbClr val="002060"/>
              </a:solidFill>
            </a:endParaRPr>
          </a:p>
        </p:txBody>
      </p:sp>
      <p:sp>
        <p:nvSpPr>
          <p:cNvPr id="9" name="Rectangle 8"/>
          <p:cNvSpPr/>
          <p:nvPr/>
        </p:nvSpPr>
        <p:spPr>
          <a:xfrm>
            <a:off x="140599" y="2491331"/>
            <a:ext cx="4332508" cy="276999"/>
          </a:xfrm>
          <a:prstGeom prst="rect">
            <a:avLst/>
          </a:prstGeom>
        </p:spPr>
        <p:txBody>
          <a:bodyPr wrap="square">
            <a:spAutoFit/>
          </a:bodyPr>
          <a:lstStyle/>
          <a:p>
            <a:r>
              <a:rPr lang="en-US" sz="600" dirty="0" err="1"/>
              <a:t>docker_registry</a:t>
            </a:r>
            <a:r>
              <a:rPr lang="en-US" sz="600" dirty="0"/>
              <a:t>: </a:t>
            </a:r>
            <a:r>
              <a:rPr lang="en-US" sz="600" dirty="0" smtClean="0"/>
              <a:t>GPU10:5000</a:t>
            </a:r>
            <a:endParaRPr lang="en-US" sz="600" dirty="0"/>
          </a:p>
          <a:p>
            <a:r>
              <a:rPr lang="en-US" sz="600" dirty="0" err="1"/>
              <a:t>docker_registry_insecure</a:t>
            </a:r>
            <a:r>
              <a:rPr lang="en-US" sz="600" dirty="0"/>
              <a:t>: "yes"</a:t>
            </a:r>
          </a:p>
        </p:txBody>
      </p:sp>
      <p:sp>
        <p:nvSpPr>
          <p:cNvPr id="10" name="Rectangle 9"/>
          <p:cNvSpPr/>
          <p:nvPr/>
        </p:nvSpPr>
        <p:spPr>
          <a:xfrm>
            <a:off x="140599" y="2470007"/>
            <a:ext cx="3959971" cy="29832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1" name="Rectangle 10"/>
          <p:cNvSpPr/>
          <p:nvPr/>
        </p:nvSpPr>
        <p:spPr>
          <a:xfrm>
            <a:off x="140599" y="2910769"/>
            <a:ext cx="3625019" cy="276999"/>
          </a:xfrm>
          <a:prstGeom prst="rect">
            <a:avLst/>
          </a:prstGeom>
        </p:spPr>
        <p:txBody>
          <a:bodyPr wrap="square">
            <a:spAutoFit/>
          </a:bodyPr>
          <a:lstStyle/>
          <a:p>
            <a:pPr algn="just"/>
            <a:r>
              <a:rPr lang="en-US" sz="1200" dirty="0"/>
              <a:t>Run </a:t>
            </a:r>
            <a:r>
              <a:rPr lang="en-US" sz="1200" dirty="0" err="1"/>
              <a:t>kolla-ansible</a:t>
            </a:r>
            <a:endParaRPr lang="en-US" sz="1200" b="1" dirty="0">
              <a:solidFill>
                <a:srgbClr val="002060"/>
              </a:solidFill>
            </a:endParaRPr>
          </a:p>
        </p:txBody>
      </p:sp>
      <p:sp>
        <p:nvSpPr>
          <p:cNvPr id="12" name="Rectangle 11"/>
          <p:cNvSpPr/>
          <p:nvPr/>
        </p:nvSpPr>
        <p:spPr>
          <a:xfrm>
            <a:off x="187784" y="3162927"/>
            <a:ext cx="4332508" cy="184666"/>
          </a:xfrm>
          <a:prstGeom prst="rect">
            <a:avLst/>
          </a:prstGeom>
        </p:spPr>
        <p:txBody>
          <a:bodyPr wrap="square">
            <a:spAutoFit/>
          </a:bodyPr>
          <a:lstStyle/>
          <a:p>
            <a:r>
              <a:rPr lang="en-US" sz="600" dirty="0"/>
              <a:t>(</a:t>
            </a:r>
            <a:r>
              <a:rPr lang="en-US" sz="600" dirty="0" err="1"/>
              <a:t>kolla-ansible-venv</a:t>
            </a:r>
            <a:r>
              <a:rPr lang="en-US" sz="600" dirty="0"/>
              <a:t>) </a:t>
            </a:r>
            <a:r>
              <a:rPr lang="en-US" sz="600" dirty="0" smtClean="0"/>
              <a:t>amel@GPU10</a:t>
            </a:r>
            <a:r>
              <a:rPr lang="en-US" sz="600" dirty="0"/>
              <a:t>:/</a:t>
            </a:r>
            <a:r>
              <a:rPr lang="en-US" sz="600" dirty="0" err="1"/>
              <a:t>etc</a:t>
            </a:r>
            <a:r>
              <a:rPr lang="en-US" sz="600" dirty="0"/>
              <a:t>/</a:t>
            </a:r>
            <a:r>
              <a:rPr lang="en-US" sz="600" dirty="0" err="1"/>
              <a:t>kolla</a:t>
            </a:r>
            <a:r>
              <a:rPr lang="en-US" sz="600" dirty="0"/>
              <a:t>$ </a:t>
            </a:r>
            <a:r>
              <a:rPr lang="en-US" sz="600" dirty="0" err="1"/>
              <a:t>kolla-ansible</a:t>
            </a:r>
            <a:r>
              <a:rPr lang="en-US" sz="600" dirty="0"/>
              <a:t> -</a:t>
            </a:r>
            <a:r>
              <a:rPr lang="en-US" sz="600" dirty="0" err="1"/>
              <a:t>i</a:t>
            </a:r>
            <a:r>
              <a:rPr lang="en-US" sz="600" dirty="0"/>
              <a:t> </a:t>
            </a:r>
            <a:r>
              <a:rPr lang="en-US" sz="600" dirty="0" err="1"/>
              <a:t>multinode</a:t>
            </a:r>
            <a:r>
              <a:rPr lang="en-US" sz="600" dirty="0"/>
              <a:t> deploy</a:t>
            </a:r>
          </a:p>
        </p:txBody>
      </p:sp>
      <p:sp>
        <p:nvSpPr>
          <p:cNvPr id="13" name="Rectangle 12"/>
          <p:cNvSpPr/>
          <p:nvPr/>
        </p:nvSpPr>
        <p:spPr>
          <a:xfrm>
            <a:off x="187784" y="3141603"/>
            <a:ext cx="3959971" cy="298324"/>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2" name="Rectangle 1"/>
          <p:cNvSpPr/>
          <p:nvPr/>
        </p:nvSpPr>
        <p:spPr>
          <a:xfrm>
            <a:off x="140599" y="3600285"/>
            <a:ext cx="3625019" cy="938719"/>
          </a:xfrm>
          <a:prstGeom prst="rect">
            <a:avLst/>
          </a:prstGeom>
        </p:spPr>
        <p:txBody>
          <a:bodyPr wrap="square">
            <a:spAutoFit/>
          </a:bodyPr>
          <a:lstStyle/>
          <a:p>
            <a:pPr algn="just"/>
            <a:r>
              <a:rPr lang="en-US" sz="1100" dirty="0"/>
              <a:t>NOTE: Do not run </a:t>
            </a:r>
            <a:r>
              <a:rPr lang="en-US" sz="1100" dirty="0" err="1"/>
              <a:t>kolla-ansible</a:t>
            </a:r>
            <a:r>
              <a:rPr lang="en-US" sz="1100" dirty="0"/>
              <a:t> </a:t>
            </a:r>
            <a:r>
              <a:rPr lang="en-US" sz="1100" dirty="0" err="1"/>
              <a:t>precheck</a:t>
            </a:r>
            <a:r>
              <a:rPr lang="en-US" sz="1100" dirty="0"/>
              <a:t>, it removes "registry-mirrors" in </a:t>
            </a:r>
            <a:r>
              <a:rPr lang="en-US" sz="1100" dirty="0" err="1"/>
              <a:t>docker</a:t>
            </a:r>
            <a:r>
              <a:rPr lang="en-US" sz="1100" dirty="0"/>
              <a:t> daemon </a:t>
            </a:r>
            <a:r>
              <a:rPr lang="en-US" sz="1100" dirty="0" err="1"/>
              <a:t>config</a:t>
            </a:r>
            <a:r>
              <a:rPr lang="en-US" sz="1100" dirty="0" smtClean="0"/>
              <a:t>.</a:t>
            </a:r>
          </a:p>
          <a:p>
            <a:pPr algn="just"/>
            <a:endParaRPr lang="en-US" sz="1100" dirty="0"/>
          </a:p>
          <a:p>
            <a:pPr algn="just"/>
            <a:r>
              <a:rPr lang="en-US" sz="1100" dirty="0" smtClean="0"/>
              <a:t>NOTE</a:t>
            </a:r>
            <a:r>
              <a:rPr lang="en-US" sz="1100" dirty="0"/>
              <a:t>: We have to set "insecure-registries" because we do not use https.</a:t>
            </a:r>
          </a:p>
        </p:txBody>
      </p:sp>
      <p:sp>
        <p:nvSpPr>
          <p:cNvPr id="14" name="Rectangle 13"/>
          <p:cNvSpPr/>
          <p:nvPr/>
        </p:nvSpPr>
        <p:spPr>
          <a:xfrm>
            <a:off x="4147755" y="442843"/>
            <a:ext cx="3625019" cy="461665"/>
          </a:xfrm>
          <a:prstGeom prst="rect">
            <a:avLst/>
          </a:prstGeom>
        </p:spPr>
        <p:txBody>
          <a:bodyPr wrap="square">
            <a:spAutoFit/>
          </a:bodyPr>
          <a:lstStyle/>
          <a:p>
            <a:r>
              <a:rPr lang="en-US" sz="1200" b="1" dirty="0"/>
              <a:t>Troubleshoot</a:t>
            </a:r>
          </a:p>
          <a:p>
            <a:r>
              <a:rPr lang="en-US" sz="1200" dirty="0"/>
              <a:t>Error when use local </a:t>
            </a:r>
            <a:r>
              <a:rPr lang="en-US" sz="1200" dirty="0" err="1"/>
              <a:t>docker</a:t>
            </a:r>
            <a:r>
              <a:rPr lang="en-US" sz="1200" dirty="0"/>
              <a:t> registry.</a:t>
            </a:r>
          </a:p>
        </p:txBody>
      </p:sp>
      <p:sp>
        <p:nvSpPr>
          <p:cNvPr id="15" name="Rectangle 14"/>
          <p:cNvSpPr/>
          <p:nvPr/>
        </p:nvSpPr>
        <p:spPr>
          <a:xfrm>
            <a:off x="4194939" y="1013394"/>
            <a:ext cx="4757991" cy="1846659"/>
          </a:xfrm>
          <a:prstGeom prst="rect">
            <a:avLst/>
          </a:prstGeom>
        </p:spPr>
        <p:txBody>
          <a:bodyPr wrap="square">
            <a:spAutoFit/>
          </a:bodyPr>
          <a:lstStyle/>
          <a:p>
            <a:r>
              <a:rPr lang="en-US" sz="600" dirty="0"/>
              <a:t>RUNNING HANDLER [common : Restart </a:t>
            </a:r>
            <a:r>
              <a:rPr lang="en-US" sz="600" dirty="0" err="1"/>
              <a:t>fluentd</a:t>
            </a:r>
            <a:r>
              <a:rPr lang="en-US" sz="600" dirty="0"/>
              <a:t> container] ****************************************************************************************</a:t>
            </a:r>
          </a:p>
          <a:p>
            <a:r>
              <a:rPr lang="en-US" sz="600" dirty="0"/>
              <a:t>fatal: </a:t>
            </a:r>
            <a:r>
              <a:rPr lang="en-US" sz="600" dirty="0" smtClean="0"/>
              <a:t>[GPU111</a:t>
            </a:r>
            <a:r>
              <a:rPr lang="en-US" sz="600" dirty="0"/>
              <a:t>]: FAILED! =&gt; {"changed": true, "</a:t>
            </a:r>
            <a:r>
              <a:rPr lang="en-US" sz="600" dirty="0" err="1"/>
              <a:t>msg</a:t>
            </a:r>
            <a:r>
              <a:rPr lang="en-US" sz="600" dirty="0"/>
              <a:t>": "'</a:t>
            </a:r>
            <a:r>
              <a:rPr lang="en-US" sz="600" dirty="0" err="1"/>
              <a:t>Traceback</a:t>
            </a:r>
            <a:r>
              <a:rPr lang="en-US" sz="600" dirty="0"/>
              <a:t> (most recent call last):\\n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a:t>
            </a:r>
            <a:r>
              <a:rPr lang="en-US" sz="600" dirty="0" err="1"/>
              <a:t>api</a:t>
            </a:r>
            <a:r>
              <a:rPr lang="en-US" sz="600" dirty="0"/>
              <a:t>/client.py\", line 268, in _</a:t>
            </a:r>
            <a:r>
              <a:rPr lang="en-US" sz="600" dirty="0" err="1"/>
              <a:t>raise_for_status</a:t>
            </a:r>
            <a:r>
              <a:rPr lang="en-US" sz="600" dirty="0"/>
              <a:t>\\n    </a:t>
            </a:r>
            <a:r>
              <a:rPr lang="en-US" sz="600" dirty="0" err="1"/>
              <a:t>response.raise_for_status</a:t>
            </a:r>
            <a:r>
              <a:rPr lang="en-US" sz="600" dirty="0"/>
              <a:t>()\\n  File \"/</a:t>
            </a:r>
            <a:r>
              <a:rPr lang="en-US" sz="600" dirty="0" err="1"/>
              <a:t>usr</a:t>
            </a:r>
            <a:r>
              <a:rPr lang="en-US" sz="600" dirty="0"/>
              <a:t>/lib/python3/</a:t>
            </a:r>
            <a:r>
              <a:rPr lang="en-US" sz="600" dirty="0" err="1"/>
              <a:t>dist</a:t>
            </a:r>
            <a:r>
              <a:rPr lang="en-US" sz="600" dirty="0"/>
              <a:t>-packages/requests/models.py\", line 940, in </a:t>
            </a:r>
            <a:r>
              <a:rPr lang="en-US" sz="600" dirty="0" err="1"/>
              <a:t>raise_for_status</a:t>
            </a:r>
            <a:r>
              <a:rPr lang="en-US" sz="600" dirty="0"/>
              <a:t>\\n    raise </a:t>
            </a:r>
            <a:r>
              <a:rPr lang="en-US" sz="600" dirty="0" err="1"/>
              <a:t>HTTPError</a:t>
            </a:r>
            <a:r>
              <a:rPr lang="en-US" sz="600" dirty="0"/>
              <a:t>(</a:t>
            </a:r>
            <a:r>
              <a:rPr lang="en-US" sz="600" dirty="0" err="1"/>
              <a:t>http_error_msg</a:t>
            </a:r>
            <a:r>
              <a:rPr lang="en-US" sz="600" dirty="0"/>
              <a:t>, response=self)\\</a:t>
            </a:r>
            <a:r>
              <a:rPr lang="en-US" sz="600" dirty="0" err="1"/>
              <a:t>nrequests.exceptions.HTTPError</a:t>
            </a:r>
            <a:r>
              <a:rPr lang="en-US" sz="600" dirty="0"/>
              <a:t>: 500 Server Error: Internal Server Error for url: </a:t>
            </a:r>
            <a:r>
              <a:rPr lang="en-US" sz="600" dirty="0" err="1"/>
              <a:t>http+docker</a:t>
            </a:r>
            <a:r>
              <a:rPr lang="en-US" sz="600" dirty="0"/>
              <a:t>://</a:t>
            </a:r>
            <a:r>
              <a:rPr lang="en-US" sz="600" dirty="0" smtClean="0"/>
              <a:t>localhost/v1.41/images/</a:t>
            </a:r>
            <a:r>
              <a:rPr lang="en-US" sz="600" dirty="0" err="1" smtClean="0"/>
              <a:t>create?tag</a:t>
            </a:r>
            <a:r>
              <a:rPr lang="en-US" sz="600" dirty="0" smtClean="0"/>
              <a:t>=master-rocky-9&amp;fromImage=GPU10%3A4000%2Fopenstack.kolla%2Ffluentd</a:t>
            </a:r>
            <a:r>
              <a:rPr lang="en-US" sz="600" dirty="0"/>
              <a:t>\\n\\</a:t>
            </a:r>
            <a:r>
              <a:rPr lang="en-US" sz="600" dirty="0" err="1"/>
              <a:t>nDuring</a:t>
            </a:r>
            <a:r>
              <a:rPr lang="en-US" sz="600" dirty="0"/>
              <a:t> handling of the above exception, another exception occurred:\\n\\</a:t>
            </a:r>
            <a:r>
              <a:rPr lang="en-US" sz="600" dirty="0" err="1"/>
              <a:t>nTraceback</a:t>
            </a:r>
            <a:r>
              <a:rPr lang="en-US" sz="600" dirty="0"/>
              <a:t> (most recent call last):\\n  File \"/</a:t>
            </a:r>
            <a:r>
              <a:rPr lang="en-US" sz="600" dirty="0" err="1"/>
              <a:t>tmp</a:t>
            </a:r>
            <a:r>
              <a:rPr lang="en-US" sz="600" dirty="0"/>
              <a:t>/ansible_kolla_docker_payload_hl3f6zvw/ansible_kolla_docker_payload.zip/</a:t>
            </a:r>
            <a:r>
              <a:rPr lang="en-US" sz="600" dirty="0" err="1"/>
              <a:t>ansible</a:t>
            </a:r>
            <a:r>
              <a:rPr lang="en-US" sz="600" dirty="0"/>
              <a:t>/modules/kolla_docker.py\", line 381, in main\\n  File \"/</a:t>
            </a:r>
            <a:r>
              <a:rPr lang="en-US" sz="600" dirty="0" err="1"/>
              <a:t>tmp</a:t>
            </a:r>
            <a:r>
              <a:rPr lang="en-US" sz="600" dirty="0"/>
              <a:t>/ansible_kolla_docker_payload_hl3f6zvw/ansible_kolla_docker_payload.zip/</a:t>
            </a:r>
            <a:r>
              <a:rPr lang="en-US" sz="600" dirty="0" err="1"/>
              <a:t>ansible</a:t>
            </a:r>
            <a:r>
              <a:rPr lang="en-US" sz="600" dirty="0"/>
              <a:t>/</a:t>
            </a:r>
            <a:r>
              <a:rPr lang="en-US" sz="600" dirty="0" err="1"/>
              <a:t>module_utils</a:t>
            </a:r>
            <a:r>
              <a:rPr lang="en-US" sz="600" dirty="0"/>
              <a:t>/kolla_docker_worker.py\", line 660, in </a:t>
            </a:r>
            <a:r>
              <a:rPr lang="en-US" sz="600" dirty="0" err="1"/>
              <a:t>recreate_or_restart_container</a:t>
            </a:r>
            <a:r>
              <a:rPr lang="en-US" sz="600" dirty="0"/>
              <a:t>\\n    </a:t>
            </a:r>
            <a:r>
              <a:rPr lang="en-US" sz="600" dirty="0" err="1"/>
              <a:t>self.pull_image</a:t>
            </a:r>
            <a:r>
              <a:rPr lang="en-US" sz="600" dirty="0"/>
              <a:t>()\\n  File \"/</a:t>
            </a:r>
            <a:r>
              <a:rPr lang="en-US" sz="600" dirty="0" err="1"/>
              <a:t>tmp</a:t>
            </a:r>
            <a:r>
              <a:rPr lang="en-US" sz="600" dirty="0"/>
              <a:t>/ansible_kolla_docker_payload_hl3f6zvw/ansible_kolla_docker_payload.zip/</a:t>
            </a:r>
            <a:r>
              <a:rPr lang="en-US" sz="600" dirty="0" err="1"/>
              <a:t>ansible</a:t>
            </a:r>
            <a:r>
              <a:rPr lang="en-US" sz="600" dirty="0"/>
              <a:t>/</a:t>
            </a:r>
            <a:r>
              <a:rPr lang="en-US" sz="600" dirty="0" err="1"/>
              <a:t>module_utils</a:t>
            </a:r>
            <a:r>
              <a:rPr lang="en-US" sz="600" dirty="0"/>
              <a:t>/kolla_docker_worker.py\", line 450, in </a:t>
            </a:r>
            <a:r>
              <a:rPr lang="en-US" sz="600" dirty="0" err="1"/>
              <a:t>pull_image</a:t>
            </a:r>
            <a:r>
              <a:rPr lang="en-US" sz="600" dirty="0"/>
              <a:t>\\n    </a:t>
            </a:r>
            <a:r>
              <a:rPr lang="en-US" sz="600" dirty="0" err="1"/>
              <a:t>json.loads</a:t>
            </a:r>
            <a:r>
              <a:rPr lang="en-US" sz="600" dirty="0"/>
              <a:t>(</a:t>
            </a:r>
            <a:r>
              <a:rPr lang="en-US" sz="600" dirty="0" err="1"/>
              <a:t>line.strip</a:t>
            </a:r>
            <a:r>
              <a:rPr lang="en-US" sz="600" dirty="0"/>
              <a:t>().decode(\\'utf-8\\')) for line in </a:t>
            </a:r>
            <a:r>
              <a:rPr lang="en-US" sz="600" dirty="0" err="1"/>
              <a:t>self.dc.pull</a:t>
            </a:r>
            <a:r>
              <a:rPr lang="en-US" sz="600" dirty="0"/>
              <a:t>(\\n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a:t>
            </a:r>
            <a:r>
              <a:rPr lang="en-US" sz="600" dirty="0" err="1"/>
              <a:t>api</a:t>
            </a:r>
            <a:r>
              <a:rPr lang="en-US" sz="600" dirty="0"/>
              <a:t>/image.py\", line 430, in pull\\n    self._</a:t>
            </a:r>
            <a:r>
              <a:rPr lang="en-US" sz="600" dirty="0" err="1"/>
              <a:t>raise_for_status</a:t>
            </a:r>
            <a:r>
              <a:rPr lang="en-US" sz="600" dirty="0"/>
              <a:t>(response)\\n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a:t>
            </a:r>
            <a:r>
              <a:rPr lang="en-US" sz="600" dirty="0" err="1"/>
              <a:t>api</a:t>
            </a:r>
            <a:r>
              <a:rPr lang="en-US" sz="600" dirty="0"/>
              <a:t>/client.py\", line 270, in _</a:t>
            </a:r>
            <a:r>
              <a:rPr lang="en-US" sz="600" dirty="0" err="1"/>
              <a:t>raise_for_status</a:t>
            </a:r>
            <a:r>
              <a:rPr lang="en-US" sz="600" dirty="0"/>
              <a:t>\\n    raise </a:t>
            </a:r>
            <a:r>
              <a:rPr lang="en-US" sz="600" dirty="0" err="1"/>
              <a:t>create_api_error_from_http_exception</a:t>
            </a:r>
            <a:r>
              <a:rPr lang="en-US" sz="600" dirty="0"/>
              <a:t>(e)\\n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/errors.py\", line 31, in </a:t>
            </a:r>
            <a:r>
              <a:rPr lang="en-US" sz="600" dirty="0" err="1"/>
              <a:t>create_api_error_from_http_exception</a:t>
            </a:r>
            <a:r>
              <a:rPr lang="en-US" sz="600" dirty="0"/>
              <a:t>\\n    raise </a:t>
            </a:r>
            <a:r>
              <a:rPr lang="en-US" sz="600" dirty="0" err="1"/>
              <a:t>cls</a:t>
            </a:r>
            <a:r>
              <a:rPr lang="en-US" sz="600" dirty="0"/>
              <a:t>(e, response=response, explanation=explanation)\\</a:t>
            </a:r>
            <a:r>
              <a:rPr lang="en-US" sz="600" dirty="0" err="1"/>
              <a:t>ndocker.errors.APIError</a:t>
            </a:r>
            <a:r>
              <a:rPr lang="en-US" sz="600" dirty="0"/>
              <a:t>: 500 Server Error for </a:t>
            </a:r>
            <a:r>
              <a:rPr lang="en-US" sz="600" dirty="0" err="1"/>
              <a:t>http+docker</a:t>
            </a:r>
            <a:r>
              <a:rPr lang="en-US" sz="600" dirty="0"/>
              <a:t>://</a:t>
            </a:r>
            <a:r>
              <a:rPr lang="en-US" sz="600" dirty="0" smtClean="0"/>
              <a:t>localhost/v1.41/images/</a:t>
            </a:r>
            <a:r>
              <a:rPr lang="en-US" sz="600" dirty="0" err="1" smtClean="0"/>
              <a:t>create?tag</a:t>
            </a:r>
            <a:r>
              <a:rPr lang="en-US" sz="600" dirty="0" smtClean="0"/>
              <a:t>=master-rocky-9&amp;fromImage=GPU10%3A4000%2Fopenstack.kolla%2Ffluentd</a:t>
            </a:r>
            <a:r>
              <a:rPr lang="en-US" sz="600" dirty="0"/>
              <a:t>: Internal Server Error (\"Get \"https</a:t>
            </a:r>
            <a:r>
              <a:rPr lang="en-US" sz="600" dirty="0" smtClean="0"/>
              <a:t>://GPU10:4000/v2</a:t>
            </a:r>
            <a:r>
              <a:rPr lang="en-US" sz="600" dirty="0"/>
              <a:t>/\": http: server gave HTTP response to HTTPS client\")\\n'"}</a:t>
            </a:r>
          </a:p>
        </p:txBody>
      </p:sp>
      <p:sp>
        <p:nvSpPr>
          <p:cNvPr id="16" name="Rectangle 15"/>
          <p:cNvSpPr/>
          <p:nvPr/>
        </p:nvSpPr>
        <p:spPr>
          <a:xfrm>
            <a:off x="4194940" y="992069"/>
            <a:ext cx="4757990" cy="186798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Tree>
    <p:extLst>
      <p:ext uri="{BB962C8B-B14F-4D97-AF65-F5344CB8AC3E}">
        <p14:creationId xmlns:p14="http://schemas.microsoft.com/office/powerpoint/2010/main" val="1843136466"/>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974" y="40145"/>
            <a:ext cx="4588820" cy="369332"/>
          </a:xfrm>
          <a:prstGeom prst="rect">
            <a:avLst/>
          </a:prstGeom>
        </p:spPr>
        <p:txBody>
          <a:bodyPr wrap="none">
            <a:spAutoFit/>
          </a:bodyPr>
          <a:lstStyle/>
          <a:p>
            <a:r>
              <a:rPr lang="en-US" b="1" dirty="0">
                <a:solidFill>
                  <a:srgbClr val="002060"/>
                </a:solidFill>
              </a:rPr>
              <a:t>Deploy OpenStack using </a:t>
            </a:r>
            <a:r>
              <a:rPr lang="en-US" b="1" dirty="0" err="1" smtClean="0">
                <a:solidFill>
                  <a:srgbClr val="002060"/>
                </a:solidFill>
              </a:rPr>
              <a:t>Kolla-Ansible</a:t>
            </a:r>
            <a:r>
              <a:rPr lang="en-US" b="1" dirty="0" smtClean="0">
                <a:solidFill>
                  <a:srgbClr val="002060"/>
                </a:solidFill>
              </a:rPr>
              <a:t> </a:t>
            </a:r>
            <a:r>
              <a:rPr lang="en-US" b="1" dirty="0" smtClean="0">
                <a:solidFill>
                  <a:srgbClr val="0070C0"/>
                </a:solidFill>
              </a:rPr>
              <a:t>(</a:t>
            </a:r>
            <a:r>
              <a:rPr lang="en-US" b="1" dirty="0" err="1" smtClean="0">
                <a:solidFill>
                  <a:srgbClr val="0070C0"/>
                </a:solidFill>
              </a:rPr>
              <a:t>Cons’t</a:t>
            </a:r>
            <a:r>
              <a:rPr lang="en-US" b="1" dirty="0" smtClean="0">
                <a:solidFill>
                  <a:srgbClr val="0070C0"/>
                </a:solidFill>
              </a:rPr>
              <a:t>)</a:t>
            </a:r>
            <a:endParaRPr lang="en-US" b="1" dirty="0">
              <a:solidFill>
                <a:srgbClr val="0070C0"/>
              </a:solidFill>
            </a:endParaRPr>
          </a:p>
        </p:txBody>
      </p:sp>
      <p:sp>
        <p:nvSpPr>
          <p:cNvPr id="4" name="Rectangle 3"/>
          <p:cNvSpPr/>
          <p:nvPr/>
        </p:nvSpPr>
        <p:spPr>
          <a:xfrm>
            <a:off x="148961" y="409477"/>
            <a:ext cx="3625019" cy="461665"/>
          </a:xfrm>
          <a:prstGeom prst="rect">
            <a:avLst/>
          </a:prstGeom>
        </p:spPr>
        <p:txBody>
          <a:bodyPr wrap="square">
            <a:spAutoFit/>
          </a:bodyPr>
          <a:lstStyle/>
          <a:p>
            <a:r>
              <a:rPr lang="en-US" sz="1200" b="1" dirty="0"/>
              <a:t>Troubleshoot</a:t>
            </a:r>
          </a:p>
          <a:p>
            <a:r>
              <a:rPr lang="en-US" sz="1200" dirty="0"/>
              <a:t>Error when use local </a:t>
            </a:r>
            <a:r>
              <a:rPr lang="en-US" sz="1200" dirty="0" err="1"/>
              <a:t>docker</a:t>
            </a:r>
            <a:r>
              <a:rPr lang="en-US" sz="1200" dirty="0"/>
              <a:t> registry.</a:t>
            </a:r>
          </a:p>
        </p:txBody>
      </p:sp>
      <p:sp>
        <p:nvSpPr>
          <p:cNvPr id="7" name="Rectangle 6"/>
          <p:cNvSpPr/>
          <p:nvPr/>
        </p:nvSpPr>
        <p:spPr>
          <a:xfrm>
            <a:off x="196145" y="980028"/>
            <a:ext cx="4757991" cy="1661993"/>
          </a:xfrm>
          <a:prstGeom prst="rect">
            <a:avLst/>
          </a:prstGeom>
        </p:spPr>
        <p:txBody>
          <a:bodyPr wrap="square">
            <a:spAutoFit/>
          </a:bodyPr>
          <a:lstStyle/>
          <a:p>
            <a:r>
              <a:rPr lang="en-US" sz="600" dirty="0"/>
              <a:t>fatal: </a:t>
            </a:r>
            <a:r>
              <a:rPr lang="en-US" sz="600" dirty="0" smtClean="0"/>
              <a:t>[GPU72</a:t>
            </a:r>
            <a:r>
              <a:rPr lang="en-US" sz="600" dirty="0"/>
              <a:t>]: FAILED! =&gt; {"changed": true, "</a:t>
            </a:r>
            <a:r>
              <a:rPr lang="en-US" sz="600" dirty="0" err="1"/>
              <a:t>msg</a:t>
            </a:r>
            <a:r>
              <a:rPr lang="en-US" sz="600" dirty="0"/>
              <a:t>": "'</a:t>
            </a:r>
            <a:r>
              <a:rPr lang="en-US" sz="600" dirty="0" err="1"/>
              <a:t>Traceback</a:t>
            </a:r>
            <a:r>
              <a:rPr lang="en-US" sz="600" dirty="0"/>
              <a:t> (most recent call last):\\n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a:t>
            </a:r>
            <a:r>
              <a:rPr lang="en-US" sz="600" dirty="0" err="1"/>
              <a:t>api</a:t>
            </a:r>
            <a:r>
              <a:rPr lang="en-US" sz="600" dirty="0"/>
              <a:t>/client.py\", line 268, in _</a:t>
            </a:r>
            <a:r>
              <a:rPr lang="en-US" sz="600" dirty="0" err="1"/>
              <a:t>raise_for_status</a:t>
            </a:r>
            <a:r>
              <a:rPr lang="en-US" sz="600" dirty="0"/>
              <a:t>\\n    </a:t>
            </a:r>
            <a:r>
              <a:rPr lang="en-US" sz="600" dirty="0" err="1"/>
              <a:t>response.raise_for_status</a:t>
            </a:r>
            <a:r>
              <a:rPr lang="en-US" sz="600" dirty="0"/>
              <a:t>()\\n  File \"/</a:t>
            </a:r>
            <a:r>
              <a:rPr lang="en-US" sz="600" dirty="0" err="1"/>
              <a:t>usr</a:t>
            </a:r>
            <a:r>
              <a:rPr lang="en-US" sz="600" dirty="0"/>
              <a:t>/lib/python3/</a:t>
            </a:r>
            <a:r>
              <a:rPr lang="en-US" sz="600" dirty="0" err="1"/>
              <a:t>dist</a:t>
            </a:r>
            <a:r>
              <a:rPr lang="en-US" sz="600" dirty="0"/>
              <a:t>-packages/requests/models.py\", line 940, in </a:t>
            </a:r>
            <a:r>
              <a:rPr lang="en-US" sz="600" dirty="0" err="1"/>
              <a:t>raise_for_status</a:t>
            </a:r>
            <a:r>
              <a:rPr lang="en-US" sz="600" dirty="0"/>
              <a:t>\\n    raise </a:t>
            </a:r>
            <a:r>
              <a:rPr lang="en-US" sz="600" dirty="0" err="1"/>
              <a:t>HTTPError</a:t>
            </a:r>
            <a:r>
              <a:rPr lang="en-US" sz="600" dirty="0"/>
              <a:t>(</a:t>
            </a:r>
            <a:r>
              <a:rPr lang="en-US" sz="600" dirty="0" err="1"/>
              <a:t>http_error_msg</a:t>
            </a:r>
            <a:r>
              <a:rPr lang="en-US" sz="600" dirty="0"/>
              <a:t>, response=self)\\</a:t>
            </a:r>
            <a:r>
              <a:rPr lang="en-US" sz="600" dirty="0" err="1"/>
              <a:t>nrequests.exceptions.HTTPError</a:t>
            </a:r>
            <a:r>
              <a:rPr lang="en-US" sz="600" dirty="0"/>
              <a:t>: 500 Server Error: Internal Server Error for url: </a:t>
            </a:r>
            <a:r>
              <a:rPr lang="en-US" sz="600" dirty="0" err="1"/>
              <a:t>http+docker</a:t>
            </a:r>
            <a:r>
              <a:rPr lang="en-US" sz="600" dirty="0"/>
              <a:t>://</a:t>
            </a:r>
            <a:r>
              <a:rPr lang="en-US" sz="600" dirty="0" smtClean="0"/>
              <a:t>localhost/v1.41/images/</a:t>
            </a:r>
            <a:r>
              <a:rPr lang="en-US" sz="600" dirty="0" err="1" smtClean="0"/>
              <a:t>create?tag</a:t>
            </a:r>
            <a:r>
              <a:rPr lang="en-US" sz="600" dirty="0" smtClean="0"/>
              <a:t>=master-rocky-9&amp;fromImage=GPU10%3A4000%2Fopenstack.kolla%2Ffluentd</a:t>
            </a:r>
            <a:r>
              <a:rPr lang="en-US" sz="600" dirty="0"/>
              <a:t>\\n\\</a:t>
            </a:r>
            <a:r>
              <a:rPr lang="en-US" sz="600" dirty="0" err="1"/>
              <a:t>nDuring</a:t>
            </a:r>
            <a:r>
              <a:rPr lang="en-US" sz="600" dirty="0"/>
              <a:t> handling of the above exception, another exception occurred:\\n\\</a:t>
            </a:r>
            <a:r>
              <a:rPr lang="en-US" sz="600" dirty="0" err="1"/>
              <a:t>nTraceback</a:t>
            </a:r>
            <a:r>
              <a:rPr lang="en-US" sz="600" dirty="0"/>
              <a:t> (most recent call last):\\n  File \"/</a:t>
            </a:r>
            <a:r>
              <a:rPr lang="en-US" sz="600" dirty="0" err="1"/>
              <a:t>tmp</a:t>
            </a:r>
            <a:r>
              <a:rPr lang="en-US" sz="600" dirty="0"/>
              <a:t>/ansible_kolla_docker_payload_h4_q1cuz/ansible_kolla_docker_payload.zip/</a:t>
            </a:r>
            <a:r>
              <a:rPr lang="en-US" sz="600" dirty="0" err="1"/>
              <a:t>ansible</a:t>
            </a:r>
            <a:r>
              <a:rPr lang="en-US" sz="600" dirty="0"/>
              <a:t>/modules/kolla_docker.py\", line 381, in main\\n  File \"/</a:t>
            </a:r>
            <a:r>
              <a:rPr lang="en-US" sz="600" dirty="0" err="1"/>
              <a:t>tmp</a:t>
            </a:r>
            <a:r>
              <a:rPr lang="en-US" sz="600" dirty="0"/>
              <a:t>/ansible_kolla_docker_payload_h4_q1cuz/ansible_kolla_docker_payload.zip/</a:t>
            </a:r>
            <a:r>
              <a:rPr lang="en-US" sz="600" dirty="0" err="1"/>
              <a:t>ansible</a:t>
            </a:r>
            <a:r>
              <a:rPr lang="en-US" sz="600" dirty="0"/>
              <a:t>/</a:t>
            </a:r>
            <a:r>
              <a:rPr lang="en-US" sz="600" dirty="0" err="1"/>
              <a:t>module_utils</a:t>
            </a:r>
            <a:r>
              <a:rPr lang="en-US" sz="600" dirty="0"/>
              <a:t>/kolla_docker_worker.py\", line 660, in </a:t>
            </a:r>
            <a:r>
              <a:rPr lang="en-US" sz="600" dirty="0" err="1"/>
              <a:t>recreate_or_restart_container</a:t>
            </a:r>
            <a:r>
              <a:rPr lang="en-US" sz="600" dirty="0"/>
              <a:t>\\n    </a:t>
            </a:r>
            <a:r>
              <a:rPr lang="en-US" sz="600" dirty="0" err="1"/>
              <a:t>self.pull_image</a:t>
            </a:r>
            <a:r>
              <a:rPr lang="en-US" sz="600" dirty="0"/>
              <a:t>()\\n  File \"/</a:t>
            </a:r>
            <a:r>
              <a:rPr lang="en-US" sz="600" dirty="0" err="1"/>
              <a:t>tmp</a:t>
            </a:r>
            <a:r>
              <a:rPr lang="en-US" sz="600" dirty="0"/>
              <a:t>/ansible_kolla_docker_payload_h4_q1cuz/ansible_kolla_docker_payload.zip/</a:t>
            </a:r>
            <a:r>
              <a:rPr lang="en-US" sz="600" dirty="0" err="1"/>
              <a:t>ansible</a:t>
            </a:r>
            <a:r>
              <a:rPr lang="en-US" sz="600" dirty="0"/>
              <a:t>/</a:t>
            </a:r>
            <a:r>
              <a:rPr lang="en-US" sz="600" dirty="0" err="1"/>
              <a:t>module_utils</a:t>
            </a:r>
            <a:r>
              <a:rPr lang="en-US" sz="600" dirty="0"/>
              <a:t>/kolla_docker_worker.py\", line 450, in </a:t>
            </a:r>
            <a:r>
              <a:rPr lang="en-US" sz="600" dirty="0" err="1"/>
              <a:t>pull_image</a:t>
            </a:r>
            <a:r>
              <a:rPr lang="en-US" sz="600" dirty="0"/>
              <a:t>\\n    </a:t>
            </a:r>
            <a:r>
              <a:rPr lang="en-US" sz="600" dirty="0" err="1"/>
              <a:t>json.loads</a:t>
            </a:r>
            <a:r>
              <a:rPr lang="en-US" sz="600" dirty="0"/>
              <a:t>(</a:t>
            </a:r>
            <a:r>
              <a:rPr lang="en-US" sz="600" dirty="0" err="1"/>
              <a:t>line.strip</a:t>
            </a:r>
            <a:r>
              <a:rPr lang="en-US" sz="600" dirty="0"/>
              <a:t>().decode(\\'utf-8\\')) for line in </a:t>
            </a:r>
            <a:r>
              <a:rPr lang="en-US" sz="600" dirty="0" err="1"/>
              <a:t>self.dc.pull</a:t>
            </a:r>
            <a:r>
              <a:rPr lang="en-US" sz="600" dirty="0"/>
              <a:t>(\\n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a:t>
            </a:r>
            <a:r>
              <a:rPr lang="en-US" sz="600" dirty="0" err="1"/>
              <a:t>api</a:t>
            </a:r>
            <a:r>
              <a:rPr lang="en-US" sz="600" dirty="0"/>
              <a:t>/image.py\", line 430, in pull\\n    self._</a:t>
            </a:r>
            <a:r>
              <a:rPr lang="en-US" sz="600" dirty="0" err="1"/>
              <a:t>raise_for_status</a:t>
            </a:r>
            <a:r>
              <a:rPr lang="en-US" sz="600" dirty="0"/>
              <a:t>(response)\\n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a:t>
            </a:r>
            <a:r>
              <a:rPr lang="en-US" sz="600" dirty="0" err="1"/>
              <a:t>api</a:t>
            </a:r>
            <a:r>
              <a:rPr lang="en-US" sz="600" dirty="0"/>
              <a:t>/client.py\", line 270, in _</a:t>
            </a:r>
            <a:r>
              <a:rPr lang="en-US" sz="600" dirty="0" err="1"/>
              <a:t>raise_for_status</a:t>
            </a:r>
            <a:r>
              <a:rPr lang="en-US" sz="600" dirty="0"/>
              <a:t>\\n    raise </a:t>
            </a:r>
            <a:r>
              <a:rPr lang="en-US" sz="600" dirty="0" err="1"/>
              <a:t>create_api_error_from_http_exception</a:t>
            </a:r>
            <a:r>
              <a:rPr lang="en-US" sz="600" dirty="0"/>
              <a:t>(e)\\n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/errors.py\", line 31, in </a:t>
            </a:r>
            <a:r>
              <a:rPr lang="en-US" sz="600" dirty="0" err="1"/>
              <a:t>create_api_error_from_http_exception</a:t>
            </a:r>
            <a:r>
              <a:rPr lang="en-US" sz="600" dirty="0"/>
              <a:t>\\n    raise </a:t>
            </a:r>
            <a:r>
              <a:rPr lang="en-US" sz="600" dirty="0" err="1"/>
              <a:t>cls</a:t>
            </a:r>
            <a:r>
              <a:rPr lang="en-US" sz="600" dirty="0"/>
              <a:t>(e, response=response, explanation=explanation)\\</a:t>
            </a:r>
            <a:r>
              <a:rPr lang="en-US" sz="600" dirty="0" err="1"/>
              <a:t>ndocker.errors.APIError</a:t>
            </a:r>
            <a:r>
              <a:rPr lang="en-US" sz="600" dirty="0"/>
              <a:t>: 500 Server Error for </a:t>
            </a:r>
            <a:r>
              <a:rPr lang="en-US" sz="600" dirty="0" err="1"/>
              <a:t>http+docker</a:t>
            </a:r>
            <a:r>
              <a:rPr lang="en-US" sz="600" dirty="0"/>
              <a:t>://</a:t>
            </a:r>
            <a:r>
              <a:rPr lang="en-US" sz="600" dirty="0" smtClean="0"/>
              <a:t>localhost/v1.41/images/</a:t>
            </a:r>
            <a:r>
              <a:rPr lang="en-US" sz="600" dirty="0" err="1" smtClean="0"/>
              <a:t>create?tag</a:t>
            </a:r>
            <a:r>
              <a:rPr lang="en-US" sz="600" dirty="0" smtClean="0"/>
              <a:t>=master-rocky-9&amp;fromImage=GPU10%3A4000%2Fopenstack.kolla%2Ffluentd</a:t>
            </a:r>
            <a:r>
              <a:rPr lang="en-US" sz="600" dirty="0"/>
              <a:t>: Internal Server Error (\"Get \"https</a:t>
            </a:r>
            <a:r>
              <a:rPr lang="en-US" sz="600" dirty="0" smtClean="0"/>
              <a:t>://GPU10:4000/v2</a:t>
            </a:r>
            <a:r>
              <a:rPr lang="en-US" sz="600" dirty="0"/>
              <a:t>/\": x509: certificate relies on legacy Common Name field, use SANs instead\")\\n'"}</a:t>
            </a:r>
          </a:p>
        </p:txBody>
      </p:sp>
      <p:sp>
        <p:nvSpPr>
          <p:cNvPr id="8" name="Rectangle 7"/>
          <p:cNvSpPr/>
          <p:nvPr/>
        </p:nvSpPr>
        <p:spPr>
          <a:xfrm>
            <a:off x="196146" y="958703"/>
            <a:ext cx="4757990" cy="186798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9" name="Rectangle 8"/>
          <p:cNvSpPr/>
          <p:nvPr/>
        </p:nvSpPr>
        <p:spPr>
          <a:xfrm>
            <a:off x="196146" y="2958496"/>
            <a:ext cx="4757991" cy="1938992"/>
          </a:xfrm>
          <a:prstGeom prst="rect">
            <a:avLst/>
          </a:prstGeom>
        </p:spPr>
        <p:txBody>
          <a:bodyPr wrap="square">
            <a:spAutoFit/>
          </a:bodyPr>
          <a:lstStyle/>
          <a:p>
            <a:r>
              <a:rPr lang="en-US" sz="600" dirty="0"/>
              <a:t>fatal: </a:t>
            </a:r>
            <a:r>
              <a:rPr lang="en-US" sz="600" dirty="0" smtClean="0"/>
              <a:t>[GPU111</a:t>
            </a:r>
            <a:r>
              <a:rPr lang="en-US" sz="600" dirty="0"/>
              <a:t>]: FAILED! =&gt; {"changed": true, "</a:t>
            </a:r>
            <a:r>
              <a:rPr lang="en-US" sz="600" dirty="0" err="1"/>
              <a:t>msg</a:t>
            </a:r>
            <a:r>
              <a:rPr lang="en-US" sz="600" dirty="0"/>
              <a:t>": "'</a:t>
            </a:r>
            <a:r>
              <a:rPr lang="en-US" sz="600" dirty="0" err="1"/>
              <a:t>Traceback</a:t>
            </a:r>
            <a:r>
              <a:rPr lang="en-US" sz="600" dirty="0"/>
              <a:t> (most recent call last):\\n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a:t>
            </a:r>
            <a:r>
              <a:rPr lang="en-US" sz="600" dirty="0" err="1"/>
              <a:t>api</a:t>
            </a:r>
            <a:r>
              <a:rPr lang="en-US" sz="600" dirty="0"/>
              <a:t>/client.py\", line 268, in _</a:t>
            </a:r>
            <a:r>
              <a:rPr lang="en-US" sz="600" dirty="0" err="1"/>
              <a:t>raise_for_status</a:t>
            </a:r>
            <a:r>
              <a:rPr lang="en-US" sz="600" dirty="0"/>
              <a:t>\\n    </a:t>
            </a:r>
            <a:r>
              <a:rPr lang="en-US" sz="600" dirty="0" err="1"/>
              <a:t>response.raise_for_status</a:t>
            </a:r>
            <a:r>
              <a:rPr lang="en-US" sz="600" dirty="0"/>
              <a:t>()\\n  File \"/</a:t>
            </a:r>
            <a:r>
              <a:rPr lang="en-US" sz="600" dirty="0" err="1"/>
              <a:t>usr</a:t>
            </a:r>
            <a:r>
              <a:rPr lang="en-US" sz="600" dirty="0"/>
              <a:t>/lib/python3/</a:t>
            </a:r>
            <a:r>
              <a:rPr lang="en-US" sz="600" dirty="0" err="1"/>
              <a:t>dist</a:t>
            </a:r>
            <a:r>
              <a:rPr lang="en-US" sz="600" dirty="0"/>
              <a:t>-packages/requests/models.py\", line 940, in </a:t>
            </a:r>
            <a:r>
              <a:rPr lang="en-US" sz="600" dirty="0" err="1"/>
              <a:t>raise_for_status</a:t>
            </a:r>
            <a:r>
              <a:rPr lang="en-US" sz="600" dirty="0"/>
              <a:t>\\n    raise </a:t>
            </a:r>
            <a:r>
              <a:rPr lang="en-US" sz="600" dirty="0" err="1"/>
              <a:t>HTTPError</a:t>
            </a:r>
            <a:r>
              <a:rPr lang="en-US" sz="600" dirty="0"/>
              <a:t>(</a:t>
            </a:r>
            <a:r>
              <a:rPr lang="en-US" sz="600" dirty="0" err="1"/>
              <a:t>http_error_msg</a:t>
            </a:r>
            <a:r>
              <a:rPr lang="en-US" sz="600" dirty="0"/>
              <a:t>, response=self)\\</a:t>
            </a:r>
            <a:r>
              <a:rPr lang="en-US" sz="600" dirty="0" err="1"/>
              <a:t>nrequests.exceptions.HTTPError</a:t>
            </a:r>
            <a:r>
              <a:rPr lang="en-US" sz="600" dirty="0"/>
              <a:t>: 404 Client Error: Not Found for url: </a:t>
            </a:r>
            <a:r>
              <a:rPr lang="en-US" sz="600" dirty="0" err="1"/>
              <a:t>http+docker</a:t>
            </a:r>
            <a:r>
              <a:rPr lang="en-US" sz="600" dirty="0"/>
              <a:t>://</a:t>
            </a:r>
            <a:r>
              <a:rPr lang="en-US" sz="600" dirty="0" smtClean="0"/>
              <a:t>localhost/v1.41/images/</a:t>
            </a:r>
            <a:r>
              <a:rPr lang="en-US" sz="600" dirty="0" err="1" smtClean="0"/>
              <a:t>create?tag</a:t>
            </a:r>
            <a:r>
              <a:rPr lang="en-US" sz="600" dirty="0" smtClean="0"/>
              <a:t>=master-rocky-9&amp;fromImage=GPU10%3A5000%2Fopenstack.kolla%2Ffluentd</a:t>
            </a:r>
            <a:r>
              <a:rPr lang="en-US" sz="600" dirty="0"/>
              <a:t>\\n\\</a:t>
            </a:r>
            <a:r>
              <a:rPr lang="en-US" sz="600" dirty="0" err="1"/>
              <a:t>nDuring</a:t>
            </a:r>
            <a:r>
              <a:rPr lang="en-US" sz="600" dirty="0"/>
              <a:t> handling of the above exception, another exception occurred:\\n\\</a:t>
            </a:r>
            <a:r>
              <a:rPr lang="en-US" sz="600" dirty="0" err="1"/>
              <a:t>nTraceback</a:t>
            </a:r>
            <a:r>
              <a:rPr lang="en-US" sz="600" dirty="0"/>
              <a:t> (most recent call last):\\n  File \"/</a:t>
            </a:r>
            <a:r>
              <a:rPr lang="en-US" sz="600" dirty="0" err="1"/>
              <a:t>tmp</a:t>
            </a:r>
            <a:r>
              <a:rPr lang="en-US" sz="600" dirty="0"/>
              <a:t>/ansible_kolla_docker_payload_s36ljb33/ansible_kolla_docker_payload.zip/</a:t>
            </a:r>
            <a:r>
              <a:rPr lang="en-US" sz="600" dirty="0" err="1"/>
              <a:t>ansible</a:t>
            </a:r>
            <a:r>
              <a:rPr lang="en-US" sz="600" dirty="0"/>
              <a:t>/modules/kolla_docker.py\", line 381, in main\\n  File \"/</a:t>
            </a:r>
            <a:r>
              <a:rPr lang="en-US" sz="600" dirty="0" err="1"/>
              <a:t>tmp</a:t>
            </a:r>
            <a:r>
              <a:rPr lang="en-US" sz="600" dirty="0"/>
              <a:t>/ansible_kolla_docker_payload_s36ljb33/ansible_kolla_docker_payload.zip/</a:t>
            </a:r>
            <a:r>
              <a:rPr lang="en-US" sz="600" dirty="0" err="1"/>
              <a:t>ansible</a:t>
            </a:r>
            <a:r>
              <a:rPr lang="en-US" sz="600" dirty="0"/>
              <a:t>/</a:t>
            </a:r>
            <a:r>
              <a:rPr lang="en-US" sz="600" dirty="0" err="1"/>
              <a:t>module_utils</a:t>
            </a:r>
            <a:r>
              <a:rPr lang="en-US" sz="600" dirty="0"/>
              <a:t>/kolla_docker_worker.py\", line 651, in </a:t>
            </a:r>
            <a:r>
              <a:rPr lang="en-US" sz="600" dirty="0" err="1"/>
              <a:t>recreate_or_restart_container</a:t>
            </a:r>
            <a:r>
              <a:rPr lang="en-US" sz="600" dirty="0"/>
              <a:t>\\n    </a:t>
            </a:r>
            <a:r>
              <a:rPr lang="en-US" sz="600" dirty="0" err="1"/>
              <a:t>self.start_container</a:t>
            </a:r>
            <a:r>
              <a:rPr lang="en-US" sz="600" dirty="0"/>
              <a:t>()\\n  File \"/</a:t>
            </a:r>
            <a:r>
              <a:rPr lang="en-US" sz="600" dirty="0" err="1"/>
              <a:t>tmp</a:t>
            </a:r>
            <a:r>
              <a:rPr lang="en-US" sz="600" dirty="0"/>
              <a:t>/ansible_kolla_docker_payload_s36ljb33/ansible_kolla_docker_payload.zip/</a:t>
            </a:r>
            <a:r>
              <a:rPr lang="en-US" sz="600" dirty="0" err="1"/>
              <a:t>ansible</a:t>
            </a:r>
            <a:r>
              <a:rPr lang="en-US" sz="600" dirty="0"/>
              <a:t>/</a:t>
            </a:r>
            <a:r>
              <a:rPr lang="en-US" sz="600" dirty="0" err="1"/>
              <a:t>module_utils</a:t>
            </a:r>
            <a:r>
              <a:rPr lang="en-US" sz="600" dirty="0"/>
              <a:t>/kolla_docker_worker.py\", line 669, in </a:t>
            </a:r>
            <a:r>
              <a:rPr lang="en-US" sz="600" dirty="0" err="1"/>
              <a:t>start_container</a:t>
            </a:r>
            <a:r>
              <a:rPr lang="en-US" sz="600" dirty="0"/>
              <a:t>\\n    </a:t>
            </a:r>
            <a:r>
              <a:rPr lang="en-US" sz="600" dirty="0" err="1"/>
              <a:t>self.pull_image</a:t>
            </a:r>
            <a:r>
              <a:rPr lang="en-US" sz="600" dirty="0"/>
              <a:t>()\\n  File \"/</a:t>
            </a:r>
            <a:r>
              <a:rPr lang="en-US" sz="600" dirty="0" err="1"/>
              <a:t>tmp</a:t>
            </a:r>
            <a:r>
              <a:rPr lang="en-US" sz="600" dirty="0"/>
              <a:t>/ansible_kolla_docker_payload_s36ljb33/ansible_kolla_docker_payload.zip/</a:t>
            </a:r>
            <a:r>
              <a:rPr lang="en-US" sz="600" dirty="0" err="1"/>
              <a:t>ansible</a:t>
            </a:r>
            <a:r>
              <a:rPr lang="en-US" sz="600" dirty="0"/>
              <a:t>/</a:t>
            </a:r>
            <a:r>
              <a:rPr lang="en-US" sz="600" dirty="0" err="1"/>
              <a:t>module_utils</a:t>
            </a:r>
            <a:r>
              <a:rPr lang="en-US" sz="600" dirty="0"/>
              <a:t>/kolla_docker_worker.py\", line 450, in </a:t>
            </a:r>
            <a:r>
              <a:rPr lang="en-US" sz="600" dirty="0" err="1"/>
              <a:t>pull_image</a:t>
            </a:r>
            <a:r>
              <a:rPr lang="en-US" sz="600" dirty="0"/>
              <a:t>\\n    </a:t>
            </a:r>
            <a:r>
              <a:rPr lang="en-US" sz="600" dirty="0" err="1"/>
              <a:t>json.loads</a:t>
            </a:r>
            <a:r>
              <a:rPr lang="en-US" sz="600" dirty="0"/>
              <a:t>(</a:t>
            </a:r>
            <a:r>
              <a:rPr lang="en-US" sz="600" dirty="0" err="1"/>
              <a:t>line.strip</a:t>
            </a:r>
            <a:r>
              <a:rPr lang="en-US" sz="600" dirty="0"/>
              <a:t>().decode(\\'utf-8\\')) for line in </a:t>
            </a:r>
            <a:r>
              <a:rPr lang="en-US" sz="600" dirty="0" err="1"/>
              <a:t>self.dc.pull</a:t>
            </a:r>
            <a:r>
              <a:rPr lang="en-US" sz="600" dirty="0"/>
              <a:t>(\\n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a:t>
            </a:r>
            <a:r>
              <a:rPr lang="en-US" sz="600" dirty="0" err="1"/>
              <a:t>api</a:t>
            </a:r>
            <a:r>
              <a:rPr lang="en-US" sz="600" dirty="0"/>
              <a:t>/image.py\", line 430, in pull\\n    self._</a:t>
            </a:r>
            <a:r>
              <a:rPr lang="en-US" sz="600" dirty="0" err="1"/>
              <a:t>raise_for_status</a:t>
            </a:r>
            <a:r>
              <a:rPr lang="en-US" sz="600" dirty="0"/>
              <a:t>(response)\\n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a:t>
            </a:r>
            <a:r>
              <a:rPr lang="en-US" sz="600" dirty="0" err="1"/>
              <a:t>api</a:t>
            </a:r>
            <a:r>
              <a:rPr lang="en-US" sz="600" dirty="0"/>
              <a:t>/client.py\", line 270, in _</a:t>
            </a:r>
            <a:r>
              <a:rPr lang="en-US" sz="600" dirty="0" err="1"/>
              <a:t>raise_for_status</a:t>
            </a:r>
            <a:r>
              <a:rPr lang="en-US" sz="600" dirty="0"/>
              <a:t>\\n    raise </a:t>
            </a:r>
            <a:r>
              <a:rPr lang="en-US" sz="600" dirty="0" err="1"/>
              <a:t>create_api_error_from_http_exception</a:t>
            </a:r>
            <a:r>
              <a:rPr lang="en-US" sz="600" dirty="0"/>
              <a:t>(e)\\n  File \"/</a:t>
            </a:r>
            <a:r>
              <a:rPr lang="en-US" sz="600" dirty="0" err="1"/>
              <a:t>usr</a:t>
            </a:r>
            <a:r>
              <a:rPr lang="en-US" sz="600" dirty="0"/>
              <a:t>/local/lib/python3.8/</a:t>
            </a:r>
            <a:r>
              <a:rPr lang="en-US" sz="600" dirty="0" err="1"/>
              <a:t>dist</a:t>
            </a:r>
            <a:r>
              <a:rPr lang="en-US" sz="600" dirty="0"/>
              <a:t>-packages/</a:t>
            </a:r>
            <a:r>
              <a:rPr lang="en-US" sz="600" dirty="0" err="1"/>
              <a:t>docker</a:t>
            </a:r>
            <a:r>
              <a:rPr lang="en-US" sz="600" dirty="0"/>
              <a:t>/errors.py\", line 31, in </a:t>
            </a:r>
            <a:r>
              <a:rPr lang="en-US" sz="600" dirty="0" err="1"/>
              <a:t>create_api_error_from_http_exception</a:t>
            </a:r>
            <a:r>
              <a:rPr lang="en-US" sz="600" dirty="0"/>
              <a:t>\\n    raise </a:t>
            </a:r>
            <a:r>
              <a:rPr lang="en-US" sz="600" dirty="0" err="1"/>
              <a:t>cls</a:t>
            </a:r>
            <a:r>
              <a:rPr lang="en-US" sz="600" dirty="0"/>
              <a:t>(e, response=response, explanation=explanation)\\</a:t>
            </a:r>
            <a:r>
              <a:rPr lang="en-US" sz="600" dirty="0" err="1"/>
              <a:t>ndocker.errors.NotFound</a:t>
            </a:r>
            <a:r>
              <a:rPr lang="en-US" sz="600" dirty="0"/>
              <a:t>: 404 Client Error for </a:t>
            </a:r>
            <a:r>
              <a:rPr lang="en-US" sz="600" dirty="0" err="1"/>
              <a:t>http+docker</a:t>
            </a:r>
            <a:r>
              <a:rPr lang="en-US" sz="600" dirty="0"/>
              <a:t>://</a:t>
            </a:r>
            <a:r>
              <a:rPr lang="en-US" sz="600" dirty="0" smtClean="0"/>
              <a:t>localhost/v1.41/images/</a:t>
            </a:r>
            <a:r>
              <a:rPr lang="en-US" sz="600" dirty="0" err="1" smtClean="0"/>
              <a:t>create?tag</a:t>
            </a:r>
            <a:r>
              <a:rPr lang="en-US" sz="600" dirty="0" smtClean="0"/>
              <a:t>=master-rocky-9&amp;fromImage=GPU10%3A5000%2Fopenstack.kolla%2Ffluentd</a:t>
            </a:r>
            <a:r>
              <a:rPr lang="en-US" sz="600" dirty="0"/>
              <a:t>: Not Found (\"manifest for </a:t>
            </a:r>
            <a:r>
              <a:rPr lang="en-US" sz="600" dirty="0" smtClean="0"/>
              <a:t>GPU10:5000/</a:t>
            </a:r>
            <a:r>
              <a:rPr lang="en-US" sz="600" dirty="0" err="1" smtClean="0"/>
              <a:t>openstack.kolla</a:t>
            </a:r>
            <a:r>
              <a:rPr lang="en-US" sz="600" dirty="0" smtClean="0"/>
              <a:t>/fluentd:master-rocky-9 </a:t>
            </a:r>
            <a:r>
              <a:rPr lang="en-US" sz="600" dirty="0"/>
              <a:t>not found: manifest unknown: manifest unknown\")\\n'"}</a:t>
            </a:r>
          </a:p>
          <a:p>
            <a:endParaRPr lang="en-US" sz="600" dirty="0"/>
          </a:p>
        </p:txBody>
      </p:sp>
      <p:sp>
        <p:nvSpPr>
          <p:cNvPr id="10" name="Rectangle 9"/>
          <p:cNvSpPr/>
          <p:nvPr/>
        </p:nvSpPr>
        <p:spPr>
          <a:xfrm>
            <a:off x="196147" y="2937171"/>
            <a:ext cx="4757990" cy="1867983"/>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1" name="Rectangle 10"/>
          <p:cNvSpPr/>
          <p:nvPr/>
        </p:nvSpPr>
        <p:spPr>
          <a:xfrm>
            <a:off x="4954137" y="365228"/>
            <a:ext cx="3625019" cy="461665"/>
          </a:xfrm>
          <a:prstGeom prst="rect">
            <a:avLst/>
          </a:prstGeom>
        </p:spPr>
        <p:txBody>
          <a:bodyPr wrap="square">
            <a:spAutoFit/>
          </a:bodyPr>
          <a:lstStyle/>
          <a:p>
            <a:r>
              <a:rPr lang="en-US" sz="1200" b="1" dirty="0"/>
              <a:t>Troubleshoot</a:t>
            </a:r>
          </a:p>
          <a:p>
            <a:r>
              <a:rPr lang="en-US" sz="1200" dirty="0"/>
              <a:t>Error when use local </a:t>
            </a:r>
            <a:r>
              <a:rPr lang="en-US" sz="1200" dirty="0" err="1"/>
              <a:t>docker</a:t>
            </a:r>
            <a:r>
              <a:rPr lang="en-US" sz="1200" dirty="0"/>
              <a:t> registry.</a:t>
            </a:r>
          </a:p>
        </p:txBody>
      </p:sp>
      <p:sp>
        <p:nvSpPr>
          <p:cNvPr id="12" name="Rectangle 11"/>
          <p:cNvSpPr/>
          <p:nvPr/>
        </p:nvSpPr>
        <p:spPr>
          <a:xfrm>
            <a:off x="5001322" y="914454"/>
            <a:ext cx="3992553" cy="2442295"/>
          </a:xfrm>
          <a:prstGeom prst="rect">
            <a:avLst/>
          </a:prstGeom>
          <a:noFill/>
          <a:ln w="9525" cap="flat" cmpd="sng" algn="ctr">
            <a:solidFill>
              <a:schemeClr val="accent4"/>
            </a:solidFill>
            <a:prstDash val="solid"/>
            <a:round/>
            <a:headEnd type="none" w="med" len="med"/>
            <a:tailEnd type="none" w="med" len="med"/>
          </a:ln>
        </p:spPr>
        <p:style>
          <a:lnRef idx="0">
            <a:scrgbClr r="0" g="0" b="0"/>
          </a:lnRef>
          <a:fillRef idx="0">
            <a:scrgbClr r="0" g="0" b="0"/>
          </a:fillRef>
          <a:effectRef idx="0">
            <a:scrgbClr r="0" g="0" b="0"/>
          </a:effectRef>
          <a:fontRef idx="minor">
            <a:schemeClr val="accent4"/>
          </a:fontRef>
        </p:style>
        <p:txBody>
          <a:bodyPr rtlCol="0" anchor="ctr"/>
          <a:lstStyle/>
          <a:p>
            <a:pPr algn="ctr"/>
            <a:endParaRPr lang="en-US"/>
          </a:p>
        </p:txBody>
      </p:sp>
      <p:sp>
        <p:nvSpPr>
          <p:cNvPr id="13" name="Rectangle 12"/>
          <p:cNvSpPr/>
          <p:nvPr/>
        </p:nvSpPr>
        <p:spPr>
          <a:xfrm>
            <a:off x="5001322" y="956092"/>
            <a:ext cx="3992553" cy="2400657"/>
          </a:xfrm>
          <a:prstGeom prst="rect">
            <a:avLst/>
          </a:prstGeom>
        </p:spPr>
        <p:txBody>
          <a:bodyPr wrap="square">
            <a:spAutoFit/>
          </a:bodyPr>
          <a:lstStyle/>
          <a:p>
            <a:r>
              <a:rPr lang="en-US" sz="500" dirty="0" err="1"/>
              <a:t>kolla-ansible</a:t>
            </a:r>
            <a:r>
              <a:rPr lang="en-US" sz="500" dirty="0"/>
              <a:t> -</a:t>
            </a:r>
            <a:r>
              <a:rPr lang="en-US" sz="500" dirty="0" err="1"/>
              <a:t>i</a:t>
            </a:r>
            <a:r>
              <a:rPr lang="en-US" sz="500" dirty="0"/>
              <a:t> INVENTORY deploy is used to deploy and start all </a:t>
            </a:r>
            <a:r>
              <a:rPr lang="en-US" sz="500" dirty="0" err="1"/>
              <a:t>Kolla</a:t>
            </a:r>
            <a:r>
              <a:rPr lang="en-US" sz="500" dirty="0"/>
              <a:t> containers.</a:t>
            </a:r>
          </a:p>
          <a:p>
            <a:endParaRPr lang="en-US" sz="500" dirty="0"/>
          </a:p>
          <a:p>
            <a:r>
              <a:rPr lang="en-US" sz="500" dirty="0" err="1"/>
              <a:t>kolla-ansible</a:t>
            </a:r>
            <a:r>
              <a:rPr lang="en-US" sz="500" dirty="0"/>
              <a:t> -</a:t>
            </a:r>
            <a:r>
              <a:rPr lang="en-US" sz="500" dirty="0" err="1"/>
              <a:t>i</a:t>
            </a:r>
            <a:r>
              <a:rPr lang="en-US" sz="500" dirty="0"/>
              <a:t> INVENTORY destroy is used to clean up containers and volumes in the cluster.</a:t>
            </a:r>
          </a:p>
          <a:p>
            <a:endParaRPr lang="en-US" sz="500" dirty="0"/>
          </a:p>
          <a:p>
            <a:r>
              <a:rPr lang="en-US" sz="500" dirty="0" err="1"/>
              <a:t>kolla-ansible</a:t>
            </a:r>
            <a:r>
              <a:rPr lang="en-US" sz="500" dirty="0"/>
              <a:t> -</a:t>
            </a:r>
            <a:r>
              <a:rPr lang="en-US" sz="500" dirty="0" err="1"/>
              <a:t>i</a:t>
            </a:r>
            <a:r>
              <a:rPr lang="en-US" sz="500" dirty="0"/>
              <a:t> INVENTORY </a:t>
            </a:r>
            <a:r>
              <a:rPr lang="en-US" sz="500" dirty="0" err="1"/>
              <a:t>mariadb_recovery</a:t>
            </a:r>
            <a:r>
              <a:rPr lang="en-US" sz="500" dirty="0"/>
              <a:t> is used to recover a completely stopped </a:t>
            </a:r>
            <a:r>
              <a:rPr lang="en-US" sz="500" dirty="0" err="1"/>
              <a:t>mariadb</a:t>
            </a:r>
            <a:r>
              <a:rPr lang="en-US" sz="500" dirty="0"/>
              <a:t> cluster.</a:t>
            </a:r>
          </a:p>
          <a:p>
            <a:endParaRPr lang="en-US" sz="500" dirty="0"/>
          </a:p>
          <a:p>
            <a:r>
              <a:rPr lang="en-US" sz="500" dirty="0" err="1"/>
              <a:t>kolla-ansible</a:t>
            </a:r>
            <a:r>
              <a:rPr lang="en-US" sz="500" dirty="0"/>
              <a:t> -</a:t>
            </a:r>
            <a:r>
              <a:rPr lang="en-US" sz="500" dirty="0" err="1"/>
              <a:t>i</a:t>
            </a:r>
            <a:r>
              <a:rPr lang="en-US" sz="500" dirty="0"/>
              <a:t> INVENTORY </a:t>
            </a:r>
            <a:r>
              <a:rPr lang="en-US" sz="500" dirty="0" err="1"/>
              <a:t>prechecks</a:t>
            </a:r>
            <a:r>
              <a:rPr lang="en-US" sz="500" dirty="0"/>
              <a:t> is used to check if all requirements are meet before deploy for each of the OpenStack services.</a:t>
            </a:r>
          </a:p>
          <a:p>
            <a:endParaRPr lang="en-US" sz="500" dirty="0"/>
          </a:p>
          <a:p>
            <a:r>
              <a:rPr lang="en-US" sz="500" dirty="0" err="1"/>
              <a:t>kolla-ansible</a:t>
            </a:r>
            <a:r>
              <a:rPr lang="en-US" sz="500" dirty="0"/>
              <a:t> -</a:t>
            </a:r>
            <a:r>
              <a:rPr lang="en-US" sz="500" dirty="0" err="1"/>
              <a:t>i</a:t>
            </a:r>
            <a:r>
              <a:rPr lang="en-US" sz="500" dirty="0"/>
              <a:t> INVENTORY post-deploy is used to do post deploy on deploy node to get the admin </a:t>
            </a:r>
            <a:r>
              <a:rPr lang="en-US" sz="500" dirty="0" err="1"/>
              <a:t>openrc</a:t>
            </a:r>
            <a:r>
              <a:rPr lang="en-US" sz="500" dirty="0"/>
              <a:t> file.</a:t>
            </a:r>
          </a:p>
          <a:p>
            <a:endParaRPr lang="en-US" sz="500" dirty="0"/>
          </a:p>
          <a:p>
            <a:r>
              <a:rPr lang="en-US" sz="500" dirty="0" err="1"/>
              <a:t>kolla-ansible</a:t>
            </a:r>
            <a:r>
              <a:rPr lang="en-US" sz="500" dirty="0"/>
              <a:t> -</a:t>
            </a:r>
            <a:r>
              <a:rPr lang="en-US" sz="500" dirty="0" err="1"/>
              <a:t>i</a:t>
            </a:r>
            <a:r>
              <a:rPr lang="en-US" sz="500" dirty="0"/>
              <a:t> INVENTORY pull is used to pull all images for containers.</a:t>
            </a:r>
          </a:p>
          <a:p>
            <a:endParaRPr lang="en-US" sz="500" dirty="0"/>
          </a:p>
          <a:p>
            <a:r>
              <a:rPr lang="en-US" sz="500" dirty="0" err="1"/>
              <a:t>kolla-ansible</a:t>
            </a:r>
            <a:r>
              <a:rPr lang="en-US" sz="500" dirty="0"/>
              <a:t> -</a:t>
            </a:r>
            <a:r>
              <a:rPr lang="en-US" sz="500" dirty="0" err="1"/>
              <a:t>i</a:t>
            </a:r>
            <a:r>
              <a:rPr lang="en-US" sz="500" dirty="0"/>
              <a:t> INVENTORY reconfigure is used to reconfigure OpenStack service.</a:t>
            </a:r>
          </a:p>
          <a:p>
            <a:endParaRPr lang="en-US" sz="500" dirty="0"/>
          </a:p>
          <a:p>
            <a:r>
              <a:rPr lang="en-US" sz="500" dirty="0" err="1"/>
              <a:t>kolla-ansible</a:t>
            </a:r>
            <a:r>
              <a:rPr lang="en-US" sz="500" dirty="0"/>
              <a:t> -</a:t>
            </a:r>
            <a:r>
              <a:rPr lang="en-US" sz="500" dirty="0" err="1"/>
              <a:t>i</a:t>
            </a:r>
            <a:r>
              <a:rPr lang="en-US" sz="500" dirty="0"/>
              <a:t> INVENTORY upgrade is used to upgrades existing OpenStack Environment.</a:t>
            </a:r>
          </a:p>
          <a:p>
            <a:endParaRPr lang="en-US" sz="500" dirty="0"/>
          </a:p>
          <a:p>
            <a:r>
              <a:rPr lang="en-US" sz="500" dirty="0" err="1"/>
              <a:t>kolla-ansible</a:t>
            </a:r>
            <a:r>
              <a:rPr lang="en-US" sz="500" dirty="0"/>
              <a:t> -</a:t>
            </a:r>
            <a:r>
              <a:rPr lang="en-US" sz="500" dirty="0" err="1"/>
              <a:t>i</a:t>
            </a:r>
            <a:r>
              <a:rPr lang="en-US" sz="500" dirty="0"/>
              <a:t> INVENTORY stop is used to stop running containers.</a:t>
            </a:r>
          </a:p>
          <a:p>
            <a:endParaRPr lang="en-US" sz="500" dirty="0"/>
          </a:p>
          <a:p>
            <a:r>
              <a:rPr lang="en-US" sz="500" dirty="0" err="1"/>
              <a:t>kolla-ansible</a:t>
            </a:r>
            <a:r>
              <a:rPr lang="en-US" sz="500" dirty="0"/>
              <a:t> -</a:t>
            </a:r>
            <a:r>
              <a:rPr lang="en-US" sz="500" dirty="0" err="1"/>
              <a:t>i</a:t>
            </a:r>
            <a:r>
              <a:rPr lang="en-US" sz="500" dirty="0"/>
              <a:t> INVENTORY deploy-containers is used to check and if necessary update containers, without generating configuration.</a:t>
            </a:r>
          </a:p>
          <a:p>
            <a:endParaRPr lang="en-US" sz="500" dirty="0"/>
          </a:p>
          <a:p>
            <a:r>
              <a:rPr lang="en-US" sz="500" dirty="0" err="1"/>
              <a:t>kolla-ansible</a:t>
            </a:r>
            <a:r>
              <a:rPr lang="en-US" sz="500" dirty="0"/>
              <a:t> -</a:t>
            </a:r>
            <a:r>
              <a:rPr lang="en-US" sz="500" dirty="0" err="1"/>
              <a:t>i</a:t>
            </a:r>
            <a:r>
              <a:rPr lang="en-US" sz="500" dirty="0"/>
              <a:t> INVENTORY prune-images is used to prune orphaned Docker images on hosts.</a:t>
            </a:r>
          </a:p>
          <a:p>
            <a:endParaRPr lang="en-US" sz="500" dirty="0"/>
          </a:p>
          <a:p>
            <a:r>
              <a:rPr lang="en-US" sz="500" dirty="0" err="1"/>
              <a:t>kolla-ansible</a:t>
            </a:r>
            <a:r>
              <a:rPr lang="en-US" sz="500" dirty="0"/>
              <a:t> -</a:t>
            </a:r>
            <a:r>
              <a:rPr lang="en-US" sz="500" dirty="0" err="1"/>
              <a:t>i</a:t>
            </a:r>
            <a:r>
              <a:rPr lang="en-US" sz="500" dirty="0"/>
              <a:t> INVENTORY </a:t>
            </a:r>
            <a:r>
              <a:rPr lang="en-US" sz="500" dirty="0" err="1"/>
              <a:t>genconfig</a:t>
            </a:r>
            <a:r>
              <a:rPr lang="en-US" sz="500" dirty="0"/>
              <a:t> is used to generate configuration files for enabled OpenStack services, without then restarting the containers so it is not applied right away.</a:t>
            </a:r>
          </a:p>
          <a:p>
            <a:endParaRPr lang="en-US" sz="500" dirty="0"/>
          </a:p>
          <a:p>
            <a:r>
              <a:rPr lang="en-US" sz="500" dirty="0" err="1"/>
              <a:t>kolla-ansible</a:t>
            </a:r>
            <a:r>
              <a:rPr lang="en-US" sz="500" dirty="0"/>
              <a:t> -</a:t>
            </a:r>
            <a:r>
              <a:rPr lang="en-US" sz="500" dirty="0" err="1"/>
              <a:t>i</a:t>
            </a:r>
            <a:r>
              <a:rPr lang="en-US" sz="500" dirty="0"/>
              <a:t> INVENTORY1 -</a:t>
            </a:r>
            <a:r>
              <a:rPr lang="en-US" sz="500" dirty="0" err="1"/>
              <a:t>i</a:t>
            </a:r>
            <a:r>
              <a:rPr lang="en-US" sz="500" dirty="0"/>
              <a:t> INVENTORY2 ... Multiple inventories can be specified by passing the --inventory or -</a:t>
            </a:r>
            <a:r>
              <a:rPr lang="en-US" sz="500" dirty="0" err="1"/>
              <a:t>i</a:t>
            </a:r>
            <a:r>
              <a:rPr lang="en-US" sz="500" dirty="0"/>
              <a:t> command line option multiple times. This can be useful to share configuration between multiple environments. Any common configuration can be set in INVENTORY1 and INVENTORY2 can be used to set environment specific details.</a:t>
            </a:r>
          </a:p>
          <a:p>
            <a:endParaRPr lang="en-US" sz="500" dirty="0"/>
          </a:p>
          <a:p>
            <a:r>
              <a:rPr lang="en-US" sz="500" dirty="0" err="1"/>
              <a:t>kolla-ansible</a:t>
            </a:r>
            <a:r>
              <a:rPr lang="en-US" sz="500" dirty="0"/>
              <a:t> -</a:t>
            </a:r>
            <a:r>
              <a:rPr lang="en-US" sz="500" dirty="0" err="1"/>
              <a:t>i</a:t>
            </a:r>
            <a:r>
              <a:rPr lang="en-US" sz="500" dirty="0"/>
              <a:t> INVENTORY gather-facts is used to gather </a:t>
            </a:r>
            <a:r>
              <a:rPr lang="en-US" sz="500" dirty="0" err="1"/>
              <a:t>Ansible</a:t>
            </a:r>
            <a:r>
              <a:rPr lang="en-US" sz="500" dirty="0"/>
              <a:t> facts, for example to populate a fact cache.</a:t>
            </a:r>
          </a:p>
        </p:txBody>
      </p:sp>
    </p:spTree>
    <p:extLst>
      <p:ext uri="{BB962C8B-B14F-4D97-AF65-F5344CB8AC3E}">
        <p14:creationId xmlns:p14="http://schemas.microsoft.com/office/powerpoint/2010/main" val="2935613507"/>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Referensi</a:t>
            </a:r>
            <a:r>
              <a:rPr lang="en-US" dirty="0" smtClean="0"/>
              <a:t> Lain</a:t>
            </a:r>
            <a:endParaRPr lang="en-US" dirty="0"/>
          </a:p>
        </p:txBody>
      </p:sp>
      <p:sp>
        <p:nvSpPr>
          <p:cNvPr id="3" name="Content Placeholder 2"/>
          <p:cNvSpPr>
            <a:spLocks noGrp="1"/>
          </p:cNvSpPr>
          <p:nvPr>
            <p:ph idx="1"/>
          </p:nvPr>
        </p:nvSpPr>
        <p:spPr>
          <a:xfrm>
            <a:off x="80235" y="1368470"/>
            <a:ext cx="2876550" cy="606075"/>
          </a:xfrm>
        </p:spPr>
        <p:txBody>
          <a:bodyPr>
            <a:normAutofit lnSpcReduction="10000"/>
          </a:bodyPr>
          <a:lstStyle/>
          <a:p>
            <a:r>
              <a:rPr lang="en-US" sz="1000" dirty="0" smtClean="0"/>
              <a:t>A </a:t>
            </a:r>
            <a:r>
              <a:rPr lang="en-US" sz="1000" dirty="0"/>
              <a:t>virtual machine or a VM is a software-based representation of a physical computer. </a:t>
            </a:r>
            <a:endParaRPr lang="en-US" sz="1000" dirty="0" smtClean="0"/>
          </a:p>
          <a:p>
            <a:pPr marL="342900" lvl="1" indent="0">
              <a:buNone/>
            </a:pPr>
            <a:r>
              <a:rPr lang="en-US" sz="700" dirty="0">
                <a:hlinkClick r:id="rId2"/>
              </a:rPr>
              <a:t>https://platform9.com/docs/private-cloud-director/private-cloud-director/deploying-workloads</a:t>
            </a:r>
            <a:endParaRPr lang="en-US" sz="700" dirty="0"/>
          </a:p>
          <a:p>
            <a:endParaRPr lang="en-US" sz="1000" dirty="0"/>
          </a:p>
        </p:txBody>
      </p:sp>
      <p:sp>
        <p:nvSpPr>
          <p:cNvPr id="4" name="Slide Number Placeholder 3"/>
          <p:cNvSpPr>
            <a:spLocks noGrp="1"/>
          </p:cNvSpPr>
          <p:nvPr>
            <p:ph type="sldNum" sz="quarter" idx="12"/>
          </p:nvPr>
        </p:nvSpPr>
        <p:spPr/>
        <p:txBody>
          <a:bodyPr/>
          <a:lstStyle/>
          <a:p>
            <a:fld id="{6D22F896-40B5-4ADD-8801-0D06FADFA095}" type="slidenum">
              <a:rPr lang="en-US" smtClean="0"/>
              <a:t>81</a:t>
            </a:fld>
            <a:endParaRPr lang="en-US" dirty="0"/>
          </a:p>
        </p:txBody>
      </p:sp>
      <p:pic>
        <p:nvPicPr>
          <p:cNvPr id="5" name="Picture 4"/>
          <p:cNvPicPr>
            <a:picLocks noChangeAspect="1"/>
          </p:cNvPicPr>
          <p:nvPr/>
        </p:nvPicPr>
        <p:blipFill>
          <a:blip r:embed="rId3"/>
          <a:stretch>
            <a:fillRect/>
          </a:stretch>
        </p:blipFill>
        <p:spPr>
          <a:xfrm>
            <a:off x="288926" y="1974545"/>
            <a:ext cx="2459168" cy="1314755"/>
          </a:xfrm>
          <a:prstGeom prst="rect">
            <a:avLst/>
          </a:prstGeom>
        </p:spPr>
      </p:pic>
      <p:sp>
        <p:nvSpPr>
          <p:cNvPr id="6" name="Content Placeholder 2"/>
          <p:cNvSpPr txBox="1">
            <a:spLocks/>
          </p:cNvSpPr>
          <p:nvPr/>
        </p:nvSpPr>
        <p:spPr>
          <a:xfrm>
            <a:off x="3133725" y="1368470"/>
            <a:ext cx="2876550" cy="606075"/>
          </a:xfrm>
          <a:prstGeom prst="rect">
            <a:avLst/>
          </a:prstGeom>
        </p:spPr>
        <p:txBody>
          <a:bodyPr vert="horz" lIns="91440" tIns="45720" rIns="91440" bIns="45720" rtlCol="0">
            <a:normAutofit fontScale="70000" lnSpcReduction="20000"/>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dirty="0"/>
              <a:t>On the Proper Setup of a Virtual Build Infrastructure Part 1</a:t>
            </a:r>
          </a:p>
          <a:p>
            <a:pPr marL="342900" lvl="1" indent="0">
              <a:buNone/>
            </a:pPr>
            <a:r>
              <a:rPr lang="en-US" sz="700" dirty="0" smtClean="0"/>
              <a:t>https</a:t>
            </a:r>
            <a:r>
              <a:rPr lang="en-US" sz="700" dirty="0"/>
              <a:t>://www.cloudbees.com/blog/proper-setup-virtual-build-infrastructure-part-1</a:t>
            </a:r>
            <a:endParaRPr lang="en-US" sz="1000" dirty="0"/>
          </a:p>
        </p:txBody>
      </p:sp>
    </p:spTree>
    <p:extLst>
      <p:ext uri="{BB962C8B-B14F-4D97-AF65-F5344CB8AC3E}">
        <p14:creationId xmlns:p14="http://schemas.microsoft.com/office/powerpoint/2010/main" val="3435599156"/>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D22F896-40B5-4ADD-8801-0D06FADFA095}" type="slidenum">
              <a:rPr lang="en-US" smtClean="0"/>
              <a:t>82</a:t>
            </a:fld>
            <a:endParaRPr lang="en-US" dirty="0"/>
          </a:p>
        </p:txBody>
      </p:sp>
      <p:sp>
        <p:nvSpPr>
          <p:cNvPr id="2" name="Rectangle 1"/>
          <p:cNvSpPr/>
          <p:nvPr/>
        </p:nvSpPr>
        <p:spPr>
          <a:xfrm>
            <a:off x="2286000" y="2248585"/>
            <a:ext cx="4572000" cy="830997"/>
          </a:xfrm>
          <a:prstGeom prst="rect">
            <a:avLst/>
          </a:prstGeom>
        </p:spPr>
        <p:txBody>
          <a:bodyPr>
            <a:spAutoFit/>
          </a:bodyPr>
          <a:lstStyle/>
          <a:p>
            <a:r>
              <a:rPr lang="en-US" sz="4800" dirty="0" err="1" smtClean="0">
                <a:solidFill>
                  <a:srgbClr val="0070C0"/>
                </a:solidFill>
              </a:rPr>
              <a:t>Mauliate</a:t>
            </a:r>
            <a:r>
              <a:rPr lang="en-US" sz="4800" dirty="0" smtClean="0">
                <a:solidFill>
                  <a:srgbClr val="0070C0"/>
                </a:solidFill>
              </a:rPr>
              <a:t> </a:t>
            </a:r>
            <a:r>
              <a:rPr lang="en-US" sz="4800" dirty="0" err="1" smtClean="0">
                <a:solidFill>
                  <a:srgbClr val="0070C0"/>
                </a:solidFill>
              </a:rPr>
              <a:t>Godang</a:t>
            </a:r>
            <a:endParaRPr lang="en-US" sz="4800" dirty="0">
              <a:solidFill>
                <a:srgbClr val="0070C0"/>
              </a:solidFill>
            </a:endParaRPr>
          </a:p>
        </p:txBody>
      </p:sp>
    </p:spTree>
    <p:extLst>
      <p:ext uri="{BB962C8B-B14F-4D97-AF65-F5344CB8AC3E}">
        <p14:creationId xmlns:p14="http://schemas.microsoft.com/office/powerpoint/2010/main" val="1961932074"/>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2711</TotalTime>
  <Words>16259</Words>
  <Application>Microsoft Office PowerPoint</Application>
  <PresentationFormat>On-screen Show (16:9)</PresentationFormat>
  <Paragraphs>3487</Paragraphs>
  <Slides>82</Slides>
  <Notes>65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82</vt:i4>
      </vt:variant>
    </vt:vector>
  </HeadingPairs>
  <TitlesOfParts>
    <vt:vector size="91" baseType="lpstr">
      <vt:lpstr>Malgun Gothic</vt:lpstr>
      <vt:lpstr>Yu Gothic Light</vt:lpstr>
      <vt:lpstr>Arial</vt:lpstr>
      <vt:lpstr>Calibri</vt:lpstr>
      <vt:lpstr>Calibri Light</vt:lpstr>
      <vt:lpstr>Courier New</vt:lpstr>
      <vt:lpstr>Helvetica</vt:lpstr>
      <vt:lpstr>Wingdings</vt:lpstr>
      <vt:lpstr>Office Theme</vt:lpstr>
      <vt:lpstr>PowerPoint Presentation</vt:lpstr>
      <vt:lpstr>PowerPoint Presentation</vt:lpstr>
      <vt:lpstr>Arsitektur Openstack</vt:lpstr>
      <vt:lpstr>Openstack Services</vt:lpstr>
      <vt:lpstr>PowerPoint Presentation</vt:lpstr>
      <vt:lpstr>Kolla-Ansible과 OpenStack </vt:lpstr>
      <vt:lpstr>Lab: Kolla Ansible All in One Openstack</vt:lpstr>
      <vt:lpstr>Lab: Kolla Ansible All in One Openstack (Cons’t)</vt:lpstr>
      <vt:lpstr>Lab: Kolla Ansible All in One Openstack (Cons’t)</vt:lpstr>
      <vt:lpstr>Lab: Kolla Ansible All in One Openstack (Cons’t)</vt:lpstr>
      <vt:lpstr>Lab: Kolla Ansible All in One Openstack (Cons’t)</vt:lpstr>
      <vt:lpstr>Lab: Kolla Ansible All in One Openstack (Cons’t)</vt:lpstr>
      <vt:lpstr>Lab: Kolla Ansible All in One Openstack (Cons’t)</vt:lpstr>
      <vt:lpstr>Lab: Kolla Ansible All in One Openstack (Cons’t)</vt:lpstr>
      <vt:lpstr>Lab: Kolla Ansible All in One Openstack (Cons’t)</vt:lpstr>
      <vt:lpstr>Membuat Instance Melalui Horizon</vt:lpstr>
      <vt:lpstr>Upload Image atau ISO  Create Instance</vt:lpstr>
      <vt:lpstr>Lab: Kolla Ansible All in One Openstack (Cons’t)</vt:lpstr>
      <vt:lpstr>Lab: Kolla Ansible All in One Openstack (Cons’t)</vt:lpstr>
      <vt:lpstr>Lab: Kolla Ansible All in One Openstack (Cons’t)</vt:lpstr>
      <vt:lpstr>Lab: Kolla Ansible All in One Openstack (Cons’t)</vt:lpstr>
      <vt:lpstr>Lab: Kolla Ansible All in One Openstack (Cons’t)</vt:lpstr>
      <vt:lpstr>Lab: Kolla Ansible All in One Openstack (Cons’t)</vt:lpstr>
      <vt:lpstr>Membuat Network  Create Network</vt:lpstr>
      <vt:lpstr>Lab: Kolla Ansible All in One Openstack (Cons’t)</vt:lpstr>
      <vt:lpstr>Lab: Kolla Ansible All in One Openstack (Cons’t)</vt:lpstr>
      <vt:lpstr>Lab: Kolla Ansible All in One Openstack (Cons’t)</vt:lpstr>
      <vt:lpstr>Lab: Kolla Ansible All in One Openstack (Cons’t)</vt:lpstr>
      <vt:lpstr>Membuat Router  Create Router</vt:lpstr>
      <vt:lpstr>Lab: Kolla Ansible All in One Openstack (Cons’t)</vt:lpstr>
      <vt:lpstr>Lab: Kolla Ansible All in One Openstack (Cons’t)</vt:lpstr>
      <vt:lpstr>Lab: Kolla Ansible All in One Openstack (Cons’t)</vt:lpstr>
      <vt:lpstr>Menambahkan SSH Key  Create SSH keys</vt:lpstr>
      <vt:lpstr>Lab: Kolla Ansible All in One Openstack (Cons’t)</vt:lpstr>
      <vt:lpstr>Lab: Kolla Ansible All in One Openstack (Cons’t)</vt:lpstr>
      <vt:lpstr>Menambah Security  Create Security Group</vt:lpstr>
      <vt:lpstr>Lab: Kolla Ansible All in One Openstack (Cons’t)</vt:lpstr>
      <vt:lpstr>Lab: Kolla Ansible All in One Openstack (Cons’t)</vt:lpstr>
      <vt:lpstr>Lab: Kolla Ansible All in One Openstack (Cons’t)</vt:lpstr>
      <vt:lpstr>Lab: Kolla Ansible All in One Openstack (Cons’t)</vt:lpstr>
      <vt:lpstr>Lab: Kolla Ansible All in One Openstack (Cons’t)</vt:lpstr>
      <vt:lpstr>Lab: Kolla Ansible All in One Openstack (Cons’t)</vt:lpstr>
      <vt:lpstr>Deploy All-in-One OpenStack with Kolla-Ansible on Ubuntu 22.04</vt:lpstr>
      <vt:lpstr>OpenStack Menggunakan Kolla Ansible</vt:lpstr>
      <vt:lpstr>PowerPoint Presentation</vt:lpstr>
      <vt:lpstr>Openstack 2024.2 with Kolla Ansible</vt:lpstr>
      <vt:lpstr>PowerPoint Presentation</vt:lpstr>
      <vt:lpstr>PowerPoint Presentation</vt:lpstr>
      <vt:lpstr>PowerPoint Presentation</vt:lpstr>
      <vt:lpstr>All in one Multi Node cloud infrastructure (compute, Network, Storage)</vt:lpstr>
      <vt:lpstr>Build Private Cloud with OpenStack Kolla-ansible Step by Step Guide 1.0 -Part 1 Preparation </vt:lpstr>
      <vt:lpstr>Build Private Cloud with OpenStack Kolla-ansible Step by Step Guide 1.0 -Part 1 Preparation </vt:lpstr>
      <vt:lpstr>Openstack Train (kolla-ansible)</vt:lpstr>
      <vt:lpstr>PowerPoint Presentation</vt:lpstr>
      <vt:lpstr>Deploy Production Ready OpenStack Using Kolla Ansible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Referensi Lain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Google Cloud Platform Official Icons and Sample Diagrams</dc:title>
  <dc:subject/>
  <dc:creator>pds</dc:creator>
  <cp:keywords/>
  <dc:description/>
  <cp:lastModifiedBy>PDS</cp:lastModifiedBy>
  <cp:revision>218</cp:revision>
  <dcterms:modified xsi:type="dcterms:W3CDTF">2026-09-18T01:26:55Z</dcterms:modified>
  <cp:category/>
</cp:coreProperties>
</file>