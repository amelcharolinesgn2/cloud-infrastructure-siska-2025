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89" r:id="rId1"/>
  </p:sldMasterIdLst>
  <p:notesMasterIdLst>
    <p:notesMasterId r:id="rId10"/>
  </p:notesMasterIdLst>
  <p:sldIdLst>
    <p:sldId id="348" r:id="rId2"/>
    <p:sldId id="425" r:id="rId3"/>
    <p:sldId id="427" r:id="rId4"/>
    <p:sldId id="428" r:id="rId5"/>
    <p:sldId id="429" r:id="rId6"/>
    <p:sldId id="430" r:id="rId7"/>
    <p:sldId id="431" r:id="rId8"/>
    <p:sldId id="350" r:id="rId9"/>
  </p:sldIdLst>
  <p:sldSz cx="9144000" cy="5143500" type="screen16x9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eal Mueller" initials="" lastIdx="9" clrIdx="0"/>
  <p:cmAuthor id="1" name="Chuck Erickson" initials="" lastIdx="6" clrIdx="1"/>
  <p:cmAuthor id="2" name="Adam Glick" initials="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75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57"/>
    <p:restoredTop sz="58270" autoAdjust="0"/>
  </p:normalViewPr>
  <p:slideViewPr>
    <p:cSldViewPr snapToGrid="0" snapToObjects="1">
      <p:cViewPr varScale="1">
        <p:scale>
          <a:sx n="74" d="100"/>
          <a:sy n="74" d="100"/>
        </p:scale>
        <p:origin x="112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7839" cy="46481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970937" y="0"/>
            <a:ext cx="3037839" cy="46481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407181" y="696912"/>
            <a:ext cx="6195899" cy="34862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319" cy="41833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829967"/>
            <a:ext cx="3037839" cy="46481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839" cy="46481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41411827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6013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https://docs.ultralytics.com/yolov5/environments/docker_image_quickstart_tutorial/#step-3-use-yolov5-within-the-docker-container</a:t>
            </a:r>
          </a:p>
          <a:p>
            <a:endParaRPr lang="en-US" dirty="0" smtClean="0"/>
          </a:p>
          <a:p>
            <a:r>
              <a:rPr lang="en-US" smtClean="0"/>
              <a:t>https://github.com/ultralytics/ultralytics/issues/6374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713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6013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https://docs.ultralytics.com/yolov5/environments/docker_image_quickstart_tutorial/#step-3-use-yolov5-within-the-docker-container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2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3813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6013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https://docs.ultralytics.com/yolov5/environments/docker_image_quickstart_tutorial/#step-3-use-yolov5-within-the-docker-container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2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41877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6013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https://docs.ultralytics.com/yolov5/environments/docker_image_quickstart_tutorial/#step-3-use-yolov5-within-the-docker-container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2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59742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6013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https://docs.ultralytics.com/yolov5/environments/docker_image_quickstart_tutorial/#step-3-use-yolov5-within-the-docker-container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2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45891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6013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https://docs.ultralytics.com/yolov5/environments/docker_image_quickstart_tutorial/#step-3-use-yolov5-within-the-docker-container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2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44711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6013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https://docs.ultralytics.com/yolov5/environments/docker_image_quickstart_tutorial/#step-3-use-yolov5-within-the-docker-container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2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26954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05498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963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552398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28396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20674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642112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873207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61320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10823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84920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430865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02337E-4703-49AB-8D81-EA2F8A6577F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646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melcharolinesgn2/AWS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ltralytics.com/glossary/machine-learning-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ultralytics.com/glossary/object-detection" TargetMode="External"/><Relationship Id="rId4" Type="http://schemas.openxmlformats.org/officeDocument/2006/relationships/hyperlink" Target="https://www.ultralytics.com/glossary/deep-learning-d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919" y="1"/>
            <a:ext cx="3979069" cy="2536031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277816" y="1346868"/>
            <a:ext cx="3603272" cy="1447266"/>
            <a:chOff x="89638" y="359621"/>
            <a:chExt cx="4804363" cy="192968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105" y="1881965"/>
              <a:ext cx="3104181" cy="263526"/>
            </a:xfrm>
            <a:prstGeom prst="rect">
              <a:avLst/>
            </a:prstGeom>
          </p:spPr>
        </p:pic>
        <p:sp>
          <p:nvSpPr>
            <p:cNvPr id="1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89638" y="1389204"/>
              <a:ext cx="4804363" cy="900105"/>
            </a:xfrm>
            <a:prstGeom prst="rect">
              <a:avLst/>
            </a:prstGeom>
          </p:spPr>
          <p:txBody>
            <a:bodyPr vert="horz" lIns="68580" tIns="34290" rIns="68580" bIns="3429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3000" dirty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sz="3000" dirty="0">
                  <a:solidFill>
                    <a:srgbClr val="00B0F0"/>
                  </a:solidFill>
                </a:rPr>
                <a:t>Vision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176068" y="503243"/>
              <a:ext cx="1334145" cy="620384"/>
              <a:chOff x="7439031" y="1585639"/>
              <a:chExt cx="2143740" cy="996849"/>
            </a:xfrm>
            <a:solidFill>
              <a:schemeClr val="accent6"/>
            </a:solidFill>
          </p:grpSpPr>
          <p:sp>
            <p:nvSpPr>
              <p:cNvPr id="17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439031" y="1585639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800" dirty="0"/>
              </a:p>
            </p:txBody>
          </p:sp>
          <p:sp>
            <p:nvSpPr>
              <p:cNvPr id="18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174174" y="1963600"/>
                <a:ext cx="443936" cy="326799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560697" y="757061"/>
              <a:ext cx="729275" cy="203382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 fontScale="5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7030A0"/>
                  </a:solidFill>
                </a:rPr>
                <a:t>PDS</a:t>
              </a: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8807" y="1979698"/>
            <a:ext cx="334565" cy="4768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773" y="1991577"/>
            <a:ext cx="460043" cy="4370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784" y="1979697"/>
            <a:ext cx="449747" cy="433166"/>
          </a:xfrm>
          <a:prstGeom prst="rect">
            <a:avLst/>
          </a:prstGeom>
        </p:spPr>
      </p:pic>
      <p:sp>
        <p:nvSpPr>
          <p:cNvPr id="26" name="Subtitle 2"/>
          <p:cNvSpPr txBox="1">
            <a:spLocks/>
          </p:cNvSpPr>
          <p:nvPr/>
        </p:nvSpPr>
        <p:spPr>
          <a:xfrm>
            <a:off x="1928066" y="2722292"/>
            <a:ext cx="6768461" cy="390806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 smtClean="0"/>
              <a:t>Docker</a:t>
            </a:r>
          </a:p>
          <a:p>
            <a:pPr algn="l"/>
            <a:r>
              <a:rPr lang="en-US" sz="3200" dirty="0" smtClean="0"/>
              <a:t>Docker-Image</a:t>
            </a:r>
          </a:p>
          <a:p>
            <a:pPr algn="l"/>
            <a:r>
              <a:rPr lang="en-US" sz="3200" dirty="0"/>
              <a:t> </a:t>
            </a:r>
            <a:r>
              <a:rPr lang="en-US" sz="3200" dirty="0" smtClean="0"/>
              <a:t>   for Deep </a:t>
            </a:r>
            <a:r>
              <a:rPr lang="en-US" sz="3200" dirty="0"/>
              <a:t>Learning</a:t>
            </a:r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1928067" y="3546558"/>
            <a:ext cx="6425543" cy="503071"/>
          </a:xfrm>
          <a:prstGeom prst="rect">
            <a:avLst/>
          </a:prstGeom>
        </p:spPr>
        <p:txBody>
          <a:bodyPr vert="horz" lIns="68580" tIns="34290" rIns="68580" bIns="3429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300" dirty="0">
                <a:solidFill>
                  <a:srgbClr val="0070C0"/>
                </a:solidFill>
              </a:rPr>
              <a:t>.</a:t>
            </a:r>
            <a:endParaRPr lang="en-US" sz="3300" b="1" dirty="0"/>
          </a:p>
        </p:txBody>
      </p:sp>
      <p:sp>
        <p:nvSpPr>
          <p:cNvPr id="25" name="Rectangle 24"/>
          <p:cNvSpPr/>
          <p:nvPr/>
        </p:nvSpPr>
        <p:spPr>
          <a:xfrm>
            <a:off x="6732841" y="4860928"/>
            <a:ext cx="2218246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00" dirty="0"/>
              <a:t>https</a:t>
            </a:r>
            <a:r>
              <a:rPr lang="en-US" sz="500" dirty="0" smtClean="0"/>
              <a:t>://github.com/amelcharolinesgn2/IoT_simulator-mqtt-NodeRed</a:t>
            </a:r>
            <a:endParaRPr lang="en-US" sz="500" dirty="0"/>
          </a:p>
        </p:txBody>
      </p:sp>
      <p:sp>
        <p:nvSpPr>
          <p:cNvPr id="28" name="Rectangle 27"/>
          <p:cNvSpPr/>
          <p:nvPr/>
        </p:nvSpPr>
        <p:spPr>
          <a:xfrm>
            <a:off x="7399424" y="4226014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https://www.youtube.com/@AmelOline/videos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11995" y="4163714"/>
            <a:ext cx="879077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https://github.com/siagianp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48692" y="4297613"/>
            <a:ext cx="1452642" cy="1504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378" dirty="0"/>
              <a:t>https://github.com/amelcharolinesgn2/Cloud-Infrastructures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82594" y="4361639"/>
            <a:ext cx="1718740" cy="1504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378" dirty="0"/>
              <a:t>https://github.com/amelcharolinesgn2/ClouD-Infrastructure-SISKA-2025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99424" y="4412582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github.com/amelcharolinesgn2/CCNA-1-v7</a:t>
            </a:r>
            <a:endParaRPr lang="en-US" sz="378" dirty="0"/>
          </a:p>
        </p:txBody>
      </p:sp>
      <p:sp>
        <p:nvSpPr>
          <p:cNvPr id="33" name="Rectangle 32"/>
          <p:cNvSpPr/>
          <p:nvPr/>
        </p:nvSpPr>
        <p:spPr>
          <a:xfrm>
            <a:off x="7399424" y="4474262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github.com/amelcharolinesgn2/CCNA-2-v7</a:t>
            </a:r>
            <a:endParaRPr lang="en-US" sz="378" dirty="0"/>
          </a:p>
        </p:txBody>
      </p:sp>
      <p:sp>
        <p:nvSpPr>
          <p:cNvPr id="34" name="Rectangle 33"/>
          <p:cNvSpPr/>
          <p:nvPr/>
        </p:nvSpPr>
        <p:spPr>
          <a:xfrm>
            <a:off x="7400546" y="4730150"/>
            <a:ext cx="1301349" cy="208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>
                <a:hlinkClick r:id="rId8"/>
              </a:rPr>
              <a:t>https://github.com/amelcharolinesgn2/AWS</a:t>
            </a:r>
            <a:r>
              <a:rPr lang="en-US" sz="378" dirty="0"/>
              <a:t> Certificate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00546" y="4788307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>
                <a:hlinkClick r:id="rId8"/>
              </a:rPr>
              <a:t>https://</a:t>
            </a:r>
            <a:r>
              <a:rPr lang="en-US" sz="378" dirty="0" smtClean="0">
                <a:hlinkClick r:id="rId8"/>
              </a:rPr>
              <a:t>github.com/amelcharolinesgn2/OpenStack</a:t>
            </a:r>
            <a:endParaRPr lang="en-US" sz="378" dirty="0"/>
          </a:p>
        </p:txBody>
      </p:sp>
      <p:sp>
        <p:nvSpPr>
          <p:cNvPr id="36" name="Rectangle 35"/>
          <p:cNvSpPr/>
          <p:nvPr/>
        </p:nvSpPr>
        <p:spPr>
          <a:xfrm>
            <a:off x="7399985" y="4671621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>
                <a:hlinkClick r:id="rId8"/>
              </a:rPr>
              <a:t>https://</a:t>
            </a:r>
            <a:r>
              <a:rPr lang="en-US" sz="378" dirty="0" smtClean="0">
                <a:hlinkClick r:id="rId8"/>
              </a:rPr>
              <a:t>github.com/amelcharolinesgn2/CloudSim</a:t>
            </a:r>
            <a:endParaRPr lang="en-US" sz="378" dirty="0"/>
          </a:p>
        </p:txBody>
      </p:sp>
      <p:sp>
        <p:nvSpPr>
          <p:cNvPr id="37" name="Rectangle 36"/>
          <p:cNvSpPr/>
          <p:nvPr/>
        </p:nvSpPr>
        <p:spPr>
          <a:xfrm>
            <a:off x="7398863" y="4534372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github.com/amelcharolinesgn2/CCNA-3-v7</a:t>
            </a:r>
            <a:endParaRPr lang="en-US" sz="378" dirty="0"/>
          </a:p>
        </p:txBody>
      </p:sp>
      <p:sp>
        <p:nvSpPr>
          <p:cNvPr id="38" name="Rectangle 37"/>
          <p:cNvSpPr/>
          <p:nvPr/>
        </p:nvSpPr>
        <p:spPr>
          <a:xfrm>
            <a:off x="7398863" y="4583306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github.com/amelcharolinesgn2/CCNA-4-v7</a:t>
            </a:r>
            <a:endParaRPr lang="en-US" sz="378" dirty="0"/>
          </a:p>
        </p:txBody>
      </p:sp>
      <p:sp>
        <p:nvSpPr>
          <p:cNvPr id="39" name="Rectangle 38"/>
          <p:cNvSpPr/>
          <p:nvPr/>
        </p:nvSpPr>
        <p:spPr>
          <a:xfrm>
            <a:off x="7282182" y="4631047"/>
            <a:ext cx="1408890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github.com/amelcharolinesgn2/ANJAR_CCNP_Lab</a:t>
            </a:r>
            <a:endParaRPr lang="en-US" sz="378" dirty="0"/>
          </a:p>
        </p:txBody>
      </p:sp>
    </p:spTree>
    <p:extLst>
      <p:ext uri="{BB962C8B-B14F-4D97-AF65-F5344CB8AC3E}">
        <p14:creationId xmlns:p14="http://schemas.microsoft.com/office/powerpoint/2010/main" val="2864224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962" y="160956"/>
            <a:ext cx="7886700" cy="403489"/>
          </a:xfrm>
        </p:spPr>
        <p:txBody>
          <a:bodyPr>
            <a:normAutofit fontScale="90000"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Exampe</a:t>
            </a:r>
            <a:r>
              <a:rPr lang="en-US" b="1" dirty="0" smtClean="0">
                <a:solidFill>
                  <a:srgbClr val="FF0000"/>
                </a:solidFill>
              </a:rPr>
              <a:t> 3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59317" y="689713"/>
            <a:ext cx="7886700" cy="403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Get Started with YOLOv5 🚀 in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962" y="1100205"/>
            <a:ext cx="4022371" cy="22390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/>
              <a:t>Prerequisites</a:t>
            </a:r>
          </a:p>
          <a:p>
            <a:pPr algn="just"/>
            <a:r>
              <a:rPr lang="en-US" sz="1200" dirty="0"/>
              <a:t>Before you begin, ensure you have the following installed:</a:t>
            </a:r>
          </a:p>
          <a:p>
            <a:pPr algn="just"/>
            <a:endParaRPr lang="en-US" sz="1050" dirty="0"/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US" sz="1050" dirty="0"/>
              <a:t>Docker: Download and install Docker from the official Docker website. Docker is essential for creating and managing containers.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US" sz="1050" dirty="0"/>
              <a:t>NVIDIA Drivers (Required for GPU support): Ensure you have NVIDIA drivers version 455.23 or higher installed. You can download the latest drivers from NVIDIA's website.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US" sz="1050" dirty="0"/>
              <a:t>NVIDIA Container Toolkit (Required for GPU support): This toolkit allows Docker containers to access your host machine's NVIDIA GPUs. Follow the official NVIDIA Container Toolkit installation guide for detailed instructions.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US" sz="1050" dirty="0"/>
              <a:t>Setting up NVIDIA Container Toolkit (GPU Users)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815977"/>
            <a:ext cx="4120444" cy="122341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en-US" sz="1050" dirty="0"/>
              <a:t>curl -</a:t>
            </a:r>
            <a:r>
              <a:rPr lang="en-US" sz="1050" dirty="0" err="1"/>
              <a:t>fsSL</a:t>
            </a:r>
            <a:r>
              <a:rPr lang="en-US" sz="1050" dirty="0"/>
              <a:t> https://nvidia.github.io/libnvidia-container/gpgkey | </a:t>
            </a:r>
            <a:r>
              <a:rPr lang="en-US" sz="1050" dirty="0" err="1"/>
              <a:t>sudo</a:t>
            </a:r>
            <a:r>
              <a:rPr lang="en-US" sz="1050" dirty="0"/>
              <a:t> </a:t>
            </a:r>
            <a:r>
              <a:rPr lang="en-US" sz="1050" dirty="0" err="1"/>
              <a:t>gpg</a:t>
            </a:r>
            <a:r>
              <a:rPr lang="en-US" sz="1050" dirty="0"/>
              <a:t> --</a:t>
            </a:r>
            <a:r>
              <a:rPr lang="en-US" sz="1050" dirty="0" err="1"/>
              <a:t>dearmor</a:t>
            </a:r>
            <a:r>
              <a:rPr lang="en-US" sz="1050" dirty="0"/>
              <a:t> -o /</a:t>
            </a:r>
            <a:r>
              <a:rPr lang="en-US" sz="1050" dirty="0" err="1"/>
              <a:t>usr</a:t>
            </a:r>
            <a:r>
              <a:rPr lang="en-US" sz="1050" dirty="0"/>
              <a:t>/share/keyrings/</a:t>
            </a:r>
            <a:r>
              <a:rPr lang="en-US" sz="1050" dirty="0" err="1"/>
              <a:t>nvidia</a:t>
            </a:r>
            <a:r>
              <a:rPr lang="en-US" sz="1050" dirty="0"/>
              <a:t>-container-toolkit-</a:t>
            </a:r>
            <a:r>
              <a:rPr lang="en-US" sz="1050" dirty="0" err="1"/>
              <a:t>keyring.gpg</a:t>
            </a:r>
            <a:r>
              <a:rPr lang="en-US" sz="1050" dirty="0"/>
              <a:t> \ &amp;&amp; curl -s -L https://nvidia.github.io/libnvidia-container/stable/deb/nvidia-container-toolkit.list \ | </a:t>
            </a:r>
            <a:r>
              <a:rPr lang="en-US" sz="1050" dirty="0" err="1"/>
              <a:t>sed</a:t>
            </a:r>
            <a:r>
              <a:rPr lang="en-US" sz="1050" dirty="0"/>
              <a:t> '</a:t>
            </a:r>
            <a:r>
              <a:rPr lang="en-US" sz="1050" dirty="0" err="1"/>
              <a:t>s#deb</a:t>
            </a:r>
            <a:r>
              <a:rPr lang="en-US" sz="1050" dirty="0"/>
              <a:t> https://#deb [signed-by=/</a:t>
            </a:r>
            <a:r>
              <a:rPr lang="en-US" sz="1050" dirty="0" err="1"/>
              <a:t>usr</a:t>
            </a:r>
            <a:r>
              <a:rPr lang="en-US" sz="1050" dirty="0"/>
              <a:t>/share/keyrings/</a:t>
            </a:r>
            <a:r>
              <a:rPr lang="en-US" sz="1050" dirty="0" err="1"/>
              <a:t>nvidia</a:t>
            </a:r>
            <a:r>
              <a:rPr lang="en-US" sz="1050" dirty="0"/>
              <a:t>-container-toolkit-</a:t>
            </a:r>
            <a:r>
              <a:rPr lang="en-US" sz="1050" dirty="0" err="1"/>
              <a:t>keyring.gpg</a:t>
            </a:r>
            <a:r>
              <a:rPr lang="en-US" sz="1050" dirty="0"/>
              <a:t>] https://#g' \ | </a:t>
            </a:r>
            <a:r>
              <a:rPr lang="en-US" sz="1050" dirty="0" err="1"/>
              <a:t>sudo</a:t>
            </a:r>
            <a:r>
              <a:rPr lang="en-US" sz="1050" dirty="0"/>
              <a:t> tee /</a:t>
            </a:r>
            <a:r>
              <a:rPr lang="en-US" sz="1050" dirty="0" err="1"/>
              <a:t>etc</a:t>
            </a:r>
            <a:r>
              <a:rPr lang="en-US" sz="1050" dirty="0"/>
              <a:t>/apt/</a:t>
            </a:r>
            <a:r>
              <a:rPr lang="en-US" sz="1050" dirty="0" err="1"/>
              <a:t>sources.list.d</a:t>
            </a:r>
            <a:r>
              <a:rPr lang="en-US" sz="1050" dirty="0"/>
              <a:t>/</a:t>
            </a:r>
            <a:r>
              <a:rPr lang="en-US" sz="1050" dirty="0" err="1"/>
              <a:t>nvidia</a:t>
            </a:r>
            <a:r>
              <a:rPr lang="en-US" sz="1050" dirty="0"/>
              <a:t>-container-</a:t>
            </a:r>
            <a:r>
              <a:rPr lang="en-US" sz="1050" dirty="0" err="1"/>
              <a:t>toolkit.list</a:t>
            </a:r>
            <a:endParaRPr lang="en-US" sz="1050" dirty="0"/>
          </a:p>
        </p:txBody>
      </p:sp>
      <p:sp>
        <p:nvSpPr>
          <p:cNvPr id="11" name="Rectangle 10"/>
          <p:cNvSpPr/>
          <p:nvPr/>
        </p:nvSpPr>
        <p:spPr>
          <a:xfrm>
            <a:off x="210962" y="3465010"/>
            <a:ext cx="4572000" cy="530915"/>
          </a:xfrm>
          <a:prstGeom prst="rect">
            <a:avLst/>
          </a:prstGeom>
          <a:solidFill>
            <a:schemeClr val="bg2"/>
          </a:solidFill>
        </p:spPr>
        <p:txBody>
          <a:bodyPr>
            <a:spAutoFit/>
          </a:bodyPr>
          <a:lstStyle/>
          <a:p>
            <a:r>
              <a:rPr lang="en-US" sz="1050" dirty="0"/>
              <a:t>First, verify that your NVIDIA drivers are installed correctly by running:</a:t>
            </a:r>
          </a:p>
          <a:p>
            <a:r>
              <a:rPr lang="en-US" dirty="0" err="1" smtClean="0"/>
              <a:t>nvidia-smi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4380089" y="1063941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50" dirty="0"/>
              <a:t>This command should display information about your GPU(s) and the installed driver version.</a:t>
            </a:r>
          </a:p>
          <a:p>
            <a:endParaRPr lang="en-US" sz="1050" dirty="0"/>
          </a:p>
          <a:p>
            <a:r>
              <a:rPr lang="en-US" sz="1050" dirty="0"/>
              <a:t>Next, install the NVIDIA Container Toolkit. </a:t>
            </a:r>
          </a:p>
        </p:txBody>
      </p:sp>
    </p:spTree>
    <p:extLst>
      <p:ext uri="{BB962C8B-B14F-4D97-AF65-F5344CB8AC3E}">
        <p14:creationId xmlns:p14="http://schemas.microsoft.com/office/powerpoint/2010/main" val="3544867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962" y="160956"/>
            <a:ext cx="7886700" cy="403489"/>
          </a:xfrm>
        </p:spPr>
        <p:txBody>
          <a:bodyPr>
            <a:normAutofit fontScale="90000"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Exampe</a:t>
            </a:r>
            <a:r>
              <a:rPr lang="en-US" b="1" dirty="0" smtClean="0">
                <a:solidFill>
                  <a:srgbClr val="FF0000"/>
                </a:solidFill>
              </a:rPr>
              <a:t> 3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25451" y="696716"/>
            <a:ext cx="7886700" cy="403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Get Started with YOLOv5 🚀 in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Docker (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</a:rPr>
              <a:t>Cons’t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)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0962" y="1100205"/>
            <a:ext cx="4022371" cy="2954655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200" dirty="0"/>
              <a:t>Update the package lists and install the </a:t>
            </a:r>
            <a:r>
              <a:rPr lang="en-US" sz="1200" dirty="0" err="1"/>
              <a:t>nvidia</a:t>
            </a:r>
            <a:r>
              <a:rPr lang="en-US" sz="1200" dirty="0"/>
              <a:t>-container-toolkit package:</a:t>
            </a:r>
          </a:p>
          <a:p>
            <a:pPr algn="just"/>
            <a:endParaRPr lang="en-US" sz="1200" dirty="0">
              <a:solidFill>
                <a:srgbClr val="00B0F0"/>
              </a:solidFill>
            </a:endParaRPr>
          </a:p>
          <a:p>
            <a:pPr algn="just"/>
            <a:r>
              <a:rPr lang="en-US" sz="1200" dirty="0" err="1">
                <a:solidFill>
                  <a:srgbClr val="00B0F0"/>
                </a:solidFill>
              </a:rPr>
              <a:t>sudo</a:t>
            </a:r>
            <a:r>
              <a:rPr lang="en-US" sz="1200" dirty="0">
                <a:solidFill>
                  <a:srgbClr val="00B0F0"/>
                </a:solidFill>
              </a:rPr>
              <a:t> apt-get </a:t>
            </a:r>
            <a:r>
              <a:rPr lang="en-US" sz="1200" dirty="0" smtClean="0">
                <a:solidFill>
                  <a:srgbClr val="00B0F0"/>
                </a:solidFill>
              </a:rPr>
              <a:t>update</a:t>
            </a:r>
          </a:p>
          <a:p>
            <a:pPr algn="just"/>
            <a:endParaRPr lang="en-US" sz="1200" dirty="0"/>
          </a:p>
          <a:p>
            <a:pPr algn="just"/>
            <a:r>
              <a:rPr lang="en-US" sz="1200" dirty="0"/>
              <a:t>Install Latest version of </a:t>
            </a:r>
            <a:r>
              <a:rPr lang="en-US" sz="1200" dirty="0" err="1"/>
              <a:t>nvidia</a:t>
            </a:r>
            <a:r>
              <a:rPr lang="en-US" sz="1200" dirty="0"/>
              <a:t>-container-toolkit</a:t>
            </a:r>
          </a:p>
          <a:p>
            <a:pPr algn="just"/>
            <a:endParaRPr lang="en-US" sz="1200" dirty="0"/>
          </a:p>
          <a:p>
            <a:pPr algn="just"/>
            <a:r>
              <a:rPr lang="en-US" sz="1200" dirty="0" err="1">
                <a:solidFill>
                  <a:srgbClr val="00B0F0"/>
                </a:solidFill>
              </a:rPr>
              <a:t>sudo</a:t>
            </a:r>
            <a:r>
              <a:rPr lang="en-US" sz="1200" dirty="0">
                <a:solidFill>
                  <a:srgbClr val="00B0F0"/>
                </a:solidFill>
              </a:rPr>
              <a:t> apt-get install -y </a:t>
            </a:r>
            <a:r>
              <a:rPr lang="en-US" sz="1200" dirty="0" err="1">
                <a:solidFill>
                  <a:srgbClr val="00B0F0"/>
                </a:solidFill>
              </a:rPr>
              <a:t>nvidia</a:t>
            </a:r>
            <a:r>
              <a:rPr lang="en-US" sz="1200" dirty="0">
                <a:solidFill>
                  <a:srgbClr val="00B0F0"/>
                </a:solidFill>
              </a:rPr>
              <a:t>-container-toolkit \</a:t>
            </a:r>
          </a:p>
          <a:p>
            <a:pPr algn="just"/>
            <a:r>
              <a:rPr lang="en-US" sz="1200" dirty="0">
                <a:solidFill>
                  <a:srgbClr val="00B0F0"/>
                </a:solidFill>
              </a:rPr>
              <a:t>  </a:t>
            </a:r>
            <a:r>
              <a:rPr lang="en-US" sz="1200" dirty="0" err="1">
                <a:solidFill>
                  <a:srgbClr val="00B0F0"/>
                </a:solidFill>
              </a:rPr>
              <a:t>nvidia</a:t>
            </a:r>
            <a:r>
              <a:rPr lang="en-US" sz="1200" dirty="0">
                <a:solidFill>
                  <a:srgbClr val="00B0F0"/>
                </a:solidFill>
              </a:rPr>
              <a:t>-container-toolkit-base </a:t>
            </a:r>
            <a:r>
              <a:rPr lang="en-US" sz="1200" dirty="0" err="1">
                <a:solidFill>
                  <a:srgbClr val="00B0F0"/>
                </a:solidFill>
              </a:rPr>
              <a:t>libnvidia</a:t>
            </a:r>
            <a:r>
              <a:rPr lang="en-US" sz="1200" dirty="0">
                <a:solidFill>
                  <a:srgbClr val="00B0F0"/>
                </a:solidFill>
              </a:rPr>
              <a:t>-container-tools \</a:t>
            </a:r>
          </a:p>
          <a:p>
            <a:pPr algn="just"/>
            <a:r>
              <a:rPr lang="en-US" sz="1200" dirty="0">
                <a:solidFill>
                  <a:srgbClr val="00B0F0"/>
                </a:solidFill>
              </a:rPr>
              <a:t>  libnvidia-container1</a:t>
            </a:r>
          </a:p>
          <a:p>
            <a:pPr algn="just"/>
            <a:r>
              <a:rPr lang="en-US" sz="1200" dirty="0"/>
              <a:t>Optional: Install specific version of </a:t>
            </a:r>
            <a:r>
              <a:rPr lang="en-US" sz="1200" dirty="0" err="1"/>
              <a:t>nvidia</a:t>
            </a:r>
            <a:r>
              <a:rPr lang="en-US" sz="1200" dirty="0"/>
              <a:t>-container-toolkit</a:t>
            </a:r>
          </a:p>
          <a:p>
            <a:pPr algn="just"/>
            <a:endParaRPr lang="en-US" sz="1200" dirty="0"/>
          </a:p>
          <a:p>
            <a:pPr algn="just"/>
            <a:r>
              <a:rPr lang="en-US" sz="1200" dirty="0" err="1">
                <a:solidFill>
                  <a:srgbClr val="00B0F0"/>
                </a:solidFill>
              </a:rPr>
              <a:t>sudo</a:t>
            </a:r>
            <a:r>
              <a:rPr lang="en-US" sz="1200" dirty="0">
                <a:solidFill>
                  <a:srgbClr val="00B0F0"/>
                </a:solidFill>
              </a:rPr>
              <a:t> </a:t>
            </a:r>
            <a:r>
              <a:rPr lang="en-US" sz="1200" dirty="0" err="1">
                <a:solidFill>
                  <a:srgbClr val="00B0F0"/>
                </a:solidFill>
              </a:rPr>
              <a:t>nvidia-ctk</a:t>
            </a:r>
            <a:r>
              <a:rPr lang="en-US" sz="1200" dirty="0">
                <a:solidFill>
                  <a:srgbClr val="00B0F0"/>
                </a:solidFill>
              </a:rPr>
              <a:t> runtime configure --runtime=</a:t>
            </a:r>
            <a:r>
              <a:rPr lang="en-US" sz="1200" dirty="0" err="1">
                <a:solidFill>
                  <a:srgbClr val="00B0F0"/>
                </a:solidFill>
              </a:rPr>
              <a:t>docker</a:t>
            </a:r>
            <a:endParaRPr lang="en-US" sz="1200" dirty="0">
              <a:solidFill>
                <a:srgbClr val="00B0F0"/>
              </a:solidFill>
            </a:endParaRPr>
          </a:p>
          <a:p>
            <a:pPr algn="just"/>
            <a:r>
              <a:rPr lang="en-US" sz="1200" dirty="0" err="1">
                <a:solidFill>
                  <a:srgbClr val="00B0F0"/>
                </a:solidFill>
              </a:rPr>
              <a:t>sudo</a:t>
            </a:r>
            <a:r>
              <a:rPr lang="en-US" sz="1200" dirty="0">
                <a:solidFill>
                  <a:srgbClr val="00B0F0"/>
                </a:solidFill>
              </a:rPr>
              <a:t> </a:t>
            </a:r>
            <a:r>
              <a:rPr lang="en-US" sz="1200" dirty="0" err="1">
                <a:solidFill>
                  <a:srgbClr val="00B0F0"/>
                </a:solidFill>
              </a:rPr>
              <a:t>systemctl</a:t>
            </a:r>
            <a:r>
              <a:rPr lang="en-US" sz="1200" dirty="0">
                <a:solidFill>
                  <a:srgbClr val="00B0F0"/>
                </a:solidFill>
              </a:rPr>
              <a:t> restart </a:t>
            </a:r>
            <a:r>
              <a:rPr lang="en-US" sz="1200" dirty="0" err="1">
                <a:solidFill>
                  <a:srgbClr val="00B0F0"/>
                </a:solidFill>
              </a:rPr>
              <a:t>docker</a:t>
            </a:r>
            <a:r>
              <a:rPr lang="en-US" sz="1200" dirty="0">
                <a:solidFill>
                  <a:srgbClr val="00B0F0"/>
                </a:solidFill>
              </a:rPr>
              <a:t/>
            </a:r>
            <a:br>
              <a:rPr lang="en-US" sz="1200" dirty="0">
                <a:solidFill>
                  <a:srgbClr val="00B0F0"/>
                </a:solidFill>
              </a:rPr>
            </a:b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647495" y="1100205"/>
            <a:ext cx="4022371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Verify NVIDIA Runtime with Docker</a:t>
            </a:r>
          </a:p>
          <a:p>
            <a:pPr algn="just"/>
            <a:endParaRPr lang="en-US" sz="1200" b="1" dirty="0"/>
          </a:p>
          <a:p>
            <a:pPr algn="just"/>
            <a:r>
              <a:rPr lang="en-US" sz="900" dirty="0"/>
              <a:t>Run </a:t>
            </a:r>
            <a:r>
              <a:rPr lang="en-US" sz="900" dirty="0" err="1"/>
              <a:t>docker</a:t>
            </a:r>
            <a:r>
              <a:rPr lang="en-US" sz="900" dirty="0"/>
              <a:t> info | </a:t>
            </a:r>
            <a:r>
              <a:rPr lang="en-US" sz="900" dirty="0" err="1"/>
              <a:t>grep</a:t>
            </a:r>
            <a:r>
              <a:rPr lang="en-US" sz="900" dirty="0"/>
              <a:t> -</a:t>
            </a:r>
            <a:r>
              <a:rPr lang="en-US" sz="900" dirty="0" err="1"/>
              <a:t>i</a:t>
            </a:r>
            <a:r>
              <a:rPr lang="en-US" sz="900" dirty="0"/>
              <a:t> runtime to ensure that </a:t>
            </a:r>
            <a:r>
              <a:rPr lang="en-US" sz="900" dirty="0" err="1"/>
              <a:t>nvidia</a:t>
            </a:r>
            <a:r>
              <a:rPr lang="en-US" sz="900" dirty="0"/>
              <a:t> appears in the list of runtimes:</a:t>
            </a:r>
          </a:p>
          <a:p>
            <a:pPr algn="just"/>
            <a:endParaRPr lang="en-US" sz="900" dirty="0"/>
          </a:p>
          <a:p>
            <a:pPr algn="just"/>
            <a:r>
              <a:rPr lang="en-US" sz="900" dirty="0" err="1">
                <a:solidFill>
                  <a:srgbClr val="00B0F0"/>
                </a:solidFill>
              </a:rPr>
              <a:t>docker</a:t>
            </a:r>
            <a:r>
              <a:rPr lang="en-US" sz="900" dirty="0">
                <a:solidFill>
                  <a:srgbClr val="00B0F0"/>
                </a:solidFill>
              </a:rPr>
              <a:t> info | </a:t>
            </a:r>
            <a:r>
              <a:rPr lang="en-US" sz="900" dirty="0" err="1">
                <a:solidFill>
                  <a:srgbClr val="00B0F0"/>
                </a:solidFill>
              </a:rPr>
              <a:t>grep</a:t>
            </a:r>
            <a:r>
              <a:rPr lang="en-US" sz="900" dirty="0">
                <a:solidFill>
                  <a:srgbClr val="00B0F0"/>
                </a:solidFill>
              </a:rPr>
              <a:t> -</a:t>
            </a:r>
            <a:r>
              <a:rPr lang="en-US" sz="900" dirty="0" err="1">
                <a:solidFill>
                  <a:srgbClr val="00B0F0"/>
                </a:solidFill>
              </a:rPr>
              <a:t>i</a:t>
            </a:r>
            <a:r>
              <a:rPr lang="en-US" sz="900" dirty="0">
                <a:solidFill>
                  <a:srgbClr val="00B0F0"/>
                </a:solidFill>
              </a:rPr>
              <a:t> </a:t>
            </a:r>
            <a:r>
              <a:rPr lang="en-US" sz="900" dirty="0" smtClean="0">
                <a:solidFill>
                  <a:srgbClr val="00B0F0"/>
                </a:solidFill>
              </a:rPr>
              <a:t>runtime</a:t>
            </a:r>
          </a:p>
          <a:p>
            <a:pPr algn="just"/>
            <a:endParaRPr lang="en-US" sz="900" dirty="0">
              <a:solidFill>
                <a:srgbClr val="00B0F0"/>
              </a:solidFill>
            </a:endParaRPr>
          </a:p>
          <a:p>
            <a:pPr algn="just"/>
            <a:r>
              <a:rPr lang="en-US" sz="900" dirty="0"/>
              <a:t>You should see </a:t>
            </a:r>
            <a:r>
              <a:rPr lang="en-US" sz="900" dirty="0" err="1"/>
              <a:t>nvidia</a:t>
            </a:r>
            <a:r>
              <a:rPr lang="en-US" sz="900" dirty="0"/>
              <a:t> listed as one of the available runtimes.</a:t>
            </a:r>
          </a:p>
          <a:p>
            <a:r>
              <a:rPr lang="en-US" sz="1200" dirty="0"/>
              <a:t/>
            </a:r>
            <a:br>
              <a:rPr lang="en-US" sz="12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377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962" y="160956"/>
            <a:ext cx="7886700" cy="403489"/>
          </a:xfrm>
        </p:spPr>
        <p:txBody>
          <a:bodyPr>
            <a:normAutofit fontScale="90000"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Exampe</a:t>
            </a:r>
            <a:r>
              <a:rPr lang="en-US" b="1" dirty="0" smtClean="0">
                <a:solidFill>
                  <a:srgbClr val="FF0000"/>
                </a:solidFill>
              </a:rPr>
              <a:t> 3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25451" y="696716"/>
            <a:ext cx="7886700" cy="403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Get Started with YOLOv5 🚀 in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Docker (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</a:rPr>
              <a:t>Cons’t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)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46430" y="1232476"/>
            <a:ext cx="402237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b="1" dirty="0"/>
              <a:t>Step 1: Pull the YOLOv5 Docker </a:t>
            </a:r>
            <a:r>
              <a:rPr lang="en-US" sz="1200" b="1" dirty="0" smtClean="0"/>
              <a:t>Image</a:t>
            </a:r>
          </a:p>
          <a:p>
            <a:pPr algn="just"/>
            <a:endParaRPr lang="en-US" sz="1200" dirty="0"/>
          </a:p>
          <a:p>
            <a:pPr algn="just"/>
            <a:r>
              <a:rPr lang="en-US" sz="1200" dirty="0" err="1"/>
              <a:t>Ultralytics</a:t>
            </a:r>
            <a:r>
              <a:rPr lang="en-US" sz="1200" dirty="0"/>
              <a:t> provides official YOLOv5 images on Docker Hub. The latest tag tracks the most recent repository commit, ensuring you always get the newest version. Pull the image using the following command:</a:t>
            </a:r>
          </a:p>
        </p:txBody>
      </p:sp>
      <p:sp>
        <p:nvSpPr>
          <p:cNvPr id="6" name="Rectangle 5"/>
          <p:cNvSpPr/>
          <p:nvPr/>
        </p:nvSpPr>
        <p:spPr>
          <a:xfrm>
            <a:off x="357720" y="2458939"/>
            <a:ext cx="3886902" cy="156966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sz="1200" dirty="0"/>
              <a:t># Define the image name with tag</a:t>
            </a:r>
          </a:p>
          <a:p>
            <a:r>
              <a:rPr lang="en-US" sz="1200" dirty="0"/>
              <a:t>t=</a:t>
            </a:r>
            <a:r>
              <a:rPr lang="en-US" sz="1200" dirty="0" err="1"/>
              <a:t>ultralytics</a:t>
            </a:r>
            <a:r>
              <a:rPr lang="en-US" sz="1200" dirty="0"/>
              <a:t>/yolov5:latest</a:t>
            </a:r>
          </a:p>
          <a:p>
            <a:endParaRPr lang="en-US" sz="1200" dirty="0"/>
          </a:p>
          <a:p>
            <a:r>
              <a:rPr lang="en-US" sz="1200" dirty="0"/>
              <a:t># Pull the latest YOLOv5 image from Docker Hub</a:t>
            </a:r>
          </a:p>
          <a:p>
            <a:r>
              <a:rPr lang="en-US" sz="1200" dirty="0" err="1"/>
              <a:t>sudo</a:t>
            </a:r>
            <a:r>
              <a:rPr lang="en-US" sz="1200" dirty="0"/>
              <a:t> </a:t>
            </a:r>
            <a:r>
              <a:rPr lang="en-US" sz="1200" dirty="0" err="1"/>
              <a:t>docker</a:t>
            </a:r>
            <a:r>
              <a:rPr lang="en-US" sz="1200" dirty="0"/>
              <a:t> pull $t</a:t>
            </a:r>
          </a:p>
          <a:p>
            <a:endParaRPr lang="en-US" sz="1200" dirty="0" smtClean="0"/>
          </a:p>
          <a:p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</a:rPr>
              <a:t>You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can browse all available images at the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</a:rPr>
              <a:t>Ultralytics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YOLOv5 Docker Hub repository.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9763" y="1197644"/>
            <a:ext cx="402237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b="1" dirty="0"/>
              <a:t>Step 2: Run the Docker Container</a:t>
            </a:r>
          </a:p>
          <a:p>
            <a:pPr algn="just"/>
            <a:r>
              <a:rPr lang="en-US" sz="1200" dirty="0"/>
              <a:t>Once the image is pulled, you can run it as a container.</a:t>
            </a:r>
          </a:p>
          <a:p>
            <a:pPr algn="just"/>
            <a:endParaRPr lang="en-US" sz="1200" dirty="0"/>
          </a:p>
          <a:p>
            <a:pPr algn="just"/>
            <a:r>
              <a:rPr lang="en-US" sz="1200" dirty="0"/>
              <a:t>Using CPU Only</a:t>
            </a:r>
          </a:p>
          <a:p>
            <a:pPr algn="just"/>
            <a:r>
              <a:rPr lang="en-US" sz="1200" dirty="0"/>
              <a:t>To run an interactive container instance using only the CPU, use the -it flag. The --</a:t>
            </a:r>
            <a:r>
              <a:rPr lang="en-US" sz="1200" dirty="0" err="1"/>
              <a:t>ipc</a:t>
            </a:r>
            <a:r>
              <a:rPr lang="en-US" sz="1200" dirty="0"/>
              <a:t>=host flag allows sharing of host IPC namespace, which is important for shared memory access.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15232" y="2680078"/>
            <a:ext cx="3886902" cy="46166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sz="1200" dirty="0"/>
              <a:t># Run an interactive container instance using CPU </a:t>
            </a:r>
            <a:r>
              <a:rPr lang="en-US" sz="1200" dirty="0" err="1"/>
              <a:t>sudo</a:t>
            </a:r>
            <a:r>
              <a:rPr lang="en-US" sz="1200" dirty="0"/>
              <a:t> </a:t>
            </a:r>
            <a:r>
              <a:rPr lang="en-US" sz="1200" dirty="0" err="1"/>
              <a:t>docker</a:t>
            </a:r>
            <a:r>
              <a:rPr lang="en-US" sz="1200" dirty="0"/>
              <a:t> run -it --runtime=</a:t>
            </a:r>
            <a:r>
              <a:rPr lang="en-US" sz="1200" dirty="0" err="1"/>
              <a:t>nvidia</a:t>
            </a:r>
            <a:r>
              <a:rPr lang="en-US" sz="1200" dirty="0"/>
              <a:t> --</a:t>
            </a:r>
            <a:r>
              <a:rPr lang="en-US" sz="1200" dirty="0" err="1"/>
              <a:t>ipc</a:t>
            </a:r>
            <a:r>
              <a:rPr lang="en-US" sz="1200" dirty="0"/>
              <a:t>=host $t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1121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962" y="160956"/>
            <a:ext cx="7886700" cy="403489"/>
          </a:xfrm>
        </p:spPr>
        <p:txBody>
          <a:bodyPr>
            <a:normAutofit fontScale="90000"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Exampe</a:t>
            </a:r>
            <a:r>
              <a:rPr lang="en-US" b="1" dirty="0" smtClean="0">
                <a:solidFill>
                  <a:srgbClr val="FF0000"/>
                </a:solidFill>
              </a:rPr>
              <a:t> 3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25451" y="696716"/>
            <a:ext cx="7886700" cy="403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Get Started with YOLOv5 🚀 in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Docker (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</a:rPr>
              <a:t>Cons’t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)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647495" y="1100205"/>
            <a:ext cx="402237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Mounting Local </a:t>
            </a:r>
            <a:r>
              <a:rPr lang="en-US" dirty="0" smtClean="0"/>
              <a:t>Directories</a:t>
            </a:r>
          </a:p>
          <a:p>
            <a:endParaRPr lang="en-US" dirty="0"/>
          </a:p>
          <a:p>
            <a:r>
              <a:rPr lang="en-US" sz="1200" dirty="0"/>
              <a:t>To work with your local files (datasets, model weights, etc.) inside the container, use the -v flag to mount a host directory into the container:</a:t>
            </a:r>
            <a:br>
              <a:rPr lang="en-US" sz="1200" dirty="0"/>
            </a:b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46430" y="1232476"/>
            <a:ext cx="402237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Using </a:t>
            </a:r>
            <a:r>
              <a:rPr lang="en-US" dirty="0" smtClean="0"/>
              <a:t>GPU</a:t>
            </a:r>
          </a:p>
          <a:p>
            <a:endParaRPr lang="en-US" dirty="0"/>
          </a:p>
          <a:p>
            <a:r>
              <a:rPr lang="en-US" sz="1200" dirty="0"/>
              <a:t>To enable GPU access within the container, use the --</a:t>
            </a:r>
            <a:r>
              <a:rPr lang="en-US" sz="1200" dirty="0" err="1"/>
              <a:t>gpus</a:t>
            </a:r>
            <a:r>
              <a:rPr lang="en-US" sz="1200" dirty="0"/>
              <a:t> flag. This requires the NVIDIA Container Toolkit to be installed correctly.</a:t>
            </a:r>
            <a:br>
              <a:rPr lang="en-US" sz="1200" dirty="0"/>
            </a:br>
            <a:endParaRPr lang="en-US" sz="1200" dirty="0"/>
          </a:p>
        </p:txBody>
      </p:sp>
      <p:sp>
        <p:nvSpPr>
          <p:cNvPr id="6" name="Rectangle 5"/>
          <p:cNvSpPr/>
          <p:nvPr/>
        </p:nvSpPr>
        <p:spPr>
          <a:xfrm>
            <a:off x="346430" y="2473190"/>
            <a:ext cx="4022371" cy="46166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sz="800" dirty="0">
                <a:latin typeface="Roboto Mono"/>
              </a:rPr>
              <a:t># Run with access to all available GPUs</a:t>
            </a:r>
            <a:r>
              <a:rPr lang="en-US" sz="800" dirty="0">
                <a:solidFill>
                  <a:srgbClr val="36464E"/>
                </a:solidFill>
                <a:latin typeface="Roboto Mono"/>
              </a:rPr>
              <a:t> </a:t>
            </a:r>
            <a:r>
              <a:rPr lang="en-US" sz="800" dirty="0" err="1">
                <a:solidFill>
                  <a:srgbClr val="36464E"/>
                </a:solidFill>
                <a:latin typeface="Roboto Mono"/>
              </a:rPr>
              <a:t>sudo</a:t>
            </a:r>
            <a:r>
              <a:rPr lang="en-US" sz="800" dirty="0">
                <a:solidFill>
                  <a:srgbClr val="36464E"/>
                </a:solidFill>
                <a:latin typeface="Roboto Mono"/>
              </a:rPr>
              <a:t> </a:t>
            </a:r>
            <a:r>
              <a:rPr lang="en-US" sz="800" dirty="0" err="1">
                <a:solidFill>
                  <a:srgbClr val="36464E"/>
                </a:solidFill>
                <a:latin typeface="Roboto Mono"/>
              </a:rPr>
              <a:t>docker</a:t>
            </a:r>
            <a:r>
              <a:rPr lang="en-US" sz="800" dirty="0">
                <a:solidFill>
                  <a:srgbClr val="36464E"/>
                </a:solidFill>
                <a:latin typeface="Roboto Mono"/>
              </a:rPr>
              <a:t> run -it --runtime</a:t>
            </a:r>
            <a:r>
              <a:rPr lang="en-US" sz="800" dirty="0">
                <a:latin typeface="Roboto Mono"/>
              </a:rPr>
              <a:t>=</a:t>
            </a:r>
            <a:r>
              <a:rPr lang="en-US" sz="800" dirty="0" err="1">
                <a:solidFill>
                  <a:srgbClr val="36464E"/>
                </a:solidFill>
                <a:latin typeface="Roboto Mono"/>
              </a:rPr>
              <a:t>nvidia</a:t>
            </a:r>
            <a:r>
              <a:rPr lang="en-US" sz="800" dirty="0">
                <a:solidFill>
                  <a:srgbClr val="36464E"/>
                </a:solidFill>
                <a:latin typeface="Roboto Mono"/>
              </a:rPr>
              <a:t> --</a:t>
            </a:r>
            <a:r>
              <a:rPr lang="en-US" sz="800" dirty="0" err="1">
                <a:solidFill>
                  <a:srgbClr val="36464E"/>
                </a:solidFill>
                <a:latin typeface="Roboto Mono"/>
              </a:rPr>
              <a:t>ipc</a:t>
            </a:r>
            <a:r>
              <a:rPr lang="en-US" sz="800" dirty="0">
                <a:latin typeface="Roboto Mono"/>
              </a:rPr>
              <a:t>=</a:t>
            </a:r>
            <a:r>
              <a:rPr lang="en-US" sz="800" dirty="0">
                <a:solidFill>
                  <a:srgbClr val="36464E"/>
                </a:solidFill>
                <a:latin typeface="Roboto Mono"/>
              </a:rPr>
              <a:t>host --</a:t>
            </a:r>
            <a:r>
              <a:rPr lang="en-US" sz="800" dirty="0" err="1">
                <a:solidFill>
                  <a:srgbClr val="36464E"/>
                </a:solidFill>
                <a:latin typeface="Roboto Mono"/>
              </a:rPr>
              <a:t>gpus</a:t>
            </a:r>
            <a:r>
              <a:rPr lang="en-US" sz="800" dirty="0">
                <a:solidFill>
                  <a:srgbClr val="36464E"/>
                </a:solidFill>
                <a:latin typeface="Roboto Mono"/>
              </a:rPr>
              <a:t> all </a:t>
            </a:r>
            <a:r>
              <a:rPr lang="en-US" sz="800" dirty="0">
                <a:latin typeface="Roboto Mono"/>
              </a:rPr>
              <a:t>$t</a:t>
            </a:r>
            <a:r>
              <a:rPr lang="en-US" sz="800" dirty="0">
                <a:solidFill>
                  <a:srgbClr val="36464E"/>
                </a:solidFill>
                <a:latin typeface="Roboto Mono"/>
              </a:rPr>
              <a:t> </a:t>
            </a:r>
            <a:r>
              <a:rPr lang="en-US" sz="800" dirty="0">
                <a:latin typeface="Roboto Mono"/>
              </a:rPr>
              <a:t># Run with access to specific GPUs (e.g., GPUs 2 and 3)</a:t>
            </a:r>
            <a:r>
              <a:rPr lang="en-US" sz="800" dirty="0">
                <a:solidFill>
                  <a:srgbClr val="36464E"/>
                </a:solidFill>
                <a:latin typeface="Roboto Mono"/>
              </a:rPr>
              <a:t> </a:t>
            </a:r>
            <a:r>
              <a:rPr lang="en-US" sz="800" dirty="0" err="1">
                <a:solidFill>
                  <a:srgbClr val="36464E"/>
                </a:solidFill>
                <a:latin typeface="Roboto Mono"/>
              </a:rPr>
              <a:t>sudo</a:t>
            </a:r>
            <a:r>
              <a:rPr lang="en-US" sz="800" dirty="0">
                <a:solidFill>
                  <a:srgbClr val="36464E"/>
                </a:solidFill>
                <a:latin typeface="Roboto Mono"/>
              </a:rPr>
              <a:t> </a:t>
            </a:r>
            <a:r>
              <a:rPr lang="en-US" sz="800" dirty="0" err="1">
                <a:solidFill>
                  <a:srgbClr val="36464E"/>
                </a:solidFill>
                <a:latin typeface="Roboto Mono"/>
              </a:rPr>
              <a:t>docker</a:t>
            </a:r>
            <a:r>
              <a:rPr lang="en-US" sz="800" dirty="0">
                <a:solidFill>
                  <a:srgbClr val="36464E"/>
                </a:solidFill>
                <a:latin typeface="Roboto Mono"/>
              </a:rPr>
              <a:t> run -it --runtime</a:t>
            </a:r>
            <a:r>
              <a:rPr lang="en-US" sz="800" dirty="0">
                <a:latin typeface="Roboto Mono"/>
              </a:rPr>
              <a:t>=</a:t>
            </a:r>
            <a:r>
              <a:rPr lang="en-US" sz="800" dirty="0" err="1">
                <a:solidFill>
                  <a:srgbClr val="36464E"/>
                </a:solidFill>
                <a:latin typeface="Roboto Mono"/>
              </a:rPr>
              <a:t>nvidia</a:t>
            </a:r>
            <a:r>
              <a:rPr lang="en-US" sz="800" dirty="0">
                <a:solidFill>
                  <a:srgbClr val="36464E"/>
                </a:solidFill>
                <a:latin typeface="Roboto Mono"/>
              </a:rPr>
              <a:t> --</a:t>
            </a:r>
            <a:r>
              <a:rPr lang="en-US" sz="800" dirty="0" err="1">
                <a:solidFill>
                  <a:srgbClr val="36464E"/>
                </a:solidFill>
                <a:latin typeface="Roboto Mono"/>
              </a:rPr>
              <a:t>ipc</a:t>
            </a:r>
            <a:r>
              <a:rPr lang="en-US" sz="800" dirty="0">
                <a:latin typeface="Roboto Mono"/>
              </a:rPr>
              <a:t>=</a:t>
            </a:r>
            <a:r>
              <a:rPr lang="en-US" sz="800" dirty="0">
                <a:solidFill>
                  <a:srgbClr val="36464E"/>
                </a:solidFill>
                <a:latin typeface="Roboto Mono"/>
              </a:rPr>
              <a:t>host --</a:t>
            </a:r>
            <a:r>
              <a:rPr lang="en-US" sz="800" dirty="0" err="1">
                <a:solidFill>
                  <a:srgbClr val="36464E"/>
                </a:solidFill>
                <a:latin typeface="Roboto Mono"/>
              </a:rPr>
              <a:t>gpus</a:t>
            </a:r>
            <a:r>
              <a:rPr lang="en-US" sz="800" dirty="0">
                <a:solidFill>
                  <a:srgbClr val="36464E"/>
                </a:solidFill>
                <a:latin typeface="Roboto Mono"/>
              </a:rPr>
              <a:t> </a:t>
            </a:r>
            <a:r>
              <a:rPr lang="en-US" sz="800" dirty="0">
                <a:solidFill>
                  <a:srgbClr val="1C7D4D"/>
                </a:solidFill>
                <a:latin typeface="Roboto Mono"/>
              </a:rPr>
              <a:t>'"device=2,3"'</a:t>
            </a:r>
            <a:r>
              <a:rPr lang="en-US" sz="800" dirty="0">
                <a:solidFill>
                  <a:srgbClr val="36464E"/>
                </a:solidFill>
                <a:latin typeface="Roboto Mono"/>
              </a:rPr>
              <a:t> </a:t>
            </a:r>
            <a:r>
              <a:rPr lang="en-US" sz="800" dirty="0">
                <a:latin typeface="Roboto Mono"/>
              </a:rPr>
              <a:t>$t</a:t>
            </a:r>
            <a:endParaRPr lang="en-US" sz="800" dirty="0"/>
          </a:p>
        </p:txBody>
      </p:sp>
      <p:sp>
        <p:nvSpPr>
          <p:cNvPr id="9" name="Rectangle 8"/>
          <p:cNvSpPr/>
          <p:nvPr/>
        </p:nvSpPr>
        <p:spPr>
          <a:xfrm>
            <a:off x="346430" y="3061276"/>
            <a:ext cx="4022371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/>
              <a:t>Refer to the Docker run reference for more details on command options.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647495" y="2322612"/>
            <a:ext cx="4022371" cy="73866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en-US" sz="1050" dirty="0"/>
              <a:t># Mount /path/on/host (your local machine) to /path/in/container (inside the container)</a:t>
            </a:r>
          </a:p>
          <a:p>
            <a:pPr algn="just"/>
            <a:r>
              <a:rPr lang="en-US" sz="1050" dirty="0" err="1"/>
              <a:t>sudo</a:t>
            </a:r>
            <a:r>
              <a:rPr lang="en-US" sz="1050" dirty="0"/>
              <a:t> </a:t>
            </a:r>
            <a:r>
              <a:rPr lang="en-US" sz="1050" dirty="0" err="1"/>
              <a:t>docker</a:t>
            </a:r>
            <a:r>
              <a:rPr lang="en-US" sz="1050" dirty="0"/>
              <a:t> run -it --runtime=</a:t>
            </a:r>
            <a:r>
              <a:rPr lang="en-US" sz="1050" dirty="0" err="1"/>
              <a:t>nvidia</a:t>
            </a:r>
            <a:r>
              <a:rPr lang="en-US" sz="1050" dirty="0"/>
              <a:t> --</a:t>
            </a:r>
            <a:r>
              <a:rPr lang="en-US" sz="1050" dirty="0" err="1"/>
              <a:t>ipc</a:t>
            </a:r>
            <a:r>
              <a:rPr lang="en-US" sz="1050" dirty="0"/>
              <a:t>=host --</a:t>
            </a:r>
            <a:r>
              <a:rPr lang="en-US" sz="1050" dirty="0" err="1"/>
              <a:t>gpus</a:t>
            </a:r>
            <a:r>
              <a:rPr lang="en-US" sz="1050" dirty="0"/>
              <a:t> all -v /path/on/host:/path/in/container $t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47494" y="3222777"/>
            <a:ext cx="4022371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/>
              <a:t>Replace /path/on/host with the actual path on your machine and /path/in/container with the desired path inside the Docker container (e.g., /</a:t>
            </a:r>
            <a:r>
              <a:rPr lang="en-US" sz="1050" dirty="0" err="1"/>
              <a:t>usr</a:t>
            </a:r>
            <a:r>
              <a:rPr lang="en-US" sz="1050" dirty="0"/>
              <a:t>/</a:t>
            </a:r>
            <a:r>
              <a:rPr lang="en-US" sz="1050" dirty="0" err="1"/>
              <a:t>src</a:t>
            </a:r>
            <a:r>
              <a:rPr lang="en-US" sz="1050" dirty="0"/>
              <a:t>/datasets).</a:t>
            </a:r>
          </a:p>
        </p:txBody>
      </p:sp>
    </p:spTree>
    <p:extLst>
      <p:ext uri="{BB962C8B-B14F-4D97-AF65-F5344CB8AC3E}">
        <p14:creationId xmlns:p14="http://schemas.microsoft.com/office/powerpoint/2010/main" val="1972240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962" y="160956"/>
            <a:ext cx="7886700" cy="403489"/>
          </a:xfrm>
        </p:spPr>
        <p:txBody>
          <a:bodyPr>
            <a:normAutofit fontScale="90000"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Exampe</a:t>
            </a:r>
            <a:r>
              <a:rPr lang="en-US" b="1" dirty="0" smtClean="0">
                <a:solidFill>
                  <a:srgbClr val="FF0000"/>
                </a:solidFill>
              </a:rPr>
              <a:t> 3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25451" y="696716"/>
            <a:ext cx="7886700" cy="403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Get Started with YOLOv5 🚀 in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Docker (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</a:rPr>
              <a:t>Cons’t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)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260622" y="1100205"/>
            <a:ext cx="3409244" cy="21467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/>
              <a:t>Explore the documentation for detailed usage of different modes: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50" dirty="0" smtClean="0"/>
              <a:t>Train</a:t>
            </a:r>
            <a:endParaRPr lang="en-US" sz="105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50" dirty="0"/>
              <a:t>Validate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50" dirty="0"/>
              <a:t>Predict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50" dirty="0"/>
              <a:t>Export</a:t>
            </a:r>
          </a:p>
          <a:p>
            <a:r>
              <a:rPr lang="en-US" sz="1050" dirty="0"/>
              <a:t>Learn more about evaluation metrics like Precision, Recall, and </a:t>
            </a:r>
            <a:r>
              <a:rPr lang="en-US" sz="1050" dirty="0" err="1"/>
              <a:t>mAP</a:t>
            </a:r>
            <a:r>
              <a:rPr lang="en-US" sz="1050" dirty="0"/>
              <a:t>. Understand different export formats like ONNX, </a:t>
            </a:r>
            <a:r>
              <a:rPr lang="en-US" sz="1050" dirty="0" err="1"/>
              <a:t>CoreML</a:t>
            </a:r>
            <a:r>
              <a:rPr lang="en-US" sz="1050" dirty="0"/>
              <a:t>, and </a:t>
            </a:r>
            <a:r>
              <a:rPr lang="en-US" sz="1050" dirty="0" err="1"/>
              <a:t>TFLite</a:t>
            </a:r>
            <a:r>
              <a:rPr lang="en-US" sz="1050" dirty="0"/>
              <a:t>, and explore various Model Deployment Options. Remember to manage your model weights effectively.</a:t>
            </a:r>
            <a:r>
              <a:rPr lang="en-US" sz="1200" dirty="0"/>
              <a:t/>
            </a:r>
            <a:br>
              <a:rPr lang="en-US" sz="1200" dirty="0"/>
            </a:b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46430" y="1232476"/>
            <a:ext cx="4022371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Step 3: Use YOLOv5 🚀 within the Docker Container</a:t>
            </a:r>
          </a:p>
          <a:p>
            <a:r>
              <a:rPr lang="en-US" sz="1200" dirty="0"/>
              <a:t>You are now inside the running YOLOv5 Docker container! From here, you can execute standard YOLOv5 commands for various </a:t>
            </a:r>
            <a:r>
              <a:rPr lang="en-US" sz="1200" dirty="0">
                <a:hlinkClick r:id="rId3"/>
              </a:rPr>
              <a:t>Machine Learning</a:t>
            </a:r>
            <a:r>
              <a:rPr lang="en-US" sz="1200" dirty="0"/>
              <a:t> and </a:t>
            </a:r>
            <a:r>
              <a:rPr lang="en-US" sz="1200" dirty="0">
                <a:hlinkClick r:id="rId4"/>
              </a:rPr>
              <a:t>Deep Learning</a:t>
            </a:r>
            <a:r>
              <a:rPr lang="en-US" sz="1200" dirty="0"/>
              <a:t> tasks like </a:t>
            </a:r>
            <a:r>
              <a:rPr lang="en-US" sz="1200" dirty="0">
                <a:hlinkClick r:id="rId5"/>
              </a:rPr>
              <a:t>Object Detection</a:t>
            </a:r>
            <a:r>
              <a:rPr lang="en-US" sz="1200" dirty="0"/>
              <a:t>.</a:t>
            </a:r>
            <a:br>
              <a:rPr lang="en-US" sz="1200" dirty="0"/>
            </a:b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46430" y="2571750"/>
            <a:ext cx="4572000" cy="2554545"/>
          </a:xfrm>
          <a:prstGeom prst="rect">
            <a:avLst/>
          </a:prstGeom>
          <a:solidFill>
            <a:schemeClr val="bg2"/>
          </a:solidFill>
        </p:spPr>
        <p:txBody>
          <a:bodyPr>
            <a:spAutoFit/>
          </a:bodyPr>
          <a:lstStyle/>
          <a:p>
            <a:r>
              <a:rPr lang="en-US" sz="1000" dirty="0"/>
              <a:t># Train a YOLOv5 model on your custom dataset (ensure data is mounted or downloaded)</a:t>
            </a:r>
          </a:p>
          <a:p>
            <a:r>
              <a:rPr lang="en-US" sz="1000" dirty="0"/>
              <a:t>python train.py --data </a:t>
            </a:r>
            <a:r>
              <a:rPr lang="en-US" sz="1000" dirty="0" err="1"/>
              <a:t>your_dataset.yaml</a:t>
            </a:r>
            <a:r>
              <a:rPr lang="en-US" sz="1000" dirty="0"/>
              <a:t> --weights yolov5s.pt --</a:t>
            </a:r>
            <a:r>
              <a:rPr lang="en-US" sz="1000" dirty="0" err="1"/>
              <a:t>img</a:t>
            </a:r>
            <a:r>
              <a:rPr lang="en-US" sz="1000" dirty="0"/>
              <a:t> 640 # Start training</a:t>
            </a:r>
          </a:p>
          <a:p>
            <a:endParaRPr lang="en-US" sz="1000" dirty="0"/>
          </a:p>
          <a:p>
            <a:r>
              <a:rPr lang="en-US" sz="1000" dirty="0"/>
              <a:t># Validate the trained model's performance (Precision, Recall, </a:t>
            </a:r>
            <a:r>
              <a:rPr lang="en-US" sz="1000" dirty="0" err="1"/>
              <a:t>mAP</a:t>
            </a:r>
            <a:r>
              <a:rPr lang="en-US" sz="1000" dirty="0"/>
              <a:t>)</a:t>
            </a:r>
          </a:p>
          <a:p>
            <a:r>
              <a:rPr lang="en-US" sz="1000" dirty="0"/>
              <a:t>python val.py --weights path/to/your/best.pt --data </a:t>
            </a:r>
            <a:r>
              <a:rPr lang="en-US" sz="1000" dirty="0" err="1"/>
              <a:t>your_dataset.yaml</a:t>
            </a:r>
            <a:r>
              <a:rPr lang="en-US" sz="1000" dirty="0"/>
              <a:t> # Validate accuracy</a:t>
            </a:r>
          </a:p>
          <a:p>
            <a:endParaRPr lang="en-US" sz="1000" dirty="0"/>
          </a:p>
          <a:p>
            <a:r>
              <a:rPr lang="en-US" sz="1000" dirty="0"/>
              <a:t># Run inference on images or videos using a trained model</a:t>
            </a:r>
          </a:p>
          <a:p>
            <a:r>
              <a:rPr lang="en-US" sz="1000" dirty="0"/>
              <a:t>python detect.py --weights yolov5s.pt --source path/to/your/</a:t>
            </a:r>
            <a:r>
              <a:rPr lang="en-US" sz="1000" dirty="0" err="1"/>
              <a:t>images_or_videos</a:t>
            </a:r>
            <a:r>
              <a:rPr lang="en-US" sz="1000" dirty="0"/>
              <a:t> # Perform detection</a:t>
            </a:r>
          </a:p>
          <a:p>
            <a:endParaRPr lang="en-US" sz="1000" dirty="0"/>
          </a:p>
          <a:p>
            <a:r>
              <a:rPr lang="en-US" sz="1000" dirty="0"/>
              <a:t># Export the trained model to various formats like ONNX, </a:t>
            </a:r>
            <a:r>
              <a:rPr lang="en-US" sz="1000" dirty="0" err="1"/>
              <a:t>CoreML</a:t>
            </a:r>
            <a:r>
              <a:rPr lang="en-US" sz="1000" dirty="0"/>
              <a:t>, or </a:t>
            </a:r>
            <a:r>
              <a:rPr lang="en-US" sz="1000" dirty="0" err="1"/>
              <a:t>TFLite</a:t>
            </a:r>
            <a:r>
              <a:rPr lang="en-US" sz="1000" dirty="0"/>
              <a:t> for deployment</a:t>
            </a:r>
          </a:p>
          <a:p>
            <a:r>
              <a:rPr lang="en-US" sz="1000" dirty="0"/>
              <a:t>python export.py --weights yolov5s.pt --include </a:t>
            </a:r>
            <a:r>
              <a:rPr lang="en-US" sz="1000" dirty="0" err="1"/>
              <a:t>onnx</a:t>
            </a:r>
            <a:r>
              <a:rPr lang="en-US" sz="1000" dirty="0"/>
              <a:t> </a:t>
            </a:r>
            <a:r>
              <a:rPr lang="en-US" sz="1000" dirty="0" err="1"/>
              <a:t>coreml</a:t>
            </a:r>
            <a:r>
              <a:rPr lang="en-US" sz="1000" dirty="0"/>
              <a:t> </a:t>
            </a:r>
            <a:r>
              <a:rPr lang="en-US" sz="1000" dirty="0" err="1"/>
              <a:t>tflite</a:t>
            </a:r>
            <a:r>
              <a:rPr lang="en-US" sz="1000" dirty="0"/>
              <a:t> # Export model</a:t>
            </a:r>
          </a:p>
        </p:txBody>
      </p:sp>
    </p:spTree>
    <p:extLst>
      <p:ext uri="{BB962C8B-B14F-4D97-AF65-F5344CB8AC3E}">
        <p14:creationId xmlns:p14="http://schemas.microsoft.com/office/powerpoint/2010/main" val="3254487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962" y="160956"/>
            <a:ext cx="7886700" cy="403489"/>
          </a:xfrm>
        </p:spPr>
        <p:txBody>
          <a:bodyPr>
            <a:normAutofit fontScale="90000"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Exampe</a:t>
            </a:r>
            <a:r>
              <a:rPr lang="en-US" b="1" dirty="0" smtClean="0">
                <a:solidFill>
                  <a:srgbClr val="FF0000"/>
                </a:solidFill>
              </a:rPr>
              <a:t> 3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25451" y="696716"/>
            <a:ext cx="7886700" cy="403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Get Started with YOLOv5 🚀 in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Docker (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</a:rPr>
              <a:t>Cons’t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)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75" y="1100205"/>
            <a:ext cx="4086337" cy="259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627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2286000" y="2248585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800" dirty="0" err="1" smtClean="0">
                <a:solidFill>
                  <a:srgbClr val="0070C0"/>
                </a:solidFill>
              </a:rPr>
              <a:t>Mauliate</a:t>
            </a:r>
            <a:r>
              <a:rPr lang="en-US" sz="4800" dirty="0" smtClean="0">
                <a:solidFill>
                  <a:srgbClr val="0070C0"/>
                </a:solidFill>
              </a:rPr>
              <a:t> </a:t>
            </a:r>
            <a:r>
              <a:rPr lang="en-US" sz="4800" dirty="0" err="1" smtClean="0">
                <a:solidFill>
                  <a:srgbClr val="0070C0"/>
                </a:solidFill>
              </a:rPr>
              <a:t>Godang</a:t>
            </a:r>
            <a:endParaRPr lang="en-US" sz="4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932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760</TotalTime>
  <Words>991</Words>
  <Application>Microsoft Office PowerPoint</Application>
  <PresentationFormat>On-screen Show (16:9)</PresentationFormat>
  <Paragraphs>171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Malgun Gothic</vt:lpstr>
      <vt:lpstr>Arial</vt:lpstr>
      <vt:lpstr>Calibri</vt:lpstr>
      <vt:lpstr>Calibri Light</vt:lpstr>
      <vt:lpstr>Roboto Mono</vt:lpstr>
      <vt:lpstr>Wingdings</vt:lpstr>
      <vt:lpstr>Office Theme</vt:lpstr>
      <vt:lpstr>PowerPoint Presentation</vt:lpstr>
      <vt:lpstr>Exampe 3</vt:lpstr>
      <vt:lpstr>Exampe 3</vt:lpstr>
      <vt:lpstr>Exampe 3</vt:lpstr>
      <vt:lpstr>Exampe 3</vt:lpstr>
      <vt:lpstr>Exampe 3</vt:lpstr>
      <vt:lpstr>Exampe 3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Cloud Platform Official Icons and Sample Diagrams</dc:title>
  <dc:subject/>
  <dc:creator>pds</dc:creator>
  <cp:keywords/>
  <dc:description/>
  <cp:lastModifiedBy>PDS</cp:lastModifiedBy>
  <cp:revision>82</cp:revision>
  <dcterms:modified xsi:type="dcterms:W3CDTF">2026-09-18T01:27:18Z</dcterms:modified>
  <cp:category/>
</cp:coreProperties>
</file>