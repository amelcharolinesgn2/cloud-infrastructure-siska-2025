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9" r:id="rId1"/>
  </p:sldMasterIdLst>
  <p:notesMasterIdLst>
    <p:notesMasterId r:id="rId17"/>
  </p:notesMasterIdLst>
  <p:sldIdLst>
    <p:sldId id="348" r:id="rId2"/>
    <p:sldId id="362" r:id="rId3"/>
    <p:sldId id="361" r:id="rId4"/>
    <p:sldId id="351" r:id="rId5"/>
    <p:sldId id="350" r:id="rId6"/>
    <p:sldId id="352" r:id="rId7"/>
    <p:sldId id="353" r:id="rId8"/>
    <p:sldId id="355" r:id="rId9"/>
    <p:sldId id="356" r:id="rId10"/>
    <p:sldId id="354" r:id="rId11"/>
    <p:sldId id="357" r:id="rId12"/>
    <p:sldId id="358" r:id="rId13"/>
    <p:sldId id="359" r:id="rId14"/>
    <p:sldId id="360" r:id="rId15"/>
    <p:sldId id="363" r:id="rId16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 Mueller" initials="" lastIdx="9" clrIdx="0"/>
  <p:cmAuthor id="1" name="Chuck Erickson" initials="" lastIdx="6" clrIdx="1"/>
  <p:cmAuthor id="2" name="Adam Gl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/>
    <p:restoredTop sz="85925" autoAdjust="0"/>
  </p:normalViewPr>
  <p:slideViewPr>
    <p:cSldViewPr snapToGrid="0" snapToObjects="1">
      <p:cViewPr varScale="1">
        <p:scale>
          <a:sx n="110" d="100"/>
          <a:sy n="110" d="100"/>
        </p:scale>
        <p:origin x="10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70937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7181" y="696912"/>
            <a:ext cx="6195899" cy="34862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4118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ucHuwu/IoT_Project/blob/main/hardware/IoT_Device/pubsub.txt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ithub.com/PhucHuwu/IoT_Project#testing-mqtt" TargetMode="External"/><Relationship Id="rId4" Type="http://schemas.openxmlformats.org/officeDocument/2006/relationships/hyperlink" Target="https://github.com/PhucHuwu/IoT_Project/blob/main/hardware/IoT_Device/IoT_Device.ino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https://github.com/mikeroyal/Google-Cloud-Guide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https://github.com/ACANETS/genai-labs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573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https://github.com/arashsm79/full-stack-iot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16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https://github.com/ACANETS/eece-6540-labs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135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https://github.com/ACANETS/eece-4520-5520-labs</a:t>
            </a:r>
          </a:p>
          <a:p>
            <a:r>
              <a:rPr lang="en-US" dirty="0" smtClean="0"/>
              <a:t>https://github.com/ACANETS/iot-labs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723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https://github.com/golu19102003/IOT-Lab</a:t>
            </a:r>
          </a:p>
          <a:p>
            <a:r>
              <a:rPr lang="en-US" dirty="0" smtClean="0"/>
              <a:t>https://github.com/ExploreLab/IoT---Online-learning</a:t>
            </a:r>
          </a:p>
          <a:p>
            <a:r>
              <a:rPr lang="en-US" dirty="0" smtClean="0"/>
              <a:t>https://github.com/ExploreLab?tab=repositories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9767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https://github.com/iot-lab/iot-lab-packer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6341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https://iotvirtuallab.github.io/vlab/Experiments/index.html#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3354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https://github.com/ExploreLab/IoT-GPS-Tracker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0824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https://github.com/PhucHuwu/IoT_Project</a:t>
            </a:r>
          </a:p>
          <a:p>
            <a:r>
              <a:rPr lang="en-US" dirty="0" smtClean="0"/>
              <a:t>https://github.com/Devanshu-Parikh/Internship-Project-AC-Control-IOT</a:t>
            </a:r>
          </a:p>
          <a:p>
            <a:endParaRPr lang="en-US" dirty="0" smtClean="0"/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┌─────────────────┐ ┌──────────────────┐ ┌─────────────────┐ │ ESP8266 │ │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│ │ Next.js │ │ Firmware │◄──►│ Backend │◄──►│ Frontend │ │ │ │ │ │ │ │ • IR Control │ │ • REST API │ │ • Dashboard │ │ • MQTT Client │ │ •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WebSockets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│ │ • Device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Mgmt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│ │ • OTA Updates │ │ • MQTT Broker │ │ • Zone Control │ │ •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WiFi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│ │ • PostgreSQL │ │ • Real-time UI │ └─────────────────┘ └──────────────────┘ └─────────────────┘ 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333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https://github.com/PhucHuwu/IoT_Project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IoT_Project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 ├── .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gitignore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├── README.md │ ├── backend/ │ ├── .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env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│ ├── .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env.example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│ ├── main.py # Entry point │ ├── requirements.txt # Python dependencies │ ├── app/ │ │ ├── __init__.py │ │ ├──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 # API routes and blueprints │ │ │ ├── routes.py │ │ │ ├── swagger_config.py │ │ │ ├── __init__.py │ │ │ └── v1/ │ │ │ ├── sensors.py │ │ │ ├── sensors_swagger.py │ │ │ └── __init__.py │ │ │ │ │ ├── core/ # Configuration and database │ │ │ ├── config.py │ │ │ ├── database.py │ │ │ ├── logger_config.py │ │ │ ├── timezone_utils.py │ │ │ └── __init__.py │ │ │ │ │ ├── models/ # Data models │ │ │ ├── device.py │ │ │ ├── sensor_data.py │ │ │ └── __init__.py │ │ │ │ │ └── services/ # Business logic │ │ ├── data_service.py │ │ ├── led_control_service.py │ │ ├── mqtt_service.py │ │ ├── status_service.py │ │ ├── validation_service.py │ │ └── __init__.py │ │ │ └── tests/ │ └── __init__.py │ ├── frontend/ │ ├── public/ # HTML pages │ │ ├── action-history.html │ │ ├── home-page.html │ │ ├── profile.html │ │ └── sensor-data.html │ │ │ └──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 │ ├── components/ # UI components │ │ └── update-indicator.js │ │ │ ├── control/ # Controllers │ │ ├── action-history-table-control.js │ │ ├── home-page-chart-control.js │ │ ├── home-page-led-control.js │ │ ├── home-page-sensor-card-control.js │ │ ├── profile-control.js │ │ └── sensor-data-table-control.js │ │ │ ├── pages/ # Page loaders │ │ ├── action-history-loader.js │ │ ├── home-page-loader.js │ │ └── sensor-data-loader.js │ │ │ ├── services/ # API services │ │ └── api.js │ │ │ ├── styles/ # CSS files │ │ ├── main.css │ │ ├── pages.css │ │ └── profile.css │ │ │ └── view/ # Views and templates │ ├── charts/ │ │ ├── home-page-chart.js │ │ │ ├── sensors/ │ │ └── home-page-sensor-card.js │ │ │ └── table/ │ ├── action-history-table.js │ └── sensor-data-table.js │ └── hardware/ └──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IoT_Device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 ├──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IoT_Device.ino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# ESP32 code └── pubsub.txt # MQTT test commands 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MQTT Topics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esp32/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/data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 Sensor data from ESP32 (temperature, humidity, light)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esp32/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/control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 LED control commands from backend to ESP32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esp32/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/action-history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 LED status changes and action history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MQTT Message Formats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Sensor Data (esp32/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/data)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{ "temperature": 25.5, "humidity": 60.2, "light": 45.8 }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LED Control (esp32/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/control)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LED1_ON LED1_OFF LED2_ON LED2_OFF LED3_ON LED3_OFF 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Action History (esp32/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/action-history)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{ "type": "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led_status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", "led": "LED1", "state": "ON" }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Development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Backend Development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Backend uses Flask with modular architecture: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Blueprints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for API organization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Services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for business logic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for data structures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Core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for configuration and utilities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Frontend Development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Frontend uses vanilla JavaScript with MVC architecture: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Controllers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handle logic and API calls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display UI components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Services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manage API communication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Components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reusable UI elements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Testing MQTT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mosquitto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client to test MQTT (example commands in 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hardware/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IoT_Device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/pubsub.txt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):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# Subscribe to sensor data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mosquitto_sub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-h your-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hivemq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-broker -p 8883 -u username -P password -t "esp32/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/data" # Subscribe to action history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mosquitto_sub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-h your-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hivemq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-broker -p 8883 -u username -P password -t "esp32/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/action-history" # Send LED control command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mosquitto_pub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-h your-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hivemq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-broker -p 8883 -u username -P password -t "esp32/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/control" -m "LED1_ON" # Send test sensor data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mosquitto_pub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-h your-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hivemq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-broker -p 8883 -u username -P password -t "esp32/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/data" -m '{"temperature":25.0,"humidity":60.0,"light":80.0}'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Troubleshooting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Common Issues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Hardware Issues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ESP32 cannot connect to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WiFi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SSID and password in 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4"/>
              </a:rPr>
              <a:t>hardware/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4"/>
              </a:rPr>
              <a:t>IoT_Device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4"/>
              </a:rPr>
              <a:t>/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4"/>
              </a:rPr>
              <a:t>IoT_Device.ino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Ensure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WiFi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is in 2.4GHz mode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Verify signal strength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LED control not working: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MQTT broker connection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Verify LED control topic subscription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ESP32 MQTT client status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Backend Issues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MQTT connection failed: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broker host and port in .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env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file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Verify username/password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 with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mosquitto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client (see 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  <a:hlinkClick r:id="rId5"/>
              </a:rPr>
              <a:t>Testing MQTT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Backend not receiving data: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MQTT broker connection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Verify topic names match configuration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MongoDB connection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NoSQL queries not working: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Verify MongoDB connection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collection names and indexes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Review query syntax and parameters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Frontend Issues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Frontend not displaying data: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browser console for errors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Verify API endpoints are accessible at http://localhost:5000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Check CORS configuration</a:t>
            </a:r>
          </a:p>
          <a:p>
            <a:pPr lvl="1"/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Ensure backend is running on correct port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Contributing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We welcome contributions! Here's how you can help: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Fork the repository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Create a feature branch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checkout -b feature/amazing-feature)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Commit your changes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commit -m 'Add some amazing feature')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Push to the branch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push origin feature/amazing-feature)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 a Pull Request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Development Guidelines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Follow the existing code structure and patterns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 appropriate comments and documentation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 your changes thoroughly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Ensure all existing tests pass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8290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https://github.com/alialaei1/IOT-MQTT-Dashboard-for-ESP32-Plant-Sensor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https://randomnerdtutorials.com/esp32-esp8266-input-data-html-form/</a:t>
            </a:r>
          </a:p>
          <a:p>
            <a:r>
              <a:rPr lang="en-US" dirty="0" smtClean="0"/>
              <a:t>https://binnes.github.io/esp8266Workshop/pdf/esp8266Workshop.pdf</a:t>
            </a:r>
          </a:p>
          <a:p>
            <a:endParaRPr lang="en-US" dirty="0" smtClean="0"/>
          </a:p>
          <a:p>
            <a:r>
              <a:rPr lang="en-US" dirty="0" smtClean="0"/>
              <a:t>https://randomnerdtutorials.com/esp32-esp8266-plot-chart-web-server/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7970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https://github.com/TunahanDilercan/SmartESPApp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842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549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6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523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39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67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211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7320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3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82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92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3086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337E-4703-49AB-8D81-EA2F8A6577F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ANE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CANETS/genai-lab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rashsm79/full-stack-iot#Dependencies" TargetMode="External"/><Relationship Id="rId3" Type="http://schemas.openxmlformats.org/officeDocument/2006/relationships/hyperlink" Target="https://github.com/arashsm79/full-stack-iot#Introduction" TargetMode="External"/><Relationship Id="rId7" Type="http://schemas.openxmlformats.org/officeDocument/2006/relationships/hyperlink" Target="https://github.com/arashsm79/full-stack-iot#Building-and-Running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rashsm79/full-stack-iot#Sever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github.com/arashsm79/full-stack-iot#Gateway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github.com/arashsm79/full-stack-iot#Sensors" TargetMode="Externa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ANETS/eece-4510-5510-lab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dhat-iot/Virtual_IoT_Gatewa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otvirtuallab.github.io/vlab/Experiments/to_simulate_interfacing_of_basic_input_components/index.html" TargetMode="External"/><Relationship Id="rId7" Type="http://schemas.openxmlformats.org/officeDocument/2006/relationships/hyperlink" Target="https://iotvirtuallab.github.io/vlab/Experiments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otvirtuallab.github.io/vlab/Experiments/to_simulate_interfacing_of_multiple_sensors/index.html" TargetMode="External"/><Relationship Id="rId5" Type="http://schemas.openxmlformats.org/officeDocument/2006/relationships/hyperlink" Target="https://iotvirtuallab.github.io/vlab/Experiments/to_simulate_interfacing_of_multiple_motors/index.html" TargetMode="External"/><Relationship Id="rId4" Type="http://schemas.openxmlformats.org/officeDocument/2006/relationships/hyperlink" Target="https://iotvirtuallab.github.io/vlab/Experiments/to_simulate_interfacing_of_basic_output_components/index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hucHuwu/IoT_Project#api-documentation" TargetMode="External"/><Relationship Id="rId3" Type="http://schemas.openxmlformats.org/officeDocument/2006/relationships/hyperlink" Target="https://github.com/PhucHuwu/IoT_Project#overview" TargetMode="External"/><Relationship Id="rId7" Type="http://schemas.openxmlformats.org/officeDocument/2006/relationships/hyperlink" Target="https://github.com/PhucHuwu/IoT_Project#installation-and-setup" TargetMode="External"/><Relationship Id="rId12" Type="http://schemas.openxmlformats.org/officeDocument/2006/relationships/hyperlink" Target="https://github.com/PhucHuwu/IoT_Project#troubleshoot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hucHuwu/IoT_Project#quick-start" TargetMode="External"/><Relationship Id="rId11" Type="http://schemas.openxmlformats.org/officeDocument/2006/relationships/hyperlink" Target="https://github.com/PhucHuwu/IoT_Project#development" TargetMode="External"/><Relationship Id="rId5" Type="http://schemas.openxmlformats.org/officeDocument/2006/relationships/hyperlink" Target="https://github.com/PhucHuwu/IoT_Project#key-features" TargetMode="External"/><Relationship Id="rId10" Type="http://schemas.openxmlformats.org/officeDocument/2006/relationships/hyperlink" Target="https://github.com/PhucHuwu/IoT_Project#mqtt-topics" TargetMode="External"/><Relationship Id="rId4" Type="http://schemas.openxmlformats.org/officeDocument/2006/relationships/hyperlink" Target="https://github.com/PhucHuwu/IoT_Project#system-architecture" TargetMode="External"/><Relationship Id="rId9" Type="http://schemas.openxmlformats.org/officeDocument/2006/relationships/hyperlink" Target="https://github.com/PhucHuwu/IoT_Project#project-structur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github.com/alialaei1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github.com/alialaei1/IOT-MQTT-Dashboard-for-ESP32-Plant-Sensor" TargetMode="External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1928066" y="2722292"/>
            <a:ext cx="6768461" cy="39080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 smtClean="0"/>
              <a:t>IoT</a:t>
            </a:r>
            <a:endParaRPr lang="en-US" sz="3200" dirty="0" smtClean="0"/>
          </a:p>
          <a:p>
            <a:pPr algn="l"/>
            <a:r>
              <a:rPr lang="en-US" b="1" dirty="0"/>
              <a:t>Developer </a:t>
            </a:r>
            <a:r>
              <a:rPr lang="en-US" b="1" dirty="0" smtClean="0"/>
              <a:t>Cloud</a:t>
            </a:r>
            <a:endParaRPr lang="en-US" b="1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928067" y="3546558"/>
            <a:ext cx="6425543" cy="50307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dirty="0">
                <a:solidFill>
                  <a:srgbClr val="0070C0"/>
                </a:solidFill>
              </a:rPr>
              <a:t>.</a:t>
            </a:r>
            <a:endParaRPr lang="en-US" sz="3300" b="1" dirty="0"/>
          </a:p>
        </p:txBody>
      </p:sp>
      <p:sp>
        <p:nvSpPr>
          <p:cNvPr id="24" name="Rectangle 23"/>
          <p:cNvSpPr/>
          <p:nvPr/>
        </p:nvSpPr>
        <p:spPr>
          <a:xfrm>
            <a:off x="6293303" y="4334599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33" name="Rectangle 32"/>
          <p:cNvSpPr/>
          <p:nvPr/>
        </p:nvSpPr>
        <p:spPr>
          <a:xfrm>
            <a:off x="6959886" y="369968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2457" y="3637385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09154" y="3771284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43056" y="3835310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59886" y="388625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8" name="Rectangle 37"/>
          <p:cNvSpPr/>
          <p:nvPr/>
        </p:nvSpPr>
        <p:spPr>
          <a:xfrm>
            <a:off x="6959886" y="394793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9" name="Rectangle 38"/>
          <p:cNvSpPr/>
          <p:nvPr/>
        </p:nvSpPr>
        <p:spPr>
          <a:xfrm>
            <a:off x="6961008" y="4203821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1008" y="426197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41" name="Rectangle 40"/>
          <p:cNvSpPr/>
          <p:nvPr/>
        </p:nvSpPr>
        <p:spPr>
          <a:xfrm>
            <a:off x="6960447" y="414529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42" name="Rectangle 41"/>
          <p:cNvSpPr/>
          <p:nvPr/>
        </p:nvSpPr>
        <p:spPr>
          <a:xfrm>
            <a:off x="6959325" y="400804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43" name="Rectangle 42"/>
          <p:cNvSpPr/>
          <p:nvPr/>
        </p:nvSpPr>
        <p:spPr>
          <a:xfrm>
            <a:off x="6959325" y="405697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44" name="Rectangle 43"/>
          <p:cNvSpPr/>
          <p:nvPr/>
        </p:nvSpPr>
        <p:spPr>
          <a:xfrm>
            <a:off x="6842644" y="4104718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28642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ACANETS</a:t>
            </a:r>
            <a:r>
              <a:rPr lang="en-US" dirty="0"/>
              <a:t>/</a:t>
            </a:r>
            <a:r>
              <a:rPr lang="en-US" b="1" dirty="0" err="1">
                <a:hlinkClick r:id="rId4"/>
              </a:rPr>
              <a:t>genai</a:t>
            </a:r>
            <a:r>
              <a:rPr lang="en-US" b="1" dirty="0">
                <a:hlinkClick r:id="rId4"/>
              </a:rPr>
              <a:t>-labs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719519"/>
            <a:ext cx="428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969DA"/>
                </a:solidFill>
                <a:latin typeface="-apple-system"/>
              </a:rPr>
              <a:t>https://github.com/ACANETS/genai-labs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41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Full Stack </a:t>
            </a:r>
            <a:r>
              <a:rPr lang="en-US" b="1" dirty="0" err="1"/>
              <a:t>IoT</a:t>
            </a:r>
            <a:r>
              <a:rPr lang="en-US" b="1" dirty="0"/>
              <a:t> Platform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1577516"/>
            <a:ext cx="2812382" cy="28469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implementation of an IoT platform using esp-idf. Including Sensors, Gateway, and a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sng" strike="noStrike" cap="none" normalizeH="0" baseline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3"/>
              </a:rPr>
              <a:t>Introduction</a:t>
            </a: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sng" strike="noStrike" cap="none" normalizeH="0" baseline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4"/>
              </a:rPr>
              <a:t>Sensors</a:t>
            </a: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sng" strike="noStrike" cap="none" normalizeH="0" baseline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5"/>
              </a:rPr>
              <a:t>Gateway</a:t>
            </a: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sng" strike="noStrike" cap="none" normalizeH="0" baseline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6"/>
              </a:rPr>
              <a:t>Sever</a:t>
            </a: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sng" strike="noStrike" cap="none" normalizeH="0" baseline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7"/>
              </a:rPr>
              <a:t>Building and Running</a:t>
            </a: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sng" strike="noStrike" cap="none" normalizeH="0" baseline="0" smtClean="0">
                <a:ln>
                  <a:noFill/>
                </a:ln>
                <a:solidFill>
                  <a:srgbClr val="0969DA"/>
                </a:solidFill>
                <a:effectLst/>
                <a:latin typeface="-apple-system"/>
                <a:hlinkClick r:id="rId8"/>
              </a:rPr>
              <a:t>Dependencies</a:t>
            </a:r>
            <a:endParaRPr kumimoji="0" lang="en-US" altLang="en-US" sz="1200" b="0" i="0" u="none" strike="noStrike" cap="none" normalizeH="0" baseline="0" smtClean="0">
              <a:ln>
                <a:noFill/>
              </a:ln>
              <a:solidFill>
                <a:srgbClr val="1F2328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8391" y="1779176"/>
            <a:ext cx="4879807" cy="20948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2247" y="4747141"/>
            <a:ext cx="4324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https://github.com/arashsm79/full-stack-iot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3842" y="526978"/>
            <a:ext cx="2212808" cy="11776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4722" y="0"/>
            <a:ext cx="3229476" cy="16985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0518" y="1840947"/>
            <a:ext cx="1935329" cy="232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6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Apply for a free account on Intel Developer Cloud (</a:t>
            </a:r>
            <a:r>
              <a:rPr lang="en-US" b="1" dirty="0" err="1"/>
              <a:t>DevCloud</a:t>
            </a:r>
            <a:r>
              <a:rPr lang="en-US" b="1" dirty="0"/>
              <a:t>)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1026" name="Picture 2" descr="Modes of Connections to DevClou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56" y="1370013"/>
            <a:ext cx="5460888" cy="326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3928" y="4719519"/>
            <a:ext cx="4428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https://github.com/ACANETS/eece-6540-labs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28" y="405346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DevCloud</a:t>
            </a:r>
            <a:r>
              <a:rPr lang="en-US" dirty="0"/>
              <a:t> has two categories of "nodes": Head Node and Compute Node</a:t>
            </a:r>
          </a:p>
        </p:txBody>
      </p:sp>
    </p:spTree>
    <p:extLst>
      <p:ext uri="{BB962C8B-B14F-4D97-AF65-F5344CB8AC3E}">
        <p14:creationId xmlns:p14="http://schemas.microsoft.com/office/powerpoint/2010/main" val="181308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286000" y="224858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dirty="0" err="1" smtClean="0">
                <a:solidFill>
                  <a:srgbClr val="0070C0"/>
                </a:solidFill>
              </a:rPr>
              <a:t>Mauliate</a:t>
            </a:r>
            <a:r>
              <a:rPr lang="en-US" sz="4800" dirty="0" smtClean="0">
                <a:solidFill>
                  <a:srgbClr val="0070C0"/>
                </a:solidFill>
              </a:rPr>
              <a:t> </a:t>
            </a:r>
            <a:r>
              <a:rPr lang="en-US" sz="4800" dirty="0" err="1" smtClean="0">
                <a:solidFill>
                  <a:srgbClr val="0070C0"/>
                </a:solidFill>
              </a:rPr>
              <a:t>Godang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04883" y="3651941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1791" y="3513442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7" name="Rectangle 6"/>
          <p:cNvSpPr/>
          <p:nvPr/>
        </p:nvSpPr>
        <p:spPr>
          <a:xfrm>
            <a:off x="4928490" y="3790441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74180" y="3928940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2330" y="4044356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9273" y="4175207"/>
            <a:ext cx="396641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19619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Embended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Microprocessor II &amp; Embedded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github.com/ACANETS/eece-4510-5510-labs</a:t>
            </a:r>
            <a:endParaRPr lang="en-US" dirty="0" smtClean="0"/>
          </a:p>
          <a:p>
            <a:r>
              <a:rPr lang="en-US" dirty="0"/>
              <a:t>https://github.com/ACANETS/eece-4520-5520-labs/blob/main/lab3/assembly%20guide.md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02019" y="4632723"/>
            <a:ext cx="70493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https://github.com/ACANETS/eece-4520-5520-labs</a:t>
            </a:r>
          </a:p>
        </p:txBody>
      </p:sp>
    </p:spTree>
    <p:extLst>
      <p:ext uri="{BB962C8B-B14F-4D97-AF65-F5344CB8AC3E}">
        <p14:creationId xmlns:p14="http://schemas.microsoft.com/office/powerpoint/2010/main" val="404519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5369" y="4719519"/>
            <a:ext cx="4199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https://github.com/golu19102003/IOT-Lab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100019"/>
            <a:ext cx="65817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2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IoT</a:t>
            </a:r>
            <a:r>
              <a:rPr lang="en-US" b="1" dirty="0"/>
              <a:t>-LAB virtual machine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github.com/redhat-iot/Virtual_IoT_Gateway</a:t>
            </a:r>
            <a:endParaRPr lang="en-US" dirty="0" smtClean="0"/>
          </a:p>
          <a:p>
            <a:r>
              <a:rPr lang="en-US" dirty="0"/>
              <a:t>https://iotvirtuallab.github.io/vlab/Experiments/index.html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671775"/>
            <a:ext cx="4055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https://github.com/iot-lab/iot-lab-packer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" y="2083300"/>
            <a:ext cx="70234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https://github.com/Devanshu-Parikh/Internship-Project-AC-Control-IOT</a:t>
            </a:r>
          </a:p>
        </p:txBody>
      </p:sp>
    </p:spTree>
    <p:extLst>
      <p:ext uri="{BB962C8B-B14F-4D97-AF65-F5344CB8AC3E}">
        <p14:creationId xmlns:p14="http://schemas.microsoft.com/office/powerpoint/2010/main" val="130824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IoT</a:t>
            </a:r>
            <a:r>
              <a:rPr lang="en-US" b="1" dirty="0"/>
              <a:t> Virtual Laboratory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hlinkClick r:id="rId3"/>
              </a:rPr>
              <a:t>To simulate interfacing of basic input components (Pushbutton, Potentiometer and Slider Switch) with Arduino.</a:t>
            </a:r>
            <a:endParaRPr lang="en-US" dirty="0"/>
          </a:p>
          <a:p>
            <a:r>
              <a:rPr lang="en-US" dirty="0">
                <a:hlinkClick r:id="rId4"/>
              </a:rPr>
              <a:t>To simulate interfacing of basic output components (RGB Led, 7 segments and LCD 16*2) with Arduino.</a:t>
            </a:r>
            <a:endParaRPr lang="en-US" dirty="0"/>
          </a:p>
          <a:p>
            <a:r>
              <a:rPr lang="en-US" dirty="0">
                <a:hlinkClick r:id="rId5"/>
              </a:rPr>
              <a:t>To simulate interfacing of multiple motors (DC Motor, Servo Motor, and Stepper Motor) with Arduino.</a:t>
            </a:r>
            <a:endParaRPr lang="en-US" dirty="0"/>
          </a:p>
          <a:p>
            <a:r>
              <a:rPr lang="en-US" dirty="0">
                <a:hlinkClick r:id="rId6"/>
              </a:rPr>
              <a:t>To simulate interfacing of multiple sensors (Ultrasonic sensor, PIR Sensor, Soil Moisture, MQ135 Sensors) with Arduino.</a:t>
            </a:r>
            <a:endParaRPr lang="en-US" dirty="0"/>
          </a:p>
          <a:p>
            <a:r>
              <a:rPr lang="en-US" dirty="0">
                <a:hlinkClick r:id="rId7"/>
              </a:rPr>
              <a:t>Simulation of sending live sensors data on </a:t>
            </a:r>
            <a:r>
              <a:rPr lang="en-US" dirty="0" err="1">
                <a:hlinkClick r:id="rId7"/>
              </a:rPr>
              <a:t>IoT</a:t>
            </a:r>
            <a:r>
              <a:rPr lang="en-US" dirty="0">
                <a:hlinkClick r:id="rId7"/>
              </a:rPr>
              <a:t> Platform using HTTP Protocols and ESP8266/ESP32.</a:t>
            </a:r>
            <a:endParaRPr lang="en-US" dirty="0"/>
          </a:p>
          <a:p>
            <a:r>
              <a:rPr lang="en-US" dirty="0">
                <a:hlinkClick r:id="rId7"/>
              </a:rPr>
              <a:t>Simulation of sending live sensors data on </a:t>
            </a:r>
            <a:r>
              <a:rPr lang="en-US" dirty="0" err="1">
                <a:hlinkClick r:id="rId7"/>
              </a:rPr>
              <a:t>IoT</a:t>
            </a:r>
            <a:r>
              <a:rPr lang="en-US" dirty="0">
                <a:hlinkClick r:id="rId7"/>
              </a:rPr>
              <a:t> Platform using MQTT Protocols and ESP8266/ESP32.</a:t>
            </a:r>
            <a:endParaRPr lang="en-US" dirty="0"/>
          </a:p>
          <a:p>
            <a:r>
              <a:rPr lang="en-US" dirty="0">
                <a:hlinkClick r:id="rId7"/>
              </a:rPr>
              <a:t>Simulation of establishing master-slave model using Arduino and I2C Protocols.</a:t>
            </a:r>
            <a:endParaRPr lang="en-US" dirty="0"/>
          </a:p>
          <a:p>
            <a:r>
              <a:rPr lang="en-US" dirty="0">
                <a:hlinkClick r:id="rId7"/>
              </a:rPr>
              <a:t>Simulation of establishing interrelation between cloud (AWS, Microsoft Azure, </a:t>
            </a:r>
            <a:r>
              <a:rPr lang="en-US" dirty="0" err="1">
                <a:hlinkClick r:id="rId7"/>
              </a:rPr>
              <a:t>ThingSpeak</a:t>
            </a:r>
            <a:r>
              <a:rPr lang="en-US" dirty="0">
                <a:hlinkClick r:id="rId7"/>
              </a:rPr>
              <a:t>, and IBM </a:t>
            </a:r>
            <a:r>
              <a:rPr lang="en-US" dirty="0" err="1">
                <a:hlinkClick r:id="rId7"/>
              </a:rPr>
              <a:t>Bluemix</a:t>
            </a:r>
            <a:r>
              <a:rPr lang="en-US" dirty="0">
                <a:hlinkClick r:id="rId7"/>
              </a:rPr>
              <a:t>) and ESP2866/ESP32.</a:t>
            </a:r>
            <a:endParaRPr lang="en-US" dirty="0"/>
          </a:p>
          <a:p>
            <a:r>
              <a:rPr lang="en-US" dirty="0">
                <a:hlinkClick r:id="rId7"/>
              </a:rPr>
              <a:t>To create </a:t>
            </a:r>
            <a:r>
              <a:rPr lang="en-US" dirty="0" err="1">
                <a:hlinkClick r:id="rId7"/>
              </a:rPr>
              <a:t>IoT</a:t>
            </a:r>
            <a:r>
              <a:rPr lang="en-US" dirty="0">
                <a:hlinkClick r:id="rId7"/>
              </a:rPr>
              <a:t> Dashboard for remote monitoring.</a:t>
            </a:r>
            <a:endParaRPr lang="en-US" dirty="0"/>
          </a:p>
          <a:p>
            <a:r>
              <a:rPr lang="en-US" dirty="0">
                <a:hlinkClick r:id="rId7"/>
              </a:rPr>
              <a:t>To create </a:t>
            </a:r>
            <a:r>
              <a:rPr lang="en-US" dirty="0" err="1">
                <a:hlinkClick r:id="rId7"/>
              </a:rPr>
              <a:t>IoT</a:t>
            </a:r>
            <a:r>
              <a:rPr lang="en-US" dirty="0">
                <a:hlinkClick r:id="rId7"/>
              </a:rPr>
              <a:t> Application using LORAWAN and ESP8266/ESP32.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497169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https://iotvirtuallab.github.io/vlab/Experiments/index.html#</a:t>
            </a:r>
          </a:p>
        </p:txBody>
      </p:sp>
    </p:spTree>
    <p:extLst>
      <p:ext uri="{BB962C8B-B14F-4D97-AF65-F5344CB8AC3E}">
        <p14:creationId xmlns:p14="http://schemas.microsoft.com/office/powerpoint/2010/main" val="266487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IoT</a:t>
            </a:r>
            <a:r>
              <a:rPr lang="en-US" b="1" dirty="0"/>
              <a:t>-GPS-Tracker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58101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https://github.com/ExploreLab/IoT-GPS-Tracker</a:t>
            </a:r>
          </a:p>
        </p:txBody>
      </p:sp>
      <p:pic>
        <p:nvPicPr>
          <p:cNvPr id="3074" name="Picture 2" descr="Alt Tex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07" y="1027635"/>
            <a:ext cx="3537785" cy="199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lt Tex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84689"/>
            <a:ext cx="4373373" cy="309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96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IoT</a:t>
            </a:r>
            <a:r>
              <a:rPr lang="en-US" b="1" dirty="0"/>
              <a:t> Monitoring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3871161" cy="326350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 comprehensive </a:t>
            </a:r>
            <a:r>
              <a:rPr lang="en-US" dirty="0" err="1"/>
              <a:t>IoT</a:t>
            </a:r>
            <a:r>
              <a:rPr lang="en-US" dirty="0"/>
              <a:t> monitoring and control system using ESP32, featuring a modern web interface and powerful backend API with advanced NoSQL query capabilities.</a:t>
            </a:r>
          </a:p>
          <a:p>
            <a:r>
              <a:rPr lang="en-US" b="1" dirty="0"/>
              <a:t>Table of Contents</a:t>
            </a:r>
          </a:p>
          <a:p>
            <a:r>
              <a:rPr lang="en-US" u="sng" dirty="0">
                <a:hlinkClick r:id="rId3"/>
              </a:rPr>
              <a:t>Overview</a:t>
            </a:r>
            <a:endParaRPr lang="en-US" dirty="0"/>
          </a:p>
          <a:p>
            <a:r>
              <a:rPr lang="en-US" u="sng" dirty="0">
                <a:hlinkClick r:id="rId4"/>
              </a:rPr>
              <a:t>System Architecture</a:t>
            </a:r>
            <a:endParaRPr lang="en-US" dirty="0"/>
          </a:p>
          <a:p>
            <a:r>
              <a:rPr lang="en-US" u="sng" dirty="0">
                <a:hlinkClick r:id="rId5"/>
              </a:rPr>
              <a:t>Key Features</a:t>
            </a:r>
            <a:endParaRPr lang="en-US" dirty="0"/>
          </a:p>
          <a:p>
            <a:r>
              <a:rPr lang="en-US" u="sng" dirty="0">
                <a:hlinkClick r:id="rId6"/>
              </a:rPr>
              <a:t>Quick Start</a:t>
            </a:r>
            <a:endParaRPr lang="en-US" dirty="0"/>
          </a:p>
          <a:p>
            <a:r>
              <a:rPr lang="en-US" u="sng" dirty="0">
                <a:hlinkClick r:id="rId7"/>
              </a:rPr>
              <a:t>Installation and Setup</a:t>
            </a:r>
            <a:endParaRPr lang="en-US" dirty="0"/>
          </a:p>
          <a:p>
            <a:r>
              <a:rPr lang="en-US" u="sng" dirty="0">
                <a:hlinkClick r:id="rId8"/>
              </a:rPr>
              <a:t>API Documentation</a:t>
            </a:r>
            <a:endParaRPr lang="en-US" dirty="0"/>
          </a:p>
          <a:p>
            <a:r>
              <a:rPr lang="en-US" u="sng" dirty="0">
                <a:hlinkClick r:id="rId9"/>
              </a:rPr>
              <a:t>Project Structure</a:t>
            </a:r>
            <a:endParaRPr lang="en-US" dirty="0"/>
          </a:p>
          <a:p>
            <a:r>
              <a:rPr lang="en-US" u="sng" dirty="0">
                <a:hlinkClick r:id="rId10"/>
              </a:rPr>
              <a:t>MQTT Topics</a:t>
            </a:r>
            <a:endParaRPr lang="en-US" dirty="0"/>
          </a:p>
          <a:p>
            <a:r>
              <a:rPr lang="en-US" u="sng" dirty="0">
                <a:hlinkClick r:id="rId11"/>
              </a:rPr>
              <a:t>Development</a:t>
            </a:r>
            <a:endParaRPr lang="en-US" dirty="0"/>
          </a:p>
          <a:p>
            <a:r>
              <a:rPr lang="en-US" u="sng" dirty="0">
                <a:hlinkClick r:id="rId12"/>
              </a:rPr>
              <a:t>Troubleshooting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4723968"/>
            <a:ext cx="4228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https://github.com/PhucHuwu/IoT_Project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9811" y="1390418"/>
            <a:ext cx="854242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┌─────────────────┐         </a:t>
            </a:r>
            <a:r>
              <a:rPr lang="en-US" dirty="0" smtClean="0"/>
              <a:t>	   </a:t>
            </a:r>
            <a:r>
              <a:rPr lang="en-US" dirty="0"/>
              <a:t>┌─────────────────┐    </a:t>
            </a:r>
            <a:r>
              <a:rPr lang="en-US" dirty="0" smtClean="0"/>
              <a:t>        ┌──────────--───────┐</a:t>
            </a:r>
            <a:endParaRPr lang="en-US" dirty="0"/>
          </a:p>
          <a:p>
            <a:r>
              <a:rPr lang="en-US" dirty="0"/>
              <a:t>│  ESP32 Device   </a:t>
            </a:r>
            <a:r>
              <a:rPr lang="en-US" dirty="0" smtClean="0"/>
              <a:t>        │         	   </a:t>
            </a:r>
            <a:r>
              <a:rPr lang="en-US" dirty="0"/>
              <a:t>│   Backend API  </a:t>
            </a:r>
            <a:r>
              <a:rPr lang="en-US" dirty="0" smtClean="0"/>
              <a:t>	        </a:t>
            </a:r>
            <a:r>
              <a:rPr lang="en-US" dirty="0"/>
              <a:t>│  </a:t>
            </a:r>
            <a:r>
              <a:rPr lang="en-US" dirty="0" smtClean="0"/>
              <a:t>	    |	  </a:t>
            </a:r>
            <a:r>
              <a:rPr lang="en-US" dirty="0"/>
              <a:t>Frontend      </a:t>
            </a:r>
            <a:r>
              <a:rPr lang="en-US" dirty="0" smtClean="0"/>
              <a:t>   │</a:t>
            </a:r>
            <a:endParaRPr lang="en-US" dirty="0"/>
          </a:p>
          <a:p>
            <a:r>
              <a:rPr lang="en-US" dirty="0"/>
              <a:t>│                </a:t>
            </a:r>
            <a:r>
              <a:rPr lang="en-US" dirty="0" smtClean="0"/>
              <a:t>	    </a:t>
            </a:r>
            <a:r>
              <a:rPr lang="en-US" dirty="0"/>
              <a:t>│        </a:t>
            </a:r>
            <a:r>
              <a:rPr lang="en-US" dirty="0" smtClean="0"/>
              <a:t>	   </a:t>
            </a:r>
            <a:r>
              <a:rPr lang="en-US" dirty="0"/>
              <a:t>│     (Flask)     </a:t>
            </a:r>
            <a:r>
              <a:rPr lang="en-US" dirty="0" smtClean="0"/>
              <a:t>	        │            </a:t>
            </a:r>
            <a:r>
              <a:rPr lang="en-US" dirty="0"/>
              <a:t>│    </a:t>
            </a:r>
            <a:r>
              <a:rPr lang="en-US" dirty="0" smtClean="0"/>
              <a:t>        (</a:t>
            </a:r>
            <a:r>
              <a:rPr lang="en-US" dirty="0"/>
              <a:t>HTML/JS)    </a:t>
            </a:r>
            <a:r>
              <a:rPr lang="en-US" dirty="0" smtClean="0"/>
              <a:t>    │</a:t>
            </a:r>
            <a:endParaRPr lang="en-US" dirty="0"/>
          </a:p>
          <a:p>
            <a:r>
              <a:rPr lang="en-US" dirty="0"/>
              <a:t>│                 </a:t>
            </a:r>
            <a:r>
              <a:rPr lang="en-US" dirty="0" smtClean="0"/>
              <a:t>	    │  MQTT  </a:t>
            </a:r>
            <a:r>
              <a:rPr lang="en-US" dirty="0"/>
              <a:t>│                 </a:t>
            </a:r>
            <a:r>
              <a:rPr lang="en-US" dirty="0" smtClean="0"/>
              <a:t>	        │ HTTP  │                                      │</a:t>
            </a:r>
            <a:endParaRPr lang="en-US" dirty="0"/>
          </a:p>
          <a:p>
            <a:r>
              <a:rPr lang="en-US" dirty="0"/>
              <a:t>│ - DHT11 Sensor </a:t>
            </a:r>
            <a:r>
              <a:rPr lang="en-US" dirty="0" smtClean="0"/>
              <a:t>	    </a:t>
            </a:r>
            <a:r>
              <a:rPr lang="en-US" dirty="0"/>
              <a:t>│ </a:t>
            </a:r>
            <a:r>
              <a:rPr lang="en-US" dirty="0" smtClean="0"/>
              <a:t>──────► </a:t>
            </a:r>
            <a:r>
              <a:rPr lang="en-US" dirty="0"/>
              <a:t>│ - MQTT Client   </a:t>
            </a:r>
            <a:r>
              <a:rPr lang="en-US" dirty="0" smtClean="0"/>
              <a:t>    │ ◄──  │ </a:t>
            </a:r>
            <a:r>
              <a:rPr lang="en-US" dirty="0"/>
              <a:t>- Real-time UI </a:t>
            </a:r>
            <a:r>
              <a:rPr lang="en-US" dirty="0" smtClean="0"/>
              <a:t>            </a:t>
            </a:r>
            <a:r>
              <a:rPr lang="en-US" dirty="0"/>
              <a:t>│</a:t>
            </a:r>
          </a:p>
          <a:p>
            <a:r>
              <a:rPr lang="en-US" dirty="0"/>
              <a:t>│ - Light Sensor </a:t>
            </a:r>
            <a:r>
              <a:rPr lang="en-US" dirty="0" smtClean="0"/>
              <a:t>	    │               </a:t>
            </a:r>
            <a:r>
              <a:rPr lang="en-US" dirty="0"/>
              <a:t>│ - REST API      </a:t>
            </a:r>
            <a:r>
              <a:rPr lang="en-US" dirty="0" smtClean="0"/>
              <a:t>	        │            </a:t>
            </a:r>
            <a:r>
              <a:rPr lang="en-US" dirty="0"/>
              <a:t>│ - Charts        </a:t>
            </a:r>
            <a:r>
              <a:rPr lang="en-US" dirty="0" smtClean="0"/>
              <a:t>               │</a:t>
            </a:r>
            <a:endParaRPr lang="en-US" dirty="0"/>
          </a:p>
          <a:p>
            <a:r>
              <a:rPr lang="en-US" dirty="0"/>
              <a:t>│ - 3x LED </a:t>
            </a:r>
            <a:r>
              <a:rPr lang="en-US" dirty="0" smtClean="0"/>
              <a:t>Control	    │               │ </a:t>
            </a:r>
            <a:r>
              <a:rPr lang="en-US" dirty="0"/>
              <a:t>- MongoDB       </a:t>
            </a:r>
            <a:r>
              <a:rPr lang="en-US" dirty="0" smtClean="0"/>
              <a:t>	       │             │ </a:t>
            </a:r>
            <a:r>
              <a:rPr lang="en-US" dirty="0"/>
              <a:t>- Data Tables   </a:t>
            </a:r>
            <a:r>
              <a:rPr lang="en-US" dirty="0" smtClean="0"/>
              <a:t>           │</a:t>
            </a:r>
            <a:endParaRPr lang="en-US" dirty="0"/>
          </a:p>
          <a:p>
            <a:r>
              <a:rPr lang="en-US" dirty="0"/>
              <a:t>│ - </a:t>
            </a:r>
            <a:r>
              <a:rPr lang="en-US" dirty="0" err="1"/>
              <a:t>WiFi</a:t>
            </a:r>
            <a:r>
              <a:rPr lang="en-US" dirty="0"/>
              <a:t> + MQTT  </a:t>
            </a:r>
            <a:r>
              <a:rPr lang="en-US" dirty="0" smtClean="0"/>
              <a:t>	    </a:t>
            </a:r>
            <a:r>
              <a:rPr lang="en-US" dirty="0"/>
              <a:t>│        </a:t>
            </a:r>
            <a:r>
              <a:rPr lang="en-US" dirty="0" smtClean="0"/>
              <a:t>	    </a:t>
            </a:r>
            <a:r>
              <a:rPr lang="en-US" dirty="0"/>
              <a:t>│ - NoSQL Queries </a:t>
            </a:r>
            <a:r>
              <a:rPr lang="en-US" dirty="0" smtClean="0"/>
              <a:t>     │             │ </a:t>
            </a:r>
            <a:r>
              <a:rPr lang="en-US" dirty="0"/>
              <a:t>- LED Controls  </a:t>
            </a:r>
            <a:r>
              <a:rPr lang="en-US" dirty="0" smtClean="0"/>
              <a:t>         │</a:t>
            </a:r>
            <a:endParaRPr lang="en-US" dirty="0"/>
          </a:p>
          <a:p>
            <a:r>
              <a:rPr lang="en-US" dirty="0"/>
              <a:t>└─────────────────┘     </a:t>
            </a:r>
            <a:r>
              <a:rPr lang="en-US" dirty="0" smtClean="0"/>
              <a:t>	     </a:t>
            </a:r>
            <a:r>
              <a:rPr lang="en-US" dirty="0"/>
              <a:t>└─────────────────┘         </a:t>
            </a:r>
            <a:r>
              <a:rPr lang="en-US" dirty="0" smtClean="0"/>
              <a:t>  </a:t>
            </a:r>
            <a:r>
              <a:rPr lang="en-US" dirty="0"/>
              <a:t>└─────────────────┘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57831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4723968"/>
            <a:ext cx="4228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https://github.com/PhucHuwu/IoT_Project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IoT</a:t>
            </a:r>
            <a:r>
              <a:rPr lang="en-US" b="1" dirty="0"/>
              <a:t> Monitoring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09074" y="815283"/>
            <a:ext cx="854242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┌─────────────────┐         </a:t>
            </a:r>
            <a:r>
              <a:rPr lang="en-US" dirty="0" smtClean="0"/>
              <a:t>	   </a:t>
            </a:r>
            <a:r>
              <a:rPr lang="en-US" dirty="0"/>
              <a:t>┌─────────────────┐    </a:t>
            </a:r>
            <a:r>
              <a:rPr lang="en-US" dirty="0" smtClean="0"/>
              <a:t>        ┌──────────--───────┐</a:t>
            </a:r>
            <a:endParaRPr lang="en-US" dirty="0"/>
          </a:p>
          <a:p>
            <a:r>
              <a:rPr lang="en-US" dirty="0"/>
              <a:t>│  ESP32 Device   </a:t>
            </a:r>
            <a:r>
              <a:rPr lang="en-US" dirty="0" smtClean="0"/>
              <a:t>        │         	   </a:t>
            </a:r>
            <a:r>
              <a:rPr lang="en-US" dirty="0"/>
              <a:t>│   Backend API  </a:t>
            </a:r>
            <a:r>
              <a:rPr lang="en-US" dirty="0" smtClean="0"/>
              <a:t>	        </a:t>
            </a:r>
            <a:r>
              <a:rPr lang="en-US" dirty="0"/>
              <a:t>│  </a:t>
            </a:r>
            <a:r>
              <a:rPr lang="en-US" dirty="0" smtClean="0"/>
              <a:t>	    |	  </a:t>
            </a:r>
            <a:r>
              <a:rPr lang="en-US" dirty="0"/>
              <a:t>Frontend      </a:t>
            </a:r>
            <a:r>
              <a:rPr lang="en-US" dirty="0" smtClean="0"/>
              <a:t>   │</a:t>
            </a:r>
            <a:endParaRPr lang="en-US" dirty="0"/>
          </a:p>
          <a:p>
            <a:r>
              <a:rPr lang="en-US" dirty="0"/>
              <a:t>│                </a:t>
            </a:r>
            <a:r>
              <a:rPr lang="en-US" dirty="0" smtClean="0"/>
              <a:t>	    </a:t>
            </a:r>
            <a:r>
              <a:rPr lang="en-US" dirty="0"/>
              <a:t>│        </a:t>
            </a:r>
            <a:r>
              <a:rPr lang="en-US" dirty="0" smtClean="0"/>
              <a:t>	   </a:t>
            </a:r>
            <a:r>
              <a:rPr lang="en-US" dirty="0"/>
              <a:t>│     (Flask)     </a:t>
            </a:r>
            <a:r>
              <a:rPr lang="en-US" dirty="0" smtClean="0"/>
              <a:t>	        │            </a:t>
            </a:r>
            <a:r>
              <a:rPr lang="en-US" dirty="0"/>
              <a:t>│    </a:t>
            </a:r>
            <a:r>
              <a:rPr lang="en-US" dirty="0" smtClean="0"/>
              <a:t>        (</a:t>
            </a:r>
            <a:r>
              <a:rPr lang="en-US" dirty="0"/>
              <a:t>HTML/JS)    </a:t>
            </a:r>
            <a:r>
              <a:rPr lang="en-US" dirty="0" smtClean="0"/>
              <a:t>    │</a:t>
            </a:r>
            <a:endParaRPr lang="en-US" dirty="0"/>
          </a:p>
          <a:p>
            <a:r>
              <a:rPr lang="en-US" dirty="0"/>
              <a:t>│                 </a:t>
            </a:r>
            <a:r>
              <a:rPr lang="en-US" dirty="0" smtClean="0"/>
              <a:t>	    │  MQTT  </a:t>
            </a:r>
            <a:r>
              <a:rPr lang="en-US" dirty="0"/>
              <a:t>│                 </a:t>
            </a:r>
            <a:r>
              <a:rPr lang="en-US" dirty="0" smtClean="0"/>
              <a:t>	        │ HTTP  │                                      │</a:t>
            </a:r>
            <a:endParaRPr lang="en-US" dirty="0"/>
          </a:p>
          <a:p>
            <a:r>
              <a:rPr lang="en-US" dirty="0"/>
              <a:t>│ - DHT11 Sensor </a:t>
            </a:r>
            <a:r>
              <a:rPr lang="en-US" dirty="0" smtClean="0"/>
              <a:t>	    </a:t>
            </a:r>
            <a:r>
              <a:rPr lang="en-US" dirty="0"/>
              <a:t>│ </a:t>
            </a:r>
            <a:r>
              <a:rPr lang="en-US" dirty="0" smtClean="0"/>
              <a:t>──────► </a:t>
            </a:r>
            <a:r>
              <a:rPr lang="en-US" dirty="0"/>
              <a:t>│ - MQTT Client   </a:t>
            </a:r>
            <a:r>
              <a:rPr lang="en-US" dirty="0" smtClean="0"/>
              <a:t>    │ ◄──  │ </a:t>
            </a:r>
            <a:r>
              <a:rPr lang="en-US" dirty="0"/>
              <a:t>- Real-time UI </a:t>
            </a:r>
            <a:r>
              <a:rPr lang="en-US" dirty="0" smtClean="0"/>
              <a:t>            </a:t>
            </a:r>
            <a:r>
              <a:rPr lang="en-US" dirty="0"/>
              <a:t>│</a:t>
            </a:r>
          </a:p>
          <a:p>
            <a:r>
              <a:rPr lang="en-US" dirty="0"/>
              <a:t>│ - Light Sensor </a:t>
            </a:r>
            <a:r>
              <a:rPr lang="en-US" dirty="0" smtClean="0"/>
              <a:t>	    │               </a:t>
            </a:r>
            <a:r>
              <a:rPr lang="en-US" dirty="0"/>
              <a:t>│ - REST API      </a:t>
            </a:r>
            <a:r>
              <a:rPr lang="en-US" dirty="0" smtClean="0"/>
              <a:t>	        │            </a:t>
            </a:r>
            <a:r>
              <a:rPr lang="en-US" dirty="0"/>
              <a:t>│ - Charts        </a:t>
            </a:r>
            <a:r>
              <a:rPr lang="en-US" dirty="0" smtClean="0"/>
              <a:t>               │</a:t>
            </a:r>
            <a:endParaRPr lang="en-US" dirty="0"/>
          </a:p>
          <a:p>
            <a:r>
              <a:rPr lang="en-US" dirty="0"/>
              <a:t>│ - 3x LED </a:t>
            </a:r>
            <a:r>
              <a:rPr lang="en-US" dirty="0" smtClean="0"/>
              <a:t>Control	    │               │ </a:t>
            </a:r>
            <a:r>
              <a:rPr lang="en-US" dirty="0"/>
              <a:t>- MongoDB       </a:t>
            </a:r>
            <a:r>
              <a:rPr lang="en-US" dirty="0" smtClean="0"/>
              <a:t>	       │             │ </a:t>
            </a:r>
            <a:r>
              <a:rPr lang="en-US" dirty="0"/>
              <a:t>- Data Tables   </a:t>
            </a:r>
            <a:r>
              <a:rPr lang="en-US" dirty="0" smtClean="0"/>
              <a:t>           │</a:t>
            </a:r>
            <a:endParaRPr lang="en-US" dirty="0"/>
          </a:p>
          <a:p>
            <a:r>
              <a:rPr lang="en-US" dirty="0"/>
              <a:t>│ - </a:t>
            </a:r>
            <a:r>
              <a:rPr lang="en-US" dirty="0" err="1"/>
              <a:t>WiFi</a:t>
            </a:r>
            <a:r>
              <a:rPr lang="en-US" dirty="0"/>
              <a:t> + MQTT  </a:t>
            </a:r>
            <a:r>
              <a:rPr lang="en-US" dirty="0" smtClean="0"/>
              <a:t>	    </a:t>
            </a:r>
            <a:r>
              <a:rPr lang="en-US" dirty="0"/>
              <a:t>│        </a:t>
            </a:r>
            <a:r>
              <a:rPr lang="en-US" dirty="0" smtClean="0"/>
              <a:t>	    </a:t>
            </a:r>
            <a:r>
              <a:rPr lang="en-US" dirty="0"/>
              <a:t>│ - NoSQL Queries </a:t>
            </a:r>
            <a:r>
              <a:rPr lang="en-US" dirty="0" smtClean="0"/>
              <a:t>     │             │ </a:t>
            </a:r>
            <a:r>
              <a:rPr lang="en-US" dirty="0"/>
              <a:t>- LED Controls  </a:t>
            </a:r>
            <a:r>
              <a:rPr lang="en-US" dirty="0" smtClean="0"/>
              <a:t>         │</a:t>
            </a:r>
            <a:endParaRPr lang="en-US" dirty="0"/>
          </a:p>
          <a:p>
            <a:r>
              <a:rPr lang="en-US" dirty="0"/>
              <a:t>└─────────────────┘     </a:t>
            </a:r>
            <a:r>
              <a:rPr lang="en-US" dirty="0" smtClean="0"/>
              <a:t>	     </a:t>
            </a:r>
            <a:r>
              <a:rPr lang="en-US" dirty="0"/>
              <a:t>└─────────────────┘         </a:t>
            </a:r>
            <a:r>
              <a:rPr lang="en-US" dirty="0" smtClean="0"/>
              <a:t>  </a:t>
            </a:r>
            <a:r>
              <a:rPr lang="en-US" dirty="0"/>
              <a:t>└─────────────────┘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91568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3"/>
              </a:rPr>
              <a:t>alialaei1</a:t>
            </a:r>
            <a:r>
              <a:rPr lang="en-US" dirty="0"/>
              <a:t>/</a:t>
            </a:r>
            <a:r>
              <a:rPr lang="en-US" b="1" dirty="0">
                <a:hlinkClick r:id="rId4"/>
              </a:rPr>
              <a:t>IOT-MQTT-Dashboard-for-ESP32-Plant-Sensor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44220" y="1370013"/>
            <a:ext cx="4227780" cy="32623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9220" y="1062149"/>
            <a:ext cx="4994859" cy="2469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5585" y="4436763"/>
            <a:ext cx="1757237" cy="14854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2570" y="2580774"/>
            <a:ext cx="3240505" cy="18227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73075" y="2580774"/>
            <a:ext cx="2433637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1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18" y="3493286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https://github.com/TunahanDilercan/SmartESPApp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4065" y="954107"/>
            <a:ext cx="1656333" cy="32623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444097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https://github.com/TunahanDilercan/SmartESPApp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018" y="175478"/>
            <a:ext cx="2852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1F2328"/>
                </a:solidFill>
                <a:latin typeface="-apple-system"/>
              </a:rPr>
              <a:t>IoT</a:t>
            </a:r>
            <a:r>
              <a:rPr lang="en-US" b="1" dirty="0">
                <a:solidFill>
                  <a:srgbClr val="1F2328"/>
                </a:solidFill>
                <a:latin typeface="-apple-system"/>
              </a:rPr>
              <a:t> Sensor Management</a:t>
            </a:r>
            <a:endParaRPr lang="en-US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521" y="175478"/>
            <a:ext cx="1907712" cy="29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8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6473" t="25096" r="53169" b="27015"/>
          <a:stretch/>
        </p:blipFill>
        <p:spPr>
          <a:xfrm>
            <a:off x="8710863" y="312738"/>
            <a:ext cx="2117558" cy="1876927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29" r="26418" b="37788"/>
          <a:stretch/>
        </p:blipFill>
        <p:spPr bwMode="auto">
          <a:xfrm>
            <a:off x="9144000" y="3268276"/>
            <a:ext cx="1780674" cy="17593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AutoShape 2" descr="Barcode GIFs - Find &amp; Share on GIPH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 descr="Barcode GIFs - Find &amp; Share on GIPH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6" name="Picture 8" descr="Barcode GIFs - Find &amp; Share on GIPHY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665" y="3660743"/>
            <a:ext cx="1380364" cy="138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75" y="222218"/>
            <a:ext cx="49244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3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</TotalTime>
  <Words>1076</Words>
  <Application>Microsoft Office PowerPoint</Application>
  <PresentationFormat>On-screen Show (16:9)</PresentationFormat>
  <Paragraphs>300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Malgun Gothic</vt:lpstr>
      <vt:lpstr>-apple-system</vt:lpstr>
      <vt:lpstr>Arial</vt:lpstr>
      <vt:lpstr>Calibri</vt:lpstr>
      <vt:lpstr>Calibri Light</vt:lpstr>
      <vt:lpstr>Office Theme</vt:lpstr>
      <vt:lpstr>PowerPoint Presentation</vt:lpstr>
      <vt:lpstr>ACANETS/genai-labs</vt:lpstr>
      <vt:lpstr>Full Stack IoT Platform </vt:lpstr>
      <vt:lpstr>Apply for a free account on Intel Developer Cloud (DevCloud) </vt:lpstr>
      <vt:lpstr>PowerPoint Presentation</vt:lpstr>
      <vt:lpstr>Embended Microprocessor II &amp; Embedded System</vt:lpstr>
      <vt:lpstr>IoT</vt:lpstr>
      <vt:lpstr>IoT-LAB virtual machine </vt:lpstr>
      <vt:lpstr>IoT Virtual Laboratory </vt:lpstr>
      <vt:lpstr>IoT-GPS-Tracker </vt:lpstr>
      <vt:lpstr>IoT Monitoring System </vt:lpstr>
      <vt:lpstr>IoT Monitoring System </vt:lpstr>
      <vt:lpstr>alialaei1/IOT-MQTT-Dashboard-for-ESP32-Plant-Sensor</vt:lpstr>
      <vt:lpstr>https://github.com/TunahanDilercan/SmartESPApp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CloudIoT</dc:title>
  <dc:subject/>
  <dc:creator>pds</dc:creator>
  <cp:keywords/>
  <dc:description/>
  <cp:lastModifiedBy>PDS</cp:lastModifiedBy>
  <cp:revision>103</cp:revision>
  <dcterms:modified xsi:type="dcterms:W3CDTF">2026-09-18T01:27:50Z</dcterms:modified>
  <cp:category/>
</cp:coreProperties>
</file>