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35" r:id="rId1"/>
  </p:sldMasterIdLst>
  <p:notesMasterIdLst>
    <p:notesMasterId r:id="rId33"/>
  </p:notesMasterIdLst>
  <p:sldIdLst>
    <p:sldId id="270" r:id="rId2"/>
    <p:sldId id="307" r:id="rId3"/>
    <p:sldId id="308" r:id="rId4"/>
    <p:sldId id="309" r:id="rId5"/>
    <p:sldId id="310" r:id="rId6"/>
    <p:sldId id="311" r:id="rId7"/>
    <p:sldId id="312" r:id="rId8"/>
    <p:sldId id="323" r:id="rId9"/>
    <p:sldId id="313" r:id="rId10"/>
    <p:sldId id="314" r:id="rId11"/>
    <p:sldId id="315" r:id="rId12"/>
    <p:sldId id="316" r:id="rId13"/>
    <p:sldId id="318" r:id="rId14"/>
    <p:sldId id="302" r:id="rId15"/>
    <p:sldId id="289" r:id="rId16"/>
    <p:sldId id="290" r:id="rId17"/>
    <p:sldId id="291" r:id="rId18"/>
    <p:sldId id="292" r:id="rId19"/>
    <p:sldId id="293" r:id="rId20"/>
    <p:sldId id="294" r:id="rId21"/>
    <p:sldId id="295" r:id="rId22"/>
    <p:sldId id="296" r:id="rId23"/>
    <p:sldId id="297" r:id="rId24"/>
    <p:sldId id="298" r:id="rId25"/>
    <p:sldId id="299" r:id="rId26"/>
    <p:sldId id="300" r:id="rId27"/>
    <p:sldId id="301" r:id="rId28"/>
    <p:sldId id="303" r:id="rId29"/>
    <p:sldId id="304" r:id="rId30"/>
    <p:sldId id="305" r:id="rId31"/>
    <p:sldId id="271"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81787" autoAdjust="0"/>
  </p:normalViewPr>
  <p:slideViewPr>
    <p:cSldViewPr snapToGrid="0">
      <p:cViewPr varScale="1">
        <p:scale>
          <a:sx n="79" d="100"/>
          <a:sy n="79" d="100"/>
        </p:scale>
        <p:origin x="126"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3DA0A24-8F73-440D-9695-CACB93E3DC8C}" type="datetimeFigureOut">
              <a:rPr lang="en-US" smtClean="0"/>
              <a:t>9/18/2026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AEEB89B-E730-41A0-81AF-DAEB457925DE}" type="slidenum">
              <a:rPr lang="en-US" smtClean="0"/>
              <a:t>‹#›</a:t>
            </a:fld>
            <a:endParaRPr lang="en-US"/>
          </a:p>
        </p:txBody>
      </p:sp>
    </p:spTree>
    <p:extLst>
      <p:ext uri="{BB962C8B-B14F-4D97-AF65-F5344CB8AC3E}">
        <p14:creationId xmlns:p14="http://schemas.microsoft.com/office/powerpoint/2010/main" val="8038016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https://www.idn.id/docker-pada-ubuntu-20-04/</a:t>
            </a:r>
          </a:p>
          <a:p>
            <a:r>
              <a:rPr lang="en-US" dirty="0" smtClean="0"/>
              <a:t>https://medium.com/redbubble/running-a-docker-container-as-a-non-root-user-7d2e00f8ee15</a:t>
            </a:r>
          </a:p>
          <a:p>
            <a:r>
              <a:rPr lang="en-US" dirty="0" smtClean="0"/>
              <a:t>https://www.digitalocean.com/community/tutorials/how-to-install-and-use-docker-compose-on-ubuntu-20-04</a:t>
            </a:r>
            <a:endParaRPr lang="en-US" dirty="0"/>
          </a:p>
        </p:txBody>
      </p:sp>
      <p:sp>
        <p:nvSpPr>
          <p:cNvPr id="4" name="Slide Number Placeholder 3"/>
          <p:cNvSpPr>
            <a:spLocks noGrp="1"/>
          </p:cNvSpPr>
          <p:nvPr>
            <p:ph type="sldNum" sz="quarter" idx="10"/>
          </p:nvPr>
        </p:nvSpPr>
        <p:spPr/>
        <p:txBody>
          <a:bodyPr/>
          <a:lstStyle/>
          <a:p>
            <a:fld id="{CDC773BF-E5C9-44BF-B19B-39EF1F90376E}" type="slidenum">
              <a:rPr lang="en-US" smtClean="0"/>
              <a:t>1</a:t>
            </a:fld>
            <a:endParaRPr lang="en-US"/>
          </a:p>
        </p:txBody>
      </p:sp>
    </p:spTree>
    <p:extLst>
      <p:ext uri="{BB962C8B-B14F-4D97-AF65-F5344CB8AC3E}">
        <p14:creationId xmlns:p14="http://schemas.microsoft.com/office/powerpoint/2010/main" val="6390164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https://fernandocejas.com/blog/engineering/2023-01-06-over-engineered-home-lab-docker-kubernetes/</a:t>
            </a:r>
            <a:endParaRPr lang="en-US" dirty="0"/>
          </a:p>
        </p:txBody>
      </p:sp>
      <p:sp>
        <p:nvSpPr>
          <p:cNvPr id="4" name="Slide Number Placeholder 3"/>
          <p:cNvSpPr>
            <a:spLocks noGrp="1"/>
          </p:cNvSpPr>
          <p:nvPr>
            <p:ph type="sldNum" sz="quarter" idx="10"/>
          </p:nvPr>
        </p:nvSpPr>
        <p:spPr/>
        <p:txBody>
          <a:bodyPr/>
          <a:lstStyle/>
          <a:p>
            <a:fld id="{8AEEB89B-E730-41A0-81AF-DAEB457925DE}" type="slidenum">
              <a:rPr lang="en-US" smtClean="0"/>
              <a:t>2</a:t>
            </a:fld>
            <a:endParaRPr lang="en-US"/>
          </a:p>
        </p:txBody>
      </p:sp>
    </p:spTree>
    <p:extLst>
      <p:ext uri="{BB962C8B-B14F-4D97-AF65-F5344CB8AC3E}">
        <p14:creationId xmlns:p14="http://schemas.microsoft.com/office/powerpoint/2010/main" val="38013202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https://fernandocejas.com/blog/engineering/2023-01-06-over-engineered-home-lab-docker-kubernetes/</a:t>
            </a:r>
            <a:endParaRPr lang="en-US" dirty="0"/>
          </a:p>
        </p:txBody>
      </p:sp>
      <p:sp>
        <p:nvSpPr>
          <p:cNvPr id="4" name="Slide Number Placeholder 3"/>
          <p:cNvSpPr>
            <a:spLocks noGrp="1"/>
          </p:cNvSpPr>
          <p:nvPr>
            <p:ph type="sldNum" sz="quarter" idx="10"/>
          </p:nvPr>
        </p:nvSpPr>
        <p:spPr/>
        <p:txBody>
          <a:bodyPr/>
          <a:lstStyle/>
          <a:p>
            <a:fld id="{8AEEB89B-E730-41A0-81AF-DAEB457925DE}" type="slidenum">
              <a:rPr lang="en-US" smtClean="0"/>
              <a:t>3</a:t>
            </a:fld>
            <a:endParaRPr lang="en-US"/>
          </a:p>
        </p:txBody>
      </p:sp>
    </p:spTree>
    <p:extLst>
      <p:ext uri="{BB962C8B-B14F-4D97-AF65-F5344CB8AC3E}">
        <p14:creationId xmlns:p14="http://schemas.microsoft.com/office/powerpoint/2010/main" val="27798651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https://fernandocejas.com/blog/engineering/2023-01-06-over-engineered-home-lab-docker-kubernetes/</a:t>
            </a:r>
            <a:endParaRPr lang="en-US" dirty="0"/>
          </a:p>
        </p:txBody>
      </p:sp>
      <p:sp>
        <p:nvSpPr>
          <p:cNvPr id="4" name="Slide Number Placeholder 3"/>
          <p:cNvSpPr>
            <a:spLocks noGrp="1"/>
          </p:cNvSpPr>
          <p:nvPr>
            <p:ph type="sldNum" sz="quarter" idx="10"/>
          </p:nvPr>
        </p:nvSpPr>
        <p:spPr/>
        <p:txBody>
          <a:bodyPr/>
          <a:lstStyle/>
          <a:p>
            <a:fld id="{8AEEB89B-E730-41A0-81AF-DAEB457925DE}" type="slidenum">
              <a:rPr lang="en-US" smtClean="0"/>
              <a:t>4</a:t>
            </a:fld>
            <a:endParaRPr lang="en-US"/>
          </a:p>
        </p:txBody>
      </p:sp>
    </p:spTree>
    <p:extLst>
      <p:ext uri="{BB962C8B-B14F-4D97-AF65-F5344CB8AC3E}">
        <p14:creationId xmlns:p14="http://schemas.microsoft.com/office/powerpoint/2010/main" val="13782499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https://fernandocejas.com/blog/engineering/2023-01-06-over-engineered-home-lab-docker-kubernetes/</a:t>
            </a:r>
            <a:endParaRPr lang="en-US" dirty="0"/>
          </a:p>
        </p:txBody>
      </p:sp>
      <p:sp>
        <p:nvSpPr>
          <p:cNvPr id="4" name="Slide Number Placeholder 3"/>
          <p:cNvSpPr>
            <a:spLocks noGrp="1"/>
          </p:cNvSpPr>
          <p:nvPr>
            <p:ph type="sldNum" sz="quarter" idx="10"/>
          </p:nvPr>
        </p:nvSpPr>
        <p:spPr/>
        <p:txBody>
          <a:bodyPr/>
          <a:lstStyle/>
          <a:p>
            <a:fld id="{8AEEB89B-E730-41A0-81AF-DAEB457925DE}" type="slidenum">
              <a:rPr lang="en-US" smtClean="0"/>
              <a:t>5</a:t>
            </a:fld>
            <a:endParaRPr lang="en-US"/>
          </a:p>
        </p:txBody>
      </p:sp>
    </p:spTree>
    <p:extLst>
      <p:ext uri="{BB962C8B-B14F-4D97-AF65-F5344CB8AC3E}">
        <p14:creationId xmlns:p14="http://schemas.microsoft.com/office/powerpoint/2010/main" val="29859342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https://fernandocejas.com/blog/engineering/2023-01-06-over-engineered-home-lab-docker-kubernetes/</a:t>
            </a:r>
            <a:endParaRPr lang="en-US" dirty="0"/>
          </a:p>
        </p:txBody>
      </p:sp>
      <p:sp>
        <p:nvSpPr>
          <p:cNvPr id="4" name="Slide Number Placeholder 3"/>
          <p:cNvSpPr>
            <a:spLocks noGrp="1"/>
          </p:cNvSpPr>
          <p:nvPr>
            <p:ph type="sldNum" sz="quarter" idx="10"/>
          </p:nvPr>
        </p:nvSpPr>
        <p:spPr/>
        <p:txBody>
          <a:bodyPr/>
          <a:lstStyle/>
          <a:p>
            <a:fld id="{8AEEB89B-E730-41A0-81AF-DAEB457925DE}" type="slidenum">
              <a:rPr lang="en-US" smtClean="0"/>
              <a:t>6</a:t>
            </a:fld>
            <a:endParaRPr lang="en-US"/>
          </a:p>
        </p:txBody>
      </p:sp>
    </p:spTree>
    <p:extLst>
      <p:ext uri="{BB962C8B-B14F-4D97-AF65-F5344CB8AC3E}">
        <p14:creationId xmlns:p14="http://schemas.microsoft.com/office/powerpoint/2010/main" val="9196257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https://fernandocejas.com/blog/engineering/2023-01-06-over-engineered-home-lab-docker-kubernetes/</a:t>
            </a:r>
            <a:endParaRPr lang="en-US" dirty="0"/>
          </a:p>
        </p:txBody>
      </p:sp>
      <p:sp>
        <p:nvSpPr>
          <p:cNvPr id="4" name="Slide Number Placeholder 3"/>
          <p:cNvSpPr>
            <a:spLocks noGrp="1"/>
          </p:cNvSpPr>
          <p:nvPr>
            <p:ph type="sldNum" sz="quarter" idx="10"/>
          </p:nvPr>
        </p:nvSpPr>
        <p:spPr/>
        <p:txBody>
          <a:bodyPr/>
          <a:lstStyle/>
          <a:p>
            <a:fld id="{8AEEB89B-E730-41A0-81AF-DAEB457925DE}" type="slidenum">
              <a:rPr lang="en-US" smtClean="0"/>
              <a:t>7</a:t>
            </a:fld>
            <a:endParaRPr lang="en-US"/>
          </a:p>
        </p:txBody>
      </p:sp>
    </p:spTree>
    <p:extLst>
      <p:ext uri="{BB962C8B-B14F-4D97-AF65-F5344CB8AC3E}">
        <p14:creationId xmlns:p14="http://schemas.microsoft.com/office/powerpoint/2010/main" val="18173147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https://fernandocejas.com/blog/engineering/2023-01-06-over-engineered-home-lab-docker-kubernetes/</a:t>
            </a:r>
            <a:endParaRPr lang="en-US" dirty="0"/>
          </a:p>
        </p:txBody>
      </p:sp>
      <p:sp>
        <p:nvSpPr>
          <p:cNvPr id="4" name="Slide Number Placeholder 3"/>
          <p:cNvSpPr>
            <a:spLocks noGrp="1"/>
          </p:cNvSpPr>
          <p:nvPr>
            <p:ph type="sldNum" sz="quarter" idx="10"/>
          </p:nvPr>
        </p:nvSpPr>
        <p:spPr/>
        <p:txBody>
          <a:bodyPr/>
          <a:lstStyle/>
          <a:p>
            <a:fld id="{8AEEB89B-E730-41A0-81AF-DAEB457925DE}" type="slidenum">
              <a:rPr lang="en-US" smtClean="0"/>
              <a:t>8</a:t>
            </a:fld>
            <a:endParaRPr lang="en-US"/>
          </a:p>
        </p:txBody>
      </p:sp>
    </p:spTree>
    <p:extLst>
      <p:ext uri="{BB962C8B-B14F-4D97-AF65-F5344CB8AC3E}">
        <p14:creationId xmlns:p14="http://schemas.microsoft.com/office/powerpoint/2010/main" val="17720226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https://fernandocejas.com/blog/engineering/2023-01-06-over-engineered-home-lab-docker-kubernetes/</a:t>
            </a:r>
            <a:endParaRPr lang="en-US" dirty="0"/>
          </a:p>
        </p:txBody>
      </p:sp>
      <p:sp>
        <p:nvSpPr>
          <p:cNvPr id="4" name="Slide Number Placeholder 3"/>
          <p:cNvSpPr>
            <a:spLocks noGrp="1"/>
          </p:cNvSpPr>
          <p:nvPr>
            <p:ph type="sldNum" sz="quarter" idx="10"/>
          </p:nvPr>
        </p:nvSpPr>
        <p:spPr/>
        <p:txBody>
          <a:bodyPr/>
          <a:lstStyle/>
          <a:p>
            <a:fld id="{8AEEB89B-E730-41A0-81AF-DAEB457925DE}" type="slidenum">
              <a:rPr lang="en-US" smtClean="0"/>
              <a:t>9</a:t>
            </a:fld>
            <a:endParaRPr lang="en-US"/>
          </a:p>
        </p:txBody>
      </p:sp>
    </p:spTree>
    <p:extLst>
      <p:ext uri="{BB962C8B-B14F-4D97-AF65-F5344CB8AC3E}">
        <p14:creationId xmlns:p14="http://schemas.microsoft.com/office/powerpoint/2010/main" val="39266035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https://fernandocejas.com/blog/engineering/2023-01-06-over-engineered-home-lab-docker-kubernetes/</a:t>
            </a:r>
            <a:endParaRPr lang="en-US" dirty="0"/>
          </a:p>
        </p:txBody>
      </p:sp>
      <p:sp>
        <p:nvSpPr>
          <p:cNvPr id="4" name="Slide Number Placeholder 3"/>
          <p:cNvSpPr>
            <a:spLocks noGrp="1"/>
          </p:cNvSpPr>
          <p:nvPr>
            <p:ph type="sldNum" sz="quarter" idx="10"/>
          </p:nvPr>
        </p:nvSpPr>
        <p:spPr/>
        <p:txBody>
          <a:bodyPr/>
          <a:lstStyle/>
          <a:p>
            <a:fld id="{8AEEB89B-E730-41A0-81AF-DAEB457925DE}" type="slidenum">
              <a:rPr lang="en-US" smtClean="0"/>
              <a:t>10</a:t>
            </a:fld>
            <a:endParaRPr lang="en-US"/>
          </a:p>
        </p:txBody>
      </p:sp>
    </p:spTree>
    <p:extLst>
      <p:ext uri="{BB962C8B-B14F-4D97-AF65-F5344CB8AC3E}">
        <p14:creationId xmlns:p14="http://schemas.microsoft.com/office/powerpoint/2010/main" val="10480095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https://fernandocejas.com/blog/engineering/2023-01-06-over-engineered-home-lab-docker-kubernetes/</a:t>
            </a:r>
            <a:endParaRPr lang="en-US" dirty="0"/>
          </a:p>
        </p:txBody>
      </p:sp>
      <p:sp>
        <p:nvSpPr>
          <p:cNvPr id="4" name="Slide Number Placeholder 3"/>
          <p:cNvSpPr>
            <a:spLocks noGrp="1"/>
          </p:cNvSpPr>
          <p:nvPr>
            <p:ph type="sldNum" sz="quarter" idx="10"/>
          </p:nvPr>
        </p:nvSpPr>
        <p:spPr/>
        <p:txBody>
          <a:bodyPr/>
          <a:lstStyle/>
          <a:p>
            <a:fld id="{8AEEB89B-E730-41A0-81AF-DAEB457925DE}" type="slidenum">
              <a:rPr lang="en-US" smtClean="0"/>
              <a:t>11</a:t>
            </a:fld>
            <a:endParaRPr lang="en-US"/>
          </a:p>
        </p:txBody>
      </p:sp>
    </p:spTree>
    <p:extLst>
      <p:ext uri="{BB962C8B-B14F-4D97-AF65-F5344CB8AC3E}">
        <p14:creationId xmlns:p14="http://schemas.microsoft.com/office/powerpoint/2010/main" val="113976480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https://fernandocejas.com/blog/engineering/2023-01-06-over-engineered-home-lab-docker-kubernetes/</a:t>
            </a:r>
            <a:endParaRPr lang="en-US" dirty="0"/>
          </a:p>
        </p:txBody>
      </p:sp>
      <p:sp>
        <p:nvSpPr>
          <p:cNvPr id="4" name="Slide Number Placeholder 3"/>
          <p:cNvSpPr>
            <a:spLocks noGrp="1"/>
          </p:cNvSpPr>
          <p:nvPr>
            <p:ph type="sldNum" sz="quarter" idx="10"/>
          </p:nvPr>
        </p:nvSpPr>
        <p:spPr/>
        <p:txBody>
          <a:bodyPr/>
          <a:lstStyle/>
          <a:p>
            <a:fld id="{8AEEB89B-E730-41A0-81AF-DAEB457925DE}" type="slidenum">
              <a:rPr lang="en-US" smtClean="0"/>
              <a:t>12</a:t>
            </a:fld>
            <a:endParaRPr lang="en-US"/>
          </a:p>
        </p:txBody>
      </p:sp>
    </p:spTree>
    <p:extLst>
      <p:ext uri="{BB962C8B-B14F-4D97-AF65-F5344CB8AC3E}">
        <p14:creationId xmlns:p14="http://schemas.microsoft.com/office/powerpoint/2010/main" val="215206667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https://fernandocejas.com/blog/engineering/2023-01-06-over-engineered-home-lab-docker-kubernetes/</a:t>
            </a:r>
          </a:p>
          <a:p>
            <a:endParaRPr lang="en-US" dirty="0" smtClean="0"/>
          </a:p>
          <a:p>
            <a:r>
              <a:rPr lang="en-US" dirty="0" smtClean="0"/>
              <a:t>https://fernandocejas.com/blog/engineering/2023-01-06-over-engineered-home-lab-docker-kubernetes/</a:t>
            </a:r>
            <a:endParaRPr lang="en-US" dirty="0"/>
          </a:p>
        </p:txBody>
      </p:sp>
      <p:sp>
        <p:nvSpPr>
          <p:cNvPr id="4" name="Slide Number Placeholder 3"/>
          <p:cNvSpPr>
            <a:spLocks noGrp="1"/>
          </p:cNvSpPr>
          <p:nvPr>
            <p:ph type="sldNum" sz="quarter" idx="10"/>
          </p:nvPr>
        </p:nvSpPr>
        <p:spPr/>
        <p:txBody>
          <a:bodyPr/>
          <a:lstStyle/>
          <a:p>
            <a:fld id="{8AEEB89B-E730-41A0-81AF-DAEB457925DE}" type="slidenum">
              <a:rPr lang="en-US" smtClean="0"/>
              <a:t>13</a:t>
            </a:fld>
            <a:endParaRPr lang="en-US"/>
          </a:p>
        </p:txBody>
      </p:sp>
    </p:spTree>
    <p:extLst>
      <p:ext uri="{BB962C8B-B14F-4D97-AF65-F5344CB8AC3E}">
        <p14:creationId xmlns:p14="http://schemas.microsoft.com/office/powerpoint/2010/main" val="94412280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https://www.idn.id/docker-pada-ubuntu-20-04/</a:t>
            </a:r>
          </a:p>
          <a:p>
            <a:r>
              <a:rPr lang="en-US" dirty="0" smtClean="0"/>
              <a:t>https://www.domainesia.com/tips/cara-install-docker-di-ubuntu/</a:t>
            </a:r>
          </a:p>
          <a:p>
            <a:r>
              <a:rPr lang="en-US" dirty="0" smtClean="0"/>
              <a:t>https://www.hostinger.com/tutorials/how-to-install-docker-on-ubuntu</a:t>
            </a:r>
            <a:endParaRPr lang="en-US" dirty="0"/>
          </a:p>
        </p:txBody>
      </p:sp>
      <p:sp>
        <p:nvSpPr>
          <p:cNvPr id="4" name="Slide Number Placeholder 3"/>
          <p:cNvSpPr>
            <a:spLocks noGrp="1"/>
          </p:cNvSpPr>
          <p:nvPr>
            <p:ph type="sldNum" sz="quarter" idx="10"/>
          </p:nvPr>
        </p:nvSpPr>
        <p:spPr/>
        <p:txBody>
          <a:bodyPr/>
          <a:lstStyle/>
          <a:p>
            <a:fld id="{8AEEB89B-E730-41A0-81AF-DAEB457925DE}" type="slidenum">
              <a:rPr lang="en-US" smtClean="0"/>
              <a:t>15</a:t>
            </a:fld>
            <a:endParaRPr lang="en-US"/>
          </a:p>
        </p:txBody>
      </p:sp>
    </p:spTree>
    <p:extLst>
      <p:ext uri="{BB962C8B-B14F-4D97-AF65-F5344CB8AC3E}">
        <p14:creationId xmlns:p14="http://schemas.microsoft.com/office/powerpoint/2010/main" val="88919823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https://www.idn.id/docker-pada-ubuntu-20-04/</a:t>
            </a:r>
            <a:endParaRPr lang="en-US" dirty="0"/>
          </a:p>
        </p:txBody>
      </p:sp>
      <p:sp>
        <p:nvSpPr>
          <p:cNvPr id="4" name="Slide Number Placeholder 3"/>
          <p:cNvSpPr>
            <a:spLocks noGrp="1"/>
          </p:cNvSpPr>
          <p:nvPr>
            <p:ph type="sldNum" sz="quarter" idx="10"/>
          </p:nvPr>
        </p:nvSpPr>
        <p:spPr/>
        <p:txBody>
          <a:bodyPr/>
          <a:lstStyle/>
          <a:p>
            <a:fld id="{8AEEB89B-E730-41A0-81AF-DAEB457925DE}" type="slidenum">
              <a:rPr lang="en-US" smtClean="0"/>
              <a:t>19</a:t>
            </a:fld>
            <a:endParaRPr lang="en-US"/>
          </a:p>
        </p:txBody>
      </p:sp>
    </p:spTree>
    <p:extLst>
      <p:ext uri="{BB962C8B-B14F-4D97-AF65-F5344CB8AC3E}">
        <p14:creationId xmlns:p14="http://schemas.microsoft.com/office/powerpoint/2010/main" val="44443683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https://www.idn.id/docker-pada-ubuntu-20-04/</a:t>
            </a:r>
            <a:endParaRPr lang="en-US" dirty="0"/>
          </a:p>
        </p:txBody>
      </p:sp>
      <p:sp>
        <p:nvSpPr>
          <p:cNvPr id="4" name="Slide Number Placeholder 3"/>
          <p:cNvSpPr>
            <a:spLocks noGrp="1"/>
          </p:cNvSpPr>
          <p:nvPr>
            <p:ph type="sldNum" sz="quarter" idx="10"/>
          </p:nvPr>
        </p:nvSpPr>
        <p:spPr/>
        <p:txBody>
          <a:bodyPr/>
          <a:lstStyle/>
          <a:p>
            <a:fld id="{8AEEB89B-E730-41A0-81AF-DAEB457925DE}" type="slidenum">
              <a:rPr lang="en-US" smtClean="0"/>
              <a:t>22</a:t>
            </a:fld>
            <a:endParaRPr lang="en-US"/>
          </a:p>
        </p:txBody>
      </p:sp>
    </p:spTree>
    <p:extLst>
      <p:ext uri="{BB962C8B-B14F-4D97-AF65-F5344CB8AC3E}">
        <p14:creationId xmlns:p14="http://schemas.microsoft.com/office/powerpoint/2010/main" val="271166728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https://www.idn.id/docker-pada-ubuntu-20-04/</a:t>
            </a:r>
            <a:endParaRPr lang="en-US" dirty="0"/>
          </a:p>
        </p:txBody>
      </p:sp>
      <p:sp>
        <p:nvSpPr>
          <p:cNvPr id="4" name="Slide Number Placeholder 3"/>
          <p:cNvSpPr>
            <a:spLocks noGrp="1"/>
          </p:cNvSpPr>
          <p:nvPr>
            <p:ph type="sldNum" sz="quarter" idx="10"/>
          </p:nvPr>
        </p:nvSpPr>
        <p:spPr/>
        <p:txBody>
          <a:bodyPr/>
          <a:lstStyle/>
          <a:p>
            <a:fld id="{8AEEB89B-E730-41A0-81AF-DAEB457925DE}" type="slidenum">
              <a:rPr lang="en-US" smtClean="0"/>
              <a:t>24</a:t>
            </a:fld>
            <a:endParaRPr lang="en-US"/>
          </a:p>
        </p:txBody>
      </p:sp>
    </p:spTree>
    <p:extLst>
      <p:ext uri="{BB962C8B-B14F-4D97-AF65-F5344CB8AC3E}">
        <p14:creationId xmlns:p14="http://schemas.microsoft.com/office/powerpoint/2010/main" val="323390374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https://www.idn.id/docker-pada-ubuntu-20-04/</a:t>
            </a:r>
            <a:endParaRPr lang="en-US" dirty="0"/>
          </a:p>
        </p:txBody>
      </p:sp>
      <p:sp>
        <p:nvSpPr>
          <p:cNvPr id="4" name="Slide Number Placeholder 3"/>
          <p:cNvSpPr>
            <a:spLocks noGrp="1"/>
          </p:cNvSpPr>
          <p:nvPr>
            <p:ph type="sldNum" sz="quarter" idx="10"/>
          </p:nvPr>
        </p:nvSpPr>
        <p:spPr/>
        <p:txBody>
          <a:bodyPr/>
          <a:lstStyle/>
          <a:p>
            <a:fld id="{8AEEB89B-E730-41A0-81AF-DAEB457925DE}" type="slidenum">
              <a:rPr lang="en-US" smtClean="0"/>
              <a:t>27</a:t>
            </a:fld>
            <a:endParaRPr lang="en-US"/>
          </a:p>
        </p:txBody>
      </p:sp>
    </p:spTree>
    <p:extLst>
      <p:ext uri="{BB962C8B-B14F-4D97-AF65-F5344CB8AC3E}">
        <p14:creationId xmlns:p14="http://schemas.microsoft.com/office/powerpoint/2010/main" val="427889259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https://docs.nvidia.com/deeplearning/frameworks/user-guide/index.html</a:t>
            </a:r>
            <a:endParaRPr lang="en-US" dirty="0"/>
          </a:p>
        </p:txBody>
      </p:sp>
      <p:sp>
        <p:nvSpPr>
          <p:cNvPr id="4" name="Slide Number Placeholder 3"/>
          <p:cNvSpPr>
            <a:spLocks noGrp="1"/>
          </p:cNvSpPr>
          <p:nvPr>
            <p:ph type="sldNum" sz="quarter" idx="10"/>
          </p:nvPr>
        </p:nvSpPr>
        <p:spPr/>
        <p:txBody>
          <a:bodyPr/>
          <a:lstStyle/>
          <a:p>
            <a:fld id="{8AEEB89B-E730-41A0-81AF-DAEB457925DE}" type="slidenum">
              <a:rPr lang="en-US" smtClean="0"/>
              <a:t>28</a:t>
            </a:fld>
            <a:endParaRPr lang="en-US"/>
          </a:p>
        </p:txBody>
      </p:sp>
    </p:spTree>
    <p:extLst>
      <p:ext uri="{BB962C8B-B14F-4D97-AF65-F5344CB8AC3E}">
        <p14:creationId xmlns:p14="http://schemas.microsoft.com/office/powerpoint/2010/main" val="427671468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https://github.com/OishiLab/OpenMAP-T1</a:t>
            </a:r>
            <a:endParaRPr lang="en-US" dirty="0"/>
          </a:p>
        </p:txBody>
      </p:sp>
      <p:sp>
        <p:nvSpPr>
          <p:cNvPr id="4" name="Slide Number Placeholder 3"/>
          <p:cNvSpPr>
            <a:spLocks noGrp="1"/>
          </p:cNvSpPr>
          <p:nvPr>
            <p:ph type="sldNum" sz="quarter" idx="10"/>
          </p:nvPr>
        </p:nvSpPr>
        <p:spPr/>
        <p:txBody>
          <a:bodyPr/>
          <a:lstStyle/>
          <a:p>
            <a:fld id="{8AEEB89B-E730-41A0-81AF-DAEB457925DE}" type="slidenum">
              <a:rPr lang="en-US" smtClean="0"/>
              <a:t>29</a:t>
            </a:fld>
            <a:endParaRPr lang="en-US"/>
          </a:p>
        </p:txBody>
      </p:sp>
    </p:spTree>
    <p:extLst>
      <p:ext uri="{BB962C8B-B14F-4D97-AF65-F5344CB8AC3E}">
        <p14:creationId xmlns:p14="http://schemas.microsoft.com/office/powerpoint/2010/main" val="247905985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https://hub.docker.com/r/cschranz/gpu-jupyter</a:t>
            </a:r>
          </a:p>
          <a:p>
            <a:r>
              <a:rPr lang="en-US" dirty="0" smtClean="0"/>
              <a:t>https://github.com/iot-salzburg/reproducible-research-with-gpu-jupyter</a:t>
            </a:r>
          </a:p>
          <a:p>
            <a:r>
              <a:rPr lang="en-US" dirty="0" smtClean="0"/>
              <a:t>https://docs.nvidia.com/datacenter/cloud-native/container-toolkit/latest/install-guide.html</a:t>
            </a:r>
          </a:p>
          <a:p>
            <a:r>
              <a:rPr lang="en-US" dirty="0" smtClean="0"/>
              <a:t>https://github.com/mmartial/ComfyUI-Nvidia-Docker</a:t>
            </a:r>
            <a:endParaRPr lang="en-US" dirty="0"/>
          </a:p>
        </p:txBody>
      </p:sp>
      <p:sp>
        <p:nvSpPr>
          <p:cNvPr id="4" name="Slide Number Placeholder 3"/>
          <p:cNvSpPr>
            <a:spLocks noGrp="1"/>
          </p:cNvSpPr>
          <p:nvPr>
            <p:ph type="sldNum" sz="quarter" idx="10"/>
          </p:nvPr>
        </p:nvSpPr>
        <p:spPr/>
        <p:txBody>
          <a:bodyPr/>
          <a:lstStyle/>
          <a:p>
            <a:fld id="{8AEEB89B-E730-41A0-81AF-DAEB457925DE}" type="slidenum">
              <a:rPr lang="en-US" smtClean="0"/>
              <a:t>30</a:t>
            </a:fld>
            <a:endParaRPr lang="en-US"/>
          </a:p>
        </p:txBody>
      </p:sp>
    </p:spTree>
    <p:extLst>
      <p:ext uri="{BB962C8B-B14F-4D97-AF65-F5344CB8AC3E}">
        <p14:creationId xmlns:p14="http://schemas.microsoft.com/office/powerpoint/2010/main" val="35388932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48A87A34-81AB-432B-8DAE-1953F412C126}" type="datetimeFigureOut">
              <a:rPr lang="en-US" smtClean="0"/>
              <a:t>9/18/2026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2701931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8A87A34-81AB-432B-8DAE-1953F412C126}" type="datetimeFigureOut">
              <a:rPr lang="en-US" smtClean="0"/>
              <a:t>9/18/2026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8289796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t>9/18/2026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3003391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48A87A34-81AB-432B-8DAE-1953F412C126}" type="datetimeFigureOut">
              <a:rPr lang="en-US" smtClean="0"/>
              <a:t>9/18/2026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8314626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48A87A34-81AB-432B-8DAE-1953F412C126}" type="datetimeFigureOut">
              <a:rPr lang="en-US" smtClean="0"/>
              <a:t>9/18/2026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429924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48A87A34-81AB-432B-8DAE-1953F412C126}" type="datetimeFigureOut">
              <a:rPr lang="en-US" smtClean="0"/>
              <a:t>9/18/2026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0312713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smtClean="0"/>
              <a:t>9/18/2026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1522639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9/18/2026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9355345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9/18/2026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4728076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8A87A34-81AB-432B-8DAE-1953F412C126}" type="datetimeFigureOut">
              <a:rPr lang="en-US" smtClean="0"/>
              <a:t>9/18/2026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4251371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8A87A34-81AB-432B-8DAE-1953F412C126}" type="datetimeFigureOut">
              <a:rPr lang="en-US" smtClean="0"/>
              <a:t>9/18/2026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658778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8A87A34-81AB-432B-8DAE-1953F412C126}" type="datetimeFigureOut">
              <a:rPr lang="en-US" smtClean="0"/>
              <a:pPr/>
              <a:t>9/18/2026</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2822784740"/>
      </p:ext>
    </p:extLst>
  </p:cSld>
  <p:clrMap bg1="lt1" tx1="dk1" bg2="lt2" tx2="dk2" accent1="accent1" accent2="accent2" accent3="accent3" accent4="accent4" accent5="accent5" accent6="accent6" hlink="hlink" folHlink="folHlink"/>
  <p:sldLayoutIdLst>
    <p:sldLayoutId id="2147483736" r:id="rId1"/>
    <p:sldLayoutId id="2147483737" r:id="rId2"/>
    <p:sldLayoutId id="2147483738" r:id="rId3"/>
    <p:sldLayoutId id="2147483739" r:id="rId4"/>
    <p:sldLayoutId id="2147483740" r:id="rId5"/>
    <p:sldLayoutId id="2147483741" r:id="rId6"/>
    <p:sldLayoutId id="2147483742" r:id="rId7"/>
    <p:sldLayoutId id="2147483743" r:id="rId8"/>
    <p:sldLayoutId id="2147483744" r:id="rId9"/>
    <p:sldLayoutId id="2147483745" r:id="rId10"/>
    <p:sldLayoutId id="2147483746"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hyperlink" Target="https://github.com/amelcharolinesgn2/AWS" TargetMode="External"/><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hyperlink" Target="https://openwrt.org/" TargetMode="External"/><Relationship Id="rId3" Type="http://schemas.openxmlformats.org/officeDocument/2006/relationships/hyperlink" Target="https://fernandocejas.com/blog/engineering/2023-01-06-over-engineered-home-lab-docker-kubernetes/#main-software-stack" TargetMode="External"/><Relationship Id="rId7" Type="http://schemas.openxmlformats.org/officeDocument/2006/relationships/hyperlink" Target="https://fernandocejas.com/blog/engineering/2020-12-28-install-arch-linux-full-disk-encryption/"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hyperlink" Target="https://linux.fernandocejas.com/" TargetMode="External"/><Relationship Id="rId5" Type="http://schemas.openxmlformats.org/officeDocument/2006/relationships/hyperlink" Target="https://www.docker.com/" TargetMode="External"/><Relationship Id="rId10" Type="http://schemas.openxmlformats.org/officeDocument/2006/relationships/hyperlink" Target="https://kubernetes.io/docs/concepts/workloads/pods/" TargetMode="External"/><Relationship Id="rId4" Type="http://schemas.openxmlformats.org/officeDocument/2006/relationships/hyperlink" Target="https://kubernetes.io/" TargetMode="External"/><Relationship Id="rId9" Type="http://schemas.openxmlformats.org/officeDocument/2006/relationships/hyperlink" Target="https://www.wireguard.com/"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hyperlink" Target="https://docs.k3s.io/quick-start" TargetMode="External"/><Relationship Id="rId13" Type="http://schemas.openxmlformats.org/officeDocument/2006/relationships/hyperlink" Target="https://metallb.universe.tf/installation/#installation-with-helm" TargetMode="External"/><Relationship Id="rId18" Type="http://schemas.openxmlformats.org/officeDocument/2006/relationships/hyperlink" Target="https://cert-manager.io/docs/installation/helm/" TargetMode="External"/><Relationship Id="rId3" Type="http://schemas.openxmlformats.org/officeDocument/2006/relationships/hyperlink" Target="https://fernandocejas.com/blog/engineering/2020-12-28-install-arch-linux-full-disk-encryption/" TargetMode="External"/><Relationship Id="rId21" Type="http://schemas.openxmlformats.org/officeDocument/2006/relationships/hyperlink" Target="https://docs.k3s.io/installation/kube-dashboard" TargetMode="External"/><Relationship Id="rId7" Type="http://schemas.openxmlformats.org/officeDocument/2006/relationships/hyperlink" Target="https://en.wikipedia.org/wiki/Headless_computer" TargetMode="External"/><Relationship Id="rId12" Type="http://schemas.openxmlformats.org/officeDocument/2006/relationships/hyperlink" Target="https://docs.k3s.io/networking#service-load-balancer" TargetMode="External"/><Relationship Id="rId17" Type="http://schemas.openxmlformats.org/officeDocument/2006/relationships/hyperlink" Target="https://docs.k3s.io/networking#traefik-ingress-controller" TargetMode="External"/><Relationship Id="rId2" Type="http://schemas.openxmlformats.org/officeDocument/2006/relationships/notesSlide" Target="../notesSlides/notesSlide6.xml"/><Relationship Id="rId16" Type="http://schemas.openxmlformats.org/officeDocument/2006/relationships/hyperlink" Target="https://kubernetes.io/docs/concepts/services-networking/ingress/" TargetMode="External"/><Relationship Id="rId20" Type="http://schemas.openxmlformats.org/officeDocument/2006/relationships/hyperlink" Target="https://github.com/FiloSottile/mkcert" TargetMode="External"/><Relationship Id="rId1" Type="http://schemas.openxmlformats.org/officeDocument/2006/relationships/slideLayout" Target="../slideLayouts/slideLayout2.xml"/><Relationship Id="rId6" Type="http://schemas.openxmlformats.org/officeDocument/2006/relationships/hyperlink" Target="https://linux.fernandocejas.com/docs/guides/configure-ssh-access-on-your-linux-machine" TargetMode="External"/><Relationship Id="rId11" Type="http://schemas.openxmlformats.org/officeDocument/2006/relationships/hyperlink" Target="https://docs.k3s.io/helm" TargetMode="External"/><Relationship Id="rId5" Type="http://schemas.openxmlformats.org/officeDocument/2006/relationships/hyperlink" Target="https://mosh.org/" TargetMode="External"/><Relationship Id="rId15" Type="http://schemas.openxmlformats.org/officeDocument/2006/relationships/hyperlink" Target="https://docs.nginx.com/nginx-ingress-controller/installation/installation-with-helm/" TargetMode="External"/><Relationship Id="rId10" Type="http://schemas.openxmlformats.org/officeDocument/2006/relationships/hyperlink" Target="https://docs.k3s.io/cli" TargetMode="External"/><Relationship Id="rId19" Type="http://schemas.openxmlformats.org/officeDocument/2006/relationships/hyperlink" Target="https://cert-manager.io/docs/configuration/selfsigned/" TargetMode="External"/><Relationship Id="rId4" Type="http://schemas.openxmlformats.org/officeDocument/2006/relationships/hyperlink" Target="https://simple.wikipedia.org/wiki/Virtual_machine" TargetMode="External"/><Relationship Id="rId9" Type="http://schemas.openxmlformats.org/officeDocument/2006/relationships/hyperlink" Target="https://docs.k3s.io/cluster-access#accessing-the-cluster-from-outside-with-kubectl" TargetMode="External"/><Relationship Id="rId14" Type="http://schemas.openxmlformats.org/officeDocument/2006/relationships/hyperlink" Target="https://docs.k3s.io/networking#disabling-servicelb" TargetMode="External"/><Relationship Id="rId22" Type="http://schemas.openxmlformats.org/officeDocument/2006/relationships/hyperlink" Target="https://kubernetes.io/docs/tasks/access-application-cluster/web-ui-dashboard/"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kubernetes.io/docs/reference/kubectl/"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hyperlink" Target="https://docs.k3s.io/installation/kube-dashboard" TargetMode="Externa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kubernetes.io/docs/concepts/workloads/controllers/deployment/"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hyperlink" Target="https://kubernetes.io/docs/concepts/services-networking/ingress/" TargetMode="External"/><Relationship Id="rId4" Type="http://schemas.openxmlformats.org/officeDocument/2006/relationships/hyperlink" Target="https://kubernetes.io/docs/concepts/services-networking/service/" TargetMode="Externa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2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31.png"/><Relationship Id="rId4" Type="http://schemas.openxmlformats.org/officeDocument/2006/relationships/image" Target="../media/image30.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p:cNvPicPr>
            <a:picLocks noGrp="1" noChangeAspect="1"/>
          </p:cNvPicPr>
          <p:nvPr>
            <p:ph idx="1"/>
          </p:nvPr>
        </p:nvPicPr>
        <p:blipFill>
          <a:blip r:embed="rId3"/>
          <a:stretch>
            <a:fillRect/>
          </a:stretch>
        </p:blipFill>
        <p:spPr>
          <a:xfrm>
            <a:off x="119891" y="0"/>
            <a:ext cx="5305425" cy="3381375"/>
          </a:xfrm>
          <a:prstGeom prst="rect">
            <a:avLst/>
          </a:prstGeom>
        </p:spPr>
      </p:pic>
      <p:grpSp>
        <p:nvGrpSpPr>
          <p:cNvPr id="9" name="Group 8"/>
          <p:cNvGrpSpPr/>
          <p:nvPr/>
        </p:nvGrpSpPr>
        <p:grpSpPr>
          <a:xfrm>
            <a:off x="370421" y="1795824"/>
            <a:ext cx="4804363" cy="1929688"/>
            <a:chOff x="89638" y="359621"/>
            <a:chExt cx="4804363" cy="1929688"/>
          </a:xfrm>
        </p:grpSpPr>
        <p:pic>
          <p:nvPicPr>
            <p:cNvPr id="10" name="Picture 9"/>
            <p:cNvPicPr>
              <a:picLocks noChangeAspect="1"/>
            </p:cNvPicPr>
            <p:nvPr/>
          </p:nvPicPr>
          <p:blipFill>
            <a:blip r:embed="rId4"/>
            <a:stretch>
              <a:fillRect/>
            </a:stretch>
          </p:blipFill>
          <p:spPr>
            <a:xfrm>
              <a:off x="235105" y="1881965"/>
              <a:ext cx="3104181" cy="263526"/>
            </a:xfrm>
            <a:prstGeom prst="rect">
              <a:avLst/>
            </a:prstGeom>
          </p:spPr>
        </p:pic>
        <p:sp>
          <p:nvSpPr>
            <p:cNvPr id="11" name="Title 4">
              <a:extLst>
                <a:ext uri="{FF2B5EF4-FFF2-40B4-BE49-F238E27FC236}">
                  <a16:creationId xmlns:a16="http://schemas.microsoft.com/office/drawing/2014/main" id="{27228BAE-048B-681E-DD8D-BD96B22560E0}"/>
                </a:ext>
              </a:extLst>
            </p:cNvPr>
            <p:cNvSpPr txBox="1">
              <a:spLocks/>
            </p:cNvSpPr>
            <p:nvPr/>
          </p:nvSpPr>
          <p:spPr>
            <a:xfrm>
              <a:off x="89638" y="1389204"/>
              <a:ext cx="4804363" cy="900105"/>
            </a:xfrm>
            <a:prstGeom prst="rect">
              <a:avLst/>
            </a:prstGeom>
          </p:spPr>
          <p:txBody>
            <a:bodyPr vert="horz" lIns="91440" tIns="45720" rIns="91440" bIns="4572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just"/>
              <a:r>
                <a:rPr lang="en-US" sz="4000" dirty="0" smtClean="0">
                  <a:solidFill>
                    <a:schemeClr val="accent1">
                      <a:lumMod val="75000"/>
                    </a:schemeClr>
                  </a:solidFill>
                </a:rPr>
                <a:t>Computer </a:t>
              </a:r>
              <a:r>
                <a:rPr lang="en-US" sz="4000" dirty="0" smtClean="0">
                  <a:solidFill>
                    <a:srgbClr val="00B0F0"/>
                  </a:solidFill>
                </a:rPr>
                <a:t>Vision</a:t>
              </a:r>
              <a:endParaRPr lang="en-US" sz="4000" dirty="0">
                <a:solidFill>
                  <a:srgbClr val="00B0F0"/>
                </a:solidFill>
              </a:endParaRPr>
            </a:p>
          </p:txBody>
        </p:sp>
        <p:grpSp>
          <p:nvGrpSpPr>
            <p:cNvPr id="12" name="Group 11">
              <a:extLst>
                <a:ext uri="{FF2B5EF4-FFF2-40B4-BE49-F238E27FC236}">
                  <a16:creationId xmlns:a16="http://schemas.microsoft.com/office/drawing/2014/main" id="{2AABCB87-2ECC-4C03-B5BB-6EE11C8A4485}"/>
                </a:ext>
              </a:extLst>
            </p:cNvPr>
            <p:cNvGrpSpPr/>
            <p:nvPr/>
          </p:nvGrpSpPr>
          <p:grpSpPr>
            <a:xfrm>
              <a:off x="89638" y="359621"/>
              <a:ext cx="3064025" cy="1516520"/>
              <a:chOff x="4853562" y="1589418"/>
              <a:chExt cx="2609520" cy="1291565"/>
            </a:xfrm>
          </p:grpSpPr>
          <p:sp>
            <p:nvSpPr>
              <p:cNvPr id="19" name="Freeform 18">
                <a:extLst>
                  <a:ext uri="{FF2B5EF4-FFF2-40B4-BE49-F238E27FC236}">
                    <a16:creationId xmlns:a16="http://schemas.microsoft.com/office/drawing/2014/main" id="{03546B24-FABC-4B2A-A80F-B03654D56A7D}"/>
                  </a:ext>
                </a:extLst>
              </p:cNvPr>
              <p:cNvSpPr>
                <a:spLocks noChangeAspect="1"/>
              </p:cNvSpPr>
              <p:nvPr/>
            </p:nvSpPr>
            <p:spPr>
              <a:xfrm flipH="1">
                <a:off x="4853562" y="1589418"/>
                <a:ext cx="2232248" cy="1202698"/>
              </a:xfrm>
              <a:custGeom>
                <a:avLst/>
                <a:gdLst/>
                <a:ahLst/>
                <a:cxnLst/>
                <a:rect l="l" t="t" r="r" b="b"/>
                <a:pathLst>
                  <a:path w="1872168" h="1008693">
                    <a:moveTo>
                      <a:pt x="699542" y="162"/>
                    </a:moveTo>
                    <a:cubicBezTo>
                      <a:pt x="683169" y="534"/>
                      <a:pt x="666273" y="1556"/>
                      <a:pt x="648845" y="3291"/>
                    </a:cubicBezTo>
                    <a:cubicBezTo>
                      <a:pt x="357120" y="49686"/>
                      <a:pt x="273885" y="284789"/>
                      <a:pt x="274981" y="413694"/>
                    </a:cubicBezTo>
                    <a:cubicBezTo>
                      <a:pt x="4451" y="471904"/>
                      <a:pt x="-11347" y="662854"/>
                      <a:pt x="4101" y="753457"/>
                    </a:cubicBezTo>
                    <a:cubicBezTo>
                      <a:pt x="42383" y="946818"/>
                      <a:pt x="296257" y="1004273"/>
                      <a:pt x="384912" y="1005378"/>
                    </a:cubicBezTo>
                    <a:lnTo>
                      <a:pt x="1507196" y="1008693"/>
                    </a:lnTo>
                    <a:cubicBezTo>
                      <a:pt x="1646895" y="1000406"/>
                      <a:pt x="1746295" y="947371"/>
                      <a:pt x="1825546" y="854557"/>
                    </a:cubicBezTo>
                    <a:cubicBezTo>
                      <a:pt x="1897410" y="760086"/>
                      <a:pt x="1873973" y="626012"/>
                      <a:pt x="1836613" y="558208"/>
                    </a:cubicBezTo>
                    <a:cubicBezTo>
                      <a:pt x="1808089" y="509360"/>
                      <a:pt x="1675919" y="402617"/>
                      <a:pt x="1507617" y="430504"/>
                    </a:cubicBezTo>
                    <a:cubicBezTo>
                      <a:pt x="1525469" y="335682"/>
                      <a:pt x="1477961" y="244522"/>
                      <a:pt x="1398003" y="206286"/>
                    </a:cubicBezTo>
                    <a:cubicBezTo>
                      <a:pt x="1299806" y="153261"/>
                      <a:pt x="1182195" y="177294"/>
                      <a:pt x="1108176" y="215068"/>
                    </a:cubicBezTo>
                    <a:cubicBezTo>
                      <a:pt x="1072916" y="135306"/>
                      <a:pt x="945134" y="-5422"/>
                      <a:pt x="699542" y="162"/>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a:endParaRPr lang="ko-KR" altLang="en-US" sz="3601">
                  <a:solidFill>
                    <a:schemeClr val="tx1"/>
                  </a:solidFill>
                </a:endParaRPr>
              </a:p>
            </p:txBody>
          </p:sp>
          <p:sp>
            <p:nvSpPr>
              <p:cNvPr id="20" name="Freeform 19">
                <a:extLst>
                  <a:ext uri="{FF2B5EF4-FFF2-40B4-BE49-F238E27FC236}">
                    <a16:creationId xmlns:a16="http://schemas.microsoft.com/office/drawing/2014/main" id="{02E1A011-CDEA-4BBC-B725-C88AF5464891}"/>
                  </a:ext>
                </a:extLst>
              </p:cNvPr>
              <p:cNvSpPr>
                <a:spLocks noChangeAspect="1"/>
              </p:cNvSpPr>
              <p:nvPr/>
            </p:nvSpPr>
            <p:spPr>
              <a:xfrm flipH="1">
                <a:off x="5230834" y="1678285"/>
                <a:ext cx="2232248" cy="1202698"/>
              </a:xfrm>
              <a:custGeom>
                <a:avLst/>
                <a:gdLst/>
                <a:ahLst/>
                <a:cxnLst/>
                <a:rect l="l" t="t" r="r" b="b"/>
                <a:pathLst>
                  <a:path w="1872168" h="1008693">
                    <a:moveTo>
                      <a:pt x="699542" y="162"/>
                    </a:moveTo>
                    <a:cubicBezTo>
                      <a:pt x="683169" y="534"/>
                      <a:pt x="666273" y="1556"/>
                      <a:pt x="648845" y="3291"/>
                    </a:cubicBezTo>
                    <a:cubicBezTo>
                      <a:pt x="357120" y="49686"/>
                      <a:pt x="273885" y="284789"/>
                      <a:pt x="274981" y="413694"/>
                    </a:cubicBezTo>
                    <a:cubicBezTo>
                      <a:pt x="4451" y="471904"/>
                      <a:pt x="-11347" y="662854"/>
                      <a:pt x="4101" y="753457"/>
                    </a:cubicBezTo>
                    <a:cubicBezTo>
                      <a:pt x="42383" y="946818"/>
                      <a:pt x="296257" y="1004273"/>
                      <a:pt x="384912" y="1005378"/>
                    </a:cubicBezTo>
                    <a:lnTo>
                      <a:pt x="1507196" y="1008693"/>
                    </a:lnTo>
                    <a:cubicBezTo>
                      <a:pt x="1646895" y="1000406"/>
                      <a:pt x="1746295" y="947371"/>
                      <a:pt x="1825546" y="854557"/>
                    </a:cubicBezTo>
                    <a:cubicBezTo>
                      <a:pt x="1897410" y="760086"/>
                      <a:pt x="1873973" y="626012"/>
                      <a:pt x="1836613" y="558208"/>
                    </a:cubicBezTo>
                    <a:cubicBezTo>
                      <a:pt x="1808089" y="509360"/>
                      <a:pt x="1675919" y="402617"/>
                      <a:pt x="1507617" y="430504"/>
                    </a:cubicBezTo>
                    <a:cubicBezTo>
                      <a:pt x="1525469" y="335682"/>
                      <a:pt x="1477961" y="244522"/>
                      <a:pt x="1398003" y="206286"/>
                    </a:cubicBezTo>
                    <a:cubicBezTo>
                      <a:pt x="1299806" y="153261"/>
                      <a:pt x="1182195" y="177294"/>
                      <a:pt x="1108176" y="215068"/>
                    </a:cubicBezTo>
                    <a:cubicBezTo>
                      <a:pt x="1072916" y="135306"/>
                      <a:pt x="945134" y="-5422"/>
                      <a:pt x="699542" y="162"/>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a:endParaRPr lang="ko-KR" altLang="en-US" sz="3601" dirty="0">
                  <a:solidFill>
                    <a:schemeClr val="tx1"/>
                  </a:solidFill>
                </a:endParaRPr>
              </a:p>
            </p:txBody>
          </p:sp>
        </p:grpSp>
        <p:grpSp>
          <p:nvGrpSpPr>
            <p:cNvPr id="13" name="Group 12">
              <a:extLst>
                <a:ext uri="{FF2B5EF4-FFF2-40B4-BE49-F238E27FC236}">
                  <a16:creationId xmlns:a16="http://schemas.microsoft.com/office/drawing/2014/main" id="{AB8BC7BC-BF58-402E-9A69-AA9226DE7CAA}"/>
                </a:ext>
              </a:extLst>
            </p:cNvPr>
            <p:cNvGrpSpPr/>
            <p:nvPr/>
          </p:nvGrpSpPr>
          <p:grpSpPr>
            <a:xfrm>
              <a:off x="1176068" y="503243"/>
              <a:ext cx="1334145" cy="620384"/>
              <a:chOff x="7439031" y="1585639"/>
              <a:chExt cx="2143740" cy="996849"/>
            </a:xfrm>
            <a:solidFill>
              <a:schemeClr val="accent6"/>
            </a:solidFill>
          </p:grpSpPr>
          <p:sp>
            <p:nvSpPr>
              <p:cNvPr id="17" name="Freeform: Shape 66">
                <a:extLst>
                  <a:ext uri="{FF2B5EF4-FFF2-40B4-BE49-F238E27FC236}">
                    <a16:creationId xmlns:a16="http://schemas.microsoft.com/office/drawing/2014/main" id="{2A081543-B9FF-49B1-8EEF-ABDF5438EDCD}"/>
                  </a:ext>
                </a:extLst>
              </p:cNvPr>
              <p:cNvSpPr/>
              <p:nvPr/>
            </p:nvSpPr>
            <p:spPr>
              <a:xfrm>
                <a:off x="7439031" y="1585639"/>
                <a:ext cx="2143740" cy="996849"/>
              </a:xfrm>
              <a:custGeom>
                <a:avLst/>
                <a:gdLst/>
                <a:ahLst/>
                <a:cxnLst/>
                <a:rect l="l" t="t" r="r" b="b"/>
                <a:pathLst>
                  <a:path w="1862733" h="866179">
                    <a:moveTo>
                      <a:pt x="794147" y="204787"/>
                    </a:moveTo>
                    <a:cubicBezTo>
                      <a:pt x="745605" y="204787"/>
                      <a:pt x="701637" y="218416"/>
                      <a:pt x="662244" y="245673"/>
                    </a:cubicBezTo>
                    <a:cubicBezTo>
                      <a:pt x="622851" y="272930"/>
                      <a:pt x="594798" y="309240"/>
                      <a:pt x="578086" y="354601"/>
                    </a:cubicBezTo>
                    <a:cubicBezTo>
                      <a:pt x="568536" y="380467"/>
                      <a:pt x="563761" y="406729"/>
                      <a:pt x="563761" y="433387"/>
                    </a:cubicBezTo>
                    <a:cubicBezTo>
                      <a:pt x="563761" y="488299"/>
                      <a:pt x="582064" y="537440"/>
                      <a:pt x="618670" y="580811"/>
                    </a:cubicBezTo>
                    <a:cubicBezTo>
                      <a:pt x="664031" y="634532"/>
                      <a:pt x="722524" y="661392"/>
                      <a:pt x="794147" y="661392"/>
                    </a:cubicBezTo>
                    <a:cubicBezTo>
                      <a:pt x="865771" y="661392"/>
                      <a:pt x="924462" y="634733"/>
                      <a:pt x="970220" y="581415"/>
                    </a:cubicBezTo>
                    <a:cubicBezTo>
                      <a:pt x="1006826" y="538838"/>
                      <a:pt x="1025128" y="489496"/>
                      <a:pt x="1025128" y="433387"/>
                    </a:cubicBezTo>
                    <a:cubicBezTo>
                      <a:pt x="1025128" y="376088"/>
                      <a:pt x="1006826" y="326547"/>
                      <a:pt x="970220" y="284764"/>
                    </a:cubicBezTo>
                    <a:cubicBezTo>
                      <a:pt x="923265" y="231446"/>
                      <a:pt x="864574" y="204787"/>
                      <a:pt x="794147" y="204787"/>
                    </a:cubicBezTo>
                    <a:close/>
                    <a:moveTo>
                      <a:pt x="1304330" y="24408"/>
                    </a:moveTo>
                    <a:lnTo>
                      <a:pt x="1862733" y="24408"/>
                    </a:lnTo>
                    <a:lnTo>
                      <a:pt x="1862733" y="200620"/>
                    </a:lnTo>
                    <a:lnTo>
                      <a:pt x="1687711" y="200620"/>
                    </a:lnTo>
                    <a:lnTo>
                      <a:pt x="1687711" y="837009"/>
                    </a:lnTo>
                    <a:lnTo>
                      <a:pt x="1476375" y="837009"/>
                    </a:lnTo>
                    <a:lnTo>
                      <a:pt x="1476375" y="200620"/>
                    </a:lnTo>
                    <a:lnTo>
                      <a:pt x="1304330" y="200620"/>
                    </a:lnTo>
                    <a:close/>
                    <a:moveTo>
                      <a:pt x="0" y="24408"/>
                    </a:moveTo>
                    <a:lnTo>
                      <a:pt x="211336" y="24408"/>
                    </a:lnTo>
                    <a:lnTo>
                      <a:pt x="211336" y="837009"/>
                    </a:lnTo>
                    <a:lnTo>
                      <a:pt x="0" y="837009"/>
                    </a:lnTo>
                    <a:close/>
                    <a:moveTo>
                      <a:pt x="794147" y="0"/>
                    </a:moveTo>
                    <a:cubicBezTo>
                      <a:pt x="937022" y="0"/>
                      <a:pt x="1050330" y="47426"/>
                      <a:pt x="1134071" y="142280"/>
                    </a:cubicBezTo>
                    <a:cubicBezTo>
                      <a:pt x="1207493" y="225623"/>
                      <a:pt x="1244204" y="322659"/>
                      <a:pt x="1244204" y="433387"/>
                    </a:cubicBezTo>
                    <a:cubicBezTo>
                      <a:pt x="1244204" y="543719"/>
                      <a:pt x="1207493" y="640556"/>
                      <a:pt x="1134071" y="723900"/>
                    </a:cubicBezTo>
                    <a:cubicBezTo>
                      <a:pt x="1050330" y="818753"/>
                      <a:pt x="937022" y="866179"/>
                      <a:pt x="794147" y="866179"/>
                    </a:cubicBezTo>
                    <a:cubicBezTo>
                      <a:pt x="651669" y="866179"/>
                      <a:pt x="538560" y="818753"/>
                      <a:pt x="454819" y="723900"/>
                    </a:cubicBezTo>
                    <a:cubicBezTo>
                      <a:pt x="381397" y="640556"/>
                      <a:pt x="344686" y="543719"/>
                      <a:pt x="344686" y="433387"/>
                    </a:cubicBezTo>
                    <a:cubicBezTo>
                      <a:pt x="344686" y="382984"/>
                      <a:pt x="354608" y="331291"/>
                      <a:pt x="374452" y="278308"/>
                    </a:cubicBezTo>
                    <a:cubicBezTo>
                      <a:pt x="394296" y="225326"/>
                      <a:pt x="420886" y="179983"/>
                      <a:pt x="454224" y="142280"/>
                    </a:cubicBezTo>
                    <a:cubicBezTo>
                      <a:pt x="537964" y="47426"/>
                      <a:pt x="651272" y="0"/>
                      <a:pt x="794147" y="0"/>
                    </a:cubicBezTo>
                    <a:close/>
                  </a:path>
                </a:pathLst>
              </a:cu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dirty="0"/>
              </a:p>
            </p:txBody>
          </p:sp>
          <p:sp>
            <p:nvSpPr>
              <p:cNvPr id="18" name="Freeform: Shape 67">
                <a:extLst>
                  <a:ext uri="{FF2B5EF4-FFF2-40B4-BE49-F238E27FC236}">
                    <a16:creationId xmlns:a16="http://schemas.microsoft.com/office/drawing/2014/main" id="{275D1FAA-C13F-4A6B-BA37-7704CFB7ADCD}"/>
                  </a:ext>
                </a:extLst>
              </p:cNvPr>
              <p:cNvSpPr/>
              <p:nvPr/>
            </p:nvSpPr>
            <p:spPr>
              <a:xfrm>
                <a:off x="8174174" y="1963600"/>
                <a:ext cx="443936" cy="326799"/>
              </a:xfrm>
              <a:custGeom>
                <a:avLst/>
                <a:gdLst>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2788485 w 3738080"/>
                  <a:gd name="connsiteY5" fmla="*/ 1841061 h 2751770"/>
                  <a:gd name="connsiteX6" fmla="*/ 2632248 w 3738080"/>
                  <a:gd name="connsiteY6" fmla="*/ 1992174 h 2751770"/>
                  <a:gd name="connsiteX7" fmla="*/ 2624294 w 3738080"/>
                  <a:gd name="connsiteY7" fmla="*/ 1992174 h 2751770"/>
                  <a:gd name="connsiteX8" fmla="*/ 1858846 w 3738080"/>
                  <a:gd name="connsiteY8" fmla="*/ 1306247 h 2751770"/>
                  <a:gd name="connsiteX9" fmla="*/ 2645621 w 3738080"/>
                  <a:gd name="connsiteY9" fmla="*/ 1504218 h 2751770"/>
                  <a:gd name="connsiteX10" fmla="*/ 2795575 w 3738080"/>
                  <a:gd name="connsiteY10" fmla="*/ 1757331 h 2751770"/>
                  <a:gd name="connsiteX11" fmla="*/ 2539052 w 3738080"/>
                  <a:gd name="connsiteY11" fmla="*/ 1841672 h 2751770"/>
                  <a:gd name="connsiteX12" fmla="*/ 1353947 w 3738080"/>
                  <a:gd name="connsiteY12" fmla="*/ 1778974 h 2751770"/>
                  <a:gd name="connsiteX13" fmla="*/ 982333 w 3738080"/>
                  <a:gd name="connsiteY13" fmla="*/ 1780833 h 2751770"/>
                  <a:gd name="connsiteX14" fmla="*/ 966756 w 3738080"/>
                  <a:gd name="connsiteY14" fmla="*/ 1667407 h 2751770"/>
                  <a:gd name="connsiteX15" fmla="*/ 1217540 w 3738080"/>
                  <a:gd name="connsiteY15" fmla="*/ 1445700 h 2751770"/>
                  <a:gd name="connsiteX16" fmla="*/ 1858846 w 3738080"/>
                  <a:gd name="connsiteY16" fmla="*/ 1306247 h 2751770"/>
                  <a:gd name="connsiteX17" fmla="*/ 1828129 w 3738080"/>
                  <a:gd name="connsiteY17" fmla="*/ 650059 h 2751770"/>
                  <a:gd name="connsiteX18" fmla="*/ 3108200 w 3738080"/>
                  <a:gd name="connsiteY18" fmla="*/ 1008980 h 2751770"/>
                  <a:gd name="connsiteX19" fmla="*/ 3258155 w 3738080"/>
                  <a:gd name="connsiteY19" fmla="*/ 1319033 h 2751770"/>
                  <a:gd name="connsiteX20" fmla="*/ 2937692 w 3738080"/>
                  <a:gd name="connsiteY20" fmla="*/ 1304637 h 2751770"/>
                  <a:gd name="connsiteX21" fmla="*/ 763561 w 3738080"/>
                  <a:gd name="connsiteY21" fmla="*/ 1325535 h 2751770"/>
                  <a:gd name="connsiteX22" fmla="*/ 464412 w 3738080"/>
                  <a:gd name="connsiteY22" fmla="*/ 1278813 h 2751770"/>
                  <a:gd name="connsiteX23" fmla="*/ 450482 w 3738080"/>
                  <a:gd name="connsiteY23" fmla="*/ 1202928 h 2751770"/>
                  <a:gd name="connsiteX24" fmla="*/ 622892 w 3738080"/>
                  <a:gd name="connsiteY24" fmla="*/ 1008979 h 2751770"/>
                  <a:gd name="connsiteX25" fmla="*/ 1828129 w 3738080"/>
                  <a:gd name="connsiteY25" fmla="*/ 650059 h 2751770"/>
                  <a:gd name="connsiteX26" fmla="*/ 1764313 w 3738080"/>
                  <a:gd name="connsiteY26" fmla="*/ 591 h 2751770"/>
                  <a:gd name="connsiteX27" fmla="*/ 3559697 w 3738080"/>
                  <a:gd name="connsiteY27" fmla="*/ 547180 h 2751770"/>
                  <a:gd name="connsiteX28" fmla="*/ 3709650 w 3738080"/>
                  <a:gd name="connsiteY28" fmla="*/ 882310 h 2751770"/>
                  <a:gd name="connsiteX29" fmla="*/ 3367875 w 3738080"/>
                  <a:gd name="connsiteY29" fmla="*/ 834477 h 2751770"/>
                  <a:gd name="connsiteX30" fmla="*/ 318417 w 3738080"/>
                  <a:gd name="connsiteY30" fmla="*/ 884635 h 2751770"/>
                  <a:gd name="connsiteX31" fmla="*/ 19267 w 3738080"/>
                  <a:gd name="connsiteY31" fmla="*/ 846272 h 2751770"/>
                  <a:gd name="connsiteX32" fmla="*/ 275 w 3738080"/>
                  <a:gd name="connsiteY32" fmla="*/ 760137 h 2751770"/>
                  <a:gd name="connsiteX33" fmla="*/ 173484 w 3738080"/>
                  <a:gd name="connsiteY33" fmla="*/ 547180 h 2751770"/>
                  <a:gd name="connsiteX34" fmla="*/ 1764313 w 3738080"/>
                  <a:gd name="connsiteY34" fmla="*/ 591 h 2751770"/>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2624294 w 3738080"/>
                  <a:gd name="connsiteY5" fmla="*/ 1992174 h 2751770"/>
                  <a:gd name="connsiteX6" fmla="*/ 2632248 w 3738080"/>
                  <a:gd name="connsiteY6" fmla="*/ 1992174 h 2751770"/>
                  <a:gd name="connsiteX7" fmla="*/ 2624294 w 3738080"/>
                  <a:gd name="connsiteY7" fmla="*/ 1992174 h 2751770"/>
                  <a:gd name="connsiteX8" fmla="*/ 1858846 w 3738080"/>
                  <a:gd name="connsiteY8" fmla="*/ 1306247 h 2751770"/>
                  <a:gd name="connsiteX9" fmla="*/ 2645621 w 3738080"/>
                  <a:gd name="connsiteY9" fmla="*/ 1504218 h 2751770"/>
                  <a:gd name="connsiteX10" fmla="*/ 2795575 w 3738080"/>
                  <a:gd name="connsiteY10" fmla="*/ 1757331 h 2751770"/>
                  <a:gd name="connsiteX11" fmla="*/ 2539052 w 3738080"/>
                  <a:gd name="connsiteY11" fmla="*/ 1841672 h 2751770"/>
                  <a:gd name="connsiteX12" fmla="*/ 1353947 w 3738080"/>
                  <a:gd name="connsiteY12" fmla="*/ 1778974 h 2751770"/>
                  <a:gd name="connsiteX13" fmla="*/ 982333 w 3738080"/>
                  <a:gd name="connsiteY13" fmla="*/ 1780833 h 2751770"/>
                  <a:gd name="connsiteX14" fmla="*/ 966756 w 3738080"/>
                  <a:gd name="connsiteY14" fmla="*/ 1667407 h 2751770"/>
                  <a:gd name="connsiteX15" fmla="*/ 1217540 w 3738080"/>
                  <a:gd name="connsiteY15" fmla="*/ 1445700 h 2751770"/>
                  <a:gd name="connsiteX16" fmla="*/ 1858846 w 3738080"/>
                  <a:gd name="connsiteY16" fmla="*/ 1306247 h 2751770"/>
                  <a:gd name="connsiteX17" fmla="*/ 1828129 w 3738080"/>
                  <a:gd name="connsiteY17" fmla="*/ 650059 h 2751770"/>
                  <a:gd name="connsiteX18" fmla="*/ 3108200 w 3738080"/>
                  <a:gd name="connsiteY18" fmla="*/ 1008980 h 2751770"/>
                  <a:gd name="connsiteX19" fmla="*/ 3258155 w 3738080"/>
                  <a:gd name="connsiteY19" fmla="*/ 1319033 h 2751770"/>
                  <a:gd name="connsiteX20" fmla="*/ 2937692 w 3738080"/>
                  <a:gd name="connsiteY20" fmla="*/ 1304637 h 2751770"/>
                  <a:gd name="connsiteX21" fmla="*/ 763561 w 3738080"/>
                  <a:gd name="connsiteY21" fmla="*/ 1325535 h 2751770"/>
                  <a:gd name="connsiteX22" fmla="*/ 464412 w 3738080"/>
                  <a:gd name="connsiteY22" fmla="*/ 1278813 h 2751770"/>
                  <a:gd name="connsiteX23" fmla="*/ 450482 w 3738080"/>
                  <a:gd name="connsiteY23" fmla="*/ 1202928 h 2751770"/>
                  <a:gd name="connsiteX24" fmla="*/ 622892 w 3738080"/>
                  <a:gd name="connsiteY24" fmla="*/ 1008979 h 2751770"/>
                  <a:gd name="connsiteX25" fmla="*/ 1828129 w 3738080"/>
                  <a:gd name="connsiteY25" fmla="*/ 650059 h 2751770"/>
                  <a:gd name="connsiteX26" fmla="*/ 1764313 w 3738080"/>
                  <a:gd name="connsiteY26" fmla="*/ 591 h 2751770"/>
                  <a:gd name="connsiteX27" fmla="*/ 3559697 w 3738080"/>
                  <a:gd name="connsiteY27" fmla="*/ 547180 h 2751770"/>
                  <a:gd name="connsiteX28" fmla="*/ 3709650 w 3738080"/>
                  <a:gd name="connsiteY28" fmla="*/ 882310 h 2751770"/>
                  <a:gd name="connsiteX29" fmla="*/ 3367875 w 3738080"/>
                  <a:gd name="connsiteY29" fmla="*/ 834477 h 2751770"/>
                  <a:gd name="connsiteX30" fmla="*/ 318417 w 3738080"/>
                  <a:gd name="connsiteY30" fmla="*/ 884635 h 2751770"/>
                  <a:gd name="connsiteX31" fmla="*/ 19267 w 3738080"/>
                  <a:gd name="connsiteY31" fmla="*/ 846272 h 2751770"/>
                  <a:gd name="connsiteX32" fmla="*/ 275 w 3738080"/>
                  <a:gd name="connsiteY32" fmla="*/ 760137 h 2751770"/>
                  <a:gd name="connsiteX33" fmla="*/ 173484 w 3738080"/>
                  <a:gd name="connsiteY33" fmla="*/ 547180 h 2751770"/>
                  <a:gd name="connsiteX34" fmla="*/ 1764313 w 3738080"/>
                  <a:gd name="connsiteY34" fmla="*/ 591 h 2751770"/>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1858846 w 3738080"/>
                  <a:gd name="connsiteY5" fmla="*/ 1306247 h 2751770"/>
                  <a:gd name="connsiteX6" fmla="*/ 2645621 w 3738080"/>
                  <a:gd name="connsiteY6" fmla="*/ 1504218 h 2751770"/>
                  <a:gd name="connsiteX7" fmla="*/ 2795575 w 3738080"/>
                  <a:gd name="connsiteY7" fmla="*/ 1757331 h 2751770"/>
                  <a:gd name="connsiteX8" fmla="*/ 2539052 w 3738080"/>
                  <a:gd name="connsiteY8" fmla="*/ 1841672 h 2751770"/>
                  <a:gd name="connsiteX9" fmla="*/ 1353947 w 3738080"/>
                  <a:gd name="connsiteY9" fmla="*/ 1778974 h 2751770"/>
                  <a:gd name="connsiteX10" fmla="*/ 982333 w 3738080"/>
                  <a:gd name="connsiteY10" fmla="*/ 1780833 h 2751770"/>
                  <a:gd name="connsiteX11" fmla="*/ 966756 w 3738080"/>
                  <a:gd name="connsiteY11" fmla="*/ 1667407 h 2751770"/>
                  <a:gd name="connsiteX12" fmla="*/ 1217540 w 3738080"/>
                  <a:gd name="connsiteY12" fmla="*/ 1445700 h 2751770"/>
                  <a:gd name="connsiteX13" fmla="*/ 1858846 w 3738080"/>
                  <a:gd name="connsiteY13" fmla="*/ 1306247 h 2751770"/>
                  <a:gd name="connsiteX14" fmla="*/ 1828129 w 3738080"/>
                  <a:gd name="connsiteY14" fmla="*/ 650059 h 2751770"/>
                  <a:gd name="connsiteX15" fmla="*/ 3108200 w 3738080"/>
                  <a:gd name="connsiteY15" fmla="*/ 1008980 h 2751770"/>
                  <a:gd name="connsiteX16" fmla="*/ 3258155 w 3738080"/>
                  <a:gd name="connsiteY16" fmla="*/ 1319033 h 2751770"/>
                  <a:gd name="connsiteX17" fmla="*/ 2937692 w 3738080"/>
                  <a:gd name="connsiteY17" fmla="*/ 1304637 h 2751770"/>
                  <a:gd name="connsiteX18" fmla="*/ 763561 w 3738080"/>
                  <a:gd name="connsiteY18" fmla="*/ 1325535 h 2751770"/>
                  <a:gd name="connsiteX19" fmla="*/ 464412 w 3738080"/>
                  <a:gd name="connsiteY19" fmla="*/ 1278813 h 2751770"/>
                  <a:gd name="connsiteX20" fmla="*/ 450482 w 3738080"/>
                  <a:gd name="connsiteY20" fmla="*/ 1202928 h 2751770"/>
                  <a:gd name="connsiteX21" fmla="*/ 622892 w 3738080"/>
                  <a:gd name="connsiteY21" fmla="*/ 1008979 h 2751770"/>
                  <a:gd name="connsiteX22" fmla="*/ 1828129 w 3738080"/>
                  <a:gd name="connsiteY22" fmla="*/ 650059 h 2751770"/>
                  <a:gd name="connsiteX23" fmla="*/ 1764313 w 3738080"/>
                  <a:gd name="connsiteY23" fmla="*/ 591 h 2751770"/>
                  <a:gd name="connsiteX24" fmla="*/ 3559697 w 3738080"/>
                  <a:gd name="connsiteY24" fmla="*/ 547180 h 2751770"/>
                  <a:gd name="connsiteX25" fmla="*/ 3709650 w 3738080"/>
                  <a:gd name="connsiteY25" fmla="*/ 882310 h 2751770"/>
                  <a:gd name="connsiteX26" fmla="*/ 3367875 w 3738080"/>
                  <a:gd name="connsiteY26" fmla="*/ 834477 h 2751770"/>
                  <a:gd name="connsiteX27" fmla="*/ 318417 w 3738080"/>
                  <a:gd name="connsiteY27" fmla="*/ 884635 h 2751770"/>
                  <a:gd name="connsiteX28" fmla="*/ 19267 w 3738080"/>
                  <a:gd name="connsiteY28" fmla="*/ 846272 h 2751770"/>
                  <a:gd name="connsiteX29" fmla="*/ 275 w 3738080"/>
                  <a:gd name="connsiteY29" fmla="*/ 760137 h 2751770"/>
                  <a:gd name="connsiteX30" fmla="*/ 173484 w 3738080"/>
                  <a:gd name="connsiteY30" fmla="*/ 547180 h 2751770"/>
                  <a:gd name="connsiteX31" fmla="*/ 1764313 w 3738080"/>
                  <a:gd name="connsiteY31" fmla="*/ 591 h 27517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738080" h="2751770">
                    <a:moveTo>
                      <a:pt x="1869041" y="1997576"/>
                    </a:moveTo>
                    <a:cubicBezTo>
                      <a:pt x="2077306" y="1997576"/>
                      <a:pt x="2246138" y="2166408"/>
                      <a:pt x="2246138" y="2374673"/>
                    </a:cubicBezTo>
                    <a:cubicBezTo>
                      <a:pt x="2246138" y="2582938"/>
                      <a:pt x="2077306" y="2751770"/>
                      <a:pt x="1869041" y="2751770"/>
                    </a:cubicBezTo>
                    <a:cubicBezTo>
                      <a:pt x="1660776" y="2751770"/>
                      <a:pt x="1491944" y="2582938"/>
                      <a:pt x="1491944" y="2374673"/>
                    </a:cubicBezTo>
                    <a:cubicBezTo>
                      <a:pt x="1491944" y="2166408"/>
                      <a:pt x="1660776" y="1997576"/>
                      <a:pt x="1869041" y="1997576"/>
                    </a:cubicBezTo>
                    <a:close/>
                    <a:moveTo>
                      <a:pt x="1858846" y="1306247"/>
                    </a:moveTo>
                    <a:cubicBezTo>
                      <a:pt x="2165924" y="1301758"/>
                      <a:pt x="2404940" y="1399722"/>
                      <a:pt x="2645621" y="1504218"/>
                    </a:cubicBezTo>
                    <a:cubicBezTo>
                      <a:pt x="2813424" y="1597955"/>
                      <a:pt x="2823993" y="1678797"/>
                      <a:pt x="2795575" y="1757331"/>
                    </a:cubicBezTo>
                    <a:cubicBezTo>
                      <a:pt x="2761471" y="1842158"/>
                      <a:pt x="2685239" y="1908552"/>
                      <a:pt x="2539052" y="1841672"/>
                    </a:cubicBezTo>
                    <a:cubicBezTo>
                      <a:pt x="2347207" y="1684231"/>
                      <a:pt x="1733351" y="1556050"/>
                      <a:pt x="1353947" y="1778974"/>
                    </a:cubicBezTo>
                    <a:cubicBezTo>
                      <a:pt x="1250080" y="1855218"/>
                      <a:pt x="1037749" y="1915097"/>
                      <a:pt x="982333" y="1780833"/>
                    </a:cubicBezTo>
                    <a:cubicBezTo>
                      <a:pt x="968480" y="1736637"/>
                      <a:pt x="963386" y="1699601"/>
                      <a:pt x="966756" y="1667407"/>
                    </a:cubicBezTo>
                    <a:cubicBezTo>
                      <a:pt x="976866" y="1570822"/>
                      <a:pt x="1063141" y="1517802"/>
                      <a:pt x="1217540" y="1445700"/>
                    </a:cubicBezTo>
                    <a:cubicBezTo>
                      <a:pt x="1465851" y="1348519"/>
                      <a:pt x="1674601" y="1308942"/>
                      <a:pt x="1858846" y="1306247"/>
                    </a:cubicBezTo>
                    <a:close/>
                    <a:moveTo>
                      <a:pt x="1828129" y="650059"/>
                    </a:moveTo>
                    <a:cubicBezTo>
                      <a:pt x="2445754" y="646836"/>
                      <a:pt x="2937662" y="894034"/>
                      <a:pt x="3108200" y="1008980"/>
                    </a:cubicBezTo>
                    <a:cubicBezTo>
                      <a:pt x="3228810" y="1075858"/>
                      <a:pt x="3343409" y="1171509"/>
                      <a:pt x="3258155" y="1319033"/>
                    </a:cubicBezTo>
                    <a:cubicBezTo>
                      <a:pt x="3134282" y="1435449"/>
                      <a:pt x="3057301" y="1393031"/>
                      <a:pt x="2937692" y="1304637"/>
                    </a:cubicBezTo>
                    <a:cubicBezTo>
                      <a:pt x="2647778" y="1191783"/>
                      <a:pt x="2008321" y="619142"/>
                      <a:pt x="763561" y="1325535"/>
                    </a:cubicBezTo>
                    <a:cubicBezTo>
                      <a:pt x="621636" y="1425852"/>
                      <a:pt x="511304" y="1376178"/>
                      <a:pt x="464412" y="1278813"/>
                    </a:cubicBezTo>
                    <a:cubicBezTo>
                      <a:pt x="452398" y="1252494"/>
                      <a:pt x="448110" y="1227223"/>
                      <a:pt x="450482" y="1202928"/>
                    </a:cubicBezTo>
                    <a:cubicBezTo>
                      <a:pt x="457599" y="1130049"/>
                      <a:pt x="524660" y="1065987"/>
                      <a:pt x="622892" y="1008979"/>
                    </a:cubicBezTo>
                    <a:cubicBezTo>
                      <a:pt x="1041721" y="744082"/>
                      <a:pt x="1457554" y="651995"/>
                      <a:pt x="1828129" y="650059"/>
                    </a:cubicBezTo>
                    <a:close/>
                    <a:moveTo>
                      <a:pt x="1764313" y="591"/>
                    </a:moveTo>
                    <a:cubicBezTo>
                      <a:pt x="2430887" y="-13278"/>
                      <a:pt x="3056659" y="218017"/>
                      <a:pt x="3559697" y="547180"/>
                    </a:cubicBezTo>
                    <a:cubicBezTo>
                      <a:pt x="3671781" y="597338"/>
                      <a:pt x="3794905" y="759863"/>
                      <a:pt x="3709650" y="882310"/>
                    </a:cubicBezTo>
                    <a:cubicBezTo>
                      <a:pt x="3594303" y="984791"/>
                      <a:pt x="3449118" y="907547"/>
                      <a:pt x="3367875" y="834477"/>
                    </a:cubicBezTo>
                    <a:cubicBezTo>
                      <a:pt x="3193985" y="725799"/>
                      <a:pt x="1920315" y="-235561"/>
                      <a:pt x="318417" y="884635"/>
                    </a:cubicBezTo>
                    <a:cubicBezTo>
                      <a:pt x="189280" y="993311"/>
                      <a:pt x="70419" y="922739"/>
                      <a:pt x="19267" y="846272"/>
                    </a:cubicBezTo>
                    <a:cubicBezTo>
                      <a:pt x="4410" y="817516"/>
                      <a:pt x="-1388" y="788500"/>
                      <a:pt x="275" y="760137"/>
                    </a:cubicBezTo>
                    <a:cubicBezTo>
                      <a:pt x="5260" y="675044"/>
                      <a:pt x="77384" y="595829"/>
                      <a:pt x="173484" y="547180"/>
                    </a:cubicBezTo>
                    <a:cubicBezTo>
                      <a:pt x="702741" y="170471"/>
                      <a:pt x="1245868" y="11376"/>
                      <a:pt x="1764313" y="591"/>
                    </a:cubicBezTo>
                    <a:close/>
                  </a:path>
                </a:pathLst>
              </a:cu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grpSp>
        <p:sp>
          <p:nvSpPr>
            <p:cNvPr id="14" name="Subtitle 2">
              <a:extLst>
                <a:ext uri="{FF2B5EF4-FFF2-40B4-BE49-F238E27FC236}">
                  <a16:creationId xmlns:a16="http://schemas.microsoft.com/office/drawing/2014/main" id="{53858C97-DA2F-8866-47CC-CDF4077BBF9D}"/>
                </a:ext>
              </a:extLst>
            </p:cNvPr>
            <p:cNvSpPr txBox="1">
              <a:spLocks/>
            </p:cNvSpPr>
            <p:nvPr/>
          </p:nvSpPr>
          <p:spPr>
            <a:xfrm>
              <a:off x="1560697" y="757061"/>
              <a:ext cx="729275" cy="203382"/>
            </a:xfrm>
            <a:prstGeom prst="rect">
              <a:avLst/>
            </a:prstGeom>
          </p:spPr>
          <p:txBody>
            <a:bodyPr vert="horz" lIns="91440" tIns="45720" rIns="91440" bIns="45720" rtlCol="0">
              <a:normAutofit fontScale="6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dirty="0" smtClean="0">
                  <a:solidFill>
                    <a:srgbClr val="7030A0"/>
                  </a:solidFill>
                </a:rPr>
                <a:t>PDS</a:t>
              </a:r>
              <a:endParaRPr lang="en-US" sz="1600" dirty="0">
                <a:solidFill>
                  <a:srgbClr val="7030A0"/>
                </a:solidFill>
              </a:endParaRPr>
            </a:p>
          </p:txBody>
        </p:sp>
      </p:grpSp>
      <p:pic>
        <p:nvPicPr>
          <p:cNvPr id="4" name="Picture 3"/>
          <p:cNvPicPr>
            <a:picLocks noChangeAspect="1"/>
          </p:cNvPicPr>
          <p:nvPr/>
        </p:nvPicPr>
        <p:blipFill>
          <a:blip r:embed="rId5"/>
          <a:stretch>
            <a:fillRect/>
          </a:stretch>
        </p:blipFill>
        <p:spPr>
          <a:xfrm>
            <a:off x="2611743" y="2639596"/>
            <a:ext cx="446086" cy="635863"/>
          </a:xfrm>
          <a:prstGeom prst="rect">
            <a:avLst/>
          </a:prstGeom>
        </p:spPr>
      </p:pic>
      <p:pic>
        <p:nvPicPr>
          <p:cNvPr id="5" name="Picture 4"/>
          <p:cNvPicPr>
            <a:picLocks noChangeAspect="1"/>
          </p:cNvPicPr>
          <p:nvPr/>
        </p:nvPicPr>
        <p:blipFill>
          <a:blip r:embed="rId6"/>
          <a:stretch>
            <a:fillRect/>
          </a:stretch>
        </p:blipFill>
        <p:spPr>
          <a:xfrm>
            <a:off x="1914363" y="2655435"/>
            <a:ext cx="613391" cy="582721"/>
          </a:xfrm>
          <a:prstGeom prst="rect">
            <a:avLst/>
          </a:prstGeom>
        </p:spPr>
      </p:pic>
      <p:pic>
        <p:nvPicPr>
          <p:cNvPr id="6" name="Picture 5"/>
          <p:cNvPicPr>
            <a:picLocks noChangeAspect="1"/>
          </p:cNvPicPr>
          <p:nvPr/>
        </p:nvPicPr>
        <p:blipFill>
          <a:blip r:embed="rId7"/>
          <a:stretch>
            <a:fillRect/>
          </a:stretch>
        </p:blipFill>
        <p:spPr>
          <a:xfrm>
            <a:off x="1053045" y="2639596"/>
            <a:ext cx="599662" cy="577554"/>
          </a:xfrm>
          <a:prstGeom prst="rect">
            <a:avLst/>
          </a:prstGeom>
        </p:spPr>
      </p:pic>
      <p:sp>
        <p:nvSpPr>
          <p:cNvPr id="26" name="Subtitle 2"/>
          <p:cNvSpPr txBox="1">
            <a:spLocks/>
          </p:cNvSpPr>
          <p:nvPr/>
        </p:nvSpPr>
        <p:spPr>
          <a:xfrm>
            <a:off x="2570755" y="3802371"/>
            <a:ext cx="9024615" cy="521075"/>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4400" dirty="0" smtClean="0">
                <a:solidFill>
                  <a:srgbClr val="0070C0"/>
                </a:solidFill>
              </a:rPr>
              <a:t>Docker </a:t>
            </a:r>
            <a:r>
              <a:rPr lang="en-US" sz="4400" dirty="0">
                <a:solidFill>
                  <a:srgbClr val="0070C0"/>
                </a:solidFill>
              </a:rPr>
              <a:t>and </a:t>
            </a:r>
            <a:r>
              <a:rPr lang="en-US" sz="4400" dirty="0" smtClean="0">
                <a:solidFill>
                  <a:srgbClr val="0070C0"/>
                </a:solidFill>
              </a:rPr>
              <a:t>Kubernetes</a:t>
            </a:r>
          </a:p>
        </p:txBody>
      </p:sp>
      <p:sp>
        <p:nvSpPr>
          <p:cNvPr id="25" name="Title 1"/>
          <p:cNvSpPr>
            <a:spLocks noGrp="1"/>
          </p:cNvSpPr>
          <p:nvPr>
            <p:ph type="title"/>
          </p:nvPr>
        </p:nvSpPr>
        <p:spPr>
          <a:xfrm>
            <a:off x="2527754" y="4778653"/>
            <a:ext cx="10515600" cy="1325563"/>
          </a:xfrm>
        </p:spPr>
        <p:txBody>
          <a:bodyPr>
            <a:normAutofit/>
          </a:bodyPr>
          <a:lstStyle/>
          <a:p>
            <a:r>
              <a:rPr lang="en-US" sz="2000" dirty="0">
                <a:solidFill>
                  <a:srgbClr val="7030A0"/>
                </a:solidFill>
              </a:rPr>
              <a:t>Create a Docker on Ubuntu 20.04</a:t>
            </a:r>
            <a:br>
              <a:rPr lang="en-US" sz="2000" dirty="0">
                <a:solidFill>
                  <a:srgbClr val="7030A0"/>
                </a:solidFill>
              </a:rPr>
            </a:br>
            <a:r>
              <a:rPr lang="en-US" sz="2000" b="1" dirty="0" smtClean="0">
                <a:solidFill>
                  <a:srgbClr val="002060"/>
                </a:solidFill>
              </a:rPr>
              <a:t>Docker </a:t>
            </a:r>
            <a:r>
              <a:rPr lang="en-US" sz="2000" u="sng" dirty="0" smtClean="0">
                <a:solidFill>
                  <a:srgbClr val="0070C0"/>
                </a:solidFill>
              </a:rPr>
              <a:t>Simple-apps</a:t>
            </a:r>
            <a:endParaRPr lang="en-US" sz="2000" u="sng" dirty="0">
              <a:solidFill>
                <a:srgbClr val="0070C0"/>
              </a:solidFill>
            </a:endParaRPr>
          </a:p>
        </p:txBody>
      </p:sp>
      <p:sp>
        <p:nvSpPr>
          <p:cNvPr id="27" name="Rectangle 26"/>
          <p:cNvSpPr/>
          <p:nvPr/>
        </p:nvSpPr>
        <p:spPr>
          <a:xfrm>
            <a:off x="9377124" y="6338624"/>
            <a:ext cx="2218246" cy="169277"/>
          </a:xfrm>
          <a:prstGeom prst="rect">
            <a:avLst/>
          </a:prstGeom>
        </p:spPr>
        <p:txBody>
          <a:bodyPr wrap="square">
            <a:spAutoFit/>
          </a:bodyPr>
          <a:lstStyle/>
          <a:p>
            <a:r>
              <a:rPr lang="en-US" sz="500" dirty="0"/>
              <a:t>https</a:t>
            </a:r>
            <a:r>
              <a:rPr lang="en-US" sz="500" dirty="0" smtClean="0"/>
              <a:t>://github.com/amelcharolinesgn2/IoT_simulator-mqtt-NodeRed</a:t>
            </a:r>
            <a:endParaRPr lang="en-US" sz="500" dirty="0"/>
          </a:p>
        </p:txBody>
      </p:sp>
      <p:sp>
        <p:nvSpPr>
          <p:cNvPr id="28" name="Rectangle 27"/>
          <p:cNvSpPr/>
          <p:nvPr/>
        </p:nvSpPr>
        <p:spPr>
          <a:xfrm>
            <a:off x="10043707" y="5703710"/>
            <a:ext cx="1301349" cy="150490"/>
          </a:xfrm>
          <a:prstGeom prst="rect">
            <a:avLst/>
          </a:prstGeom>
        </p:spPr>
        <p:txBody>
          <a:bodyPr wrap="square">
            <a:spAutoFit/>
          </a:bodyPr>
          <a:lstStyle/>
          <a:p>
            <a:pPr algn="r"/>
            <a:r>
              <a:rPr lang="en-US" sz="378" dirty="0"/>
              <a:t>https://www.youtube.com/@AmelOline/videos</a:t>
            </a:r>
          </a:p>
        </p:txBody>
      </p:sp>
      <p:sp>
        <p:nvSpPr>
          <p:cNvPr id="29" name="Rectangle 28"/>
          <p:cNvSpPr/>
          <p:nvPr/>
        </p:nvSpPr>
        <p:spPr>
          <a:xfrm>
            <a:off x="10456278" y="5641410"/>
            <a:ext cx="879077" cy="150490"/>
          </a:xfrm>
          <a:prstGeom prst="rect">
            <a:avLst/>
          </a:prstGeom>
        </p:spPr>
        <p:txBody>
          <a:bodyPr wrap="square">
            <a:spAutoFit/>
          </a:bodyPr>
          <a:lstStyle/>
          <a:p>
            <a:pPr algn="r"/>
            <a:r>
              <a:rPr lang="en-US" sz="378" dirty="0"/>
              <a:t>https://github.com/siagianp</a:t>
            </a:r>
          </a:p>
        </p:txBody>
      </p:sp>
      <p:sp>
        <p:nvSpPr>
          <p:cNvPr id="30" name="Rectangle 29"/>
          <p:cNvSpPr/>
          <p:nvPr/>
        </p:nvSpPr>
        <p:spPr>
          <a:xfrm>
            <a:off x="9892975" y="5775309"/>
            <a:ext cx="1452642" cy="150490"/>
          </a:xfrm>
          <a:prstGeom prst="rect">
            <a:avLst/>
          </a:prstGeom>
        </p:spPr>
        <p:txBody>
          <a:bodyPr wrap="none">
            <a:spAutoFit/>
          </a:bodyPr>
          <a:lstStyle/>
          <a:p>
            <a:pPr algn="r"/>
            <a:r>
              <a:rPr lang="en-US" sz="378" dirty="0"/>
              <a:t>https://github.com/amelcharolinesgn2/Cloud-Infrastructures</a:t>
            </a:r>
          </a:p>
        </p:txBody>
      </p:sp>
      <p:sp>
        <p:nvSpPr>
          <p:cNvPr id="31" name="Rectangle 30"/>
          <p:cNvSpPr/>
          <p:nvPr/>
        </p:nvSpPr>
        <p:spPr>
          <a:xfrm>
            <a:off x="9626877" y="5839335"/>
            <a:ext cx="1718740" cy="150490"/>
          </a:xfrm>
          <a:prstGeom prst="rect">
            <a:avLst/>
          </a:prstGeom>
        </p:spPr>
        <p:txBody>
          <a:bodyPr wrap="none">
            <a:spAutoFit/>
          </a:bodyPr>
          <a:lstStyle/>
          <a:p>
            <a:pPr algn="r"/>
            <a:r>
              <a:rPr lang="en-US" sz="378" dirty="0"/>
              <a:t>https://github.com/amelcharolinesgn2/ClouD-Infrastructure-SISKA-2025</a:t>
            </a:r>
          </a:p>
        </p:txBody>
      </p:sp>
      <p:sp>
        <p:nvSpPr>
          <p:cNvPr id="32" name="Rectangle 31"/>
          <p:cNvSpPr/>
          <p:nvPr/>
        </p:nvSpPr>
        <p:spPr>
          <a:xfrm>
            <a:off x="10043707" y="5890278"/>
            <a:ext cx="1301349" cy="150490"/>
          </a:xfrm>
          <a:prstGeom prst="rect">
            <a:avLst/>
          </a:prstGeom>
        </p:spPr>
        <p:txBody>
          <a:bodyPr wrap="square">
            <a:spAutoFit/>
          </a:bodyPr>
          <a:lstStyle/>
          <a:p>
            <a:pPr algn="r"/>
            <a:r>
              <a:rPr lang="en-US" sz="378" dirty="0"/>
              <a:t>https://</a:t>
            </a:r>
            <a:r>
              <a:rPr lang="en-US" sz="378" dirty="0" smtClean="0"/>
              <a:t>github.com/amelcharolinesgn2/CCNA-1-v7</a:t>
            </a:r>
            <a:endParaRPr lang="en-US" sz="378" dirty="0"/>
          </a:p>
        </p:txBody>
      </p:sp>
      <p:sp>
        <p:nvSpPr>
          <p:cNvPr id="33" name="Rectangle 32"/>
          <p:cNvSpPr/>
          <p:nvPr/>
        </p:nvSpPr>
        <p:spPr>
          <a:xfrm>
            <a:off x="10043707" y="5951958"/>
            <a:ext cx="1301349" cy="150490"/>
          </a:xfrm>
          <a:prstGeom prst="rect">
            <a:avLst/>
          </a:prstGeom>
        </p:spPr>
        <p:txBody>
          <a:bodyPr wrap="square">
            <a:spAutoFit/>
          </a:bodyPr>
          <a:lstStyle/>
          <a:p>
            <a:pPr algn="r"/>
            <a:r>
              <a:rPr lang="en-US" sz="378" dirty="0"/>
              <a:t>https://</a:t>
            </a:r>
            <a:r>
              <a:rPr lang="en-US" sz="378" dirty="0" smtClean="0"/>
              <a:t>github.com/amelcharolinesgn2/CCNA-2-v7</a:t>
            </a:r>
            <a:endParaRPr lang="en-US" sz="378" dirty="0"/>
          </a:p>
        </p:txBody>
      </p:sp>
      <p:sp>
        <p:nvSpPr>
          <p:cNvPr id="34" name="Rectangle 33"/>
          <p:cNvSpPr/>
          <p:nvPr/>
        </p:nvSpPr>
        <p:spPr>
          <a:xfrm>
            <a:off x="10044829" y="6207846"/>
            <a:ext cx="1301349" cy="208647"/>
          </a:xfrm>
          <a:prstGeom prst="rect">
            <a:avLst/>
          </a:prstGeom>
        </p:spPr>
        <p:txBody>
          <a:bodyPr wrap="square">
            <a:spAutoFit/>
          </a:bodyPr>
          <a:lstStyle/>
          <a:p>
            <a:pPr algn="r"/>
            <a:r>
              <a:rPr lang="en-US" sz="378" dirty="0">
                <a:hlinkClick r:id="rId8"/>
              </a:rPr>
              <a:t>https://github.com/amelcharolinesgn2/AWS</a:t>
            </a:r>
            <a:r>
              <a:rPr lang="en-US" sz="378" dirty="0"/>
              <a:t> Certificate</a:t>
            </a:r>
          </a:p>
        </p:txBody>
      </p:sp>
      <p:sp>
        <p:nvSpPr>
          <p:cNvPr id="35" name="Rectangle 34"/>
          <p:cNvSpPr/>
          <p:nvPr/>
        </p:nvSpPr>
        <p:spPr>
          <a:xfrm>
            <a:off x="10044829" y="6266003"/>
            <a:ext cx="1301349" cy="150490"/>
          </a:xfrm>
          <a:prstGeom prst="rect">
            <a:avLst/>
          </a:prstGeom>
        </p:spPr>
        <p:txBody>
          <a:bodyPr wrap="square">
            <a:spAutoFit/>
          </a:bodyPr>
          <a:lstStyle/>
          <a:p>
            <a:pPr algn="r"/>
            <a:r>
              <a:rPr lang="en-US" sz="378" dirty="0">
                <a:hlinkClick r:id="rId8"/>
              </a:rPr>
              <a:t>https://</a:t>
            </a:r>
            <a:r>
              <a:rPr lang="en-US" sz="378" dirty="0" smtClean="0">
                <a:hlinkClick r:id="rId8"/>
              </a:rPr>
              <a:t>github.com/amelcharolinesgn2/OpenStack</a:t>
            </a:r>
            <a:endParaRPr lang="en-US" sz="378" dirty="0"/>
          </a:p>
        </p:txBody>
      </p:sp>
      <p:sp>
        <p:nvSpPr>
          <p:cNvPr id="36" name="Rectangle 35"/>
          <p:cNvSpPr/>
          <p:nvPr/>
        </p:nvSpPr>
        <p:spPr>
          <a:xfrm>
            <a:off x="10044268" y="6149317"/>
            <a:ext cx="1301349" cy="150490"/>
          </a:xfrm>
          <a:prstGeom prst="rect">
            <a:avLst/>
          </a:prstGeom>
        </p:spPr>
        <p:txBody>
          <a:bodyPr wrap="square">
            <a:spAutoFit/>
          </a:bodyPr>
          <a:lstStyle/>
          <a:p>
            <a:pPr algn="r"/>
            <a:r>
              <a:rPr lang="en-US" sz="378" dirty="0">
                <a:hlinkClick r:id="rId8"/>
              </a:rPr>
              <a:t>https://</a:t>
            </a:r>
            <a:r>
              <a:rPr lang="en-US" sz="378" dirty="0" smtClean="0">
                <a:hlinkClick r:id="rId8"/>
              </a:rPr>
              <a:t>github.com/amelcharolinesgn2/CloudSim</a:t>
            </a:r>
            <a:endParaRPr lang="en-US" sz="378" dirty="0"/>
          </a:p>
        </p:txBody>
      </p:sp>
      <p:sp>
        <p:nvSpPr>
          <p:cNvPr id="37" name="Rectangle 36"/>
          <p:cNvSpPr/>
          <p:nvPr/>
        </p:nvSpPr>
        <p:spPr>
          <a:xfrm>
            <a:off x="10043146" y="6012068"/>
            <a:ext cx="1301349" cy="150490"/>
          </a:xfrm>
          <a:prstGeom prst="rect">
            <a:avLst/>
          </a:prstGeom>
        </p:spPr>
        <p:txBody>
          <a:bodyPr wrap="square">
            <a:spAutoFit/>
          </a:bodyPr>
          <a:lstStyle/>
          <a:p>
            <a:pPr algn="r"/>
            <a:r>
              <a:rPr lang="en-US" sz="378" dirty="0"/>
              <a:t>https://</a:t>
            </a:r>
            <a:r>
              <a:rPr lang="en-US" sz="378" dirty="0" smtClean="0"/>
              <a:t>github.com/amelcharolinesgn2/CCNA-3-v7</a:t>
            </a:r>
            <a:endParaRPr lang="en-US" sz="378" dirty="0"/>
          </a:p>
        </p:txBody>
      </p:sp>
      <p:sp>
        <p:nvSpPr>
          <p:cNvPr id="38" name="Rectangle 37"/>
          <p:cNvSpPr/>
          <p:nvPr/>
        </p:nvSpPr>
        <p:spPr>
          <a:xfrm>
            <a:off x="10043146" y="6061002"/>
            <a:ext cx="1301349" cy="150490"/>
          </a:xfrm>
          <a:prstGeom prst="rect">
            <a:avLst/>
          </a:prstGeom>
        </p:spPr>
        <p:txBody>
          <a:bodyPr wrap="square">
            <a:spAutoFit/>
          </a:bodyPr>
          <a:lstStyle/>
          <a:p>
            <a:pPr algn="r"/>
            <a:r>
              <a:rPr lang="en-US" sz="378" dirty="0"/>
              <a:t>https://</a:t>
            </a:r>
            <a:r>
              <a:rPr lang="en-US" sz="378" dirty="0" smtClean="0"/>
              <a:t>github.com/amelcharolinesgn2/CCNA-4-v7</a:t>
            </a:r>
            <a:endParaRPr lang="en-US" sz="378" dirty="0"/>
          </a:p>
        </p:txBody>
      </p:sp>
      <p:sp>
        <p:nvSpPr>
          <p:cNvPr id="39" name="Rectangle 38"/>
          <p:cNvSpPr/>
          <p:nvPr/>
        </p:nvSpPr>
        <p:spPr>
          <a:xfrm>
            <a:off x="9926465" y="6108743"/>
            <a:ext cx="1408890" cy="150490"/>
          </a:xfrm>
          <a:prstGeom prst="rect">
            <a:avLst/>
          </a:prstGeom>
        </p:spPr>
        <p:txBody>
          <a:bodyPr wrap="square">
            <a:spAutoFit/>
          </a:bodyPr>
          <a:lstStyle/>
          <a:p>
            <a:pPr algn="r"/>
            <a:r>
              <a:rPr lang="en-US" sz="378" dirty="0"/>
              <a:t>https://</a:t>
            </a:r>
            <a:r>
              <a:rPr lang="en-US" sz="378" dirty="0" smtClean="0"/>
              <a:t>github.com/amelcharolinesgn2/ANJAR_CCNP_Lab</a:t>
            </a:r>
            <a:endParaRPr lang="en-US" sz="378" dirty="0"/>
          </a:p>
        </p:txBody>
      </p:sp>
    </p:spTree>
    <p:extLst>
      <p:ext uri="{BB962C8B-B14F-4D97-AF65-F5344CB8AC3E}">
        <p14:creationId xmlns:p14="http://schemas.microsoft.com/office/powerpoint/2010/main" val="392634899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3667" y="2786591"/>
            <a:ext cx="10515600" cy="1325563"/>
          </a:xfrm>
        </p:spPr>
        <p:txBody>
          <a:bodyPr/>
          <a:lstStyle/>
          <a:p>
            <a:pPr algn="ctr"/>
            <a:r>
              <a:rPr lang="en-US" b="1" dirty="0">
                <a:solidFill>
                  <a:srgbClr val="FFC000"/>
                </a:solidFill>
              </a:rPr>
              <a:t>Docker</a:t>
            </a:r>
            <a:r>
              <a:rPr lang="en-US" b="1" dirty="0">
                <a:solidFill>
                  <a:srgbClr val="002060"/>
                </a:solidFill>
              </a:rPr>
              <a:t> </a:t>
            </a:r>
            <a:r>
              <a:rPr lang="en-US" b="1" dirty="0">
                <a:solidFill>
                  <a:srgbClr val="FFC000"/>
                </a:solidFill>
              </a:rPr>
              <a:t>and</a:t>
            </a:r>
            <a:r>
              <a:rPr lang="en-US" b="1" dirty="0">
                <a:solidFill>
                  <a:srgbClr val="002060"/>
                </a:solidFill>
              </a:rPr>
              <a:t> </a:t>
            </a:r>
            <a:r>
              <a:rPr lang="en-US" b="1" dirty="0">
                <a:solidFill>
                  <a:srgbClr val="FFC000"/>
                </a:solidFill>
              </a:rPr>
              <a:t>Kubernetes</a:t>
            </a:r>
          </a:p>
        </p:txBody>
      </p:sp>
      <p:sp>
        <p:nvSpPr>
          <p:cNvPr id="3" name="Rectangle 2"/>
          <p:cNvSpPr/>
          <p:nvPr/>
        </p:nvSpPr>
        <p:spPr>
          <a:xfrm>
            <a:off x="8478754" y="119072"/>
            <a:ext cx="3552383" cy="400110"/>
          </a:xfrm>
          <a:prstGeom prst="rect">
            <a:avLst/>
          </a:prstGeom>
        </p:spPr>
        <p:txBody>
          <a:bodyPr wrap="none">
            <a:spAutoFit/>
          </a:bodyPr>
          <a:lstStyle/>
          <a:p>
            <a:r>
              <a:rPr lang="en-US" sz="2000" b="1" dirty="0">
                <a:solidFill>
                  <a:srgbClr val="FFC000"/>
                </a:solidFill>
              </a:rPr>
              <a:t>Docker and </a:t>
            </a:r>
            <a:r>
              <a:rPr lang="en-US" sz="2000" b="1" dirty="0" smtClean="0">
                <a:solidFill>
                  <a:srgbClr val="FFC000"/>
                </a:solidFill>
              </a:rPr>
              <a:t>Kubernetes (</a:t>
            </a:r>
            <a:r>
              <a:rPr lang="en-US" sz="2000" b="1" dirty="0" err="1" smtClean="0">
                <a:solidFill>
                  <a:srgbClr val="FFC000"/>
                </a:solidFill>
              </a:rPr>
              <a:t>Cons’t</a:t>
            </a:r>
            <a:r>
              <a:rPr lang="en-US" sz="2000" b="1" dirty="0" smtClean="0">
                <a:solidFill>
                  <a:srgbClr val="FFC000"/>
                </a:solidFill>
              </a:rPr>
              <a:t>)</a:t>
            </a:r>
            <a:endParaRPr lang="en-US" sz="2000" dirty="0">
              <a:solidFill>
                <a:srgbClr val="FFC000"/>
              </a:solidFill>
            </a:endParaRPr>
          </a:p>
        </p:txBody>
      </p:sp>
    </p:spTree>
    <p:extLst>
      <p:ext uri="{BB962C8B-B14F-4D97-AF65-F5344CB8AC3E}">
        <p14:creationId xmlns:p14="http://schemas.microsoft.com/office/powerpoint/2010/main" val="127077358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262467" y="1500802"/>
            <a:ext cx="5410201" cy="2554545"/>
          </a:xfrm>
          <a:prstGeom prst="rect">
            <a:avLst/>
          </a:prstGeom>
        </p:spPr>
        <p:txBody>
          <a:bodyPr wrap="square">
            <a:spAutoFit/>
          </a:bodyPr>
          <a:lstStyle/>
          <a:p>
            <a:pPr algn="just"/>
            <a:r>
              <a:rPr lang="en-US" sz="1600" b="1" dirty="0"/>
              <a:t>Main Software Stack </a:t>
            </a:r>
            <a:r>
              <a:rPr lang="en-US" sz="1600" b="1" dirty="0" smtClean="0">
                <a:hlinkClick r:id="rId3"/>
              </a:rPr>
              <a:t>Permalink</a:t>
            </a:r>
            <a:r>
              <a:rPr lang="en-US" sz="1600" b="1" dirty="0" smtClean="0"/>
              <a:t>:</a:t>
            </a:r>
            <a:endParaRPr lang="en-US" sz="1600" b="1" dirty="0"/>
          </a:p>
          <a:p>
            <a:pPr algn="just"/>
            <a:r>
              <a:rPr lang="en-US" sz="1600" b="1" dirty="0">
                <a:hlinkClick r:id="rId4"/>
              </a:rPr>
              <a:t>Kubernetes</a:t>
            </a:r>
            <a:r>
              <a:rPr lang="en-US" sz="1600" b="1" dirty="0"/>
              <a:t>:</a:t>
            </a:r>
            <a:r>
              <a:rPr lang="en-US" sz="1600" dirty="0"/>
              <a:t> for managing containerized workloads and services.</a:t>
            </a:r>
          </a:p>
          <a:p>
            <a:pPr algn="just"/>
            <a:r>
              <a:rPr lang="en-US" sz="1600" b="1" dirty="0">
                <a:hlinkClick r:id="rId5"/>
              </a:rPr>
              <a:t>Docker</a:t>
            </a:r>
            <a:r>
              <a:rPr lang="en-US" sz="1600" b="1" dirty="0"/>
              <a:t>:</a:t>
            </a:r>
            <a:r>
              <a:rPr lang="en-US" sz="1600" dirty="0"/>
              <a:t> for managing containerized applications.</a:t>
            </a:r>
          </a:p>
          <a:p>
            <a:pPr algn="just"/>
            <a:r>
              <a:rPr lang="en-US" sz="1600" b="1" dirty="0">
                <a:hlinkClick r:id="rId6"/>
              </a:rPr>
              <a:t>Linux</a:t>
            </a:r>
            <a:r>
              <a:rPr lang="en-US" sz="1600" dirty="0"/>
              <a:t>.</a:t>
            </a:r>
          </a:p>
          <a:p>
            <a:pPr algn="just"/>
            <a:r>
              <a:rPr lang="en-US" sz="1600" b="1" dirty="0">
                <a:hlinkClick r:id="rId7"/>
              </a:rPr>
              <a:t>Arch</a:t>
            </a:r>
            <a:r>
              <a:rPr lang="en-US" sz="1600" b="1" dirty="0"/>
              <a:t>:</a:t>
            </a:r>
            <a:r>
              <a:rPr lang="en-US" sz="1600" dirty="0"/>
              <a:t> with LTS Kernel (for stability) as the main OS for the Servers.</a:t>
            </a:r>
          </a:p>
          <a:p>
            <a:pPr algn="just"/>
            <a:r>
              <a:rPr lang="en-US" sz="1600" b="1" dirty="0" err="1">
                <a:hlinkClick r:id="rId8"/>
              </a:rPr>
              <a:t>OpenWRT</a:t>
            </a:r>
            <a:r>
              <a:rPr lang="en-US" sz="1600" b="1" dirty="0"/>
              <a:t>:</a:t>
            </a:r>
            <a:r>
              <a:rPr lang="en-US" sz="1600" dirty="0"/>
              <a:t> for network handling (DNS, Port Forwarding, DHCP, </a:t>
            </a:r>
            <a:r>
              <a:rPr lang="en-US" sz="1600" dirty="0" err="1"/>
              <a:t>etc</a:t>
            </a:r>
            <a:r>
              <a:rPr lang="en-US" sz="1600" dirty="0"/>
              <a:t>) inside my router.</a:t>
            </a:r>
          </a:p>
          <a:p>
            <a:pPr algn="just"/>
            <a:r>
              <a:rPr lang="en-US" sz="1600" b="1" dirty="0" err="1">
                <a:hlinkClick r:id="rId9"/>
              </a:rPr>
              <a:t>Wireguad</a:t>
            </a:r>
            <a:r>
              <a:rPr lang="en-US" sz="1600" b="1" dirty="0"/>
              <a:t>:</a:t>
            </a:r>
            <a:r>
              <a:rPr lang="en-US" sz="1600" dirty="0"/>
              <a:t> for the encrypted virtual private network (VPN).</a:t>
            </a:r>
          </a:p>
        </p:txBody>
      </p:sp>
      <p:sp>
        <p:nvSpPr>
          <p:cNvPr id="7" name="Rectangle 6"/>
          <p:cNvSpPr/>
          <p:nvPr/>
        </p:nvSpPr>
        <p:spPr>
          <a:xfrm>
            <a:off x="8478754" y="119072"/>
            <a:ext cx="3552383" cy="400110"/>
          </a:xfrm>
          <a:prstGeom prst="rect">
            <a:avLst/>
          </a:prstGeom>
        </p:spPr>
        <p:txBody>
          <a:bodyPr wrap="none">
            <a:spAutoFit/>
          </a:bodyPr>
          <a:lstStyle/>
          <a:p>
            <a:r>
              <a:rPr lang="en-US" sz="2000" b="1" dirty="0">
                <a:solidFill>
                  <a:srgbClr val="FFC000"/>
                </a:solidFill>
              </a:rPr>
              <a:t>Docker and </a:t>
            </a:r>
            <a:r>
              <a:rPr lang="en-US" sz="2000" b="1" dirty="0" smtClean="0">
                <a:solidFill>
                  <a:srgbClr val="FFC000"/>
                </a:solidFill>
              </a:rPr>
              <a:t>Kubernetes (</a:t>
            </a:r>
            <a:r>
              <a:rPr lang="en-US" sz="2000" b="1" dirty="0" err="1" smtClean="0">
                <a:solidFill>
                  <a:srgbClr val="FFC000"/>
                </a:solidFill>
              </a:rPr>
              <a:t>Cons’t</a:t>
            </a:r>
            <a:r>
              <a:rPr lang="en-US" sz="2000" b="1" dirty="0" smtClean="0">
                <a:solidFill>
                  <a:srgbClr val="FFC000"/>
                </a:solidFill>
              </a:rPr>
              <a:t>)</a:t>
            </a:r>
            <a:endParaRPr lang="en-US" sz="2000" dirty="0">
              <a:solidFill>
                <a:srgbClr val="FFC000"/>
              </a:solidFill>
            </a:endParaRPr>
          </a:p>
        </p:txBody>
      </p:sp>
      <p:sp>
        <p:nvSpPr>
          <p:cNvPr id="13" name="Rectangle 12"/>
          <p:cNvSpPr/>
          <p:nvPr/>
        </p:nvSpPr>
        <p:spPr>
          <a:xfrm>
            <a:off x="6053667" y="1500801"/>
            <a:ext cx="5410201" cy="2308324"/>
          </a:xfrm>
          <a:prstGeom prst="rect">
            <a:avLst/>
          </a:prstGeom>
        </p:spPr>
        <p:txBody>
          <a:bodyPr wrap="square">
            <a:spAutoFit/>
          </a:bodyPr>
          <a:lstStyle/>
          <a:p>
            <a:pPr algn="just"/>
            <a:r>
              <a:rPr lang="en-US" b="1" dirty="0"/>
              <a:t>Kubernetes: The Main </a:t>
            </a:r>
            <a:r>
              <a:rPr lang="en-US" b="1" dirty="0" smtClean="0"/>
              <a:t>Components: </a:t>
            </a:r>
            <a:endParaRPr lang="en-US" b="1" dirty="0"/>
          </a:p>
          <a:p>
            <a:pPr algn="just"/>
            <a:r>
              <a:rPr lang="en-US" b="1" dirty="0"/>
              <a:t>Cluster:</a:t>
            </a:r>
            <a:r>
              <a:rPr lang="en-US" dirty="0"/>
              <a:t> When we deploy Kubernetes, we get a cluster.</a:t>
            </a:r>
          </a:p>
          <a:p>
            <a:pPr algn="just"/>
            <a:r>
              <a:rPr lang="en-US" b="1" dirty="0"/>
              <a:t>Node:</a:t>
            </a:r>
            <a:r>
              <a:rPr lang="en-US" dirty="0"/>
              <a:t> A node is a working machine in Kubernetes.</a:t>
            </a:r>
          </a:p>
          <a:p>
            <a:pPr algn="just"/>
            <a:r>
              <a:rPr lang="en-US" b="1" dirty="0">
                <a:hlinkClick r:id="rId10"/>
              </a:rPr>
              <a:t>Pod</a:t>
            </a:r>
            <a:r>
              <a:rPr lang="en-US" b="1" dirty="0"/>
              <a:t>:</a:t>
            </a:r>
            <a:r>
              <a:rPr lang="en-US" dirty="0"/>
              <a:t> A Pod represents a set of running containers in our cluster.</a:t>
            </a:r>
          </a:p>
          <a:p>
            <a:pPr algn="just"/>
            <a:r>
              <a:rPr lang="en-US" b="1" dirty="0"/>
              <a:t>Control Plane:</a:t>
            </a:r>
            <a:r>
              <a:rPr lang="en-US" dirty="0"/>
              <a:t> The container orchestration layer that exposes the API and interfaces to define, deploy and manage the lifecycle of containers.</a:t>
            </a:r>
          </a:p>
        </p:txBody>
      </p:sp>
    </p:spTree>
    <p:extLst>
      <p:ext uri="{BB962C8B-B14F-4D97-AF65-F5344CB8AC3E}">
        <p14:creationId xmlns:p14="http://schemas.microsoft.com/office/powerpoint/2010/main" val="151848515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8478754" y="119072"/>
            <a:ext cx="3552383" cy="400110"/>
          </a:xfrm>
          <a:prstGeom prst="rect">
            <a:avLst/>
          </a:prstGeom>
        </p:spPr>
        <p:txBody>
          <a:bodyPr wrap="none">
            <a:spAutoFit/>
          </a:bodyPr>
          <a:lstStyle/>
          <a:p>
            <a:r>
              <a:rPr lang="en-US" sz="2000" b="1" dirty="0">
                <a:solidFill>
                  <a:srgbClr val="FFC000"/>
                </a:solidFill>
              </a:rPr>
              <a:t>Docker and </a:t>
            </a:r>
            <a:r>
              <a:rPr lang="en-US" sz="2000" b="1" dirty="0" smtClean="0">
                <a:solidFill>
                  <a:srgbClr val="FFC000"/>
                </a:solidFill>
              </a:rPr>
              <a:t>Kubernetes (</a:t>
            </a:r>
            <a:r>
              <a:rPr lang="en-US" sz="2000" b="1" dirty="0" err="1" smtClean="0">
                <a:solidFill>
                  <a:srgbClr val="FFC000"/>
                </a:solidFill>
              </a:rPr>
              <a:t>Cons’t</a:t>
            </a:r>
            <a:r>
              <a:rPr lang="en-US" sz="2000" b="1" dirty="0" smtClean="0">
                <a:solidFill>
                  <a:srgbClr val="FFC000"/>
                </a:solidFill>
              </a:rPr>
              <a:t>)</a:t>
            </a:r>
            <a:endParaRPr lang="en-US" sz="2000" dirty="0">
              <a:solidFill>
                <a:srgbClr val="FFC000"/>
              </a:solidFill>
            </a:endParaRPr>
          </a:p>
        </p:txBody>
      </p:sp>
      <p:sp>
        <p:nvSpPr>
          <p:cNvPr id="5" name="Rectangle 4"/>
          <p:cNvSpPr/>
          <p:nvPr/>
        </p:nvSpPr>
        <p:spPr>
          <a:xfrm>
            <a:off x="245533" y="519182"/>
            <a:ext cx="5410201" cy="553998"/>
          </a:xfrm>
          <a:prstGeom prst="rect">
            <a:avLst/>
          </a:prstGeom>
        </p:spPr>
        <p:txBody>
          <a:bodyPr wrap="square">
            <a:spAutoFit/>
          </a:bodyPr>
          <a:lstStyle/>
          <a:p>
            <a:r>
              <a:rPr lang="en-US" b="1" dirty="0" smtClean="0"/>
              <a:t>Kubernetes Arch: </a:t>
            </a:r>
            <a:endParaRPr lang="en-US" b="1" dirty="0"/>
          </a:p>
          <a:p>
            <a:r>
              <a:rPr lang="en-US" sz="1200" dirty="0"/>
              <a:t>Infrastructure with Kubernetes (k3s):</a:t>
            </a:r>
          </a:p>
        </p:txBody>
      </p:sp>
      <p:pic>
        <p:nvPicPr>
          <p:cNvPr id="2" name="Picture 1"/>
          <p:cNvPicPr>
            <a:picLocks noChangeAspect="1"/>
          </p:cNvPicPr>
          <p:nvPr/>
        </p:nvPicPr>
        <p:blipFill>
          <a:blip r:embed="rId3"/>
          <a:stretch>
            <a:fillRect/>
          </a:stretch>
        </p:blipFill>
        <p:spPr>
          <a:xfrm>
            <a:off x="245533" y="1441403"/>
            <a:ext cx="7018867" cy="4402314"/>
          </a:xfrm>
          <a:prstGeom prst="rect">
            <a:avLst/>
          </a:prstGeom>
        </p:spPr>
      </p:pic>
      <p:sp>
        <p:nvSpPr>
          <p:cNvPr id="3" name="Rectangle 2"/>
          <p:cNvSpPr/>
          <p:nvPr/>
        </p:nvSpPr>
        <p:spPr>
          <a:xfrm>
            <a:off x="7382933" y="796181"/>
            <a:ext cx="4419600" cy="5047536"/>
          </a:xfrm>
          <a:prstGeom prst="rect">
            <a:avLst/>
          </a:prstGeom>
        </p:spPr>
        <p:txBody>
          <a:bodyPr wrap="square">
            <a:spAutoFit/>
          </a:bodyPr>
          <a:lstStyle/>
          <a:p>
            <a:pPr algn="just"/>
            <a:r>
              <a:rPr lang="en-US" sz="1400" dirty="0" smtClean="0"/>
              <a:t>Traffic </a:t>
            </a:r>
            <a:r>
              <a:rPr lang="en-US" sz="1400" dirty="0" err="1"/>
              <a:t>comming</a:t>
            </a:r>
            <a:r>
              <a:rPr lang="en-US" sz="1400" dirty="0"/>
              <a:t> from the Internet (via Dynamic DNS) is received by the Router.</a:t>
            </a:r>
          </a:p>
          <a:p>
            <a:pPr marL="342900" indent="-342900" algn="just">
              <a:buFont typeface="+mj-lt"/>
              <a:buAutoNum type="arabicPeriod"/>
            </a:pPr>
            <a:r>
              <a:rPr lang="en-US" sz="1400" dirty="0"/>
              <a:t>The router runs </a:t>
            </a:r>
            <a:r>
              <a:rPr lang="en-US" sz="1400" dirty="0" err="1"/>
              <a:t>OpenWRT</a:t>
            </a:r>
            <a:r>
              <a:rPr lang="en-US" sz="1400" dirty="0"/>
              <a:t> as OS and hosts and manages the VPN using </a:t>
            </a:r>
            <a:r>
              <a:rPr lang="en-US" sz="1400" dirty="0" err="1"/>
              <a:t>Wireguard</a:t>
            </a:r>
            <a:r>
              <a:rPr lang="en-US" sz="1400" dirty="0"/>
              <a:t> (more on this in the Security Section).</a:t>
            </a:r>
          </a:p>
          <a:p>
            <a:pPr marL="342900" indent="-342900" algn="just">
              <a:buFont typeface="+mj-lt"/>
              <a:buAutoNum type="arabicPeriod"/>
            </a:pPr>
            <a:r>
              <a:rPr lang="en-US" sz="1400" dirty="0"/>
              <a:t>Once the request passes the security checks of the VPN, we are inside our Local Area Network (LAN), zone of Linux Servers and for instance, the Kubernetes Cluster.</a:t>
            </a:r>
          </a:p>
          <a:p>
            <a:pPr marL="342900" indent="-342900" algn="just">
              <a:buFont typeface="+mj-lt"/>
              <a:buAutoNum type="arabicPeriod"/>
            </a:pPr>
            <a:r>
              <a:rPr lang="en-US" sz="1400" dirty="0"/>
              <a:t>The Kubernetes Cluster is composed by 2 Nodes running Linux: one node being the master (Kubernetes Control Plane) and the other is a worker.</a:t>
            </a:r>
          </a:p>
          <a:p>
            <a:pPr marL="342900" indent="-342900" algn="just">
              <a:buFont typeface="+mj-lt"/>
              <a:buAutoNum type="arabicPeriod"/>
            </a:pPr>
            <a:r>
              <a:rPr lang="en-US" sz="1400" dirty="0"/>
              <a:t>In Reality both Kubernetes Nodes can act as workers, meaning that the load is distributed between both nodes via Ingress (usually NGINX), which acts as a Load Balancer and Reverse Proxy.</a:t>
            </a:r>
          </a:p>
          <a:p>
            <a:pPr marL="342900" indent="-342900" algn="just">
              <a:buFont typeface="+mj-lt"/>
              <a:buAutoNum type="arabicPeriod"/>
            </a:pPr>
            <a:r>
              <a:rPr lang="en-US" sz="1400" dirty="0"/>
              <a:t>Persistence is handled by NFS (Network File System), which means that there is only one single point where I store my data/information.</a:t>
            </a:r>
          </a:p>
          <a:p>
            <a:pPr marL="342900" indent="-342900" algn="just">
              <a:buFont typeface="+mj-lt"/>
              <a:buAutoNum type="arabicPeriod"/>
            </a:pPr>
            <a:r>
              <a:rPr lang="en-US" sz="1400" dirty="0"/>
              <a:t>The NAS (Network Attached Storage) contains some services specific to it (from Synology) and acts as a drive (via NFS) that both Linux Servers see as a local drive.</a:t>
            </a:r>
          </a:p>
        </p:txBody>
      </p:sp>
    </p:spTree>
    <p:extLst>
      <p:ext uri="{BB962C8B-B14F-4D97-AF65-F5344CB8AC3E}">
        <p14:creationId xmlns:p14="http://schemas.microsoft.com/office/powerpoint/2010/main" val="163218014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8478754" y="119072"/>
            <a:ext cx="3552383" cy="400110"/>
          </a:xfrm>
          <a:prstGeom prst="rect">
            <a:avLst/>
          </a:prstGeom>
        </p:spPr>
        <p:txBody>
          <a:bodyPr wrap="none">
            <a:spAutoFit/>
          </a:bodyPr>
          <a:lstStyle/>
          <a:p>
            <a:r>
              <a:rPr lang="en-US" sz="2000" b="1" dirty="0">
                <a:solidFill>
                  <a:srgbClr val="FFC000"/>
                </a:solidFill>
              </a:rPr>
              <a:t>Docker and </a:t>
            </a:r>
            <a:r>
              <a:rPr lang="en-US" sz="2000" b="1" dirty="0" smtClean="0">
                <a:solidFill>
                  <a:srgbClr val="FFC000"/>
                </a:solidFill>
              </a:rPr>
              <a:t>Kubernetes (</a:t>
            </a:r>
            <a:r>
              <a:rPr lang="en-US" sz="2000" b="1" dirty="0" err="1" smtClean="0">
                <a:solidFill>
                  <a:srgbClr val="FFC000"/>
                </a:solidFill>
              </a:rPr>
              <a:t>Cons’t</a:t>
            </a:r>
            <a:r>
              <a:rPr lang="en-US" sz="2000" b="1" dirty="0" smtClean="0">
                <a:solidFill>
                  <a:srgbClr val="FFC000"/>
                </a:solidFill>
              </a:rPr>
              <a:t>)</a:t>
            </a:r>
            <a:endParaRPr lang="en-US" sz="2000" dirty="0">
              <a:solidFill>
                <a:srgbClr val="FFC000"/>
              </a:solidFill>
            </a:endParaRPr>
          </a:p>
        </p:txBody>
      </p:sp>
      <p:sp>
        <p:nvSpPr>
          <p:cNvPr id="5" name="Rectangle 4"/>
          <p:cNvSpPr/>
          <p:nvPr/>
        </p:nvSpPr>
        <p:spPr>
          <a:xfrm>
            <a:off x="169333" y="519182"/>
            <a:ext cx="5410201" cy="646331"/>
          </a:xfrm>
          <a:prstGeom prst="rect">
            <a:avLst/>
          </a:prstGeom>
        </p:spPr>
        <p:txBody>
          <a:bodyPr wrap="square">
            <a:spAutoFit/>
          </a:bodyPr>
          <a:lstStyle/>
          <a:p>
            <a:r>
              <a:rPr lang="en-US" b="1" dirty="0" smtClean="0"/>
              <a:t>Kubernetes : Application Flow </a:t>
            </a:r>
            <a:endParaRPr lang="en-US" b="1" dirty="0"/>
          </a:p>
          <a:p>
            <a:r>
              <a:rPr lang="en-US" dirty="0"/>
              <a:t>H</a:t>
            </a:r>
            <a:r>
              <a:rPr lang="en-US" dirty="0" smtClean="0"/>
              <a:t>osted </a:t>
            </a:r>
            <a:r>
              <a:rPr lang="en-US" dirty="0"/>
              <a:t>app contained in the Kubernetes Cluster?</a:t>
            </a:r>
            <a:endParaRPr lang="en-US" sz="1200" dirty="0"/>
          </a:p>
        </p:txBody>
      </p:sp>
      <p:pic>
        <p:nvPicPr>
          <p:cNvPr id="4" name="Picture 3"/>
          <p:cNvPicPr>
            <a:picLocks noChangeAspect="1"/>
          </p:cNvPicPr>
          <p:nvPr/>
        </p:nvPicPr>
        <p:blipFill>
          <a:blip r:embed="rId3"/>
          <a:stretch>
            <a:fillRect/>
          </a:stretch>
        </p:blipFill>
        <p:spPr>
          <a:xfrm>
            <a:off x="355600" y="1471459"/>
            <a:ext cx="6546850" cy="4712386"/>
          </a:xfrm>
          <a:prstGeom prst="rect">
            <a:avLst/>
          </a:prstGeom>
        </p:spPr>
      </p:pic>
      <p:sp>
        <p:nvSpPr>
          <p:cNvPr id="8" name="Rectangle 7"/>
          <p:cNvSpPr/>
          <p:nvPr/>
        </p:nvSpPr>
        <p:spPr>
          <a:xfrm>
            <a:off x="6902450" y="1031463"/>
            <a:ext cx="5141383" cy="5632311"/>
          </a:xfrm>
          <a:prstGeom prst="rect">
            <a:avLst/>
          </a:prstGeom>
        </p:spPr>
        <p:txBody>
          <a:bodyPr wrap="square">
            <a:spAutoFit/>
          </a:bodyPr>
          <a:lstStyle/>
          <a:p>
            <a:pPr algn="just"/>
            <a:r>
              <a:rPr lang="en-US" dirty="0" smtClean="0"/>
              <a:t>The </a:t>
            </a:r>
            <a:r>
              <a:rPr lang="en-US" dirty="0"/>
              <a:t>flow:</a:t>
            </a:r>
          </a:p>
          <a:p>
            <a:pPr marL="342900" indent="-342900" algn="just">
              <a:buFont typeface="+mj-lt"/>
              <a:buAutoNum type="arabicPeriod"/>
            </a:pPr>
            <a:r>
              <a:rPr lang="en-US" b="1" dirty="0" smtClean="0"/>
              <a:t>A </a:t>
            </a:r>
            <a:r>
              <a:rPr lang="en-US" b="1" dirty="0"/>
              <a:t>request enters our Kubernetes cluster from the outside </a:t>
            </a:r>
            <a:r>
              <a:rPr lang="en-US" dirty="0"/>
              <a:t>(either from the Internet or LAN).</a:t>
            </a:r>
          </a:p>
          <a:p>
            <a:pPr marL="342900" indent="-342900" algn="just">
              <a:buFont typeface="+mj-lt"/>
              <a:buAutoNum type="arabicPeriod"/>
            </a:pPr>
            <a:r>
              <a:rPr lang="en-US" dirty="0"/>
              <a:t>As mentioned before, an Ingress has these main functions:</a:t>
            </a:r>
          </a:p>
          <a:p>
            <a:pPr algn="just"/>
            <a:r>
              <a:rPr lang="en-US" dirty="0" smtClean="0"/>
              <a:t>	a. Load </a:t>
            </a:r>
            <a:r>
              <a:rPr lang="en-US" dirty="0"/>
              <a:t>Balancer: when it is declared as </a:t>
            </a:r>
            <a:r>
              <a:rPr lang="en-US" dirty="0" smtClean="0"/>
              <a:t>	     </a:t>
            </a:r>
            <a:r>
              <a:rPr lang="en-US" dirty="0" err="1" smtClean="0"/>
              <a:t>Service.Type</a:t>
            </a:r>
            <a:r>
              <a:rPr lang="en-US" dirty="0" smtClean="0"/>
              <a:t>=</a:t>
            </a:r>
            <a:r>
              <a:rPr lang="en-US" dirty="0" err="1" smtClean="0"/>
              <a:t>LoadBalancer</a:t>
            </a:r>
            <a:r>
              <a:rPr lang="en-US" dirty="0"/>
              <a:t>.</a:t>
            </a:r>
          </a:p>
          <a:p>
            <a:pPr algn="just"/>
            <a:r>
              <a:rPr lang="en-US" dirty="0" smtClean="0"/>
              <a:t>	b. Reverse </a:t>
            </a:r>
            <a:r>
              <a:rPr lang="en-US" dirty="0"/>
              <a:t>Proxy: exposes HTTP and HTTPS </a:t>
            </a:r>
            <a:r>
              <a:rPr lang="en-US" dirty="0" smtClean="0"/>
              <a:t>	     routes </a:t>
            </a:r>
            <a:r>
              <a:rPr lang="en-US" dirty="0"/>
              <a:t>from outside the cluster to </a:t>
            </a:r>
            <a:r>
              <a:rPr lang="en-US" dirty="0" smtClean="0"/>
              <a:t>	   </a:t>
            </a:r>
          </a:p>
          <a:p>
            <a:pPr algn="just"/>
            <a:r>
              <a:rPr lang="en-US" dirty="0"/>
              <a:t> </a:t>
            </a:r>
            <a:r>
              <a:rPr lang="en-US" dirty="0" smtClean="0"/>
              <a:t>                     services within the cluster.</a:t>
            </a:r>
            <a:endParaRPr lang="en-US" dirty="0"/>
          </a:p>
          <a:p>
            <a:pPr marL="342900" indent="-342900" algn="just">
              <a:buFont typeface="+mj-lt"/>
              <a:buAutoNum type="arabicPeriod" startAt="3"/>
            </a:pPr>
            <a:r>
              <a:rPr lang="en-US" dirty="0"/>
              <a:t>A Service is a method for exposing a network application that is running as one or more Pods in our cluster (if we skip setting up a service, we are not </a:t>
            </a:r>
            <a:r>
              <a:rPr lang="en-US" dirty="0" err="1"/>
              <a:t>gonna</a:t>
            </a:r>
            <a:r>
              <a:rPr lang="en-US" dirty="0"/>
              <a:t> be able to reach our containerized apps).</a:t>
            </a:r>
          </a:p>
          <a:p>
            <a:pPr marL="342900" indent="-342900" algn="just">
              <a:buFont typeface="+mj-lt"/>
              <a:buAutoNum type="arabicPeriod" startAt="3"/>
            </a:pPr>
            <a:r>
              <a:rPr lang="en-US" dirty="0"/>
              <a:t>Pods are the smallest deployable units of computing that we can create and manage. Each of them is a group of one or more containers, with shared storage and network resources, and a specification for how to run the containers.</a:t>
            </a:r>
          </a:p>
        </p:txBody>
      </p:sp>
    </p:spTree>
    <p:extLst>
      <p:ext uri="{BB962C8B-B14F-4D97-AF65-F5344CB8AC3E}">
        <p14:creationId xmlns:p14="http://schemas.microsoft.com/office/powerpoint/2010/main" val="130323614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8478754" y="119072"/>
            <a:ext cx="3552383" cy="400110"/>
          </a:xfrm>
          <a:prstGeom prst="rect">
            <a:avLst/>
          </a:prstGeom>
        </p:spPr>
        <p:txBody>
          <a:bodyPr wrap="none">
            <a:spAutoFit/>
          </a:bodyPr>
          <a:lstStyle/>
          <a:p>
            <a:r>
              <a:rPr lang="en-US" sz="2000" b="1" dirty="0">
                <a:solidFill>
                  <a:srgbClr val="FFC000"/>
                </a:solidFill>
              </a:rPr>
              <a:t>Docker and </a:t>
            </a:r>
            <a:r>
              <a:rPr lang="en-US" sz="2000" b="1" dirty="0" smtClean="0">
                <a:solidFill>
                  <a:srgbClr val="FFC000"/>
                </a:solidFill>
              </a:rPr>
              <a:t>Kubernetes (</a:t>
            </a:r>
            <a:r>
              <a:rPr lang="en-US" sz="2000" b="1" dirty="0" err="1" smtClean="0">
                <a:solidFill>
                  <a:srgbClr val="FFC000"/>
                </a:solidFill>
              </a:rPr>
              <a:t>Cons’t</a:t>
            </a:r>
            <a:r>
              <a:rPr lang="en-US" sz="2000" b="1" dirty="0" smtClean="0">
                <a:solidFill>
                  <a:srgbClr val="FFC000"/>
                </a:solidFill>
              </a:rPr>
              <a:t>)</a:t>
            </a:r>
            <a:endParaRPr lang="en-US" sz="2000" dirty="0">
              <a:solidFill>
                <a:srgbClr val="FFC000"/>
              </a:solidFill>
            </a:endParaRPr>
          </a:p>
        </p:txBody>
      </p:sp>
      <p:sp>
        <p:nvSpPr>
          <p:cNvPr id="5" name="Rectangle 4"/>
          <p:cNvSpPr/>
          <p:nvPr/>
        </p:nvSpPr>
        <p:spPr>
          <a:xfrm>
            <a:off x="245533" y="519182"/>
            <a:ext cx="5410201" cy="553998"/>
          </a:xfrm>
          <a:prstGeom prst="rect">
            <a:avLst/>
          </a:prstGeom>
        </p:spPr>
        <p:txBody>
          <a:bodyPr wrap="square">
            <a:spAutoFit/>
          </a:bodyPr>
          <a:lstStyle/>
          <a:p>
            <a:r>
              <a:rPr lang="en-US" b="1" dirty="0" smtClean="0"/>
              <a:t>Kubernetes : Cluster </a:t>
            </a:r>
            <a:endParaRPr lang="en-US" b="1" dirty="0"/>
          </a:p>
          <a:p>
            <a:r>
              <a:rPr lang="en-US" sz="1200" dirty="0" smtClean="0"/>
              <a:t>Setup :</a:t>
            </a:r>
            <a:endParaRPr lang="en-US" sz="1200" dirty="0"/>
          </a:p>
        </p:txBody>
      </p:sp>
      <p:sp>
        <p:nvSpPr>
          <p:cNvPr id="6" name="Rectangle 5"/>
          <p:cNvSpPr/>
          <p:nvPr/>
        </p:nvSpPr>
        <p:spPr>
          <a:xfrm>
            <a:off x="245533" y="1236448"/>
            <a:ext cx="4419600" cy="2862322"/>
          </a:xfrm>
          <a:prstGeom prst="rect">
            <a:avLst/>
          </a:prstGeom>
        </p:spPr>
        <p:txBody>
          <a:bodyPr wrap="square">
            <a:spAutoFit/>
          </a:bodyPr>
          <a:lstStyle/>
          <a:p>
            <a:pPr algn="just"/>
            <a:r>
              <a:rPr lang="en-US" b="1" dirty="0"/>
              <a:t>A </a:t>
            </a:r>
            <a:r>
              <a:rPr lang="en-US" b="1" dirty="0">
                <a:hlinkClick r:id="rId3"/>
              </a:rPr>
              <a:t>LINUX SERVER</a:t>
            </a:r>
            <a:r>
              <a:rPr lang="en-US" b="1" dirty="0"/>
              <a:t> up and running</a:t>
            </a:r>
            <a:r>
              <a:rPr lang="en-US" dirty="0"/>
              <a:t> (if it is just for testing, we could also use a couple of </a:t>
            </a:r>
            <a:r>
              <a:rPr lang="en-US" dirty="0">
                <a:hlinkClick r:id="rId4"/>
              </a:rPr>
              <a:t>VMs</a:t>
            </a:r>
            <a:r>
              <a:rPr lang="en-US" dirty="0"/>
              <a:t>).</a:t>
            </a:r>
          </a:p>
          <a:p>
            <a:pPr algn="just"/>
            <a:r>
              <a:rPr lang="en-US" b="1" dirty="0"/>
              <a:t>SSH (or </a:t>
            </a:r>
            <a:r>
              <a:rPr lang="en-US" b="1" dirty="0">
                <a:hlinkClick r:id="rId5"/>
              </a:rPr>
              <a:t>alternative</a:t>
            </a:r>
            <a:r>
              <a:rPr lang="en-US" b="1" dirty="0"/>
              <a:t>/){: target=”_blank” }) </a:t>
            </a:r>
            <a:r>
              <a:rPr lang="en-US" b="1" dirty="0">
                <a:hlinkClick r:id="rId6"/>
              </a:rPr>
              <a:t>properly configure</a:t>
            </a:r>
            <a:r>
              <a:rPr lang="en-US" dirty="0"/>
              <a:t> in our </a:t>
            </a:r>
            <a:r>
              <a:rPr lang="en-US" dirty="0">
                <a:hlinkClick r:id="rId7"/>
              </a:rPr>
              <a:t>headless server</a:t>
            </a:r>
            <a:r>
              <a:rPr lang="en-US" dirty="0"/>
              <a:t> in order to manage it.</a:t>
            </a:r>
          </a:p>
          <a:p>
            <a:pPr algn="just"/>
            <a:r>
              <a:rPr lang="en-US" b="1" dirty="0"/>
              <a:t>OPTIONAL: NFS up and running</a:t>
            </a:r>
            <a:r>
              <a:rPr lang="en-US" dirty="0"/>
              <a:t> in our server, in case we want to </a:t>
            </a:r>
            <a:r>
              <a:rPr lang="en-US" b="1" dirty="0"/>
              <a:t>store our data/information in an external network drive</a:t>
            </a:r>
            <a:r>
              <a:rPr lang="en-US" dirty="0"/>
              <a:t> outside of our Linux Server.</a:t>
            </a:r>
          </a:p>
        </p:txBody>
      </p:sp>
      <p:sp>
        <p:nvSpPr>
          <p:cNvPr id="8" name="Rectangle 2"/>
          <p:cNvSpPr>
            <a:spLocks noChangeArrowheads="1"/>
          </p:cNvSpPr>
          <p:nvPr/>
        </p:nvSpPr>
        <p:spPr bwMode="auto">
          <a:xfrm>
            <a:off x="4944534" y="959449"/>
            <a:ext cx="7086603" cy="267765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smtClean="0">
                <a:ln>
                  <a:noFill/>
                </a:ln>
                <a:solidFill>
                  <a:srgbClr val="333333"/>
                </a:solidFill>
                <a:effectLst/>
                <a:latin typeface="Noto Sans"/>
              </a:rPr>
              <a:t>1.</a:t>
            </a:r>
            <a:r>
              <a:rPr kumimoji="0" lang="en-US" altLang="en-US" sz="1200" b="0" i="0" u="none" strike="noStrike" cap="none" normalizeH="0" baseline="0" dirty="0" smtClean="0">
                <a:ln>
                  <a:noFill/>
                </a:ln>
                <a:solidFill>
                  <a:srgbClr val="333333"/>
                </a:solidFill>
                <a:effectLst/>
                <a:latin typeface="Noto Sans"/>
              </a:rPr>
              <a:t> </a:t>
            </a:r>
            <a:r>
              <a:rPr kumimoji="0" lang="en-US" altLang="en-US" sz="1200" b="0" i="0" u="none" strike="noStrike" cap="none" normalizeH="0" baseline="0" dirty="0" smtClean="0">
                <a:ln>
                  <a:noFill/>
                </a:ln>
                <a:solidFill>
                  <a:srgbClr val="333333"/>
                </a:solidFill>
                <a:effectLst/>
                <a:latin typeface="Noto Sans"/>
                <a:hlinkClick r:id="rId8"/>
              </a:rPr>
              <a:t>Install </a:t>
            </a:r>
            <a:r>
              <a:rPr kumimoji="0" lang="en-US" altLang="en-US" sz="1000" b="0" i="0" u="none" strike="noStrike" cap="none" normalizeH="0" baseline="0" dirty="0" smtClean="0">
                <a:ln>
                  <a:noFill/>
                </a:ln>
                <a:solidFill>
                  <a:srgbClr val="333333"/>
                </a:solidFill>
                <a:effectLst/>
                <a:latin typeface="Fira Code"/>
                <a:hlinkClick r:id="rId8"/>
              </a:rPr>
              <a:t>k3s</a:t>
            </a:r>
            <a:r>
              <a:rPr kumimoji="0" lang="en-US" altLang="en-US" sz="1200" b="0" i="0" u="none" strike="noStrike" cap="none" normalizeH="0" baseline="0" dirty="0" smtClean="0">
                <a:ln>
                  <a:noFill/>
                </a:ln>
                <a:solidFill>
                  <a:srgbClr val="333333"/>
                </a:solidFill>
                <a:effectLst/>
                <a:latin typeface="Noto Sans"/>
                <a:hlinkClick r:id="rId8"/>
              </a:rPr>
              <a:t> MASTER and WORKER nodes</a:t>
            </a:r>
            <a:r>
              <a:rPr kumimoji="0" lang="en-US" altLang="en-US" sz="1200" b="0" i="0" u="none" strike="noStrike" cap="none" normalizeH="0" baseline="0" dirty="0" smtClean="0">
                <a:ln>
                  <a:noFill/>
                </a:ln>
                <a:solidFill>
                  <a:srgbClr val="333333"/>
                </a:solidFill>
                <a:effectLst/>
                <a:latin typeface="Noto Sans"/>
              </a:rPr>
              <a:t>.</a:t>
            </a:r>
            <a:endParaRPr kumimoji="0" lang="en-US" altLang="en-US" sz="800" b="0" i="0" u="none" strike="noStrike" cap="none" normalizeH="0" baseline="0" dirty="0" smtClean="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smtClean="0">
                <a:ln>
                  <a:noFill/>
                </a:ln>
                <a:solidFill>
                  <a:srgbClr val="333333"/>
                </a:solidFill>
                <a:effectLst/>
                <a:latin typeface="Noto Sans"/>
              </a:rPr>
              <a:t>2.</a:t>
            </a:r>
            <a:r>
              <a:rPr kumimoji="0" lang="en-US" altLang="en-US" sz="1200" b="0" i="0" u="none" strike="noStrike" cap="none" normalizeH="0" baseline="0" dirty="0" smtClean="0">
                <a:ln>
                  <a:noFill/>
                </a:ln>
                <a:solidFill>
                  <a:srgbClr val="333333"/>
                </a:solidFill>
                <a:effectLst/>
                <a:latin typeface="Noto Sans"/>
              </a:rPr>
              <a:t> </a:t>
            </a:r>
            <a:r>
              <a:rPr kumimoji="0" lang="en-US" altLang="en-US" sz="1200" b="0" i="0" u="none" strike="noStrike" cap="none" normalizeH="0" baseline="0" dirty="0" smtClean="0">
                <a:ln>
                  <a:noFill/>
                </a:ln>
                <a:solidFill>
                  <a:srgbClr val="333333"/>
                </a:solidFill>
                <a:effectLst/>
                <a:latin typeface="Noto Sans"/>
                <a:hlinkClick r:id="rId9"/>
              </a:rPr>
              <a:t>Install </a:t>
            </a:r>
            <a:r>
              <a:rPr kumimoji="0" lang="en-US" altLang="en-US" sz="1000" b="0" i="0" u="none" strike="noStrike" cap="none" normalizeH="0" baseline="0" dirty="0" err="1" smtClean="0">
                <a:ln>
                  <a:noFill/>
                </a:ln>
                <a:solidFill>
                  <a:srgbClr val="333333"/>
                </a:solidFill>
                <a:effectLst/>
                <a:latin typeface="Fira Code"/>
                <a:hlinkClick r:id="rId9"/>
              </a:rPr>
              <a:t>kubectl</a:t>
            </a:r>
            <a:r>
              <a:rPr kumimoji="0" lang="en-US" altLang="en-US" sz="1200" b="0" i="0" u="none" strike="noStrike" cap="none" normalizeH="0" baseline="0" dirty="0" smtClean="0">
                <a:ln>
                  <a:noFill/>
                </a:ln>
                <a:solidFill>
                  <a:srgbClr val="333333"/>
                </a:solidFill>
                <a:effectLst/>
                <a:latin typeface="Noto Sans"/>
              </a:rPr>
              <a:t> (if not </a:t>
            </a:r>
            <a:r>
              <a:rPr kumimoji="0" lang="en-US" altLang="en-US" sz="1200" b="0" i="0" u="none" strike="noStrike" cap="none" normalizeH="0" baseline="0" dirty="0" smtClean="0">
                <a:ln>
                  <a:noFill/>
                </a:ln>
                <a:solidFill>
                  <a:srgbClr val="333333"/>
                </a:solidFill>
                <a:effectLst/>
                <a:latin typeface="Noto Sans"/>
                <a:hlinkClick r:id="rId10"/>
              </a:rPr>
              <a:t>already installed</a:t>
            </a:r>
            <a:r>
              <a:rPr kumimoji="0" lang="en-US" altLang="en-US" sz="1200" b="0" i="0" u="none" strike="noStrike" cap="none" normalizeH="0" baseline="0" dirty="0" smtClean="0">
                <a:ln>
                  <a:noFill/>
                </a:ln>
                <a:solidFill>
                  <a:srgbClr val="333333"/>
                </a:solidFill>
                <a:effectLst/>
                <a:latin typeface="Noto Sans"/>
              </a:rPr>
              <a:t> after </a:t>
            </a:r>
            <a:r>
              <a:rPr kumimoji="0" lang="en-US" altLang="en-US" sz="1200" b="1" i="0" u="none" strike="noStrike" cap="none" normalizeH="0" baseline="0" dirty="0" smtClean="0">
                <a:ln>
                  <a:noFill/>
                </a:ln>
                <a:solidFill>
                  <a:srgbClr val="333333"/>
                </a:solidFill>
                <a:effectLst/>
                <a:latin typeface="Noto Sans"/>
              </a:rPr>
              <a:t>Step 1</a:t>
            </a:r>
            <a:r>
              <a:rPr kumimoji="0" lang="en-US" altLang="en-US" sz="1200" b="0" i="0" u="none" strike="noStrike" cap="none" normalizeH="0" baseline="0" dirty="0" smtClean="0">
                <a:ln>
                  <a:noFill/>
                </a:ln>
                <a:solidFill>
                  <a:srgbClr val="333333"/>
                </a:solidFill>
                <a:effectLst/>
                <a:latin typeface="Noto Sans"/>
              </a:rPr>
              <a:t>) in order to </a:t>
            </a:r>
            <a:r>
              <a:rPr kumimoji="0" lang="en-US" altLang="en-US" sz="1200" b="0" i="0" u="none" strike="noStrike" cap="none" normalizeH="0" baseline="0" dirty="0" smtClean="0">
                <a:ln>
                  <a:noFill/>
                </a:ln>
                <a:solidFill>
                  <a:srgbClr val="333333"/>
                </a:solidFill>
                <a:effectLst/>
                <a:latin typeface="Noto Sans"/>
                <a:hlinkClick r:id="rId9"/>
              </a:rPr>
              <a:t>connect remotely to the cluster</a:t>
            </a:r>
            <a:r>
              <a:rPr kumimoji="0" lang="en-US" altLang="en-US" sz="1200" b="0" i="0" u="none" strike="noStrike" cap="none" normalizeH="0" baseline="0" dirty="0" smtClean="0">
                <a:ln>
                  <a:noFill/>
                </a:ln>
                <a:solidFill>
                  <a:srgbClr val="333333"/>
                </a:solidFill>
                <a:effectLst/>
                <a:latin typeface="Noto Sans"/>
              </a:rPr>
              <a:t>.</a:t>
            </a:r>
            <a:endParaRPr kumimoji="0" lang="en-US" altLang="en-US" sz="800" b="0" i="0" u="none" strike="noStrike" cap="none" normalizeH="0" baseline="0" dirty="0" smtClean="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smtClean="0">
                <a:ln>
                  <a:noFill/>
                </a:ln>
                <a:solidFill>
                  <a:srgbClr val="333333"/>
                </a:solidFill>
                <a:effectLst/>
                <a:latin typeface="Noto Sans"/>
              </a:rPr>
              <a:t>3.</a:t>
            </a:r>
            <a:r>
              <a:rPr kumimoji="0" lang="en-US" altLang="en-US" sz="1200" b="0" i="0" u="none" strike="noStrike" cap="none" normalizeH="0" baseline="0" dirty="0" smtClean="0">
                <a:ln>
                  <a:noFill/>
                </a:ln>
                <a:solidFill>
                  <a:srgbClr val="333333"/>
                </a:solidFill>
                <a:effectLst/>
                <a:latin typeface="Noto Sans"/>
              </a:rPr>
              <a:t> </a:t>
            </a:r>
            <a:r>
              <a:rPr kumimoji="0" lang="en-US" altLang="en-US" sz="1200" b="0" i="0" u="none" strike="noStrike" cap="none" normalizeH="0" baseline="0" dirty="0" smtClean="0">
                <a:ln>
                  <a:noFill/>
                </a:ln>
                <a:solidFill>
                  <a:srgbClr val="333333"/>
                </a:solidFill>
                <a:effectLst/>
                <a:latin typeface="Noto Sans"/>
                <a:hlinkClick r:id="rId11"/>
              </a:rPr>
              <a:t>Install Helm if necessary</a:t>
            </a:r>
            <a:r>
              <a:rPr kumimoji="0" lang="en-US" altLang="en-US" sz="1200" b="0" i="0" u="none" strike="noStrike" cap="none" normalizeH="0" baseline="0" dirty="0" smtClean="0">
                <a:ln>
                  <a:noFill/>
                </a:ln>
                <a:solidFill>
                  <a:srgbClr val="333333"/>
                </a:solidFill>
                <a:effectLst/>
                <a:latin typeface="Noto Sans"/>
              </a:rPr>
              <a:t>, </a:t>
            </a:r>
            <a:r>
              <a:rPr kumimoji="0" lang="en-US" altLang="en-US" sz="1200" b="1" i="0" u="none" strike="noStrike" cap="none" normalizeH="0" baseline="0" dirty="0" smtClean="0">
                <a:ln>
                  <a:noFill/>
                </a:ln>
                <a:solidFill>
                  <a:srgbClr val="333333"/>
                </a:solidFill>
                <a:effectLst/>
                <a:latin typeface="Noto Sans"/>
              </a:rPr>
              <a:t>a package manager for Kubernetes</a:t>
            </a:r>
            <a:r>
              <a:rPr kumimoji="0" lang="en-US" altLang="en-US" sz="1200" b="0" i="0" u="none" strike="noStrike" cap="none" normalizeH="0" baseline="0" dirty="0" smtClean="0">
                <a:ln>
                  <a:noFill/>
                </a:ln>
                <a:solidFill>
                  <a:srgbClr val="333333"/>
                </a:solidFill>
                <a:effectLst/>
                <a:latin typeface="Noto Sans"/>
              </a:rPr>
              <a:t>, which will facilitate actually installing packages in our cluster.</a:t>
            </a:r>
            <a:endParaRPr kumimoji="0" lang="en-US" altLang="en-US" sz="800" b="0" i="0" u="none" strike="noStrike" cap="none" normalizeH="0" baseline="0" dirty="0" smtClean="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smtClean="0">
                <a:ln>
                  <a:noFill/>
                </a:ln>
                <a:solidFill>
                  <a:srgbClr val="333333"/>
                </a:solidFill>
                <a:effectLst/>
                <a:latin typeface="Noto Sans"/>
              </a:rPr>
              <a:t>4.</a:t>
            </a:r>
            <a:r>
              <a:rPr kumimoji="0" lang="en-US" altLang="en-US" sz="1200" b="0" i="0" u="none" strike="noStrike" cap="none" normalizeH="0" baseline="0" dirty="0" smtClean="0">
                <a:ln>
                  <a:noFill/>
                </a:ln>
                <a:solidFill>
                  <a:srgbClr val="333333"/>
                </a:solidFill>
                <a:effectLst/>
                <a:latin typeface="Noto Sans"/>
              </a:rPr>
              <a:t> </a:t>
            </a:r>
            <a:r>
              <a:rPr kumimoji="0" lang="en-US" altLang="en-US" sz="1200" b="0" i="0" u="none" strike="noStrike" cap="none" normalizeH="0" baseline="0" dirty="0" smtClean="0">
                <a:ln>
                  <a:noFill/>
                </a:ln>
                <a:solidFill>
                  <a:srgbClr val="333333"/>
                </a:solidFill>
                <a:effectLst/>
                <a:latin typeface="Noto Sans"/>
                <a:hlinkClick r:id="rId12"/>
              </a:rPr>
              <a:t>Setup a Load Balancer</a:t>
            </a:r>
            <a:r>
              <a:rPr kumimoji="0" lang="en-US" altLang="en-US" sz="1200" b="0" i="0" u="none" strike="noStrike" cap="none" normalizeH="0" baseline="0" dirty="0" smtClean="0">
                <a:ln>
                  <a:noFill/>
                </a:ln>
                <a:solidFill>
                  <a:srgbClr val="333333"/>
                </a:solidFill>
                <a:effectLst/>
                <a:latin typeface="Noto Sans"/>
              </a:rPr>
              <a:t>. </a:t>
            </a:r>
            <a:r>
              <a:rPr kumimoji="0" lang="en-US" altLang="en-US" sz="1000" b="0" i="0" u="none" strike="noStrike" cap="none" normalizeH="0" baseline="0" dirty="0" smtClean="0">
                <a:ln>
                  <a:noFill/>
                </a:ln>
                <a:solidFill>
                  <a:srgbClr val="333333"/>
                </a:solidFill>
                <a:effectLst/>
                <a:latin typeface="Fira Code"/>
              </a:rPr>
              <a:t>k3s</a:t>
            </a:r>
            <a:r>
              <a:rPr kumimoji="0" lang="en-US" altLang="en-US" sz="1200" b="0" i="0" u="none" strike="noStrike" cap="none" normalizeH="0" baseline="0" dirty="0" smtClean="0">
                <a:ln>
                  <a:noFill/>
                </a:ln>
                <a:solidFill>
                  <a:srgbClr val="333333"/>
                </a:solidFill>
                <a:effectLst/>
                <a:latin typeface="Noto Sans"/>
              </a:rPr>
              <a:t> already comes with </a:t>
            </a:r>
            <a:r>
              <a:rPr kumimoji="0" lang="en-US" altLang="en-US" sz="1000" b="0" i="0" u="none" strike="noStrike" cap="none" normalizeH="0" baseline="0" dirty="0" err="1" smtClean="0">
                <a:ln>
                  <a:noFill/>
                </a:ln>
                <a:solidFill>
                  <a:srgbClr val="333333"/>
                </a:solidFill>
                <a:effectLst/>
                <a:latin typeface="Fira Code"/>
              </a:rPr>
              <a:t>ServiceLB</a:t>
            </a:r>
            <a:r>
              <a:rPr kumimoji="0" lang="en-US" altLang="en-US" sz="1200" b="0" i="0" u="none" strike="noStrike" cap="none" normalizeH="0" baseline="0" dirty="0" smtClean="0">
                <a:ln>
                  <a:noFill/>
                </a:ln>
                <a:solidFill>
                  <a:srgbClr val="333333"/>
                </a:solidFill>
                <a:effectLst/>
                <a:latin typeface="Noto Sans"/>
              </a:rPr>
              <a:t>, but I found </a:t>
            </a:r>
            <a:r>
              <a:rPr kumimoji="0" lang="en-US" altLang="en-US" sz="1200" b="0" i="0" u="none" strike="noStrike" cap="none" normalizeH="0" baseline="0" dirty="0" err="1" smtClean="0">
                <a:ln>
                  <a:noFill/>
                </a:ln>
                <a:solidFill>
                  <a:srgbClr val="333333"/>
                </a:solidFill>
                <a:effectLst/>
                <a:latin typeface="Noto Sans"/>
                <a:hlinkClick r:id="rId13"/>
              </a:rPr>
              <a:t>MetalLB</a:t>
            </a:r>
            <a:r>
              <a:rPr kumimoji="0" lang="en-US" altLang="en-US" sz="1200" b="0" i="0" u="none" strike="noStrike" cap="none" normalizeH="0" baseline="0" dirty="0" smtClean="0">
                <a:ln>
                  <a:noFill/>
                </a:ln>
                <a:solidFill>
                  <a:srgbClr val="333333"/>
                </a:solidFill>
                <a:effectLst/>
                <a:latin typeface="Noto Sans"/>
              </a:rPr>
              <a:t> the </a:t>
            </a:r>
            <a:r>
              <a:rPr kumimoji="0" lang="en-US" altLang="en-US" sz="1200" b="1" i="0" u="none" strike="noStrike" cap="none" normalizeH="0" baseline="0" dirty="0" smtClean="0">
                <a:ln>
                  <a:noFill/>
                </a:ln>
                <a:solidFill>
                  <a:srgbClr val="333333"/>
                </a:solidFill>
                <a:effectLst/>
                <a:latin typeface="Noto Sans"/>
              </a:rPr>
              <a:t>right option for bare metal,</a:t>
            </a:r>
            <a:r>
              <a:rPr kumimoji="0" lang="en-US" altLang="en-US" sz="1200" b="0" i="0" u="none" strike="noStrike" cap="none" normalizeH="0" baseline="0" dirty="0" smtClean="0">
                <a:ln>
                  <a:noFill/>
                </a:ln>
                <a:solidFill>
                  <a:srgbClr val="333333"/>
                </a:solidFill>
                <a:effectLst/>
                <a:latin typeface="Noto Sans"/>
              </a:rPr>
              <a:t> because it makes the setup easier on </a:t>
            </a:r>
            <a:r>
              <a:rPr kumimoji="0" lang="en-US" altLang="en-US" sz="1200" b="1" i="0" u="none" strike="noStrike" cap="none" normalizeH="0" baseline="0" dirty="0" smtClean="0">
                <a:ln>
                  <a:noFill/>
                </a:ln>
                <a:solidFill>
                  <a:srgbClr val="333333"/>
                </a:solidFill>
                <a:effectLst/>
                <a:latin typeface="Noto Sans"/>
              </a:rPr>
              <a:t>clusters that are not running on cloud providers</a:t>
            </a:r>
            <a:r>
              <a:rPr kumimoji="0" lang="en-US" altLang="en-US" sz="1200" b="0" i="0" u="none" strike="noStrike" cap="none" normalizeH="0" baseline="0" dirty="0" smtClean="0">
                <a:ln>
                  <a:noFill/>
                </a:ln>
                <a:solidFill>
                  <a:srgbClr val="333333"/>
                </a:solidFill>
                <a:effectLst/>
                <a:latin typeface="Noto Sans"/>
              </a:rPr>
              <a:t> (we have to disable </a:t>
            </a:r>
            <a:r>
              <a:rPr kumimoji="0" lang="en-US" altLang="en-US" sz="1000" b="0" i="0" u="none" strike="noStrike" cap="none" normalizeH="0" baseline="0" dirty="0" err="1" smtClean="0">
                <a:ln>
                  <a:noFill/>
                </a:ln>
                <a:solidFill>
                  <a:srgbClr val="333333"/>
                </a:solidFill>
                <a:effectLst/>
                <a:latin typeface="Fira Code"/>
                <a:hlinkClick r:id="rId14"/>
              </a:rPr>
              <a:t>ServiceLB</a:t>
            </a:r>
            <a:r>
              <a:rPr kumimoji="0" lang="en-US" altLang="en-US" sz="1200" b="0" i="0" u="none" strike="noStrike" cap="none" normalizeH="0" baseline="0" dirty="0" smtClean="0">
                <a:ln>
                  <a:noFill/>
                </a:ln>
                <a:solidFill>
                  <a:srgbClr val="333333"/>
                </a:solidFill>
                <a:effectLst/>
                <a:latin typeface="Noto Sans"/>
              </a:rPr>
              <a:t> though){: target=”_blank” }.</a:t>
            </a:r>
            <a:endParaRPr kumimoji="0" lang="en-US" altLang="en-US" sz="800" b="0" i="0" u="none" strike="noStrike" cap="none" normalizeH="0" baseline="0" dirty="0" smtClean="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smtClean="0">
                <a:ln>
                  <a:noFill/>
                </a:ln>
                <a:solidFill>
                  <a:srgbClr val="333333"/>
                </a:solidFill>
                <a:effectLst/>
                <a:latin typeface="Noto Sans"/>
              </a:rPr>
              <a:t>5.</a:t>
            </a:r>
            <a:r>
              <a:rPr kumimoji="0" lang="en-US" altLang="en-US" sz="1200" b="0" i="0" u="none" strike="noStrike" cap="none" normalizeH="0" baseline="0" dirty="0" smtClean="0">
                <a:ln>
                  <a:noFill/>
                </a:ln>
                <a:solidFill>
                  <a:srgbClr val="333333"/>
                </a:solidFill>
                <a:effectLst/>
                <a:latin typeface="Noto Sans"/>
              </a:rPr>
              <a:t> </a:t>
            </a:r>
            <a:r>
              <a:rPr kumimoji="0" lang="en-US" altLang="en-US" sz="1200" b="0" i="0" u="none" strike="noStrike" cap="none" normalizeH="0" baseline="0" dirty="0" smtClean="0">
                <a:ln>
                  <a:noFill/>
                </a:ln>
                <a:solidFill>
                  <a:srgbClr val="333333"/>
                </a:solidFill>
                <a:effectLst/>
                <a:latin typeface="Noto Sans"/>
                <a:hlinkClick r:id="rId15"/>
              </a:rPr>
              <a:t>Install Nginx Web/Reverse Proxy</a:t>
            </a:r>
            <a:r>
              <a:rPr kumimoji="0" lang="en-US" altLang="en-US" sz="1200" b="0" i="0" u="none" strike="noStrike" cap="none" normalizeH="0" baseline="0" dirty="0" smtClean="0">
                <a:ln>
                  <a:noFill/>
                </a:ln>
                <a:solidFill>
                  <a:srgbClr val="333333"/>
                </a:solidFill>
                <a:effectLst/>
                <a:latin typeface="Noto Sans"/>
              </a:rPr>
              <a:t>, which is our </a:t>
            </a:r>
            <a:r>
              <a:rPr kumimoji="0" lang="en-US" altLang="en-US" sz="1200" b="0" i="0" u="none" strike="noStrike" cap="none" normalizeH="0" baseline="0" dirty="0" smtClean="0">
                <a:ln>
                  <a:noFill/>
                </a:ln>
                <a:solidFill>
                  <a:srgbClr val="333333"/>
                </a:solidFill>
                <a:effectLst/>
                <a:latin typeface="Noto Sans"/>
                <a:hlinkClick r:id="rId16"/>
              </a:rPr>
              <a:t>Ingress</a:t>
            </a:r>
            <a:r>
              <a:rPr kumimoji="0" lang="en-US" altLang="en-US" sz="1200" b="0" i="0" u="none" strike="noStrike" cap="none" normalizeH="0" baseline="0" dirty="0" smtClean="0">
                <a:ln>
                  <a:noFill/>
                </a:ln>
                <a:solidFill>
                  <a:srgbClr val="333333"/>
                </a:solidFill>
                <a:effectLst/>
                <a:latin typeface="Noto Sans"/>
              </a:rPr>
              <a:t>, in order to </a:t>
            </a:r>
            <a:r>
              <a:rPr kumimoji="0" lang="en-US" altLang="en-US" sz="1200" b="1" i="0" u="none" strike="noStrike" cap="none" normalizeH="0" baseline="0" dirty="0" smtClean="0">
                <a:ln>
                  <a:noFill/>
                </a:ln>
                <a:solidFill>
                  <a:srgbClr val="333333"/>
                </a:solidFill>
                <a:effectLst/>
                <a:latin typeface="Noto Sans"/>
              </a:rPr>
              <a:t>expose HTTP and HTTPS routes</a:t>
            </a:r>
            <a:r>
              <a:rPr kumimoji="0" lang="en-US" altLang="en-US" sz="1200" b="0" i="0" u="none" strike="noStrike" cap="none" normalizeH="0" baseline="0" dirty="0" smtClean="0">
                <a:ln>
                  <a:noFill/>
                </a:ln>
                <a:solidFill>
                  <a:srgbClr val="333333"/>
                </a:solidFill>
                <a:effectLst/>
                <a:latin typeface="Noto Sans"/>
              </a:rPr>
              <a:t> from outside the cluster to services within the cluster. </a:t>
            </a:r>
            <a:r>
              <a:rPr kumimoji="0" lang="en-US" altLang="en-US" sz="1000" b="0" i="0" u="none" strike="noStrike" cap="none" normalizeH="0" baseline="0" dirty="0" smtClean="0">
                <a:ln>
                  <a:noFill/>
                </a:ln>
                <a:solidFill>
                  <a:srgbClr val="333333"/>
                </a:solidFill>
                <a:effectLst/>
                <a:latin typeface="Fira Code"/>
              </a:rPr>
              <a:t>k3s</a:t>
            </a:r>
            <a:r>
              <a:rPr kumimoji="0" lang="en-US" altLang="en-US" sz="1200" b="0" i="0" u="none" strike="noStrike" cap="none" normalizeH="0" baseline="0" dirty="0" smtClean="0">
                <a:ln>
                  <a:noFill/>
                </a:ln>
                <a:solidFill>
                  <a:srgbClr val="333333"/>
                </a:solidFill>
                <a:effectLst/>
                <a:latin typeface="Noto Sans"/>
              </a:rPr>
              <a:t> recommends another option too: </a:t>
            </a:r>
            <a:r>
              <a:rPr kumimoji="0" lang="en-US" altLang="en-US" sz="1200" b="0" i="0" u="none" strike="noStrike" cap="none" normalizeH="0" baseline="0" dirty="0" err="1" smtClean="0">
                <a:ln>
                  <a:noFill/>
                </a:ln>
                <a:solidFill>
                  <a:srgbClr val="333333"/>
                </a:solidFill>
                <a:effectLst/>
                <a:latin typeface="Noto Sans"/>
                <a:hlinkClick r:id="rId17"/>
              </a:rPr>
              <a:t>Traefik</a:t>
            </a:r>
            <a:r>
              <a:rPr kumimoji="0" lang="en-US" altLang="en-US" sz="1200" b="0" i="0" u="none" strike="noStrike" cap="none" normalizeH="0" baseline="0" dirty="0" smtClean="0">
                <a:ln>
                  <a:noFill/>
                </a:ln>
                <a:solidFill>
                  <a:srgbClr val="333333"/>
                </a:solidFill>
                <a:effectLst/>
                <a:latin typeface="Noto Sans"/>
              </a:rPr>
              <a:t>, so up to you.</a:t>
            </a:r>
            <a:endParaRPr kumimoji="0" lang="en-US" altLang="en-US" sz="800" b="0" i="0" u="none" strike="noStrike" cap="none" normalizeH="0" baseline="0" dirty="0" smtClean="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smtClean="0">
                <a:ln>
                  <a:noFill/>
                </a:ln>
                <a:solidFill>
                  <a:srgbClr val="333333"/>
                </a:solidFill>
                <a:effectLst/>
                <a:latin typeface="Noto Sans"/>
              </a:rPr>
              <a:t>6.</a:t>
            </a:r>
            <a:r>
              <a:rPr kumimoji="0" lang="en-US" altLang="en-US" sz="1200" b="0" i="0" u="none" strike="noStrike" cap="none" normalizeH="0" baseline="0" dirty="0" smtClean="0">
                <a:ln>
                  <a:noFill/>
                </a:ln>
                <a:solidFill>
                  <a:srgbClr val="333333"/>
                </a:solidFill>
                <a:effectLst/>
                <a:latin typeface="Noto Sans"/>
              </a:rPr>
              <a:t> </a:t>
            </a:r>
            <a:r>
              <a:rPr kumimoji="0" lang="en-US" altLang="en-US" sz="1200" b="0" i="0" u="none" strike="noStrike" cap="none" normalizeH="0" baseline="0" dirty="0" smtClean="0">
                <a:ln>
                  <a:noFill/>
                </a:ln>
                <a:solidFill>
                  <a:srgbClr val="333333"/>
                </a:solidFill>
                <a:effectLst/>
                <a:latin typeface="Noto Sans"/>
                <a:hlinkClick r:id="rId18"/>
              </a:rPr>
              <a:t>Install</a:t>
            </a:r>
            <a:r>
              <a:rPr kumimoji="0" lang="en-US" altLang="en-US" sz="1200" b="0" i="0" u="none" strike="noStrike" cap="none" normalizeH="0" baseline="0" dirty="0" smtClean="0">
                <a:ln>
                  <a:noFill/>
                </a:ln>
                <a:solidFill>
                  <a:srgbClr val="333333"/>
                </a:solidFill>
                <a:effectLst/>
                <a:latin typeface="Noto Sans"/>
              </a:rPr>
              <a:t> and </a:t>
            </a:r>
            <a:r>
              <a:rPr kumimoji="0" lang="en-US" altLang="en-US" sz="1200" b="0" i="0" u="none" strike="noStrike" cap="none" normalizeH="0" baseline="0" dirty="0" smtClean="0">
                <a:ln>
                  <a:noFill/>
                </a:ln>
                <a:solidFill>
                  <a:srgbClr val="333333"/>
                </a:solidFill>
                <a:effectLst/>
                <a:latin typeface="Noto Sans"/>
                <a:hlinkClick r:id="rId19"/>
              </a:rPr>
              <a:t>configure cert-manager</a:t>
            </a:r>
            <a:r>
              <a:rPr kumimoji="0" lang="en-US" altLang="en-US" sz="1200" b="0" i="0" u="none" strike="noStrike" cap="none" normalizeH="0" baseline="0" dirty="0" smtClean="0">
                <a:ln>
                  <a:noFill/>
                </a:ln>
                <a:solidFill>
                  <a:srgbClr val="333333"/>
                </a:solidFill>
                <a:effectLst/>
                <a:latin typeface="Noto Sans"/>
              </a:rPr>
              <a:t>. I would label this as </a:t>
            </a:r>
            <a:r>
              <a:rPr kumimoji="0" lang="en-US" altLang="en-US" sz="1200" b="1" i="0" u="none" strike="noStrike" cap="none" normalizeH="0" baseline="0" dirty="0" smtClean="0">
                <a:ln>
                  <a:noFill/>
                </a:ln>
                <a:solidFill>
                  <a:srgbClr val="333333"/>
                </a:solidFill>
                <a:effectLst/>
                <a:latin typeface="Noto Sans"/>
              </a:rPr>
              <a:t>OPTIONAL</a:t>
            </a:r>
            <a:r>
              <a:rPr kumimoji="0" lang="en-US" altLang="en-US" sz="1200" b="0" i="0" u="none" strike="noStrike" cap="none" normalizeH="0" baseline="0" dirty="0" smtClean="0">
                <a:ln>
                  <a:noFill/>
                </a:ln>
                <a:solidFill>
                  <a:srgbClr val="333333"/>
                </a:solidFill>
                <a:effectLst/>
                <a:latin typeface="Noto Sans"/>
              </a:rPr>
              <a:t> but I guess we want to be able to have </a:t>
            </a:r>
            <a:r>
              <a:rPr kumimoji="0" lang="en-US" altLang="en-US" sz="1200" b="0" i="0" u="none" strike="noStrike" cap="none" normalizeH="0" baseline="0" dirty="0" smtClean="0">
                <a:ln>
                  <a:noFill/>
                </a:ln>
                <a:solidFill>
                  <a:srgbClr val="333333"/>
                </a:solidFill>
                <a:effectLst/>
                <a:latin typeface="Noto Sans"/>
                <a:hlinkClick r:id="rId20"/>
              </a:rPr>
              <a:t>valid SSL/TSL Certificates</a:t>
            </a:r>
            <a:r>
              <a:rPr kumimoji="0" lang="en-US" altLang="en-US" sz="1200" b="0" i="0" u="none" strike="noStrike" cap="none" normalizeH="0" baseline="0" dirty="0" smtClean="0">
                <a:ln>
                  <a:noFill/>
                </a:ln>
                <a:solidFill>
                  <a:srgbClr val="333333"/>
                </a:solidFill>
                <a:effectLst/>
                <a:latin typeface="Noto Sans"/>
              </a:rPr>
              <a:t> to </a:t>
            </a:r>
            <a:r>
              <a:rPr kumimoji="0" lang="en-US" altLang="en-US" sz="1200" b="1" i="0" u="none" strike="noStrike" cap="none" normalizeH="0" baseline="0" dirty="0" smtClean="0">
                <a:ln>
                  <a:noFill/>
                </a:ln>
                <a:solidFill>
                  <a:srgbClr val="333333"/>
                </a:solidFill>
                <a:effectLst/>
                <a:latin typeface="Noto Sans"/>
              </a:rPr>
              <a:t>avoid our browser warning us when accessing our hosted applications</a:t>
            </a:r>
            <a:r>
              <a:rPr kumimoji="0" lang="en-US" altLang="en-US" sz="1200" b="0" i="0" u="none" strike="noStrike" cap="none" normalizeH="0" baseline="0" dirty="0" smtClean="0">
                <a:ln>
                  <a:noFill/>
                </a:ln>
                <a:solidFill>
                  <a:srgbClr val="333333"/>
                </a:solidFill>
                <a:effectLst/>
                <a:latin typeface="Noto Sans"/>
              </a:rPr>
              <a:t>.</a:t>
            </a:r>
            <a:endParaRPr kumimoji="0" lang="en-US" altLang="en-US" sz="800" b="0" i="0" u="none" strike="noStrike" cap="none" normalizeH="0" baseline="0" dirty="0" smtClean="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smtClean="0">
                <a:ln>
                  <a:noFill/>
                </a:ln>
                <a:solidFill>
                  <a:srgbClr val="333333"/>
                </a:solidFill>
                <a:effectLst/>
                <a:latin typeface="Noto Sans"/>
              </a:rPr>
              <a:t>7.</a:t>
            </a:r>
            <a:r>
              <a:rPr kumimoji="0" lang="en-US" altLang="en-US" sz="1200" b="0" i="0" u="none" strike="noStrike" cap="none" normalizeH="0" baseline="0" dirty="0" smtClean="0">
                <a:ln>
                  <a:noFill/>
                </a:ln>
                <a:solidFill>
                  <a:srgbClr val="333333"/>
                </a:solidFill>
                <a:effectLst/>
                <a:latin typeface="Noto Sans"/>
              </a:rPr>
              <a:t> </a:t>
            </a:r>
            <a:r>
              <a:rPr kumimoji="0" lang="en-US" altLang="en-US" sz="1200" b="0" i="0" u="none" strike="noStrike" cap="none" normalizeH="0" baseline="0" dirty="0" smtClean="0">
                <a:ln>
                  <a:noFill/>
                </a:ln>
                <a:solidFill>
                  <a:srgbClr val="333333"/>
                </a:solidFill>
                <a:effectLst/>
                <a:latin typeface="Noto Sans"/>
                <a:hlinkClick r:id="rId21"/>
              </a:rPr>
              <a:t>Deploy and configure</a:t>
            </a:r>
            <a:r>
              <a:rPr kumimoji="0" lang="en-US" altLang="en-US" sz="1200" b="0" i="0" u="none" strike="noStrike" cap="none" normalizeH="0" baseline="0" dirty="0" smtClean="0">
                <a:ln>
                  <a:noFill/>
                </a:ln>
                <a:solidFill>
                  <a:srgbClr val="333333"/>
                </a:solidFill>
                <a:effectLst/>
                <a:latin typeface="Noto Sans"/>
              </a:rPr>
              <a:t> </a:t>
            </a:r>
            <a:r>
              <a:rPr kumimoji="0" lang="en-US" altLang="en-US" sz="1200" b="0" i="0" u="none" strike="noStrike" cap="none" normalizeH="0" baseline="0" dirty="0" smtClean="0">
                <a:ln>
                  <a:noFill/>
                </a:ln>
                <a:solidFill>
                  <a:srgbClr val="333333"/>
                </a:solidFill>
                <a:effectLst/>
                <a:latin typeface="Noto Sans"/>
                <a:hlinkClick r:id="rId22"/>
              </a:rPr>
              <a:t>Kubernetes Dashboard</a:t>
            </a:r>
            <a:r>
              <a:rPr kumimoji="0" lang="en-US" altLang="en-US" sz="1200" b="0" i="0" u="none" strike="noStrike" cap="none" normalizeH="0" baseline="0" dirty="0" smtClean="0">
                <a:ln>
                  <a:noFill/>
                </a:ln>
                <a:solidFill>
                  <a:srgbClr val="333333"/>
                </a:solidFill>
                <a:effectLst/>
                <a:latin typeface="Noto Sans"/>
              </a:rPr>
              <a:t>, which is a </a:t>
            </a:r>
            <a:r>
              <a:rPr kumimoji="0" lang="en-US" altLang="en-US" sz="1200" b="1" i="0" u="none" strike="noStrike" cap="none" normalizeH="0" baseline="0" dirty="0" smtClean="0">
                <a:ln>
                  <a:noFill/>
                </a:ln>
                <a:solidFill>
                  <a:srgbClr val="333333"/>
                </a:solidFill>
                <a:effectLst/>
                <a:latin typeface="Noto Sans"/>
              </a:rPr>
              <a:t>web-based Kubernetes user interface</a:t>
            </a:r>
            <a:r>
              <a:rPr kumimoji="0" lang="en-US" altLang="en-US" sz="1200" b="0" i="0" u="none" strike="noStrike" cap="none" normalizeH="0" baseline="0" dirty="0" smtClean="0">
                <a:ln>
                  <a:noFill/>
                </a:ln>
                <a:solidFill>
                  <a:srgbClr val="333333"/>
                </a:solidFill>
                <a:effectLst/>
                <a:latin typeface="Noto Sans"/>
              </a:rPr>
              <a:t>.</a:t>
            </a: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9" name="Rectangle 8"/>
          <p:cNvSpPr/>
          <p:nvPr/>
        </p:nvSpPr>
        <p:spPr>
          <a:xfrm>
            <a:off x="5223931" y="4473148"/>
            <a:ext cx="6968069" cy="1600438"/>
          </a:xfrm>
          <a:prstGeom prst="rect">
            <a:avLst/>
          </a:prstGeom>
          <a:solidFill>
            <a:schemeClr val="tx1"/>
          </a:solidFill>
        </p:spPr>
        <p:txBody>
          <a:bodyPr wrap="square">
            <a:spAutoFit/>
          </a:bodyPr>
          <a:lstStyle/>
          <a:p>
            <a:pPr algn="just"/>
            <a:r>
              <a:rPr lang="en-US" sz="1400" dirty="0" err="1">
                <a:solidFill>
                  <a:schemeClr val="bg1">
                    <a:lumMod val="95000"/>
                  </a:schemeClr>
                </a:solidFill>
              </a:rPr>
              <a:t>root@administrator</a:t>
            </a:r>
            <a:r>
              <a:rPr lang="en-US" sz="1400" dirty="0">
                <a:solidFill>
                  <a:schemeClr val="bg1">
                    <a:lumMod val="95000"/>
                  </a:schemeClr>
                </a:solidFill>
              </a:rPr>
              <a:t>:/home/panda/GPU2# </a:t>
            </a:r>
            <a:endParaRPr lang="en-US" sz="1400" dirty="0" smtClean="0">
              <a:solidFill>
                <a:schemeClr val="bg1">
                  <a:lumMod val="95000"/>
                </a:schemeClr>
              </a:solidFill>
            </a:endParaRPr>
          </a:p>
          <a:p>
            <a:pPr algn="just"/>
            <a:endParaRPr lang="en-US" sz="1400" dirty="0" smtClean="0">
              <a:solidFill>
                <a:schemeClr val="bg1">
                  <a:lumMod val="95000"/>
                </a:schemeClr>
              </a:solidFill>
            </a:endParaRPr>
          </a:p>
          <a:p>
            <a:pPr algn="just"/>
            <a:r>
              <a:rPr lang="en-US" sz="1400" dirty="0">
                <a:solidFill>
                  <a:schemeClr val="bg1">
                    <a:lumMod val="95000"/>
                  </a:schemeClr>
                </a:solidFill>
              </a:rPr>
              <a:t>$ </a:t>
            </a:r>
            <a:r>
              <a:rPr lang="en-US" sz="1400" dirty="0" err="1">
                <a:solidFill>
                  <a:schemeClr val="bg1">
                    <a:lumMod val="95000"/>
                  </a:schemeClr>
                </a:solidFill>
              </a:rPr>
              <a:t>kubectl</a:t>
            </a:r>
            <a:r>
              <a:rPr lang="en-US" sz="1400" dirty="0">
                <a:solidFill>
                  <a:schemeClr val="bg1">
                    <a:lumMod val="95000"/>
                  </a:schemeClr>
                </a:solidFill>
              </a:rPr>
              <a:t> get nodes -o wide</a:t>
            </a:r>
          </a:p>
          <a:p>
            <a:pPr algn="just"/>
            <a:endParaRPr lang="en-US" sz="1400" dirty="0">
              <a:solidFill>
                <a:schemeClr val="bg1">
                  <a:lumMod val="95000"/>
                </a:schemeClr>
              </a:solidFill>
            </a:endParaRPr>
          </a:p>
          <a:p>
            <a:pPr algn="just"/>
            <a:r>
              <a:rPr lang="en-US" sz="1400" dirty="0">
                <a:solidFill>
                  <a:schemeClr val="bg1">
                    <a:lumMod val="95000"/>
                  </a:schemeClr>
                </a:solidFill>
              </a:rPr>
              <a:t>NAME           STATUS   ROLES    AGE     VERSION         INTERNAL-IP    EXTERNAL-IP</a:t>
            </a:r>
          </a:p>
          <a:p>
            <a:pPr algn="just"/>
            <a:r>
              <a:rPr lang="en-US" sz="1400" dirty="0" err="1">
                <a:solidFill>
                  <a:schemeClr val="bg1">
                    <a:lumMod val="95000"/>
                  </a:schemeClr>
                </a:solidFill>
              </a:rPr>
              <a:t>kube</a:t>
            </a:r>
            <a:r>
              <a:rPr lang="en-US" sz="1400" dirty="0">
                <a:solidFill>
                  <a:schemeClr val="bg1">
                    <a:lumMod val="95000"/>
                  </a:schemeClr>
                </a:solidFill>
              </a:rPr>
              <a:t>-master    Ready    master   44h     v1.25.0+k3s.1   192.168.0.22   &lt;none&gt;</a:t>
            </a:r>
          </a:p>
          <a:p>
            <a:pPr algn="just"/>
            <a:r>
              <a:rPr lang="en-US" sz="1400" dirty="0" err="1">
                <a:solidFill>
                  <a:schemeClr val="bg1">
                    <a:lumMod val="95000"/>
                  </a:schemeClr>
                </a:solidFill>
              </a:rPr>
              <a:t>kube</a:t>
            </a:r>
            <a:r>
              <a:rPr lang="en-US" sz="1400" dirty="0">
                <a:solidFill>
                  <a:schemeClr val="bg1">
                    <a:lumMod val="95000"/>
                  </a:schemeClr>
                </a:solidFill>
              </a:rPr>
              <a:t>-worker    Ready    &lt;none&gt;   2m47s   v1.25.0+k3s.1   192.168.0.23   &lt;none&gt;</a:t>
            </a:r>
            <a:endParaRPr lang="en-US" sz="1400" b="1" dirty="0">
              <a:solidFill>
                <a:srgbClr val="00B0F0"/>
              </a:solidFill>
            </a:endParaRPr>
          </a:p>
        </p:txBody>
      </p:sp>
    </p:spTree>
    <p:extLst>
      <p:ext uri="{BB962C8B-B14F-4D97-AF65-F5344CB8AC3E}">
        <p14:creationId xmlns:p14="http://schemas.microsoft.com/office/powerpoint/2010/main" val="49551758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8478754" y="119072"/>
            <a:ext cx="3552383" cy="400110"/>
          </a:xfrm>
          <a:prstGeom prst="rect">
            <a:avLst/>
          </a:prstGeom>
        </p:spPr>
        <p:txBody>
          <a:bodyPr wrap="none">
            <a:spAutoFit/>
          </a:bodyPr>
          <a:lstStyle/>
          <a:p>
            <a:r>
              <a:rPr lang="en-US" sz="2000" b="1" dirty="0">
                <a:solidFill>
                  <a:srgbClr val="FFC000"/>
                </a:solidFill>
              </a:rPr>
              <a:t>Docker and </a:t>
            </a:r>
            <a:r>
              <a:rPr lang="en-US" sz="2000" b="1" dirty="0" smtClean="0">
                <a:solidFill>
                  <a:srgbClr val="FFC000"/>
                </a:solidFill>
              </a:rPr>
              <a:t>Kubernetes (</a:t>
            </a:r>
            <a:r>
              <a:rPr lang="en-US" sz="2000" b="1" dirty="0" err="1" smtClean="0">
                <a:solidFill>
                  <a:srgbClr val="FFC000"/>
                </a:solidFill>
              </a:rPr>
              <a:t>Cons’t</a:t>
            </a:r>
            <a:r>
              <a:rPr lang="en-US" sz="2000" b="1" dirty="0" smtClean="0">
                <a:solidFill>
                  <a:srgbClr val="FFC000"/>
                </a:solidFill>
              </a:rPr>
              <a:t>)</a:t>
            </a:r>
            <a:endParaRPr lang="en-US" sz="2000" dirty="0">
              <a:solidFill>
                <a:srgbClr val="FFC000"/>
              </a:solidFill>
            </a:endParaRPr>
          </a:p>
        </p:txBody>
      </p:sp>
      <p:sp>
        <p:nvSpPr>
          <p:cNvPr id="5" name="Rectangle 4"/>
          <p:cNvSpPr/>
          <p:nvPr/>
        </p:nvSpPr>
        <p:spPr>
          <a:xfrm>
            <a:off x="245533" y="519182"/>
            <a:ext cx="5410201" cy="369332"/>
          </a:xfrm>
          <a:prstGeom prst="rect">
            <a:avLst/>
          </a:prstGeom>
        </p:spPr>
        <p:txBody>
          <a:bodyPr wrap="square">
            <a:spAutoFit/>
          </a:bodyPr>
          <a:lstStyle/>
          <a:p>
            <a:r>
              <a:rPr lang="en-US" b="1" dirty="0" smtClean="0"/>
              <a:t>Kubernetes </a:t>
            </a:r>
            <a:r>
              <a:rPr lang="en-US" b="1" dirty="0" err="1" smtClean="0"/>
              <a:t>Dasboard</a:t>
            </a:r>
            <a:r>
              <a:rPr lang="en-US" b="1" dirty="0" smtClean="0"/>
              <a:t> </a:t>
            </a:r>
            <a:endParaRPr lang="en-US" b="1" dirty="0"/>
          </a:p>
        </p:txBody>
      </p:sp>
      <p:pic>
        <p:nvPicPr>
          <p:cNvPr id="2" name="Picture 1"/>
          <p:cNvPicPr>
            <a:picLocks noChangeAspect="1"/>
          </p:cNvPicPr>
          <p:nvPr/>
        </p:nvPicPr>
        <p:blipFill>
          <a:blip r:embed="rId3"/>
          <a:stretch>
            <a:fillRect/>
          </a:stretch>
        </p:blipFill>
        <p:spPr>
          <a:xfrm>
            <a:off x="2184400" y="1431679"/>
            <a:ext cx="6565899" cy="3957528"/>
          </a:xfrm>
          <a:prstGeom prst="rect">
            <a:avLst/>
          </a:prstGeom>
        </p:spPr>
      </p:pic>
    </p:spTree>
    <p:extLst>
      <p:ext uri="{BB962C8B-B14F-4D97-AF65-F5344CB8AC3E}">
        <p14:creationId xmlns:p14="http://schemas.microsoft.com/office/powerpoint/2010/main" val="171275726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8478754" y="119072"/>
            <a:ext cx="3552383" cy="400110"/>
          </a:xfrm>
          <a:prstGeom prst="rect">
            <a:avLst/>
          </a:prstGeom>
        </p:spPr>
        <p:txBody>
          <a:bodyPr wrap="none">
            <a:spAutoFit/>
          </a:bodyPr>
          <a:lstStyle/>
          <a:p>
            <a:r>
              <a:rPr lang="en-US" sz="2000" b="1" dirty="0">
                <a:solidFill>
                  <a:srgbClr val="FFC000"/>
                </a:solidFill>
              </a:rPr>
              <a:t>Docker and </a:t>
            </a:r>
            <a:r>
              <a:rPr lang="en-US" sz="2000" b="1" dirty="0" smtClean="0">
                <a:solidFill>
                  <a:srgbClr val="FFC000"/>
                </a:solidFill>
              </a:rPr>
              <a:t>Kubernetes (</a:t>
            </a:r>
            <a:r>
              <a:rPr lang="en-US" sz="2000" b="1" dirty="0" err="1" smtClean="0">
                <a:solidFill>
                  <a:srgbClr val="FFC000"/>
                </a:solidFill>
              </a:rPr>
              <a:t>Cons’t</a:t>
            </a:r>
            <a:r>
              <a:rPr lang="en-US" sz="2000" b="1" dirty="0" smtClean="0">
                <a:solidFill>
                  <a:srgbClr val="FFC000"/>
                </a:solidFill>
              </a:rPr>
              <a:t>)</a:t>
            </a:r>
            <a:endParaRPr lang="en-US" sz="2000" dirty="0">
              <a:solidFill>
                <a:srgbClr val="FFC000"/>
              </a:solidFill>
            </a:endParaRPr>
          </a:p>
        </p:txBody>
      </p:sp>
      <p:sp>
        <p:nvSpPr>
          <p:cNvPr id="5" name="Rectangle 4"/>
          <p:cNvSpPr/>
          <p:nvPr/>
        </p:nvSpPr>
        <p:spPr>
          <a:xfrm>
            <a:off x="245533" y="519182"/>
            <a:ext cx="5410201" cy="646331"/>
          </a:xfrm>
          <a:prstGeom prst="rect">
            <a:avLst/>
          </a:prstGeom>
        </p:spPr>
        <p:txBody>
          <a:bodyPr wrap="square">
            <a:spAutoFit/>
          </a:bodyPr>
          <a:lstStyle/>
          <a:p>
            <a:r>
              <a:rPr lang="en-US" b="1" dirty="0" smtClean="0"/>
              <a:t>Kubernetes : </a:t>
            </a:r>
            <a:r>
              <a:rPr lang="en-US" b="1" dirty="0"/>
              <a:t>Administration</a:t>
            </a:r>
          </a:p>
          <a:p>
            <a:endParaRPr lang="en-US" b="1" dirty="0"/>
          </a:p>
        </p:txBody>
      </p:sp>
      <p:sp>
        <p:nvSpPr>
          <p:cNvPr id="2" name="Rectangle 1"/>
          <p:cNvSpPr>
            <a:spLocks noChangeArrowheads="1"/>
          </p:cNvSpPr>
          <p:nvPr/>
        </p:nvSpPr>
        <p:spPr bwMode="auto">
          <a:xfrm>
            <a:off x="245533" y="1165513"/>
            <a:ext cx="3801534" cy="204671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smtClean="0">
                <a:ln>
                  <a:noFill/>
                </a:ln>
                <a:solidFill>
                  <a:srgbClr val="333333"/>
                </a:solidFill>
                <a:effectLst/>
                <a:latin typeface="Noto Sans"/>
              </a:rPr>
              <a:t>We have a </a:t>
            </a:r>
            <a:r>
              <a:rPr kumimoji="0" lang="en-US" altLang="en-US" sz="1600" b="1" i="0" u="none" strike="noStrike" cap="none" normalizeH="0" baseline="0" dirty="0" smtClean="0">
                <a:ln>
                  <a:noFill/>
                </a:ln>
                <a:solidFill>
                  <a:srgbClr val="333333"/>
                </a:solidFill>
                <a:effectLst/>
                <a:latin typeface="Noto Sans"/>
              </a:rPr>
              <a:t>variety of tools</a:t>
            </a:r>
            <a:r>
              <a:rPr kumimoji="0" lang="en-US" altLang="en-US" sz="1600" b="0" i="0" u="none" strike="noStrike" cap="none" normalizeH="0" baseline="0" dirty="0" smtClean="0">
                <a:ln>
                  <a:noFill/>
                </a:ln>
                <a:solidFill>
                  <a:srgbClr val="333333"/>
                </a:solidFill>
                <a:effectLst/>
                <a:latin typeface="Noto Sans"/>
              </a:rPr>
              <a:t> in this area:</a:t>
            </a:r>
            <a:endParaRPr kumimoji="0" lang="en-US" altLang="en-US" sz="1600" b="0" i="0" u="none" strike="noStrike" cap="none" normalizeH="0" baseline="0" dirty="0" smtClean="0">
              <a:ln>
                <a:noFill/>
              </a:ln>
              <a:solidFill>
                <a:schemeClr val="tx1"/>
              </a:solidFill>
              <a:effectLst/>
            </a:endParaRP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altLang="en-US" sz="1600" b="0" i="0" u="none" strike="noStrike" cap="none" normalizeH="0" baseline="0" dirty="0" err="1" smtClean="0">
                <a:ln>
                  <a:noFill/>
                </a:ln>
                <a:solidFill>
                  <a:srgbClr val="333333"/>
                </a:solidFill>
                <a:effectLst/>
                <a:latin typeface="Fira Code"/>
                <a:hlinkClick r:id="rId3"/>
              </a:rPr>
              <a:t>kubectl</a:t>
            </a:r>
            <a:r>
              <a:rPr kumimoji="0" lang="en-US" altLang="en-US" sz="1600" b="0" i="0" u="none" strike="noStrike" cap="none" normalizeH="0" baseline="0" dirty="0" smtClean="0">
                <a:ln>
                  <a:noFill/>
                </a:ln>
                <a:solidFill>
                  <a:srgbClr val="333333"/>
                </a:solidFill>
                <a:effectLst/>
                <a:latin typeface="Noto Sans"/>
              </a:rPr>
              <a:t> </a:t>
            </a:r>
            <a:r>
              <a:rPr kumimoji="0" lang="en-US" altLang="en-US" sz="1600" b="1" i="0" u="none" strike="noStrike" cap="none" normalizeH="0" baseline="0" dirty="0" smtClean="0">
                <a:ln>
                  <a:noFill/>
                </a:ln>
                <a:solidFill>
                  <a:srgbClr val="333333"/>
                </a:solidFill>
                <a:effectLst/>
                <a:latin typeface="Noto Sans"/>
              </a:rPr>
              <a:t>(already installed).</a:t>
            </a:r>
            <a:endParaRPr kumimoji="0" lang="en-US" altLang="en-US" sz="1600" b="0" i="0" u="none" strike="noStrike" cap="none" normalizeH="0" baseline="0" dirty="0" smtClean="0">
              <a:ln>
                <a:noFill/>
              </a:ln>
              <a:solidFill>
                <a:srgbClr val="333333"/>
              </a:solidFill>
              <a:effectLst/>
              <a:latin typeface="Noto Sans"/>
            </a:endParaRP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altLang="en-US" sz="1600" b="0" i="0" u="none" strike="noStrike" cap="none" normalizeH="0" baseline="0" dirty="0" smtClean="0">
                <a:ln>
                  <a:noFill/>
                </a:ln>
                <a:solidFill>
                  <a:srgbClr val="333333"/>
                </a:solidFill>
                <a:effectLst/>
                <a:latin typeface="Noto Sans"/>
                <a:hlinkClick r:id="rId4"/>
              </a:rPr>
              <a:t>Kubernetes Dashboard</a:t>
            </a:r>
            <a:r>
              <a:rPr kumimoji="0" lang="en-US" altLang="en-US" sz="1600" b="0" i="0" u="none" strike="noStrike" cap="none" normalizeH="0" baseline="0" dirty="0" smtClean="0">
                <a:ln>
                  <a:noFill/>
                </a:ln>
                <a:solidFill>
                  <a:srgbClr val="333333"/>
                </a:solidFill>
                <a:effectLst/>
                <a:latin typeface="Noto Sans"/>
              </a:rPr>
              <a:t> </a:t>
            </a:r>
            <a:r>
              <a:rPr kumimoji="0" lang="en-US" altLang="en-US" sz="1600" b="1" i="0" u="none" strike="noStrike" cap="none" normalizeH="0" baseline="0" dirty="0" smtClean="0">
                <a:ln>
                  <a:noFill/>
                </a:ln>
                <a:solidFill>
                  <a:srgbClr val="333333"/>
                </a:solidFill>
                <a:effectLst/>
                <a:latin typeface="Noto Sans"/>
              </a:rPr>
              <a:t>(already installed).</a:t>
            </a: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lang="en-US" altLang="en-US" sz="1600" b="1" dirty="0" smtClean="0">
                <a:solidFill>
                  <a:srgbClr val="333333"/>
                </a:solidFill>
                <a:latin typeface="Noto Sans"/>
              </a:rPr>
              <a:t>Lens</a:t>
            </a: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altLang="en-US" sz="1600" b="1" i="0" u="none" strike="noStrike" cap="none" normalizeH="0" baseline="0" dirty="0" err="1" smtClean="0">
                <a:ln>
                  <a:noFill/>
                </a:ln>
                <a:solidFill>
                  <a:srgbClr val="333333"/>
                </a:solidFill>
                <a:effectLst/>
                <a:latin typeface="Noto Sans"/>
              </a:rPr>
              <a:t>Kuvenav</a:t>
            </a:r>
            <a:endParaRPr kumimoji="0" lang="en-US" altLang="en-US" sz="1600" b="1" i="0" u="none" strike="noStrike" cap="none" normalizeH="0" baseline="0" dirty="0" smtClean="0">
              <a:ln>
                <a:noFill/>
              </a:ln>
              <a:solidFill>
                <a:srgbClr val="333333"/>
              </a:solidFill>
              <a:effectLst/>
              <a:latin typeface="Noto Sans"/>
            </a:endParaRP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lang="en-US" altLang="en-US" sz="1600" b="1" dirty="0" smtClean="0">
                <a:solidFill>
                  <a:srgbClr val="333333"/>
                </a:solidFill>
                <a:latin typeface="Noto Sans"/>
              </a:rPr>
              <a:t>k9s</a:t>
            </a:r>
            <a:endParaRPr kumimoji="0" lang="en-US" altLang="en-US" sz="1600" b="0" i="0" u="none" strike="noStrike" cap="none" normalizeH="0" baseline="0" dirty="0" smtClean="0">
              <a:ln>
                <a:noFill/>
              </a:ln>
              <a:solidFill>
                <a:srgbClr val="333333"/>
              </a:solidFill>
              <a:effectLst/>
              <a:latin typeface="Noto Sans"/>
            </a:endParaRP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pic>
        <p:nvPicPr>
          <p:cNvPr id="3" name="Picture 2"/>
          <p:cNvPicPr>
            <a:picLocks noChangeAspect="1"/>
          </p:cNvPicPr>
          <p:nvPr/>
        </p:nvPicPr>
        <p:blipFill>
          <a:blip r:embed="rId5"/>
          <a:stretch>
            <a:fillRect/>
          </a:stretch>
        </p:blipFill>
        <p:spPr>
          <a:xfrm>
            <a:off x="4199466" y="2967235"/>
            <a:ext cx="7653866" cy="3625122"/>
          </a:xfrm>
          <a:prstGeom prst="rect">
            <a:avLst/>
          </a:prstGeom>
        </p:spPr>
      </p:pic>
    </p:spTree>
    <p:extLst>
      <p:ext uri="{BB962C8B-B14F-4D97-AF65-F5344CB8AC3E}">
        <p14:creationId xmlns:p14="http://schemas.microsoft.com/office/powerpoint/2010/main" val="42494217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8478754" y="119072"/>
            <a:ext cx="3552383" cy="400110"/>
          </a:xfrm>
          <a:prstGeom prst="rect">
            <a:avLst/>
          </a:prstGeom>
        </p:spPr>
        <p:txBody>
          <a:bodyPr wrap="none">
            <a:spAutoFit/>
          </a:bodyPr>
          <a:lstStyle/>
          <a:p>
            <a:r>
              <a:rPr lang="en-US" sz="2000" b="1" dirty="0">
                <a:solidFill>
                  <a:srgbClr val="FFC000"/>
                </a:solidFill>
              </a:rPr>
              <a:t>Docker and </a:t>
            </a:r>
            <a:r>
              <a:rPr lang="en-US" sz="2000" b="1" dirty="0" smtClean="0">
                <a:solidFill>
                  <a:srgbClr val="FFC000"/>
                </a:solidFill>
              </a:rPr>
              <a:t>Kubernetes (</a:t>
            </a:r>
            <a:r>
              <a:rPr lang="en-US" sz="2000" b="1" dirty="0" err="1" smtClean="0">
                <a:solidFill>
                  <a:srgbClr val="FFC000"/>
                </a:solidFill>
              </a:rPr>
              <a:t>Cons’t</a:t>
            </a:r>
            <a:r>
              <a:rPr lang="en-US" sz="2000" b="1" dirty="0" smtClean="0">
                <a:solidFill>
                  <a:srgbClr val="FFC000"/>
                </a:solidFill>
              </a:rPr>
              <a:t>)</a:t>
            </a:r>
            <a:endParaRPr lang="en-US" sz="2000" dirty="0">
              <a:solidFill>
                <a:srgbClr val="FFC000"/>
              </a:solidFill>
            </a:endParaRPr>
          </a:p>
        </p:txBody>
      </p:sp>
      <p:sp>
        <p:nvSpPr>
          <p:cNvPr id="5" name="Rectangle 4"/>
          <p:cNvSpPr/>
          <p:nvPr/>
        </p:nvSpPr>
        <p:spPr>
          <a:xfrm>
            <a:off x="245533" y="519182"/>
            <a:ext cx="5410201" cy="369332"/>
          </a:xfrm>
          <a:prstGeom prst="rect">
            <a:avLst/>
          </a:prstGeom>
        </p:spPr>
        <p:txBody>
          <a:bodyPr wrap="square">
            <a:spAutoFit/>
          </a:bodyPr>
          <a:lstStyle/>
          <a:p>
            <a:r>
              <a:rPr lang="en-US" b="1" dirty="0" smtClean="0"/>
              <a:t>Kubernetes : </a:t>
            </a:r>
            <a:r>
              <a:rPr lang="en-US" b="1" dirty="0"/>
              <a:t>Application </a:t>
            </a:r>
            <a:r>
              <a:rPr lang="en-US" b="1" dirty="0" smtClean="0"/>
              <a:t>Example</a:t>
            </a:r>
            <a:endParaRPr lang="en-US" b="1" dirty="0"/>
          </a:p>
        </p:txBody>
      </p:sp>
      <p:sp>
        <p:nvSpPr>
          <p:cNvPr id="3" name="Rectangle 2"/>
          <p:cNvSpPr/>
          <p:nvPr/>
        </p:nvSpPr>
        <p:spPr>
          <a:xfrm>
            <a:off x="245533" y="1140305"/>
            <a:ext cx="6392334" cy="3693319"/>
          </a:xfrm>
          <a:prstGeom prst="rect">
            <a:avLst/>
          </a:prstGeom>
        </p:spPr>
        <p:txBody>
          <a:bodyPr wrap="square">
            <a:spAutoFit/>
          </a:bodyPr>
          <a:lstStyle/>
          <a:p>
            <a:pPr algn="just"/>
            <a:r>
              <a:rPr lang="en-US" dirty="0"/>
              <a:t>This is a simple example where we will be deploying https://draw.io/ to our Kubernetes cluster.</a:t>
            </a:r>
          </a:p>
          <a:p>
            <a:pPr algn="just"/>
            <a:endParaRPr lang="en-US" dirty="0"/>
          </a:p>
          <a:p>
            <a:pPr marL="342900" indent="-342900" algn="just">
              <a:buFont typeface="+mj-lt"/>
              <a:buAutoNum type="alphaLcPeriod"/>
            </a:pPr>
            <a:r>
              <a:rPr lang="en-US" dirty="0"/>
              <a:t>First, we create a namespace for our draw.io application called </a:t>
            </a:r>
            <a:r>
              <a:rPr lang="en-US" dirty="0" smtClean="0"/>
              <a:t>home-cloud-</a:t>
            </a:r>
            <a:r>
              <a:rPr lang="en-US" dirty="0" err="1" smtClean="0"/>
              <a:t>drawio</a:t>
            </a:r>
            <a:r>
              <a:rPr lang="en-US" dirty="0" smtClean="0"/>
              <a:t> : </a:t>
            </a:r>
          </a:p>
          <a:p>
            <a:pPr algn="just"/>
            <a:endParaRPr lang="en-US" dirty="0"/>
          </a:p>
          <a:p>
            <a:pPr algn="just"/>
            <a:r>
              <a:rPr lang="en-US" dirty="0"/>
              <a:t> </a:t>
            </a:r>
            <a:r>
              <a:rPr lang="en-US" dirty="0" smtClean="0"/>
              <a:t>      $ </a:t>
            </a:r>
            <a:r>
              <a:rPr lang="en-US" dirty="0" err="1"/>
              <a:t>kubectl</a:t>
            </a:r>
            <a:r>
              <a:rPr lang="en-US" dirty="0"/>
              <a:t> create namespace </a:t>
            </a:r>
            <a:r>
              <a:rPr lang="en-US" dirty="0" smtClean="0"/>
              <a:t>home-cloud-</a:t>
            </a:r>
            <a:r>
              <a:rPr lang="en-US" dirty="0" err="1" smtClean="0"/>
              <a:t>drawio</a:t>
            </a:r>
            <a:endParaRPr lang="en-US" dirty="0" smtClean="0"/>
          </a:p>
          <a:p>
            <a:pPr algn="just"/>
            <a:endParaRPr lang="en-US" dirty="0"/>
          </a:p>
          <a:p>
            <a:pPr algn="just"/>
            <a:endParaRPr lang="en-US" dirty="0" smtClean="0"/>
          </a:p>
          <a:p>
            <a:pPr algn="just"/>
            <a:endParaRPr lang="en-US" dirty="0"/>
          </a:p>
          <a:p>
            <a:pPr algn="just"/>
            <a:endParaRPr lang="en-US" dirty="0"/>
          </a:p>
          <a:p>
            <a:pPr marL="342900" indent="-342900" algn="just">
              <a:buFont typeface="+mj-lt"/>
              <a:buAutoNum type="alphaLcPeriod"/>
            </a:pPr>
            <a:r>
              <a:rPr lang="en-US" dirty="0"/>
              <a:t>Second, we create a file called </a:t>
            </a:r>
            <a:r>
              <a:rPr lang="en-US" dirty="0" err="1"/>
              <a:t>drawio-app.yml</a:t>
            </a:r>
            <a:r>
              <a:rPr lang="en-US" dirty="0"/>
              <a:t> with the following content:</a:t>
            </a:r>
          </a:p>
        </p:txBody>
      </p:sp>
      <p:sp>
        <p:nvSpPr>
          <p:cNvPr id="6" name="Rectangle 5"/>
          <p:cNvSpPr/>
          <p:nvPr/>
        </p:nvSpPr>
        <p:spPr>
          <a:xfrm>
            <a:off x="694265" y="3216253"/>
            <a:ext cx="5494870" cy="738664"/>
          </a:xfrm>
          <a:prstGeom prst="rect">
            <a:avLst/>
          </a:prstGeom>
          <a:solidFill>
            <a:schemeClr val="tx1"/>
          </a:solidFill>
        </p:spPr>
        <p:txBody>
          <a:bodyPr wrap="square">
            <a:spAutoFit/>
          </a:bodyPr>
          <a:lstStyle/>
          <a:p>
            <a:pPr algn="just"/>
            <a:r>
              <a:rPr lang="en-US" sz="1400" dirty="0" err="1">
                <a:solidFill>
                  <a:schemeClr val="bg1">
                    <a:lumMod val="95000"/>
                  </a:schemeClr>
                </a:solidFill>
              </a:rPr>
              <a:t>root@administrator</a:t>
            </a:r>
            <a:r>
              <a:rPr lang="en-US" sz="1400" dirty="0">
                <a:solidFill>
                  <a:schemeClr val="bg1">
                    <a:lumMod val="95000"/>
                  </a:schemeClr>
                </a:solidFill>
              </a:rPr>
              <a:t>:/home/panda/GPU2# </a:t>
            </a:r>
            <a:endParaRPr lang="en-US" sz="1400" dirty="0" smtClean="0">
              <a:solidFill>
                <a:schemeClr val="bg1">
                  <a:lumMod val="95000"/>
                </a:schemeClr>
              </a:solidFill>
            </a:endParaRPr>
          </a:p>
          <a:p>
            <a:pPr algn="just"/>
            <a:endParaRPr lang="en-US" sz="1400" dirty="0" smtClean="0">
              <a:solidFill>
                <a:schemeClr val="bg1">
                  <a:lumMod val="95000"/>
                </a:schemeClr>
              </a:solidFill>
            </a:endParaRPr>
          </a:p>
          <a:p>
            <a:pPr algn="just"/>
            <a:r>
              <a:rPr lang="en-US" sz="1400" dirty="0">
                <a:solidFill>
                  <a:schemeClr val="bg1"/>
                </a:solidFill>
              </a:rPr>
              <a:t>$ </a:t>
            </a:r>
            <a:r>
              <a:rPr lang="en-US" sz="1400" dirty="0" err="1">
                <a:solidFill>
                  <a:schemeClr val="bg1"/>
                </a:solidFill>
              </a:rPr>
              <a:t>kubectl</a:t>
            </a:r>
            <a:r>
              <a:rPr lang="en-US" sz="1400" dirty="0">
                <a:solidFill>
                  <a:schemeClr val="bg1"/>
                </a:solidFill>
              </a:rPr>
              <a:t> create namespace home-cloud-</a:t>
            </a:r>
            <a:r>
              <a:rPr lang="en-US" sz="1400" dirty="0" err="1">
                <a:solidFill>
                  <a:schemeClr val="bg1"/>
                </a:solidFill>
              </a:rPr>
              <a:t>drawio</a:t>
            </a:r>
            <a:endParaRPr lang="en-US" sz="1400" dirty="0">
              <a:solidFill>
                <a:schemeClr val="bg1"/>
              </a:solidFill>
            </a:endParaRPr>
          </a:p>
        </p:txBody>
      </p:sp>
      <p:sp>
        <p:nvSpPr>
          <p:cNvPr id="8" name="Rectangle 7"/>
          <p:cNvSpPr/>
          <p:nvPr/>
        </p:nvSpPr>
        <p:spPr>
          <a:xfrm>
            <a:off x="6991770" y="338542"/>
            <a:ext cx="3351110" cy="6340197"/>
          </a:xfrm>
          <a:prstGeom prst="rect">
            <a:avLst/>
          </a:prstGeom>
          <a:solidFill>
            <a:schemeClr val="tx1"/>
          </a:solidFill>
        </p:spPr>
        <p:txBody>
          <a:bodyPr wrap="square">
            <a:spAutoFit/>
          </a:bodyPr>
          <a:lstStyle/>
          <a:p>
            <a:pPr algn="just"/>
            <a:r>
              <a:rPr lang="en-US" sz="700" dirty="0" err="1">
                <a:solidFill>
                  <a:schemeClr val="bg1"/>
                </a:solidFill>
              </a:rPr>
              <a:t>apiVersion</a:t>
            </a:r>
            <a:r>
              <a:rPr lang="en-US" sz="700" dirty="0">
                <a:solidFill>
                  <a:schemeClr val="bg1"/>
                </a:solidFill>
              </a:rPr>
              <a:t>: apps/v1</a:t>
            </a:r>
          </a:p>
          <a:p>
            <a:pPr algn="just"/>
            <a:r>
              <a:rPr lang="en-US" sz="700" dirty="0">
                <a:solidFill>
                  <a:schemeClr val="bg1"/>
                </a:solidFill>
              </a:rPr>
              <a:t>kind: Deployment</a:t>
            </a:r>
          </a:p>
          <a:p>
            <a:pPr algn="just"/>
            <a:r>
              <a:rPr lang="en-US" sz="700" dirty="0">
                <a:solidFill>
                  <a:schemeClr val="bg1"/>
                </a:solidFill>
              </a:rPr>
              <a:t>metadata:</a:t>
            </a:r>
          </a:p>
          <a:p>
            <a:pPr algn="just"/>
            <a:r>
              <a:rPr lang="en-US" sz="700" dirty="0">
                <a:solidFill>
                  <a:schemeClr val="bg1"/>
                </a:solidFill>
              </a:rPr>
              <a:t>  namespace: home-cloud-</a:t>
            </a:r>
            <a:r>
              <a:rPr lang="en-US" sz="700" dirty="0" err="1">
                <a:solidFill>
                  <a:schemeClr val="bg1"/>
                </a:solidFill>
              </a:rPr>
              <a:t>drawio</a:t>
            </a:r>
            <a:endParaRPr lang="en-US" sz="700" dirty="0">
              <a:solidFill>
                <a:schemeClr val="bg1"/>
              </a:solidFill>
            </a:endParaRPr>
          </a:p>
          <a:p>
            <a:pPr algn="just"/>
            <a:r>
              <a:rPr lang="en-US" sz="700" dirty="0">
                <a:solidFill>
                  <a:schemeClr val="bg1"/>
                </a:solidFill>
              </a:rPr>
              <a:t>  name: </a:t>
            </a:r>
            <a:r>
              <a:rPr lang="en-US" sz="700" dirty="0" err="1">
                <a:solidFill>
                  <a:schemeClr val="bg1"/>
                </a:solidFill>
              </a:rPr>
              <a:t>drawio</a:t>
            </a:r>
            <a:endParaRPr lang="en-US" sz="700" dirty="0">
              <a:solidFill>
                <a:schemeClr val="bg1"/>
              </a:solidFill>
            </a:endParaRPr>
          </a:p>
          <a:p>
            <a:pPr algn="just"/>
            <a:r>
              <a:rPr lang="en-US" sz="700" dirty="0">
                <a:solidFill>
                  <a:schemeClr val="bg1"/>
                </a:solidFill>
              </a:rPr>
              <a:t>spec:</a:t>
            </a:r>
          </a:p>
          <a:p>
            <a:pPr algn="just"/>
            <a:r>
              <a:rPr lang="en-US" sz="700" dirty="0">
                <a:solidFill>
                  <a:schemeClr val="bg1"/>
                </a:solidFill>
              </a:rPr>
              <a:t>  replicas: 1</a:t>
            </a:r>
          </a:p>
          <a:p>
            <a:pPr algn="just"/>
            <a:r>
              <a:rPr lang="en-US" sz="700" dirty="0">
                <a:solidFill>
                  <a:schemeClr val="bg1"/>
                </a:solidFill>
              </a:rPr>
              <a:t>  selector:</a:t>
            </a:r>
          </a:p>
          <a:p>
            <a:pPr algn="just"/>
            <a:r>
              <a:rPr lang="en-US" sz="700" dirty="0">
                <a:solidFill>
                  <a:schemeClr val="bg1"/>
                </a:solidFill>
              </a:rPr>
              <a:t>    </a:t>
            </a:r>
            <a:r>
              <a:rPr lang="en-US" sz="700" dirty="0" err="1">
                <a:solidFill>
                  <a:schemeClr val="bg1"/>
                </a:solidFill>
              </a:rPr>
              <a:t>matchLabels</a:t>
            </a:r>
            <a:r>
              <a:rPr lang="en-US" sz="700" dirty="0">
                <a:solidFill>
                  <a:schemeClr val="bg1"/>
                </a:solidFill>
              </a:rPr>
              <a:t>:</a:t>
            </a:r>
          </a:p>
          <a:p>
            <a:pPr algn="just"/>
            <a:r>
              <a:rPr lang="en-US" sz="700" dirty="0">
                <a:solidFill>
                  <a:schemeClr val="bg1"/>
                </a:solidFill>
              </a:rPr>
              <a:t>      app: </a:t>
            </a:r>
            <a:r>
              <a:rPr lang="en-US" sz="700" dirty="0" err="1">
                <a:solidFill>
                  <a:schemeClr val="bg1"/>
                </a:solidFill>
              </a:rPr>
              <a:t>drawio</a:t>
            </a:r>
            <a:endParaRPr lang="en-US" sz="700" dirty="0">
              <a:solidFill>
                <a:schemeClr val="bg1"/>
              </a:solidFill>
            </a:endParaRPr>
          </a:p>
          <a:p>
            <a:pPr algn="just"/>
            <a:r>
              <a:rPr lang="en-US" sz="700" dirty="0">
                <a:solidFill>
                  <a:schemeClr val="bg1"/>
                </a:solidFill>
              </a:rPr>
              <a:t>  template:</a:t>
            </a:r>
          </a:p>
          <a:p>
            <a:pPr algn="just"/>
            <a:r>
              <a:rPr lang="en-US" sz="700" dirty="0">
                <a:solidFill>
                  <a:schemeClr val="bg1"/>
                </a:solidFill>
              </a:rPr>
              <a:t>    metadata:</a:t>
            </a:r>
          </a:p>
          <a:p>
            <a:pPr algn="just"/>
            <a:r>
              <a:rPr lang="en-US" sz="700" dirty="0">
                <a:solidFill>
                  <a:schemeClr val="bg1"/>
                </a:solidFill>
              </a:rPr>
              <a:t>      labels:</a:t>
            </a:r>
          </a:p>
          <a:p>
            <a:pPr algn="just"/>
            <a:r>
              <a:rPr lang="en-US" sz="700" dirty="0">
                <a:solidFill>
                  <a:schemeClr val="bg1"/>
                </a:solidFill>
              </a:rPr>
              <a:t>        app: </a:t>
            </a:r>
            <a:r>
              <a:rPr lang="en-US" sz="700" dirty="0" err="1">
                <a:solidFill>
                  <a:schemeClr val="bg1"/>
                </a:solidFill>
              </a:rPr>
              <a:t>drawio</a:t>
            </a:r>
            <a:endParaRPr lang="en-US" sz="700" dirty="0">
              <a:solidFill>
                <a:schemeClr val="bg1"/>
              </a:solidFill>
            </a:endParaRPr>
          </a:p>
          <a:p>
            <a:pPr algn="just"/>
            <a:r>
              <a:rPr lang="en-US" sz="700" dirty="0">
                <a:solidFill>
                  <a:schemeClr val="bg1"/>
                </a:solidFill>
              </a:rPr>
              <a:t>    spec:</a:t>
            </a:r>
          </a:p>
          <a:p>
            <a:pPr algn="just"/>
            <a:r>
              <a:rPr lang="en-US" sz="700" dirty="0">
                <a:solidFill>
                  <a:schemeClr val="bg1"/>
                </a:solidFill>
              </a:rPr>
              <a:t>      containers:</a:t>
            </a:r>
          </a:p>
          <a:p>
            <a:pPr algn="just"/>
            <a:r>
              <a:rPr lang="en-US" sz="700" dirty="0">
                <a:solidFill>
                  <a:schemeClr val="bg1"/>
                </a:solidFill>
              </a:rPr>
              <a:t>      - name: </a:t>
            </a:r>
            <a:r>
              <a:rPr lang="en-US" sz="700" dirty="0" err="1">
                <a:solidFill>
                  <a:schemeClr val="bg1"/>
                </a:solidFill>
              </a:rPr>
              <a:t>drawio</a:t>
            </a:r>
            <a:endParaRPr lang="en-US" sz="700" dirty="0">
              <a:solidFill>
                <a:schemeClr val="bg1"/>
              </a:solidFill>
            </a:endParaRPr>
          </a:p>
          <a:p>
            <a:pPr algn="just"/>
            <a:r>
              <a:rPr lang="en-US" sz="700" dirty="0">
                <a:solidFill>
                  <a:schemeClr val="bg1"/>
                </a:solidFill>
              </a:rPr>
              <a:t>        image: </a:t>
            </a:r>
            <a:r>
              <a:rPr lang="en-US" sz="700" dirty="0" err="1">
                <a:solidFill>
                  <a:schemeClr val="bg1"/>
                </a:solidFill>
              </a:rPr>
              <a:t>jgraph</a:t>
            </a:r>
            <a:r>
              <a:rPr lang="en-US" sz="700" dirty="0">
                <a:solidFill>
                  <a:schemeClr val="bg1"/>
                </a:solidFill>
              </a:rPr>
              <a:t>/</a:t>
            </a:r>
            <a:r>
              <a:rPr lang="en-US" sz="700" dirty="0" err="1">
                <a:solidFill>
                  <a:schemeClr val="bg1"/>
                </a:solidFill>
              </a:rPr>
              <a:t>drawio</a:t>
            </a:r>
            <a:endParaRPr lang="en-US" sz="700" dirty="0">
              <a:solidFill>
                <a:schemeClr val="bg1"/>
              </a:solidFill>
            </a:endParaRPr>
          </a:p>
          <a:p>
            <a:pPr algn="just"/>
            <a:r>
              <a:rPr lang="en-US" sz="700" dirty="0">
                <a:solidFill>
                  <a:schemeClr val="bg1"/>
                </a:solidFill>
              </a:rPr>
              <a:t>        resources:</a:t>
            </a:r>
          </a:p>
          <a:p>
            <a:pPr algn="just"/>
            <a:r>
              <a:rPr lang="en-US" sz="700" dirty="0">
                <a:solidFill>
                  <a:schemeClr val="bg1"/>
                </a:solidFill>
              </a:rPr>
              <a:t>          limits:</a:t>
            </a:r>
          </a:p>
          <a:p>
            <a:pPr algn="just"/>
            <a:r>
              <a:rPr lang="en-US" sz="700" dirty="0">
                <a:solidFill>
                  <a:schemeClr val="bg1"/>
                </a:solidFill>
              </a:rPr>
              <a:t>            memory: "256Mi"</a:t>
            </a:r>
          </a:p>
          <a:p>
            <a:pPr algn="just"/>
            <a:r>
              <a:rPr lang="en-US" sz="700" dirty="0">
                <a:solidFill>
                  <a:schemeClr val="bg1"/>
                </a:solidFill>
              </a:rPr>
              <a:t>            </a:t>
            </a:r>
            <a:r>
              <a:rPr lang="en-US" sz="700" dirty="0" err="1">
                <a:solidFill>
                  <a:schemeClr val="bg1"/>
                </a:solidFill>
              </a:rPr>
              <a:t>cpu</a:t>
            </a:r>
            <a:r>
              <a:rPr lang="en-US" sz="700" dirty="0">
                <a:solidFill>
                  <a:schemeClr val="bg1"/>
                </a:solidFill>
              </a:rPr>
              <a:t>: "800m"</a:t>
            </a:r>
          </a:p>
          <a:p>
            <a:pPr algn="just"/>
            <a:r>
              <a:rPr lang="en-US" sz="700" dirty="0">
                <a:solidFill>
                  <a:schemeClr val="bg1"/>
                </a:solidFill>
              </a:rPr>
              <a:t>        ports:</a:t>
            </a:r>
          </a:p>
          <a:p>
            <a:pPr algn="just"/>
            <a:r>
              <a:rPr lang="en-US" sz="700" dirty="0">
                <a:solidFill>
                  <a:schemeClr val="bg1"/>
                </a:solidFill>
              </a:rPr>
              <a:t>        - </a:t>
            </a:r>
            <a:r>
              <a:rPr lang="en-US" sz="700" dirty="0" err="1">
                <a:solidFill>
                  <a:schemeClr val="bg1"/>
                </a:solidFill>
              </a:rPr>
              <a:t>containerPort</a:t>
            </a:r>
            <a:r>
              <a:rPr lang="en-US" sz="700" dirty="0">
                <a:solidFill>
                  <a:schemeClr val="bg1"/>
                </a:solidFill>
              </a:rPr>
              <a:t>: 8080</a:t>
            </a:r>
          </a:p>
          <a:p>
            <a:pPr algn="just"/>
            <a:r>
              <a:rPr lang="en-US" sz="700" dirty="0">
                <a:solidFill>
                  <a:schemeClr val="bg1"/>
                </a:solidFill>
              </a:rPr>
              <a:t>---</a:t>
            </a:r>
          </a:p>
          <a:p>
            <a:pPr algn="just"/>
            <a:r>
              <a:rPr lang="en-US" sz="700" dirty="0" err="1">
                <a:solidFill>
                  <a:schemeClr val="bg1"/>
                </a:solidFill>
              </a:rPr>
              <a:t>apiVersion</a:t>
            </a:r>
            <a:r>
              <a:rPr lang="en-US" sz="700" dirty="0">
                <a:solidFill>
                  <a:schemeClr val="bg1"/>
                </a:solidFill>
              </a:rPr>
              <a:t>: v1</a:t>
            </a:r>
          </a:p>
          <a:p>
            <a:pPr algn="just"/>
            <a:r>
              <a:rPr lang="en-US" sz="700" dirty="0">
                <a:solidFill>
                  <a:schemeClr val="bg1"/>
                </a:solidFill>
              </a:rPr>
              <a:t>kind: Service</a:t>
            </a:r>
          </a:p>
          <a:p>
            <a:pPr algn="just"/>
            <a:r>
              <a:rPr lang="en-US" sz="700" dirty="0">
                <a:solidFill>
                  <a:schemeClr val="bg1"/>
                </a:solidFill>
              </a:rPr>
              <a:t>metadata:</a:t>
            </a:r>
          </a:p>
          <a:p>
            <a:pPr algn="just"/>
            <a:r>
              <a:rPr lang="en-US" sz="700" dirty="0">
                <a:solidFill>
                  <a:schemeClr val="bg1"/>
                </a:solidFill>
              </a:rPr>
              <a:t>  namespace: home-cloud-</a:t>
            </a:r>
            <a:r>
              <a:rPr lang="en-US" sz="700" dirty="0" err="1">
                <a:solidFill>
                  <a:schemeClr val="bg1"/>
                </a:solidFill>
              </a:rPr>
              <a:t>drawio</a:t>
            </a:r>
            <a:endParaRPr lang="en-US" sz="700" dirty="0">
              <a:solidFill>
                <a:schemeClr val="bg1"/>
              </a:solidFill>
            </a:endParaRPr>
          </a:p>
          <a:p>
            <a:pPr algn="just"/>
            <a:r>
              <a:rPr lang="en-US" sz="700" dirty="0">
                <a:solidFill>
                  <a:schemeClr val="bg1"/>
                </a:solidFill>
              </a:rPr>
              <a:t>  name: </a:t>
            </a:r>
            <a:r>
              <a:rPr lang="en-US" sz="700" dirty="0" err="1">
                <a:solidFill>
                  <a:schemeClr val="bg1"/>
                </a:solidFill>
              </a:rPr>
              <a:t>drawio</a:t>
            </a:r>
            <a:r>
              <a:rPr lang="en-US" sz="700" dirty="0">
                <a:solidFill>
                  <a:schemeClr val="bg1"/>
                </a:solidFill>
              </a:rPr>
              <a:t>-service</a:t>
            </a:r>
          </a:p>
          <a:p>
            <a:pPr algn="just"/>
            <a:r>
              <a:rPr lang="en-US" sz="700" dirty="0">
                <a:solidFill>
                  <a:schemeClr val="bg1"/>
                </a:solidFill>
              </a:rPr>
              <a:t>spec:</a:t>
            </a:r>
          </a:p>
          <a:p>
            <a:pPr algn="just"/>
            <a:r>
              <a:rPr lang="en-US" sz="700" dirty="0">
                <a:solidFill>
                  <a:schemeClr val="bg1"/>
                </a:solidFill>
              </a:rPr>
              <a:t>  selector:</a:t>
            </a:r>
          </a:p>
          <a:p>
            <a:pPr algn="just"/>
            <a:r>
              <a:rPr lang="en-US" sz="700" dirty="0">
                <a:solidFill>
                  <a:schemeClr val="bg1"/>
                </a:solidFill>
              </a:rPr>
              <a:t>    app: </a:t>
            </a:r>
            <a:r>
              <a:rPr lang="en-US" sz="700" dirty="0" err="1">
                <a:solidFill>
                  <a:schemeClr val="bg1"/>
                </a:solidFill>
              </a:rPr>
              <a:t>drawio</a:t>
            </a:r>
            <a:endParaRPr lang="en-US" sz="700" dirty="0">
              <a:solidFill>
                <a:schemeClr val="bg1"/>
              </a:solidFill>
            </a:endParaRPr>
          </a:p>
          <a:p>
            <a:pPr algn="just"/>
            <a:r>
              <a:rPr lang="en-US" sz="700" dirty="0">
                <a:solidFill>
                  <a:schemeClr val="bg1"/>
                </a:solidFill>
              </a:rPr>
              <a:t>  ports:</a:t>
            </a:r>
          </a:p>
          <a:p>
            <a:pPr algn="just"/>
            <a:r>
              <a:rPr lang="en-US" sz="700" dirty="0">
                <a:solidFill>
                  <a:schemeClr val="bg1"/>
                </a:solidFill>
              </a:rPr>
              <a:t>  - port: 5001</a:t>
            </a:r>
          </a:p>
          <a:p>
            <a:pPr algn="just"/>
            <a:r>
              <a:rPr lang="en-US" sz="700" dirty="0">
                <a:solidFill>
                  <a:schemeClr val="bg1"/>
                </a:solidFill>
              </a:rPr>
              <a:t>    </a:t>
            </a:r>
            <a:r>
              <a:rPr lang="en-US" sz="700" dirty="0" err="1">
                <a:solidFill>
                  <a:schemeClr val="bg1"/>
                </a:solidFill>
              </a:rPr>
              <a:t>targetPort</a:t>
            </a:r>
            <a:r>
              <a:rPr lang="en-US" sz="700" dirty="0">
                <a:solidFill>
                  <a:schemeClr val="bg1"/>
                </a:solidFill>
              </a:rPr>
              <a:t>: 8080</a:t>
            </a:r>
          </a:p>
          <a:p>
            <a:pPr algn="just"/>
            <a:r>
              <a:rPr lang="en-US" sz="700" dirty="0">
                <a:solidFill>
                  <a:schemeClr val="bg1"/>
                </a:solidFill>
              </a:rPr>
              <a:t>---</a:t>
            </a:r>
          </a:p>
          <a:p>
            <a:pPr algn="just"/>
            <a:r>
              <a:rPr lang="en-US" sz="700" dirty="0" err="1">
                <a:solidFill>
                  <a:schemeClr val="bg1"/>
                </a:solidFill>
              </a:rPr>
              <a:t>apiVersion</a:t>
            </a:r>
            <a:r>
              <a:rPr lang="en-US" sz="700" dirty="0">
                <a:solidFill>
                  <a:schemeClr val="bg1"/>
                </a:solidFill>
              </a:rPr>
              <a:t>: networking.k8s.io/v1</a:t>
            </a:r>
          </a:p>
          <a:p>
            <a:pPr algn="just"/>
            <a:r>
              <a:rPr lang="en-US" sz="700" dirty="0">
                <a:solidFill>
                  <a:schemeClr val="bg1"/>
                </a:solidFill>
              </a:rPr>
              <a:t>kind: Ingress</a:t>
            </a:r>
          </a:p>
          <a:p>
            <a:pPr algn="just"/>
            <a:r>
              <a:rPr lang="en-US" sz="700" dirty="0">
                <a:solidFill>
                  <a:schemeClr val="bg1"/>
                </a:solidFill>
              </a:rPr>
              <a:t>metadata:</a:t>
            </a:r>
          </a:p>
          <a:p>
            <a:pPr algn="just"/>
            <a:r>
              <a:rPr lang="en-US" sz="700" dirty="0">
                <a:solidFill>
                  <a:schemeClr val="bg1"/>
                </a:solidFill>
              </a:rPr>
              <a:t>  namespace: home-cloud-</a:t>
            </a:r>
            <a:r>
              <a:rPr lang="en-US" sz="700" dirty="0" err="1">
                <a:solidFill>
                  <a:schemeClr val="bg1"/>
                </a:solidFill>
              </a:rPr>
              <a:t>drawio</a:t>
            </a:r>
            <a:endParaRPr lang="en-US" sz="700" dirty="0">
              <a:solidFill>
                <a:schemeClr val="bg1"/>
              </a:solidFill>
            </a:endParaRPr>
          </a:p>
          <a:p>
            <a:pPr algn="just"/>
            <a:r>
              <a:rPr lang="en-US" sz="700" dirty="0">
                <a:solidFill>
                  <a:schemeClr val="bg1"/>
                </a:solidFill>
              </a:rPr>
              <a:t>  name: </a:t>
            </a:r>
            <a:r>
              <a:rPr lang="en-US" sz="700" dirty="0" err="1">
                <a:solidFill>
                  <a:schemeClr val="bg1"/>
                </a:solidFill>
              </a:rPr>
              <a:t>drawio</a:t>
            </a:r>
            <a:r>
              <a:rPr lang="en-US" sz="700" dirty="0">
                <a:solidFill>
                  <a:schemeClr val="bg1"/>
                </a:solidFill>
              </a:rPr>
              <a:t>-ingress</a:t>
            </a:r>
          </a:p>
          <a:p>
            <a:pPr algn="just"/>
            <a:r>
              <a:rPr lang="en-US" sz="700" dirty="0">
                <a:solidFill>
                  <a:schemeClr val="bg1"/>
                </a:solidFill>
              </a:rPr>
              <a:t>  labels:</a:t>
            </a:r>
          </a:p>
          <a:p>
            <a:pPr algn="just"/>
            <a:r>
              <a:rPr lang="en-US" sz="700" dirty="0">
                <a:solidFill>
                  <a:schemeClr val="bg1"/>
                </a:solidFill>
              </a:rPr>
              <a:t>    name: </a:t>
            </a:r>
            <a:r>
              <a:rPr lang="en-US" sz="700" dirty="0" err="1">
                <a:solidFill>
                  <a:schemeClr val="bg1"/>
                </a:solidFill>
              </a:rPr>
              <a:t>drawio</a:t>
            </a:r>
            <a:r>
              <a:rPr lang="en-US" sz="700" dirty="0">
                <a:solidFill>
                  <a:schemeClr val="bg1"/>
                </a:solidFill>
              </a:rPr>
              <a:t>-ingress</a:t>
            </a:r>
          </a:p>
          <a:p>
            <a:pPr algn="just"/>
            <a:r>
              <a:rPr lang="en-US" sz="700" dirty="0">
                <a:solidFill>
                  <a:schemeClr val="bg1"/>
                </a:solidFill>
              </a:rPr>
              <a:t>spec:</a:t>
            </a:r>
          </a:p>
          <a:p>
            <a:pPr algn="just"/>
            <a:r>
              <a:rPr lang="en-US" sz="700" dirty="0">
                <a:solidFill>
                  <a:schemeClr val="bg1"/>
                </a:solidFill>
              </a:rPr>
              <a:t>  rules:</a:t>
            </a:r>
          </a:p>
          <a:p>
            <a:pPr algn="just"/>
            <a:r>
              <a:rPr lang="en-US" sz="700" dirty="0">
                <a:solidFill>
                  <a:schemeClr val="bg1"/>
                </a:solidFill>
              </a:rPr>
              <a:t>  - host: home-cloud-</a:t>
            </a:r>
            <a:r>
              <a:rPr lang="en-US" sz="700" dirty="0" err="1">
                <a:solidFill>
                  <a:schemeClr val="bg1"/>
                </a:solidFill>
              </a:rPr>
              <a:t>drawio</a:t>
            </a:r>
            <a:endParaRPr lang="en-US" sz="700" dirty="0">
              <a:solidFill>
                <a:schemeClr val="bg1"/>
              </a:solidFill>
            </a:endParaRPr>
          </a:p>
          <a:p>
            <a:pPr algn="just"/>
            <a:r>
              <a:rPr lang="en-US" sz="700" dirty="0">
                <a:solidFill>
                  <a:schemeClr val="bg1"/>
                </a:solidFill>
              </a:rPr>
              <a:t>    http:</a:t>
            </a:r>
          </a:p>
          <a:p>
            <a:pPr algn="just"/>
            <a:r>
              <a:rPr lang="en-US" sz="700" dirty="0">
                <a:solidFill>
                  <a:schemeClr val="bg1"/>
                </a:solidFill>
              </a:rPr>
              <a:t>      paths:</a:t>
            </a:r>
          </a:p>
          <a:p>
            <a:pPr algn="just"/>
            <a:r>
              <a:rPr lang="en-US" sz="700" dirty="0">
                <a:solidFill>
                  <a:schemeClr val="bg1"/>
                </a:solidFill>
              </a:rPr>
              <a:t>      - </a:t>
            </a:r>
            <a:r>
              <a:rPr lang="en-US" sz="700" dirty="0" err="1">
                <a:solidFill>
                  <a:schemeClr val="bg1"/>
                </a:solidFill>
              </a:rPr>
              <a:t>pathType</a:t>
            </a:r>
            <a:r>
              <a:rPr lang="en-US" sz="700" dirty="0">
                <a:solidFill>
                  <a:schemeClr val="bg1"/>
                </a:solidFill>
              </a:rPr>
              <a:t>: Prefix</a:t>
            </a:r>
          </a:p>
          <a:p>
            <a:pPr algn="just"/>
            <a:r>
              <a:rPr lang="en-US" sz="700" dirty="0">
                <a:solidFill>
                  <a:schemeClr val="bg1"/>
                </a:solidFill>
              </a:rPr>
              <a:t>        path: "/"</a:t>
            </a:r>
          </a:p>
          <a:p>
            <a:pPr algn="just"/>
            <a:r>
              <a:rPr lang="en-US" sz="700" dirty="0">
                <a:solidFill>
                  <a:schemeClr val="bg1"/>
                </a:solidFill>
              </a:rPr>
              <a:t>        backend:</a:t>
            </a:r>
          </a:p>
          <a:p>
            <a:pPr algn="just"/>
            <a:r>
              <a:rPr lang="en-US" sz="700" dirty="0">
                <a:solidFill>
                  <a:schemeClr val="bg1"/>
                </a:solidFill>
              </a:rPr>
              <a:t>          service:</a:t>
            </a:r>
          </a:p>
          <a:p>
            <a:pPr algn="just"/>
            <a:r>
              <a:rPr lang="en-US" sz="700" dirty="0">
                <a:solidFill>
                  <a:schemeClr val="bg1"/>
                </a:solidFill>
              </a:rPr>
              <a:t>            name: </a:t>
            </a:r>
            <a:r>
              <a:rPr lang="en-US" sz="700" dirty="0" err="1">
                <a:solidFill>
                  <a:schemeClr val="bg1"/>
                </a:solidFill>
              </a:rPr>
              <a:t>drawio</a:t>
            </a:r>
            <a:r>
              <a:rPr lang="en-US" sz="700" dirty="0">
                <a:solidFill>
                  <a:schemeClr val="bg1"/>
                </a:solidFill>
              </a:rPr>
              <a:t>-service</a:t>
            </a:r>
          </a:p>
          <a:p>
            <a:pPr algn="just"/>
            <a:r>
              <a:rPr lang="en-US" sz="700" dirty="0">
                <a:solidFill>
                  <a:schemeClr val="bg1"/>
                </a:solidFill>
              </a:rPr>
              <a:t>            port: </a:t>
            </a:r>
          </a:p>
          <a:p>
            <a:pPr algn="just"/>
            <a:r>
              <a:rPr lang="en-US" sz="700" dirty="0">
                <a:solidFill>
                  <a:schemeClr val="bg1"/>
                </a:solidFill>
              </a:rPr>
              <a:t>              number: 5001</a:t>
            </a:r>
          </a:p>
          <a:p>
            <a:pPr algn="just"/>
            <a:r>
              <a:rPr lang="en-US" sz="700" dirty="0">
                <a:solidFill>
                  <a:schemeClr val="bg1"/>
                </a:solidFill>
              </a:rPr>
              <a:t>  </a:t>
            </a:r>
            <a:r>
              <a:rPr lang="en-US" sz="700" dirty="0" err="1">
                <a:solidFill>
                  <a:schemeClr val="bg1"/>
                </a:solidFill>
              </a:rPr>
              <a:t>ingressClassName</a:t>
            </a:r>
            <a:r>
              <a:rPr lang="en-US" sz="700" dirty="0">
                <a:solidFill>
                  <a:schemeClr val="bg1"/>
                </a:solidFill>
              </a:rPr>
              <a:t>: "</a:t>
            </a:r>
            <a:r>
              <a:rPr lang="en-US" sz="700" dirty="0" err="1">
                <a:solidFill>
                  <a:schemeClr val="bg1"/>
                </a:solidFill>
              </a:rPr>
              <a:t>nginx</a:t>
            </a:r>
            <a:r>
              <a:rPr lang="en-US" sz="700" dirty="0">
                <a:solidFill>
                  <a:schemeClr val="bg1"/>
                </a:solidFill>
              </a:rPr>
              <a:t>"</a:t>
            </a:r>
          </a:p>
          <a:p>
            <a:pPr algn="just"/>
            <a:endParaRPr lang="en-US" sz="700" dirty="0">
              <a:solidFill>
                <a:schemeClr val="bg1"/>
              </a:solidFill>
            </a:endParaRPr>
          </a:p>
        </p:txBody>
      </p:sp>
    </p:spTree>
    <p:extLst>
      <p:ext uri="{BB962C8B-B14F-4D97-AF65-F5344CB8AC3E}">
        <p14:creationId xmlns:p14="http://schemas.microsoft.com/office/powerpoint/2010/main" val="406524275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8478754" y="119072"/>
            <a:ext cx="3552383" cy="400110"/>
          </a:xfrm>
          <a:prstGeom prst="rect">
            <a:avLst/>
          </a:prstGeom>
        </p:spPr>
        <p:txBody>
          <a:bodyPr wrap="none">
            <a:spAutoFit/>
          </a:bodyPr>
          <a:lstStyle/>
          <a:p>
            <a:r>
              <a:rPr lang="en-US" sz="2000" b="1" dirty="0">
                <a:solidFill>
                  <a:srgbClr val="FFC000"/>
                </a:solidFill>
              </a:rPr>
              <a:t>Docker and </a:t>
            </a:r>
            <a:r>
              <a:rPr lang="en-US" sz="2000" b="1" dirty="0" smtClean="0">
                <a:solidFill>
                  <a:srgbClr val="FFC000"/>
                </a:solidFill>
              </a:rPr>
              <a:t>Kubernetes (</a:t>
            </a:r>
            <a:r>
              <a:rPr lang="en-US" sz="2000" b="1" dirty="0" err="1" smtClean="0">
                <a:solidFill>
                  <a:srgbClr val="FFC000"/>
                </a:solidFill>
              </a:rPr>
              <a:t>Cons’t</a:t>
            </a:r>
            <a:r>
              <a:rPr lang="en-US" sz="2000" b="1" dirty="0" smtClean="0">
                <a:solidFill>
                  <a:srgbClr val="FFC000"/>
                </a:solidFill>
              </a:rPr>
              <a:t>)</a:t>
            </a:r>
            <a:endParaRPr lang="en-US" sz="2000" dirty="0">
              <a:solidFill>
                <a:srgbClr val="FFC000"/>
              </a:solidFill>
            </a:endParaRPr>
          </a:p>
        </p:txBody>
      </p:sp>
      <p:sp>
        <p:nvSpPr>
          <p:cNvPr id="5" name="Rectangle 4"/>
          <p:cNvSpPr/>
          <p:nvPr/>
        </p:nvSpPr>
        <p:spPr>
          <a:xfrm>
            <a:off x="245533" y="519182"/>
            <a:ext cx="5410201" cy="369332"/>
          </a:xfrm>
          <a:prstGeom prst="rect">
            <a:avLst/>
          </a:prstGeom>
        </p:spPr>
        <p:txBody>
          <a:bodyPr wrap="square">
            <a:spAutoFit/>
          </a:bodyPr>
          <a:lstStyle/>
          <a:p>
            <a:r>
              <a:rPr lang="en-US" b="1" dirty="0" smtClean="0"/>
              <a:t>Kubernetes </a:t>
            </a:r>
            <a:r>
              <a:rPr lang="en-US" b="1" dirty="0"/>
              <a:t>: Application Example</a:t>
            </a:r>
          </a:p>
        </p:txBody>
      </p:sp>
      <p:sp>
        <p:nvSpPr>
          <p:cNvPr id="4" name="Rectangle 3"/>
          <p:cNvSpPr/>
          <p:nvPr/>
        </p:nvSpPr>
        <p:spPr>
          <a:xfrm>
            <a:off x="245533" y="1140305"/>
            <a:ext cx="6392334" cy="2031325"/>
          </a:xfrm>
          <a:prstGeom prst="rect">
            <a:avLst/>
          </a:prstGeom>
        </p:spPr>
        <p:txBody>
          <a:bodyPr wrap="square">
            <a:spAutoFit/>
          </a:bodyPr>
          <a:lstStyle/>
          <a:p>
            <a:pPr algn="just"/>
            <a:endParaRPr lang="en-US" dirty="0"/>
          </a:p>
          <a:p>
            <a:pPr marL="342900" indent="-342900" algn="just">
              <a:buFont typeface="+mj-lt"/>
              <a:buAutoNum type="alphaLcPeriod" startAt="3"/>
            </a:pPr>
            <a:r>
              <a:rPr lang="en-US" dirty="0" smtClean="0"/>
              <a:t>As </a:t>
            </a:r>
            <a:r>
              <a:rPr lang="en-US" dirty="0"/>
              <a:t>a third step, we apply the configuration contained in the </a:t>
            </a:r>
            <a:r>
              <a:rPr lang="en-US" dirty="0" err="1"/>
              <a:t>drawio-app.yml</a:t>
            </a:r>
            <a:r>
              <a:rPr lang="en-US" dirty="0"/>
              <a:t> file:: </a:t>
            </a:r>
            <a:endParaRPr lang="en-US" dirty="0" smtClean="0"/>
          </a:p>
          <a:p>
            <a:pPr algn="just"/>
            <a:endParaRPr lang="en-US" dirty="0"/>
          </a:p>
          <a:p>
            <a:pPr algn="just"/>
            <a:r>
              <a:rPr lang="en-US" dirty="0"/>
              <a:t> </a:t>
            </a:r>
            <a:r>
              <a:rPr lang="en-US" dirty="0" smtClean="0"/>
              <a:t>      $ </a:t>
            </a:r>
            <a:r>
              <a:rPr lang="en-US" dirty="0" err="1"/>
              <a:t>kubectl</a:t>
            </a:r>
            <a:r>
              <a:rPr lang="en-US" dirty="0"/>
              <a:t> </a:t>
            </a:r>
            <a:r>
              <a:rPr lang="en-US" dirty="0" smtClean="0"/>
              <a:t>apply –f  </a:t>
            </a:r>
            <a:r>
              <a:rPr lang="en-US" dirty="0" err="1" smtClean="0"/>
              <a:t>drawio-app.yml</a:t>
            </a:r>
            <a:endParaRPr lang="en-US" dirty="0" smtClean="0"/>
          </a:p>
          <a:p>
            <a:pPr algn="just"/>
            <a:endParaRPr lang="en-US" dirty="0"/>
          </a:p>
          <a:p>
            <a:pPr algn="just"/>
            <a:endParaRPr lang="en-US" dirty="0" smtClean="0"/>
          </a:p>
        </p:txBody>
      </p:sp>
      <p:sp>
        <p:nvSpPr>
          <p:cNvPr id="8" name="Rectangle 7"/>
          <p:cNvSpPr/>
          <p:nvPr/>
        </p:nvSpPr>
        <p:spPr>
          <a:xfrm>
            <a:off x="694265" y="2684757"/>
            <a:ext cx="5494870" cy="738664"/>
          </a:xfrm>
          <a:prstGeom prst="rect">
            <a:avLst/>
          </a:prstGeom>
          <a:solidFill>
            <a:schemeClr val="tx1"/>
          </a:solidFill>
        </p:spPr>
        <p:txBody>
          <a:bodyPr wrap="square">
            <a:spAutoFit/>
          </a:bodyPr>
          <a:lstStyle/>
          <a:p>
            <a:pPr algn="just"/>
            <a:r>
              <a:rPr lang="en-US" sz="1400" dirty="0" err="1">
                <a:solidFill>
                  <a:schemeClr val="bg1">
                    <a:lumMod val="95000"/>
                  </a:schemeClr>
                </a:solidFill>
              </a:rPr>
              <a:t>root@administrator</a:t>
            </a:r>
            <a:r>
              <a:rPr lang="en-US" sz="1400" dirty="0">
                <a:solidFill>
                  <a:schemeClr val="bg1">
                    <a:lumMod val="95000"/>
                  </a:schemeClr>
                </a:solidFill>
              </a:rPr>
              <a:t>:/home/panda/GPU2# </a:t>
            </a:r>
            <a:endParaRPr lang="en-US" sz="1400" dirty="0" smtClean="0">
              <a:solidFill>
                <a:schemeClr val="bg1">
                  <a:lumMod val="95000"/>
                </a:schemeClr>
              </a:solidFill>
            </a:endParaRPr>
          </a:p>
          <a:p>
            <a:pPr algn="just"/>
            <a:endParaRPr lang="en-US" sz="1400" dirty="0" smtClean="0">
              <a:solidFill>
                <a:schemeClr val="bg1">
                  <a:lumMod val="95000"/>
                </a:schemeClr>
              </a:solidFill>
            </a:endParaRPr>
          </a:p>
          <a:p>
            <a:pPr algn="just"/>
            <a:r>
              <a:rPr lang="en-US" sz="1400" dirty="0">
                <a:solidFill>
                  <a:schemeClr val="bg1"/>
                </a:solidFill>
              </a:rPr>
              <a:t>$ </a:t>
            </a:r>
            <a:r>
              <a:rPr lang="en-US" sz="1400" dirty="0" err="1">
                <a:solidFill>
                  <a:schemeClr val="bg1"/>
                </a:solidFill>
              </a:rPr>
              <a:t>kubectl</a:t>
            </a:r>
            <a:r>
              <a:rPr lang="en-US" sz="1400" dirty="0">
                <a:solidFill>
                  <a:schemeClr val="bg1"/>
                </a:solidFill>
              </a:rPr>
              <a:t> apply –f  </a:t>
            </a:r>
            <a:r>
              <a:rPr lang="en-US" sz="1400" dirty="0" err="1">
                <a:solidFill>
                  <a:schemeClr val="bg1"/>
                </a:solidFill>
              </a:rPr>
              <a:t>drawio-app.yml</a:t>
            </a:r>
            <a:endParaRPr lang="en-US" sz="1400" dirty="0">
              <a:solidFill>
                <a:schemeClr val="bg1"/>
              </a:solidFill>
            </a:endParaRPr>
          </a:p>
        </p:txBody>
      </p:sp>
      <p:sp>
        <p:nvSpPr>
          <p:cNvPr id="2" name="Rectangle 1"/>
          <p:cNvSpPr/>
          <p:nvPr/>
        </p:nvSpPr>
        <p:spPr>
          <a:xfrm>
            <a:off x="393700" y="3977418"/>
            <a:ext cx="6159500" cy="1477328"/>
          </a:xfrm>
          <a:prstGeom prst="rect">
            <a:avLst/>
          </a:prstGeom>
        </p:spPr>
        <p:txBody>
          <a:bodyPr wrap="square">
            <a:spAutoFit/>
          </a:bodyPr>
          <a:lstStyle/>
          <a:p>
            <a:pPr algn="just"/>
            <a:r>
              <a:rPr lang="en-US" b="1" dirty="0" err="1" smtClean="0">
                <a:solidFill>
                  <a:srgbClr val="333333"/>
                </a:solidFill>
                <a:latin typeface="Noto Sans"/>
              </a:rPr>
              <a:t>OK_Goes</a:t>
            </a:r>
            <a:r>
              <a:rPr lang="en-US" b="1" dirty="0" smtClean="0">
                <a:solidFill>
                  <a:srgbClr val="333333"/>
                </a:solidFill>
                <a:latin typeface="Noto Sans"/>
              </a:rPr>
              <a:t>!!!</a:t>
            </a:r>
            <a:r>
              <a:rPr lang="en-US" dirty="0">
                <a:solidFill>
                  <a:srgbClr val="333333"/>
                </a:solidFill>
                <a:latin typeface="Noto Sans"/>
              </a:rPr>
              <a:t> We have basically created a </a:t>
            </a:r>
            <a:r>
              <a:rPr lang="en-US" b="1" dirty="0">
                <a:solidFill>
                  <a:srgbClr val="333333"/>
                </a:solidFill>
                <a:latin typeface="Noto Sans"/>
                <a:hlinkClick r:id="rId3"/>
              </a:rPr>
              <a:t>Deployment</a:t>
            </a:r>
            <a:r>
              <a:rPr lang="en-US" dirty="0">
                <a:solidFill>
                  <a:srgbClr val="333333"/>
                </a:solidFill>
                <a:latin typeface="Noto Sans"/>
              </a:rPr>
              <a:t>, which includes a </a:t>
            </a:r>
            <a:r>
              <a:rPr lang="en-US" b="1" dirty="0">
                <a:solidFill>
                  <a:srgbClr val="333333"/>
                </a:solidFill>
                <a:latin typeface="Noto Sans"/>
                <a:hlinkClick r:id="rId4"/>
              </a:rPr>
              <a:t>Service</a:t>
            </a:r>
            <a:r>
              <a:rPr lang="en-US" dirty="0">
                <a:solidFill>
                  <a:srgbClr val="333333"/>
                </a:solidFill>
                <a:latin typeface="Noto Sans"/>
              </a:rPr>
              <a:t> and </a:t>
            </a:r>
            <a:r>
              <a:rPr lang="en-US" b="1" dirty="0">
                <a:solidFill>
                  <a:srgbClr val="333333"/>
                </a:solidFill>
                <a:latin typeface="Noto Sans"/>
                <a:hlinkClick r:id="rId5"/>
              </a:rPr>
              <a:t>Ingress</a:t>
            </a:r>
            <a:r>
              <a:rPr lang="en-US" dirty="0">
                <a:solidFill>
                  <a:srgbClr val="333333"/>
                </a:solidFill>
                <a:latin typeface="Noto Sans"/>
              </a:rPr>
              <a:t> configuration </a:t>
            </a:r>
            <a:r>
              <a:rPr lang="en-US" b="1" dirty="0">
                <a:solidFill>
                  <a:srgbClr val="333333"/>
                </a:solidFill>
                <a:latin typeface="Noto Sans"/>
              </a:rPr>
              <a:t>to access our hosted app from outside the cluster</a:t>
            </a:r>
            <a:r>
              <a:rPr lang="en-US" dirty="0">
                <a:solidFill>
                  <a:srgbClr val="333333"/>
                </a:solidFill>
                <a:latin typeface="Noto Sans"/>
              </a:rPr>
              <a:t>.</a:t>
            </a:r>
          </a:p>
          <a:p>
            <a:pPr algn="just"/>
            <a:r>
              <a:rPr lang="en-US" b="1" dirty="0">
                <a:solidFill>
                  <a:srgbClr val="333333"/>
                </a:solidFill>
                <a:latin typeface="Noto Sans"/>
              </a:rPr>
              <a:t>Now let’s check the running services to corroborate that everything works as expected:</a:t>
            </a:r>
            <a:endParaRPr lang="en-US" b="0" i="0" dirty="0">
              <a:solidFill>
                <a:srgbClr val="333333"/>
              </a:solidFill>
              <a:effectLst/>
              <a:latin typeface="Noto Sans"/>
            </a:endParaRPr>
          </a:p>
        </p:txBody>
      </p:sp>
      <p:sp>
        <p:nvSpPr>
          <p:cNvPr id="9" name="Rectangle 8"/>
          <p:cNvSpPr/>
          <p:nvPr/>
        </p:nvSpPr>
        <p:spPr>
          <a:xfrm>
            <a:off x="6697130" y="888514"/>
            <a:ext cx="5494870" cy="2462213"/>
          </a:xfrm>
          <a:prstGeom prst="rect">
            <a:avLst/>
          </a:prstGeom>
          <a:solidFill>
            <a:schemeClr val="tx1"/>
          </a:solidFill>
        </p:spPr>
        <p:txBody>
          <a:bodyPr wrap="square">
            <a:spAutoFit/>
          </a:bodyPr>
          <a:lstStyle/>
          <a:p>
            <a:pPr algn="just"/>
            <a:r>
              <a:rPr lang="en-US" sz="1400" dirty="0" err="1">
                <a:solidFill>
                  <a:schemeClr val="bg1">
                    <a:lumMod val="95000"/>
                  </a:schemeClr>
                </a:solidFill>
              </a:rPr>
              <a:t>root@administrator</a:t>
            </a:r>
            <a:r>
              <a:rPr lang="en-US" sz="1400" dirty="0">
                <a:solidFill>
                  <a:schemeClr val="bg1">
                    <a:lumMod val="95000"/>
                  </a:schemeClr>
                </a:solidFill>
              </a:rPr>
              <a:t>:/home/panda/GPU2# </a:t>
            </a:r>
            <a:endParaRPr lang="en-US" sz="1400" dirty="0" smtClean="0">
              <a:solidFill>
                <a:schemeClr val="bg1">
                  <a:lumMod val="95000"/>
                </a:schemeClr>
              </a:solidFill>
            </a:endParaRPr>
          </a:p>
          <a:p>
            <a:pPr algn="just"/>
            <a:endParaRPr lang="en-US" sz="1400" dirty="0" smtClean="0">
              <a:solidFill>
                <a:schemeClr val="bg1">
                  <a:lumMod val="95000"/>
                </a:schemeClr>
              </a:solidFill>
            </a:endParaRPr>
          </a:p>
          <a:p>
            <a:pPr algn="just"/>
            <a:r>
              <a:rPr lang="en-US" sz="1400" dirty="0" err="1">
                <a:solidFill>
                  <a:schemeClr val="bg1"/>
                </a:solidFill>
              </a:rPr>
              <a:t>kubectl</a:t>
            </a:r>
            <a:r>
              <a:rPr lang="en-US" sz="1400" dirty="0">
                <a:solidFill>
                  <a:schemeClr val="bg1"/>
                </a:solidFill>
              </a:rPr>
              <a:t> get services -o wide --all-namespaces</a:t>
            </a:r>
          </a:p>
          <a:p>
            <a:pPr algn="just"/>
            <a:endParaRPr lang="en-US" sz="1400" dirty="0">
              <a:solidFill>
                <a:schemeClr val="bg1"/>
              </a:solidFill>
            </a:endParaRPr>
          </a:p>
          <a:p>
            <a:pPr algn="just"/>
            <a:r>
              <a:rPr lang="en-US" sz="1400" dirty="0">
                <a:solidFill>
                  <a:schemeClr val="bg1"/>
                </a:solidFill>
              </a:rPr>
              <a:t>NAMESPACE            NAME              TYPE           CLUSTER-IP      EXTERNAL-IP</a:t>
            </a:r>
          </a:p>
          <a:p>
            <a:pPr algn="just"/>
            <a:r>
              <a:rPr lang="en-US" sz="1400" dirty="0">
                <a:solidFill>
                  <a:schemeClr val="bg1"/>
                </a:solidFill>
              </a:rPr>
              <a:t>default              </a:t>
            </a:r>
            <a:r>
              <a:rPr lang="en-US" sz="1400" dirty="0" err="1">
                <a:solidFill>
                  <a:schemeClr val="bg1"/>
                </a:solidFill>
              </a:rPr>
              <a:t>kubernetes</a:t>
            </a:r>
            <a:r>
              <a:rPr lang="en-US" sz="1400" dirty="0">
                <a:solidFill>
                  <a:schemeClr val="bg1"/>
                </a:solidFill>
              </a:rPr>
              <a:t>        </a:t>
            </a:r>
            <a:r>
              <a:rPr lang="en-US" sz="1400" dirty="0" err="1">
                <a:solidFill>
                  <a:schemeClr val="bg1"/>
                </a:solidFill>
              </a:rPr>
              <a:t>ClusterIP</a:t>
            </a:r>
            <a:r>
              <a:rPr lang="en-US" sz="1400" dirty="0">
                <a:solidFill>
                  <a:schemeClr val="bg1"/>
                </a:solidFill>
              </a:rPr>
              <a:t>      10.43.0.1       &lt;none&gt;           </a:t>
            </a:r>
          </a:p>
          <a:p>
            <a:pPr algn="just"/>
            <a:r>
              <a:rPr lang="en-US" sz="1400" dirty="0" err="1">
                <a:solidFill>
                  <a:schemeClr val="bg1"/>
                </a:solidFill>
              </a:rPr>
              <a:t>kube</a:t>
            </a:r>
            <a:r>
              <a:rPr lang="en-US" sz="1400" dirty="0">
                <a:solidFill>
                  <a:schemeClr val="bg1"/>
                </a:solidFill>
              </a:rPr>
              <a:t>-system          </a:t>
            </a:r>
            <a:r>
              <a:rPr lang="en-US" sz="1400" dirty="0" err="1">
                <a:solidFill>
                  <a:schemeClr val="bg1"/>
                </a:solidFill>
              </a:rPr>
              <a:t>kube-dns</a:t>
            </a:r>
            <a:r>
              <a:rPr lang="en-US" sz="1400" dirty="0">
                <a:solidFill>
                  <a:schemeClr val="bg1"/>
                </a:solidFill>
              </a:rPr>
              <a:t>          </a:t>
            </a:r>
            <a:r>
              <a:rPr lang="en-US" sz="1400" dirty="0" err="1">
                <a:solidFill>
                  <a:schemeClr val="bg1"/>
                </a:solidFill>
              </a:rPr>
              <a:t>ClusterIP</a:t>
            </a:r>
            <a:r>
              <a:rPr lang="en-US" sz="1400" dirty="0">
                <a:solidFill>
                  <a:schemeClr val="bg1"/>
                </a:solidFill>
              </a:rPr>
              <a:t>      10.43.0.10      &lt;none&gt;           </a:t>
            </a:r>
          </a:p>
          <a:p>
            <a:pPr algn="just"/>
            <a:r>
              <a:rPr lang="en-US" sz="1400" dirty="0" err="1">
                <a:solidFill>
                  <a:schemeClr val="bg1"/>
                </a:solidFill>
              </a:rPr>
              <a:t>kube</a:t>
            </a:r>
            <a:r>
              <a:rPr lang="en-US" sz="1400" dirty="0">
                <a:solidFill>
                  <a:schemeClr val="bg1"/>
                </a:solidFill>
              </a:rPr>
              <a:t>-system          metrics-server    </a:t>
            </a:r>
            <a:r>
              <a:rPr lang="en-US" sz="1400" dirty="0" err="1">
                <a:solidFill>
                  <a:schemeClr val="bg1"/>
                </a:solidFill>
              </a:rPr>
              <a:t>ClusterIP</a:t>
            </a:r>
            <a:r>
              <a:rPr lang="en-US" sz="1400" dirty="0">
                <a:solidFill>
                  <a:schemeClr val="bg1"/>
                </a:solidFill>
              </a:rPr>
              <a:t>      10.43.33.97     &lt;none&gt;           </a:t>
            </a:r>
          </a:p>
          <a:p>
            <a:pPr algn="just"/>
            <a:r>
              <a:rPr lang="en-US" sz="1400" dirty="0" err="1">
                <a:solidFill>
                  <a:schemeClr val="bg1"/>
                </a:solidFill>
              </a:rPr>
              <a:t>kube</a:t>
            </a:r>
            <a:r>
              <a:rPr lang="en-US" sz="1400" dirty="0">
                <a:solidFill>
                  <a:schemeClr val="bg1"/>
                </a:solidFill>
              </a:rPr>
              <a:t>-system          </a:t>
            </a:r>
            <a:r>
              <a:rPr lang="en-US" sz="1400" dirty="0" err="1">
                <a:solidFill>
                  <a:schemeClr val="bg1"/>
                </a:solidFill>
              </a:rPr>
              <a:t>nginx</a:t>
            </a:r>
            <a:r>
              <a:rPr lang="en-US" sz="1400" dirty="0">
                <a:solidFill>
                  <a:schemeClr val="bg1"/>
                </a:solidFill>
              </a:rPr>
              <a:t>-ingress     </a:t>
            </a:r>
            <a:r>
              <a:rPr lang="en-US" sz="1400" dirty="0" err="1">
                <a:solidFill>
                  <a:schemeClr val="bg1"/>
                </a:solidFill>
              </a:rPr>
              <a:t>LoadBalancer</a:t>
            </a:r>
            <a:r>
              <a:rPr lang="en-US" sz="1400" dirty="0">
                <a:solidFill>
                  <a:schemeClr val="bg1"/>
                </a:solidFill>
              </a:rPr>
              <a:t>   10.43.196.229   192.168.0.200   </a:t>
            </a:r>
          </a:p>
          <a:p>
            <a:pPr algn="just"/>
            <a:r>
              <a:rPr lang="en-US" sz="1400" dirty="0" smtClean="0">
                <a:solidFill>
                  <a:schemeClr val="bg1"/>
                </a:solidFill>
              </a:rPr>
              <a:t>Home-cloud-</a:t>
            </a:r>
            <a:r>
              <a:rPr lang="en-US" sz="1400" dirty="0" err="1" smtClean="0">
                <a:solidFill>
                  <a:schemeClr val="bg1"/>
                </a:solidFill>
              </a:rPr>
              <a:t>drawio</a:t>
            </a:r>
            <a:r>
              <a:rPr lang="en-US" sz="1400" dirty="0" smtClean="0">
                <a:solidFill>
                  <a:schemeClr val="bg1"/>
                </a:solidFill>
              </a:rPr>
              <a:t>    </a:t>
            </a:r>
            <a:r>
              <a:rPr lang="en-US" sz="1400" dirty="0" err="1">
                <a:solidFill>
                  <a:schemeClr val="bg1"/>
                </a:solidFill>
              </a:rPr>
              <a:t>drawio</a:t>
            </a:r>
            <a:r>
              <a:rPr lang="en-US" sz="1400" dirty="0">
                <a:solidFill>
                  <a:schemeClr val="bg1"/>
                </a:solidFill>
              </a:rPr>
              <a:t>            </a:t>
            </a:r>
            <a:r>
              <a:rPr lang="en-US" sz="1400" dirty="0" err="1">
                <a:solidFill>
                  <a:schemeClr val="bg1"/>
                </a:solidFill>
              </a:rPr>
              <a:t>ClusterIP</a:t>
            </a:r>
            <a:r>
              <a:rPr lang="en-US" sz="1400" dirty="0">
                <a:solidFill>
                  <a:schemeClr val="bg1"/>
                </a:solidFill>
              </a:rPr>
              <a:t>      10.43.35.88     &lt;none&gt;</a:t>
            </a:r>
          </a:p>
        </p:txBody>
      </p:sp>
    </p:spTree>
    <p:extLst>
      <p:ext uri="{BB962C8B-B14F-4D97-AF65-F5344CB8AC3E}">
        <p14:creationId xmlns:p14="http://schemas.microsoft.com/office/powerpoint/2010/main" val="37319548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8478754" y="119072"/>
            <a:ext cx="3552383" cy="400110"/>
          </a:xfrm>
          <a:prstGeom prst="rect">
            <a:avLst/>
          </a:prstGeom>
        </p:spPr>
        <p:txBody>
          <a:bodyPr wrap="none">
            <a:spAutoFit/>
          </a:bodyPr>
          <a:lstStyle/>
          <a:p>
            <a:r>
              <a:rPr lang="en-US" sz="2000" b="1" dirty="0">
                <a:solidFill>
                  <a:srgbClr val="FFC000"/>
                </a:solidFill>
              </a:rPr>
              <a:t>Docker and </a:t>
            </a:r>
            <a:r>
              <a:rPr lang="en-US" sz="2000" b="1" dirty="0" smtClean="0">
                <a:solidFill>
                  <a:srgbClr val="FFC000"/>
                </a:solidFill>
              </a:rPr>
              <a:t>Kubernetes (</a:t>
            </a:r>
            <a:r>
              <a:rPr lang="en-US" sz="2000" b="1" dirty="0" err="1" smtClean="0">
                <a:solidFill>
                  <a:srgbClr val="FFC000"/>
                </a:solidFill>
              </a:rPr>
              <a:t>Cons’t</a:t>
            </a:r>
            <a:r>
              <a:rPr lang="en-US" sz="2000" b="1" dirty="0" smtClean="0">
                <a:solidFill>
                  <a:srgbClr val="FFC000"/>
                </a:solidFill>
              </a:rPr>
              <a:t>)</a:t>
            </a:r>
            <a:endParaRPr lang="en-US" sz="2000" dirty="0">
              <a:solidFill>
                <a:srgbClr val="FFC000"/>
              </a:solidFill>
            </a:endParaRPr>
          </a:p>
        </p:txBody>
      </p:sp>
      <p:sp>
        <p:nvSpPr>
          <p:cNvPr id="5" name="Rectangle 4"/>
          <p:cNvSpPr/>
          <p:nvPr/>
        </p:nvSpPr>
        <p:spPr>
          <a:xfrm>
            <a:off x="245533" y="519182"/>
            <a:ext cx="5410201" cy="369332"/>
          </a:xfrm>
          <a:prstGeom prst="rect">
            <a:avLst/>
          </a:prstGeom>
        </p:spPr>
        <p:txBody>
          <a:bodyPr wrap="square">
            <a:spAutoFit/>
          </a:bodyPr>
          <a:lstStyle/>
          <a:p>
            <a:r>
              <a:rPr lang="en-US" b="1" dirty="0"/>
              <a:t>Kubernetes: Useful Commands</a:t>
            </a:r>
          </a:p>
        </p:txBody>
      </p:sp>
      <p:sp>
        <p:nvSpPr>
          <p:cNvPr id="4" name="Rectangle 3"/>
          <p:cNvSpPr/>
          <p:nvPr/>
        </p:nvSpPr>
        <p:spPr>
          <a:xfrm>
            <a:off x="557103" y="1032809"/>
            <a:ext cx="6927430" cy="5078313"/>
          </a:xfrm>
          <a:prstGeom prst="rect">
            <a:avLst/>
          </a:prstGeom>
          <a:solidFill>
            <a:schemeClr val="bg1">
              <a:lumMod val="75000"/>
            </a:schemeClr>
          </a:solidFill>
        </p:spPr>
        <p:txBody>
          <a:bodyPr wrap="square">
            <a:spAutoFit/>
          </a:bodyPr>
          <a:lstStyle/>
          <a:p>
            <a:pPr algn="just"/>
            <a:r>
              <a:rPr lang="en-US" dirty="0">
                <a:solidFill>
                  <a:schemeClr val="bg1"/>
                </a:solidFill>
              </a:rPr>
              <a:t># Cluster information</a:t>
            </a:r>
          </a:p>
          <a:p>
            <a:pPr algn="just"/>
            <a:r>
              <a:rPr lang="en-US" dirty="0">
                <a:solidFill>
                  <a:schemeClr val="bg1"/>
                </a:solidFill>
              </a:rPr>
              <a:t>$ </a:t>
            </a:r>
            <a:r>
              <a:rPr lang="en-US" dirty="0" err="1">
                <a:solidFill>
                  <a:schemeClr val="bg1"/>
                </a:solidFill>
              </a:rPr>
              <a:t>kubectl</a:t>
            </a:r>
            <a:r>
              <a:rPr lang="en-US" dirty="0">
                <a:solidFill>
                  <a:schemeClr val="bg1"/>
                </a:solidFill>
              </a:rPr>
              <a:t> cluster-info</a:t>
            </a:r>
          </a:p>
          <a:p>
            <a:pPr algn="just"/>
            <a:r>
              <a:rPr lang="en-US" dirty="0">
                <a:solidFill>
                  <a:schemeClr val="bg1"/>
                </a:solidFill>
              </a:rPr>
              <a:t>$ </a:t>
            </a:r>
            <a:r>
              <a:rPr lang="en-US" dirty="0" err="1">
                <a:solidFill>
                  <a:schemeClr val="bg1"/>
                </a:solidFill>
              </a:rPr>
              <a:t>kubectl</a:t>
            </a:r>
            <a:r>
              <a:rPr lang="en-US" dirty="0">
                <a:solidFill>
                  <a:schemeClr val="bg1"/>
                </a:solidFill>
              </a:rPr>
              <a:t> get nodes -o wide</a:t>
            </a:r>
          </a:p>
          <a:p>
            <a:pPr algn="just"/>
            <a:endParaRPr lang="en-US" dirty="0">
              <a:solidFill>
                <a:schemeClr val="bg1"/>
              </a:solidFill>
            </a:endParaRPr>
          </a:p>
          <a:p>
            <a:pPr algn="just"/>
            <a:r>
              <a:rPr lang="en-US" dirty="0">
                <a:solidFill>
                  <a:schemeClr val="bg1"/>
                </a:solidFill>
              </a:rPr>
              <a:t># Check </a:t>
            </a:r>
            <a:r>
              <a:rPr lang="en-US" dirty="0" err="1">
                <a:solidFill>
                  <a:schemeClr val="bg1"/>
                </a:solidFill>
              </a:rPr>
              <a:t>runnint</a:t>
            </a:r>
            <a:r>
              <a:rPr lang="en-US" dirty="0">
                <a:solidFill>
                  <a:schemeClr val="bg1"/>
                </a:solidFill>
              </a:rPr>
              <a:t> Services</a:t>
            </a:r>
          </a:p>
          <a:p>
            <a:pPr algn="just"/>
            <a:r>
              <a:rPr lang="en-US" dirty="0">
                <a:solidFill>
                  <a:schemeClr val="bg1"/>
                </a:solidFill>
              </a:rPr>
              <a:t>$ </a:t>
            </a:r>
            <a:r>
              <a:rPr lang="en-US" dirty="0" err="1">
                <a:solidFill>
                  <a:schemeClr val="bg1"/>
                </a:solidFill>
              </a:rPr>
              <a:t>kubectl</a:t>
            </a:r>
            <a:r>
              <a:rPr lang="en-US" dirty="0">
                <a:solidFill>
                  <a:schemeClr val="bg1"/>
                </a:solidFill>
              </a:rPr>
              <a:t> get services -o wide --all-namespaces</a:t>
            </a:r>
          </a:p>
          <a:p>
            <a:pPr algn="just"/>
            <a:endParaRPr lang="en-US" dirty="0">
              <a:solidFill>
                <a:schemeClr val="bg1"/>
              </a:solidFill>
            </a:endParaRPr>
          </a:p>
          <a:p>
            <a:pPr algn="just"/>
            <a:r>
              <a:rPr lang="en-US" dirty="0">
                <a:solidFill>
                  <a:schemeClr val="bg1"/>
                </a:solidFill>
              </a:rPr>
              <a:t># Check running Ingress</a:t>
            </a:r>
          </a:p>
          <a:p>
            <a:pPr algn="just"/>
            <a:r>
              <a:rPr lang="en-US" dirty="0">
                <a:solidFill>
                  <a:schemeClr val="bg1"/>
                </a:solidFill>
              </a:rPr>
              <a:t>$ </a:t>
            </a:r>
            <a:r>
              <a:rPr lang="en-US" dirty="0" err="1">
                <a:solidFill>
                  <a:schemeClr val="bg1"/>
                </a:solidFill>
              </a:rPr>
              <a:t>kubectl</a:t>
            </a:r>
            <a:r>
              <a:rPr lang="en-US" dirty="0">
                <a:solidFill>
                  <a:schemeClr val="bg1"/>
                </a:solidFill>
              </a:rPr>
              <a:t> get ingresses --all-namespaces</a:t>
            </a:r>
          </a:p>
          <a:p>
            <a:pPr algn="just"/>
            <a:endParaRPr lang="en-US" dirty="0">
              <a:solidFill>
                <a:schemeClr val="bg1"/>
              </a:solidFill>
            </a:endParaRPr>
          </a:p>
          <a:p>
            <a:pPr algn="just"/>
            <a:r>
              <a:rPr lang="en-US" dirty="0">
                <a:solidFill>
                  <a:schemeClr val="bg1"/>
                </a:solidFill>
              </a:rPr>
              <a:t># Display all the running Pod</a:t>
            </a:r>
          </a:p>
          <a:p>
            <a:pPr algn="just"/>
            <a:r>
              <a:rPr lang="en-US" dirty="0">
                <a:solidFill>
                  <a:schemeClr val="bg1"/>
                </a:solidFill>
              </a:rPr>
              <a:t>$ </a:t>
            </a:r>
            <a:r>
              <a:rPr lang="en-US" dirty="0" err="1">
                <a:solidFill>
                  <a:schemeClr val="bg1"/>
                </a:solidFill>
              </a:rPr>
              <a:t>kubectl</a:t>
            </a:r>
            <a:r>
              <a:rPr lang="en-US" dirty="0">
                <a:solidFill>
                  <a:schemeClr val="bg1"/>
                </a:solidFill>
              </a:rPr>
              <a:t> get pods -A -o wide</a:t>
            </a:r>
          </a:p>
          <a:p>
            <a:pPr algn="just"/>
            <a:endParaRPr lang="en-US" dirty="0">
              <a:solidFill>
                <a:schemeClr val="bg1"/>
              </a:solidFill>
            </a:endParaRPr>
          </a:p>
          <a:p>
            <a:pPr algn="just"/>
            <a:r>
              <a:rPr lang="en-US" dirty="0">
                <a:solidFill>
                  <a:schemeClr val="bg1"/>
                </a:solidFill>
              </a:rPr>
              <a:t># Get logs for an specific Pod</a:t>
            </a:r>
          </a:p>
          <a:p>
            <a:pPr algn="just"/>
            <a:r>
              <a:rPr lang="en-US" dirty="0">
                <a:solidFill>
                  <a:schemeClr val="bg1"/>
                </a:solidFill>
              </a:rPr>
              <a:t>$ </a:t>
            </a:r>
            <a:r>
              <a:rPr lang="en-US" dirty="0" err="1">
                <a:solidFill>
                  <a:schemeClr val="bg1"/>
                </a:solidFill>
              </a:rPr>
              <a:t>kubectl</a:t>
            </a:r>
            <a:r>
              <a:rPr lang="en-US" dirty="0">
                <a:solidFill>
                  <a:schemeClr val="bg1"/>
                </a:solidFill>
              </a:rPr>
              <a:t> logs -f &lt;</a:t>
            </a:r>
            <a:r>
              <a:rPr lang="en-US" dirty="0" err="1">
                <a:solidFill>
                  <a:schemeClr val="bg1"/>
                </a:solidFill>
              </a:rPr>
              <a:t>your_pod</a:t>
            </a:r>
            <a:r>
              <a:rPr lang="en-US" dirty="0">
                <a:solidFill>
                  <a:schemeClr val="bg1"/>
                </a:solidFill>
              </a:rPr>
              <a:t>&gt; -n &lt;</a:t>
            </a:r>
            <a:r>
              <a:rPr lang="en-US" dirty="0" err="1">
                <a:solidFill>
                  <a:schemeClr val="bg1"/>
                </a:solidFill>
              </a:rPr>
              <a:t>your_pod_namespace</a:t>
            </a:r>
            <a:r>
              <a:rPr lang="en-US" dirty="0">
                <a:solidFill>
                  <a:schemeClr val="bg1"/>
                </a:solidFill>
              </a:rPr>
              <a:t>&gt;</a:t>
            </a:r>
          </a:p>
          <a:p>
            <a:pPr algn="just"/>
            <a:endParaRPr lang="en-US" dirty="0">
              <a:solidFill>
                <a:schemeClr val="bg1"/>
              </a:solidFill>
            </a:endParaRPr>
          </a:p>
          <a:p>
            <a:pPr algn="just"/>
            <a:r>
              <a:rPr lang="en-US" dirty="0">
                <a:solidFill>
                  <a:schemeClr val="bg1"/>
                </a:solidFill>
              </a:rPr>
              <a:t># Get information about an specific Pod</a:t>
            </a:r>
          </a:p>
          <a:p>
            <a:pPr algn="just"/>
            <a:r>
              <a:rPr lang="en-US" dirty="0">
                <a:solidFill>
                  <a:schemeClr val="bg1"/>
                </a:solidFill>
              </a:rPr>
              <a:t>$ </a:t>
            </a:r>
            <a:r>
              <a:rPr lang="en-US" dirty="0" err="1">
                <a:solidFill>
                  <a:schemeClr val="bg1"/>
                </a:solidFill>
              </a:rPr>
              <a:t>kubectl</a:t>
            </a:r>
            <a:r>
              <a:rPr lang="en-US" dirty="0">
                <a:solidFill>
                  <a:schemeClr val="bg1"/>
                </a:solidFill>
              </a:rPr>
              <a:t> describe pod &lt;</a:t>
            </a:r>
            <a:r>
              <a:rPr lang="en-US" dirty="0" err="1">
                <a:solidFill>
                  <a:schemeClr val="bg1"/>
                </a:solidFill>
              </a:rPr>
              <a:t>your_pod</a:t>
            </a:r>
            <a:r>
              <a:rPr lang="en-US" dirty="0">
                <a:solidFill>
                  <a:schemeClr val="bg1"/>
                </a:solidFill>
              </a:rPr>
              <a:t>&gt; -n &lt;</a:t>
            </a:r>
            <a:r>
              <a:rPr lang="en-US" dirty="0" err="1">
                <a:solidFill>
                  <a:schemeClr val="bg1"/>
                </a:solidFill>
              </a:rPr>
              <a:t>your_pod_namespace</a:t>
            </a:r>
            <a:endParaRPr lang="en-US" dirty="0">
              <a:solidFill>
                <a:schemeClr val="bg1"/>
              </a:solidFill>
            </a:endParaRPr>
          </a:p>
        </p:txBody>
      </p:sp>
    </p:spTree>
    <p:extLst>
      <p:ext uri="{BB962C8B-B14F-4D97-AF65-F5344CB8AC3E}">
        <p14:creationId xmlns:p14="http://schemas.microsoft.com/office/powerpoint/2010/main" val="345250301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8478754" y="119072"/>
            <a:ext cx="3552383" cy="400110"/>
          </a:xfrm>
          <a:prstGeom prst="rect">
            <a:avLst/>
          </a:prstGeom>
        </p:spPr>
        <p:txBody>
          <a:bodyPr wrap="none">
            <a:spAutoFit/>
          </a:bodyPr>
          <a:lstStyle/>
          <a:p>
            <a:r>
              <a:rPr lang="en-US" sz="2000" b="1" dirty="0">
                <a:solidFill>
                  <a:srgbClr val="FFC000"/>
                </a:solidFill>
              </a:rPr>
              <a:t>Docker and </a:t>
            </a:r>
            <a:r>
              <a:rPr lang="en-US" sz="2000" b="1" dirty="0" smtClean="0">
                <a:solidFill>
                  <a:srgbClr val="FFC000"/>
                </a:solidFill>
              </a:rPr>
              <a:t>Kubernetes (</a:t>
            </a:r>
            <a:r>
              <a:rPr lang="en-US" sz="2000" b="1" dirty="0" err="1" smtClean="0">
                <a:solidFill>
                  <a:srgbClr val="FFC000"/>
                </a:solidFill>
              </a:rPr>
              <a:t>Cons’t</a:t>
            </a:r>
            <a:r>
              <a:rPr lang="en-US" sz="2000" b="1" dirty="0" smtClean="0">
                <a:solidFill>
                  <a:srgbClr val="FFC000"/>
                </a:solidFill>
              </a:rPr>
              <a:t>)</a:t>
            </a:r>
            <a:endParaRPr lang="en-US" sz="2000" dirty="0">
              <a:solidFill>
                <a:srgbClr val="FFC000"/>
              </a:solidFill>
            </a:endParaRPr>
          </a:p>
        </p:txBody>
      </p:sp>
      <p:sp>
        <p:nvSpPr>
          <p:cNvPr id="5" name="Rectangle 4"/>
          <p:cNvSpPr/>
          <p:nvPr/>
        </p:nvSpPr>
        <p:spPr>
          <a:xfrm>
            <a:off x="245533" y="519182"/>
            <a:ext cx="5410201" cy="369332"/>
          </a:xfrm>
          <a:prstGeom prst="rect">
            <a:avLst/>
          </a:prstGeom>
        </p:spPr>
        <p:txBody>
          <a:bodyPr wrap="square">
            <a:spAutoFit/>
          </a:bodyPr>
          <a:lstStyle/>
          <a:p>
            <a:r>
              <a:rPr lang="en-US" b="1" dirty="0"/>
              <a:t>A simpler Docker Approach</a:t>
            </a:r>
          </a:p>
        </p:txBody>
      </p:sp>
      <p:pic>
        <p:nvPicPr>
          <p:cNvPr id="2" name="Picture 1"/>
          <p:cNvPicPr>
            <a:picLocks noChangeAspect="1"/>
          </p:cNvPicPr>
          <p:nvPr/>
        </p:nvPicPr>
        <p:blipFill>
          <a:blip r:embed="rId3"/>
          <a:stretch>
            <a:fillRect/>
          </a:stretch>
        </p:blipFill>
        <p:spPr>
          <a:xfrm>
            <a:off x="1304925" y="1638300"/>
            <a:ext cx="9582150" cy="3581400"/>
          </a:xfrm>
          <a:prstGeom prst="rect">
            <a:avLst/>
          </a:prstGeom>
        </p:spPr>
      </p:pic>
    </p:spTree>
    <p:extLst>
      <p:ext uri="{BB962C8B-B14F-4D97-AF65-F5344CB8AC3E}">
        <p14:creationId xmlns:p14="http://schemas.microsoft.com/office/powerpoint/2010/main" val="84233805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8478754" y="119072"/>
            <a:ext cx="3552383" cy="400110"/>
          </a:xfrm>
          <a:prstGeom prst="rect">
            <a:avLst/>
          </a:prstGeom>
        </p:spPr>
        <p:txBody>
          <a:bodyPr wrap="none">
            <a:spAutoFit/>
          </a:bodyPr>
          <a:lstStyle/>
          <a:p>
            <a:r>
              <a:rPr lang="en-US" sz="2000" b="1" dirty="0">
                <a:solidFill>
                  <a:srgbClr val="FFC000"/>
                </a:solidFill>
              </a:rPr>
              <a:t>Docker and </a:t>
            </a:r>
            <a:r>
              <a:rPr lang="en-US" sz="2000" b="1" dirty="0" smtClean="0">
                <a:solidFill>
                  <a:srgbClr val="FFC000"/>
                </a:solidFill>
              </a:rPr>
              <a:t>Kubernetes (</a:t>
            </a:r>
            <a:r>
              <a:rPr lang="en-US" sz="2000" b="1" dirty="0" err="1" smtClean="0">
                <a:solidFill>
                  <a:srgbClr val="FFC000"/>
                </a:solidFill>
              </a:rPr>
              <a:t>Cons’t</a:t>
            </a:r>
            <a:r>
              <a:rPr lang="en-US" sz="2000" b="1" dirty="0" smtClean="0">
                <a:solidFill>
                  <a:srgbClr val="FFC000"/>
                </a:solidFill>
              </a:rPr>
              <a:t>)</a:t>
            </a:r>
            <a:endParaRPr lang="en-US" sz="2000" dirty="0">
              <a:solidFill>
                <a:srgbClr val="FFC000"/>
              </a:solidFill>
            </a:endParaRPr>
          </a:p>
        </p:txBody>
      </p:sp>
      <p:sp>
        <p:nvSpPr>
          <p:cNvPr id="2" name="Rectangle 1"/>
          <p:cNvSpPr/>
          <p:nvPr/>
        </p:nvSpPr>
        <p:spPr>
          <a:xfrm>
            <a:off x="203200" y="519182"/>
            <a:ext cx="6096000" cy="4524315"/>
          </a:xfrm>
          <a:prstGeom prst="rect">
            <a:avLst/>
          </a:prstGeom>
        </p:spPr>
        <p:txBody>
          <a:bodyPr>
            <a:spAutoFit/>
          </a:bodyPr>
          <a:lstStyle/>
          <a:p>
            <a:pPr algn="just"/>
            <a:r>
              <a:rPr lang="en-US" dirty="0"/>
              <a:t>Upfront, this infrastructure architecture seems very similar to the one defined with Kubernetes, and indeed it is, the flow is the same as described above and server configuration is equal too. The biggest </a:t>
            </a:r>
            <a:r>
              <a:rPr lang="en-US" dirty="0" err="1"/>
              <a:t>changeset</a:t>
            </a:r>
            <a:r>
              <a:rPr lang="en-US" dirty="0"/>
              <a:t> has to do with implementation details:</a:t>
            </a:r>
          </a:p>
          <a:p>
            <a:pPr algn="just"/>
            <a:endParaRPr lang="en-US" dirty="0"/>
          </a:p>
          <a:p>
            <a:pPr marL="285750" indent="-285750" algn="just">
              <a:buFont typeface="Wingdings" panose="05000000000000000000" pitchFamily="2" charset="2"/>
              <a:buChar char="ü"/>
            </a:pPr>
            <a:r>
              <a:rPr lang="en-US" dirty="0"/>
              <a:t>I only need one server (load distribution is off here).</a:t>
            </a:r>
          </a:p>
          <a:p>
            <a:pPr marL="285750" indent="-285750" algn="just">
              <a:buFont typeface="Wingdings" panose="05000000000000000000" pitchFamily="2" charset="2"/>
              <a:buChar char="ü"/>
            </a:pPr>
            <a:r>
              <a:rPr lang="en-US" dirty="0"/>
              <a:t>Handling configuration files with </a:t>
            </a:r>
            <a:r>
              <a:rPr lang="en-US" dirty="0" err="1"/>
              <a:t>docker</a:t>
            </a:r>
            <a:r>
              <a:rPr lang="en-US" dirty="0"/>
              <a:t> is easier.</a:t>
            </a:r>
          </a:p>
          <a:p>
            <a:pPr marL="285750" indent="-285750" algn="just">
              <a:buFont typeface="Wingdings" panose="05000000000000000000" pitchFamily="2" charset="2"/>
              <a:buChar char="ü"/>
            </a:pPr>
            <a:r>
              <a:rPr lang="en-US" dirty="0"/>
              <a:t>Less moving parts, les complexity, for instance, less to maintain.</a:t>
            </a:r>
          </a:p>
          <a:p>
            <a:pPr marL="285750" indent="-285750" algn="just">
              <a:buFont typeface="Wingdings" panose="05000000000000000000" pitchFamily="2" charset="2"/>
              <a:buChar char="ü"/>
            </a:pPr>
            <a:r>
              <a:rPr lang="en-US" dirty="0"/>
              <a:t>I do not need a system for </a:t>
            </a:r>
            <a:r>
              <a:rPr lang="en-US" dirty="0" err="1"/>
              <a:t>Microservices</a:t>
            </a:r>
            <a:r>
              <a:rPr lang="en-US" dirty="0"/>
              <a:t> Orchestration.</a:t>
            </a:r>
          </a:p>
          <a:p>
            <a:pPr algn="just"/>
            <a:r>
              <a:rPr lang="en-US" dirty="0"/>
              <a:t>As an example, we will setup the same application as above: draw.io with </a:t>
            </a:r>
            <a:r>
              <a:rPr lang="en-US" dirty="0" err="1"/>
              <a:t>docker</a:t>
            </a:r>
            <a:r>
              <a:rPr lang="en-US" dirty="0"/>
              <a:t> compose:</a:t>
            </a:r>
          </a:p>
          <a:p>
            <a:pPr algn="just"/>
            <a:endParaRPr lang="en-US" dirty="0"/>
          </a:p>
          <a:p>
            <a:pPr marL="285750" indent="-285750" algn="just">
              <a:buFont typeface="Wingdings" panose="05000000000000000000" pitchFamily="2" charset="2"/>
              <a:buChar char="ü"/>
            </a:pPr>
            <a:r>
              <a:rPr lang="en-US" dirty="0"/>
              <a:t>We add this content to our </a:t>
            </a:r>
            <a:r>
              <a:rPr lang="en-US" dirty="0" err="1"/>
              <a:t>docker</a:t>
            </a:r>
            <a:r>
              <a:rPr lang="en-US" dirty="0"/>
              <a:t> compose file called home-</a:t>
            </a:r>
            <a:r>
              <a:rPr lang="en-US" dirty="0" err="1"/>
              <a:t>lab.yml</a:t>
            </a:r>
            <a:r>
              <a:rPr lang="en-US" dirty="0"/>
              <a:t>:</a:t>
            </a:r>
          </a:p>
        </p:txBody>
      </p:sp>
      <p:sp>
        <p:nvSpPr>
          <p:cNvPr id="6" name="Rectangle 5"/>
          <p:cNvSpPr/>
          <p:nvPr/>
        </p:nvSpPr>
        <p:spPr>
          <a:xfrm>
            <a:off x="6299200" y="519182"/>
            <a:ext cx="6079067" cy="7294305"/>
          </a:xfrm>
          <a:prstGeom prst="rect">
            <a:avLst/>
          </a:prstGeom>
          <a:solidFill>
            <a:schemeClr val="tx1"/>
          </a:solidFill>
        </p:spPr>
        <p:txBody>
          <a:bodyPr wrap="square">
            <a:spAutoFit/>
          </a:bodyPr>
          <a:lstStyle/>
          <a:p>
            <a:pPr algn="just"/>
            <a:r>
              <a:rPr lang="en-US" sz="1200" dirty="0">
                <a:solidFill>
                  <a:schemeClr val="bg1"/>
                </a:solidFill>
              </a:rPr>
              <a:t>version: "3.8"</a:t>
            </a:r>
          </a:p>
          <a:p>
            <a:pPr algn="just"/>
            <a:endParaRPr lang="en-US" sz="1200" dirty="0">
              <a:solidFill>
                <a:schemeClr val="bg1"/>
              </a:solidFill>
            </a:endParaRPr>
          </a:p>
          <a:p>
            <a:pPr algn="just"/>
            <a:r>
              <a:rPr lang="en-US" sz="1200" dirty="0">
                <a:solidFill>
                  <a:schemeClr val="bg1"/>
                </a:solidFill>
              </a:rPr>
              <a:t>services:</a:t>
            </a:r>
          </a:p>
          <a:p>
            <a:pPr algn="just"/>
            <a:endParaRPr lang="en-US" sz="1200" dirty="0">
              <a:solidFill>
                <a:schemeClr val="bg1"/>
              </a:solidFill>
            </a:endParaRPr>
          </a:p>
          <a:p>
            <a:pPr algn="just"/>
            <a:r>
              <a:rPr lang="en-US" sz="1200" dirty="0">
                <a:solidFill>
                  <a:schemeClr val="bg1"/>
                </a:solidFill>
              </a:rPr>
              <a:t>  </a:t>
            </a:r>
            <a:r>
              <a:rPr lang="en-US" sz="1200" dirty="0" err="1">
                <a:solidFill>
                  <a:schemeClr val="bg1"/>
                </a:solidFill>
              </a:rPr>
              <a:t>traefik</a:t>
            </a:r>
            <a:r>
              <a:rPr lang="en-US" sz="1200" dirty="0">
                <a:solidFill>
                  <a:schemeClr val="bg1"/>
                </a:solidFill>
              </a:rPr>
              <a:t>:</a:t>
            </a:r>
          </a:p>
          <a:p>
            <a:pPr algn="just"/>
            <a:r>
              <a:rPr lang="en-US" sz="1200" dirty="0">
                <a:solidFill>
                  <a:schemeClr val="bg1"/>
                </a:solidFill>
              </a:rPr>
              <a:t>    image: </a:t>
            </a:r>
            <a:r>
              <a:rPr lang="en-US" sz="1200" dirty="0" err="1">
                <a:solidFill>
                  <a:schemeClr val="bg1"/>
                </a:solidFill>
              </a:rPr>
              <a:t>traefik:latest</a:t>
            </a:r>
            <a:endParaRPr lang="en-US" sz="1200" dirty="0">
              <a:solidFill>
                <a:schemeClr val="bg1"/>
              </a:solidFill>
            </a:endParaRPr>
          </a:p>
          <a:p>
            <a:pPr algn="just"/>
            <a:r>
              <a:rPr lang="en-US" sz="1200" dirty="0">
                <a:solidFill>
                  <a:schemeClr val="bg1"/>
                </a:solidFill>
              </a:rPr>
              <a:t>    </a:t>
            </a:r>
            <a:r>
              <a:rPr lang="en-US" sz="1200" dirty="0" err="1">
                <a:solidFill>
                  <a:schemeClr val="bg1"/>
                </a:solidFill>
              </a:rPr>
              <a:t>container_name</a:t>
            </a:r>
            <a:r>
              <a:rPr lang="en-US" sz="1200" dirty="0">
                <a:solidFill>
                  <a:schemeClr val="bg1"/>
                </a:solidFill>
              </a:rPr>
              <a:t>: </a:t>
            </a:r>
            <a:r>
              <a:rPr lang="en-US" sz="1200" dirty="0" err="1">
                <a:solidFill>
                  <a:schemeClr val="bg1"/>
                </a:solidFill>
              </a:rPr>
              <a:t>traefik</a:t>
            </a:r>
            <a:endParaRPr lang="en-US" sz="1200" dirty="0">
              <a:solidFill>
                <a:schemeClr val="bg1"/>
              </a:solidFill>
            </a:endParaRPr>
          </a:p>
          <a:p>
            <a:pPr algn="just"/>
            <a:r>
              <a:rPr lang="en-US" sz="1200" dirty="0">
                <a:solidFill>
                  <a:schemeClr val="bg1"/>
                </a:solidFill>
              </a:rPr>
              <a:t>    command:</a:t>
            </a:r>
          </a:p>
          <a:p>
            <a:pPr algn="just"/>
            <a:r>
              <a:rPr lang="en-US" sz="1200" dirty="0">
                <a:solidFill>
                  <a:schemeClr val="bg1"/>
                </a:solidFill>
              </a:rPr>
              <a:t>      # Dynamic Configuration: mostly used for TSL certificates</a:t>
            </a:r>
          </a:p>
          <a:p>
            <a:pPr algn="just"/>
            <a:r>
              <a:rPr lang="en-US" sz="1200" dirty="0">
                <a:solidFill>
                  <a:schemeClr val="bg1"/>
                </a:solidFill>
              </a:rPr>
              <a:t>      - --</a:t>
            </a:r>
            <a:r>
              <a:rPr lang="en-US" sz="1200" dirty="0" err="1">
                <a:solidFill>
                  <a:schemeClr val="bg1"/>
                </a:solidFill>
              </a:rPr>
              <a:t>providers.file.filename</a:t>
            </a:r>
            <a:r>
              <a:rPr lang="en-US" sz="1200" dirty="0">
                <a:solidFill>
                  <a:schemeClr val="bg1"/>
                </a:solidFill>
              </a:rPr>
              <a:t>=/</a:t>
            </a:r>
            <a:r>
              <a:rPr lang="en-US" sz="1200" dirty="0" err="1">
                <a:solidFill>
                  <a:schemeClr val="bg1"/>
                </a:solidFill>
              </a:rPr>
              <a:t>etc</a:t>
            </a:r>
            <a:r>
              <a:rPr lang="en-US" sz="1200" dirty="0">
                <a:solidFill>
                  <a:schemeClr val="bg1"/>
                </a:solidFill>
              </a:rPr>
              <a:t>/</a:t>
            </a:r>
            <a:r>
              <a:rPr lang="en-US" sz="1200" dirty="0" err="1">
                <a:solidFill>
                  <a:schemeClr val="bg1"/>
                </a:solidFill>
              </a:rPr>
              <a:t>traefik</a:t>
            </a:r>
            <a:r>
              <a:rPr lang="en-US" sz="1200" dirty="0">
                <a:solidFill>
                  <a:schemeClr val="bg1"/>
                </a:solidFill>
              </a:rPr>
              <a:t>/</a:t>
            </a:r>
            <a:r>
              <a:rPr lang="en-US" sz="1200" dirty="0" err="1">
                <a:solidFill>
                  <a:schemeClr val="bg1"/>
                </a:solidFill>
              </a:rPr>
              <a:t>dynamic_conf.yml</a:t>
            </a:r>
            <a:endParaRPr lang="en-US" sz="1200" dirty="0">
              <a:solidFill>
                <a:schemeClr val="bg1"/>
              </a:solidFill>
            </a:endParaRPr>
          </a:p>
          <a:p>
            <a:pPr algn="just"/>
            <a:r>
              <a:rPr lang="en-US" sz="1200" dirty="0">
                <a:solidFill>
                  <a:schemeClr val="bg1"/>
                </a:solidFill>
              </a:rPr>
              <a:t>      # </a:t>
            </a:r>
            <a:r>
              <a:rPr lang="en-US" sz="1200" dirty="0" err="1">
                <a:solidFill>
                  <a:schemeClr val="bg1"/>
                </a:solidFill>
              </a:rPr>
              <a:t>Entrypoints</a:t>
            </a:r>
            <a:r>
              <a:rPr lang="en-US" sz="1200" dirty="0">
                <a:solidFill>
                  <a:schemeClr val="bg1"/>
                </a:solidFill>
              </a:rPr>
              <a:t> configuration</a:t>
            </a:r>
          </a:p>
          <a:p>
            <a:pPr algn="just"/>
            <a:r>
              <a:rPr lang="en-US" sz="1200" dirty="0">
                <a:solidFill>
                  <a:schemeClr val="bg1"/>
                </a:solidFill>
              </a:rPr>
              <a:t>      - --</a:t>
            </a:r>
            <a:r>
              <a:rPr lang="en-US" sz="1200" dirty="0" err="1">
                <a:solidFill>
                  <a:schemeClr val="bg1"/>
                </a:solidFill>
              </a:rPr>
              <a:t>entrypoints.web-secure.address</a:t>
            </a:r>
            <a:r>
              <a:rPr lang="en-US" sz="1200" dirty="0">
                <a:solidFill>
                  <a:schemeClr val="bg1"/>
                </a:solidFill>
              </a:rPr>
              <a:t>=:443</a:t>
            </a:r>
          </a:p>
          <a:p>
            <a:pPr algn="just"/>
            <a:r>
              <a:rPr lang="en-US" sz="1200" dirty="0">
                <a:solidFill>
                  <a:schemeClr val="bg1"/>
                </a:solidFill>
              </a:rPr>
              <a:t>    labels:</a:t>
            </a:r>
          </a:p>
          <a:p>
            <a:pPr algn="just"/>
            <a:r>
              <a:rPr lang="en-US" sz="1200" dirty="0">
                <a:solidFill>
                  <a:schemeClr val="bg1"/>
                </a:solidFill>
              </a:rPr>
              <a:t>      - </a:t>
            </a:r>
            <a:r>
              <a:rPr lang="en-US" sz="1200" dirty="0" err="1">
                <a:solidFill>
                  <a:schemeClr val="bg1"/>
                </a:solidFill>
              </a:rPr>
              <a:t>traefik.http.routers.traefik_route.rule</a:t>
            </a:r>
            <a:r>
              <a:rPr lang="en-US" sz="1200" dirty="0">
                <a:solidFill>
                  <a:schemeClr val="bg1"/>
                </a:solidFill>
              </a:rPr>
              <a:t>=Host(`</a:t>
            </a:r>
            <a:r>
              <a:rPr lang="en-US" sz="1200" dirty="0" err="1">
                <a:solidFill>
                  <a:schemeClr val="bg1"/>
                </a:solidFill>
              </a:rPr>
              <a:t>traefik.home.lab</a:t>
            </a:r>
            <a:r>
              <a:rPr lang="en-US" sz="1200" dirty="0">
                <a:solidFill>
                  <a:schemeClr val="bg1"/>
                </a:solidFill>
              </a:rPr>
              <a:t>`)</a:t>
            </a:r>
          </a:p>
          <a:p>
            <a:pPr algn="just"/>
            <a:r>
              <a:rPr lang="en-US" sz="1200" dirty="0">
                <a:solidFill>
                  <a:schemeClr val="bg1"/>
                </a:solidFill>
              </a:rPr>
              <a:t>      - </a:t>
            </a:r>
            <a:r>
              <a:rPr lang="en-US" sz="1200" dirty="0" err="1">
                <a:solidFill>
                  <a:schemeClr val="bg1"/>
                </a:solidFill>
              </a:rPr>
              <a:t>traefik.http.routers.traefik_route.tls</a:t>
            </a:r>
            <a:r>
              <a:rPr lang="en-US" sz="1200" dirty="0">
                <a:solidFill>
                  <a:schemeClr val="bg1"/>
                </a:solidFill>
              </a:rPr>
              <a:t>=true</a:t>
            </a:r>
          </a:p>
          <a:p>
            <a:pPr algn="just"/>
            <a:r>
              <a:rPr lang="en-US" sz="1200" dirty="0">
                <a:solidFill>
                  <a:schemeClr val="bg1"/>
                </a:solidFill>
              </a:rPr>
              <a:t>      - </a:t>
            </a:r>
            <a:r>
              <a:rPr lang="en-US" sz="1200" dirty="0" err="1">
                <a:solidFill>
                  <a:schemeClr val="bg1"/>
                </a:solidFill>
              </a:rPr>
              <a:t>traefik.http.routers.traefik_route.service</a:t>
            </a:r>
            <a:r>
              <a:rPr lang="en-US" sz="1200" dirty="0">
                <a:solidFill>
                  <a:schemeClr val="bg1"/>
                </a:solidFill>
              </a:rPr>
              <a:t>=</a:t>
            </a:r>
            <a:r>
              <a:rPr lang="en-US" sz="1200" dirty="0" err="1">
                <a:solidFill>
                  <a:schemeClr val="bg1"/>
                </a:solidFill>
              </a:rPr>
              <a:t>traefik_service</a:t>
            </a:r>
            <a:endParaRPr lang="en-US" sz="1200" dirty="0">
              <a:solidFill>
                <a:schemeClr val="bg1"/>
              </a:solidFill>
            </a:endParaRPr>
          </a:p>
          <a:p>
            <a:pPr algn="just"/>
            <a:r>
              <a:rPr lang="en-US" sz="1200" dirty="0">
                <a:solidFill>
                  <a:schemeClr val="bg1"/>
                </a:solidFill>
              </a:rPr>
              <a:t>      - </a:t>
            </a:r>
            <a:r>
              <a:rPr lang="en-US" sz="1200" dirty="0" err="1">
                <a:solidFill>
                  <a:schemeClr val="bg1"/>
                </a:solidFill>
              </a:rPr>
              <a:t>traefik.http.services.traefik_service.loadbalancer.server.port</a:t>
            </a:r>
            <a:r>
              <a:rPr lang="en-US" sz="1200" dirty="0">
                <a:solidFill>
                  <a:schemeClr val="bg1"/>
                </a:solidFill>
              </a:rPr>
              <a:t>=8080</a:t>
            </a:r>
          </a:p>
          <a:p>
            <a:pPr algn="just"/>
            <a:r>
              <a:rPr lang="en-US" sz="1200" dirty="0">
                <a:solidFill>
                  <a:schemeClr val="bg1"/>
                </a:solidFill>
              </a:rPr>
              <a:t>    ports:</a:t>
            </a:r>
          </a:p>
          <a:p>
            <a:pPr algn="just"/>
            <a:r>
              <a:rPr lang="en-US" sz="1200" dirty="0">
                <a:solidFill>
                  <a:schemeClr val="bg1"/>
                </a:solidFill>
              </a:rPr>
              <a:t>      - 80:80</a:t>
            </a:r>
          </a:p>
          <a:p>
            <a:pPr algn="just"/>
            <a:r>
              <a:rPr lang="en-US" sz="1200" dirty="0">
                <a:solidFill>
                  <a:schemeClr val="bg1"/>
                </a:solidFill>
              </a:rPr>
              <a:t>      - 443:443</a:t>
            </a:r>
          </a:p>
          <a:p>
            <a:pPr algn="just"/>
            <a:r>
              <a:rPr lang="en-US" sz="1200" dirty="0">
                <a:solidFill>
                  <a:schemeClr val="bg1"/>
                </a:solidFill>
              </a:rPr>
              <a:t>    volumes:</a:t>
            </a:r>
          </a:p>
          <a:p>
            <a:pPr algn="just"/>
            <a:r>
              <a:rPr lang="en-US" sz="1200" dirty="0">
                <a:solidFill>
                  <a:schemeClr val="bg1"/>
                </a:solidFill>
              </a:rPr>
              <a:t>      - ~/</a:t>
            </a:r>
            <a:r>
              <a:rPr lang="en-US" sz="1200" dirty="0" err="1">
                <a:solidFill>
                  <a:schemeClr val="bg1"/>
                </a:solidFill>
              </a:rPr>
              <a:t>traefik</a:t>
            </a:r>
            <a:r>
              <a:rPr lang="en-US" sz="1200" dirty="0">
                <a:solidFill>
                  <a:schemeClr val="bg1"/>
                </a:solidFill>
              </a:rPr>
              <a:t>/</a:t>
            </a:r>
            <a:r>
              <a:rPr lang="en-US" sz="1200" dirty="0" err="1">
                <a:solidFill>
                  <a:schemeClr val="bg1"/>
                </a:solidFill>
              </a:rPr>
              <a:t>dynamic_conf.yml</a:t>
            </a:r>
            <a:r>
              <a:rPr lang="en-US" sz="1200" dirty="0">
                <a:solidFill>
                  <a:schemeClr val="bg1"/>
                </a:solidFill>
              </a:rPr>
              <a:t>:/</a:t>
            </a:r>
            <a:r>
              <a:rPr lang="en-US" sz="1200" dirty="0" err="1">
                <a:solidFill>
                  <a:schemeClr val="bg1"/>
                </a:solidFill>
              </a:rPr>
              <a:t>etc</a:t>
            </a:r>
            <a:r>
              <a:rPr lang="en-US" sz="1200" dirty="0">
                <a:solidFill>
                  <a:schemeClr val="bg1"/>
                </a:solidFill>
              </a:rPr>
              <a:t>/</a:t>
            </a:r>
            <a:r>
              <a:rPr lang="en-US" sz="1200" dirty="0" err="1">
                <a:solidFill>
                  <a:schemeClr val="bg1"/>
                </a:solidFill>
              </a:rPr>
              <a:t>traefik</a:t>
            </a:r>
            <a:r>
              <a:rPr lang="en-US" sz="1200" dirty="0">
                <a:solidFill>
                  <a:schemeClr val="bg1"/>
                </a:solidFill>
              </a:rPr>
              <a:t>/</a:t>
            </a:r>
            <a:r>
              <a:rPr lang="en-US" sz="1200" dirty="0" err="1">
                <a:solidFill>
                  <a:schemeClr val="bg1"/>
                </a:solidFill>
              </a:rPr>
              <a:t>dynamic_conf.yml</a:t>
            </a:r>
            <a:endParaRPr lang="en-US" sz="1200" dirty="0">
              <a:solidFill>
                <a:schemeClr val="bg1"/>
              </a:solidFill>
            </a:endParaRPr>
          </a:p>
          <a:p>
            <a:pPr algn="just"/>
            <a:r>
              <a:rPr lang="en-US" sz="1200" dirty="0">
                <a:solidFill>
                  <a:schemeClr val="bg1"/>
                </a:solidFill>
              </a:rPr>
              <a:t>      - ~/</a:t>
            </a:r>
            <a:r>
              <a:rPr lang="en-US" sz="1200" dirty="0" err="1">
                <a:solidFill>
                  <a:schemeClr val="bg1"/>
                </a:solidFill>
              </a:rPr>
              <a:t>traefik</a:t>
            </a:r>
            <a:r>
              <a:rPr lang="en-US" sz="1200" dirty="0">
                <a:solidFill>
                  <a:schemeClr val="bg1"/>
                </a:solidFill>
              </a:rPr>
              <a:t>/_</a:t>
            </a:r>
            <a:r>
              <a:rPr lang="en-US" sz="1200" dirty="0" err="1">
                <a:solidFill>
                  <a:schemeClr val="bg1"/>
                </a:solidFill>
              </a:rPr>
              <a:t>wildcard.home.lab.pem</a:t>
            </a:r>
            <a:r>
              <a:rPr lang="en-US" sz="1200" dirty="0">
                <a:solidFill>
                  <a:schemeClr val="bg1"/>
                </a:solidFill>
              </a:rPr>
              <a:t>:/</a:t>
            </a:r>
            <a:r>
              <a:rPr lang="en-US" sz="1200" dirty="0" err="1">
                <a:solidFill>
                  <a:schemeClr val="bg1"/>
                </a:solidFill>
              </a:rPr>
              <a:t>etc</a:t>
            </a:r>
            <a:r>
              <a:rPr lang="en-US" sz="1200" dirty="0">
                <a:solidFill>
                  <a:schemeClr val="bg1"/>
                </a:solidFill>
              </a:rPr>
              <a:t>/</a:t>
            </a:r>
            <a:r>
              <a:rPr lang="en-US" sz="1200" dirty="0" err="1">
                <a:solidFill>
                  <a:schemeClr val="bg1"/>
                </a:solidFill>
              </a:rPr>
              <a:t>traefik</a:t>
            </a:r>
            <a:r>
              <a:rPr lang="en-US" sz="1200" dirty="0">
                <a:solidFill>
                  <a:schemeClr val="bg1"/>
                </a:solidFill>
              </a:rPr>
              <a:t>/_</a:t>
            </a:r>
            <a:r>
              <a:rPr lang="en-US" sz="1200" dirty="0" err="1">
                <a:solidFill>
                  <a:schemeClr val="bg1"/>
                </a:solidFill>
              </a:rPr>
              <a:t>wildcard.home.lab.pem</a:t>
            </a:r>
            <a:endParaRPr lang="en-US" sz="1200" dirty="0">
              <a:solidFill>
                <a:schemeClr val="bg1"/>
              </a:solidFill>
            </a:endParaRPr>
          </a:p>
          <a:p>
            <a:pPr algn="just"/>
            <a:r>
              <a:rPr lang="en-US" sz="1200" dirty="0">
                <a:solidFill>
                  <a:schemeClr val="bg1"/>
                </a:solidFill>
              </a:rPr>
              <a:t>      - ~/</a:t>
            </a:r>
            <a:r>
              <a:rPr lang="en-US" sz="1200" dirty="0" err="1">
                <a:solidFill>
                  <a:schemeClr val="bg1"/>
                </a:solidFill>
              </a:rPr>
              <a:t>traefik</a:t>
            </a:r>
            <a:r>
              <a:rPr lang="en-US" sz="1200" dirty="0">
                <a:solidFill>
                  <a:schemeClr val="bg1"/>
                </a:solidFill>
              </a:rPr>
              <a:t>/_</a:t>
            </a:r>
            <a:r>
              <a:rPr lang="en-US" sz="1200" dirty="0" err="1">
                <a:solidFill>
                  <a:schemeClr val="bg1"/>
                </a:solidFill>
              </a:rPr>
              <a:t>wildcard.home.lab-key.pem</a:t>
            </a:r>
            <a:r>
              <a:rPr lang="en-US" sz="1200" dirty="0">
                <a:solidFill>
                  <a:schemeClr val="bg1"/>
                </a:solidFill>
              </a:rPr>
              <a:t>:/</a:t>
            </a:r>
            <a:r>
              <a:rPr lang="en-US" sz="1200" dirty="0" err="1">
                <a:solidFill>
                  <a:schemeClr val="bg1"/>
                </a:solidFill>
              </a:rPr>
              <a:t>etc</a:t>
            </a:r>
            <a:r>
              <a:rPr lang="en-US" sz="1200" dirty="0">
                <a:solidFill>
                  <a:schemeClr val="bg1"/>
                </a:solidFill>
              </a:rPr>
              <a:t>/</a:t>
            </a:r>
            <a:r>
              <a:rPr lang="en-US" sz="1200" dirty="0" err="1">
                <a:solidFill>
                  <a:schemeClr val="bg1"/>
                </a:solidFill>
              </a:rPr>
              <a:t>traefik</a:t>
            </a:r>
            <a:r>
              <a:rPr lang="en-US" sz="1200" dirty="0">
                <a:solidFill>
                  <a:schemeClr val="bg1"/>
                </a:solidFill>
              </a:rPr>
              <a:t>/_</a:t>
            </a:r>
            <a:r>
              <a:rPr lang="en-US" sz="1200" dirty="0" err="1">
                <a:solidFill>
                  <a:schemeClr val="bg1"/>
                </a:solidFill>
              </a:rPr>
              <a:t>wildcard.home.lab-key.pem</a:t>
            </a:r>
            <a:endParaRPr lang="en-US" sz="1200" dirty="0">
              <a:solidFill>
                <a:schemeClr val="bg1"/>
              </a:solidFill>
            </a:endParaRPr>
          </a:p>
          <a:p>
            <a:pPr algn="just"/>
            <a:r>
              <a:rPr lang="en-US" sz="1200" dirty="0">
                <a:solidFill>
                  <a:schemeClr val="bg1"/>
                </a:solidFill>
              </a:rPr>
              <a:t>    networks:</a:t>
            </a:r>
          </a:p>
          <a:p>
            <a:pPr algn="just"/>
            <a:r>
              <a:rPr lang="en-US" sz="1200" dirty="0">
                <a:solidFill>
                  <a:schemeClr val="bg1"/>
                </a:solidFill>
              </a:rPr>
              <a:t>      - home-lab-network</a:t>
            </a:r>
          </a:p>
          <a:p>
            <a:pPr algn="just"/>
            <a:r>
              <a:rPr lang="en-US" sz="1200" dirty="0">
                <a:solidFill>
                  <a:schemeClr val="bg1"/>
                </a:solidFill>
              </a:rPr>
              <a:t>    restart: always</a:t>
            </a:r>
          </a:p>
          <a:p>
            <a:pPr algn="just"/>
            <a:endParaRPr lang="en-US" sz="1200" dirty="0">
              <a:solidFill>
                <a:schemeClr val="bg1"/>
              </a:solidFill>
            </a:endParaRPr>
          </a:p>
          <a:p>
            <a:pPr algn="just"/>
            <a:r>
              <a:rPr lang="en-US" sz="1200" dirty="0">
                <a:solidFill>
                  <a:schemeClr val="bg1"/>
                </a:solidFill>
              </a:rPr>
              <a:t>  </a:t>
            </a:r>
            <a:r>
              <a:rPr lang="en-US" sz="1200" dirty="0" err="1">
                <a:solidFill>
                  <a:schemeClr val="bg1"/>
                </a:solidFill>
              </a:rPr>
              <a:t>drawio</a:t>
            </a:r>
            <a:r>
              <a:rPr lang="en-US" sz="1200" dirty="0">
                <a:solidFill>
                  <a:schemeClr val="bg1"/>
                </a:solidFill>
              </a:rPr>
              <a:t>:</a:t>
            </a:r>
          </a:p>
          <a:p>
            <a:pPr algn="just"/>
            <a:r>
              <a:rPr lang="en-US" sz="1200" dirty="0">
                <a:solidFill>
                  <a:schemeClr val="bg1"/>
                </a:solidFill>
              </a:rPr>
              <a:t>    image: </a:t>
            </a:r>
            <a:r>
              <a:rPr lang="en-US" sz="1200" dirty="0" err="1">
                <a:solidFill>
                  <a:schemeClr val="bg1"/>
                </a:solidFill>
              </a:rPr>
              <a:t>jgraph</a:t>
            </a:r>
            <a:r>
              <a:rPr lang="en-US" sz="1200" dirty="0">
                <a:solidFill>
                  <a:schemeClr val="bg1"/>
                </a:solidFill>
              </a:rPr>
              <a:t>/</a:t>
            </a:r>
            <a:r>
              <a:rPr lang="en-US" sz="1200" dirty="0" err="1">
                <a:solidFill>
                  <a:schemeClr val="bg1"/>
                </a:solidFill>
              </a:rPr>
              <a:t>drawio:latest</a:t>
            </a:r>
            <a:endParaRPr lang="en-US" sz="1200" dirty="0">
              <a:solidFill>
                <a:schemeClr val="bg1"/>
              </a:solidFill>
            </a:endParaRPr>
          </a:p>
          <a:p>
            <a:pPr algn="just"/>
            <a:r>
              <a:rPr lang="en-US" sz="1200" dirty="0">
                <a:solidFill>
                  <a:schemeClr val="bg1"/>
                </a:solidFill>
              </a:rPr>
              <a:t>    </a:t>
            </a:r>
            <a:r>
              <a:rPr lang="en-US" sz="1200" dirty="0" err="1">
                <a:solidFill>
                  <a:schemeClr val="bg1"/>
                </a:solidFill>
              </a:rPr>
              <a:t>container_name</a:t>
            </a:r>
            <a:r>
              <a:rPr lang="en-US" sz="1200" dirty="0">
                <a:solidFill>
                  <a:schemeClr val="bg1"/>
                </a:solidFill>
              </a:rPr>
              <a:t>: </a:t>
            </a:r>
            <a:r>
              <a:rPr lang="en-US" sz="1200" dirty="0" err="1">
                <a:solidFill>
                  <a:schemeClr val="bg1"/>
                </a:solidFill>
              </a:rPr>
              <a:t>drawio</a:t>
            </a:r>
            <a:endParaRPr lang="en-US" sz="1200" dirty="0">
              <a:solidFill>
                <a:schemeClr val="bg1"/>
              </a:solidFill>
            </a:endParaRPr>
          </a:p>
          <a:p>
            <a:pPr algn="just"/>
            <a:r>
              <a:rPr lang="en-US" sz="1200" dirty="0">
                <a:solidFill>
                  <a:schemeClr val="bg1"/>
                </a:solidFill>
              </a:rPr>
              <a:t>    labels:</a:t>
            </a:r>
          </a:p>
          <a:p>
            <a:pPr algn="just"/>
            <a:r>
              <a:rPr lang="en-US" sz="1200" dirty="0">
                <a:solidFill>
                  <a:schemeClr val="bg1"/>
                </a:solidFill>
              </a:rPr>
              <a:t>      - </a:t>
            </a:r>
            <a:r>
              <a:rPr lang="en-US" sz="1200" dirty="0" err="1">
                <a:solidFill>
                  <a:schemeClr val="bg1"/>
                </a:solidFill>
              </a:rPr>
              <a:t>traefik.http.routers.drawio_route.rule</a:t>
            </a:r>
            <a:r>
              <a:rPr lang="en-US" sz="1200" dirty="0">
                <a:solidFill>
                  <a:schemeClr val="bg1"/>
                </a:solidFill>
              </a:rPr>
              <a:t>=Host(`</a:t>
            </a:r>
            <a:r>
              <a:rPr lang="en-US" sz="1200" dirty="0" err="1">
                <a:solidFill>
                  <a:schemeClr val="bg1"/>
                </a:solidFill>
              </a:rPr>
              <a:t>drawio.home.lab</a:t>
            </a:r>
            <a:r>
              <a:rPr lang="en-US" sz="1200" dirty="0">
                <a:solidFill>
                  <a:schemeClr val="bg1"/>
                </a:solidFill>
              </a:rPr>
              <a:t>`)</a:t>
            </a:r>
          </a:p>
          <a:p>
            <a:pPr algn="just"/>
            <a:r>
              <a:rPr lang="en-US" sz="1200" dirty="0">
                <a:solidFill>
                  <a:schemeClr val="bg1"/>
                </a:solidFill>
              </a:rPr>
              <a:t>      - </a:t>
            </a:r>
            <a:r>
              <a:rPr lang="en-US" sz="1200" dirty="0" err="1">
                <a:solidFill>
                  <a:schemeClr val="bg1"/>
                </a:solidFill>
              </a:rPr>
              <a:t>traefik.http.routers.drawio_route.tls</a:t>
            </a:r>
            <a:r>
              <a:rPr lang="en-US" sz="1200" dirty="0">
                <a:solidFill>
                  <a:schemeClr val="bg1"/>
                </a:solidFill>
              </a:rPr>
              <a:t>=true</a:t>
            </a:r>
          </a:p>
          <a:p>
            <a:pPr algn="just"/>
            <a:r>
              <a:rPr lang="en-US" sz="1200" dirty="0">
                <a:solidFill>
                  <a:schemeClr val="bg1"/>
                </a:solidFill>
              </a:rPr>
              <a:t>      - </a:t>
            </a:r>
            <a:r>
              <a:rPr lang="en-US" sz="1200" dirty="0" err="1">
                <a:solidFill>
                  <a:schemeClr val="bg1"/>
                </a:solidFill>
              </a:rPr>
              <a:t>traefik.http.routers.drawio_route.service</a:t>
            </a:r>
            <a:r>
              <a:rPr lang="en-US" sz="1200" dirty="0">
                <a:solidFill>
                  <a:schemeClr val="bg1"/>
                </a:solidFill>
              </a:rPr>
              <a:t>=</a:t>
            </a:r>
            <a:r>
              <a:rPr lang="en-US" sz="1200" dirty="0" err="1">
                <a:solidFill>
                  <a:schemeClr val="bg1"/>
                </a:solidFill>
              </a:rPr>
              <a:t>drawio_service</a:t>
            </a:r>
            <a:endParaRPr lang="en-US" sz="1200" dirty="0">
              <a:solidFill>
                <a:schemeClr val="bg1"/>
              </a:solidFill>
            </a:endParaRPr>
          </a:p>
          <a:p>
            <a:pPr algn="just"/>
            <a:r>
              <a:rPr lang="en-US" sz="1200" dirty="0">
                <a:solidFill>
                  <a:schemeClr val="bg1"/>
                </a:solidFill>
              </a:rPr>
              <a:t>      - </a:t>
            </a:r>
            <a:r>
              <a:rPr lang="en-US" sz="1200" dirty="0" err="1">
                <a:solidFill>
                  <a:schemeClr val="bg1"/>
                </a:solidFill>
              </a:rPr>
              <a:t>traefik.http.services.drawio_service.loadbalancer.server.port</a:t>
            </a:r>
            <a:r>
              <a:rPr lang="en-US" sz="1200" dirty="0">
                <a:solidFill>
                  <a:schemeClr val="bg1"/>
                </a:solidFill>
              </a:rPr>
              <a:t>=8080</a:t>
            </a:r>
          </a:p>
          <a:p>
            <a:pPr algn="just"/>
            <a:r>
              <a:rPr lang="en-US" sz="1200" dirty="0">
                <a:solidFill>
                  <a:schemeClr val="bg1"/>
                </a:solidFill>
              </a:rPr>
              <a:t>    networks:</a:t>
            </a:r>
          </a:p>
          <a:p>
            <a:pPr algn="just"/>
            <a:r>
              <a:rPr lang="en-US" sz="1200" dirty="0">
                <a:solidFill>
                  <a:schemeClr val="bg1"/>
                </a:solidFill>
              </a:rPr>
              <a:t>      - home-lab-network</a:t>
            </a:r>
          </a:p>
          <a:p>
            <a:pPr algn="just"/>
            <a:r>
              <a:rPr lang="en-US" sz="1200" dirty="0">
                <a:solidFill>
                  <a:schemeClr val="bg1"/>
                </a:solidFill>
              </a:rPr>
              <a:t>    restart: always</a:t>
            </a:r>
          </a:p>
        </p:txBody>
      </p:sp>
    </p:spTree>
    <p:extLst>
      <p:ext uri="{BB962C8B-B14F-4D97-AF65-F5344CB8AC3E}">
        <p14:creationId xmlns:p14="http://schemas.microsoft.com/office/powerpoint/2010/main" val="342259484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3667" y="2786591"/>
            <a:ext cx="10515600" cy="1325563"/>
          </a:xfrm>
        </p:spPr>
        <p:txBody>
          <a:bodyPr/>
          <a:lstStyle/>
          <a:p>
            <a:pPr algn="ctr"/>
            <a:r>
              <a:rPr lang="en-US" b="1" dirty="0" smtClean="0">
                <a:solidFill>
                  <a:srgbClr val="002060"/>
                </a:solidFill>
              </a:rPr>
              <a:t>Docker </a:t>
            </a:r>
            <a:r>
              <a:rPr lang="en-US" u="sng" dirty="0" smtClean="0">
                <a:solidFill>
                  <a:srgbClr val="0070C0"/>
                </a:solidFill>
              </a:rPr>
              <a:t>Simple-apps</a:t>
            </a:r>
            <a:endParaRPr lang="en-US" u="sng" dirty="0">
              <a:solidFill>
                <a:srgbClr val="0070C0"/>
              </a:solidFill>
            </a:endParaRPr>
          </a:p>
        </p:txBody>
      </p:sp>
    </p:spTree>
    <p:extLst>
      <p:ext uri="{BB962C8B-B14F-4D97-AF65-F5344CB8AC3E}">
        <p14:creationId xmlns:p14="http://schemas.microsoft.com/office/powerpoint/2010/main" val="2420589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1217" y="0"/>
            <a:ext cx="10515600" cy="1325563"/>
          </a:xfrm>
        </p:spPr>
        <p:txBody>
          <a:bodyPr/>
          <a:lstStyle/>
          <a:p>
            <a:r>
              <a:rPr lang="en-US" dirty="0" smtClean="0">
                <a:solidFill>
                  <a:srgbClr val="FFC000"/>
                </a:solidFill>
              </a:rPr>
              <a:t>Docker</a:t>
            </a:r>
            <a:endParaRPr lang="en-US" dirty="0">
              <a:solidFill>
                <a:srgbClr val="FFC000"/>
              </a:solidFill>
            </a:endParaRPr>
          </a:p>
        </p:txBody>
      </p:sp>
      <p:sp>
        <p:nvSpPr>
          <p:cNvPr id="3" name="Content Placeholder 2"/>
          <p:cNvSpPr>
            <a:spLocks noGrp="1"/>
          </p:cNvSpPr>
          <p:nvPr>
            <p:ph idx="1"/>
          </p:nvPr>
        </p:nvSpPr>
        <p:spPr>
          <a:xfrm>
            <a:off x="838200" y="986047"/>
            <a:ext cx="10515600" cy="4351338"/>
          </a:xfrm>
        </p:spPr>
        <p:txBody>
          <a:bodyPr/>
          <a:lstStyle/>
          <a:p>
            <a:pPr marL="0" indent="0" algn="just">
              <a:buNone/>
            </a:pPr>
            <a:r>
              <a:rPr lang="en-US" dirty="0" err="1" smtClean="0"/>
              <a:t>Komponen</a:t>
            </a:r>
            <a:r>
              <a:rPr lang="en-US" dirty="0" smtClean="0"/>
              <a:t> </a:t>
            </a:r>
            <a:r>
              <a:rPr lang="en-US" dirty="0" err="1" smtClean="0"/>
              <a:t>utama</a:t>
            </a:r>
            <a:r>
              <a:rPr lang="en-US" dirty="0" smtClean="0"/>
              <a:t> :</a:t>
            </a:r>
          </a:p>
          <a:p>
            <a:pPr lvl="1" fontAlgn="base"/>
            <a:r>
              <a:rPr lang="fr-FR" dirty="0" smtClean="0">
                <a:solidFill>
                  <a:srgbClr val="002060"/>
                </a:solidFill>
              </a:rPr>
              <a:t>Images</a:t>
            </a:r>
            <a:endParaRPr lang="fr-FR" dirty="0">
              <a:solidFill>
                <a:srgbClr val="002060"/>
              </a:solidFill>
            </a:endParaRPr>
          </a:p>
          <a:p>
            <a:pPr lvl="1" fontAlgn="base"/>
            <a:r>
              <a:rPr lang="fr-FR" dirty="0">
                <a:solidFill>
                  <a:srgbClr val="002060"/>
                </a:solidFill>
              </a:rPr>
              <a:t>Container</a:t>
            </a:r>
          </a:p>
          <a:p>
            <a:pPr lvl="1" fontAlgn="base"/>
            <a:r>
              <a:rPr lang="fr-FR" dirty="0" err="1">
                <a:solidFill>
                  <a:srgbClr val="002060"/>
                </a:solidFill>
              </a:rPr>
              <a:t>Dockerfile</a:t>
            </a:r>
            <a:endParaRPr lang="fr-FR" dirty="0">
              <a:solidFill>
                <a:srgbClr val="002060"/>
              </a:solidFill>
            </a:endParaRPr>
          </a:p>
          <a:p>
            <a:pPr lvl="1" fontAlgn="base"/>
            <a:r>
              <a:rPr lang="fr-FR" dirty="0">
                <a:solidFill>
                  <a:srgbClr val="002060"/>
                </a:solidFill>
              </a:rPr>
              <a:t>Docker Compose</a:t>
            </a:r>
          </a:p>
          <a:p>
            <a:pPr lvl="1" fontAlgn="base"/>
            <a:r>
              <a:rPr lang="fr-FR" dirty="0">
                <a:solidFill>
                  <a:srgbClr val="002060"/>
                </a:solidFill>
              </a:rPr>
              <a:t>Docker Hub</a:t>
            </a:r>
          </a:p>
          <a:p>
            <a:pPr marL="0" indent="0" algn="just">
              <a:buNone/>
            </a:pPr>
            <a:endParaRPr lang="en-US" dirty="0" smtClean="0"/>
          </a:p>
          <a:p>
            <a:pPr marL="0" indent="0" algn="just">
              <a:buNone/>
            </a:pPr>
            <a:r>
              <a:rPr lang="en-US" dirty="0" smtClean="0"/>
              <a:t> </a:t>
            </a:r>
            <a:endParaRPr lang="en-US" dirty="0"/>
          </a:p>
        </p:txBody>
      </p:sp>
    </p:spTree>
    <p:extLst>
      <p:ext uri="{BB962C8B-B14F-4D97-AF65-F5344CB8AC3E}">
        <p14:creationId xmlns:p14="http://schemas.microsoft.com/office/powerpoint/2010/main" val="188293868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63276" y="519182"/>
            <a:ext cx="1888068" cy="1116355"/>
          </a:xfrm>
        </p:spPr>
        <p:txBody>
          <a:bodyPr>
            <a:normAutofit/>
          </a:bodyPr>
          <a:lstStyle/>
          <a:p>
            <a:pPr algn="just"/>
            <a:r>
              <a:rPr lang="en-US" b="1" dirty="0" smtClean="0">
                <a:solidFill>
                  <a:srgbClr val="002060"/>
                </a:solidFill>
              </a:rPr>
              <a:t>Image</a:t>
            </a:r>
            <a:endParaRPr lang="en-US" sz="2000" b="1" dirty="0">
              <a:solidFill>
                <a:srgbClr val="002060"/>
              </a:solidFill>
            </a:endParaRPr>
          </a:p>
        </p:txBody>
      </p:sp>
      <p:pic>
        <p:nvPicPr>
          <p:cNvPr id="5" name="Content Placeholder 4"/>
          <p:cNvPicPr>
            <a:picLocks noGrp="1" noChangeAspect="1"/>
          </p:cNvPicPr>
          <p:nvPr>
            <p:ph idx="1"/>
          </p:nvPr>
        </p:nvPicPr>
        <p:blipFill>
          <a:blip r:embed="rId2"/>
          <a:stretch>
            <a:fillRect/>
          </a:stretch>
        </p:blipFill>
        <p:spPr>
          <a:xfrm>
            <a:off x="279399" y="3324419"/>
            <a:ext cx="5163019" cy="3363274"/>
          </a:xfrm>
          <a:prstGeom prst="rect">
            <a:avLst/>
          </a:prstGeom>
        </p:spPr>
      </p:pic>
      <p:sp>
        <p:nvSpPr>
          <p:cNvPr id="6" name="Rectangle 5"/>
          <p:cNvSpPr/>
          <p:nvPr/>
        </p:nvSpPr>
        <p:spPr>
          <a:xfrm>
            <a:off x="279399" y="1367522"/>
            <a:ext cx="5410201" cy="1200329"/>
          </a:xfrm>
          <a:prstGeom prst="rect">
            <a:avLst/>
          </a:prstGeom>
        </p:spPr>
        <p:txBody>
          <a:bodyPr wrap="square">
            <a:spAutoFit/>
          </a:bodyPr>
          <a:lstStyle/>
          <a:p>
            <a:pPr algn="just"/>
            <a:r>
              <a:rPr lang="en-US" dirty="0" err="1"/>
              <a:t>docker</a:t>
            </a:r>
            <a:r>
              <a:rPr lang="en-US" dirty="0"/>
              <a:t> pull &lt;</a:t>
            </a:r>
            <a:r>
              <a:rPr lang="en-US" dirty="0" err="1"/>
              <a:t>nama</a:t>
            </a:r>
            <a:r>
              <a:rPr lang="en-US" dirty="0"/>
              <a:t> images&gt;</a:t>
            </a:r>
            <a:r>
              <a:rPr lang="en-US" dirty="0" err="1"/>
              <a:t>Untuk</a:t>
            </a:r>
            <a:r>
              <a:rPr lang="en-US" dirty="0"/>
              <a:t> </a:t>
            </a:r>
            <a:r>
              <a:rPr lang="en-US" dirty="0" err="1"/>
              <a:t>mengambil</a:t>
            </a:r>
            <a:r>
              <a:rPr lang="en-US" dirty="0"/>
              <a:t> </a:t>
            </a:r>
            <a:r>
              <a:rPr lang="en-US" dirty="0" err="1"/>
              <a:t>atau</a:t>
            </a:r>
            <a:r>
              <a:rPr lang="en-US" dirty="0"/>
              <a:t> pull images </a:t>
            </a:r>
            <a:r>
              <a:rPr lang="en-US" dirty="0" err="1"/>
              <a:t>dari</a:t>
            </a:r>
            <a:r>
              <a:rPr lang="en-US" dirty="0"/>
              <a:t> registry </a:t>
            </a:r>
            <a:r>
              <a:rPr lang="en-US" dirty="0" err="1"/>
              <a:t>docker</a:t>
            </a:r>
            <a:r>
              <a:rPr lang="en-US" dirty="0"/>
              <a:t>. </a:t>
            </a:r>
            <a:r>
              <a:rPr lang="en-US" dirty="0" err="1"/>
              <a:t>Untuk</a:t>
            </a:r>
            <a:r>
              <a:rPr lang="en-US" dirty="0"/>
              <a:t> </a:t>
            </a:r>
            <a:r>
              <a:rPr lang="en-US" dirty="0" err="1"/>
              <a:t>melihat</a:t>
            </a:r>
            <a:r>
              <a:rPr lang="en-US" dirty="0"/>
              <a:t> </a:t>
            </a:r>
            <a:r>
              <a:rPr lang="en-US" dirty="0" err="1"/>
              <a:t>hasil</a:t>
            </a:r>
            <a:r>
              <a:rPr lang="en-US" dirty="0"/>
              <a:t> image yang </a:t>
            </a:r>
            <a:r>
              <a:rPr lang="en-US" dirty="0" err="1"/>
              <a:t>dipull</a:t>
            </a:r>
            <a:r>
              <a:rPr lang="en-US" dirty="0"/>
              <a:t> kalian </a:t>
            </a:r>
            <a:r>
              <a:rPr lang="en-US" dirty="0" err="1"/>
              <a:t>dapat</a:t>
            </a:r>
            <a:r>
              <a:rPr lang="en-US" dirty="0"/>
              <a:t> </a:t>
            </a:r>
            <a:r>
              <a:rPr lang="en-US" dirty="0" err="1"/>
              <a:t>menggunakan</a:t>
            </a:r>
            <a:r>
              <a:rPr lang="en-US" dirty="0"/>
              <a:t> </a:t>
            </a:r>
            <a:r>
              <a:rPr lang="en-US" dirty="0" err="1"/>
              <a:t>perintah</a:t>
            </a:r>
            <a:r>
              <a:rPr lang="en-US" dirty="0"/>
              <a:t> </a:t>
            </a:r>
            <a:r>
              <a:rPr lang="en-US" dirty="0" err="1"/>
              <a:t>docker</a:t>
            </a:r>
            <a:r>
              <a:rPr lang="en-US" dirty="0"/>
              <a:t> images.</a:t>
            </a:r>
          </a:p>
        </p:txBody>
      </p:sp>
      <p:sp>
        <p:nvSpPr>
          <p:cNvPr id="7" name="Rectangle 6"/>
          <p:cNvSpPr/>
          <p:nvPr/>
        </p:nvSpPr>
        <p:spPr>
          <a:xfrm>
            <a:off x="0" y="61696"/>
            <a:ext cx="2363980" cy="1015663"/>
          </a:xfrm>
          <a:prstGeom prst="rect">
            <a:avLst/>
          </a:prstGeom>
        </p:spPr>
        <p:txBody>
          <a:bodyPr wrap="none">
            <a:spAutoFit/>
          </a:bodyPr>
          <a:lstStyle/>
          <a:p>
            <a:r>
              <a:rPr lang="en-US" sz="6000" dirty="0">
                <a:solidFill>
                  <a:srgbClr val="FFC000"/>
                </a:solidFill>
              </a:rPr>
              <a:t>Docker</a:t>
            </a:r>
          </a:p>
        </p:txBody>
      </p:sp>
      <p:pic>
        <p:nvPicPr>
          <p:cNvPr id="8" name="Picture 7"/>
          <p:cNvPicPr>
            <a:picLocks noChangeAspect="1"/>
          </p:cNvPicPr>
          <p:nvPr/>
        </p:nvPicPr>
        <p:blipFill>
          <a:blip r:embed="rId3"/>
          <a:stretch>
            <a:fillRect/>
          </a:stretch>
        </p:blipFill>
        <p:spPr>
          <a:xfrm>
            <a:off x="279399" y="3856120"/>
            <a:ext cx="4986867" cy="2699809"/>
          </a:xfrm>
          <a:prstGeom prst="rect">
            <a:avLst/>
          </a:prstGeom>
        </p:spPr>
      </p:pic>
      <p:sp>
        <p:nvSpPr>
          <p:cNvPr id="9" name="Rectangle 8"/>
          <p:cNvSpPr/>
          <p:nvPr/>
        </p:nvSpPr>
        <p:spPr>
          <a:xfrm>
            <a:off x="279399" y="2837807"/>
            <a:ext cx="5771009" cy="338554"/>
          </a:xfrm>
          <a:prstGeom prst="rect">
            <a:avLst/>
          </a:prstGeom>
        </p:spPr>
        <p:txBody>
          <a:bodyPr wrap="square">
            <a:spAutoFit/>
          </a:bodyPr>
          <a:lstStyle/>
          <a:p>
            <a:pPr algn="just"/>
            <a:r>
              <a:rPr lang="en-US" sz="1600" dirty="0" err="1" smtClean="0">
                <a:solidFill>
                  <a:srgbClr val="002060"/>
                </a:solidFill>
              </a:rPr>
              <a:t>root@administrator</a:t>
            </a:r>
            <a:r>
              <a:rPr lang="en-US" sz="1600" dirty="0" smtClean="0">
                <a:solidFill>
                  <a:srgbClr val="002060"/>
                </a:solidFill>
              </a:rPr>
              <a:t>:/home/panda/GPU2# </a:t>
            </a:r>
            <a:r>
              <a:rPr lang="en-US" sz="1600" b="1" dirty="0" err="1" smtClean="0">
                <a:solidFill>
                  <a:srgbClr val="00B0F0"/>
                </a:solidFill>
              </a:rPr>
              <a:t>docker</a:t>
            </a:r>
            <a:r>
              <a:rPr lang="en-US" sz="1600" b="1" dirty="0" smtClean="0">
                <a:solidFill>
                  <a:srgbClr val="00B0F0"/>
                </a:solidFill>
              </a:rPr>
              <a:t> pull </a:t>
            </a:r>
            <a:r>
              <a:rPr lang="en-US" sz="1600" b="1" dirty="0" err="1" smtClean="0">
                <a:solidFill>
                  <a:srgbClr val="00B0F0"/>
                </a:solidFill>
              </a:rPr>
              <a:t>nginx</a:t>
            </a:r>
            <a:endParaRPr lang="en-US" sz="1600" b="1" dirty="0">
              <a:solidFill>
                <a:srgbClr val="00B0F0"/>
              </a:solidFill>
            </a:endParaRPr>
          </a:p>
        </p:txBody>
      </p:sp>
      <p:sp>
        <p:nvSpPr>
          <p:cNvPr id="10" name="Rectangle 9"/>
          <p:cNvSpPr/>
          <p:nvPr/>
        </p:nvSpPr>
        <p:spPr>
          <a:xfrm>
            <a:off x="5936192" y="1432289"/>
            <a:ext cx="5762457" cy="923330"/>
          </a:xfrm>
          <a:prstGeom prst="rect">
            <a:avLst/>
          </a:prstGeom>
        </p:spPr>
        <p:txBody>
          <a:bodyPr wrap="square">
            <a:spAutoFit/>
          </a:bodyPr>
          <a:lstStyle/>
          <a:p>
            <a:pPr algn="just"/>
            <a:r>
              <a:rPr lang="en-US" dirty="0" err="1"/>
              <a:t>docker</a:t>
            </a:r>
            <a:r>
              <a:rPr lang="en-US" dirty="0"/>
              <a:t> pull &lt;</a:t>
            </a:r>
            <a:r>
              <a:rPr lang="en-US" dirty="0" err="1"/>
              <a:t>nama</a:t>
            </a:r>
            <a:r>
              <a:rPr lang="en-US" dirty="0"/>
              <a:t> images&gt;</a:t>
            </a:r>
            <a:r>
              <a:rPr lang="en-US" dirty="0" err="1"/>
              <a:t>Untuk</a:t>
            </a:r>
            <a:r>
              <a:rPr lang="en-US" dirty="0"/>
              <a:t> </a:t>
            </a:r>
            <a:r>
              <a:rPr lang="en-US" dirty="0" err="1"/>
              <a:t>mengambil</a:t>
            </a:r>
            <a:r>
              <a:rPr lang="en-US" dirty="0"/>
              <a:t> </a:t>
            </a:r>
            <a:r>
              <a:rPr lang="en-US" dirty="0" err="1"/>
              <a:t>atau</a:t>
            </a:r>
            <a:r>
              <a:rPr lang="en-US" dirty="0"/>
              <a:t> pull images </a:t>
            </a:r>
            <a:r>
              <a:rPr lang="en-US" dirty="0" err="1"/>
              <a:t>dari</a:t>
            </a:r>
            <a:r>
              <a:rPr lang="en-US" dirty="0"/>
              <a:t> registry </a:t>
            </a:r>
            <a:r>
              <a:rPr lang="en-US" dirty="0" err="1"/>
              <a:t>docker</a:t>
            </a:r>
            <a:r>
              <a:rPr lang="en-US" dirty="0"/>
              <a:t>. </a:t>
            </a:r>
            <a:r>
              <a:rPr lang="en-US" dirty="0" err="1"/>
              <a:t>Untuk</a:t>
            </a:r>
            <a:r>
              <a:rPr lang="en-US" dirty="0"/>
              <a:t> </a:t>
            </a:r>
            <a:r>
              <a:rPr lang="en-US" dirty="0" err="1"/>
              <a:t>melihat</a:t>
            </a:r>
            <a:r>
              <a:rPr lang="en-US" dirty="0"/>
              <a:t> </a:t>
            </a:r>
            <a:r>
              <a:rPr lang="en-US" dirty="0" err="1"/>
              <a:t>hasil</a:t>
            </a:r>
            <a:r>
              <a:rPr lang="en-US" dirty="0"/>
              <a:t> image yang </a:t>
            </a:r>
            <a:r>
              <a:rPr lang="en-US" dirty="0" err="1"/>
              <a:t>dipull</a:t>
            </a:r>
            <a:r>
              <a:rPr lang="en-US" dirty="0"/>
              <a:t> kalian </a:t>
            </a:r>
            <a:r>
              <a:rPr lang="en-US" dirty="0" err="1"/>
              <a:t>dapat</a:t>
            </a:r>
            <a:r>
              <a:rPr lang="en-US" dirty="0"/>
              <a:t> </a:t>
            </a:r>
            <a:r>
              <a:rPr lang="en-US" dirty="0" err="1"/>
              <a:t>menggunakan</a:t>
            </a:r>
            <a:r>
              <a:rPr lang="en-US" dirty="0"/>
              <a:t> </a:t>
            </a:r>
            <a:r>
              <a:rPr lang="en-US" dirty="0" err="1"/>
              <a:t>perintah</a:t>
            </a:r>
            <a:r>
              <a:rPr lang="en-US" dirty="0"/>
              <a:t> </a:t>
            </a:r>
            <a:r>
              <a:rPr lang="en-US" dirty="0" err="1"/>
              <a:t>docker</a:t>
            </a:r>
            <a:r>
              <a:rPr lang="en-US" dirty="0"/>
              <a:t> images.</a:t>
            </a:r>
          </a:p>
        </p:txBody>
      </p:sp>
      <p:sp>
        <p:nvSpPr>
          <p:cNvPr id="11" name="Rectangle 10"/>
          <p:cNvSpPr/>
          <p:nvPr/>
        </p:nvSpPr>
        <p:spPr>
          <a:xfrm>
            <a:off x="5936192" y="2701131"/>
            <a:ext cx="5906390" cy="369332"/>
          </a:xfrm>
          <a:prstGeom prst="rect">
            <a:avLst/>
          </a:prstGeom>
        </p:spPr>
        <p:txBody>
          <a:bodyPr wrap="square">
            <a:spAutoFit/>
          </a:bodyPr>
          <a:lstStyle/>
          <a:p>
            <a:pPr algn="just"/>
            <a:r>
              <a:rPr lang="en-US" dirty="0" err="1" smtClean="0">
                <a:solidFill>
                  <a:srgbClr val="002060"/>
                </a:solidFill>
              </a:rPr>
              <a:t>root@administrator</a:t>
            </a:r>
            <a:r>
              <a:rPr lang="en-US" dirty="0" smtClean="0">
                <a:solidFill>
                  <a:srgbClr val="002060"/>
                </a:solidFill>
              </a:rPr>
              <a:t>:/home/panda/GPU2# </a:t>
            </a:r>
            <a:r>
              <a:rPr lang="en-US" b="1" dirty="0" err="1">
                <a:solidFill>
                  <a:srgbClr val="00B0F0"/>
                </a:solidFill>
              </a:rPr>
              <a:t>docker</a:t>
            </a:r>
            <a:r>
              <a:rPr lang="en-US" b="1" dirty="0">
                <a:solidFill>
                  <a:srgbClr val="00B0F0"/>
                </a:solidFill>
              </a:rPr>
              <a:t> </a:t>
            </a:r>
            <a:r>
              <a:rPr lang="en-US" b="1" dirty="0" smtClean="0">
                <a:solidFill>
                  <a:srgbClr val="00B0F0"/>
                </a:solidFill>
              </a:rPr>
              <a:t>images</a:t>
            </a:r>
            <a:endParaRPr lang="en-US" b="1" dirty="0">
              <a:solidFill>
                <a:srgbClr val="00B0F0"/>
              </a:solidFill>
            </a:endParaRPr>
          </a:p>
        </p:txBody>
      </p:sp>
      <p:pic>
        <p:nvPicPr>
          <p:cNvPr id="12" name="Picture 11"/>
          <p:cNvPicPr>
            <a:picLocks noChangeAspect="1"/>
          </p:cNvPicPr>
          <p:nvPr/>
        </p:nvPicPr>
        <p:blipFill>
          <a:blip r:embed="rId4"/>
          <a:stretch>
            <a:fillRect/>
          </a:stretch>
        </p:blipFill>
        <p:spPr>
          <a:xfrm>
            <a:off x="6050408" y="3070463"/>
            <a:ext cx="3350683" cy="3877362"/>
          </a:xfrm>
          <a:prstGeom prst="rect">
            <a:avLst/>
          </a:prstGeom>
        </p:spPr>
      </p:pic>
    </p:spTree>
    <p:extLst>
      <p:ext uri="{BB962C8B-B14F-4D97-AF65-F5344CB8AC3E}">
        <p14:creationId xmlns:p14="http://schemas.microsoft.com/office/powerpoint/2010/main" val="15835390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63276" y="519182"/>
            <a:ext cx="1888068" cy="1116355"/>
          </a:xfrm>
        </p:spPr>
        <p:txBody>
          <a:bodyPr>
            <a:normAutofit/>
          </a:bodyPr>
          <a:lstStyle/>
          <a:p>
            <a:pPr algn="just"/>
            <a:r>
              <a:rPr lang="en-US" b="1" dirty="0" smtClean="0">
                <a:solidFill>
                  <a:srgbClr val="002060"/>
                </a:solidFill>
              </a:rPr>
              <a:t>Image</a:t>
            </a:r>
            <a:endParaRPr lang="en-US" sz="2000" b="1" dirty="0">
              <a:solidFill>
                <a:srgbClr val="002060"/>
              </a:solidFill>
            </a:endParaRPr>
          </a:p>
        </p:txBody>
      </p:sp>
      <p:sp>
        <p:nvSpPr>
          <p:cNvPr id="7" name="Rectangle 6"/>
          <p:cNvSpPr/>
          <p:nvPr/>
        </p:nvSpPr>
        <p:spPr>
          <a:xfrm>
            <a:off x="0" y="61696"/>
            <a:ext cx="2363980" cy="1015663"/>
          </a:xfrm>
          <a:prstGeom prst="rect">
            <a:avLst/>
          </a:prstGeom>
        </p:spPr>
        <p:txBody>
          <a:bodyPr wrap="none">
            <a:spAutoFit/>
          </a:bodyPr>
          <a:lstStyle/>
          <a:p>
            <a:r>
              <a:rPr lang="en-US" sz="6000" dirty="0">
                <a:solidFill>
                  <a:srgbClr val="FFC000"/>
                </a:solidFill>
              </a:rPr>
              <a:t>Docker</a:t>
            </a:r>
          </a:p>
        </p:txBody>
      </p:sp>
      <p:sp>
        <p:nvSpPr>
          <p:cNvPr id="10" name="Rectangle 9"/>
          <p:cNvSpPr/>
          <p:nvPr/>
        </p:nvSpPr>
        <p:spPr>
          <a:xfrm>
            <a:off x="279399" y="1367522"/>
            <a:ext cx="5410201" cy="2585323"/>
          </a:xfrm>
          <a:prstGeom prst="rect">
            <a:avLst/>
          </a:prstGeom>
        </p:spPr>
        <p:txBody>
          <a:bodyPr wrap="square">
            <a:spAutoFit/>
          </a:bodyPr>
          <a:lstStyle/>
          <a:p>
            <a:pPr algn="just"/>
            <a:r>
              <a:rPr lang="en-US" b="1" dirty="0" err="1"/>
              <a:t>docker</a:t>
            </a:r>
            <a:r>
              <a:rPr lang="en-US" b="1" dirty="0"/>
              <a:t> push &lt;</a:t>
            </a:r>
            <a:r>
              <a:rPr lang="en-US" b="1" dirty="0" err="1"/>
              <a:t>nama</a:t>
            </a:r>
            <a:r>
              <a:rPr lang="en-US" b="1" dirty="0"/>
              <a:t> image&gt; </a:t>
            </a:r>
            <a:r>
              <a:rPr lang="en-US" dirty="0" err="1"/>
              <a:t>Untuk</a:t>
            </a:r>
            <a:r>
              <a:rPr lang="en-US" dirty="0"/>
              <a:t> </a:t>
            </a:r>
            <a:r>
              <a:rPr lang="en-US" dirty="0" err="1"/>
              <a:t>mengunggah</a:t>
            </a:r>
            <a:r>
              <a:rPr lang="en-US" dirty="0"/>
              <a:t> image yang </a:t>
            </a:r>
            <a:r>
              <a:rPr lang="en-US" dirty="0" err="1"/>
              <a:t>telah</a:t>
            </a:r>
            <a:r>
              <a:rPr lang="en-US" dirty="0"/>
              <a:t> </a:t>
            </a:r>
            <a:r>
              <a:rPr lang="en-US" dirty="0" err="1"/>
              <a:t>dibuat</a:t>
            </a:r>
            <a:r>
              <a:rPr lang="en-US" dirty="0"/>
              <a:t> </a:t>
            </a:r>
            <a:r>
              <a:rPr lang="en-US" dirty="0" err="1"/>
              <a:t>ke</a:t>
            </a:r>
            <a:r>
              <a:rPr lang="en-US" dirty="0"/>
              <a:t> </a:t>
            </a:r>
            <a:r>
              <a:rPr lang="en-US" dirty="0" err="1"/>
              <a:t>registriy</a:t>
            </a:r>
            <a:r>
              <a:rPr lang="en-US" dirty="0"/>
              <a:t> </a:t>
            </a:r>
            <a:r>
              <a:rPr lang="en-US" dirty="0" err="1"/>
              <a:t>lokal</a:t>
            </a:r>
            <a:r>
              <a:rPr lang="en-US" dirty="0"/>
              <a:t> </a:t>
            </a:r>
            <a:r>
              <a:rPr lang="en-US" dirty="0" err="1"/>
              <a:t>maupun</a:t>
            </a:r>
            <a:r>
              <a:rPr lang="en-US" dirty="0"/>
              <a:t> global, </a:t>
            </a:r>
            <a:r>
              <a:rPr lang="en-US" dirty="0" err="1"/>
              <a:t>tergantung</a:t>
            </a:r>
            <a:r>
              <a:rPr lang="en-US" dirty="0"/>
              <a:t> </a:t>
            </a:r>
            <a:r>
              <a:rPr lang="en-US" dirty="0" err="1"/>
              <a:t>kebutuhan</a:t>
            </a:r>
            <a:r>
              <a:rPr lang="en-US" dirty="0"/>
              <a:t>. </a:t>
            </a:r>
            <a:r>
              <a:rPr lang="en-US" dirty="0" err="1"/>
              <a:t>Untuk</a:t>
            </a:r>
            <a:r>
              <a:rPr lang="en-US" dirty="0"/>
              <a:t> </a:t>
            </a:r>
            <a:r>
              <a:rPr lang="en-US" dirty="0" err="1"/>
              <a:t>melakukan</a:t>
            </a:r>
            <a:r>
              <a:rPr lang="en-US" dirty="0"/>
              <a:t> push </a:t>
            </a:r>
            <a:r>
              <a:rPr lang="en-US" dirty="0" err="1"/>
              <a:t>ke</a:t>
            </a:r>
            <a:r>
              <a:rPr lang="en-US" dirty="0"/>
              <a:t> </a:t>
            </a:r>
            <a:r>
              <a:rPr lang="en-US" dirty="0" err="1"/>
              <a:t>docker</a:t>
            </a:r>
            <a:r>
              <a:rPr lang="en-US" dirty="0"/>
              <a:t> hub, </a:t>
            </a:r>
            <a:r>
              <a:rPr lang="en-US" dirty="0" err="1"/>
              <a:t>pastikan</a:t>
            </a:r>
            <a:r>
              <a:rPr lang="en-US" dirty="0"/>
              <a:t> kalian </a:t>
            </a:r>
            <a:r>
              <a:rPr lang="en-US" dirty="0" err="1"/>
              <a:t>sudah</a:t>
            </a:r>
            <a:r>
              <a:rPr lang="en-US" dirty="0"/>
              <a:t> </a:t>
            </a:r>
            <a:r>
              <a:rPr lang="en-US" dirty="0" err="1"/>
              <a:t>membuat</a:t>
            </a:r>
            <a:r>
              <a:rPr lang="en-US" dirty="0"/>
              <a:t> tag </a:t>
            </a:r>
            <a:r>
              <a:rPr lang="en-US" dirty="0" err="1"/>
              <a:t>untuk</a:t>
            </a:r>
            <a:r>
              <a:rPr lang="en-US" dirty="0"/>
              <a:t> image </a:t>
            </a:r>
            <a:r>
              <a:rPr lang="en-US" dirty="0" err="1"/>
              <a:t>dan</a:t>
            </a:r>
            <a:r>
              <a:rPr lang="en-US" dirty="0"/>
              <a:t> login </a:t>
            </a:r>
            <a:r>
              <a:rPr lang="en-US" dirty="0" err="1"/>
              <a:t>menggunakan</a:t>
            </a:r>
            <a:r>
              <a:rPr lang="en-US" dirty="0"/>
              <a:t> </a:t>
            </a:r>
            <a:r>
              <a:rPr lang="en-US" dirty="0" err="1"/>
              <a:t>akun</a:t>
            </a:r>
            <a:r>
              <a:rPr lang="en-US" dirty="0"/>
              <a:t> </a:t>
            </a:r>
            <a:r>
              <a:rPr lang="en-US" dirty="0" err="1"/>
              <a:t>docker</a:t>
            </a:r>
            <a:r>
              <a:rPr lang="en-US" dirty="0"/>
              <a:t> hub </a:t>
            </a:r>
            <a:r>
              <a:rPr lang="en-US" dirty="0" err="1"/>
              <a:t>terlebih</a:t>
            </a:r>
            <a:r>
              <a:rPr lang="en-US" dirty="0"/>
              <a:t> </a:t>
            </a:r>
            <a:r>
              <a:rPr lang="en-US" dirty="0" err="1"/>
              <a:t>dahulu</a:t>
            </a:r>
            <a:r>
              <a:rPr lang="en-US" dirty="0"/>
              <a:t>. </a:t>
            </a:r>
            <a:r>
              <a:rPr lang="en-US" dirty="0" err="1"/>
              <a:t>Gunakan</a:t>
            </a:r>
            <a:r>
              <a:rPr lang="en-US" dirty="0"/>
              <a:t> </a:t>
            </a:r>
            <a:r>
              <a:rPr lang="en-US" dirty="0" err="1"/>
              <a:t>perintah</a:t>
            </a:r>
            <a:r>
              <a:rPr lang="en-US" dirty="0"/>
              <a:t> </a:t>
            </a:r>
            <a:r>
              <a:rPr lang="en-US" dirty="0" err="1"/>
              <a:t>docker</a:t>
            </a:r>
            <a:r>
              <a:rPr lang="en-US" dirty="0"/>
              <a:t> tag </a:t>
            </a:r>
            <a:r>
              <a:rPr lang="en-US" dirty="0" err="1"/>
              <a:t>dan</a:t>
            </a:r>
            <a:r>
              <a:rPr lang="en-US" dirty="0"/>
              <a:t> </a:t>
            </a:r>
            <a:r>
              <a:rPr lang="en-US" dirty="0" err="1"/>
              <a:t>docker</a:t>
            </a:r>
            <a:r>
              <a:rPr lang="en-US" dirty="0"/>
              <a:t> login.//</a:t>
            </a:r>
            <a:r>
              <a:rPr lang="en-US" dirty="0" err="1"/>
              <a:t>pastikan</a:t>
            </a:r>
            <a:r>
              <a:rPr lang="en-US" dirty="0"/>
              <a:t> login </a:t>
            </a:r>
            <a:r>
              <a:rPr lang="en-US" dirty="0" err="1"/>
              <a:t>menggunakan</a:t>
            </a:r>
            <a:r>
              <a:rPr lang="en-US" dirty="0"/>
              <a:t> </a:t>
            </a:r>
            <a:r>
              <a:rPr lang="en-US" dirty="0" err="1"/>
              <a:t>akun</a:t>
            </a:r>
            <a:r>
              <a:rPr lang="en-US" dirty="0"/>
              <a:t> </a:t>
            </a:r>
            <a:r>
              <a:rPr lang="en-US" dirty="0" err="1"/>
              <a:t>docker</a:t>
            </a:r>
            <a:r>
              <a:rPr lang="en-US" dirty="0"/>
              <a:t> hub kalian #</a:t>
            </a:r>
            <a:r>
              <a:rPr lang="en-US" dirty="0" err="1"/>
              <a:t>docker</a:t>
            </a:r>
            <a:r>
              <a:rPr lang="en-US" dirty="0"/>
              <a:t> login</a:t>
            </a:r>
          </a:p>
          <a:p>
            <a:pPr algn="just"/>
            <a:endParaRPr lang="en-US" dirty="0"/>
          </a:p>
        </p:txBody>
      </p:sp>
      <p:sp>
        <p:nvSpPr>
          <p:cNvPr id="12" name="Rectangle 11"/>
          <p:cNvSpPr/>
          <p:nvPr/>
        </p:nvSpPr>
        <p:spPr>
          <a:xfrm>
            <a:off x="6050408" y="1367522"/>
            <a:ext cx="5410201" cy="923330"/>
          </a:xfrm>
          <a:prstGeom prst="rect">
            <a:avLst/>
          </a:prstGeom>
        </p:spPr>
        <p:txBody>
          <a:bodyPr wrap="square">
            <a:spAutoFit/>
          </a:bodyPr>
          <a:lstStyle/>
          <a:p>
            <a:pPr algn="just"/>
            <a:r>
              <a:rPr lang="en-US" dirty="0"/>
              <a:t>#</a:t>
            </a:r>
            <a:r>
              <a:rPr lang="en-US" dirty="0" err="1"/>
              <a:t>docker</a:t>
            </a:r>
            <a:r>
              <a:rPr lang="en-US" dirty="0"/>
              <a:t> tag &lt;</a:t>
            </a:r>
            <a:r>
              <a:rPr lang="en-US" dirty="0" err="1"/>
              <a:t>nama</a:t>
            </a:r>
            <a:r>
              <a:rPr lang="en-US" dirty="0"/>
              <a:t> image </a:t>
            </a:r>
            <a:r>
              <a:rPr lang="en-US" dirty="0" err="1"/>
              <a:t>asli:tag</a:t>
            </a:r>
            <a:r>
              <a:rPr lang="en-US" dirty="0"/>
              <a:t>&gt; &lt;image yang </a:t>
            </a:r>
            <a:r>
              <a:rPr lang="en-US" dirty="0" err="1"/>
              <a:t>ditag:tag</a:t>
            </a:r>
            <a:r>
              <a:rPr lang="en-US" dirty="0"/>
              <a:t>&gt; //</a:t>
            </a:r>
            <a:r>
              <a:rPr lang="en-US" dirty="0" err="1"/>
              <a:t>dalam</a:t>
            </a:r>
            <a:r>
              <a:rPr lang="en-US" dirty="0"/>
              <a:t> </a:t>
            </a:r>
            <a:r>
              <a:rPr lang="en-US" dirty="0" err="1"/>
              <a:t>membuat</a:t>
            </a:r>
            <a:r>
              <a:rPr lang="en-US" dirty="0"/>
              <a:t> tag </a:t>
            </a:r>
            <a:r>
              <a:rPr lang="en-US" dirty="0" err="1"/>
              <a:t>pastikan</a:t>
            </a:r>
            <a:r>
              <a:rPr lang="en-US" dirty="0"/>
              <a:t> kalian </a:t>
            </a:r>
            <a:r>
              <a:rPr lang="en-US" dirty="0" err="1"/>
              <a:t>juga</a:t>
            </a:r>
            <a:r>
              <a:rPr lang="en-US" dirty="0"/>
              <a:t> </a:t>
            </a:r>
            <a:r>
              <a:rPr lang="en-US" dirty="0" err="1"/>
              <a:t>menggunakan</a:t>
            </a:r>
            <a:r>
              <a:rPr lang="en-US" dirty="0"/>
              <a:t> format </a:t>
            </a:r>
            <a:r>
              <a:rPr lang="en-US" dirty="0" err="1"/>
              <a:t>usernamedockerhub</a:t>
            </a:r>
            <a:r>
              <a:rPr lang="en-US" dirty="0"/>
              <a:t>/</a:t>
            </a:r>
            <a:r>
              <a:rPr lang="en-US" dirty="0" err="1"/>
              <a:t>namaimage</a:t>
            </a:r>
            <a:endParaRPr lang="en-US" dirty="0"/>
          </a:p>
        </p:txBody>
      </p:sp>
      <p:sp>
        <p:nvSpPr>
          <p:cNvPr id="13" name="Rectangle 12"/>
          <p:cNvSpPr/>
          <p:nvPr/>
        </p:nvSpPr>
        <p:spPr>
          <a:xfrm>
            <a:off x="6050408" y="2436393"/>
            <a:ext cx="6316133" cy="584775"/>
          </a:xfrm>
          <a:prstGeom prst="rect">
            <a:avLst/>
          </a:prstGeom>
        </p:spPr>
        <p:txBody>
          <a:bodyPr wrap="square">
            <a:spAutoFit/>
          </a:bodyPr>
          <a:lstStyle/>
          <a:p>
            <a:pPr algn="just"/>
            <a:r>
              <a:rPr lang="en-US" sz="1600" dirty="0" err="1">
                <a:solidFill>
                  <a:srgbClr val="002060"/>
                </a:solidFill>
              </a:rPr>
              <a:t>root@administrator</a:t>
            </a:r>
            <a:r>
              <a:rPr lang="en-US" sz="1600" dirty="0">
                <a:solidFill>
                  <a:srgbClr val="002060"/>
                </a:solidFill>
              </a:rPr>
              <a:t>:/home/panda/GPU2# </a:t>
            </a:r>
            <a:r>
              <a:rPr lang="en-US" sz="1600" b="1" dirty="0" err="1">
                <a:solidFill>
                  <a:srgbClr val="00B0F0"/>
                </a:solidFill>
              </a:rPr>
              <a:t>docker</a:t>
            </a:r>
            <a:r>
              <a:rPr lang="en-US" sz="1600" b="1" dirty="0">
                <a:solidFill>
                  <a:srgbClr val="00B0F0"/>
                </a:solidFill>
              </a:rPr>
              <a:t> tag </a:t>
            </a:r>
            <a:r>
              <a:rPr lang="en-US" sz="1600" b="1" dirty="0" err="1">
                <a:solidFill>
                  <a:srgbClr val="00B0F0"/>
                </a:solidFill>
              </a:rPr>
              <a:t>nginx</a:t>
            </a:r>
            <a:r>
              <a:rPr lang="en-US" sz="1600" b="1" dirty="0">
                <a:solidFill>
                  <a:srgbClr val="00B0F0"/>
                </a:solidFill>
              </a:rPr>
              <a:t> </a:t>
            </a:r>
            <a:r>
              <a:rPr lang="en-US" sz="1600" b="1" dirty="0" err="1">
                <a:solidFill>
                  <a:srgbClr val="00B0F0"/>
                </a:solidFill>
              </a:rPr>
              <a:t>Amel</a:t>
            </a:r>
            <a:r>
              <a:rPr lang="en-US" sz="1600" b="1" dirty="0">
                <a:solidFill>
                  <a:srgbClr val="00B0F0"/>
                </a:solidFill>
              </a:rPr>
              <a:t>/web-1</a:t>
            </a:r>
          </a:p>
          <a:p>
            <a:pPr algn="just"/>
            <a:r>
              <a:rPr lang="en-US" sz="1600" dirty="0" err="1">
                <a:solidFill>
                  <a:srgbClr val="002060"/>
                </a:solidFill>
              </a:rPr>
              <a:t>root@administrator</a:t>
            </a:r>
            <a:r>
              <a:rPr lang="en-US" sz="1600" dirty="0">
                <a:solidFill>
                  <a:srgbClr val="002060"/>
                </a:solidFill>
              </a:rPr>
              <a:t>:/home/panda/GPU2# </a:t>
            </a:r>
            <a:r>
              <a:rPr lang="en-US" sz="1600" b="1" dirty="0" err="1">
                <a:solidFill>
                  <a:srgbClr val="00B0F0"/>
                </a:solidFill>
              </a:rPr>
              <a:t>docker</a:t>
            </a:r>
            <a:r>
              <a:rPr lang="en-US" sz="1600" b="1" dirty="0">
                <a:solidFill>
                  <a:srgbClr val="00B0F0"/>
                </a:solidFill>
              </a:rPr>
              <a:t> images</a:t>
            </a:r>
          </a:p>
        </p:txBody>
      </p:sp>
      <p:sp>
        <p:nvSpPr>
          <p:cNvPr id="14" name="Rectangle 13"/>
          <p:cNvSpPr/>
          <p:nvPr/>
        </p:nvSpPr>
        <p:spPr>
          <a:xfrm>
            <a:off x="279399" y="3689348"/>
            <a:ext cx="8187269" cy="369332"/>
          </a:xfrm>
          <a:prstGeom prst="rect">
            <a:avLst/>
          </a:prstGeom>
        </p:spPr>
        <p:txBody>
          <a:bodyPr wrap="square">
            <a:spAutoFit/>
          </a:bodyPr>
          <a:lstStyle/>
          <a:p>
            <a:pPr algn="just"/>
            <a:r>
              <a:rPr lang="en-US" dirty="0" err="1" smtClean="0">
                <a:solidFill>
                  <a:srgbClr val="002060"/>
                </a:solidFill>
              </a:rPr>
              <a:t>root@administrator</a:t>
            </a:r>
            <a:r>
              <a:rPr lang="en-US" dirty="0" smtClean="0">
                <a:solidFill>
                  <a:srgbClr val="002060"/>
                </a:solidFill>
              </a:rPr>
              <a:t>:/home/panda/GPU2# </a:t>
            </a:r>
            <a:r>
              <a:rPr lang="en-US" b="1" dirty="0" err="1">
                <a:solidFill>
                  <a:srgbClr val="00B0F0"/>
                </a:solidFill>
              </a:rPr>
              <a:t>docker</a:t>
            </a:r>
            <a:r>
              <a:rPr lang="en-US" b="1" dirty="0">
                <a:solidFill>
                  <a:srgbClr val="00B0F0"/>
                </a:solidFill>
              </a:rPr>
              <a:t> </a:t>
            </a:r>
            <a:r>
              <a:rPr lang="en-US" b="1" dirty="0" smtClean="0">
                <a:solidFill>
                  <a:srgbClr val="00B0F0"/>
                </a:solidFill>
              </a:rPr>
              <a:t>login</a:t>
            </a:r>
            <a:endParaRPr lang="en-US" b="1" dirty="0">
              <a:solidFill>
                <a:srgbClr val="00B0F0"/>
              </a:solidFill>
            </a:endParaRPr>
          </a:p>
        </p:txBody>
      </p:sp>
      <p:sp>
        <p:nvSpPr>
          <p:cNvPr id="15" name="Rectangle 14"/>
          <p:cNvSpPr/>
          <p:nvPr/>
        </p:nvSpPr>
        <p:spPr>
          <a:xfrm>
            <a:off x="279399" y="4142666"/>
            <a:ext cx="2260602" cy="646331"/>
          </a:xfrm>
          <a:prstGeom prst="rect">
            <a:avLst/>
          </a:prstGeom>
        </p:spPr>
        <p:txBody>
          <a:bodyPr wrap="square">
            <a:spAutoFit/>
          </a:bodyPr>
          <a:lstStyle/>
          <a:p>
            <a:pPr algn="just"/>
            <a:r>
              <a:rPr lang="en-US" dirty="0" smtClean="0">
                <a:solidFill>
                  <a:srgbClr val="002060"/>
                </a:solidFill>
              </a:rPr>
              <a:t>Username: </a:t>
            </a:r>
            <a:r>
              <a:rPr lang="en-US" b="1" dirty="0" err="1" smtClean="0">
                <a:solidFill>
                  <a:srgbClr val="00B0F0"/>
                </a:solidFill>
              </a:rPr>
              <a:t>amel</a:t>
            </a:r>
            <a:endParaRPr lang="en-US" b="1" dirty="0" smtClean="0">
              <a:solidFill>
                <a:srgbClr val="00B0F0"/>
              </a:solidFill>
            </a:endParaRPr>
          </a:p>
          <a:p>
            <a:pPr algn="just"/>
            <a:r>
              <a:rPr lang="en-US" dirty="0" smtClean="0">
                <a:solidFill>
                  <a:srgbClr val="002060"/>
                </a:solidFill>
              </a:rPr>
              <a:t>Password:</a:t>
            </a:r>
            <a:endParaRPr lang="en-US" b="1" dirty="0">
              <a:solidFill>
                <a:srgbClr val="00B0F0"/>
              </a:solidFill>
            </a:endParaRPr>
          </a:p>
        </p:txBody>
      </p:sp>
      <p:sp>
        <p:nvSpPr>
          <p:cNvPr id="16" name="Rectangle 15"/>
          <p:cNvSpPr/>
          <p:nvPr/>
        </p:nvSpPr>
        <p:spPr>
          <a:xfrm>
            <a:off x="279399" y="4872983"/>
            <a:ext cx="4597401" cy="646331"/>
          </a:xfrm>
          <a:prstGeom prst="rect">
            <a:avLst/>
          </a:prstGeom>
        </p:spPr>
        <p:txBody>
          <a:bodyPr wrap="square">
            <a:spAutoFit/>
          </a:bodyPr>
          <a:lstStyle/>
          <a:p>
            <a:pPr algn="just"/>
            <a:r>
              <a:rPr lang="en-US" dirty="0" smtClean="0">
                <a:solidFill>
                  <a:srgbClr val="002060"/>
                </a:solidFill>
              </a:rPr>
              <a:t>Login Succeeded</a:t>
            </a:r>
          </a:p>
          <a:p>
            <a:pPr algn="just"/>
            <a:r>
              <a:rPr lang="en-US" dirty="0" err="1">
                <a:solidFill>
                  <a:srgbClr val="002060"/>
                </a:solidFill>
              </a:rPr>
              <a:t>root@administrator</a:t>
            </a:r>
            <a:r>
              <a:rPr lang="en-US" dirty="0">
                <a:solidFill>
                  <a:srgbClr val="002060"/>
                </a:solidFill>
              </a:rPr>
              <a:t>:/home/panda/GPU2#</a:t>
            </a:r>
            <a:endParaRPr lang="en-US" b="1" dirty="0">
              <a:solidFill>
                <a:srgbClr val="00B0F0"/>
              </a:solidFill>
            </a:endParaRPr>
          </a:p>
        </p:txBody>
      </p:sp>
      <p:pic>
        <p:nvPicPr>
          <p:cNvPr id="17" name="Picture 16"/>
          <p:cNvPicPr>
            <a:picLocks noChangeAspect="1"/>
          </p:cNvPicPr>
          <p:nvPr/>
        </p:nvPicPr>
        <p:blipFill>
          <a:blip r:embed="rId2"/>
          <a:stretch>
            <a:fillRect/>
          </a:stretch>
        </p:blipFill>
        <p:spPr>
          <a:xfrm>
            <a:off x="279399" y="5519314"/>
            <a:ext cx="5410201" cy="1203219"/>
          </a:xfrm>
          <a:prstGeom prst="rect">
            <a:avLst/>
          </a:prstGeom>
        </p:spPr>
      </p:pic>
      <p:sp>
        <p:nvSpPr>
          <p:cNvPr id="18" name="Rectangle 17"/>
          <p:cNvSpPr/>
          <p:nvPr/>
        </p:nvSpPr>
        <p:spPr>
          <a:xfrm>
            <a:off x="6206065" y="3440215"/>
            <a:ext cx="5765801" cy="1169551"/>
          </a:xfrm>
          <a:prstGeom prst="rect">
            <a:avLst/>
          </a:prstGeom>
          <a:solidFill>
            <a:schemeClr val="tx1"/>
          </a:solidFill>
        </p:spPr>
        <p:txBody>
          <a:bodyPr wrap="square">
            <a:spAutoFit/>
          </a:bodyPr>
          <a:lstStyle/>
          <a:p>
            <a:pPr algn="just"/>
            <a:r>
              <a:rPr lang="en-US" sz="1400" dirty="0" err="1" smtClean="0">
                <a:solidFill>
                  <a:srgbClr val="002060"/>
                </a:solidFill>
              </a:rPr>
              <a:t>Repostory</a:t>
            </a:r>
            <a:r>
              <a:rPr lang="en-US" sz="1400" dirty="0" smtClean="0">
                <a:solidFill>
                  <a:srgbClr val="002060"/>
                </a:solidFill>
              </a:rPr>
              <a:t>             TAG          IMAGE ID                CREATED            SIZE  </a:t>
            </a:r>
            <a:endParaRPr lang="en-US" sz="1400" b="1" dirty="0" smtClean="0">
              <a:solidFill>
                <a:srgbClr val="00B0F0"/>
              </a:solidFill>
            </a:endParaRPr>
          </a:p>
          <a:p>
            <a:pPr algn="just"/>
            <a:r>
              <a:rPr lang="en-US" sz="1400" dirty="0" smtClean="0">
                <a:solidFill>
                  <a:schemeClr val="bg1">
                    <a:lumMod val="95000"/>
                  </a:schemeClr>
                </a:solidFill>
              </a:rPr>
              <a:t>Nginx                      latest       f5awhshswya2      2 days ago          187MB</a:t>
            </a:r>
          </a:p>
          <a:p>
            <a:pPr algn="just"/>
            <a:r>
              <a:rPr lang="en-US" sz="1400" dirty="0" err="1" smtClean="0">
                <a:solidFill>
                  <a:schemeClr val="bg1">
                    <a:lumMod val="95000"/>
                  </a:schemeClr>
                </a:solidFill>
              </a:rPr>
              <a:t>Amel</a:t>
            </a:r>
            <a:r>
              <a:rPr lang="en-US" sz="1400" dirty="0" smtClean="0">
                <a:solidFill>
                  <a:schemeClr val="bg1">
                    <a:lumMod val="95000"/>
                  </a:schemeClr>
                </a:solidFill>
              </a:rPr>
              <a:t>/web-1         latest       </a:t>
            </a:r>
            <a:r>
              <a:rPr lang="en-US" sz="1400" dirty="0">
                <a:solidFill>
                  <a:schemeClr val="bg1">
                    <a:lumMod val="95000"/>
                  </a:schemeClr>
                </a:solidFill>
              </a:rPr>
              <a:t>f5awhshswya2      2 days ago       </a:t>
            </a:r>
            <a:r>
              <a:rPr lang="en-US" sz="1400" dirty="0" smtClean="0">
                <a:solidFill>
                  <a:schemeClr val="bg1">
                    <a:lumMod val="95000"/>
                  </a:schemeClr>
                </a:solidFill>
              </a:rPr>
              <a:t>    187MB</a:t>
            </a:r>
            <a:endParaRPr lang="en-US" sz="1400" b="1" dirty="0">
              <a:solidFill>
                <a:schemeClr val="bg1">
                  <a:lumMod val="95000"/>
                </a:schemeClr>
              </a:solidFill>
            </a:endParaRPr>
          </a:p>
          <a:p>
            <a:pPr algn="just"/>
            <a:r>
              <a:rPr lang="en-US" sz="1400" dirty="0" smtClean="0">
                <a:solidFill>
                  <a:schemeClr val="bg1">
                    <a:lumMod val="95000"/>
                  </a:schemeClr>
                </a:solidFill>
              </a:rPr>
              <a:t>registry                  2               0030ba3d760c      </a:t>
            </a:r>
            <a:r>
              <a:rPr lang="en-US" sz="1400" dirty="0">
                <a:solidFill>
                  <a:schemeClr val="bg1">
                    <a:lumMod val="95000"/>
                  </a:schemeClr>
                </a:solidFill>
              </a:rPr>
              <a:t>2 </a:t>
            </a:r>
            <a:r>
              <a:rPr lang="en-US" sz="1400" dirty="0" smtClean="0">
                <a:solidFill>
                  <a:schemeClr val="bg1">
                    <a:lumMod val="95000"/>
                  </a:schemeClr>
                </a:solidFill>
              </a:rPr>
              <a:t>weeks ago       24.1MB</a:t>
            </a:r>
            <a:endParaRPr lang="en-US" sz="1400" b="1" dirty="0">
              <a:solidFill>
                <a:schemeClr val="bg1">
                  <a:lumMod val="95000"/>
                </a:schemeClr>
              </a:solidFill>
            </a:endParaRPr>
          </a:p>
          <a:p>
            <a:pPr algn="just"/>
            <a:endParaRPr lang="en-US" sz="1400" b="1" dirty="0">
              <a:solidFill>
                <a:srgbClr val="00B0F0"/>
              </a:solidFill>
            </a:endParaRPr>
          </a:p>
        </p:txBody>
      </p:sp>
    </p:spTree>
    <p:extLst>
      <p:ext uri="{BB962C8B-B14F-4D97-AF65-F5344CB8AC3E}">
        <p14:creationId xmlns:p14="http://schemas.microsoft.com/office/powerpoint/2010/main" val="269226990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63276" y="519182"/>
            <a:ext cx="1888068" cy="1116355"/>
          </a:xfrm>
        </p:spPr>
        <p:txBody>
          <a:bodyPr>
            <a:normAutofit/>
          </a:bodyPr>
          <a:lstStyle/>
          <a:p>
            <a:pPr algn="just"/>
            <a:r>
              <a:rPr lang="en-US" b="1" dirty="0" smtClean="0">
                <a:solidFill>
                  <a:srgbClr val="002060"/>
                </a:solidFill>
              </a:rPr>
              <a:t>Image</a:t>
            </a:r>
            <a:endParaRPr lang="en-US" sz="2000" b="1" dirty="0">
              <a:solidFill>
                <a:srgbClr val="002060"/>
              </a:solidFill>
            </a:endParaRPr>
          </a:p>
        </p:txBody>
      </p:sp>
      <p:sp>
        <p:nvSpPr>
          <p:cNvPr id="7" name="Rectangle 6"/>
          <p:cNvSpPr/>
          <p:nvPr/>
        </p:nvSpPr>
        <p:spPr>
          <a:xfrm>
            <a:off x="0" y="61696"/>
            <a:ext cx="2363980" cy="1015663"/>
          </a:xfrm>
          <a:prstGeom prst="rect">
            <a:avLst/>
          </a:prstGeom>
        </p:spPr>
        <p:txBody>
          <a:bodyPr wrap="none">
            <a:spAutoFit/>
          </a:bodyPr>
          <a:lstStyle/>
          <a:p>
            <a:r>
              <a:rPr lang="en-US" sz="6000" dirty="0">
                <a:solidFill>
                  <a:srgbClr val="FFC000"/>
                </a:solidFill>
              </a:rPr>
              <a:t>Docker</a:t>
            </a:r>
          </a:p>
        </p:txBody>
      </p:sp>
      <p:sp>
        <p:nvSpPr>
          <p:cNvPr id="14" name="Rectangle 13"/>
          <p:cNvSpPr/>
          <p:nvPr/>
        </p:nvSpPr>
        <p:spPr>
          <a:xfrm>
            <a:off x="322883" y="1723691"/>
            <a:ext cx="2876365" cy="369332"/>
          </a:xfrm>
          <a:prstGeom prst="rect">
            <a:avLst/>
          </a:prstGeom>
        </p:spPr>
        <p:txBody>
          <a:bodyPr wrap="none">
            <a:spAutoFit/>
          </a:bodyPr>
          <a:lstStyle/>
          <a:p>
            <a:r>
              <a:rPr lang="en-US" dirty="0"/>
              <a:t>#</a:t>
            </a:r>
            <a:r>
              <a:rPr lang="en-US" dirty="0" err="1"/>
              <a:t>docker</a:t>
            </a:r>
            <a:r>
              <a:rPr lang="en-US" dirty="0"/>
              <a:t> push &lt;</a:t>
            </a:r>
            <a:r>
              <a:rPr lang="en-US" dirty="0" err="1"/>
              <a:t>nama</a:t>
            </a:r>
            <a:r>
              <a:rPr lang="en-US" dirty="0"/>
              <a:t> image&gt;</a:t>
            </a:r>
          </a:p>
        </p:txBody>
      </p:sp>
      <p:sp>
        <p:nvSpPr>
          <p:cNvPr id="15" name="Rectangle 14"/>
          <p:cNvSpPr/>
          <p:nvPr/>
        </p:nvSpPr>
        <p:spPr>
          <a:xfrm>
            <a:off x="279399" y="2299211"/>
            <a:ext cx="4495801" cy="646331"/>
          </a:xfrm>
          <a:prstGeom prst="rect">
            <a:avLst/>
          </a:prstGeom>
        </p:spPr>
        <p:txBody>
          <a:bodyPr wrap="square">
            <a:spAutoFit/>
          </a:bodyPr>
          <a:lstStyle/>
          <a:p>
            <a:pPr algn="just"/>
            <a:r>
              <a:rPr lang="en-US" dirty="0" err="1" smtClean="0">
                <a:solidFill>
                  <a:srgbClr val="002060"/>
                </a:solidFill>
              </a:rPr>
              <a:t>root@administrator</a:t>
            </a:r>
            <a:r>
              <a:rPr lang="en-US" dirty="0" smtClean="0">
                <a:solidFill>
                  <a:srgbClr val="002060"/>
                </a:solidFill>
              </a:rPr>
              <a:t>:/home/panda/GPU2# </a:t>
            </a:r>
            <a:r>
              <a:rPr lang="en-US" b="1" dirty="0" err="1">
                <a:solidFill>
                  <a:srgbClr val="00B0F0"/>
                </a:solidFill>
              </a:rPr>
              <a:t>docker</a:t>
            </a:r>
            <a:r>
              <a:rPr lang="en-US" b="1" dirty="0">
                <a:solidFill>
                  <a:srgbClr val="00B0F0"/>
                </a:solidFill>
              </a:rPr>
              <a:t> </a:t>
            </a:r>
            <a:r>
              <a:rPr lang="en-US" b="1" dirty="0" smtClean="0">
                <a:solidFill>
                  <a:srgbClr val="00B0F0"/>
                </a:solidFill>
              </a:rPr>
              <a:t>push </a:t>
            </a:r>
            <a:r>
              <a:rPr lang="en-US" b="1" dirty="0" err="1" smtClean="0">
                <a:solidFill>
                  <a:srgbClr val="00B0F0"/>
                </a:solidFill>
              </a:rPr>
              <a:t>Amel</a:t>
            </a:r>
            <a:r>
              <a:rPr lang="en-US" b="1" dirty="0" smtClean="0">
                <a:solidFill>
                  <a:srgbClr val="00B0F0"/>
                </a:solidFill>
              </a:rPr>
              <a:t>/web-1</a:t>
            </a:r>
          </a:p>
        </p:txBody>
      </p:sp>
      <p:sp>
        <p:nvSpPr>
          <p:cNvPr id="16" name="Rectangle 15"/>
          <p:cNvSpPr/>
          <p:nvPr/>
        </p:nvSpPr>
        <p:spPr>
          <a:xfrm>
            <a:off x="5938476" y="342875"/>
            <a:ext cx="5638800" cy="2585323"/>
          </a:xfrm>
          <a:prstGeom prst="rect">
            <a:avLst/>
          </a:prstGeom>
        </p:spPr>
        <p:txBody>
          <a:bodyPr wrap="square">
            <a:spAutoFit/>
          </a:bodyPr>
          <a:lstStyle/>
          <a:p>
            <a:pPr algn="just"/>
            <a:r>
              <a:rPr lang="en-US" dirty="0" err="1"/>
              <a:t>docker</a:t>
            </a:r>
            <a:r>
              <a:rPr lang="en-US" dirty="0"/>
              <a:t> run &lt;options&gt; &lt;</a:t>
            </a:r>
            <a:r>
              <a:rPr lang="en-US" dirty="0" err="1"/>
              <a:t>nama</a:t>
            </a:r>
            <a:r>
              <a:rPr lang="en-US" dirty="0"/>
              <a:t> image&gt;</a:t>
            </a:r>
            <a:r>
              <a:rPr lang="en-US" dirty="0" err="1"/>
              <a:t>Untuk</a:t>
            </a:r>
            <a:r>
              <a:rPr lang="en-US" dirty="0"/>
              <a:t> </a:t>
            </a:r>
            <a:r>
              <a:rPr lang="en-US" dirty="0" err="1"/>
              <a:t>menjalankan</a:t>
            </a:r>
            <a:r>
              <a:rPr lang="en-US" dirty="0"/>
              <a:t> container </a:t>
            </a:r>
            <a:r>
              <a:rPr lang="en-US" dirty="0" err="1"/>
              <a:t>menggunakan</a:t>
            </a:r>
            <a:r>
              <a:rPr lang="en-US" dirty="0"/>
              <a:t> images yang </a:t>
            </a:r>
            <a:r>
              <a:rPr lang="en-US" dirty="0" err="1"/>
              <a:t>ada</a:t>
            </a:r>
            <a:r>
              <a:rPr lang="en-US" dirty="0"/>
              <a:t>. </a:t>
            </a:r>
            <a:r>
              <a:rPr lang="en-US" dirty="0" err="1"/>
              <a:t>Untuk</a:t>
            </a:r>
            <a:r>
              <a:rPr lang="en-US" dirty="0"/>
              <a:t> </a:t>
            </a:r>
            <a:r>
              <a:rPr lang="en-US" dirty="0" err="1"/>
              <a:t>opsi</a:t>
            </a:r>
            <a:r>
              <a:rPr lang="en-US" dirty="0"/>
              <a:t> yang </a:t>
            </a:r>
            <a:r>
              <a:rPr lang="en-US" dirty="0" err="1"/>
              <a:t>digunakan</a:t>
            </a:r>
            <a:r>
              <a:rPr lang="en-US" dirty="0"/>
              <a:t> </a:t>
            </a:r>
            <a:r>
              <a:rPr lang="en-US" dirty="0" err="1"/>
              <a:t>beragam</a:t>
            </a:r>
            <a:r>
              <a:rPr lang="en-US" dirty="0"/>
              <a:t>. </a:t>
            </a:r>
            <a:r>
              <a:rPr lang="en-US" dirty="0" err="1"/>
              <a:t>Untuk</a:t>
            </a:r>
            <a:r>
              <a:rPr lang="en-US" dirty="0"/>
              <a:t> </a:t>
            </a:r>
            <a:r>
              <a:rPr lang="en-US" dirty="0" err="1"/>
              <a:t>melihat</a:t>
            </a:r>
            <a:r>
              <a:rPr lang="en-US" dirty="0"/>
              <a:t> container yang </a:t>
            </a:r>
            <a:r>
              <a:rPr lang="en-US" dirty="0" err="1"/>
              <a:t>sedang</a:t>
            </a:r>
            <a:r>
              <a:rPr lang="en-US" dirty="0"/>
              <a:t> </a:t>
            </a:r>
            <a:r>
              <a:rPr lang="en-US" dirty="0" err="1"/>
              <a:t>berjalan</a:t>
            </a:r>
            <a:r>
              <a:rPr lang="en-US" dirty="0"/>
              <a:t> kalian </a:t>
            </a:r>
            <a:r>
              <a:rPr lang="en-US" dirty="0" err="1"/>
              <a:t>dapat</a:t>
            </a:r>
            <a:r>
              <a:rPr lang="en-US" dirty="0"/>
              <a:t> </a:t>
            </a:r>
            <a:r>
              <a:rPr lang="en-US" dirty="0" err="1"/>
              <a:t>menggunakan</a:t>
            </a:r>
            <a:r>
              <a:rPr lang="en-US" dirty="0"/>
              <a:t> </a:t>
            </a:r>
            <a:r>
              <a:rPr lang="en-US" dirty="0" err="1"/>
              <a:t>perintah</a:t>
            </a:r>
            <a:r>
              <a:rPr lang="en-US" dirty="0"/>
              <a:t> </a:t>
            </a:r>
            <a:r>
              <a:rPr lang="en-US" dirty="0" err="1"/>
              <a:t>docker</a:t>
            </a:r>
            <a:r>
              <a:rPr lang="en-US" dirty="0"/>
              <a:t> ps. </a:t>
            </a:r>
            <a:r>
              <a:rPr lang="en-US" dirty="0" err="1"/>
              <a:t>Nanti</a:t>
            </a:r>
            <a:r>
              <a:rPr lang="en-US" dirty="0"/>
              <a:t> </a:t>
            </a:r>
            <a:r>
              <a:rPr lang="en-US" dirty="0" err="1"/>
              <a:t>akan</a:t>
            </a:r>
            <a:r>
              <a:rPr lang="en-US" dirty="0"/>
              <a:t> </a:t>
            </a:r>
            <a:r>
              <a:rPr lang="en-US" dirty="0" err="1"/>
              <a:t>terlihat</a:t>
            </a:r>
            <a:r>
              <a:rPr lang="en-US" dirty="0"/>
              <a:t> status </a:t>
            </a:r>
            <a:r>
              <a:rPr lang="en-US" dirty="0" err="1"/>
              <a:t>dari</a:t>
            </a:r>
            <a:r>
              <a:rPr lang="en-US" dirty="0"/>
              <a:t> container.#</a:t>
            </a:r>
            <a:r>
              <a:rPr lang="en-US" dirty="0" err="1"/>
              <a:t>docker</a:t>
            </a:r>
            <a:r>
              <a:rPr lang="en-US" dirty="0"/>
              <a:t> run -d -p 80:80 --name web-1 </a:t>
            </a:r>
            <a:r>
              <a:rPr lang="en-US" dirty="0" err="1"/>
              <a:t>nginx</a:t>
            </a:r>
            <a:r>
              <a:rPr lang="en-US" dirty="0"/>
              <a:t> </a:t>
            </a:r>
            <a:r>
              <a:rPr lang="en-US" dirty="0" err="1"/>
              <a:t>penjelasan</a:t>
            </a:r>
            <a:r>
              <a:rPr lang="en-US" dirty="0"/>
              <a:t> </a:t>
            </a:r>
            <a:r>
              <a:rPr lang="en-US" dirty="0" err="1"/>
              <a:t>opsi</a:t>
            </a:r>
            <a:r>
              <a:rPr lang="en-US" dirty="0"/>
              <a:t> </a:t>
            </a:r>
            <a:r>
              <a:rPr lang="en-US" dirty="0" err="1"/>
              <a:t>perintah</a:t>
            </a:r>
            <a:r>
              <a:rPr lang="en-US" dirty="0"/>
              <a:t>: -d --&gt; agar container </a:t>
            </a:r>
            <a:r>
              <a:rPr lang="en-US" dirty="0" err="1"/>
              <a:t>dapat</a:t>
            </a:r>
            <a:r>
              <a:rPr lang="en-US" dirty="0"/>
              <a:t> </a:t>
            </a:r>
            <a:r>
              <a:rPr lang="en-US" dirty="0" err="1"/>
              <a:t>berjalan</a:t>
            </a:r>
            <a:r>
              <a:rPr lang="en-US" dirty="0"/>
              <a:t> </a:t>
            </a:r>
            <a:r>
              <a:rPr lang="en-US" dirty="0" err="1"/>
              <a:t>dilatar</a:t>
            </a:r>
            <a:r>
              <a:rPr lang="en-US" dirty="0"/>
              <a:t> </a:t>
            </a:r>
            <a:r>
              <a:rPr lang="en-US" dirty="0" err="1"/>
              <a:t>belakang</a:t>
            </a:r>
            <a:r>
              <a:rPr lang="en-US" dirty="0"/>
              <a:t> -p --&gt; </a:t>
            </a:r>
            <a:r>
              <a:rPr lang="en-US" dirty="0" err="1"/>
              <a:t>untuk</a:t>
            </a:r>
            <a:r>
              <a:rPr lang="en-US" dirty="0"/>
              <a:t> expose port </a:t>
            </a:r>
            <a:r>
              <a:rPr lang="en-US" dirty="0" err="1"/>
              <a:t>dari</a:t>
            </a:r>
            <a:r>
              <a:rPr lang="en-US" dirty="0"/>
              <a:t> container. --name --&gt; </a:t>
            </a:r>
            <a:r>
              <a:rPr lang="en-US" dirty="0" err="1"/>
              <a:t>untuk</a:t>
            </a:r>
            <a:r>
              <a:rPr lang="en-US" dirty="0"/>
              <a:t> </a:t>
            </a:r>
            <a:r>
              <a:rPr lang="en-US" dirty="0" err="1"/>
              <a:t>menentukan</a:t>
            </a:r>
            <a:r>
              <a:rPr lang="en-US" dirty="0"/>
              <a:t> </a:t>
            </a:r>
            <a:r>
              <a:rPr lang="en-US" dirty="0" err="1"/>
              <a:t>nama</a:t>
            </a:r>
            <a:r>
              <a:rPr lang="en-US" dirty="0"/>
              <a:t> container yang </a:t>
            </a:r>
            <a:r>
              <a:rPr lang="en-US" dirty="0" err="1"/>
              <a:t>akan</a:t>
            </a:r>
            <a:r>
              <a:rPr lang="en-US" dirty="0"/>
              <a:t> </a:t>
            </a:r>
            <a:r>
              <a:rPr lang="en-US" dirty="0" err="1" smtClean="0"/>
              <a:t>dideploy</a:t>
            </a:r>
            <a:endParaRPr lang="en-US" dirty="0"/>
          </a:p>
        </p:txBody>
      </p:sp>
      <p:sp>
        <p:nvSpPr>
          <p:cNvPr id="17" name="Rectangle 16"/>
          <p:cNvSpPr/>
          <p:nvPr/>
        </p:nvSpPr>
        <p:spPr>
          <a:xfrm>
            <a:off x="5938476" y="3083984"/>
            <a:ext cx="5089890" cy="646331"/>
          </a:xfrm>
          <a:prstGeom prst="rect">
            <a:avLst/>
          </a:prstGeom>
        </p:spPr>
        <p:txBody>
          <a:bodyPr wrap="square">
            <a:spAutoFit/>
          </a:bodyPr>
          <a:lstStyle/>
          <a:p>
            <a:pPr algn="just"/>
            <a:r>
              <a:rPr lang="en-US" dirty="0" err="1" smtClean="0">
                <a:solidFill>
                  <a:srgbClr val="002060"/>
                </a:solidFill>
              </a:rPr>
              <a:t>root@administrator</a:t>
            </a:r>
            <a:r>
              <a:rPr lang="en-US" dirty="0" smtClean="0">
                <a:solidFill>
                  <a:srgbClr val="002060"/>
                </a:solidFill>
              </a:rPr>
              <a:t>:/home/panda/GPU2# </a:t>
            </a:r>
            <a:r>
              <a:rPr lang="en-US" b="1" dirty="0" err="1">
                <a:solidFill>
                  <a:srgbClr val="00B0F0"/>
                </a:solidFill>
              </a:rPr>
              <a:t>docker</a:t>
            </a:r>
            <a:r>
              <a:rPr lang="en-US" b="1" dirty="0">
                <a:solidFill>
                  <a:srgbClr val="00B0F0"/>
                </a:solidFill>
              </a:rPr>
              <a:t> </a:t>
            </a:r>
            <a:r>
              <a:rPr lang="en-US" b="1" dirty="0" smtClean="0">
                <a:solidFill>
                  <a:srgbClr val="00B0F0"/>
                </a:solidFill>
              </a:rPr>
              <a:t>run –d –p 80:80 –name web-1 </a:t>
            </a:r>
            <a:r>
              <a:rPr lang="en-US" b="1" dirty="0" err="1" smtClean="0">
                <a:solidFill>
                  <a:srgbClr val="00B0F0"/>
                </a:solidFill>
              </a:rPr>
              <a:t>nginx</a:t>
            </a:r>
            <a:endParaRPr lang="en-US" b="1" dirty="0" smtClean="0">
              <a:solidFill>
                <a:srgbClr val="00B0F0"/>
              </a:solidFill>
            </a:endParaRPr>
          </a:p>
        </p:txBody>
      </p:sp>
      <p:sp>
        <p:nvSpPr>
          <p:cNvPr id="18" name="Rectangle 17"/>
          <p:cNvSpPr/>
          <p:nvPr/>
        </p:nvSpPr>
        <p:spPr>
          <a:xfrm>
            <a:off x="316347" y="3083984"/>
            <a:ext cx="5622129" cy="2554545"/>
          </a:xfrm>
          <a:prstGeom prst="rect">
            <a:avLst/>
          </a:prstGeom>
          <a:solidFill>
            <a:schemeClr val="tx1"/>
          </a:solidFill>
        </p:spPr>
        <p:txBody>
          <a:bodyPr wrap="square">
            <a:spAutoFit/>
          </a:bodyPr>
          <a:lstStyle/>
          <a:p>
            <a:pPr algn="just"/>
            <a:r>
              <a:rPr lang="en-US" sz="1600" dirty="0" err="1">
                <a:solidFill>
                  <a:schemeClr val="bg1">
                    <a:lumMod val="50000"/>
                  </a:schemeClr>
                </a:solidFill>
              </a:rPr>
              <a:t>root@administrator</a:t>
            </a:r>
            <a:r>
              <a:rPr lang="en-US" sz="1600" dirty="0">
                <a:solidFill>
                  <a:schemeClr val="bg1">
                    <a:lumMod val="50000"/>
                  </a:schemeClr>
                </a:solidFill>
              </a:rPr>
              <a:t>:/home/panda/GPU2# </a:t>
            </a:r>
            <a:r>
              <a:rPr lang="en-US" sz="1600" b="1" dirty="0" err="1">
                <a:solidFill>
                  <a:schemeClr val="bg1">
                    <a:lumMod val="50000"/>
                  </a:schemeClr>
                </a:solidFill>
              </a:rPr>
              <a:t>docker</a:t>
            </a:r>
            <a:r>
              <a:rPr lang="en-US" sz="1600" b="1" dirty="0">
                <a:solidFill>
                  <a:schemeClr val="bg1">
                    <a:lumMod val="50000"/>
                  </a:schemeClr>
                </a:solidFill>
              </a:rPr>
              <a:t> push </a:t>
            </a:r>
            <a:r>
              <a:rPr lang="en-US" sz="1600" b="1" dirty="0" err="1" smtClean="0">
                <a:solidFill>
                  <a:schemeClr val="bg1">
                    <a:lumMod val="50000"/>
                  </a:schemeClr>
                </a:solidFill>
              </a:rPr>
              <a:t>Amel</a:t>
            </a:r>
            <a:r>
              <a:rPr lang="en-US" sz="1600" b="1" dirty="0" smtClean="0">
                <a:solidFill>
                  <a:schemeClr val="bg1">
                    <a:lumMod val="50000"/>
                  </a:schemeClr>
                </a:solidFill>
              </a:rPr>
              <a:t>/web-1</a:t>
            </a:r>
          </a:p>
          <a:p>
            <a:pPr algn="just"/>
            <a:r>
              <a:rPr lang="en-US" sz="1600" b="1" dirty="0" smtClean="0">
                <a:solidFill>
                  <a:schemeClr val="bg1">
                    <a:lumMod val="50000"/>
                  </a:schemeClr>
                </a:solidFill>
              </a:rPr>
              <a:t>Using default tag:     latest</a:t>
            </a:r>
          </a:p>
          <a:p>
            <a:pPr algn="just"/>
            <a:r>
              <a:rPr lang="en-US" sz="1600" b="1" dirty="0" smtClean="0">
                <a:solidFill>
                  <a:schemeClr val="bg1">
                    <a:lumMod val="50000"/>
                  </a:schemeClr>
                </a:solidFill>
              </a:rPr>
              <a:t>The push refers to repository [docker.io/</a:t>
            </a:r>
            <a:r>
              <a:rPr lang="en-US" sz="1600" b="1" dirty="0" err="1" smtClean="0">
                <a:solidFill>
                  <a:schemeClr val="bg1">
                    <a:lumMod val="50000"/>
                  </a:schemeClr>
                </a:solidFill>
              </a:rPr>
              <a:t>Amel</a:t>
            </a:r>
            <a:r>
              <a:rPr lang="en-US" sz="1600" b="1" dirty="0" smtClean="0">
                <a:solidFill>
                  <a:schemeClr val="bg1">
                    <a:lumMod val="50000"/>
                  </a:schemeClr>
                </a:solidFill>
              </a:rPr>
              <a:t>/web-1]</a:t>
            </a:r>
          </a:p>
          <a:p>
            <a:pPr algn="just"/>
            <a:endParaRPr lang="en-US" sz="1600" b="1" dirty="0">
              <a:solidFill>
                <a:schemeClr val="bg1">
                  <a:lumMod val="50000"/>
                </a:schemeClr>
              </a:solidFill>
            </a:endParaRPr>
          </a:p>
          <a:p>
            <a:pPr algn="just"/>
            <a:endParaRPr lang="en-US" sz="1600" b="1" dirty="0" smtClean="0">
              <a:solidFill>
                <a:schemeClr val="bg1">
                  <a:lumMod val="50000"/>
                </a:schemeClr>
              </a:solidFill>
            </a:endParaRPr>
          </a:p>
          <a:p>
            <a:pPr algn="just"/>
            <a:endParaRPr lang="en-US" sz="1600" b="1" dirty="0">
              <a:solidFill>
                <a:schemeClr val="bg1">
                  <a:lumMod val="50000"/>
                </a:schemeClr>
              </a:solidFill>
            </a:endParaRPr>
          </a:p>
          <a:p>
            <a:pPr algn="just"/>
            <a:endParaRPr lang="en-US" sz="1600" b="1" dirty="0" smtClean="0">
              <a:solidFill>
                <a:schemeClr val="bg1">
                  <a:lumMod val="50000"/>
                </a:schemeClr>
              </a:solidFill>
            </a:endParaRPr>
          </a:p>
          <a:p>
            <a:pPr algn="just"/>
            <a:endParaRPr lang="en-US" sz="1600" b="1" dirty="0" smtClean="0">
              <a:solidFill>
                <a:schemeClr val="bg1">
                  <a:lumMod val="50000"/>
                </a:schemeClr>
              </a:solidFill>
            </a:endParaRPr>
          </a:p>
          <a:p>
            <a:pPr algn="just"/>
            <a:r>
              <a:rPr lang="en-US" sz="1600" dirty="0" err="1">
                <a:solidFill>
                  <a:schemeClr val="bg1">
                    <a:lumMod val="50000"/>
                  </a:schemeClr>
                </a:solidFill>
              </a:rPr>
              <a:t>root@administrator</a:t>
            </a:r>
            <a:r>
              <a:rPr lang="en-US" sz="1600" dirty="0">
                <a:solidFill>
                  <a:schemeClr val="bg1">
                    <a:lumMod val="50000"/>
                  </a:schemeClr>
                </a:solidFill>
              </a:rPr>
              <a:t>:/home/panda/GPU2#</a:t>
            </a:r>
            <a:endParaRPr lang="en-US" sz="1600" b="1" dirty="0">
              <a:solidFill>
                <a:schemeClr val="bg1">
                  <a:lumMod val="50000"/>
                </a:schemeClr>
              </a:solidFill>
            </a:endParaRPr>
          </a:p>
        </p:txBody>
      </p:sp>
      <p:pic>
        <p:nvPicPr>
          <p:cNvPr id="20" name="Picture 19"/>
          <p:cNvPicPr>
            <a:picLocks noChangeAspect="1"/>
          </p:cNvPicPr>
          <p:nvPr/>
        </p:nvPicPr>
        <p:blipFill>
          <a:blip r:embed="rId2"/>
          <a:stretch>
            <a:fillRect/>
          </a:stretch>
        </p:blipFill>
        <p:spPr>
          <a:xfrm>
            <a:off x="391027" y="3868757"/>
            <a:ext cx="5547449" cy="1459988"/>
          </a:xfrm>
          <a:prstGeom prst="rect">
            <a:avLst/>
          </a:prstGeom>
        </p:spPr>
      </p:pic>
      <p:sp>
        <p:nvSpPr>
          <p:cNvPr id="21" name="Rectangle 20"/>
          <p:cNvSpPr/>
          <p:nvPr/>
        </p:nvSpPr>
        <p:spPr>
          <a:xfrm>
            <a:off x="6059605" y="3740023"/>
            <a:ext cx="5622129" cy="2062103"/>
          </a:xfrm>
          <a:prstGeom prst="rect">
            <a:avLst/>
          </a:prstGeom>
          <a:solidFill>
            <a:schemeClr val="tx1"/>
          </a:solidFill>
        </p:spPr>
        <p:txBody>
          <a:bodyPr wrap="square">
            <a:spAutoFit/>
          </a:bodyPr>
          <a:lstStyle/>
          <a:p>
            <a:pPr algn="just"/>
            <a:r>
              <a:rPr lang="en-US" sz="1600" dirty="0" err="1">
                <a:solidFill>
                  <a:schemeClr val="bg1">
                    <a:lumMod val="50000"/>
                  </a:schemeClr>
                </a:solidFill>
              </a:rPr>
              <a:t>root@administrator</a:t>
            </a:r>
            <a:r>
              <a:rPr lang="en-US" sz="1600" dirty="0">
                <a:solidFill>
                  <a:schemeClr val="bg1">
                    <a:lumMod val="50000"/>
                  </a:schemeClr>
                </a:solidFill>
              </a:rPr>
              <a:t>:/home/panda/GPU2# </a:t>
            </a:r>
            <a:r>
              <a:rPr lang="en-US" sz="1600" b="1" dirty="0" err="1">
                <a:solidFill>
                  <a:schemeClr val="bg1">
                    <a:lumMod val="50000"/>
                  </a:schemeClr>
                </a:solidFill>
              </a:rPr>
              <a:t>docker</a:t>
            </a:r>
            <a:r>
              <a:rPr lang="en-US" sz="1600" b="1" dirty="0">
                <a:solidFill>
                  <a:schemeClr val="bg1">
                    <a:lumMod val="50000"/>
                  </a:schemeClr>
                </a:solidFill>
              </a:rPr>
              <a:t> run –d –p 80:80 –name web-1 </a:t>
            </a:r>
            <a:r>
              <a:rPr lang="en-US" sz="1600" b="1" dirty="0" err="1">
                <a:solidFill>
                  <a:schemeClr val="bg1">
                    <a:lumMod val="50000"/>
                  </a:schemeClr>
                </a:solidFill>
              </a:rPr>
              <a:t>nginx</a:t>
            </a:r>
            <a:endParaRPr lang="en-US" sz="1600" b="1" dirty="0">
              <a:solidFill>
                <a:schemeClr val="bg1">
                  <a:lumMod val="50000"/>
                </a:schemeClr>
              </a:solidFill>
            </a:endParaRPr>
          </a:p>
          <a:p>
            <a:pPr algn="just"/>
            <a:r>
              <a:rPr lang="en-US" sz="1600" b="1" dirty="0" smtClean="0">
                <a:solidFill>
                  <a:schemeClr val="bg1">
                    <a:lumMod val="50000"/>
                  </a:schemeClr>
                </a:solidFill>
              </a:rPr>
              <a:t>1819991882ggfrqy11yy1yu1uuuuuuuuuuuuu1uuuu0c</a:t>
            </a:r>
          </a:p>
          <a:p>
            <a:pPr algn="just"/>
            <a:r>
              <a:rPr lang="en-US" sz="1600" dirty="0" err="1">
                <a:solidFill>
                  <a:schemeClr val="bg1">
                    <a:lumMod val="50000"/>
                  </a:schemeClr>
                </a:solidFill>
              </a:rPr>
              <a:t>root@administrator</a:t>
            </a:r>
            <a:r>
              <a:rPr lang="en-US" sz="1600" dirty="0">
                <a:solidFill>
                  <a:schemeClr val="bg1">
                    <a:lumMod val="50000"/>
                  </a:schemeClr>
                </a:solidFill>
              </a:rPr>
              <a:t>:/home/panda/GPU2# </a:t>
            </a:r>
            <a:r>
              <a:rPr lang="en-US" sz="1600" b="1" dirty="0" err="1">
                <a:solidFill>
                  <a:schemeClr val="bg1">
                    <a:lumMod val="50000"/>
                  </a:schemeClr>
                </a:solidFill>
              </a:rPr>
              <a:t>docker</a:t>
            </a:r>
            <a:r>
              <a:rPr lang="en-US" sz="1600" b="1" dirty="0">
                <a:solidFill>
                  <a:schemeClr val="bg1">
                    <a:lumMod val="50000"/>
                  </a:schemeClr>
                </a:solidFill>
              </a:rPr>
              <a:t> </a:t>
            </a:r>
            <a:r>
              <a:rPr lang="en-US" sz="1600" b="1" dirty="0" err="1" smtClean="0">
                <a:solidFill>
                  <a:schemeClr val="bg1">
                    <a:lumMod val="50000"/>
                  </a:schemeClr>
                </a:solidFill>
              </a:rPr>
              <a:t>ps</a:t>
            </a:r>
            <a:endParaRPr lang="en-US" sz="1600" b="1" dirty="0" smtClean="0">
              <a:solidFill>
                <a:schemeClr val="bg1">
                  <a:lumMod val="50000"/>
                </a:schemeClr>
              </a:solidFill>
            </a:endParaRPr>
          </a:p>
          <a:p>
            <a:pPr algn="just"/>
            <a:endParaRPr lang="en-US" sz="1600" b="1" dirty="0">
              <a:solidFill>
                <a:schemeClr val="bg1">
                  <a:lumMod val="50000"/>
                </a:schemeClr>
              </a:solidFill>
            </a:endParaRPr>
          </a:p>
          <a:p>
            <a:pPr algn="just"/>
            <a:endParaRPr lang="en-US" sz="1600" b="1" dirty="0" smtClean="0">
              <a:solidFill>
                <a:schemeClr val="bg1">
                  <a:lumMod val="50000"/>
                </a:schemeClr>
              </a:solidFill>
            </a:endParaRPr>
          </a:p>
          <a:p>
            <a:pPr algn="just"/>
            <a:endParaRPr lang="en-US" sz="1600" b="1" dirty="0">
              <a:solidFill>
                <a:schemeClr val="bg1">
                  <a:lumMod val="50000"/>
                </a:schemeClr>
              </a:solidFill>
            </a:endParaRPr>
          </a:p>
          <a:p>
            <a:pPr algn="just"/>
            <a:r>
              <a:rPr lang="en-US" sz="1600" dirty="0" err="1" smtClean="0">
                <a:solidFill>
                  <a:schemeClr val="bg1">
                    <a:lumMod val="50000"/>
                  </a:schemeClr>
                </a:solidFill>
              </a:rPr>
              <a:t>root@administrator</a:t>
            </a:r>
            <a:r>
              <a:rPr lang="en-US" sz="1600" dirty="0">
                <a:solidFill>
                  <a:schemeClr val="bg1">
                    <a:lumMod val="50000"/>
                  </a:schemeClr>
                </a:solidFill>
              </a:rPr>
              <a:t>:/home/panda/GPU2#</a:t>
            </a:r>
            <a:endParaRPr lang="en-US" sz="1600" b="1" dirty="0">
              <a:solidFill>
                <a:schemeClr val="bg1">
                  <a:lumMod val="50000"/>
                </a:schemeClr>
              </a:solidFill>
            </a:endParaRPr>
          </a:p>
        </p:txBody>
      </p:sp>
      <p:pic>
        <p:nvPicPr>
          <p:cNvPr id="22" name="Picture 21"/>
          <p:cNvPicPr>
            <a:picLocks noChangeAspect="1"/>
          </p:cNvPicPr>
          <p:nvPr/>
        </p:nvPicPr>
        <p:blipFill>
          <a:blip r:embed="rId3"/>
          <a:stretch>
            <a:fillRect/>
          </a:stretch>
        </p:blipFill>
        <p:spPr>
          <a:xfrm>
            <a:off x="6175550" y="4860133"/>
            <a:ext cx="5401726" cy="468612"/>
          </a:xfrm>
          <a:prstGeom prst="rect">
            <a:avLst/>
          </a:prstGeom>
        </p:spPr>
      </p:pic>
    </p:spTree>
    <p:extLst>
      <p:ext uri="{BB962C8B-B14F-4D97-AF65-F5344CB8AC3E}">
        <p14:creationId xmlns:p14="http://schemas.microsoft.com/office/powerpoint/2010/main" val="378474450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63276" y="519182"/>
            <a:ext cx="1888068" cy="1116355"/>
          </a:xfrm>
        </p:spPr>
        <p:txBody>
          <a:bodyPr>
            <a:normAutofit/>
          </a:bodyPr>
          <a:lstStyle/>
          <a:p>
            <a:pPr algn="just"/>
            <a:r>
              <a:rPr lang="en-US" b="1" dirty="0" smtClean="0">
                <a:solidFill>
                  <a:srgbClr val="002060"/>
                </a:solidFill>
              </a:rPr>
              <a:t>Image</a:t>
            </a:r>
            <a:endParaRPr lang="en-US" sz="2000" b="1" dirty="0">
              <a:solidFill>
                <a:srgbClr val="002060"/>
              </a:solidFill>
            </a:endParaRPr>
          </a:p>
        </p:txBody>
      </p:sp>
      <p:sp>
        <p:nvSpPr>
          <p:cNvPr id="7" name="Rectangle 6"/>
          <p:cNvSpPr/>
          <p:nvPr/>
        </p:nvSpPr>
        <p:spPr>
          <a:xfrm>
            <a:off x="0" y="61696"/>
            <a:ext cx="2363980" cy="1015663"/>
          </a:xfrm>
          <a:prstGeom prst="rect">
            <a:avLst/>
          </a:prstGeom>
        </p:spPr>
        <p:txBody>
          <a:bodyPr wrap="none">
            <a:spAutoFit/>
          </a:bodyPr>
          <a:lstStyle/>
          <a:p>
            <a:r>
              <a:rPr lang="en-US" sz="6000" dirty="0">
                <a:solidFill>
                  <a:srgbClr val="FFC000"/>
                </a:solidFill>
              </a:rPr>
              <a:t>Docker</a:t>
            </a:r>
          </a:p>
        </p:txBody>
      </p:sp>
      <p:sp>
        <p:nvSpPr>
          <p:cNvPr id="8" name="Rectangle 7"/>
          <p:cNvSpPr/>
          <p:nvPr/>
        </p:nvSpPr>
        <p:spPr>
          <a:xfrm>
            <a:off x="279400" y="1367522"/>
            <a:ext cx="5427134" cy="1754326"/>
          </a:xfrm>
          <a:prstGeom prst="rect">
            <a:avLst/>
          </a:prstGeom>
        </p:spPr>
        <p:txBody>
          <a:bodyPr wrap="square">
            <a:spAutoFit/>
          </a:bodyPr>
          <a:lstStyle/>
          <a:p>
            <a:pPr algn="just"/>
            <a:r>
              <a:rPr lang="en-US" b="1" dirty="0" err="1"/>
              <a:t>docker</a:t>
            </a:r>
            <a:r>
              <a:rPr lang="en-US" b="1" dirty="0"/>
              <a:t> stop &lt;</a:t>
            </a:r>
            <a:r>
              <a:rPr lang="en-US" b="1" dirty="0" err="1"/>
              <a:t>nama</a:t>
            </a:r>
            <a:r>
              <a:rPr lang="en-US" b="1" dirty="0"/>
              <a:t> </a:t>
            </a:r>
            <a:r>
              <a:rPr lang="en-US" b="1" dirty="0" err="1"/>
              <a:t>atau</a:t>
            </a:r>
            <a:r>
              <a:rPr lang="en-US" b="1" dirty="0"/>
              <a:t> id container&gt;</a:t>
            </a:r>
            <a:r>
              <a:rPr lang="en-US" dirty="0" err="1"/>
              <a:t>Untuk</a:t>
            </a:r>
            <a:r>
              <a:rPr lang="en-US" dirty="0"/>
              <a:t> </a:t>
            </a:r>
            <a:r>
              <a:rPr lang="en-US" dirty="0" err="1"/>
              <a:t>menghentikan</a:t>
            </a:r>
            <a:r>
              <a:rPr lang="en-US" dirty="0"/>
              <a:t> </a:t>
            </a:r>
            <a:r>
              <a:rPr lang="en-US" dirty="0" err="1"/>
              <a:t>atau</a:t>
            </a:r>
            <a:r>
              <a:rPr lang="en-US" dirty="0"/>
              <a:t> stop container yang </a:t>
            </a:r>
            <a:r>
              <a:rPr lang="en-US" dirty="0" err="1"/>
              <a:t>sedang</a:t>
            </a:r>
            <a:r>
              <a:rPr lang="en-US" dirty="0"/>
              <a:t> </a:t>
            </a:r>
            <a:r>
              <a:rPr lang="en-US" dirty="0" err="1"/>
              <a:t>aktif</a:t>
            </a:r>
            <a:r>
              <a:rPr lang="en-US" dirty="0"/>
              <a:t> </a:t>
            </a:r>
            <a:r>
              <a:rPr lang="en-US" dirty="0" err="1"/>
              <a:t>atau</a:t>
            </a:r>
            <a:r>
              <a:rPr lang="en-US" dirty="0"/>
              <a:t> </a:t>
            </a:r>
            <a:r>
              <a:rPr lang="en-US" dirty="0" err="1"/>
              <a:t>berjalan</a:t>
            </a:r>
            <a:r>
              <a:rPr lang="en-US" dirty="0"/>
              <a:t>. </a:t>
            </a:r>
            <a:r>
              <a:rPr lang="en-US" dirty="0" err="1"/>
              <a:t>Untuk</a:t>
            </a:r>
            <a:r>
              <a:rPr lang="en-US" dirty="0"/>
              <a:t> </a:t>
            </a:r>
            <a:r>
              <a:rPr lang="en-US" dirty="0" err="1"/>
              <a:t>melihat</a:t>
            </a:r>
            <a:r>
              <a:rPr lang="en-US" dirty="0"/>
              <a:t> container </a:t>
            </a:r>
            <a:r>
              <a:rPr lang="en-US" dirty="0" err="1"/>
              <a:t>docker</a:t>
            </a:r>
            <a:r>
              <a:rPr lang="en-US" dirty="0"/>
              <a:t> yang </a:t>
            </a:r>
            <a:r>
              <a:rPr lang="en-US" dirty="0" err="1"/>
              <a:t>statusnya</a:t>
            </a:r>
            <a:r>
              <a:rPr lang="en-US" dirty="0"/>
              <a:t> </a:t>
            </a:r>
            <a:r>
              <a:rPr lang="en-US" dirty="0" err="1"/>
              <a:t>tidak</a:t>
            </a:r>
            <a:r>
              <a:rPr lang="en-US" dirty="0"/>
              <a:t> </a:t>
            </a:r>
            <a:r>
              <a:rPr lang="en-US" dirty="0" err="1"/>
              <a:t>jalan</a:t>
            </a:r>
            <a:r>
              <a:rPr lang="en-US" dirty="0"/>
              <a:t> </a:t>
            </a:r>
            <a:r>
              <a:rPr lang="en-US" dirty="0" err="1"/>
              <a:t>dapat</a:t>
            </a:r>
            <a:r>
              <a:rPr lang="en-US" dirty="0"/>
              <a:t> </a:t>
            </a:r>
            <a:r>
              <a:rPr lang="en-US" dirty="0" err="1"/>
              <a:t>menggunakan</a:t>
            </a:r>
            <a:r>
              <a:rPr lang="en-US" dirty="0"/>
              <a:t> </a:t>
            </a:r>
            <a:r>
              <a:rPr lang="en-US" dirty="0" err="1"/>
              <a:t>perintah</a:t>
            </a:r>
            <a:r>
              <a:rPr lang="en-US" dirty="0"/>
              <a:t> </a:t>
            </a:r>
            <a:r>
              <a:rPr lang="en-US" b="1" dirty="0" err="1"/>
              <a:t>docker</a:t>
            </a:r>
            <a:r>
              <a:rPr lang="en-US" b="1" dirty="0"/>
              <a:t> </a:t>
            </a:r>
            <a:r>
              <a:rPr lang="en-US" b="1" dirty="0" err="1"/>
              <a:t>ps</a:t>
            </a:r>
            <a:r>
              <a:rPr lang="en-US" b="1" dirty="0"/>
              <a:t> -a</a:t>
            </a:r>
            <a:r>
              <a:rPr lang="en-US" dirty="0"/>
              <a:t>. </a:t>
            </a:r>
            <a:r>
              <a:rPr lang="en-US" dirty="0" err="1"/>
              <a:t>Jika</a:t>
            </a:r>
            <a:r>
              <a:rPr lang="en-US" dirty="0"/>
              <a:t> status </a:t>
            </a:r>
            <a:r>
              <a:rPr lang="en-US" dirty="0" err="1"/>
              <a:t>dari</a:t>
            </a:r>
            <a:r>
              <a:rPr lang="en-US" dirty="0"/>
              <a:t> container </a:t>
            </a:r>
            <a:r>
              <a:rPr lang="en-US" dirty="0" err="1"/>
              <a:t>sudah</a:t>
            </a:r>
            <a:r>
              <a:rPr lang="en-US" dirty="0"/>
              <a:t> Exited, </a:t>
            </a:r>
            <a:r>
              <a:rPr lang="en-US" dirty="0" err="1"/>
              <a:t>berarti</a:t>
            </a:r>
            <a:r>
              <a:rPr lang="en-US" dirty="0"/>
              <a:t> container </a:t>
            </a:r>
            <a:r>
              <a:rPr lang="en-US" dirty="0" err="1"/>
              <a:t>sudah</a:t>
            </a:r>
            <a:r>
              <a:rPr lang="en-US" dirty="0"/>
              <a:t> </a:t>
            </a:r>
            <a:r>
              <a:rPr lang="en-US" dirty="0" err="1"/>
              <a:t>dalam</a:t>
            </a:r>
            <a:r>
              <a:rPr lang="en-US" dirty="0"/>
              <a:t> </a:t>
            </a:r>
            <a:r>
              <a:rPr lang="en-US" dirty="0" err="1"/>
              <a:t>keadaan</a:t>
            </a:r>
            <a:r>
              <a:rPr lang="en-US" dirty="0"/>
              <a:t> down.</a:t>
            </a:r>
          </a:p>
        </p:txBody>
      </p:sp>
      <p:sp>
        <p:nvSpPr>
          <p:cNvPr id="9" name="Rectangle 8"/>
          <p:cNvSpPr/>
          <p:nvPr/>
        </p:nvSpPr>
        <p:spPr>
          <a:xfrm>
            <a:off x="279400" y="3121848"/>
            <a:ext cx="5427134" cy="646331"/>
          </a:xfrm>
          <a:prstGeom prst="rect">
            <a:avLst/>
          </a:prstGeom>
        </p:spPr>
        <p:txBody>
          <a:bodyPr wrap="square">
            <a:spAutoFit/>
          </a:bodyPr>
          <a:lstStyle/>
          <a:p>
            <a:pPr algn="just"/>
            <a:r>
              <a:rPr lang="en-US" dirty="0" err="1" smtClean="0">
                <a:solidFill>
                  <a:srgbClr val="002060"/>
                </a:solidFill>
              </a:rPr>
              <a:t>root@administrator</a:t>
            </a:r>
            <a:r>
              <a:rPr lang="en-US" dirty="0" smtClean="0">
                <a:solidFill>
                  <a:srgbClr val="002060"/>
                </a:solidFill>
              </a:rPr>
              <a:t>:/home/panda/GPU2# </a:t>
            </a:r>
            <a:r>
              <a:rPr lang="en-US" b="1" dirty="0" err="1">
                <a:solidFill>
                  <a:srgbClr val="00B0F0"/>
                </a:solidFill>
              </a:rPr>
              <a:t>docker</a:t>
            </a:r>
            <a:r>
              <a:rPr lang="en-US" b="1" dirty="0">
                <a:solidFill>
                  <a:srgbClr val="00B0F0"/>
                </a:solidFill>
              </a:rPr>
              <a:t> </a:t>
            </a:r>
            <a:r>
              <a:rPr lang="en-US" b="1" dirty="0" smtClean="0">
                <a:solidFill>
                  <a:srgbClr val="00B0F0"/>
                </a:solidFill>
              </a:rPr>
              <a:t>stop  web-1</a:t>
            </a:r>
          </a:p>
        </p:txBody>
      </p:sp>
      <p:sp>
        <p:nvSpPr>
          <p:cNvPr id="10" name="Rectangle 9"/>
          <p:cNvSpPr/>
          <p:nvPr/>
        </p:nvSpPr>
        <p:spPr>
          <a:xfrm>
            <a:off x="279400" y="3970188"/>
            <a:ext cx="5622129" cy="1600438"/>
          </a:xfrm>
          <a:prstGeom prst="rect">
            <a:avLst/>
          </a:prstGeom>
          <a:solidFill>
            <a:schemeClr val="tx1"/>
          </a:solidFill>
        </p:spPr>
        <p:txBody>
          <a:bodyPr wrap="square">
            <a:spAutoFit/>
          </a:bodyPr>
          <a:lstStyle/>
          <a:p>
            <a:pPr algn="just"/>
            <a:r>
              <a:rPr lang="en-US" sz="1400" dirty="0" err="1">
                <a:solidFill>
                  <a:schemeClr val="bg1">
                    <a:lumMod val="50000"/>
                  </a:schemeClr>
                </a:solidFill>
              </a:rPr>
              <a:t>root@administrator</a:t>
            </a:r>
            <a:r>
              <a:rPr lang="en-US" sz="1400" dirty="0">
                <a:solidFill>
                  <a:schemeClr val="bg1">
                    <a:lumMod val="50000"/>
                  </a:schemeClr>
                </a:solidFill>
              </a:rPr>
              <a:t>:/home/panda/GPU2# </a:t>
            </a:r>
            <a:r>
              <a:rPr lang="en-US" sz="1400" b="1" dirty="0" err="1">
                <a:solidFill>
                  <a:schemeClr val="bg1">
                    <a:lumMod val="50000"/>
                  </a:schemeClr>
                </a:solidFill>
              </a:rPr>
              <a:t>docker</a:t>
            </a:r>
            <a:r>
              <a:rPr lang="en-US" sz="1400" b="1" dirty="0">
                <a:solidFill>
                  <a:schemeClr val="bg1">
                    <a:lumMod val="50000"/>
                  </a:schemeClr>
                </a:solidFill>
              </a:rPr>
              <a:t> </a:t>
            </a:r>
            <a:r>
              <a:rPr lang="en-US" sz="1400" b="1" dirty="0" smtClean="0">
                <a:solidFill>
                  <a:schemeClr val="bg1">
                    <a:lumMod val="50000"/>
                  </a:schemeClr>
                </a:solidFill>
              </a:rPr>
              <a:t>stop web-1</a:t>
            </a:r>
            <a:endParaRPr lang="en-US" sz="1400" b="1" dirty="0">
              <a:solidFill>
                <a:schemeClr val="bg1">
                  <a:lumMod val="50000"/>
                </a:schemeClr>
              </a:solidFill>
            </a:endParaRPr>
          </a:p>
          <a:p>
            <a:pPr algn="just"/>
            <a:r>
              <a:rPr lang="en-US" sz="1400" b="1" dirty="0" smtClean="0">
                <a:solidFill>
                  <a:schemeClr val="bg1">
                    <a:lumMod val="50000"/>
                  </a:schemeClr>
                </a:solidFill>
              </a:rPr>
              <a:t>Web-1</a:t>
            </a:r>
          </a:p>
          <a:p>
            <a:pPr algn="just"/>
            <a:r>
              <a:rPr lang="en-US" sz="1400" dirty="0" err="1">
                <a:solidFill>
                  <a:schemeClr val="bg1">
                    <a:lumMod val="50000"/>
                  </a:schemeClr>
                </a:solidFill>
              </a:rPr>
              <a:t>root@administrator</a:t>
            </a:r>
            <a:r>
              <a:rPr lang="en-US" sz="1400" dirty="0">
                <a:solidFill>
                  <a:schemeClr val="bg1">
                    <a:lumMod val="50000"/>
                  </a:schemeClr>
                </a:solidFill>
              </a:rPr>
              <a:t>:/home/panda/GPU2# </a:t>
            </a:r>
            <a:r>
              <a:rPr lang="en-US" sz="1400" b="1" dirty="0" err="1">
                <a:solidFill>
                  <a:schemeClr val="bg1">
                    <a:lumMod val="50000"/>
                  </a:schemeClr>
                </a:solidFill>
              </a:rPr>
              <a:t>docker</a:t>
            </a:r>
            <a:r>
              <a:rPr lang="en-US" sz="1400" b="1" dirty="0">
                <a:solidFill>
                  <a:schemeClr val="bg1">
                    <a:lumMod val="50000"/>
                  </a:schemeClr>
                </a:solidFill>
              </a:rPr>
              <a:t> </a:t>
            </a:r>
            <a:r>
              <a:rPr lang="en-US" sz="1400" b="1" dirty="0" smtClean="0">
                <a:solidFill>
                  <a:schemeClr val="bg1">
                    <a:lumMod val="50000"/>
                  </a:schemeClr>
                </a:solidFill>
              </a:rPr>
              <a:t>-a</a:t>
            </a:r>
          </a:p>
          <a:p>
            <a:pPr algn="just"/>
            <a:endParaRPr lang="en-US" sz="1400" b="1" dirty="0">
              <a:solidFill>
                <a:schemeClr val="bg1">
                  <a:lumMod val="50000"/>
                </a:schemeClr>
              </a:solidFill>
            </a:endParaRPr>
          </a:p>
          <a:p>
            <a:pPr algn="just"/>
            <a:endParaRPr lang="en-US" sz="1400" b="1" dirty="0" smtClean="0">
              <a:solidFill>
                <a:schemeClr val="bg1">
                  <a:lumMod val="50000"/>
                </a:schemeClr>
              </a:solidFill>
            </a:endParaRPr>
          </a:p>
          <a:p>
            <a:pPr algn="just"/>
            <a:endParaRPr lang="en-US" sz="1400" b="1" dirty="0">
              <a:solidFill>
                <a:schemeClr val="bg1">
                  <a:lumMod val="50000"/>
                </a:schemeClr>
              </a:solidFill>
            </a:endParaRPr>
          </a:p>
          <a:p>
            <a:pPr algn="just"/>
            <a:r>
              <a:rPr lang="en-US" sz="1400" dirty="0" err="1" smtClean="0">
                <a:solidFill>
                  <a:schemeClr val="bg1">
                    <a:lumMod val="50000"/>
                  </a:schemeClr>
                </a:solidFill>
              </a:rPr>
              <a:t>root@administrator</a:t>
            </a:r>
            <a:r>
              <a:rPr lang="en-US" sz="1400" dirty="0">
                <a:solidFill>
                  <a:schemeClr val="bg1">
                    <a:lumMod val="50000"/>
                  </a:schemeClr>
                </a:solidFill>
              </a:rPr>
              <a:t>:/home/panda/GPU2#</a:t>
            </a:r>
            <a:endParaRPr lang="en-US" sz="1400" b="1" dirty="0">
              <a:solidFill>
                <a:schemeClr val="bg1">
                  <a:lumMod val="50000"/>
                </a:schemeClr>
              </a:solidFill>
            </a:endParaRPr>
          </a:p>
        </p:txBody>
      </p:sp>
      <p:pic>
        <p:nvPicPr>
          <p:cNvPr id="3" name="Picture 2"/>
          <p:cNvPicPr>
            <a:picLocks noChangeAspect="1"/>
          </p:cNvPicPr>
          <p:nvPr/>
        </p:nvPicPr>
        <p:blipFill>
          <a:blip r:embed="rId3"/>
          <a:stretch>
            <a:fillRect/>
          </a:stretch>
        </p:blipFill>
        <p:spPr>
          <a:xfrm>
            <a:off x="408590" y="4867068"/>
            <a:ext cx="4841327" cy="224136"/>
          </a:xfrm>
          <a:prstGeom prst="rect">
            <a:avLst/>
          </a:prstGeom>
        </p:spPr>
      </p:pic>
      <p:sp>
        <p:nvSpPr>
          <p:cNvPr id="11" name="Rectangle 10"/>
          <p:cNvSpPr/>
          <p:nvPr/>
        </p:nvSpPr>
        <p:spPr>
          <a:xfrm>
            <a:off x="6286062" y="490359"/>
            <a:ext cx="5427134" cy="1200329"/>
          </a:xfrm>
          <a:prstGeom prst="rect">
            <a:avLst/>
          </a:prstGeom>
        </p:spPr>
        <p:txBody>
          <a:bodyPr wrap="square">
            <a:spAutoFit/>
          </a:bodyPr>
          <a:lstStyle/>
          <a:p>
            <a:pPr algn="just"/>
            <a:r>
              <a:rPr lang="en-US" b="1" dirty="0" err="1"/>
              <a:t>docker</a:t>
            </a:r>
            <a:r>
              <a:rPr lang="en-US" b="1" dirty="0"/>
              <a:t> start &lt;</a:t>
            </a:r>
            <a:r>
              <a:rPr lang="en-US" b="1" dirty="0" err="1"/>
              <a:t>nama</a:t>
            </a:r>
            <a:r>
              <a:rPr lang="en-US" b="1" dirty="0"/>
              <a:t> </a:t>
            </a:r>
            <a:r>
              <a:rPr lang="en-US" b="1" dirty="0" err="1"/>
              <a:t>atau</a:t>
            </a:r>
            <a:r>
              <a:rPr lang="en-US" b="1" dirty="0"/>
              <a:t> id container&gt;</a:t>
            </a:r>
            <a:r>
              <a:rPr lang="en-US" dirty="0" err="1"/>
              <a:t>Untuk</a:t>
            </a:r>
            <a:r>
              <a:rPr lang="en-US" dirty="0"/>
              <a:t> </a:t>
            </a:r>
            <a:r>
              <a:rPr lang="en-US" dirty="0" err="1"/>
              <a:t>menjalankan</a:t>
            </a:r>
            <a:r>
              <a:rPr lang="en-US" dirty="0"/>
              <a:t> container yang </a:t>
            </a:r>
            <a:r>
              <a:rPr lang="en-US" dirty="0" err="1"/>
              <a:t>sedang</a:t>
            </a:r>
            <a:r>
              <a:rPr lang="en-US" dirty="0"/>
              <a:t> </a:t>
            </a:r>
            <a:r>
              <a:rPr lang="en-US" dirty="0" err="1"/>
              <a:t>tidak</a:t>
            </a:r>
            <a:r>
              <a:rPr lang="en-US" dirty="0"/>
              <a:t> </a:t>
            </a:r>
            <a:r>
              <a:rPr lang="en-US" dirty="0" err="1"/>
              <a:t>aktif</a:t>
            </a:r>
            <a:r>
              <a:rPr lang="en-US" dirty="0"/>
              <a:t> </a:t>
            </a:r>
            <a:r>
              <a:rPr lang="en-US" dirty="0" err="1"/>
              <a:t>atau</a:t>
            </a:r>
            <a:r>
              <a:rPr lang="en-US" dirty="0"/>
              <a:t> </a:t>
            </a:r>
            <a:r>
              <a:rPr lang="en-US" dirty="0" err="1"/>
              <a:t>tidak</a:t>
            </a:r>
            <a:r>
              <a:rPr lang="en-US" dirty="0"/>
              <a:t> </a:t>
            </a:r>
            <a:r>
              <a:rPr lang="en-US" dirty="0" err="1"/>
              <a:t>berjalan</a:t>
            </a:r>
            <a:r>
              <a:rPr lang="en-US" dirty="0"/>
              <a:t>. </a:t>
            </a:r>
            <a:r>
              <a:rPr lang="en-US" dirty="0" err="1"/>
              <a:t>Jika</a:t>
            </a:r>
            <a:r>
              <a:rPr lang="en-US" dirty="0"/>
              <a:t> </a:t>
            </a:r>
            <a:r>
              <a:rPr lang="en-US" dirty="0" err="1"/>
              <a:t>berhasil</a:t>
            </a:r>
            <a:r>
              <a:rPr lang="en-US" dirty="0"/>
              <a:t> </a:t>
            </a:r>
            <a:r>
              <a:rPr lang="en-US" dirty="0" err="1"/>
              <a:t>kalain</a:t>
            </a:r>
            <a:r>
              <a:rPr lang="en-US" dirty="0"/>
              <a:t> </a:t>
            </a:r>
            <a:r>
              <a:rPr lang="en-US" dirty="0" err="1"/>
              <a:t>dapat</a:t>
            </a:r>
            <a:r>
              <a:rPr lang="en-US" dirty="0"/>
              <a:t> </a:t>
            </a:r>
            <a:r>
              <a:rPr lang="en-US" dirty="0" err="1"/>
              <a:t>lihat</a:t>
            </a:r>
            <a:r>
              <a:rPr lang="en-US" dirty="0"/>
              <a:t> </a:t>
            </a:r>
            <a:r>
              <a:rPr lang="en-US" dirty="0" err="1"/>
              <a:t>containernya</a:t>
            </a:r>
            <a:r>
              <a:rPr lang="en-US" dirty="0"/>
              <a:t> </a:t>
            </a:r>
            <a:r>
              <a:rPr lang="en-US" dirty="0" err="1"/>
              <a:t>sudah</a:t>
            </a:r>
            <a:r>
              <a:rPr lang="en-US" dirty="0"/>
              <a:t> status Up </a:t>
            </a:r>
            <a:r>
              <a:rPr lang="en-US" dirty="0" err="1"/>
              <a:t>kembali</a:t>
            </a:r>
            <a:r>
              <a:rPr lang="en-US" dirty="0"/>
              <a:t>.</a:t>
            </a:r>
          </a:p>
        </p:txBody>
      </p:sp>
      <p:sp>
        <p:nvSpPr>
          <p:cNvPr id="12" name="Rectangle 11"/>
          <p:cNvSpPr/>
          <p:nvPr/>
        </p:nvSpPr>
        <p:spPr>
          <a:xfrm>
            <a:off x="6286062" y="2244685"/>
            <a:ext cx="5427134" cy="646331"/>
          </a:xfrm>
          <a:prstGeom prst="rect">
            <a:avLst/>
          </a:prstGeom>
        </p:spPr>
        <p:txBody>
          <a:bodyPr wrap="square">
            <a:spAutoFit/>
          </a:bodyPr>
          <a:lstStyle/>
          <a:p>
            <a:pPr algn="just"/>
            <a:r>
              <a:rPr lang="en-US" dirty="0" err="1" smtClean="0">
                <a:solidFill>
                  <a:srgbClr val="002060"/>
                </a:solidFill>
              </a:rPr>
              <a:t>root@administrator</a:t>
            </a:r>
            <a:r>
              <a:rPr lang="en-US" dirty="0" smtClean="0">
                <a:solidFill>
                  <a:srgbClr val="002060"/>
                </a:solidFill>
              </a:rPr>
              <a:t>:/home/panda/GPU2# </a:t>
            </a:r>
            <a:r>
              <a:rPr lang="en-US" b="1" dirty="0" err="1">
                <a:solidFill>
                  <a:srgbClr val="00B0F0"/>
                </a:solidFill>
              </a:rPr>
              <a:t>docker</a:t>
            </a:r>
            <a:r>
              <a:rPr lang="en-US" b="1" dirty="0">
                <a:solidFill>
                  <a:srgbClr val="00B0F0"/>
                </a:solidFill>
              </a:rPr>
              <a:t> </a:t>
            </a:r>
            <a:r>
              <a:rPr lang="en-US" b="1" dirty="0" smtClean="0">
                <a:solidFill>
                  <a:srgbClr val="00B0F0"/>
                </a:solidFill>
              </a:rPr>
              <a:t>start  web-1</a:t>
            </a:r>
          </a:p>
        </p:txBody>
      </p:sp>
      <p:sp>
        <p:nvSpPr>
          <p:cNvPr id="13" name="Rectangle 12"/>
          <p:cNvSpPr/>
          <p:nvPr/>
        </p:nvSpPr>
        <p:spPr>
          <a:xfrm>
            <a:off x="6348541" y="3121848"/>
            <a:ext cx="5622129" cy="1600438"/>
          </a:xfrm>
          <a:prstGeom prst="rect">
            <a:avLst/>
          </a:prstGeom>
          <a:solidFill>
            <a:schemeClr val="tx1"/>
          </a:solidFill>
        </p:spPr>
        <p:txBody>
          <a:bodyPr wrap="square">
            <a:spAutoFit/>
          </a:bodyPr>
          <a:lstStyle/>
          <a:p>
            <a:pPr algn="just"/>
            <a:r>
              <a:rPr lang="en-US" sz="1400" dirty="0" err="1">
                <a:solidFill>
                  <a:schemeClr val="bg1">
                    <a:lumMod val="50000"/>
                  </a:schemeClr>
                </a:solidFill>
              </a:rPr>
              <a:t>root@administrator</a:t>
            </a:r>
            <a:r>
              <a:rPr lang="en-US" sz="1400" dirty="0">
                <a:solidFill>
                  <a:schemeClr val="bg1">
                    <a:lumMod val="50000"/>
                  </a:schemeClr>
                </a:solidFill>
              </a:rPr>
              <a:t>:/home/panda/GPU2# </a:t>
            </a:r>
            <a:r>
              <a:rPr lang="en-US" sz="1400" b="1" dirty="0" err="1">
                <a:solidFill>
                  <a:schemeClr val="bg1">
                    <a:lumMod val="50000"/>
                  </a:schemeClr>
                </a:solidFill>
              </a:rPr>
              <a:t>docker</a:t>
            </a:r>
            <a:r>
              <a:rPr lang="en-US" sz="1400" b="1" dirty="0">
                <a:solidFill>
                  <a:schemeClr val="bg1">
                    <a:lumMod val="50000"/>
                  </a:schemeClr>
                </a:solidFill>
              </a:rPr>
              <a:t> </a:t>
            </a:r>
            <a:r>
              <a:rPr lang="en-US" sz="1400" b="1" dirty="0" smtClean="0">
                <a:solidFill>
                  <a:schemeClr val="bg1">
                    <a:lumMod val="50000"/>
                  </a:schemeClr>
                </a:solidFill>
              </a:rPr>
              <a:t>stop web-1</a:t>
            </a:r>
            <a:endParaRPr lang="en-US" sz="1400" b="1" dirty="0">
              <a:solidFill>
                <a:schemeClr val="bg1">
                  <a:lumMod val="50000"/>
                </a:schemeClr>
              </a:solidFill>
            </a:endParaRPr>
          </a:p>
          <a:p>
            <a:pPr algn="just"/>
            <a:r>
              <a:rPr lang="en-US" sz="1400" b="1" dirty="0" smtClean="0">
                <a:solidFill>
                  <a:schemeClr val="bg1">
                    <a:lumMod val="50000"/>
                  </a:schemeClr>
                </a:solidFill>
              </a:rPr>
              <a:t>Web-1</a:t>
            </a:r>
          </a:p>
          <a:p>
            <a:pPr algn="just"/>
            <a:r>
              <a:rPr lang="en-US" sz="1400" dirty="0" err="1">
                <a:solidFill>
                  <a:schemeClr val="bg1">
                    <a:lumMod val="50000"/>
                  </a:schemeClr>
                </a:solidFill>
              </a:rPr>
              <a:t>root@administrator</a:t>
            </a:r>
            <a:r>
              <a:rPr lang="en-US" sz="1400" dirty="0">
                <a:solidFill>
                  <a:schemeClr val="bg1">
                    <a:lumMod val="50000"/>
                  </a:schemeClr>
                </a:solidFill>
              </a:rPr>
              <a:t>:/home/panda/GPU2# </a:t>
            </a:r>
            <a:r>
              <a:rPr lang="en-US" sz="1400" b="1" dirty="0" err="1">
                <a:solidFill>
                  <a:schemeClr val="bg1">
                    <a:lumMod val="50000"/>
                  </a:schemeClr>
                </a:solidFill>
              </a:rPr>
              <a:t>docker</a:t>
            </a:r>
            <a:r>
              <a:rPr lang="en-US" sz="1400" b="1" dirty="0">
                <a:solidFill>
                  <a:schemeClr val="bg1">
                    <a:lumMod val="50000"/>
                  </a:schemeClr>
                </a:solidFill>
              </a:rPr>
              <a:t> </a:t>
            </a:r>
            <a:r>
              <a:rPr lang="en-US" sz="1400" b="1" dirty="0" smtClean="0">
                <a:solidFill>
                  <a:schemeClr val="bg1">
                    <a:lumMod val="50000"/>
                  </a:schemeClr>
                </a:solidFill>
              </a:rPr>
              <a:t>-a</a:t>
            </a:r>
          </a:p>
          <a:p>
            <a:pPr algn="just"/>
            <a:endParaRPr lang="en-US" sz="1400" b="1" dirty="0">
              <a:solidFill>
                <a:schemeClr val="bg1">
                  <a:lumMod val="50000"/>
                </a:schemeClr>
              </a:solidFill>
            </a:endParaRPr>
          </a:p>
          <a:p>
            <a:pPr algn="just"/>
            <a:endParaRPr lang="en-US" sz="1400" b="1" dirty="0" smtClean="0">
              <a:solidFill>
                <a:schemeClr val="bg1">
                  <a:lumMod val="50000"/>
                </a:schemeClr>
              </a:solidFill>
            </a:endParaRPr>
          </a:p>
          <a:p>
            <a:pPr algn="just"/>
            <a:endParaRPr lang="en-US" sz="1400" b="1" dirty="0">
              <a:solidFill>
                <a:schemeClr val="bg1">
                  <a:lumMod val="50000"/>
                </a:schemeClr>
              </a:solidFill>
            </a:endParaRPr>
          </a:p>
          <a:p>
            <a:pPr algn="just"/>
            <a:r>
              <a:rPr lang="en-US" sz="1400" dirty="0" err="1" smtClean="0">
                <a:solidFill>
                  <a:schemeClr val="bg1">
                    <a:lumMod val="50000"/>
                  </a:schemeClr>
                </a:solidFill>
              </a:rPr>
              <a:t>root@administrator</a:t>
            </a:r>
            <a:r>
              <a:rPr lang="en-US" sz="1400" dirty="0">
                <a:solidFill>
                  <a:schemeClr val="bg1">
                    <a:lumMod val="50000"/>
                  </a:schemeClr>
                </a:solidFill>
              </a:rPr>
              <a:t>:/home/panda/GPU2#</a:t>
            </a:r>
            <a:endParaRPr lang="en-US" sz="1400" b="1" dirty="0">
              <a:solidFill>
                <a:schemeClr val="bg1">
                  <a:lumMod val="50000"/>
                </a:schemeClr>
              </a:solidFill>
            </a:endParaRPr>
          </a:p>
        </p:txBody>
      </p:sp>
      <p:pic>
        <p:nvPicPr>
          <p:cNvPr id="4" name="Picture 3"/>
          <p:cNvPicPr>
            <a:picLocks noChangeAspect="1"/>
          </p:cNvPicPr>
          <p:nvPr/>
        </p:nvPicPr>
        <p:blipFill>
          <a:blip r:embed="rId4"/>
          <a:stretch>
            <a:fillRect/>
          </a:stretch>
        </p:blipFill>
        <p:spPr>
          <a:xfrm>
            <a:off x="6543536" y="3970188"/>
            <a:ext cx="3816143" cy="444265"/>
          </a:xfrm>
          <a:prstGeom prst="rect">
            <a:avLst/>
          </a:prstGeom>
        </p:spPr>
      </p:pic>
    </p:spTree>
    <p:extLst>
      <p:ext uri="{BB962C8B-B14F-4D97-AF65-F5344CB8AC3E}">
        <p14:creationId xmlns:p14="http://schemas.microsoft.com/office/powerpoint/2010/main" val="76187471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63276" y="519182"/>
            <a:ext cx="1888068" cy="1116355"/>
          </a:xfrm>
        </p:spPr>
        <p:txBody>
          <a:bodyPr>
            <a:normAutofit/>
          </a:bodyPr>
          <a:lstStyle/>
          <a:p>
            <a:pPr algn="just"/>
            <a:r>
              <a:rPr lang="en-US" b="1" dirty="0" smtClean="0">
                <a:solidFill>
                  <a:srgbClr val="002060"/>
                </a:solidFill>
              </a:rPr>
              <a:t>Image</a:t>
            </a:r>
            <a:endParaRPr lang="en-US" sz="2000" b="1" dirty="0">
              <a:solidFill>
                <a:srgbClr val="002060"/>
              </a:solidFill>
            </a:endParaRPr>
          </a:p>
        </p:txBody>
      </p:sp>
      <p:sp>
        <p:nvSpPr>
          <p:cNvPr id="7" name="Rectangle 6"/>
          <p:cNvSpPr/>
          <p:nvPr/>
        </p:nvSpPr>
        <p:spPr>
          <a:xfrm>
            <a:off x="0" y="61696"/>
            <a:ext cx="2363980" cy="1015663"/>
          </a:xfrm>
          <a:prstGeom prst="rect">
            <a:avLst/>
          </a:prstGeom>
        </p:spPr>
        <p:txBody>
          <a:bodyPr wrap="none">
            <a:spAutoFit/>
          </a:bodyPr>
          <a:lstStyle/>
          <a:p>
            <a:r>
              <a:rPr lang="en-US" sz="6000" dirty="0">
                <a:solidFill>
                  <a:srgbClr val="FFC000"/>
                </a:solidFill>
              </a:rPr>
              <a:t>Docker</a:t>
            </a:r>
          </a:p>
        </p:txBody>
      </p:sp>
      <p:sp>
        <p:nvSpPr>
          <p:cNvPr id="10" name="Rectangle 9"/>
          <p:cNvSpPr/>
          <p:nvPr/>
        </p:nvSpPr>
        <p:spPr>
          <a:xfrm>
            <a:off x="279400" y="3121848"/>
            <a:ext cx="5427134" cy="923330"/>
          </a:xfrm>
          <a:prstGeom prst="rect">
            <a:avLst/>
          </a:prstGeom>
        </p:spPr>
        <p:txBody>
          <a:bodyPr wrap="square">
            <a:spAutoFit/>
          </a:bodyPr>
          <a:lstStyle/>
          <a:p>
            <a:pPr algn="just"/>
            <a:r>
              <a:rPr lang="en-US" dirty="0" err="1" smtClean="0">
                <a:solidFill>
                  <a:srgbClr val="002060"/>
                </a:solidFill>
              </a:rPr>
              <a:t>root@administrator</a:t>
            </a:r>
            <a:r>
              <a:rPr lang="en-US" dirty="0" smtClean="0">
                <a:solidFill>
                  <a:srgbClr val="002060"/>
                </a:solidFill>
              </a:rPr>
              <a:t>:/home/panda/GPU2# </a:t>
            </a:r>
            <a:r>
              <a:rPr lang="en-US" b="1" dirty="0" err="1">
                <a:solidFill>
                  <a:srgbClr val="00B0F0"/>
                </a:solidFill>
              </a:rPr>
              <a:t>docker</a:t>
            </a:r>
            <a:r>
              <a:rPr lang="en-US" b="1" dirty="0">
                <a:solidFill>
                  <a:srgbClr val="00B0F0"/>
                </a:solidFill>
              </a:rPr>
              <a:t> </a:t>
            </a:r>
            <a:r>
              <a:rPr lang="en-US" b="1" dirty="0" smtClean="0">
                <a:solidFill>
                  <a:srgbClr val="00B0F0"/>
                </a:solidFill>
              </a:rPr>
              <a:t>exec –it web-1  /bin/bash</a:t>
            </a:r>
          </a:p>
          <a:p>
            <a:pPr algn="just"/>
            <a:r>
              <a:rPr lang="en-US" b="1" dirty="0" smtClean="0">
                <a:solidFill>
                  <a:srgbClr val="002060"/>
                </a:solidFill>
              </a:rPr>
              <a:t>root@</a:t>
            </a:r>
            <a:r>
              <a:rPr lang="en-US" dirty="0">
                <a:solidFill>
                  <a:srgbClr val="002060"/>
                </a:solidFill>
              </a:rPr>
              <a:t> </a:t>
            </a:r>
            <a:r>
              <a:rPr lang="en-US" dirty="0" smtClean="0">
                <a:solidFill>
                  <a:srgbClr val="002060"/>
                </a:solidFill>
              </a:rPr>
              <a:t>f5awhshswya2:/# </a:t>
            </a:r>
            <a:r>
              <a:rPr lang="en-US" dirty="0" smtClean="0">
                <a:solidFill>
                  <a:srgbClr val="00B0F0"/>
                </a:solidFill>
              </a:rPr>
              <a:t>ls </a:t>
            </a:r>
            <a:endParaRPr lang="en-US" b="1" dirty="0" smtClean="0">
              <a:solidFill>
                <a:srgbClr val="00B0F0"/>
              </a:solidFill>
            </a:endParaRPr>
          </a:p>
        </p:txBody>
      </p:sp>
      <p:sp>
        <p:nvSpPr>
          <p:cNvPr id="13" name="Rectangle 12"/>
          <p:cNvSpPr/>
          <p:nvPr/>
        </p:nvSpPr>
        <p:spPr>
          <a:xfrm>
            <a:off x="279400" y="1501530"/>
            <a:ext cx="6096000" cy="1754326"/>
          </a:xfrm>
          <a:prstGeom prst="rect">
            <a:avLst/>
          </a:prstGeom>
        </p:spPr>
        <p:txBody>
          <a:bodyPr>
            <a:spAutoFit/>
          </a:bodyPr>
          <a:lstStyle/>
          <a:p>
            <a:pPr algn="just"/>
            <a:r>
              <a:rPr lang="en-US" dirty="0" err="1"/>
              <a:t>docker</a:t>
            </a:r>
            <a:r>
              <a:rPr lang="en-US" dirty="0"/>
              <a:t> exec &lt;options&gt; &lt;</a:t>
            </a:r>
            <a:r>
              <a:rPr lang="en-US" dirty="0" err="1"/>
              <a:t>nama</a:t>
            </a:r>
            <a:r>
              <a:rPr lang="en-US" dirty="0"/>
              <a:t> container&gt; &lt;</a:t>
            </a:r>
            <a:r>
              <a:rPr lang="en-US" dirty="0" err="1"/>
              <a:t>perintah</a:t>
            </a:r>
            <a:r>
              <a:rPr lang="en-US" dirty="0"/>
              <a:t>&gt;</a:t>
            </a:r>
            <a:r>
              <a:rPr lang="en-US" dirty="0" err="1"/>
              <a:t>Untuk</a:t>
            </a:r>
            <a:r>
              <a:rPr lang="en-US" dirty="0"/>
              <a:t> </a:t>
            </a:r>
            <a:r>
              <a:rPr lang="en-US" dirty="0" err="1"/>
              <a:t>masuk</a:t>
            </a:r>
            <a:r>
              <a:rPr lang="en-US" dirty="0"/>
              <a:t> </a:t>
            </a:r>
            <a:r>
              <a:rPr lang="en-US" dirty="0" err="1"/>
              <a:t>ke</a:t>
            </a:r>
            <a:r>
              <a:rPr lang="en-US" dirty="0"/>
              <a:t> terminal </a:t>
            </a:r>
            <a:r>
              <a:rPr lang="en-US" dirty="0" err="1"/>
              <a:t>dari</a:t>
            </a:r>
            <a:r>
              <a:rPr lang="en-US" dirty="0"/>
              <a:t> container yang </a:t>
            </a:r>
            <a:r>
              <a:rPr lang="en-US" dirty="0" err="1"/>
              <a:t>sudah</a:t>
            </a:r>
            <a:r>
              <a:rPr lang="en-US" dirty="0"/>
              <a:t> </a:t>
            </a:r>
            <a:r>
              <a:rPr lang="en-US" dirty="0" err="1"/>
              <a:t>berjalan</a:t>
            </a:r>
            <a:r>
              <a:rPr lang="en-US" dirty="0"/>
              <a:t>.#</a:t>
            </a:r>
            <a:r>
              <a:rPr lang="en-US" dirty="0" err="1"/>
              <a:t>docker</a:t>
            </a:r>
            <a:r>
              <a:rPr lang="en-US" dirty="0"/>
              <a:t> exec -it web-1 /bin/bash //</a:t>
            </a:r>
            <a:r>
              <a:rPr lang="en-US" dirty="0" err="1"/>
              <a:t>Disini</a:t>
            </a:r>
            <a:r>
              <a:rPr lang="en-US" dirty="0"/>
              <a:t> </a:t>
            </a:r>
            <a:r>
              <a:rPr lang="en-US" dirty="0" err="1"/>
              <a:t>saya</a:t>
            </a:r>
            <a:r>
              <a:rPr lang="en-US" dirty="0"/>
              <a:t> </a:t>
            </a:r>
            <a:r>
              <a:rPr lang="en-US" dirty="0" err="1"/>
              <a:t>uji</a:t>
            </a:r>
            <a:r>
              <a:rPr lang="en-US" dirty="0"/>
              <a:t> </a:t>
            </a:r>
            <a:r>
              <a:rPr lang="en-US" dirty="0" err="1"/>
              <a:t>coba</a:t>
            </a:r>
            <a:r>
              <a:rPr lang="en-US" dirty="0"/>
              <a:t> </a:t>
            </a:r>
            <a:r>
              <a:rPr lang="en-US" dirty="0" err="1"/>
              <a:t>masuk</a:t>
            </a:r>
            <a:r>
              <a:rPr lang="en-US" dirty="0"/>
              <a:t> </a:t>
            </a:r>
            <a:r>
              <a:rPr lang="en-US" dirty="0" err="1"/>
              <a:t>ke</a:t>
            </a:r>
            <a:r>
              <a:rPr lang="en-US" dirty="0"/>
              <a:t> container web-1 </a:t>
            </a:r>
            <a:r>
              <a:rPr lang="en-US" dirty="0" err="1"/>
              <a:t>dan</a:t>
            </a:r>
            <a:r>
              <a:rPr lang="en-US" dirty="0"/>
              <a:t> </a:t>
            </a:r>
            <a:r>
              <a:rPr lang="en-US" dirty="0" err="1"/>
              <a:t>masuk</a:t>
            </a:r>
            <a:r>
              <a:rPr lang="en-US" dirty="0"/>
              <a:t> </a:t>
            </a:r>
            <a:r>
              <a:rPr lang="en-US" dirty="0" err="1"/>
              <a:t>dengan</a:t>
            </a:r>
            <a:r>
              <a:rPr lang="en-US" dirty="0"/>
              <a:t> privileged /bin/bash. //</a:t>
            </a:r>
            <a:r>
              <a:rPr lang="en-US" dirty="0" err="1"/>
              <a:t>Untuk</a:t>
            </a:r>
            <a:r>
              <a:rPr lang="en-US" dirty="0"/>
              <a:t> </a:t>
            </a:r>
            <a:r>
              <a:rPr lang="en-US" dirty="0" err="1"/>
              <a:t>keluar</a:t>
            </a:r>
            <a:r>
              <a:rPr lang="en-US" dirty="0"/>
              <a:t> </a:t>
            </a:r>
            <a:r>
              <a:rPr lang="en-US" dirty="0" err="1"/>
              <a:t>dari</a:t>
            </a:r>
            <a:r>
              <a:rPr lang="en-US" dirty="0"/>
              <a:t> terminal container kalian </a:t>
            </a:r>
            <a:r>
              <a:rPr lang="en-US" dirty="0" err="1"/>
              <a:t>cukup</a:t>
            </a:r>
            <a:r>
              <a:rPr lang="en-US" dirty="0"/>
              <a:t> </a:t>
            </a:r>
            <a:r>
              <a:rPr lang="en-US" dirty="0" err="1"/>
              <a:t>ketikan</a:t>
            </a:r>
            <a:r>
              <a:rPr lang="en-US" dirty="0"/>
              <a:t> </a:t>
            </a:r>
            <a:r>
              <a:rPr lang="en-US" dirty="0" err="1"/>
              <a:t>perintah</a:t>
            </a:r>
            <a:r>
              <a:rPr lang="en-US" dirty="0"/>
              <a:t> #exit</a:t>
            </a:r>
          </a:p>
        </p:txBody>
      </p:sp>
      <p:sp>
        <p:nvSpPr>
          <p:cNvPr id="14" name="Rectangle 13"/>
          <p:cNvSpPr/>
          <p:nvPr/>
        </p:nvSpPr>
        <p:spPr>
          <a:xfrm>
            <a:off x="279400" y="4294706"/>
            <a:ext cx="5622129" cy="2031325"/>
          </a:xfrm>
          <a:prstGeom prst="rect">
            <a:avLst/>
          </a:prstGeom>
          <a:solidFill>
            <a:schemeClr val="tx1"/>
          </a:solidFill>
        </p:spPr>
        <p:txBody>
          <a:bodyPr wrap="square">
            <a:spAutoFit/>
          </a:bodyPr>
          <a:lstStyle/>
          <a:p>
            <a:pPr algn="just"/>
            <a:r>
              <a:rPr lang="en-US" sz="1400" dirty="0" err="1" smtClean="0">
                <a:solidFill>
                  <a:schemeClr val="bg1">
                    <a:lumMod val="95000"/>
                  </a:schemeClr>
                </a:solidFill>
              </a:rPr>
              <a:t>root@administrator</a:t>
            </a:r>
            <a:r>
              <a:rPr lang="en-US" sz="1400" dirty="0">
                <a:solidFill>
                  <a:schemeClr val="bg1">
                    <a:lumMod val="95000"/>
                  </a:schemeClr>
                </a:solidFill>
              </a:rPr>
              <a:t>:/home/panda/GPU2# </a:t>
            </a:r>
            <a:r>
              <a:rPr lang="en-US" sz="1400" b="1" dirty="0" err="1">
                <a:solidFill>
                  <a:schemeClr val="bg1">
                    <a:lumMod val="95000"/>
                  </a:schemeClr>
                </a:solidFill>
              </a:rPr>
              <a:t>docker</a:t>
            </a:r>
            <a:r>
              <a:rPr lang="en-US" sz="1400" b="1" dirty="0">
                <a:solidFill>
                  <a:schemeClr val="bg1">
                    <a:lumMod val="95000"/>
                  </a:schemeClr>
                </a:solidFill>
              </a:rPr>
              <a:t> exec –it web-1  /bin/bash</a:t>
            </a:r>
          </a:p>
          <a:p>
            <a:pPr algn="just"/>
            <a:r>
              <a:rPr lang="en-US" sz="1400" dirty="0">
                <a:solidFill>
                  <a:schemeClr val="bg1">
                    <a:lumMod val="95000"/>
                  </a:schemeClr>
                </a:solidFill>
              </a:rPr>
              <a:t>root@</a:t>
            </a:r>
            <a:r>
              <a:rPr lang="en-US" sz="1400" dirty="0" smtClean="0">
                <a:solidFill>
                  <a:schemeClr val="bg1">
                    <a:lumMod val="95000"/>
                  </a:schemeClr>
                </a:solidFill>
              </a:rPr>
              <a:t>f5awhshswya2</a:t>
            </a:r>
            <a:r>
              <a:rPr lang="en-US" sz="1400" dirty="0">
                <a:solidFill>
                  <a:schemeClr val="bg1">
                    <a:lumMod val="95000"/>
                  </a:schemeClr>
                </a:solidFill>
              </a:rPr>
              <a:t>:/# </a:t>
            </a:r>
            <a:r>
              <a:rPr lang="en-US" sz="1400" dirty="0" smtClean="0">
                <a:solidFill>
                  <a:schemeClr val="bg1">
                    <a:lumMod val="95000"/>
                  </a:schemeClr>
                </a:solidFill>
              </a:rPr>
              <a:t>ls</a:t>
            </a:r>
          </a:p>
          <a:p>
            <a:pPr algn="just"/>
            <a:endParaRPr lang="en-US" sz="1400" b="1" dirty="0">
              <a:solidFill>
                <a:schemeClr val="bg1">
                  <a:lumMod val="95000"/>
                </a:schemeClr>
              </a:solidFill>
            </a:endParaRPr>
          </a:p>
          <a:p>
            <a:pPr algn="just"/>
            <a:endParaRPr lang="en-US" sz="1400" b="1" dirty="0">
              <a:solidFill>
                <a:schemeClr val="bg1">
                  <a:lumMod val="95000"/>
                </a:schemeClr>
              </a:solidFill>
            </a:endParaRPr>
          </a:p>
          <a:p>
            <a:pPr algn="just"/>
            <a:endParaRPr lang="en-US" sz="1400" b="1" dirty="0" smtClean="0">
              <a:solidFill>
                <a:schemeClr val="bg1">
                  <a:lumMod val="95000"/>
                </a:schemeClr>
              </a:solidFill>
            </a:endParaRPr>
          </a:p>
          <a:p>
            <a:pPr algn="just"/>
            <a:r>
              <a:rPr lang="en-US" sz="1400" dirty="0">
                <a:solidFill>
                  <a:schemeClr val="bg1">
                    <a:lumMod val="95000"/>
                  </a:schemeClr>
                </a:solidFill>
              </a:rPr>
              <a:t>root@</a:t>
            </a:r>
            <a:r>
              <a:rPr lang="en-US" sz="1400" dirty="0" smtClean="0">
                <a:solidFill>
                  <a:schemeClr val="bg1">
                    <a:lumMod val="95000"/>
                  </a:schemeClr>
                </a:solidFill>
              </a:rPr>
              <a:t>f5awhshswya2</a:t>
            </a:r>
            <a:r>
              <a:rPr lang="en-US" sz="1400" dirty="0">
                <a:solidFill>
                  <a:schemeClr val="bg1">
                    <a:lumMod val="95000"/>
                  </a:schemeClr>
                </a:solidFill>
              </a:rPr>
              <a:t>:/# ls</a:t>
            </a:r>
          </a:p>
          <a:p>
            <a:pPr algn="just"/>
            <a:endParaRPr lang="en-US" sz="1400" b="1" dirty="0">
              <a:solidFill>
                <a:schemeClr val="bg1">
                  <a:lumMod val="50000"/>
                </a:schemeClr>
              </a:solidFill>
            </a:endParaRPr>
          </a:p>
          <a:p>
            <a:pPr algn="just"/>
            <a:r>
              <a:rPr lang="en-US" sz="1400" dirty="0" err="1" smtClean="0">
                <a:solidFill>
                  <a:schemeClr val="bg1">
                    <a:lumMod val="50000"/>
                  </a:schemeClr>
                </a:solidFill>
              </a:rPr>
              <a:t>root@administrator</a:t>
            </a:r>
            <a:r>
              <a:rPr lang="en-US" sz="1400" dirty="0">
                <a:solidFill>
                  <a:schemeClr val="bg1">
                    <a:lumMod val="50000"/>
                  </a:schemeClr>
                </a:solidFill>
              </a:rPr>
              <a:t>:/home/panda/GPU2#</a:t>
            </a:r>
            <a:endParaRPr lang="en-US" sz="1400" b="1" dirty="0">
              <a:solidFill>
                <a:schemeClr val="bg1">
                  <a:lumMod val="50000"/>
                </a:schemeClr>
              </a:solidFill>
            </a:endParaRPr>
          </a:p>
        </p:txBody>
      </p:sp>
      <p:pic>
        <p:nvPicPr>
          <p:cNvPr id="15" name="Picture 14"/>
          <p:cNvPicPr>
            <a:picLocks noChangeAspect="1"/>
          </p:cNvPicPr>
          <p:nvPr/>
        </p:nvPicPr>
        <p:blipFill>
          <a:blip r:embed="rId2"/>
          <a:stretch>
            <a:fillRect/>
          </a:stretch>
        </p:blipFill>
        <p:spPr>
          <a:xfrm>
            <a:off x="279400" y="5202647"/>
            <a:ext cx="6730300" cy="328842"/>
          </a:xfrm>
          <a:prstGeom prst="rect">
            <a:avLst/>
          </a:prstGeom>
        </p:spPr>
      </p:pic>
      <p:sp>
        <p:nvSpPr>
          <p:cNvPr id="17" name="Rectangle 16"/>
          <p:cNvSpPr/>
          <p:nvPr/>
        </p:nvSpPr>
        <p:spPr>
          <a:xfrm>
            <a:off x="6375400" y="4045178"/>
            <a:ext cx="5622129" cy="1600438"/>
          </a:xfrm>
          <a:prstGeom prst="rect">
            <a:avLst/>
          </a:prstGeom>
          <a:solidFill>
            <a:schemeClr val="tx1"/>
          </a:solidFill>
        </p:spPr>
        <p:txBody>
          <a:bodyPr wrap="square">
            <a:spAutoFit/>
          </a:bodyPr>
          <a:lstStyle/>
          <a:p>
            <a:pPr algn="just"/>
            <a:r>
              <a:rPr lang="en-US" sz="1400" dirty="0" err="1" smtClean="0">
                <a:solidFill>
                  <a:schemeClr val="bg1">
                    <a:lumMod val="95000"/>
                  </a:schemeClr>
                </a:solidFill>
              </a:rPr>
              <a:t>root@administrator</a:t>
            </a:r>
            <a:r>
              <a:rPr lang="en-US" sz="1400" dirty="0">
                <a:solidFill>
                  <a:schemeClr val="bg1">
                    <a:lumMod val="95000"/>
                  </a:schemeClr>
                </a:solidFill>
              </a:rPr>
              <a:t>:/home/panda/GPU2# </a:t>
            </a:r>
            <a:r>
              <a:rPr lang="en-US" sz="1400" b="1" dirty="0" err="1">
                <a:solidFill>
                  <a:schemeClr val="bg1">
                    <a:lumMod val="95000"/>
                  </a:schemeClr>
                </a:solidFill>
              </a:rPr>
              <a:t>docker</a:t>
            </a:r>
            <a:r>
              <a:rPr lang="en-US" sz="1400" b="1" dirty="0">
                <a:solidFill>
                  <a:schemeClr val="bg1">
                    <a:lumMod val="95000"/>
                  </a:schemeClr>
                </a:solidFill>
              </a:rPr>
              <a:t> </a:t>
            </a:r>
            <a:r>
              <a:rPr lang="en-US" sz="1400" b="1" dirty="0" smtClean="0">
                <a:solidFill>
                  <a:schemeClr val="bg1">
                    <a:lumMod val="95000"/>
                  </a:schemeClr>
                </a:solidFill>
              </a:rPr>
              <a:t>rename web-1 web-2</a:t>
            </a:r>
            <a:endParaRPr lang="en-US" sz="1400" b="1" dirty="0">
              <a:solidFill>
                <a:schemeClr val="bg1">
                  <a:lumMod val="95000"/>
                </a:schemeClr>
              </a:solidFill>
            </a:endParaRPr>
          </a:p>
          <a:p>
            <a:pPr algn="just"/>
            <a:r>
              <a:rPr lang="en-US" sz="1400" dirty="0" err="1">
                <a:solidFill>
                  <a:schemeClr val="bg1">
                    <a:lumMod val="50000"/>
                  </a:schemeClr>
                </a:solidFill>
              </a:rPr>
              <a:t>root@administrator</a:t>
            </a:r>
            <a:r>
              <a:rPr lang="en-US" sz="1400" dirty="0">
                <a:solidFill>
                  <a:schemeClr val="bg1">
                    <a:lumMod val="50000"/>
                  </a:schemeClr>
                </a:solidFill>
              </a:rPr>
              <a:t>:/home/panda/GPU2</a:t>
            </a:r>
            <a:r>
              <a:rPr lang="en-US" sz="1400" dirty="0" smtClean="0">
                <a:solidFill>
                  <a:schemeClr val="bg1">
                    <a:lumMod val="50000"/>
                  </a:schemeClr>
                </a:solidFill>
              </a:rPr>
              <a:t># </a:t>
            </a:r>
            <a:r>
              <a:rPr lang="en-US" sz="1400" dirty="0" err="1" smtClean="0">
                <a:solidFill>
                  <a:schemeClr val="bg1">
                    <a:lumMod val="50000"/>
                  </a:schemeClr>
                </a:solidFill>
              </a:rPr>
              <a:t>docker</a:t>
            </a:r>
            <a:r>
              <a:rPr lang="en-US" sz="1400" dirty="0" smtClean="0">
                <a:solidFill>
                  <a:schemeClr val="bg1">
                    <a:lumMod val="50000"/>
                  </a:schemeClr>
                </a:solidFill>
              </a:rPr>
              <a:t> </a:t>
            </a:r>
            <a:r>
              <a:rPr lang="en-US" sz="1400" dirty="0" err="1" smtClean="0">
                <a:solidFill>
                  <a:schemeClr val="bg1">
                    <a:lumMod val="50000"/>
                  </a:schemeClr>
                </a:solidFill>
              </a:rPr>
              <a:t>ps</a:t>
            </a:r>
            <a:endParaRPr lang="en-US" sz="1400" dirty="0" smtClean="0">
              <a:solidFill>
                <a:schemeClr val="bg1">
                  <a:lumMod val="50000"/>
                </a:schemeClr>
              </a:solidFill>
            </a:endParaRPr>
          </a:p>
          <a:p>
            <a:pPr algn="just"/>
            <a:endParaRPr lang="en-US" sz="1400" b="1" dirty="0">
              <a:solidFill>
                <a:schemeClr val="bg1">
                  <a:lumMod val="50000"/>
                </a:schemeClr>
              </a:solidFill>
            </a:endParaRPr>
          </a:p>
          <a:p>
            <a:pPr algn="just"/>
            <a:endParaRPr lang="en-US" sz="1400" b="1" dirty="0" smtClean="0">
              <a:solidFill>
                <a:schemeClr val="bg1">
                  <a:lumMod val="50000"/>
                </a:schemeClr>
              </a:solidFill>
            </a:endParaRPr>
          </a:p>
          <a:p>
            <a:pPr algn="just"/>
            <a:endParaRPr lang="en-US" sz="1400" b="1" dirty="0">
              <a:solidFill>
                <a:schemeClr val="bg1">
                  <a:lumMod val="50000"/>
                </a:schemeClr>
              </a:solidFill>
            </a:endParaRPr>
          </a:p>
          <a:p>
            <a:pPr algn="just"/>
            <a:endParaRPr lang="en-US" sz="1400" b="1" dirty="0">
              <a:solidFill>
                <a:schemeClr val="bg1">
                  <a:lumMod val="50000"/>
                </a:schemeClr>
              </a:solidFill>
            </a:endParaRPr>
          </a:p>
          <a:p>
            <a:pPr algn="just"/>
            <a:r>
              <a:rPr lang="en-US" sz="1400" dirty="0" err="1" smtClean="0">
                <a:solidFill>
                  <a:schemeClr val="bg1">
                    <a:lumMod val="50000"/>
                  </a:schemeClr>
                </a:solidFill>
              </a:rPr>
              <a:t>root@administrator</a:t>
            </a:r>
            <a:r>
              <a:rPr lang="en-US" sz="1400" dirty="0">
                <a:solidFill>
                  <a:schemeClr val="bg1">
                    <a:lumMod val="50000"/>
                  </a:schemeClr>
                </a:solidFill>
              </a:rPr>
              <a:t>:/home/panda/GPU2#</a:t>
            </a:r>
            <a:endParaRPr lang="en-US" sz="1400" b="1" dirty="0">
              <a:solidFill>
                <a:schemeClr val="bg1">
                  <a:lumMod val="50000"/>
                </a:schemeClr>
              </a:solidFill>
            </a:endParaRPr>
          </a:p>
        </p:txBody>
      </p:sp>
      <p:sp>
        <p:nvSpPr>
          <p:cNvPr id="18" name="Rectangle 17"/>
          <p:cNvSpPr/>
          <p:nvPr/>
        </p:nvSpPr>
        <p:spPr>
          <a:xfrm>
            <a:off x="6317023" y="3199064"/>
            <a:ext cx="5427134" cy="923330"/>
          </a:xfrm>
          <a:prstGeom prst="rect">
            <a:avLst/>
          </a:prstGeom>
        </p:spPr>
        <p:txBody>
          <a:bodyPr wrap="square">
            <a:spAutoFit/>
          </a:bodyPr>
          <a:lstStyle/>
          <a:p>
            <a:pPr algn="just"/>
            <a:r>
              <a:rPr lang="en-US" dirty="0" err="1" smtClean="0">
                <a:solidFill>
                  <a:srgbClr val="002060"/>
                </a:solidFill>
              </a:rPr>
              <a:t>root@administrator</a:t>
            </a:r>
            <a:r>
              <a:rPr lang="en-US" dirty="0" smtClean="0">
                <a:solidFill>
                  <a:srgbClr val="002060"/>
                </a:solidFill>
              </a:rPr>
              <a:t>:/home/panda/GPU2# </a:t>
            </a:r>
            <a:r>
              <a:rPr lang="en-US" b="1" dirty="0" err="1">
                <a:solidFill>
                  <a:srgbClr val="00B0F0"/>
                </a:solidFill>
              </a:rPr>
              <a:t>docker</a:t>
            </a:r>
            <a:r>
              <a:rPr lang="en-US" b="1" dirty="0">
                <a:solidFill>
                  <a:srgbClr val="00B0F0"/>
                </a:solidFill>
              </a:rPr>
              <a:t> </a:t>
            </a:r>
            <a:r>
              <a:rPr lang="en-US" b="1" dirty="0" smtClean="0">
                <a:solidFill>
                  <a:srgbClr val="00B0F0"/>
                </a:solidFill>
              </a:rPr>
              <a:t>exec –it web-1  /bin/bash</a:t>
            </a:r>
          </a:p>
          <a:p>
            <a:pPr algn="just"/>
            <a:r>
              <a:rPr lang="en-US" b="1" dirty="0" smtClean="0">
                <a:solidFill>
                  <a:srgbClr val="002060"/>
                </a:solidFill>
              </a:rPr>
              <a:t>root@</a:t>
            </a:r>
            <a:r>
              <a:rPr lang="en-US" dirty="0">
                <a:solidFill>
                  <a:srgbClr val="002060"/>
                </a:solidFill>
              </a:rPr>
              <a:t> </a:t>
            </a:r>
            <a:r>
              <a:rPr lang="en-US" dirty="0" smtClean="0">
                <a:solidFill>
                  <a:srgbClr val="002060"/>
                </a:solidFill>
              </a:rPr>
              <a:t>f5awhshswya2:/# </a:t>
            </a:r>
            <a:r>
              <a:rPr lang="en-US" dirty="0" smtClean="0">
                <a:solidFill>
                  <a:srgbClr val="00B0F0"/>
                </a:solidFill>
              </a:rPr>
              <a:t>ls </a:t>
            </a:r>
            <a:endParaRPr lang="en-US" b="1" dirty="0" smtClean="0">
              <a:solidFill>
                <a:srgbClr val="00B0F0"/>
              </a:solidFill>
            </a:endParaRPr>
          </a:p>
        </p:txBody>
      </p:sp>
      <p:sp>
        <p:nvSpPr>
          <p:cNvPr id="21" name="Rectangle 20"/>
          <p:cNvSpPr/>
          <p:nvPr/>
        </p:nvSpPr>
        <p:spPr>
          <a:xfrm>
            <a:off x="6521091" y="1594455"/>
            <a:ext cx="5476437" cy="1200329"/>
          </a:xfrm>
          <a:prstGeom prst="rect">
            <a:avLst/>
          </a:prstGeom>
        </p:spPr>
        <p:txBody>
          <a:bodyPr wrap="square">
            <a:spAutoFit/>
          </a:bodyPr>
          <a:lstStyle/>
          <a:p>
            <a:pPr algn="just"/>
            <a:r>
              <a:rPr lang="en-US" dirty="0" err="1"/>
              <a:t>docker</a:t>
            </a:r>
            <a:r>
              <a:rPr lang="en-US" dirty="0"/>
              <a:t> rename &lt;</a:t>
            </a:r>
            <a:r>
              <a:rPr lang="en-US" dirty="0" err="1"/>
              <a:t>nama</a:t>
            </a:r>
            <a:r>
              <a:rPr lang="en-US" dirty="0"/>
              <a:t> container lama&gt; &lt;</a:t>
            </a:r>
            <a:r>
              <a:rPr lang="en-US" dirty="0" err="1"/>
              <a:t>nama</a:t>
            </a:r>
            <a:r>
              <a:rPr lang="en-US" dirty="0"/>
              <a:t> container </a:t>
            </a:r>
            <a:r>
              <a:rPr lang="en-US" dirty="0" err="1"/>
              <a:t>baru</a:t>
            </a:r>
            <a:r>
              <a:rPr lang="en-US" dirty="0"/>
              <a:t>&gt;</a:t>
            </a:r>
            <a:r>
              <a:rPr lang="en-US" dirty="0" err="1"/>
              <a:t>Digunakan</a:t>
            </a:r>
            <a:r>
              <a:rPr lang="en-US" dirty="0"/>
              <a:t> </a:t>
            </a:r>
            <a:r>
              <a:rPr lang="en-US" dirty="0" err="1"/>
              <a:t>untuk</a:t>
            </a:r>
            <a:r>
              <a:rPr lang="en-US" dirty="0"/>
              <a:t> </a:t>
            </a:r>
            <a:r>
              <a:rPr lang="en-US" dirty="0" err="1"/>
              <a:t>merename</a:t>
            </a:r>
            <a:r>
              <a:rPr lang="en-US" dirty="0"/>
              <a:t> </a:t>
            </a:r>
            <a:r>
              <a:rPr lang="en-US" dirty="0" err="1"/>
              <a:t>nama</a:t>
            </a:r>
            <a:r>
              <a:rPr lang="en-US" dirty="0"/>
              <a:t> container. </a:t>
            </a:r>
            <a:r>
              <a:rPr lang="en-US" dirty="0" err="1"/>
              <a:t>Disini</a:t>
            </a:r>
            <a:r>
              <a:rPr lang="en-US" dirty="0"/>
              <a:t> </a:t>
            </a:r>
            <a:r>
              <a:rPr lang="en-US" dirty="0" err="1"/>
              <a:t>kita</a:t>
            </a:r>
            <a:r>
              <a:rPr lang="en-US" dirty="0"/>
              <a:t> </a:t>
            </a:r>
            <a:r>
              <a:rPr lang="en-US" dirty="0" err="1"/>
              <a:t>akan</a:t>
            </a:r>
            <a:r>
              <a:rPr lang="en-US" dirty="0"/>
              <a:t> </a:t>
            </a:r>
            <a:r>
              <a:rPr lang="en-US" dirty="0" err="1"/>
              <a:t>mencoba</a:t>
            </a:r>
            <a:r>
              <a:rPr lang="en-US" dirty="0"/>
              <a:t> rename container web-1 </a:t>
            </a:r>
            <a:r>
              <a:rPr lang="en-US" dirty="0" err="1"/>
              <a:t>menjadi</a:t>
            </a:r>
            <a:r>
              <a:rPr lang="en-US" dirty="0"/>
              <a:t> web-2#docker rename web-1 web-2</a:t>
            </a:r>
          </a:p>
        </p:txBody>
      </p:sp>
      <p:pic>
        <p:nvPicPr>
          <p:cNvPr id="22" name="Picture 21"/>
          <p:cNvPicPr>
            <a:picLocks noChangeAspect="1"/>
          </p:cNvPicPr>
          <p:nvPr/>
        </p:nvPicPr>
        <p:blipFill>
          <a:blip r:embed="rId3"/>
          <a:stretch>
            <a:fillRect/>
          </a:stretch>
        </p:blipFill>
        <p:spPr>
          <a:xfrm>
            <a:off x="6521090" y="4741575"/>
            <a:ext cx="5476437" cy="428625"/>
          </a:xfrm>
          <a:prstGeom prst="rect">
            <a:avLst/>
          </a:prstGeom>
        </p:spPr>
      </p:pic>
    </p:spTree>
    <p:extLst>
      <p:ext uri="{BB962C8B-B14F-4D97-AF65-F5344CB8AC3E}">
        <p14:creationId xmlns:p14="http://schemas.microsoft.com/office/powerpoint/2010/main" val="1589295139"/>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63276" y="519182"/>
            <a:ext cx="1888068" cy="1116355"/>
          </a:xfrm>
        </p:spPr>
        <p:txBody>
          <a:bodyPr>
            <a:normAutofit/>
          </a:bodyPr>
          <a:lstStyle/>
          <a:p>
            <a:pPr algn="just"/>
            <a:r>
              <a:rPr lang="en-US" b="1" dirty="0" smtClean="0">
                <a:solidFill>
                  <a:srgbClr val="002060"/>
                </a:solidFill>
              </a:rPr>
              <a:t>Image</a:t>
            </a:r>
            <a:endParaRPr lang="en-US" sz="2000" b="1" dirty="0">
              <a:solidFill>
                <a:srgbClr val="002060"/>
              </a:solidFill>
            </a:endParaRPr>
          </a:p>
        </p:txBody>
      </p:sp>
      <p:sp>
        <p:nvSpPr>
          <p:cNvPr id="7" name="Rectangle 6"/>
          <p:cNvSpPr/>
          <p:nvPr/>
        </p:nvSpPr>
        <p:spPr>
          <a:xfrm>
            <a:off x="0" y="61696"/>
            <a:ext cx="2363980" cy="1015663"/>
          </a:xfrm>
          <a:prstGeom prst="rect">
            <a:avLst/>
          </a:prstGeom>
        </p:spPr>
        <p:txBody>
          <a:bodyPr wrap="none">
            <a:spAutoFit/>
          </a:bodyPr>
          <a:lstStyle/>
          <a:p>
            <a:r>
              <a:rPr lang="en-US" sz="6000" dirty="0">
                <a:solidFill>
                  <a:srgbClr val="FFC000"/>
                </a:solidFill>
              </a:rPr>
              <a:t>Docker</a:t>
            </a:r>
          </a:p>
        </p:txBody>
      </p:sp>
      <p:sp>
        <p:nvSpPr>
          <p:cNvPr id="4" name="Rectangle 3"/>
          <p:cNvSpPr/>
          <p:nvPr/>
        </p:nvSpPr>
        <p:spPr>
          <a:xfrm>
            <a:off x="178676" y="1499237"/>
            <a:ext cx="5228896" cy="4616648"/>
          </a:xfrm>
          <a:prstGeom prst="rect">
            <a:avLst/>
          </a:prstGeom>
        </p:spPr>
        <p:txBody>
          <a:bodyPr wrap="square">
            <a:spAutoFit/>
          </a:bodyPr>
          <a:lstStyle/>
          <a:p>
            <a:pPr algn="just"/>
            <a:r>
              <a:rPr lang="en-US" sz="2400" b="1" dirty="0" smtClean="0">
                <a:solidFill>
                  <a:srgbClr val="002060"/>
                </a:solidFill>
              </a:rPr>
              <a:t>Goal</a:t>
            </a:r>
          </a:p>
          <a:p>
            <a:pPr algn="just"/>
            <a:endParaRPr lang="en-US" dirty="0"/>
          </a:p>
          <a:p>
            <a:pPr marL="285750" indent="-285750" algn="just">
              <a:buFont typeface="Wingdings" panose="05000000000000000000" pitchFamily="2" charset="2"/>
              <a:buChar char="q"/>
            </a:pPr>
            <a:r>
              <a:rPr lang="en-US" dirty="0" smtClean="0"/>
              <a:t>Deploy </a:t>
            </a:r>
            <a:r>
              <a:rPr lang="en-US" dirty="0"/>
              <a:t>simple app </a:t>
            </a:r>
            <a:r>
              <a:rPr lang="en-US" dirty="0" err="1"/>
              <a:t>dengan</a:t>
            </a:r>
            <a:r>
              <a:rPr lang="en-US" dirty="0"/>
              <a:t> flask</a:t>
            </a:r>
          </a:p>
          <a:p>
            <a:pPr marL="742950" lvl="1" indent="-285750" algn="just">
              <a:buFont typeface="Arial" panose="020B0604020202020204" pitchFamily="34" charset="0"/>
              <a:buChar char="•"/>
            </a:pPr>
            <a:r>
              <a:rPr lang="en-US" dirty="0"/>
              <a:t>Isi file </a:t>
            </a:r>
            <a:r>
              <a:rPr lang="en-US" dirty="0" err="1"/>
              <a:t>main.pyfrom</a:t>
            </a:r>
            <a:r>
              <a:rPr lang="en-US" dirty="0"/>
              <a:t> flask import Flask from flask import request from flask import </a:t>
            </a:r>
            <a:r>
              <a:rPr lang="en-US" dirty="0" err="1"/>
              <a:t>render_template</a:t>
            </a:r>
            <a:r>
              <a:rPr lang="en-US" dirty="0"/>
              <a:t> sample = Flask( name ) @</a:t>
            </a:r>
            <a:r>
              <a:rPr lang="en-US" dirty="0" err="1"/>
              <a:t>sample.route</a:t>
            </a:r>
            <a:r>
              <a:rPr lang="en-US" dirty="0"/>
              <a:t>("/") </a:t>
            </a:r>
            <a:r>
              <a:rPr lang="en-US" dirty="0" err="1"/>
              <a:t>def</a:t>
            </a:r>
            <a:r>
              <a:rPr lang="en-US" dirty="0"/>
              <a:t> main(): return </a:t>
            </a:r>
            <a:r>
              <a:rPr lang="en-US" dirty="0" err="1"/>
              <a:t>render_template</a:t>
            </a:r>
            <a:r>
              <a:rPr lang="en-US" dirty="0"/>
              <a:t>("index.html") if name == " main ": </a:t>
            </a:r>
            <a:r>
              <a:rPr lang="en-US" dirty="0" err="1"/>
              <a:t>sample.run</a:t>
            </a:r>
            <a:r>
              <a:rPr lang="en-US" dirty="0"/>
              <a:t>(host="0.0.0.0", port=8080)</a:t>
            </a:r>
          </a:p>
          <a:p>
            <a:pPr marL="742950" lvl="1" indent="-285750" algn="just">
              <a:buFont typeface="Arial" panose="020B0604020202020204" pitchFamily="34" charset="0"/>
              <a:buChar char="•"/>
            </a:pPr>
            <a:r>
              <a:rPr lang="en-US" dirty="0"/>
              <a:t>Isi file index.html&lt;html&gt; &lt;head&gt; &lt;title&gt;Sample app using Flask python&lt;/title&gt; &lt;/head&gt; &lt;body&gt; &lt;h1&gt;You are calling me from {{</a:t>
            </a:r>
            <a:r>
              <a:rPr lang="en-US" dirty="0" err="1"/>
              <a:t>request.remote_addr</a:t>
            </a:r>
            <a:r>
              <a:rPr lang="en-US" dirty="0"/>
              <a:t>}}&lt;/h1&gt; &lt;/body&gt; &lt;/html&gt;</a:t>
            </a:r>
          </a:p>
          <a:p>
            <a:pPr marL="285750" indent="-285750" algn="just">
              <a:buFont typeface="Wingdings" panose="05000000000000000000" pitchFamily="2" charset="2"/>
              <a:buChar char="q"/>
            </a:pPr>
            <a:r>
              <a:rPr lang="en-US" dirty="0"/>
              <a:t>Deploy simple app </a:t>
            </a:r>
            <a:r>
              <a:rPr lang="en-US" dirty="0" err="1"/>
              <a:t>tersebut</a:t>
            </a:r>
            <a:r>
              <a:rPr lang="en-US" dirty="0"/>
              <a:t> </a:t>
            </a:r>
            <a:r>
              <a:rPr lang="en-US" dirty="0" err="1"/>
              <a:t>ke</a:t>
            </a:r>
            <a:r>
              <a:rPr lang="en-US" dirty="0"/>
              <a:t> </a:t>
            </a:r>
            <a:r>
              <a:rPr lang="en-US" dirty="0" err="1"/>
              <a:t>dalam</a:t>
            </a:r>
            <a:r>
              <a:rPr lang="en-US" dirty="0"/>
              <a:t> container</a:t>
            </a:r>
          </a:p>
        </p:txBody>
      </p:sp>
      <p:sp>
        <p:nvSpPr>
          <p:cNvPr id="10" name="Rectangle 9"/>
          <p:cNvSpPr/>
          <p:nvPr/>
        </p:nvSpPr>
        <p:spPr>
          <a:xfrm>
            <a:off x="5649310" y="395650"/>
            <a:ext cx="6237890" cy="2862322"/>
          </a:xfrm>
          <a:prstGeom prst="rect">
            <a:avLst/>
          </a:prstGeom>
        </p:spPr>
        <p:txBody>
          <a:bodyPr wrap="square">
            <a:spAutoFit/>
          </a:bodyPr>
          <a:lstStyle/>
          <a:p>
            <a:pPr algn="just"/>
            <a:r>
              <a:rPr lang="en-US" sz="2400" b="1" dirty="0" err="1" smtClean="0">
                <a:solidFill>
                  <a:srgbClr val="002060"/>
                </a:solidFill>
              </a:rPr>
              <a:t>Instalasi</a:t>
            </a:r>
            <a:endParaRPr lang="en-US" sz="2400" b="1" dirty="0" smtClean="0">
              <a:solidFill>
                <a:srgbClr val="002060"/>
              </a:solidFill>
            </a:endParaRPr>
          </a:p>
          <a:p>
            <a:pPr algn="just"/>
            <a:endParaRPr lang="en-US" sz="2400" b="1" dirty="0" smtClean="0">
              <a:solidFill>
                <a:srgbClr val="002060"/>
              </a:solidFill>
            </a:endParaRPr>
          </a:p>
          <a:p>
            <a:pPr marL="342900" indent="-342900" algn="just">
              <a:buFont typeface="+mj-lt"/>
              <a:buAutoNum type="arabicPeriod"/>
            </a:pPr>
            <a:r>
              <a:rPr lang="en-US" dirty="0" err="1"/>
              <a:t>Lakukan</a:t>
            </a:r>
            <a:r>
              <a:rPr lang="en-US" dirty="0"/>
              <a:t> update </a:t>
            </a:r>
            <a:r>
              <a:rPr lang="en-US" dirty="0" err="1"/>
              <a:t>pada</a:t>
            </a:r>
            <a:r>
              <a:rPr lang="en-US" dirty="0"/>
              <a:t> server </a:t>
            </a:r>
            <a:r>
              <a:rPr lang="en-US" dirty="0" err="1"/>
              <a:t>dan</a:t>
            </a:r>
            <a:r>
              <a:rPr lang="en-US" dirty="0"/>
              <a:t> </a:t>
            </a:r>
            <a:r>
              <a:rPr lang="en-US" dirty="0" err="1"/>
              <a:t>instal</a:t>
            </a:r>
            <a:r>
              <a:rPr lang="en-US" dirty="0"/>
              <a:t> package docker.</a:t>
            </a:r>
            <a:r>
              <a:rPr lang="en-US" dirty="0" err="1"/>
              <a:t>io</a:t>
            </a:r>
            <a:r>
              <a:rPr lang="en-US" dirty="0"/>
              <a:t>.$</a:t>
            </a:r>
            <a:r>
              <a:rPr lang="en-US" dirty="0" err="1"/>
              <a:t>sudo</a:t>
            </a:r>
            <a:r>
              <a:rPr lang="en-US" dirty="0"/>
              <a:t> apt update -y &amp;&amp; </a:t>
            </a:r>
            <a:r>
              <a:rPr lang="en-US" dirty="0" err="1"/>
              <a:t>sudo</a:t>
            </a:r>
            <a:r>
              <a:rPr lang="en-US" dirty="0"/>
              <a:t> apt install docker.io</a:t>
            </a:r>
          </a:p>
          <a:p>
            <a:pPr marL="342900" indent="-342900" algn="just">
              <a:buFont typeface="+mj-lt"/>
              <a:buAutoNum type="arabicPeriod"/>
            </a:pPr>
            <a:r>
              <a:rPr lang="en-US" dirty="0" err="1"/>
              <a:t>Instal</a:t>
            </a:r>
            <a:r>
              <a:rPr lang="en-US" dirty="0"/>
              <a:t> </a:t>
            </a:r>
            <a:r>
              <a:rPr lang="en-US" dirty="0" err="1"/>
              <a:t>juga</a:t>
            </a:r>
            <a:r>
              <a:rPr lang="en-US" dirty="0"/>
              <a:t> package virtual environment python3 </a:t>
            </a:r>
            <a:r>
              <a:rPr lang="en-US" dirty="0" err="1"/>
              <a:t>untuk</a:t>
            </a:r>
            <a:r>
              <a:rPr lang="en-US" dirty="0"/>
              <a:t> </a:t>
            </a:r>
            <a:r>
              <a:rPr lang="en-US" dirty="0" err="1"/>
              <a:t>uji</a:t>
            </a:r>
            <a:r>
              <a:rPr lang="en-US" dirty="0"/>
              <a:t> </a:t>
            </a:r>
            <a:r>
              <a:rPr lang="en-US" dirty="0" err="1"/>
              <a:t>coba</a:t>
            </a:r>
            <a:r>
              <a:rPr lang="en-US" dirty="0"/>
              <a:t> </a:t>
            </a:r>
            <a:r>
              <a:rPr lang="en-US" dirty="0" err="1"/>
              <a:t>menjalankan</a:t>
            </a:r>
            <a:r>
              <a:rPr lang="en-US" dirty="0"/>
              <a:t> </a:t>
            </a:r>
            <a:r>
              <a:rPr lang="en-US" dirty="0" err="1"/>
              <a:t>aplikasi</a:t>
            </a:r>
            <a:r>
              <a:rPr lang="en-US" dirty="0"/>
              <a:t> </a:t>
            </a:r>
            <a:r>
              <a:rPr lang="en-US" dirty="0" err="1"/>
              <a:t>webnya</a:t>
            </a:r>
            <a:r>
              <a:rPr lang="en-US" dirty="0"/>
              <a:t>.$</a:t>
            </a:r>
            <a:r>
              <a:rPr lang="en-US" dirty="0" err="1"/>
              <a:t>sudo</a:t>
            </a:r>
            <a:r>
              <a:rPr lang="en-US" dirty="0"/>
              <a:t> apt install python3.8-venv -y</a:t>
            </a:r>
          </a:p>
          <a:p>
            <a:pPr marL="342900" indent="-342900" algn="just">
              <a:buFont typeface="+mj-lt"/>
              <a:buAutoNum type="arabicPeriod"/>
            </a:pPr>
            <a:r>
              <a:rPr lang="en-US" dirty="0"/>
              <a:t>p</a:t>
            </a:r>
          </a:p>
          <a:p>
            <a:pPr algn="just"/>
            <a:endParaRPr lang="en-US" sz="2400" b="1" dirty="0" smtClean="0">
              <a:solidFill>
                <a:srgbClr val="002060"/>
              </a:solidFill>
            </a:endParaRPr>
          </a:p>
        </p:txBody>
      </p:sp>
    </p:spTree>
    <p:extLst>
      <p:ext uri="{BB962C8B-B14F-4D97-AF65-F5344CB8AC3E}">
        <p14:creationId xmlns:p14="http://schemas.microsoft.com/office/powerpoint/2010/main" val="8680965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63276" y="519182"/>
            <a:ext cx="1888068" cy="1116355"/>
          </a:xfrm>
        </p:spPr>
        <p:txBody>
          <a:bodyPr>
            <a:normAutofit/>
          </a:bodyPr>
          <a:lstStyle/>
          <a:p>
            <a:pPr algn="just"/>
            <a:r>
              <a:rPr lang="en-US" b="1" dirty="0" smtClean="0">
                <a:solidFill>
                  <a:srgbClr val="002060"/>
                </a:solidFill>
              </a:rPr>
              <a:t>Image</a:t>
            </a:r>
            <a:endParaRPr lang="en-US" sz="2000" b="1" dirty="0">
              <a:solidFill>
                <a:srgbClr val="002060"/>
              </a:solidFill>
            </a:endParaRPr>
          </a:p>
        </p:txBody>
      </p:sp>
      <p:sp>
        <p:nvSpPr>
          <p:cNvPr id="7" name="Rectangle 6"/>
          <p:cNvSpPr/>
          <p:nvPr/>
        </p:nvSpPr>
        <p:spPr>
          <a:xfrm>
            <a:off x="0" y="61696"/>
            <a:ext cx="2363980" cy="1015663"/>
          </a:xfrm>
          <a:prstGeom prst="rect">
            <a:avLst/>
          </a:prstGeom>
        </p:spPr>
        <p:txBody>
          <a:bodyPr wrap="none">
            <a:spAutoFit/>
          </a:bodyPr>
          <a:lstStyle/>
          <a:p>
            <a:r>
              <a:rPr lang="en-US" sz="6000" dirty="0">
                <a:solidFill>
                  <a:srgbClr val="FFC000"/>
                </a:solidFill>
              </a:rPr>
              <a:t>Docker</a:t>
            </a:r>
          </a:p>
        </p:txBody>
      </p:sp>
      <p:sp>
        <p:nvSpPr>
          <p:cNvPr id="8" name="Rectangle 7"/>
          <p:cNvSpPr/>
          <p:nvPr/>
        </p:nvSpPr>
        <p:spPr>
          <a:xfrm>
            <a:off x="208295" y="1533465"/>
            <a:ext cx="5686097" cy="5324535"/>
          </a:xfrm>
          <a:prstGeom prst="rect">
            <a:avLst/>
          </a:prstGeom>
        </p:spPr>
        <p:txBody>
          <a:bodyPr wrap="square">
            <a:spAutoFit/>
          </a:bodyPr>
          <a:lstStyle/>
          <a:p>
            <a:pPr fontAlgn="base"/>
            <a:r>
              <a:rPr lang="en-US" b="1" dirty="0" err="1">
                <a:solidFill>
                  <a:srgbClr val="002060"/>
                </a:solidFill>
              </a:rPr>
              <a:t>Konfigurasi</a:t>
            </a:r>
            <a:r>
              <a:rPr lang="en-US" b="1" dirty="0">
                <a:solidFill>
                  <a:srgbClr val="002060"/>
                </a:solidFill>
              </a:rPr>
              <a:t> Sample App</a:t>
            </a:r>
          </a:p>
          <a:p>
            <a:pPr marL="342900" indent="-342900" algn="just">
              <a:buFont typeface="+mj-lt"/>
              <a:buAutoNum type="arabicParenR"/>
            </a:pPr>
            <a:r>
              <a:rPr lang="en-US" sz="1400" b="1" dirty="0" err="1" smtClean="0"/>
              <a:t>Pertama</a:t>
            </a:r>
            <a:r>
              <a:rPr lang="en-US" sz="1400" b="1" dirty="0" smtClean="0"/>
              <a:t> </a:t>
            </a:r>
            <a:r>
              <a:rPr lang="en-US" sz="1400" b="1" dirty="0" err="1"/>
              <a:t>kita</a:t>
            </a:r>
            <a:r>
              <a:rPr lang="en-US" sz="1400" b="1" dirty="0"/>
              <a:t> </a:t>
            </a:r>
            <a:r>
              <a:rPr lang="en-US" sz="1400" b="1" dirty="0" err="1"/>
              <a:t>akan</a:t>
            </a:r>
            <a:r>
              <a:rPr lang="en-US" sz="1400" b="1" dirty="0"/>
              <a:t> </a:t>
            </a:r>
            <a:r>
              <a:rPr lang="en-US" sz="1400" b="1" dirty="0" err="1"/>
              <a:t>membuat</a:t>
            </a:r>
            <a:r>
              <a:rPr lang="en-US" sz="1400" b="1" dirty="0"/>
              <a:t> folder </a:t>
            </a:r>
            <a:r>
              <a:rPr lang="en-US" sz="1400" b="1" dirty="0" err="1"/>
              <a:t>untuk</a:t>
            </a:r>
            <a:r>
              <a:rPr lang="en-US" sz="1400" b="1" dirty="0"/>
              <a:t> </a:t>
            </a:r>
            <a:r>
              <a:rPr lang="en-US" sz="1400" b="1" dirty="0" err="1"/>
              <a:t>menyimpan</a:t>
            </a:r>
            <a:r>
              <a:rPr lang="en-US" sz="1400" b="1" dirty="0"/>
              <a:t> file </a:t>
            </a:r>
            <a:r>
              <a:rPr lang="en-US" sz="1400" b="1" dirty="0" err="1"/>
              <a:t>konfigurasi</a:t>
            </a:r>
            <a:r>
              <a:rPr lang="en-US" sz="1400" b="1" dirty="0"/>
              <a:t> simple app yang </a:t>
            </a:r>
            <a:r>
              <a:rPr lang="en-US" sz="1400" b="1" dirty="0" err="1"/>
              <a:t>akan</a:t>
            </a:r>
            <a:r>
              <a:rPr lang="en-US" sz="1400" b="1" dirty="0"/>
              <a:t> </a:t>
            </a:r>
            <a:r>
              <a:rPr lang="en-US" sz="1400" b="1" dirty="0" err="1"/>
              <a:t>kita</a:t>
            </a:r>
            <a:r>
              <a:rPr lang="en-US" sz="1400" b="1" dirty="0"/>
              <a:t> </a:t>
            </a:r>
            <a:r>
              <a:rPr lang="en-US" sz="1400" b="1" dirty="0" err="1"/>
              <a:t>buat</a:t>
            </a:r>
            <a:r>
              <a:rPr lang="en-US" sz="1400" b="1" dirty="0"/>
              <a:t>.$</a:t>
            </a:r>
            <a:r>
              <a:rPr lang="en-US" sz="1400" b="1" dirty="0" err="1"/>
              <a:t>sudo</a:t>
            </a:r>
            <a:r>
              <a:rPr lang="en-US" sz="1400" b="1" dirty="0"/>
              <a:t> </a:t>
            </a:r>
            <a:r>
              <a:rPr lang="en-US" sz="1400" b="1" dirty="0" err="1"/>
              <a:t>mkdir</a:t>
            </a:r>
            <a:r>
              <a:rPr lang="en-US" sz="1400" b="1" dirty="0"/>
              <a:t> -p /flask/sample-app/templates</a:t>
            </a:r>
          </a:p>
          <a:p>
            <a:pPr marL="342900" indent="-342900" algn="just">
              <a:buFont typeface="+mj-lt"/>
              <a:buAutoNum type="arabicParenR"/>
            </a:pPr>
            <a:r>
              <a:rPr lang="en-US" sz="1400" b="1" dirty="0" err="1"/>
              <a:t>Masuk</a:t>
            </a:r>
            <a:r>
              <a:rPr lang="en-US" sz="1400" b="1" dirty="0"/>
              <a:t> </a:t>
            </a:r>
            <a:r>
              <a:rPr lang="en-US" sz="1400" b="1" dirty="0" err="1"/>
              <a:t>ke</a:t>
            </a:r>
            <a:r>
              <a:rPr lang="en-US" sz="1400" b="1" dirty="0"/>
              <a:t> </a:t>
            </a:r>
            <a:r>
              <a:rPr lang="en-US" sz="1400" b="1" dirty="0" err="1"/>
              <a:t>direktori</a:t>
            </a:r>
            <a:r>
              <a:rPr lang="en-US" sz="1400" b="1" dirty="0"/>
              <a:t> yang </a:t>
            </a:r>
            <a:r>
              <a:rPr lang="en-US" sz="1400" b="1" dirty="0" err="1"/>
              <a:t>sudah</a:t>
            </a:r>
            <a:r>
              <a:rPr lang="en-US" sz="1400" b="1" dirty="0"/>
              <a:t> </a:t>
            </a:r>
            <a:r>
              <a:rPr lang="en-US" sz="1400" b="1" dirty="0" err="1"/>
              <a:t>dibuat</a:t>
            </a:r>
            <a:r>
              <a:rPr lang="en-US" sz="1400" b="1" dirty="0"/>
              <a:t>.$cd /flask/sample-app</a:t>
            </a:r>
          </a:p>
          <a:p>
            <a:pPr marL="342900" indent="-342900" algn="just">
              <a:buFont typeface="+mj-lt"/>
              <a:buAutoNum type="arabicParenR"/>
            </a:pPr>
            <a:r>
              <a:rPr lang="en-US" sz="1400" b="1" dirty="0" err="1"/>
              <a:t>Buatlah</a:t>
            </a:r>
            <a:r>
              <a:rPr lang="en-US" sz="1400" b="1" dirty="0"/>
              <a:t> virtual environment python3 </a:t>
            </a:r>
            <a:r>
              <a:rPr lang="en-US" sz="1400" b="1" dirty="0" err="1"/>
              <a:t>baru</a:t>
            </a:r>
            <a:r>
              <a:rPr lang="en-US" sz="1400" b="1" dirty="0"/>
              <a:t> </a:t>
            </a:r>
            <a:r>
              <a:rPr lang="en-US" sz="1400" b="1" dirty="0" err="1"/>
              <a:t>pada</a:t>
            </a:r>
            <a:r>
              <a:rPr lang="en-US" sz="1400" b="1" dirty="0"/>
              <a:t> </a:t>
            </a:r>
            <a:r>
              <a:rPr lang="en-US" sz="1400" b="1" dirty="0" err="1"/>
              <a:t>direktori</a:t>
            </a:r>
            <a:r>
              <a:rPr lang="en-US" sz="1400" b="1" dirty="0"/>
              <a:t> </a:t>
            </a:r>
            <a:r>
              <a:rPr lang="en-US" sz="1400" b="1" dirty="0" err="1"/>
              <a:t>tempat</a:t>
            </a:r>
            <a:r>
              <a:rPr lang="en-US" sz="1400" b="1" dirty="0"/>
              <a:t> </a:t>
            </a:r>
            <a:r>
              <a:rPr lang="en-US" sz="1400" b="1" dirty="0" err="1"/>
              <a:t>kita</a:t>
            </a:r>
            <a:r>
              <a:rPr lang="en-US" sz="1400" b="1" dirty="0"/>
              <a:t> </a:t>
            </a:r>
            <a:r>
              <a:rPr lang="en-US" sz="1400" b="1" dirty="0" err="1"/>
              <a:t>menyimpan</a:t>
            </a:r>
            <a:r>
              <a:rPr lang="en-US" sz="1400" b="1" dirty="0"/>
              <a:t> </a:t>
            </a:r>
            <a:r>
              <a:rPr lang="en-US" sz="1400" b="1" dirty="0" err="1"/>
              <a:t>konfigurasi</a:t>
            </a:r>
            <a:r>
              <a:rPr lang="en-US" sz="1400" b="1" dirty="0"/>
              <a:t> simple app.$</a:t>
            </a:r>
            <a:r>
              <a:rPr lang="en-US" sz="1400" b="1" dirty="0" err="1"/>
              <a:t>sudo</a:t>
            </a:r>
            <a:r>
              <a:rPr lang="en-US" sz="1400" b="1" dirty="0"/>
              <a:t> python3 -m </a:t>
            </a:r>
            <a:r>
              <a:rPr lang="en-US" sz="1400" b="1" dirty="0" err="1"/>
              <a:t>venv</a:t>
            </a:r>
            <a:r>
              <a:rPr lang="en-US" sz="1400" b="1" dirty="0"/>
              <a:t> /flask/sample-app</a:t>
            </a:r>
          </a:p>
          <a:p>
            <a:pPr marL="342900" indent="-342900" algn="just">
              <a:buFont typeface="+mj-lt"/>
              <a:buAutoNum type="arabicParenR"/>
            </a:pPr>
            <a:r>
              <a:rPr lang="en-US" sz="1400" b="1" dirty="0" err="1"/>
              <a:t>Buatlah</a:t>
            </a:r>
            <a:r>
              <a:rPr lang="en-US" sz="1400" b="1" dirty="0"/>
              <a:t> file main.py </a:t>
            </a:r>
            <a:r>
              <a:rPr lang="en-US" sz="1400" b="1" dirty="0" err="1"/>
              <a:t>dan</a:t>
            </a:r>
            <a:r>
              <a:rPr lang="en-US" sz="1400" b="1" dirty="0"/>
              <a:t> </a:t>
            </a:r>
            <a:r>
              <a:rPr lang="en-US" sz="1400" b="1" dirty="0" err="1"/>
              <a:t>isikan</a:t>
            </a:r>
            <a:r>
              <a:rPr lang="en-US" sz="1400" b="1" dirty="0"/>
              <a:t> </a:t>
            </a:r>
            <a:r>
              <a:rPr lang="en-US" sz="1400" b="1" dirty="0" err="1"/>
              <a:t>sesuai</a:t>
            </a:r>
            <a:r>
              <a:rPr lang="en-US" sz="1400" b="1" dirty="0"/>
              <a:t> </a:t>
            </a:r>
            <a:r>
              <a:rPr lang="en-US" sz="1400" b="1" dirty="0" err="1"/>
              <a:t>dari</a:t>
            </a:r>
            <a:r>
              <a:rPr lang="en-US" sz="1400" b="1" dirty="0"/>
              <a:t> </a:t>
            </a:r>
            <a:r>
              <a:rPr lang="en-US" sz="1400" b="1" dirty="0" err="1"/>
              <a:t>ketentuan</a:t>
            </a:r>
            <a:r>
              <a:rPr lang="en-US" sz="1400" b="1" dirty="0"/>
              <a:t> goals.$</a:t>
            </a:r>
            <a:r>
              <a:rPr lang="en-US" sz="1400" b="1" dirty="0" err="1"/>
              <a:t>sudo</a:t>
            </a:r>
            <a:r>
              <a:rPr lang="en-US" sz="1400" b="1" dirty="0"/>
              <a:t> vim main.py -----Isi File </a:t>
            </a:r>
            <a:r>
              <a:rPr lang="en-US" sz="1400" b="1" dirty="0" err="1"/>
              <a:t>dengan</a:t>
            </a:r>
            <a:r>
              <a:rPr lang="en-US" sz="1400" b="1" dirty="0"/>
              <a:t> </a:t>
            </a:r>
            <a:r>
              <a:rPr lang="en-US" sz="1400" b="1" dirty="0" err="1"/>
              <a:t>ketentuan</a:t>
            </a:r>
            <a:r>
              <a:rPr lang="en-US" sz="1400" b="1" dirty="0"/>
              <a:t> Goals----- from flask import Flask from flask import request from flask import </a:t>
            </a:r>
            <a:r>
              <a:rPr lang="en-US" sz="1400" b="1" dirty="0" err="1"/>
              <a:t>render_template</a:t>
            </a:r>
            <a:r>
              <a:rPr lang="en-US" sz="1400" b="1" dirty="0"/>
              <a:t> sample = Flask(__name__) @</a:t>
            </a:r>
            <a:r>
              <a:rPr lang="en-US" sz="1400" b="1" dirty="0" err="1"/>
              <a:t>sample.route</a:t>
            </a:r>
            <a:r>
              <a:rPr lang="en-US" sz="1400" b="1" dirty="0"/>
              <a:t>("/") </a:t>
            </a:r>
            <a:r>
              <a:rPr lang="en-US" sz="1400" b="1" dirty="0" err="1"/>
              <a:t>def</a:t>
            </a:r>
            <a:r>
              <a:rPr lang="en-US" sz="1400" b="1" dirty="0"/>
              <a:t> main(): return </a:t>
            </a:r>
            <a:r>
              <a:rPr lang="en-US" sz="1400" b="1" dirty="0" err="1"/>
              <a:t>render_template</a:t>
            </a:r>
            <a:r>
              <a:rPr lang="en-US" sz="1400" b="1" dirty="0"/>
              <a:t>("index.html") if __name__ == "__main__": </a:t>
            </a:r>
            <a:r>
              <a:rPr lang="en-US" sz="1400" b="1" dirty="0" err="1"/>
              <a:t>sample.run</a:t>
            </a:r>
            <a:r>
              <a:rPr lang="en-US" sz="1400" b="1" dirty="0"/>
              <a:t>(host="0.0.0.0", port=8080)</a:t>
            </a:r>
          </a:p>
          <a:p>
            <a:pPr marL="342900" indent="-342900" algn="just">
              <a:buFont typeface="+mj-lt"/>
              <a:buAutoNum type="arabicParenR"/>
            </a:pPr>
            <a:r>
              <a:rPr lang="en-US" sz="1400" b="1" dirty="0" err="1"/>
              <a:t>Buatlah</a:t>
            </a:r>
            <a:r>
              <a:rPr lang="en-US" sz="1400" b="1" dirty="0"/>
              <a:t> file index.html </a:t>
            </a:r>
            <a:r>
              <a:rPr lang="en-US" sz="1400" b="1" dirty="0" err="1"/>
              <a:t>dan</a:t>
            </a:r>
            <a:r>
              <a:rPr lang="en-US" sz="1400" b="1" dirty="0"/>
              <a:t> </a:t>
            </a:r>
            <a:r>
              <a:rPr lang="en-US" sz="1400" b="1" dirty="0" err="1"/>
              <a:t>isikan</a:t>
            </a:r>
            <a:r>
              <a:rPr lang="en-US" sz="1400" b="1" dirty="0"/>
              <a:t> </a:t>
            </a:r>
            <a:r>
              <a:rPr lang="en-US" sz="1400" b="1" dirty="0" err="1"/>
              <a:t>dengan</a:t>
            </a:r>
            <a:r>
              <a:rPr lang="en-US" sz="1400" b="1" dirty="0"/>
              <a:t> source code </a:t>
            </a:r>
            <a:r>
              <a:rPr lang="en-US" sz="1400" b="1" dirty="0" err="1"/>
              <a:t>sesuai</a:t>
            </a:r>
            <a:r>
              <a:rPr lang="en-US" sz="1400" b="1" dirty="0"/>
              <a:t> </a:t>
            </a:r>
            <a:r>
              <a:rPr lang="en-US" sz="1400" b="1" dirty="0" err="1"/>
              <a:t>dengan</a:t>
            </a:r>
            <a:r>
              <a:rPr lang="en-US" sz="1400" b="1" dirty="0"/>
              <a:t> </a:t>
            </a:r>
            <a:r>
              <a:rPr lang="en-US" sz="1400" b="1" dirty="0" err="1"/>
              <a:t>ketentuan</a:t>
            </a:r>
            <a:r>
              <a:rPr lang="en-US" sz="1400" b="1" dirty="0"/>
              <a:t>.$</a:t>
            </a:r>
            <a:r>
              <a:rPr lang="en-US" sz="1400" b="1" dirty="0" err="1"/>
              <a:t>sudo</a:t>
            </a:r>
            <a:r>
              <a:rPr lang="en-US" sz="1400" b="1" dirty="0"/>
              <a:t> vim templates/index.html -----Isi File </a:t>
            </a:r>
            <a:r>
              <a:rPr lang="en-US" sz="1400" b="1" dirty="0" err="1"/>
              <a:t>dengan</a:t>
            </a:r>
            <a:r>
              <a:rPr lang="en-US" sz="1400" b="1" dirty="0"/>
              <a:t> </a:t>
            </a:r>
            <a:r>
              <a:rPr lang="en-US" sz="1400" b="1" dirty="0" err="1"/>
              <a:t>ketentuan</a:t>
            </a:r>
            <a:r>
              <a:rPr lang="en-US" sz="1400" b="1" dirty="0"/>
              <a:t> Goals---- &lt;html&gt; &lt;head&gt; &lt;title&gt;Sample app using Flask python&lt;/title&gt; &lt;/head&gt; &lt;body&gt; &lt;h1&gt;You are calling me from {{</a:t>
            </a:r>
            <a:r>
              <a:rPr lang="en-US" sz="1400" b="1" dirty="0" err="1"/>
              <a:t>request.remote_addr</a:t>
            </a:r>
            <a:r>
              <a:rPr lang="en-US" sz="1400" b="1" dirty="0"/>
              <a:t>}}&lt;/h1&gt; &lt;/body&gt; &lt;/html&gt;</a:t>
            </a:r>
          </a:p>
          <a:p>
            <a:pPr marL="342900" indent="-342900" algn="just">
              <a:buFont typeface="+mj-lt"/>
              <a:buAutoNum type="arabicParenR"/>
            </a:pPr>
            <a:r>
              <a:rPr lang="en-US" sz="1400" b="1" dirty="0" err="1"/>
              <a:t>Masuk</a:t>
            </a:r>
            <a:r>
              <a:rPr lang="en-US" sz="1400" b="1" dirty="0"/>
              <a:t> </a:t>
            </a:r>
            <a:r>
              <a:rPr lang="en-US" sz="1400" b="1" dirty="0" err="1"/>
              <a:t>sebagai</a:t>
            </a:r>
            <a:r>
              <a:rPr lang="en-US" sz="1400" b="1" dirty="0"/>
              <a:t> user </a:t>
            </a:r>
            <a:r>
              <a:rPr lang="en-US" sz="1400" b="1" dirty="0" err="1"/>
              <a:t>sudo</a:t>
            </a:r>
            <a:r>
              <a:rPr lang="en-US" sz="1400" b="1" dirty="0"/>
              <a:t> </a:t>
            </a:r>
            <a:r>
              <a:rPr lang="en-US" sz="1400" b="1" dirty="0" err="1"/>
              <a:t>dan</a:t>
            </a:r>
            <a:r>
              <a:rPr lang="en-US" sz="1400" b="1" dirty="0"/>
              <a:t> </a:t>
            </a:r>
            <a:r>
              <a:rPr lang="en-US" sz="1400" b="1" dirty="0" err="1"/>
              <a:t>jalankan</a:t>
            </a:r>
            <a:r>
              <a:rPr lang="en-US" sz="1400" b="1" dirty="0"/>
              <a:t> </a:t>
            </a:r>
            <a:r>
              <a:rPr lang="en-US" sz="1400" b="1" dirty="0" err="1"/>
              <a:t>perintah</a:t>
            </a:r>
            <a:r>
              <a:rPr lang="en-US" sz="1400" b="1" dirty="0"/>
              <a:t> </a:t>
            </a:r>
            <a:r>
              <a:rPr lang="en-US" sz="1400" b="1" dirty="0" err="1"/>
              <a:t>untuk</a:t>
            </a:r>
            <a:r>
              <a:rPr lang="en-US" sz="1400" b="1" dirty="0"/>
              <a:t> </a:t>
            </a:r>
            <a:r>
              <a:rPr lang="en-US" sz="1400" b="1" dirty="0" err="1"/>
              <a:t>mengaktifkan</a:t>
            </a:r>
            <a:r>
              <a:rPr lang="en-US" sz="1400" b="1" dirty="0"/>
              <a:t> virtual environment python yang </a:t>
            </a:r>
            <a:r>
              <a:rPr lang="en-US" sz="1400" b="1" dirty="0" err="1"/>
              <a:t>tadinya</a:t>
            </a:r>
            <a:r>
              <a:rPr lang="en-US" sz="1400" b="1" dirty="0"/>
              <a:t> </a:t>
            </a:r>
            <a:r>
              <a:rPr lang="en-US" sz="1400" b="1" dirty="0" err="1"/>
              <a:t>telah</a:t>
            </a:r>
            <a:r>
              <a:rPr lang="en-US" sz="1400" b="1" dirty="0"/>
              <a:t> </a:t>
            </a:r>
            <a:r>
              <a:rPr lang="en-US" sz="1400" b="1" dirty="0" err="1"/>
              <a:t>dibuat</a:t>
            </a:r>
            <a:r>
              <a:rPr lang="en-US" sz="1400" b="1" dirty="0"/>
              <a:t>.$</a:t>
            </a:r>
            <a:r>
              <a:rPr lang="en-US" sz="1400" b="1" dirty="0" err="1"/>
              <a:t>sudo</a:t>
            </a:r>
            <a:r>
              <a:rPr lang="en-US" sz="1400" b="1" dirty="0"/>
              <a:t> </a:t>
            </a:r>
            <a:r>
              <a:rPr lang="en-US" sz="1400" b="1" dirty="0" err="1"/>
              <a:t>su</a:t>
            </a:r>
            <a:r>
              <a:rPr lang="en-US" sz="1400" b="1" dirty="0"/>
              <a:t> #. bin/activate</a:t>
            </a:r>
          </a:p>
          <a:p>
            <a:pPr marL="342900" indent="-342900" algn="just">
              <a:buFont typeface="+mj-lt"/>
              <a:buAutoNum type="arabicParenR"/>
            </a:pPr>
            <a:r>
              <a:rPr lang="en-US" sz="1400" b="1" dirty="0" err="1"/>
              <a:t>Sekarang</a:t>
            </a:r>
            <a:r>
              <a:rPr lang="en-US" sz="1400" b="1" dirty="0"/>
              <a:t> </a:t>
            </a:r>
            <a:r>
              <a:rPr lang="en-US" sz="1400" b="1" dirty="0" err="1"/>
              <a:t>kita</a:t>
            </a:r>
            <a:r>
              <a:rPr lang="en-US" sz="1400" b="1" dirty="0"/>
              <a:t> </a:t>
            </a:r>
            <a:r>
              <a:rPr lang="en-US" sz="1400" b="1" dirty="0" err="1"/>
              <a:t>instal</a:t>
            </a:r>
            <a:r>
              <a:rPr lang="en-US" sz="1400" b="1" dirty="0"/>
              <a:t> Flask </a:t>
            </a:r>
            <a:r>
              <a:rPr lang="en-US" sz="1400" b="1" dirty="0" err="1"/>
              <a:t>menggunakan</a:t>
            </a:r>
            <a:r>
              <a:rPr lang="en-US" sz="1400" b="1" dirty="0"/>
              <a:t> </a:t>
            </a:r>
            <a:r>
              <a:rPr lang="en-US" sz="1400" b="1" dirty="0" err="1"/>
              <a:t>perintah</a:t>
            </a:r>
            <a:r>
              <a:rPr lang="en-US" sz="1400" b="1" dirty="0"/>
              <a:t> pip.#pip3 install Flask</a:t>
            </a:r>
            <a:endParaRPr lang="en-US" sz="1400" b="1" dirty="0" smtClean="0"/>
          </a:p>
        </p:txBody>
      </p:sp>
      <p:sp>
        <p:nvSpPr>
          <p:cNvPr id="9" name="Rectangle 8"/>
          <p:cNvSpPr/>
          <p:nvPr/>
        </p:nvSpPr>
        <p:spPr>
          <a:xfrm>
            <a:off x="5954110" y="304054"/>
            <a:ext cx="5838497" cy="5816977"/>
          </a:xfrm>
          <a:prstGeom prst="rect">
            <a:avLst/>
          </a:prstGeom>
        </p:spPr>
        <p:txBody>
          <a:bodyPr wrap="square">
            <a:spAutoFit/>
          </a:bodyPr>
          <a:lstStyle/>
          <a:p>
            <a:pPr fontAlgn="base"/>
            <a:r>
              <a:rPr lang="en-US" b="1" dirty="0" err="1" smtClean="0">
                <a:solidFill>
                  <a:srgbClr val="002060"/>
                </a:solidFill>
              </a:rPr>
              <a:t>Pengujian</a:t>
            </a:r>
            <a:endParaRPr lang="en-US" b="1" dirty="0" smtClean="0">
              <a:solidFill>
                <a:srgbClr val="002060"/>
              </a:solidFill>
            </a:endParaRPr>
          </a:p>
          <a:p>
            <a:pPr fontAlgn="base"/>
            <a:endParaRPr lang="en-US" b="1" dirty="0">
              <a:solidFill>
                <a:srgbClr val="002060"/>
              </a:solidFill>
            </a:endParaRPr>
          </a:p>
          <a:p>
            <a:pPr marL="342900" indent="-342900" algn="just">
              <a:buFont typeface="+mj-lt"/>
              <a:buAutoNum type="arabicPeriod"/>
            </a:pPr>
            <a:r>
              <a:rPr lang="en-US" sz="1400" b="1" dirty="0" err="1" smtClean="0"/>
              <a:t>Sekarang</a:t>
            </a:r>
            <a:r>
              <a:rPr lang="en-US" sz="1400" b="1" dirty="0" smtClean="0"/>
              <a:t> </a:t>
            </a:r>
            <a:r>
              <a:rPr lang="en-US" sz="1400" b="1" dirty="0" err="1"/>
              <a:t>kita</a:t>
            </a:r>
            <a:r>
              <a:rPr lang="en-US" sz="1400" b="1" dirty="0"/>
              <a:t> </a:t>
            </a:r>
            <a:r>
              <a:rPr lang="en-US" sz="1400" b="1" dirty="0" err="1"/>
              <a:t>akan</a:t>
            </a:r>
            <a:r>
              <a:rPr lang="en-US" sz="1400" b="1" dirty="0"/>
              <a:t> </a:t>
            </a:r>
            <a:r>
              <a:rPr lang="en-US" sz="1400" b="1" dirty="0" err="1"/>
              <a:t>menguji</a:t>
            </a:r>
            <a:r>
              <a:rPr lang="en-US" sz="1400" b="1" dirty="0"/>
              <a:t> </a:t>
            </a:r>
            <a:r>
              <a:rPr lang="en-US" sz="1400" b="1" dirty="0" err="1"/>
              <a:t>coba</a:t>
            </a:r>
            <a:r>
              <a:rPr lang="en-US" sz="1400" b="1" dirty="0"/>
              <a:t>, </a:t>
            </a:r>
            <a:r>
              <a:rPr lang="en-US" sz="1400" b="1" dirty="0" err="1"/>
              <a:t>apakah</a:t>
            </a:r>
            <a:r>
              <a:rPr lang="en-US" sz="1400" b="1" dirty="0"/>
              <a:t> simple app yang </a:t>
            </a:r>
            <a:r>
              <a:rPr lang="en-US" sz="1400" b="1" dirty="0" err="1"/>
              <a:t>kita</a:t>
            </a:r>
            <a:r>
              <a:rPr lang="en-US" sz="1400" b="1" dirty="0"/>
              <a:t> </a:t>
            </a:r>
            <a:r>
              <a:rPr lang="en-US" sz="1400" b="1" dirty="0" err="1"/>
              <a:t>buat</a:t>
            </a:r>
            <a:r>
              <a:rPr lang="en-US" sz="1400" b="1" dirty="0"/>
              <a:t> </a:t>
            </a:r>
            <a:r>
              <a:rPr lang="en-US" sz="1400" b="1" dirty="0" err="1"/>
              <a:t>sudah</a:t>
            </a:r>
            <a:r>
              <a:rPr lang="en-US" sz="1400" b="1" dirty="0"/>
              <a:t> berjalan.#python3 main.py</a:t>
            </a:r>
          </a:p>
          <a:p>
            <a:pPr marL="342900" indent="-342900" algn="just">
              <a:buFont typeface="+mj-lt"/>
              <a:buAutoNum type="arabicPeriod"/>
            </a:pPr>
            <a:r>
              <a:rPr lang="en-US" sz="1400" b="1" dirty="0" err="1"/>
              <a:t>Jika</a:t>
            </a:r>
            <a:r>
              <a:rPr lang="en-US" sz="1400" b="1" dirty="0"/>
              <a:t> </a:t>
            </a:r>
            <a:r>
              <a:rPr lang="en-US" sz="1400" b="1" dirty="0" err="1"/>
              <a:t>hasil</a:t>
            </a:r>
            <a:r>
              <a:rPr lang="en-US" sz="1400" b="1" dirty="0"/>
              <a:t> </a:t>
            </a:r>
            <a:r>
              <a:rPr lang="en-US" sz="1400" b="1" dirty="0" err="1"/>
              <a:t>dari</a:t>
            </a:r>
            <a:r>
              <a:rPr lang="en-US" sz="1400" b="1" dirty="0"/>
              <a:t> </a:t>
            </a:r>
            <a:r>
              <a:rPr lang="en-US" sz="1400" b="1" dirty="0" err="1"/>
              <a:t>menjalankan</a:t>
            </a:r>
            <a:r>
              <a:rPr lang="en-US" sz="1400" b="1" dirty="0"/>
              <a:t> </a:t>
            </a:r>
            <a:r>
              <a:rPr lang="en-US" sz="1400" b="1" dirty="0" err="1"/>
              <a:t>perintah</a:t>
            </a:r>
            <a:r>
              <a:rPr lang="en-US" sz="1400" b="1" dirty="0"/>
              <a:t> </a:t>
            </a:r>
            <a:r>
              <a:rPr lang="en-US" sz="1400" b="1" dirty="0" err="1"/>
              <a:t>diatas</a:t>
            </a:r>
            <a:r>
              <a:rPr lang="en-US" sz="1400" b="1" dirty="0"/>
              <a:t> </a:t>
            </a:r>
            <a:r>
              <a:rPr lang="en-US" sz="1400" b="1" dirty="0" err="1"/>
              <a:t>seperti</a:t>
            </a:r>
            <a:r>
              <a:rPr lang="en-US" sz="1400" b="1" dirty="0"/>
              <a:t> </a:t>
            </a:r>
            <a:r>
              <a:rPr lang="en-US" sz="1400" b="1" dirty="0" err="1"/>
              <a:t>ini</a:t>
            </a:r>
            <a:r>
              <a:rPr lang="en-US" sz="1400" b="1" dirty="0"/>
              <a:t>, </a:t>
            </a:r>
            <a:r>
              <a:rPr lang="en-US" sz="1400" b="1" dirty="0" err="1"/>
              <a:t>maka</a:t>
            </a:r>
            <a:r>
              <a:rPr lang="en-US" sz="1400" b="1" dirty="0"/>
              <a:t> simple app yang </a:t>
            </a:r>
            <a:r>
              <a:rPr lang="en-US" sz="1400" b="1" dirty="0" err="1"/>
              <a:t>kita</a:t>
            </a:r>
            <a:r>
              <a:rPr lang="en-US" sz="1400" b="1" dirty="0"/>
              <a:t> </a:t>
            </a:r>
            <a:r>
              <a:rPr lang="en-US" sz="1400" b="1" dirty="0" err="1"/>
              <a:t>buat</a:t>
            </a:r>
            <a:r>
              <a:rPr lang="en-US" sz="1400" b="1" dirty="0"/>
              <a:t> </a:t>
            </a:r>
            <a:r>
              <a:rPr lang="en-US" sz="1400" b="1" dirty="0" err="1"/>
              <a:t>telah</a:t>
            </a:r>
            <a:r>
              <a:rPr lang="en-US" sz="1400" b="1" dirty="0"/>
              <a:t> </a:t>
            </a:r>
            <a:r>
              <a:rPr lang="en-US" sz="1400" b="1" dirty="0" err="1"/>
              <a:t>berjalan</a:t>
            </a:r>
            <a:r>
              <a:rPr lang="en-US" sz="1400" b="1" dirty="0" smtClean="0"/>
              <a:t>.</a:t>
            </a:r>
          </a:p>
          <a:p>
            <a:pPr marL="342900" indent="-342900" algn="just">
              <a:buFont typeface="+mj-lt"/>
              <a:buAutoNum type="arabicPeriod"/>
            </a:pPr>
            <a:endParaRPr lang="en-US" sz="1400" b="1" dirty="0"/>
          </a:p>
          <a:p>
            <a:pPr marL="342900" indent="-342900" algn="just">
              <a:buFont typeface="+mj-lt"/>
              <a:buAutoNum type="arabicPeriod"/>
            </a:pPr>
            <a:endParaRPr lang="en-US" sz="1400" b="1" dirty="0" smtClean="0"/>
          </a:p>
          <a:p>
            <a:pPr marL="342900" indent="-342900" algn="just">
              <a:buFont typeface="+mj-lt"/>
              <a:buAutoNum type="arabicPeriod"/>
            </a:pPr>
            <a:endParaRPr lang="en-US" sz="1400" b="1" dirty="0"/>
          </a:p>
          <a:p>
            <a:pPr marL="342900" indent="-342900" algn="just">
              <a:buFont typeface="+mj-lt"/>
              <a:buAutoNum type="arabicPeriod"/>
            </a:pPr>
            <a:endParaRPr lang="en-US" sz="1400" b="1" dirty="0" smtClean="0"/>
          </a:p>
          <a:p>
            <a:pPr marL="342900" indent="-342900" algn="just">
              <a:buFont typeface="+mj-lt"/>
              <a:buAutoNum type="arabicPeriod"/>
            </a:pPr>
            <a:endParaRPr lang="en-US" sz="1400" b="1" dirty="0"/>
          </a:p>
          <a:p>
            <a:pPr marL="342900" indent="-342900" algn="just">
              <a:buFont typeface="+mj-lt"/>
              <a:buAutoNum type="arabicPeriod"/>
            </a:pPr>
            <a:endParaRPr lang="en-US" sz="1400" b="1" dirty="0" smtClean="0"/>
          </a:p>
          <a:p>
            <a:pPr marL="342900" indent="-342900" algn="just">
              <a:buFont typeface="+mj-lt"/>
              <a:buAutoNum type="arabicPeriod"/>
            </a:pPr>
            <a:endParaRPr lang="en-US" sz="1400" b="1" dirty="0"/>
          </a:p>
          <a:p>
            <a:pPr algn="just"/>
            <a:endParaRPr lang="en-US" sz="1400" b="1" dirty="0"/>
          </a:p>
          <a:p>
            <a:pPr marL="342900" indent="-342900" algn="just">
              <a:buFont typeface="+mj-lt"/>
              <a:buAutoNum type="arabicPeriod" startAt="3"/>
            </a:pPr>
            <a:r>
              <a:rPr lang="en-US" sz="1400" b="1" dirty="0" err="1" smtClean="0"/>
              <a:t>Sekarang</a:t>
            </a:r>
            <a:r>
              <a:rPr lang="en-US" sz="1400" b="1" dirty="0" smtClean="0"/>
              <a:t> </a:t>
            </a:r>
            <a:r>
              <a:rPr lang="en-US" sz="1400" b="1" dirty="0" err="1"/>
              <a:t>kita</a:t>
            </a:r>
            <a:r>
              <a:rPr lang="en-US" sz="1400" b="1" dirty="0"/>
              <a:t> </a:t>
            </a:r>
            <a:r>
              <a:rPr lang="en-US" sz="1400" b="1" dirty="0" err="1"/>
              <a:t>buka</a:t>
            </a:r>
            <a:r>
              <a:rPr lang="en-US" sz="1400" b="1" dirty="0"/>
              <a:t> web browser </a:t>
            </a:r>
            <a:r>
              <a:rPr lang="en-US" sz="1400" b="1" dirty="0" err="1"/>
              <a:t>dan</a:t>
            </a:r>
            <a:r>
              <a:rPr lang="en-US" sz="1400" b="1" dirty="0"/>
              <a:t> </a:t>
            </a:r>
            <a:r>
              <a:rPr lang="en-US" sz="1400" b="1" dirty="0" err="1"/>
              <a:t>ketikkan</a:t>
            </a:r>
            <a:r>
              <a:rPr lang="en-US" sz="1400" b="1" dirty="0"/>
              <a:t> </a:t>
            </a:r>
            <a:r>
              <a:rPr lang="en-US" sz="1400" b="1" dirty="0" err="1"/>
              <a:t>alamat</a:t>
            </a:r>
            <a:r>
              <a:rPr lang="en-US" sz="1400" b="1" dirty="0"/>
              <a:t> </a:t>
            </a:r>
            <a:r>
              <a:rPr lang="en-US" sz="1400" b="1" dirty="0" err="1"/>
              <a:t>ip</a:t>
            </a:r>
            <a:r>
              <a:rPr lang="en-US" sz="1400" b="1" dirty="0"/>
              <a:t> </a:t>
            </a:r>
            <a:r>
              <a:rPr lang="en-US" sz="1400" b="1" dirty="0" err="1"/>
              <a:t>beserta</a:t>
            </a:r>
            <a:r>
              <a:rPr lang="en-US" sz="1400" b="1" dirty="0"/>
              <a:t> port simple app yang </a:t>
            </a:r>
            <a:r>
              <a:rPr lang="en-US" sz="1400" b="1" dirty="0" err="1"/>
              <a:t>kita</a:t>
            </a:r>
            <a:r>
              <a:rPr lang="en-US" sz="1400" b="1" dirty="0"/>
              <a:t> </a:t>
            </a:r>
            <a:r>
              <a:rPr lang="en-US" sz="1400" b="1" dirty="0" err="1"/>
              <a:t>buat</a:t>
            </a:r>
            <a:r>
              <a:rPr lang="en-US" sz="1400" b="1" dirty="0"/>
              <a:t>. </a:t>
            </a:r>
            <a:r>
              <a:rPr lang="en-US" sz="1400" b="1" dirty="0" err="1"/>
              <a:t>Jika</a:t>
            </a:r>
            <a:r>
              <a:rPr lang="en-US" sz="1400" b="1" dirty="0"/>
              <a:t> </a:t>
            </a:r>
            <a:r>
              <a:rPr lang="en-US" sz="1400" b="1" dirty="0" err="1"/>
              <a:t>berhasil</a:t>
            </a:r>
            <a:r>
              <a:rPr lang="en-US" sz="1400" b="1" dirty="0"/>
              <a:t> </a:t>
            </a:r>
            <a:r>
              <a:rPr lang="en-US" sz="1400" b="1" dirty="0" err="1"/>
              <a:t>maka</a:t>
            </a:r>
            <a:r>
              <a:rPr lang="en-US" sz="1400" b="1" dirty="0"/>
              <a:t> </a:t>
            </a:r>
            <a:r>
              <a:rPr lang="en-US" sz="1400" b="1" dirty="0" err="1"/>
              <a:t>hasilnya</a:t>
            </a:r>
            <a:r>
              <a:rPr lang="en-US" sz="1400" b="1" dirty="0"/>
              <a:t> </a:t>
            </a:r>
            <a:r>
              <a:rPr lang="en-US" sz="1400" b="1" dirty="0" err="1"/>
              <a:t>akan</a:t>
            </a:r>
            <a:r>
              <a:rPr lang="en-US" sz="1400" b="1" dirty="0"/>
              <a:t> </a:t>
            </a:r>
            <a:r>
              <a:rPr lang="en-US" sz="1400" b="1" dirty="0" err="1"/>
              <a:t>seperti</a:t>
            </a:r>
            <a:r>
              <a:rPr lang="en-US" sz="1400" b="1" dirty="0"/>
              <a:t> </a:t>
            </a:r>
            <a:r>
              <a:rPr lang="en-US" sz="1400" b="1" dirty="0" err="1"/>
              <a:t>gambar</a:t>
            </a:r>
            <a:r>
              <a:rPr lang="en-US" sz="1400" b="1" dirty="0"/>
              <a:t> </a:t>
            </a:r>
            <a:r>
              <a:rPr lang="en-US" sz="1400" b="1" dirty="0" err="1" smtClean="0"/>
              <a:t>dibawah</a:t>
            </a:r>
            <a:endParaRPr lang="en-US" sz="1400" b="1" dirty="0" smtClean="0"/>
          </a:p>
          <a:p>
            <a:pPr marL="342900" indent="-342900" algn="just">
              <a:buFont typeface="+mj-lt"/>
              <a:buAutoNum type="arabicPeriod" startAt="3"/>
            </a:pPr>
            <a:endParaRPr lang="en-US" sz="1400" b="1" dirty="0" smtClean="0"/>
          </a:p>
          <a:p>
            <a:pPr marL="342900" indent="-342900" algn="just">
              <a:buFont typeface="+mj-lt"/>
              <a:buAutoNum type="arabicPeriod" startAt="3"/>
            </a:pPr>
            <a:endParaRPr lang="en-US" sz="1400" b="1" dirty="0"/>
          </a:p>
          <a:p>
            <a:pPr marL="342900" indent="-342900" algn="just">
              <a:buFont typeface="+mj-lt"/>
              <a:buAutoNum type="arabicPeriod" startAt="3"/>
            </a:pPr>
            <a:endParaRPr lang="en-US" sz="1400" b="1" dirty="0"/>
          </a:p>
          <a:p>
            <a:pPr marL="342900" indent="-342900" algn="just">
              <a:buFont typeface="+mj-lt"/>
              <a:buAutoNum type="arabicPeriod" startAt="3"/>
            </a:pPr>
            <a:endParaRPr lang="en-US" sz="1400" b="1" dirty="0" smtClean="0"/>
          </a:p>
          <a:p>
            <a:pPr marL="342900" indent="-342900" algn="just">
              <a:buFont typeface="+mj-lt"/>
              <a:buAutoNum type="arabicPeriod" startAt="3"/>
            </a:pPr>
            <a:r>
              <a:rPr lang="en-US" sz="1400" b="1" dirty="0" smtClean="0"/>
              <a:t>Kalian </a:t>
            </a:r>
            <a:r>
              <a:rPr lang="en-US" sz="1400" b="1" dirty="0" err="1"/>
              <a:t>juga</a:t>
            </a:r>
            <a:r>
              <a:rPr lang="en-US" sz="1400" b="1" dirty="0"/>
              <a:t> </a:t>
            </a:r>
            <a:r>
              <a:rPr lang="en-US" sz="1400" b="1" dirty="0" err="1"/>
              <a:t>dapat</a:t>
            </a:r>
            <a:r>
              <a:rPr lang="en-US" sz="1400" b="1" dirty="0"/>
              <a:t> </a:t>
            </a:r>
            <a:r>
              <a:rPr lang="en-US" sz="1400" b="1" dirty="0" err="1"/>
              <a:t>melihat</a:t>
            </a:r>
            <a:r>
              <a:rPr lang="en-US" sz="1400" b="1" dirty="0"/>
              <a:t> log </a:t>
            </a:r>
            <a:r>
              <a:rPr lang="en-US" sz="1400" b="1" dirty="0" err="1"/>
              <a:t>alamat</a:t>
            </a:r>
            <a:r>
              <a:rPr lang="en-US" sz="1400" b="1" dirty="0"/>
              <a:t> IP </a:t>
            </a:r>
            <a:r>
              <a:rPr lang="en-US" sz="1400" b="1" dirty="0" err="1"/>
              <a:t>apa</a:t>
            </a:r>
            <a:r>
              <a:rPr lang="en-US" sz="1400" b="1" dirty="0"/>
              <a:t> </a:t>
            </a:r>
            <a:r>
              <a:rPr lang="en-US" sz="1400" b="1" dirty="0" err="1"/>
              <a:t>saja</a:t>
            </a:r>
            <a:r>
              <a:rPr lang="en-US" sz="1400" b="1" dirty="0"/>
              <a:t> yang </a:t>
            </a:r>
            <a:r>
              <a:rPr lang="en-US" sz="1400" b="1" dirty="0" err="1"/>
              <a:t>mengakses</a:t>
            </a:r>
            <a:r>
              <a:rPr lang="en-US" sz="1400" b="1" dirty="0"/>
              <a:t> simple app yang </a:t>
            </a:r>
            <a:r>
              <a:rPr lang="en-US" sz="1400" b="1" dirty="0" err="1"/>
              <a:t>kita</a:t>
            </a:r>
            <a:r>
              <a:rPr lang="en-US" sz="1400" b="1" dirty="0"/>
              <a:t> </a:t>
            </a:r>
            <a:r>
              <a:rPr lang="en-US" sz="1400" b="1" dirty="0" err="1"/>
              <a:t>buat</a:t>
            </a:r>
            <a:r>
              <a:rPr lang="en-US" sz="1400" b="1" dirty="0" smtClean="0"/>
              <a:t>.</a:t>
            </a:r>
          </a:p>
          <a:p>
            <a:pPr marL="342900" indent="-342900" algn="just">
              <a:buFont typeface="+mj-lt"/>
              <a:buAutoNum type="arabicPeriod" startAt="3"/>
            </a:pPr>
            <a:endParaRPr lang="en-US" sz="1400" b="1" dirty="0"/>
          </a:p>
          <a:p>
            <a:pPr marL="342900" indent="-342900" algn="just">
              <a:buFont typeface="+mj-lt"/>
              <a:buAutoNum type="arabicPeriod" startAt="3"/>
            </a:pPr>
            <a:endParaRPr lang="en-US" sz="1400" b="1" dirty="0" smtClean="0"/>
          </a:p>
          <a:p>
            <a:pPr algn="just"/>
            <a:endParaRPr lang="en-US" sz="1400" b="1" dirty="0"/>
          </a:p>
        </p:txBody>
      </p:sp>
      <p:sp>
        <p:nvSpPr>
          <p:cNvPr id="10" name="Rectangle 9"/>
          <p:cNvSpPr/>
          <p:nvPr/>
        </p:nvSpPr>
        <p:spPr>
          <a:xfrm>
            <a:off x="6343869" y="1765992"/>
            <a:ext cx="5622129" cy="1600438"/>
          </a:xfrm>
          <a:prstGeom prst="rect">
            <a:avLst/>
          </a:prstGeom>
          <a:solidFill>
            <a:schemeClr val="tx1"/>
          </a:solidFill>
        </p:spPr>
        <p:txBody>
          <a:bodyPr wrap="square">
            <a:spAutoFit/>
          </a:bodyPr>
          <a:lstStyle/>
          <a:p>
            <a:pPr algn="just"/>
            <a:r>
              <a:rPr lang="en-US" sz="1400" dirty="0" smtClean="0">
                <a:solidFill>
                  <a:schemeClr val="bg1">
                    <a:lumMod val="95000"/>
                  </a:schemeClr>
                </a:solidFill>
              </a:rPr>
              <a:t>( sample-app ) </a:t>
            </a:r>
            <a:r>
              <a:rPr lang="en-US" sz="1400" dirty="0" err="1" smtClean="0">
                <a:solidFill>
                  <a:schemeClr val="bg1">
                    <a:lumMod val="95000"/>
                  </a:schemeClr>
                </a:solidFill>
              </a:rPr>
              <a:t>root@panda</a:t>
            </a:r>
            <a:r>
              <a:rPr lang="en-US" sz="1400" dirty="0" smtClean="0">
                <a:solidFill>
                  <a:schemeClr val="bg1">
                    <a:lumMod val="95000"/>
                  </a:schemeClr>
                </a:solidFill>
              </a:rPr>
              <a:t>: /flash/sample-app# python3 main.py</a:t>
            </a:r>
          </a:p>
          <a:p>
            <a:pPr algn="just"/>
            <a:r>
              <a:rPr lang="en-US" sz="1400" dirty="0">
                <a:solidFill>
                  <a:schemeClr val="bg1">
                    <a:lumMod val="95000"/>
                  </a:schemeClr>
                </a:solidFill>
              </a:rPr>
              <a:t> </a:t>
            </a:r>
            <a:r>
              <a:rPr lang="en-US" sz="1400" dirty="0" smtClean="0">
                <a:solidFill>
                  <a:schemeClr val="bg1">
                    <a:lumMod val="95000"/>
                  </a:schemeClr>
                </a:solidFill>
              </a:rPr>
              <a:t>  * Serving Flash app ‘main’</a:t>
            </a:r>
          </a:p>
          <a:p>
            <a:pPr algn="just"/>
            <a:r>
              <a:rPr lang="en-US" sz="1400" dirty="0">
                <a:solidFill>
                  <a:schemeClr val="bg1">
                    <a:lumMod val="95000"/>
                  </a:schemeClr>
                </a:solidFill>
              </a:rPr>
              <a:t> </a:t>
            </a:r>
            <a:r>
              <a:rPr lang="en-US" sz="1400" dirty="0" smtClean="0">
                <a:solidFill>
                  <a:schemeClr val="bg1">
                    <a:lumMod val="95000"/>
                  </a:schemeClr>
                </a:solidFill>
              </a:rPr>
              <a:t>  * </a:t>
            </a:r>
            <a:r>
              <a:rPr lang="en-US" sz="1400" dirty="0" smtClean="0">
                <a:solidFill>
                  <a:srgbClr val="FFC000"/>
                </a:solidFill>
              </a:rPr>
              <a:t>Debu</a:t>
            </a:r>
            <a:r>
              <a:rPr lang="en-US" sz="1400" dirty="0" smtClean="0">
                <a:solidFill>
                  <a:schemeClr val="bg1">
                    <a:lumMod val="95000"/>
                  </a:schemeClr>
                </a:solidFill>
              </a:rPr>
              <a:t>g mode: off</a:t>
            </a:r>
          </a:p>
          <a:p>
            <a:pPr algn="just"/>
            <a:endParaRPr lang="en-US" sz="1400" b="1" dirty="0" smtClean="0">
              <a:solidFill>
                <a:schemeClr val="bg1">
                  <a:lumMod val="50000"/>
                </a:schemeClr>
              </a:solidFill>
            </a:endParaRPr>
          </a:p>
          <a:p>
            <a:pPr algn="just"/>
            <a:endParaRPr lang="en-US" sz="1400" b="1" dirty="0">
              <a:solidFill>
                <a:schemeClr val="bg1">
                  <a:lumMod val="50000"/>
                </a:schemeClr>
              </a:solidFill>
            </a:endParaRPr>
          </a:p>
          <a:p>
            <a:pPr algn="just"/>
            <a:endParaRPr lang="en-US" sz="1400" b="1" dirty="0">
              <a:solidFill>
                <a:schemeClr val="bg1">
                  <a:lumMod val="50000"/>
                </a:schemeClr>
              </a:solidFill>
            </a:endParaRPr>
          </a:p>
          <a:p>
            <a:pPr algn="just"/>
            <a:r>
              <a:rPr lang="en-US" sz="1400" dirty="0" err="1" smtClean="0">
                <a:solidFill>
                  <a:schemeClr val="bg1">
                    <a:lumMod val="50000"/>
                  </a:schemeClr>
                </a:solidFill>
              </a:rPr>
              <a:t>root@administrator</a:t>
            </a:r>
            <a:r>
              <a:rPr lang="en-US" sz="1400" dirty="0">
                <a:solidFill>
                  <a:schemeClr val="bg1">
                    <a:lumMod val="50000"/>
                  </a:schemeClr>
                </a:solidFill>
              </a:rPr>
              <a:t>:/home/panda/GPU2#</a:t>
            </a:r>
            <a:endParaRPr lang="en-US" sz="1400" b="1" dirty="0">
              <a:solidFill>
                <a:schemeClr val="bg1">
                  <a:lumMod val="50000"/>
                </a:schemeClr>
              </a:solidFill>
            </a:endParaRPr>
          </a:p>
        </p:txBody>
      </p:sp>
      <p:pic>
        <p:nvPicPr>
          <p:cNvPr id="4" name="Picture 3"/>
          <p:cNvPicPr>
            <a:picLocks noChangeAspect="1"/>
          </p:cNvPicPr>
          <p:nvPr/>
        </p:nvPicPr>
        <p:blipFill>
          <a:blip r:embed="rId3"/>
          <a:stretch>
            <a:fillRect/>
          </a:stretch>
        </p:blipFill>
        <p:spPr>
          <a:xfrm>
            <a:off x="6512964" y="2184196"/>
            <a:ext cx="5279643" cy="1182234"/>
          </a:xfrm>
          <a:prstGeom prst="rect">
            <a:avLst/>
          </a:prstGeom>
        </p:spPr>
      </p:pic>
      <p:pic>
        <p:nvPicPr>
          <p:cNvPr id="11" name="Picture 10"/>
          <p:cNvPicPr>
            <a:picLocks noChangeAspect="1"/>
          </p:cNvPicPr>
          <p:nvPr/>
        </p:nvPicPr>
        <p:blipFill>
          <a:blip r:embed="rId4"/>
          <a:stretch>
            <a:fillRect/>
          </a:stretch>
        </p:blipFill>
        <p:spPr>
          <a:xfrm>
            <a:off x="6356868" y="4153916"/>
            <a:ext cx="5609130" cy="805258"/>
          </a:xfrm>
          <a:prstGeom prst="rect">
            <a:avLst/>
          </a:prstGeom>
        </p:spPr>
      </p:pic>
      <p:pic>
        <p:nvPicPr>
          <p:cNvPr id="12" name="Picture 11"/>
          <p:cNvPicPr>
            <a:picLocks noChangeAspect="1"/>
          </p:cNvPicPr>
          <p:nvPr/>
        </p:nvPicPr>
        <p:blipFill>
          <a:blip r:embed="rId5"/>
          <a:stretch>
            <a:fillRect/>
          </a:stretch>
        </p:blipFill>
        <p:spPr>
          <a:xfrm>
            <a:off x="6512964" y="5516257"/>
            <a:ext cx="5453034" cy="914400"/>
          </a:xfrm>
          <a:prstGeom prst="rect">
            <a:avLst/>
          </a:prstGeom>
        </p:spPr>
      </p:pic>
    </p:spTree>
    <p:extLst>
      <p:ext uri="{BB962C8B-B14F-4D97-AF65-F5344CB8AC3E}">
        <p14:creationId xmlns:p14="http://schemas.microsoft.com/office/powerpoint/2010/main" val="1912122542"/>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63276" y="519182"/>
            <a:ext cx="1888068" cy="1116355"/>
          </a:xfrm>
        </p:spPr>
        <p:txBody>
          <a:bodyPr>
            <a:normAutofit/>
          </a:bodyPr>
          <a:lstStyle/>
          <a:p>
            <a:pPr algn="just"/>
            <a:r>
              <a:rPr lang="en-US" b="1" dirty="0" smtClean="0">
                <a:solidFill>
                  <a:srgbClr val="002060"/>
                </a:solidFill>
              </a:rPr>
              <a:t>Image</a:t>
            </a:r>
            <a:endParaRPr lang="en-US" sz="2000" b="1" dirty="0">
              <a:solidFill>
                <a:srgbClr val="002060"/>
              </a:solidFill>
            </a:endParaRPr>
          </a:p>
        </p:txBody>
      </p:sp>
      <p:sp>
        <p:nvSpPr>
          <p:cNvPr id="7" name="Rectangle 6"/>
          <p:cNvSpPr/>
          <p:nvPr/>
        </p:nvSpPr>
        <p:spPr>
          <a:xfrm>
            <a:off x="0" y="61696"/>
            <a:ext cx="2363980" cy="1015663"/>
          </a:xfrm>
          <a:prstGeom prst="rect">
            <a:avLst/>
          </a:prstGeom>
        </p:spPr>
        <p:txBody>
          <a:bodyPr wrap="none">
            <a:spAutoFit/>
          </a:bodyPr>
          <a:lstStyle/>
          <a:p>
            <a:r>
              <a:rPr lang="en-US" sz="6000" dirty="0">
                <a:solidFill>
                  <a:srgbClr val="FFC000"/>
                </a:solidFill>
              </a:rPr>
              <a:t>Docker</a:t>
            </a:r>
          </a:p>
        </p:txBody>
      </p:sp>
      <p:sp>
        <p:nvSpPr>
          <p:cNvPr id="13" name="Rectangle 12"/>
          <p:cNvSpPr/>
          <p:nvPr/>
        </p:nvSpPr>
        <p:spPr>
          <a:xfrm>
            <a:off x="279400" y="1501530"/>
            <a:ext cx="5645150" cy="5324535"/>
          </a:xfrm>
          <a:prstGeom prst="rect">
            <a:avLst/>
          </a:prstGeom>
        </p:spPr>
        <p:txBody>
          <a:bodyPr wrap="square">
            <a:spAutoFit/>
          </a:bodyPr>
          <a:lstStyle/>
          <a:p>
            <a:pPr algn="just"/>
            <a:r>
              <a:rPr lang="en-US" b="1" dirty="0" err="1">
                <a:solidFill>
                  <a:srgbClr val="002060"/>
                </a:solidFill>
              </a:rPr>
              <a:t>Konfigurasi</a:t>
            </a:r>
            <a:r>
              <a:rPr lang="en-US" b="1" dirty="0">
                <a:solidFill>
                  <a:srgbClr val="002060"/>
                </a:solidFill>
              </a:rPr>
              <a:t> </a:t>
            </a:r>
            <a:r>
              <a:rPr lang="en-US" b="1" dirty="0" smtClean="0">
                <a:solidFill>
                  <a:srgbClr val="002060"/>
                </a:solidFill>
              </a:rPr>
              <a:t>Docker</a:t>
            </a:r>
          </a:p>
          <a:p>
            <a:pPr marL="342900" indent="-342900" algn="just">
              <a:buFont typeface="+mj-lt"/>
              <a:buAutoNum type="arabicPeriod"/>
            </a:pPr>
            <a:r>
              <a:rPr lang="en-US" sz="1400" dirty="0" err="1" smtClean="0"/>
              <a:t>Setelah</a:t>
            </a:r>
            <a:r>
              <a:rPr lang="en-US" sz="1400" dirty="0" smtClean="0"/>
              <a:t> </a:t>
            </a:r>
            <a:r>
              <a:rPr lang="en-US" sz="1400" dirty="0" err="1"/>
              <a:t>kita</a:t>
            </a:r>
            <a:r>
              <a:rPr lang="en-US" sz="1400" dirty="0"/>
              <a:t> </a:t>
            </a:r>
            <a:r>
              <a:rPr lang="en-US" sz="1400" dirty="0" err="1"/>
              <a:t>melakukan</a:t>
            </a:r>
            <a:r>
              <a:rPr lang="en-US" sz="1400" dirty="0"/>
              <a:t> </a:t>
            </a:r>
            <a:r>
              <a:rPr lang="en-US" sz="1400" dirty="0" err="1"/>
              <a:t>uji</a:t>
            </a:r>
            <a:r>
              <a:rPr lang="en-US" sz="1400" dirty="0"/>
              <a:t> </a:t>
            </a:r>
            <a:r>
              <a:rPr lang="en-US" sz="1400" dirty="0" err="1"/>
              <a:t>coba</a:t>
            </a:r>
            <a:r>
              <a:rPr lang="en-US" sz="1400" dirty="0"/>
              <a:t> </a:t>
            </a:r>
            <a:r>
              <a:rPr lang="en-US" sz="1400" dirty="0" err="1"/>
              <a:t>pada</a:t>
            </a:r>
            <a:r>
              <a:rPr lang="en-US" sz="1400" dirty="0"/>
              <a:t> simple app </a:t>
            </a:r>
            <a:r>
              <a:rPr lang="en-US" sz="1400" dirty="0" err="1"/>
              <a:t>kita</a:t>
            </a:r>
            <a:r>
              <a:rPr lang="en-US" sz="1400" dirty="0"/>
              <a:t>, </a:t>
            </a:r>
            <a:r>
              <a:rPr lang="en-US" sz="1400" dirty="0" err="1"/>
              <a:t>sekarang</a:t>
            </a:r>
            <a:r>
              <a:rPr lang="en-US" sz="1400" dirty="0"/>
              <a:t> </a:t>
            </a:r>
            <a:r>
              <a:rPr lang="en-US" sz="1400" dirty="0" err="1"/>
              <a:t>kita</a:t>
            </a:r>
            <a:r>
              <a:rPr lang="en-US" sz="1400" dirty="0"/>
              <a:t> </a:t>
            </a:r>
            <a:r>
              <a:rPr lang="en-US" sz="1400" dirty="0" err="1"/>
              <a:t>akan</a:t>
            </a:r>
            <a:r>
              <a:rPr lang="en-US" sz="1400" dirty="0"/>
              <a:t> </a:t>
            </a:r>
            <a:r>
              <a:rPr lang="en-US" sz="1400" dirty="0" err="1"/>
              <a:t>melakukan</a:t>
            </a:r>
            <a:r>
              <a:rPr lang="en-US" sz="1400" dirty="0"/>
              <a:t> </a:t>
            </a:r>
            <a:r>
              <a:rPr lang="en-US" sz="1400" dirty="0" err="1"/>
              <a:t>konfigurasi</a:t>
            </a:r>
            <a:r>
              <a:rPr lang="en-US" sz="1400" dirty="0"/>
              <a:t> </a:t>
            </a:r>
            <a:r>
              <a:rPr lang="en-US" sz="1400" dirty="0" err="1"/>
              <a:t>untuk</a:t>
            </a:r>
            <a:r>
              <a:rPr lang="en-US" sz="1400" dirty="0"/>
              <a:t> </a:t>
            </a:r>
            <a:r>
              <a:rPr lang="en-US" sz="1400" dirty="0" err="1"/>
              <a:t>menjalankan</a:t>
            </a:r>
            <a:r>
              <a:rPr lang="en-US" sz="1400" dirty="0"/>
              <a:t> web </a:t>
            </a:r>
            <a:r>
              <a:rPr lang="en-US" sz="1400" dirty="0" err="1"/>
              <a:t>kita</a:t>
            </a:r>
            <a:r>
              <a:rPr lang="en-US" sz="1400" dirty="0"/>
              <a:t> </a:t>
            </a:r>
            <a:r>
              <a:rPr lang="en-US" sz="1400" dirty="0" err="1"/>
              <a:t>pada</a:t>
            </a:r>
            <a:r>
              <a:rPr lang="en-US" sz="1400" dirty="0"/>
              <a:t> </a:t>
            </a:r>
            <a:r>
              <a:rPr lang="en-US" sz="1400" dirty="0" err="1"/>
              <a:t>docker</a:t>
            </a:r>
            <a:r>
              <a:rPr lang="en-US" sz="1400" dirty="0"/>
              <a:t> container. </a:t>
            </a:r>
            <a:r>
              <a:rPr lang="en-US" sz="1400" dirty="0" err="1"/>
              <a:t>Pertama</a:t>
            </a:r>
            <a:r>
              <a:rPr lang="en-US" sz="1400" dirty="0"/>
              <a:t> </a:t>
            </a:r>
            <a:r>
              <a:rPr lang="en-US" sz="1400" dirty="0" err="1"/>
              <a:t>buatlah</a:t>
            </a:r>
            <a:r>
              <a:rPr lang="en-US" sz="1400" dirty="0"/>
              <a:t> file </a:t>
            </a:r>
            <a:r>
              <a:rPr lang="en-US" sz="1400" dirty="0" err="1"/>
              <a:t>requirements.txt.#touch</a:t>
            </a:r>
            <a:r>
              <a:rPr lang="en-US" sz="1400" dirty="0"/>
              <a:t> requirements.txt</a:t>
            </a:r>
          </a:p>
          <a:p>
            <a:pPr marL="342900" indent="-342900" algn="just">
              <a:buFont typeface="+mj-lt"/>
              <a:buAutoNum type="arabicPeriod"/>
            </a:pPr>
            <a:r>
              <a:rPr lang="en-US" sz="1400" dirty="0" err="1"/>
              <a:t>Jalankan</a:t>
            </a:r>
            <a:r>
              <a:rPr lang="en-US" sz="1400" dirty="0"/>
              <a:t> </a:t>
            </a:r>
            <a:r>
              <a:rPr lang="en-US" sz="1400" dirty="0" err="1"/>
              <a:t>perintah</a:t>
            </a:r>
            <a:r>
              <a:rPr lang="en-US" sz="1400" dirty="0"/>
              <a:t> pip3 freeze. </a:t>
            </a:r>
            <a:r>
              <a:rPr lang="en-US" sz="1400" dirty="0" err="1"/>
              <a:t>Fungsinya</a:t>
            </a:r>
            <a:r>
              <a:rPr lang="en-US" sz="1400" dirty="0"/>
              <a:t> </a:t>
            </a:r>
            <a:r>
              <a:rPr lang="en-US" sz="1400" dirty="0" err="1"/>
              <a:t>disini</a:t>
            </a:r>
            <a:r>
              <a:rPr lang="en-US" sz="1400" dirty="0"/>
              <a:t> </a:t>
            </a:r>
            <a:r>
              <a:rPr lang="en-US" sz="1400" dirty="0" err="1"/>
              <a:t>untuk</a:t>
            </a:r>
            <a:r>
              <a:rPr lang="en-US" sz="1400" dirty="0"/>
              <a:t> </a:t>
            </a:r>
            <a:r>
              <a:rPr lang="en-US" sz="1400" dirty="0" err="1"/>
              <a:t>memasukkan</a:t>
            </a:r>
            <a:r>
              <a:rPr lang="en-US" sz="1400" dirty="0"/>
              <a:t> </a:t>
            </a:r>
            <a:r>
              <a:rPr lang="en-US" sz="1400" dirty="0" err="1"/>
              <a:t>semua</a:t>
            </a:r>
            <a:r>
              <a:rPr lang="en-US" sz="1400" dirty="0"/>
              <a:t> requirements dependencies yang </a:t>
            </a:r>
            <a:r>
              <a:rPr lang="en-US" sz="1400" dirty="0" err="1"/>
              <a:t>perlu</a:t>
            </a:r>
            <a:r>
              <a:rPr lang="en-US" sz="1400" dirty="0"/>
              <a:t> di </a:t>
            </a:r>
            <a:r>
              <a:rPr lang="en-US" sz="1400" dirty="0" err="1"/>
              <a:t>instal</a:t>
            </a:r>
            <a:r>
              <a:rPr lang="en-US" sz="1400" dirty="0"/>
              <a:t> </a:t>
            </a:r>
            <a:r>
              <a:rPr lang="en-US" sz="1400" dirty="0" err="1"/>
              <a:t>untuk</a:t>
            </a:r>
            <a:r>
              <a:rPr lang="en-US" sz="1400" dirty="0"/>
              <a:t> </a:t>
            </a:r>
            <a:r>
              <a:rPr lang="en-US" sz="1400" dirty="0" err="1"/>
              <a:t>menjalankan</a:t>
            </a:r>
            <a:r>
              <a:rPr lang="en-US" sz="1400" dirty="0"/>
              <a:t> simple app yang </a:t>
            </a:r>
            <a:r>
              <a:rPr lang="en-US" sz="1400" dirty="0" err="1"/>
              <a:t>kita</a:t>
            </a:r>
            <a:r>
              <a:rPr lang="en-US" sz="1400" dirty="0"/>
              <a:t> </a:t>
            </a:r>
            <a:r>
              <a:rPr lang="en-US" sz="1400" dirty="0" err="1"/>
              <a:t>buat</a:t>
            </a:r>
            <a:r>
              <a:rPr lang="en-US" sz="1400" dirty="0"/>
              <a:t> (</a:t>
            </a:r>
            <a:r>
              <a:rPr lang="en-US" sz="1400" dirty="0" err="1"/>
              <a:t>Fungsi</a:t>
            </a:r>
            <a:r>
              <a:rPr lang="en-US" sz="1400" dirty="0"/>
              <a:t> file </a:t>
            </a:r>
            <a:r>
              <a:rPr lang="en-US" sz="1400" dirty="0" err="1"/>
              <a:t>ini</a:t>
            </a:r>
            <a:r>
              <a:rPr lang="en-US" sz="1400" dirty="0"/>
              <a:t> </a:t>
            </a:r>
            <a:r>
              <a:rPr lang="en-US" sz="1400" dirty="0" err="1"/>
              <a:t>sama</a:t>
            </a:r>
            <a:r>
              <a:rPr lang="en-US" sz="1400" dirty="0"/>
              <a:t> </a:t>
            </a:r>
            <a:r>
              <a:rPr lang="en-US" sz="1400" dirty="0" err="1"/>
              <a:t>seperti</a:t>
            </a:r>
            <a:r>
              <a:rPr lang="en-US" sz="1400" dirty="0"/>
              <a:t> file </a:t>
            </a:r>
            <a:r>
              <a:rPr lang="en-US" sz="1400" dirty="0" err="1"/>
              <a:t>package.json</a:t>
            </a:r>
            <a:r>
              <a:rPr lang="en-US" sz="1400" dirty="0"/>
              <a:t> </a:t>
            </a:r>
            <a:r>
              <a:rPr lang="en-US" sz="1400" dirty="0" err="1"/>
              <a:t>pada</a:t>
            </a:r>
            <a:r>
              <a:rPr lang="en-US" sz="1400" dirty="0"/>
              <a:t> </a:t>
            </a:r>
            <a:r>
              <a:rPr lang="en-US" sz="1400" dirty="0" err="1"/>
              <a:t>NodeJS</a:t>
            </a:r>
            <a:r>
              <a:rPr lang="en-US" sz="1400" dirty="0"/>
              <a:t>). File </a:t>
            </a:r>
            <a:r>
              <a:rPr lang="en-US" sz="1400" dirty="0" err="1"/>
              <a:t>ini</a:t>
            </a:r>
            <a:r>
              <a:rPr lang="en-US" sz="1400" dirty="0"/>
              <a:t> </a:t>
            </a:r>
            <a:r>
              <a:rPr lang="en-US" sz="1400" dirty="0" err="1"/>
              <a:t>nanti</a:t>
            </a:r>
            <a:r>
              <a:rPr lang="en-US" sz="1400" dirty="0"/>
              <a:t> </a:t>
            </a:r>
            <a:r>
              <a:rPr lang="en-US" sz="1400" dirty="0" err="1"/>
              <a:t>berguna</a:t>
            </a:r>
            <a:r>
              <a:rPr lang="en-US" sz="1400" dirty="0"/>
              <a:t> </a:t>
            </a:r>
            <a:r>
              <a:rPr lang="en-US" sz="1400" dirty="0" err="1"/>
              <a:t>saat</a:t>
            </a:r>
            <a:r>
              <a:rPr lang="en-US" sz="1400" dirty="0"/>
              <a:t> </a:t>
            </a:r>
            <a:r>
              <a:rPr lang="en-US" sz="1400" dirty="0" err="1"/>
              <a:t>kita</a:t>
            </a:r>
            <a:r>
              <a:rPr lang="en-US" sz="1400" dirty="0"/>
              <a:t> </a:t>
            </a:r>
            <a:r>
              <a:rPr lang="en-US" sz="1400" dirty="0" err="1"/>
              <a:t>mendeploy</a:t>
            </a:r>
            <a:r>
              <a:rPr lang="en-US" sz="1400" dirty="0"/>
              <a:t> simple app yang </a:t>
            </a:r>
            <a:r>
              <a:rPr lang="en-US" sz="1400" dirty="0" err="1"/>
              <a:t>kita</a:t>
            </a:r>
            <a:r>
              <a:rPr lang="en-US" sz="1400" dirty="0"/>
              <a:t> </a:t>
            </a:r>
            <a:r>
              <a:rPr lang="en-US" sz="1400" dirty="0" err="1"/>
              <a:t>buat</a:t>
            </a:r>
            <a:r>
              <a:rPr lang="en-US" sz="1400" dirty="0"/>
              <a:t> </a:t>
            </a:r>
            <a:r>
              <a:rPr lang="en-US" sz="1400" dirty="0" err="1"/>
              <a:t>pada</a:t>
            </a:r>
            <a:r>
              <a:rPr lang="en-US" sz="1400" dirty="0"/>
              <a:t> container.#pip3 freeze &gt; requirements.txt</a:t>
            </a:r>
          </a:p>
          <a:p>
            <a:pPr marL="342900" indent="-342900" algn="just">
              <a:buFont typeface="+mj-lt"/>
              <a:buAutoNum type="arabicPeriod"/>
            </a:pPr>
            <a:r>
              <a:rPr lang="en-US" sz="1400" dirty="0" err="1"/>
              <a:t>Keluar</a:t>
            </a:r>
            <a:r>
              <a:rPr lang="en-US" sz="1400" dirty="0"/>
              <a:t> </a:t>
            </a:r>
            <a:r>
              <a:rPr lang="en-US" sz="1400" dirty="0" err="1"/>
              <a:t>dari</a:t>
            </a:r>
            <a:r>
              <a:rPr lang="en-US" sz="1400" dirty="0"/>
              <a:t> virtual environment </a:t>
            </a:r>
            <a:r>
              <a:rPr lang="en-US" sz="1400" dirty="0" err="1"/>
              <a:t>dengan</a:t>
            </a:r>
            <a:r>
              <a:rPr lang="en-US" sz="1400" dirty="0"/>
              <a:t> </a:t>
            </a:r>
            <a:r>
              <a:rPr lang="en-US" sz="1400" dirty="0" err="1"/>
              <a:t>menggunakan</a:t>
            </a:r>
            <a:r>
              <a:rPr lang="en-US" sz="1400" dirty="0"/>
              <a:t> </a:t>
            </a:r>
            <a:r>
              <a:rPr lang="en-US" sz="1400" dirty="0" err="1"/>
              <a:t>perintah</a:t>
            </a:r>
            <a:r>
              <a:rPr lang="en-US" sz="1400" dirty="0"/>
              <a:t> </a:t>
            </a:r>
            <a:r>
              <a:rPr lang="en-US" sz="1400" dirty="0" err="1"/>
              <a:t>dibawah</a:t>
            </a:r>
            <a:r>
              <a:rPr lang="en-US" sz="1400" dirty="0"/>
              <a:t>.#deactivate</a:t>
            </a:r>
          </a:p>
          <a:p>
            <a:pPr marL="342900" indent="-342900" algn="just">
              <a:buFont typeface="+mj-lt"/>
              <a:buAutoNum type="arabicPeriod"/>
            </a:pPr>
            <a:r>
              <a:rPr lang="en-US" sz="1400" dirty="0" err="1"/>
              <a:t>Sekarang</a:t>
            </a:r>
            <a:r>
              <a:rPr lang="en-US" sz="1400" dirty="0"/>
              <a:t> </a:t>
            </a:r>
            <a:r>
              <a:rPr lang="en-US" sz="1400" dirty="0" err="1"/>
              <a:t>kita</a:t>
            </a:r>
            <a:r>
              <a:rPr lang="en-US" sz="1400" dirty="0"/>
              <a:t> </a:t>
            </a:r>
            <a:r>
              <a:rPr lang="en-US" sz="1400" dirty="0" err="1"/>
              <a:t>akan</a:t>
            </a:r>
            <a:r>
              <a:rPr lang="en-US" sz="1400" dirty="0"/>
              <a:t> </a:t>
            </a:r>
            <a:r>
              <a:rPr lang="en-US" sz="1400" dirty="0" err="1"/>
              <a:t>membuat</a:t>
            </a:r>
            <a:r>
              <a:rPr lang="en-US" sz="1400" dirty="0"/>
              <a:t> </a:t>
            </a:r>
            <a:r>
              <a:rPr lang="en-US" sz="1400" dirty="0" err="1"/>
              <a:t>Dockerfile</a:t>
            </a:r>
            <a:r>
              <a:rPr lang="en-US" sz="1400" dirty="0"/>
              <a:t>. </a:t>
            </a:r>
            <a:r>
              <a:rPr lang="en-US" sz="1400" dirty="0" err="1"/>
              <a:t>Dockerfile</a:t>
            </a:r>
            <a:r>
              <a:rPr lang="en-US" sz="1400" dirty="0"/>
              <a:t> </a:t>
            </a:r>
            <a:r>
              <a:rPr lang="en-US" sz="1400" dirty="0" err="1"/>
              <a:t>ini</a:t>
            </a:r>
            <a:r>
              <a:rPr lang="en-US" sz="1400" dirty="0"/>
              <a:t> </a:t>
            </a:r>
            <a:r>
              <a:rPr lang="en-US" sz="1400" dirty="0" err="1"/>
              <a:t>digunakan</a:t>
            </a:r>
            <a:r>
              <a:rPr lang="en-US" sz="1400" dirty="0"/>
              <a:t> </a:t>
            </a:r>
            <a:r>
              <a:rPr lang="en-US" sz="1400" dirty="0" err="1"/>
              <a:t>untuk</a:t>
            </a:r>
            <a:r>
              <a:rPr lang="en-US" sz="1400" dirty="0"/>
              <a:t> </a:t>
            </a:r>
            <a:r>
              <a:rPr lang="en-US" sz="1400" dirty="0" err="1"/>
              <a:t>membuat</a:t>
            </a:r>
            <a:r>
              <a:rPr lang="en-US" sz="1400" dirty="0"/>
              <a:t> image </a:t>
            </a:r>
            <a:r>
              <a:rPr lang="en-US" sz="1400" dirty="0" err="1"/>
              <a:t>sesuai</a:t>
            </a:r>
            <a:r>
              <a:rPr lang="en-US" sz="1400" dirty="0"/>
              <a:t> </a:t>
            </a:r>
            <a:r>
              <a:rPr lang="en-US" sz="1400" dirty="0" err="1"/>
              <a:t>dengan</a:t>
            </a:r>
            <a:r>
              <a:rPr lang="en-US" sz="1400" dirty="0"/>
              <a:t> </a:t>
            </a:r>
            <a:r>
              <a:rPr lang="en-US" sz="1400" dirty="0" err="1"/>
              <a:t>kebutuhan</a:t>
            </a:r>
            <a:r>
              <a:rPr lang="en-US" sz="1400" dirty="0"/>
              <a:t> yang </a:t>
            </a:r>
            <a:r>
              <a:rPr lang="en-US" sz="1400" dirty="0" err="1"/>
              <a:t>kita</a:t>
            </a:r>
            <a:r>
              <a:rPr lang="en-US" sz="1400" dirty="0"/>
              <a:t> </a:t>
            </a:r>
            <a:r>
              <a:rPr lang="en-US" sz="1400" dirty="0" err="1"/>
              <a:t>perlukan</a:t>
            </a:r>
            <a:r>
              <a:rPr lang="en-US" sz="1400" dirty="0"/>
              <a:t>. </a:t>
            </a:r>
            <a:r>
              <a:rPr lang="en-US" sz="1400" dirty="0" err="1"/>
              <a:t>Umumnya</a:t>
            </a:r>
            <a:r>
              <a:rPr lang="en-US" sz="1400" dirty="0"/>
              <a:t> </a:t>
            </a:r>
            <a:r>
              <a:rPr lang="en-US" sz="1400" dirty="0" err="1"/>
              <a:t>isi</a:t>
            </a:r>
            <a:r>
              <a:rPr lang="en-US" sz="1400" dirty="0"/>
              <a:t> </a:t>
            </a:r>
            <a:r>
              <a:rPr lang="en-US" sz="1400" dirty="0" err="1"/>
              <a:t>pada</a:t>
            </a:r>
            <a:r>
              <a:rPr lang="en-US" sz="1400" dirty="0"/>
              <a:t> </a:t>
            </a:r>
            <a:r>
              <a:rPr lang="en-US" sz="1400" dirty="0" err="1"/>
              <a:t>dockerfile</a:t>
            </a:r>
            <a:r>
              <a:rPr lang="en-US" sz="1400" dirty="0"/>
              <a:t> </a:t>
            </a:r>
            <a:r>
              <a:rPr lang="en-US" sz="1400" dirty="0" err="1"/>
              <a:t>merupakan</a:t>
            </a:r>
            <a:r>
              <a:rPr lang="en-US" sz="1400" dirty="0"/>
              <a:t> </a:t>
            </a:r>
            <a:r>
              <a:rPr lang="en-US" sz="1400" dirty="0" err="1"/>
              <a:t>langkah-langkah</a:t>
            </a:r>
            <a:r>
              <a:rPr lang="en-US" sz="1400" dirty="0"/>
              <a:t> yang </a:t>
            </a:r>
            <a:r>
              <a:rPr lang="en-US" sz="1400" dirty="0" err="1"/>
              <a:t>kita</a:t>
            </a:r>
            <a:r>
              <a:rPr lang="en-US" sz="1400" dirty="0"/>
              <a:t> </a:t>
            </a:r>
            <a:r>
              <a:rPr lang="en-US" sz="1400" dirty="0" err="1"/>
              <a:t>gunakan</a:t>
            </a:r>
            <a:r>
              <a:rPr lang="en-US" sz="1400" dirty="0"/>
              <a:t> </a:t>
            </a:r>
            <a:r>
              <a:rPr lang="en-US" sz="1400" dirty="0" err="1"/>
              <a:t>saat</a:t>
            </a:r>
            <a:r>
              <a:rPr lang="en-US" sz="1400" dirty="0"/>
              <a:t> </a:t>
            </a:r>
            <a:r>
              <a:rPr lang="en-US" sz="1400" dirty="0" err="1"/>
              <a:t>mencoba</a:t>
            </a:r>
            <a:r>
              <a:rPr lang="en-US" sz="1400" dirty="0"/>
              <a:t> deploy simple app flask </a:t>
            </a:r>
            <a:r>
              <a:rPr lang="en-US" sz="1400" dirty="0" err="1"/>
              <a:t>kita</a:t>
            </a:r>
            <a:r>
              <a:rPr lang="en-US" sz="1400" dirty="0"/>
              <a:t>. </a:t>
            </a:r>
            <a:r>
              <a:rPr lang="en-US" sz="1400" dirty="0" err="1"/>
              <a:t>Jika</a:t>
            </a:r>
            <a:r>
              <a:rPr lang="en-US" sz="1400" dirty="0"/>
              <a:t> kalian </a:t>
            </a:r>
            <a:r>
              <a:rPr lang="en-US" sz="1400" dirty="0" err="1"/>
              <a:t>perhatikan</a:t>
            </a:r>
            <a:r>
              <a:rPr lang="en-US" sz="1400" dirty="0"/>
              <a:t> </a:t>
            </a:r>
            <a:r>
              <a:rPr lang="en-US" sz="1400" dirty="0" err="1"/>
              <a:t>dengan</a:t>
            </a:r>
            <a:r>
              <a:rPr lang="en-US" sz="1400" dirty="0"/>
              <a:t> </a:t>
            </a:r>
            <a:r>
              <a:rPr lang="en-US" sz="1400" dirty="0" err="1"/>
              <a:t>baik</a:t>
            </a:r>
            <a:r>
              <a:rPr lang="en-US" sz="1400" dirty="0"/>
              <a:t>, </a:t>
            </a:r>
            <a:r>
              <a:rPr lang="en-US" sz="1400" dirty="0" err="1"/>
              <a:t>isi</a:t>
            </a:r>
            <a:r>
              <a:rPr lang="en-US" sz="1400" dirty="0"/>
              <a:t> </a:t>
            </a:r>
            <a:r>
              <a:rPr lang="en-US" sz="1400" dirty="0" err="1"/>
              <a:t>Dockerfile</a:t>
            </a:r>
            <a:r>
              <a:rPr lang="en-US" sz="1400" dirty="0"/>
              <a:t> </a:t>
            </a:r>
            <a:r>
              <a:rPr lang="en-US" sz="1400" dirty="0" err="1"/>
              <a:t>merupakan</a:t>
            </a:r>
            <a:r>
              <a:rPr lang="en-US" sz="1400" dirty="0"/>
              <a:t> requirement-requirement </a:t>
            </a:r>
            <a:r>
              <a:rPr lang="en-US" sz="1400" dirty="0" err="1"/>
              <a:t>saat</a:t>
            </a:r>
            <a:r>
              <a:rPr lang="en-US" sz="1400" dirty="0"/>
              <a:t> </a:t>
            </a:r>
            <a:r>
              <a:rPr lang="en-US" sz="1400" dirty="0" err="1"/>
              <a:t>kita</a:t>
            </a:r>
            <a:r>
              <a:rPr lang="en-US" sz="1400" dirty="0"/>
              <a:t> </a:t>
            </a:r>
            <a:r>
              <a:rPr lang="en-US" sz="1400" dirty="0" err="1"/>
              <a:t>mendeploy</a:t>
            </a:r>
            <a:r>
              <a:rPr lang="en-US" sz="1400" dirty="0"/>
              <a:t> simple app </a:t>
            </a:r>
            <a:r>
              <a:rPr lang="en-US" sz="1400" dirty="0" err="1"/>
              <a:t>flask.#vim</a:t>
            </a:r>
            <a:r>
              <a:rPr lang="en-US" sz="1400" dirty="0"/>
              <a:t> </a:t>
            </a:r>
            <a:r>
              <a:rPr lang="en-US" sz="1400" dirty="0" err="1"/>
              <a:t>Dockerfile</a:t>
            </a:r>
            <a:r>
              <a:rPr lang="en-US" sz="1400" dirty="0"/>
              <a:t> ------Isi Docker File----- FROM python:3.8-slim EXPOSE 80 RUN </a:t>
            </a:r>
            <a:r>
              <a:rPr lang="en-US" sz="1400" dirty="0" err="1"/>
              <a:t>mkdir</a:t>
            </a:r>
            <a:r>
              <a:rPr lang="en-US" sz="1400" dirty="0"/>
              <a:t> -p /flask/sample-app WORKDIR /flask/sample-app COPY requirements.txt . COPY main.py . COPY templates/index.html templates/index.html RUN pip3 install -r requirements.txt CMD ["python3", "main.py"]</a:t>
            </a:r>
            <a:r>
              <a:rPr lang="en-US" sz="1400" dirty="0" err="1"/>
              <a:t>Penjelasan</a:t>
            </a:r>
            <a:r>
              <a:rPr lang="en-US" sz="1400" dirty="0"/>
              <a:t> </a:t>
            </a:r>
            <a:r>
              <a:rPr lang="en-US" sz="1400" dirty="0" err="1"/>
              <a:t>beberapa</a:t>
            </a:r>
            <a:r>
              <a:rPr lang="en-US" sz="1400" dirty="0"/>
              <a:t> </a:t>
            </a:r>
            <a:r>
              <a:rPr lang="en-US" sz="1400" dirty="0" err="1"/>
              <a:t>perintah</a:t>
            </a:r>
            <a:r>
              <a:rPr lang="en-US" sz="1400" dirty="0"/>
              <a:t> </a:t>
            </a:r>
            <a:r>
              <a:rPr lang="en-US" sz="1400" dirty="0" err="1"/>
              <a:t>pada</a:t>
            </a:r>
            <a:r>
              <a:rPr lang="en-US" sz="1400" dirty="0"/>
              <a:t> </a:t>
            </a:r>
            <a:r>
              <a:rPr lang="en-US" sz="1400" dirty="0" err="1"/>
              <a:t>Dockerfile</a:t>
            </a:r>
            <a:r>
              <a:rPr lang="en-US" sz="1400" dirty="0" smtClean="0"/>
              <a:t>:</a:t>
            </a:r>
            <a:endParaRPr lang="en-US" sz="1400" dirty="0"/>
          </a:p>
        </p:txBody>
      </p:sp>
      <p:sp>
        <p:nvSpPr>
          <p:cNvPr id="12" name="Rectangle 11"/>
          <p:cNvSpPr/>
          <p:nvPr/>
        </p:nvSpPr>
        <p:spPr>
          <a:xfrm>
            <a:off x="5924550" y="296309"/>
            <a:ext cx="6046952" cy="5693866"/>
          </a:xfrm>
          <a:prstGeom prst="rect">
            <a:avLst/>
          </a:prstGeom>
        </p:spPr>
        <p:txBody>
          <a:bodyPr wrap="square">
            <a:spAutoFit/>
          </a:bodyPr>
          <a:lstStyle/>
          <a:p>
            <a:pPr marL="285750" indent="-285750" algn="just">
              <a:buFont typeface="Wingdings" panose="05000000000000000000" pitchFamily="2" charset="2"/>
              <a:buChar char="ü"/>
            </a:pPr>
            <a:r>
              <a:rPr lang="en-US" sz="1400" dirty="0" smtClean="0"/>
              <a:t>FROM </a:t>
            </a:r>
            <a:r>
              <a:rPr lang="en-US" sz="1400" dirty="0"/>
              <a:t>python:3.8-slimMengambil </a:t>
            </a:r>
            <a:r>
              <a:rPr lang="en-US" sz="1400" dirty="0" err="1"/>
              <a:t>atau</a:t>
            </a:r>
            <a:r>
              <a:rPr lang="en-US" sz="1400" dirty="0"/>
              <a:t> </a:t>
            </a:r>
            <a:r>
              <a:rPr lang="en-US" sz="1400" dirty="0" err="1"/>
              <a:t>mengepull</a:t>
            </a:r>
            <a:r>
              <a:rPr lang="en-US" sz="1400" dirty="0"/>
              <a:t> image python:3.8-slim </a:t>
            </a:r>
            <a:r>
              <a:rPr lang="en-US" sz="1400" dirty="0" err="1"/>
              <a:t>dari</a:t>
            </a:r>
            <a:r>
              <a:rPr lang="en-US" sz="1400" dirty="0"/>
              <a:t> </a:t>
            </a:r>
            <a:r>
              <a:rPr lang="en-US" sz="1400" dirty="0" err="1"/>
              <a:t>docker</a:t>
            </a:r>
            <a:r>
              <a:rPr lang="en-US" sz="1400" dirty="0"/>
              <a:t> hub</a:t>
            </a:r>
          </a:p>
          <a:p>
            <a:pPr marL="285750" indent="-285750" algn="just">
              <a:buFont typeface="Wingdings" panose="05000000000000000000" pitchFamily="2" charset="2"/>
              <a:buChar char="ü"/>
            </a:pPr>
            <a:r>
              <a:rPr lang="en-US" sz="1400" dirty="0"/>
              <a:t>EXPOSE 80Untuk </a:t>
            </a:r>
            <a:r>
              <a:rPr lang="en-US" sz="1400" dirty="0" err="1"/>
              <a:t>mendefinisikan</a:t>
            </a:r>
            <a:r>
              <a:rPr lang="en-US" sz="1400" dirty="0"/>
              <a:t> port </a:t>
            </a:r>
            <a:r>
              <a:rPr lang="en-US" sz="1400" dirty="0" err="1"/>
              <a:t>untuk</a:t>
            </a:r>
            <a:r>
              <a:rPr lang="en-US" sz="1400" dirty="0"/>
              <a:t> container </a:t>
            </a:r>
            <a:r>
              <a:rPr lang="en-US" sz="1400" dirty="0" err="1"/>
              <a:t>saat</a:t>
            </a:r>
            <a:r>
              <a:rPr lang="en-US" sz="1400" dirty="0"/>
              <a:t> </a:t>
            </a:r>
            <a:r>
              <a:rPr lang="en-US" sz="1400" dirty="0" err="1"/>
              <a:t>diaktifkan</a:t>
            </a:r>
            <a:endParaRPr lang="en-US" sz="1400" dirty="0"/>
          </a:p>
          <a:p>
            <a:pPr marL="285750" indent="-285750" algn="just">
              <a:buFont typeface="Wingdings" panose="05000000000000000000" pitchFamily="2" charset="2"/>
              <a:buChar char="ü"/>
            </a:pPr>
            <a:r>
              <a:rPr lang="en-US" sz="1400" dirty="0"/>
              <a:t>RUN </a:t>
            </a:r>
            <a:r>
              <a:rPr lang="en-US" sz="1400" dirty="0" err="1"/>
              <a:t>mkdir</a:t>
            </a:r>
            <a:r>
              <a:rPr lang="en-US" sz="1400" dirty="0"/>
              <a:t> -p /flask/sample-</a:t>
            </a:r>
            <a:r>
              <a:rPr lang="en-US" sz="1400" dirty="0" err="1"/>
              <a:t>appDigunakan</a:t>
            </a:r>
            <a:r>
              <a:rPr lang="en-US" sz="1400" dirty="0"/>
              <a:t> </a:t>
            </a:r>
            <a:r>
              <a:rPr lang="en-US" sz="1400" dirty="0" err="1"/>
              <a:t>untuk</a:t>
            </a:r>
            <a:r>
              <a:rPr lang="en-US" sz="1400" dirty="0"/>
              <a:t> </a:t>
            </a:r>
            <a:r>
              <a:rPr lang="en-US" sz="1400" dirty="0" err="1"/>
              <a:t>mengeksekusi</a:t>
            </a:r>
            <a:r>
              <a:rPr lang="en-US" sz="1400" dirty="0"/>
              <a:t> </a:t>
            </a:r>
            <a:r>
              <a:rPr lang="en-US" sz="1400" dirty="0" err="1"/>
              <a:t>perintah</a:t>
            </a:r>
            <a:r>
              <a:rPr lang="en-US" sz="1400" dirty="0"/>
              <a:t> </a:t>
            </a:r>
            <a:r>
              <a:rPr lang="en-US" sz="1400" dirty="0" err="1"/>
              <a:t>mkdir</a:t>
            </a:r>
            <a:r>
              <a:rPr lang="en-US" sz="1400" dirty="0"/>
              <a:t>… </a:t>
            </a:r>
            <a:r>
              <a:rPr lang="en-US" sz="1400" dirty="0" err="1"/>
              <a:t>pada</a:t>
            </a:r>
            <a:r>
              <a:rPr lang="en-US" sz="1400" dirty="0"/>
              <a:t> </a:t>
            </a:r>
            <a:r>
              <a:rPr lang="en-US" sz="1400" dirty="0" err="1"/>
              <a:t>saat</a:t>
            </a:r>
            <a:r>
              <a:rPr lang="en-US" sz="1400" dirty="0"/>
              <a:t> </a:t>
            </a:r>
            <a:r>
              <a:rPr lang="en-US" sz="1400" dirty="0" err="1"/>
              <a:t>pembuatan</a:t>
            </a:r>
            <a:r>
              <a:rPr lang="en-US" sz="1400" dirty="0"/>
              <a:t> image.</a:t>
            </a:r>
          </a:p>
          <a:p>
            <a:pPr marL="285750" indent="-285750" algn="just">
              <a:buFont typeface="Wingdings" panose="05000000000000000000" pitchFamily="2" charset="2"/>
              <a:buChar char="ü"/>
            </a:pPr>
            <a:r>
              <a:rPr lang="en-US" sz="1400" dirty="0"/>
              <a:t>WORKDIR /flask/sample-</a:t>
            </a:r>
            <a:r>
              <a:rPr lang="en-US" sz="1400" dirty="0" err="1"/>
              <a:t>appPerintah</a:t>
            </a:r>
            <a:r>
              <a:rPr lang="en-US" sz="1400" dirty="0"/>
              <a:t> </a:t>
            </a:r>
            <a:r>
              <a:rPr lang="en-US" sz="1400" dirty="0" err="1"/>
              <a:t>ini</a:t>
            </a:r>
            <a:r>
              <a:rPr lang="en-US" sz="1400" dirty="0"/>
              <a:t> </a:t>
            </a:r>
            <a:r>
              <a:rPr lang="en-US" sz="1400" dirty="0" err="1"/>
              <a:t>digunakan</a:t>
            </a:r>
            <a:r>
              <a:rPr lang="en-US" sz="1400" dirty="0"/>
              <a:t> </a:t>
            </a:r>
            <a:r>
              <a:rPr lang="en-US" sz="1400" dirty="0" err="1"/>
              <a:t>untuk</a:t>
            </a:r>
            <a:r>
              <a:rPr lang="en-US" sz="1400" dirty="0"/>
              <a:t> </a:t>
            </a:r>
            <a:r>
              <a:rPr lang="en-US" sz="1400" dirty="0" err="1"/>
              <a:t>masuk</a:t>
            </a:r>
            <a:r>
              <a:rPr lang="en-US" sz="1400" dirty="0"/>
              <a:t> </a:t>
            </a:r>
            <a:r>
              <a:rPr lang="en-US" sz="1400" dirty="0" err="1"/>
              <a:t>ke</a:t>
            </a:r>
            <a:r>
              <a:rPr lang="en-US" sz="1400" dirty="0"/>
              <a:t> Working Directory (</a:t>
            </a:r>
            <a:r>
              <a:rPr lang="en-US" sz="1400" dirty="0" err="1"/>
              <a:t>direktori</a:t>
            </a:r>
            <a:r>
              <a:rPr lang="en-US" sz="1400" dirty="0"/>
              <a:t> </a:t>
            </a:r>
            <a:r>
              <a:rPr lang="en-US" sz="1400" dirty="0" err="1"/>
              <a:t>kerj</a:t>
            </a:r>
            <a:r>
              <a:rPr lang="en-US" sz="1400" dirty="0"/>
              <a:t>)a yang </a:t>
            </a:r>
            <a:r>
              <a:rPr lang="en-US" sz="1400" dirty="0" err="1"/>
              <a:t>akan</a:t>
            </a:r>
            <a:r>
              <a:rPr lang="en-US" sz="1400" dirty="0"/>
              <a:t> </a:t>
            </a:r>
            <a:r>
              <a:rPr lang="en-US" sz="1400" dirty="0" err="1"/>
              <a:t>digunakan</a:t>
            </a:r>
            <a:r>
              <a:rPr lang="en-US" sz="1400" dirty="0"/>
              <a:t>. </a:t>
            </a:r>
            <a:r>
              <a:rPr lang="en-US" sz="1400" dirty="0" err="1"/>
              <a:t>Sama</a:t>
            </a:r>
            <a:r>
              <a:rPr lang="en-US" sz="1400" dirty="0"/>
              <a:t> </a:t>
            </a:r>
            <a:r>
              <a:rPr lang="en-US" sz="1400" dirty="0" err="1"/>
              <a:t>seperti</a:t>
            </a:r>
            <a:r>
              <a:rPr lang="en-US" sz="1400" dirty="0"/>
              <a:t> </a:t>
            </a:r>
            <a:r>
              <a:rPr lang="en-US" sz="1400" dirty="0" err="1"/>
              <a:t>saat</a:t>
            </a:r>
            <a:r>
              <a:rPr lang="en-US" sz="1400" dirty="0"/>
              <a:t> </a:t>
            </a:r>
            <a:r>
              <a:rPr lang="en-US" sz="1400" dirty="0" err="1"/>
              <a:t>kita</a:t>
            </a:r>
            <a:r>
              <a:rPr lang="en-US" sz="1400" dirty="0"/>
              <a:t> </a:t>
            </a:r>
            <a:r>
              <a:rPr lang="en-US" sz="1400" dirty="0" err="1"/>
              <a:t>menggunakan</a:t>
            </a:r>
            <a:r>
              <a:rPr lang="en-US" sz="1400" dirty="0"/>
              <a:t> </a:t>
            </a:r>
            <a:r>
              <a:rPr lang="en-US" sz="1400" dirty="0" err="1"/>
              <a:t>perintah</a:t>
            </a:r>
            <a:r>
              <a:rPr lang="en-US" sz="1400" dirty="0"/>
              <a:t> cd /flask/sample-app.</a:t>
            </a:r>
          </a:p>
          <a:p>
            <a:pPr marL="285750" indent="-285750" algn="just">
              <a:buFont typeface="Wingdings" panose="05000000000000000000" pitchFamily="2" charset="2"/>
              <a:buChar char="ü"/>
            </a:pPr>
            <a:r>
              <a:rPr lang="en-US" sz="1400" dirty="0"/>
              <a:t>COPY requirements.txt .</a:t>
            </a:r>
            <a:r>
              <a:rPr lang="en-US" sz="1400" dirty="0" err="1"/>
              <a:t>Digunakan</a:t>
            </a:r>
            <a:r>
              <a:rPr lang="en-US" sz="1400" dirty="0"/>
              <a:t> </a:t>
            </a:r>
            <a:r>
              <a:rPr lang="en-US" sz="1400" dirty="0" err="1"/>
              <a:t>untuk</a:t>
            </a:r>
            <a:r>
              <a:rPr lang="en-US" sz="1400" dirty="0"/>
              <a:t> </a:t>
            </a:r>
            <a:r>
              <a:rPr lang="en-US" sz="1400" dirty="0" err="1"/>
              <a:t>mengcopy</a:t>
            </a:r>
            <a:r>
              <a:rPr lang="en-US" sz="1400" dirty="0"/>
              <a:t> file requirements.txt yang </a:t>
            </a:r>
            <a:r>
              <a:rPr lang="en-US" sz="1400" dirty="0" err="1"/>
              <a:t>telah</a:t>
            </a:r>
            <a:r>
              <a:rPr lang="en-US" sz="1400" dirty="0"/>
              <a:t> </a:t>
            </a:r>
            <a:r>
              <a:rPr lang="en-US" sz="1400" dirty="0" err="1"/>
              <a:t>kita</a:t>
            </a:r>
            <a:r>
              <a:rPr lang="en-US" sz="1400" dirty="0"/>
              <a:t> </a:t>
            </a:r>
            <a:r>
              <a:rPr lang="en-US" sz="1400" dirty="0" err="1"/>
              <a:t>buat</a:t>
            </a:r>
            <a:r>
              <a:rPr lang="en-US" sz="1400" dirty="0"/>
              <a:t> </a:t>
            </a:r>
            <a:r>
              <a:rPr lang="en-US" sz="1400" dirty="0" err="1"/>
              <a:t>kedalam</a:t>
            </a:r>
            <a:r>
              <a:rPr lang="en-US" sz="1400" dirty="0"/>
              <a:t> Working Directory.</a:t>
            </a:r>
          </a:p>
          <a:p>
            <a:pPr marL="285750" indent="-285750" algn="just">
              <a:buFont typeface="Wingdings" panose="05000000000000000000" pitchFamily="2" charset="2"/>
              <a:buChar char="ü"/>
            </a:pPr>
            <a:r>
              <a:rPr lang="en-US" sz="1400" dirty="0"/>
              <a:t>COPY main.py .</a:t>
            </a:r>
            <a:r>
              <a:rPr lang="en-US" sz="1400" dirty="0" err="1"/>
              <a:t>Digunakan</a:t>
            </a:r>
            <a:r>
              <a:rPr lang="en-US" sz="1400" dirty="0"/>
              <a:t> </a:t>
            </a:r>
            <a:r>
              <a:rPr lang="en-US" sz="1400" dirty="0" err="1"/>
              <a:t>untuk</a:t>
            </a:r>
            <a:r>
              <a:rPr lang="en-US" sz="1400" dirty="0"/>
              <a:t> </a:t>
            </a:r>
            <a:r>
              <a:rPr lang="en-US" sz="1400" dirty="0" err="1"/>
              <a:t>mengcopy</a:t>
            </a:r>
            <a:r>
              <a:rPr lang="en-US" sz="1400" dirty="0"/>
              <a:t> file main.py yang </a:t>
            </a:r>
            <a:r>
              <a:rPr lang="en-US" sz="1400" dirty="0" err="1"/>
              <a:t>telah</a:t>
            </a:r>
            <a:r>
              <a:rPr lang="en-US" sz="1400" dirty="0"/>
              <a:t> </a:t>
            </a:r>
            <a:r>
              <a:rPr lang="en-US" sz="1400" dirty="0" err="1"/>
              <a:t>kita</a:t>
            </a:r>
            <a:r>
              <a:rPr lang="en-US" sz="1400" dirty="0"/>
              <a:t> </a:t>
            </a:r>
            <a:r>
              <a:rPr lang="en-US" sz="1400" dirty="0" err="1"/>
              <a:t>buat</a:t>
            </a:r>
            <a:r>
              <a:rPr lang="en-US" sz="1400" dirty="0"/>
              <a:t> </a:t>
            </a:r>
            <a:r>
              <a:rPr lang="en-US" sz="1400" dirty="0" err="1"/>
              <a:t>kedalam</a:t>
            </a:r>
            <a:r>
              <a:rPr lang="en-US" sz="1400" dirty="0"/>
              <a:t> Working Directory.</a:t>
            </a:r>
          </a:p>
          <a:p>
            <a:pPr marL="285750" indent="-285750" algn="just">
              <a:buFont typeface="Wingdings" panose="05000000000000000000" pitchFamily="2" charset="2"/>
              <a:buChar char="ü"/>
            </a:pPr>
            <a:r>
              <a:rPr lang="en-US" sz="1400" dirty="0"/>
              <a:t>COPY templates/index.html templates/</a:t>
            </a:r>
            <a:r>
              <a:rPr lang="en-US" sz="1400" dirty="0" err="1"/>
              <a:t>index.htmlDigunakan</a:t>
            </a:r>
            <a:r>
              <a:rPr lang="en-US" sz="1400" dirty="0"/>
              <a:t> </a:t>
            </a:r>
            <a:r>
              <a:rPr lang="en-US" sz="1400" dirty="0" err="1"/>
              <a:t>untuk</a:t>
            </a:r>
            <a:r>
              <a:rPr lang="en-US" sz="1400" dirty="0"/>
              <a:t> </a:t>
            </a:r>
            <a:r>
              <a:rPr lang="en-US" sz="1400" dirty="0" err="1"/>
              <a:t>mengcopy</a:t>
            </a:r>
            <a:r>
              <a:rPr lang="en-US" sz="1400" dirty="0"/>
              <a:t> file index.html yang </a:t>
            </a:r>
            <a:r>
              <a:rPr lang="en-US" sz="1400" dirty="0" err="1"/>
              <a:t>telah</a:t>
            </a:r>
            <a:r>
              <a:rPr lang="en-US" sz="1400" dirty="0"/>
              <a:t> </a:t>
            </a:r>
            <a:r>
              <a:rPr lang="en-US" sz="1400" dirty="0" err="1"/>
              <a:t>kita</a:t>
            </a:r>
            <a:r>
              <a:rPr lang="en-US" sz="1400" dirty="0"/>
              <a:t> </a:t>
            </a:r>
            <a:r>
              <a:rPr lang="en-US" sz="1400" dirty="0" err="1"/>
              <a:t>buat</a:t>
            </a:r>
            <a:r>
              <a:rPr lang="en-US" sz="1400" dirty="0"/>
              <a:t> </a:t>
            </a:r>
            <a:r>
              <a:rPr lang="en-US" sz="1400" dirty="0" err="1"/>
              <a:t>kedalam</a:t>
            </a:r>
            <a:r>
              <a:rPr lang="en-US" sz="1400" dirty="0"/>
              <a:t> folder templates/.</a:t>
            </a:r>
          </a:p>
          <a:p>
            <a:pPr marL="285750" indent="-285750" algn="just">
              <a:buFont typeface="Wingdings" panose="05000000000000000000" pitchFamily="2" charset="2"/>
              <a:buChar char="ü"/>
            </a:pPr>
            <a:r>
              <a:rPr lang="en-US" sz="1400" dirty="0"/>
              <a:t>RUN pip3 install -r </a:t>
            </a:r>
            <a:r>
              <a:rPr lang="en-US" sz="1400" dirty="0" err="1"/>
              <a:t>requirements.txtDigunakan</a:t>
            </a:r>
            <a:r>
              <a:rPr lang="en-US" sz="1400" dirty="0"/>
              <a:t> </a:t>
            </a:r>
            <a:r>
              <a:rPr lang="en-US" sz="1400" dirty="0" err="1"/>
              <a:t>untuk</a:t>
            </a:r>
            <a:r>
              <a:rPr lang="en-US" sz="1400" dirty="0"/>
              <a:t> </a:t>
            </a:r>
            <a:r>
              <a:rPr lang="en-US" sz="1400" dirty="0" err="1"/>
              <a:t>mengeksekusi</a:t>
            </a:r>
            <a:r>
              <a:rPr lang="en-US" sz="1400" dirty="0"/>
              <a:t> </a:t>
            </a:r>
            <a:r>
              <a:rPr lang="en-US" sz="1400" dirty="0" err="1"/>
              <a:t>perintah</a:t>
            </a:r>
            <a:r>
              <a:rPr lang="en-US" sz="1400" dirty="0"/>
              <a:t> pip3… yang </a:t>
            </a:r>
            <a:r>
              <a:rPr lang="en-US" sz="1400" dirty="0" err="1"/>
              <a:t>dimana</a:t>
            </a:r>
            <a:r>
              <a:rPr lang="en-US" sz="1400" dirty="0"/>
              <a:t> </a:t>
            </a:r>
            <a:r>
              <a:rPr lang="en-US" sz="1400" dirty="0" err="1"/>
              <a:t>menginstal</a:t>
            </a:r>
            <a:r>
              <a:rPr lang="en-US" sz="1400" dirty="0"/>
              <a:t> </a:t>
            </a:r>
            <a:r>
              <a:rPr lang="en-US" sz="1400" dirty="0" err="1"/>
              <a:t>semua</a:t>
            </a:r>
            <a:r>
              <a:rPr lang="en-US" sz="1400" dirty="0"/>
              <a:t> dependencies yang </a:t>
            </a:r>
            <a:r>
              <a:rPr lang="en-US" sz="1400" dirty="0" err="1"/>
              <a:t>ada</a:t>
            </a:r>
            <a:r>
              <a:rPr lang="en-US" sz="1400" dirty="0"/>
              <a:t> </a:t>
            </a:r>
            <a:r>
              <a:rPr lang="en-US" sz="1400" dirty="0" err="1"/>
              <a:t>pada</a:t>
            </a:r>
            <a:r>
              <a:rPr lang="en-US" sz="1400" dirty="0"/>
              <a:t> </a:t>
            </a:r>
            <a:r>
              <a:rPr lang="en-US" sz="1400" dirty="0" err="1"/>
              <a:t>isi</a:t>
            </a:r>
            <a:r>
              <a:rPr lang="en-US" sz="1400" dirty="0"/>
              <a:t> file requirements.txt.</a:t>
            </a:r>
          </a:p>
          <a:p>
            <a:pPr marL="285750" indent="-285750" algn="just">
              <a:buFont typeface="Wingdings" panose="05000000000000000000" pitchFamily="2" charset="2"/>
              <a:buChar char="ü"/>
            </a:pPr>
            <a:r>
              <a:rPr lang="en-US" sz="1400" dirty="0"/>
              <a:t>CMD [“python3”, “main.py“]</a:t>
            </a:r>
            <a:r>
              <a:rPr lang="en-US" sz="1400" dirty="0" err="1"/>
              <a:t>Digunakan</a:t>
            </a:r>
            <a:r>
              <a:rPr lang="en-US" sz="1400" dirty="0"/>
              <a:t> </a:t>
            </a:r>
            <a:r>
              <a:rPr lang="en-US" sz="1400" dirty="0" err="1"/>
              <a:t>untuk</a:t>
            </a:r>
            <a:r>
              <a:rPr lang="en-US" sz="1400" dirty="0"/>
              <a:t> </a:t>
            </a:r>
            <a:r>
              <a:rPr lang="en-US" sz="1400" dirty="0" err="1"/>
              <a:t>mengeksekusi</a:t>
            </a:r>
            <a:r>
              <a:rPr lang="en-US" sz="1400" dirty="0"/>
              <a:t> </a:t>
            </a:r>
            <a:r>
              <a:rPr lang="en-US" sz="1400" dirty="0" err="1"/>
              <a:t>perintah</a:t>
            </a:r>
            <a:r>
              <a:rPr lang="en-US" sz="1400" dirty="0"/>
              <a:t> </a:t>
            </a:r>
            <a:r>
              <a:rPr lang="en-US" sz="1400" dirty="0" err="1"/>
              <a:t>utama</a:t>
            </a:r>
            <a:r>
              <a:rPr lang="en-US" sz="1400" dirty="0"/>
              <a:t> </a:t>
            </a:r>
            <a:r>
              <a:rPr lang="en-US" sz="1400" dirty="0" err="1"/>
              <a:t>pada</a:t>
            </a:r>
            <a:r>
              <a:rPr lang="en-US" sz="1400" dirty="0"/>
              <a:t> </a:t>
            </a:r>
            <a:r>
              <a:rPr lang="en-US" sz="1400" dirty="0" err="1"/>
              <a:t>saat</a:t>
            </a:r>
            <a:r>
              <a:rPr lang="en-US" sz="1400" dirty="0"/>
              <a:t> container </a:t>
            </a:r>
            <a:r>
              <a:rPr lang="en-US" sz="1400" dirty="0" err="1"/>
              <a:t>berjalan</a:t>
            </a:r>
            <a:r>
              <a:rPr lang="en-US" sz="1400" dirty="0"/>
              <a:t>.</a:t>
            </a:r>
          </a:p>
          <a:p>
            <a:pPr marL="342900" indent="-342900" algn="just">
              <a:buFont typeface="+mj-lt"/>
              <a:buAutoNum type="arabicPeriod" startAt="5"/>
            </a:pPr>
            <a:r>
              <a:rPr lang="en-US" sz="1400" dirty="0" err="1"/>
              <a:t>Selanjutnya</a:t>
            </a:r>
            <a:r>
              <a:rPr lang="en-US" sz="1400" dirty="0"/>
              <a:t> </a:t>
            </a:r>
            <a:r>
              <a:rPr lang="en-US" sz="1400" dirty="0" err="1"/>
              <a:t>kita</a:t>
            </a:r>
            <a:r>
              <a:rPr lang="en-US" sz="1400" dirty="0"/>
              <a:t> build </a:t>
            </a:r>
            <a:r>
              <a:rPr lang="en-US" sz="1400" dirty="0" err="1"/>
              <a:t>docker</a:t>
            </a:r>
            <a:r>
              <a:rPr lang="en-US" sz="1400" dirty="0"/>
              <a:t> images </a:t>
            </a:r>
            <a:r>
              <a:rPr lang="en-US" sz="1400" dirty="0" err="1"/>
              <a:t>dengan</a:t>
            </a:r>
            <a:r>
              <a:rPr lang="en-US" sz="1400" dirty="0"/>
              <a:t> </a:t>
            </a:r>
            <a:r>
              <a:rPr lang="en-US" sz="1400" dirty="0" err="1"/>
              <a:t>perintah</a:t>
            </a:r>
            <a:r>
              <a:rPr lang="en-US" sz="1400" dirty="0"/>
              <a:t> </a:t>
            </a:r>
            <a:r>
              <a:rPr lang="en-US" sz="1400" dirty="0" err="1"/>
              <a:t>dibawah</a:t>
            </a:r>
            <a:r>
              <a:rPr lang="en-US" sz="1400" dirty="0"/>
              <a:t>.#</a:t>
            </a:r>
            <a:r>
              <a:rPr lang="en-US" sz="1400" dirty="0" err="1"/>
              <a:t>docker</a:t>
            </a:r>
            <a:r>
              <a:rPr lang="en-US" sz="1400" dirty="0"/>
              <a:t> built -t &lt;tag </a:t>
            </a:r>
            <a:r>
              <a:rPr lang="en-US" sz="1400" dirty="0" err="1"/>
              <a:t>untuk</a:t>
            </a:r>
            <a:r>
              <a:rPr lang="en-US" sz="1400" dirty="0"/>
              <a:t> </a:t>
            </a:r>
            <a:r>
              <a:rPr lang="en-US" sz="1400" dirty="0" err="1"/>
              <a:t>nama</a:t>
            </a:r>
            <a:r>
              <a:rPr lang="en-US" sz="1400" dirty="0"/>
              <a:t> images&gt; &lt;</a:t>
            </a:r>
            <a:r>
              <a:rPr lang="en-US" sz="1400" dirty="0" err="1"/>
              <a:t>direktori</a:t>
            </a:r>
            <a:r>
              <a:rPr lang="en-US" sz="1400" dirty="0"/>
              <a:t> </a:t>
            </a:r>
            <a:r>
              <a:rPr lang="en-US" sz="1400" dirty="0" err="1"/>
              <a:t>letak</a:t>
            </a:r>
            <a:r>
              <a:rPr lang="en-US" sz="1400" dirty="0"/>
              <a:t> </a:t>
            </a:r>
            <a:r>
              <a:rPr lang="en-US" sz="1400" dirty="0" err="1"/>
              <a:t>Dockerfile</a:t>
            </a:r>
            <a:r>
              <a:rPr lang="en-US" sz="1400" dirty="0"/>
              <a:t>&gt; </a:t>
            </a:r>
            <a:r>
              <a:rPr lang="en-US" sz="1400" dirty="0" err="1"/>
              <a:t>contoh</a:t>
            </a:r>
            <a:r>
              <a:rPr lang="en-US" sz="1400" dirty="0"/>
              <a:t>: #</a:t>
            </a:r>
            <a:r>
              <a:rPr lang="en-US" sz="1400" dirty="0" err="1"/>
              <a:t>docker</a:t>
            </a:r>
            <a:r>
              <a:rPr lang="en-US" sz="1400" dirty="0"/>
              <a:t> built -t </a:t>
            </a:r>
            <a:r>
              <a:rPr lang="en-US" sz="1400" dirty="0" err="1"/>
              <a:t>sampleapp</a:t>
            </a:r>
            <a:r>
              <a:rPr lang="en-US" sz="1400" dirty="0"/>
              <a:t> .</a:t>
            </a:r>
          </a:p>
          <a:p>
            <a:pPr marL="342900" indent="-342900" algn="just">
              <a:buFont typeface="+mj-lt"/>
              <a:buAutoNum type="arabicPeriod" startAt="5"/>
            </a:pPr>
            <a:r>
              <a:rPr lang="en-US" sz="1400" dirty="0" err="1"/>
              <a:t>Kemudian</a:t>
            </a:r>
            <a:r>
              <a:rPr lang="en-US" sz="1400" dirty="0"/>
              <a:t>, </a:t>
            </a:r>
            <a:r>
              <a:rPr lang="en-US" sz="1400" dirty="0" err="1"/>
              <a:t>jalankan</a:t>
            </a:r>
            <a:r>
              <a:rPr lang="en-US" sz="1400" dirty="0"/>
              <a:t> </a:t>
            </a:r>
            <a:r>
              <a:rPr lang="en-US" sz="1400" dirty="0" err="1"/>
              <a:t>docker</a:t>
            </a:r>
            <a:r>
              <a:rPr lang="en-US" sz="1400" dirty="0"/>
              <a:t> container </a:t>
            </a:r>
            <a:r>
              <a:rPr lang="en-US" sz="1400" dirty="0" err="1"/>
              <a:t>menggunakan</a:t>
            </a:r>
            <a:r>
              <a:rPr lang="en-US" sz="1400" dirty="0"/>
              <a:t> images yang </a:t>
            </a:r>
            <a:r>
              <a:rPr lang="en-US" sz="1400" dirty="0" err="1"/>
              <a:t>telah</a:t>
            </a:r>
            <a:r>
              <a:rPr lang="en-US" sz="1400" dirty="0"/>
              <a:t> </a:t>
            </a:r>
            <a:r>
              <a:rPr lang="en-US" sz="1400" dirty="0" err="1"/>
              <a:t>kita</a:t>
            </a:r>
            <a:r>
              <a:rPr lang="en-US" sz="1400" dirty="0"/>
              <a:t> </a:t>
            </a:r>
            <a:r>
              <a:rPr lang="en-US" sz="1400" dirty="0" err="1"/>
              <a:t>buat</a:t>
            </a:r>
            <a:r>
              <a:rPr lang="en-US" sz="1400" dirty="0"/>
              <a:t>. </a:t>
            </a:r>
            <a:r>
              <a:rPr lang="en-US" sz="1400" dirty="0" err="1"/>
              <a:t>Jangan</a:t>
            </a:r>
            <a:r>
              <a:rPr lang="en-US" sz="1400" dirty="0"/>
              <a:t> </a:t>
            </a:r>
            <a:r>
              <a:rPr lang="en-US" sz="1400" dirty="0" err="1"/>
              <a:t>lupa</a:t>
            </a:r>
            <a:r>
              <a:rPr lang="en-US" sz="1400" dirty="0"/>
              <a:t> </a:t>
            </a:r>
            <a:r>
              <a:rPr lang="en-US" sz="1400" dirty="0" err="1"/>
              <a:t>untuk</a:t>
            </a:r>
            <a:r>
              <a:rPr lang="en-US" sz="1400" dirty="0"/>
              <a:t> expose </a:t>
            </a:r>
            <a:r>
              <a:rPr lang="en-US" sz="1400" dirty="0" err="1"/>
              <a:t>portnya</a:t>
            </a:r>
            <a:r>
              <a:rPr lang="en-US" sz="1400" dirty="0"/>
              <a:t> </a:t>
            </a:r>
            <a:r>
              <a:rPr lang="en-US" sz="1400" dirty="0" err="1"/>
              <a:t>ke</a:t>
            </a:r>
            <a:r>
              <a:rPr lang="en-US" sz="1400" dirty="0"/>
              <a:t> 80, agar </a:t>
            </a:r>
            <a:r>
              <a:rPr lang="en-US" sz="1400" dirty="0" err="1"/>
              <a:t>nantinya</a:t>
            </a:r>
            <a:r>
              <a:rPr lang="en-US" sz="1400" dirty="0"/>
              <a:t> </a:t>
            </a:r>
            <a:r>
              <a:rPr lang="en-US" sz="1400" dirty="0" err="1"/>
              <a:t>kita</a:t>
            </a:r>
            <a:r>
              <a:rPr lang="en-US" sz="1400" dirty="0"/>
              <a:t> </a:t>
            </a:r>
            <a:r>
              <a:rPr lang="en-US" sz="1400" dirty="0" err="1"/>
              <a:t>tidak</a:t>
            </a:r>
            <a:r>
              <a:rPr lang="en-US" sz="1400" dirty="0"/>
              <a:t> </a:t>
            </a:r>
            <a:r>
              <a:rPr lang="en-US" sz="1400" dirty="0" err="1"/>
              <a:t>perlu</a:t>
            </a:r>
            <a:r>
              <a:rPr lang="en-US" sz="1400" dirty="0"/>
              <a:t> </a:t>
            </a:r>
            <a:r>
              <a:rPr lang="en-US" sz="1400" dirty="0" err="1"/>
              <a:t>lagi</a:t>
            </a:r>
            <a:r>
              <a:rPr lang="en-US" sz="1400" dirty="0"/>
              <a:t> </a:t>
            </a:r>
            <a:r>
              <a:rPr lang="en-US" sz="1400" dirty="0" err="1"/>
              <a:t>mengetikkan</a:t>
            </a:r>
            <a:r>
              <a:rPr lang="en-US" sz="1400" dirty="0"/>
              <a:t> port </a:t>
            </a:r>
            <a:r>
              <a:rPr lang="en-US" sz="1400" dirty="0" err="1"/>
              <a:t>saat</a:t>
            </a:r>
            <a:r>
              <a:rPr lang="en-US" sz="1400" dirty="0"/>
              <a:t> </a:t>
            </a:r>
            <a:r>
              <a:rPr lang="en-US" sz="1400" dirty="0" err="1"/>
              <a:t>uji</a:t>
            </a:r>
            <a:r>
              <a:rPr lang="en-US" sz="1400" dirty="0"/>
              <a:t> </a:t>
            </a:r>
            <a:r>
              <a:rPr lang="en-US" sz="1400" dirty="0" err="1"/>
              <a:t>coba</a:t>
            </a:r>
            <a:r>
              <a:rPr lang="en-US" sz="1400" dirty="0"/>
              <a:t> </a:t>
            </a:r>
            <a:r>
              <a:rPr lang="en-US" sz="1400" dirty="0" err="1"/>
              <a:t>diweb</a:t>
            </a:r>
            <a:r>
              <a:rPr lang="en-US" sz="1400" dirty="0"/>
              <a:t> browser.#</a:t>
            </a:r>
            <a:r>
              <a:rPr lang="en-US" sz="1400" dirty="0" err="1"/>
              <a:t>docker</a:t>
            </a:r>
            <a:r>
              <a:rPr lang="en-US" sz="1400" dirty="0"/>
              <a:t> run -d -p 80:8080 --name </a:t>
            </a:r>
            <a:r>
              <a:rPr lang="en-US" sz="1400" dirty="0" err="1"/>
              <a:t>sampleapp</a:t>
            </a:r>
            <a:r>
              <a:rPr lang="en-US" sz="1400" dirty="0"/>
              <a:t>-flask </a:t>
            </a:r>
            <a:r>
              <a:rPr lang="en-US" sz="1400" dirty="0" err="1"/>
              <a:t>sampleapp</a:t>
            </a:r>
            <a:endParaRPr lang="en-US" sz="1400" dirty="0"/>
          </a:p>
        </p:txBody>
      </p:sp>
    </p:spTree>
    <p:extLst>
      <p:ext uri="{BB962C8B-B14F-4D97-AF65-F5344CB8AC3E}">
        <p14:creationId xmlns:p14="http://schemas.microsoft.com/office/powerpoint/2010/main" val="2492617615"/>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63276" y="519182"/>
            <a:ext cx="1888068" cy="1116355"/>
          </a:xfrm>
        </p:spPr>
        <p:txBody>
          <a:bodyPr>
            <a:normAutofit/>
          </a:bodyPr>
          <a:lstStyle/>
          <a:p>
            <a:pPr algn="just"/>
            <a:r>
              <a:rPr lang="en-US" b="1" dirty="0" smtClean="0">
                <a:solidFill>
                  <a:srgbClr val="002060"/>
                </a:solidFill>
              </a:rPr>
              <a:t>Image</a:t>
            </a:r>
            <a:endParaRPr lang="en-US" sz="2000" b="1" dirty="0">
              <a:solidFill>
                <a:srgbClr val="002060"/>
              </a:solidFill>
            </a:endParaRPr>
          </a:p>
        </p:txBody>
      </p:sp>
      <p:sp>
        <p:nvSpPr>
          <p:cNvPr id="7" name="Rectangle 6"/>
          <p:cNvSpPr/>
          <p:nvPr/>
        </p:nvSpPr>
        <p:spPr>
          <a:xfrm>
            <a:off x="0" y="61696"/>
            <a:ext cx="2363980" cy="1015663"/>
          </a:xfrm>
          <a:prstGeom prst="rect">
            <a:avLst/>
          </a:prstGeom>
        </p:spPr>
        <p:txBody>
          <a:bodyPr wrap="none">
            <a:spAutoFit/>
          </a:bodyPr>
          <a:lstStyle/>
          <a:p>
            <a:r>
              <a:rPr lang="en-US" sz="6000" dirty="0">
                <a:solidFill>
                  <a:srgbClr val="FFC000"/>
                </a:solidFill>
              </a:rPr>
              <a:t>Docker</a:t>
            </a:r>
          </a:p>
        </p:txBody>
      </p:sp>
      <p:sp>
        <p:nvSpPr>
          <p:cNvPr id="9" name="Rectangle 8"/>
          <p:cNvSpPr/>
          <p:nvPr/>
        </p:nvSpPr>
        <p:spPr>
          <a:xfrm>
            <a:off x="132095" y="1534845"/>
            <a:ext cx="5838497" cy="4031873"/>
          </a:xfrm>
          <a:prstGeom prst="rect">
            <a:avLst/>
          </a:prstGeom>
        </p:spPr>
        <p:txBody>
          <a:bodyPr wrap="square">
            <a:spAutoFit/>
          </a:bodyPr>
          <a:lstStyle/>
          <a:p>
            <a:pPr fontAlgn="base"/>
            <a:r>
              <a:rPr lang="en-US" b="1" dirty="0" err="1" smtClean="0">
                <a:solidFill>
                  <a:srgbClr val="002060"/>
                </a:solidFill>
              </a:rPr>
              <a:t>Pengujian</a:t>
            </a:r>
            <a:endParaRPr lang="en-US" b="1" dirty="0" smtClean="0">
              <a:solidFill>
                <a:srgbClr val="002060"/>
              </a:solidFill>
            </a:endParaRPr>
          </a:p>
          <a:p>
            <a:pPr marL="342900" indent="-342900" fontAlgn="base">
              <a:buFont typeface="+mj-lt"/>
              <a:buAutoNum type="arabicPeriod"/>
            </a:pPr>
            <a:endParaRPr lang="en-US" sz="1400" b="1" dirty="0">
              <a:solidFill>
                <a:srgbClr val="002060"/>
              </a:solidFill>
            </a:endParaRPr>
          </a:p>
          <a:p>
            <a:pPr marL="342900" indent="-342900" algn="just">
              <a:buFont typeface="+mj-lt"/>
              <a:buAutoNum type="arabicPeriod"/>
            </a:pPr>
            <a:r>
              <a:rPr lang="en-US" sz="1400" b="1" dirty="0" err="1"/>
              <a:t>Setelah</a:t>
            </a:r>
            <a:r>
              <a:rPr lang="en-US" sz="1400" b="1" dirty="0"/>
              <a:t> container </a:t>
            </a:r>
            <a:r>
              <a:rPr lang="en-US" sz="1400" b="1" dirty="0" err="1"/>
              <a:t>dijalankan</a:t>
            </a:r>
            <a:r>
              <a:rPr lang="en-US" sz="1400" b="1" dirty="0"/>
              <a:t>, </a:t>
            </a:r>
            <a:r>
              <a:rPr lang="en-US" sz="1400" b="1" dirty="0" err="1"/>
              <a:t>kita</a:t>
            </a:r>
            <a:r>
              <a:rPr lang="en-US" sz="1400" b="1" dirty="0"/>
              <a:t> </a:t>
            </a:r>
            <a:r>
              <a:rPr lang="en-US" sz="1400" b="1" dirty="0" err="1"/>
              <a:t>lihat</a:t>
            </a:r>
            <a:r>
              <a:rPr lang="en-US" sz="1400" b="1" dirty="0"/>
              <a:t> status </a:t>
            </a:r>
            <a:r>
              <a:rPr lang="en-US" sz="1400" b="1" dirty="0" err="1"/>
              <a:t>dari</a:t>
            </a:r>
            <a:r>
              <a:rPr lang="en-US" sz="1400" b="1" dirty="0"/>
              <a:t> container </a:t>
            </a:r>
            <a:r>
              <a:rPr lang="en-US" sz="1400" b="1" dirty="0" err="1"/>
              <a:t>sudah</a:t>
            </a:r>
            <a:r>
              <a:rPr lang="en-US" sz="1400" b="1" dirty="0"/>
              <a:t> </a:t>
            </a:r>
            <a:r>
              <a:rPr lang="en-US" sz="1400" b="1" dirty="0" err="1"/>
              <a:t>benar-benar</a:t>
            </a:r>
            <a:r>
              <a:rPr lang="en-US" sz="1400" b="1" dirty="0"/>
              <a:t> </a:t>
            </a:r>
            <a:r>
              <a:rPr lang="en-US" sz="1400" b="1" dirty="0" err="1"/>
              <a:t>jalan</a:t>
            </a:r>
            <a:r>
              <a:rPr lang="en-US" sz="1400" b="1" dirty="0"/>
              <a:t> </a:t>
            </a:r>
            <a:r>
              <a:rPr lang="en-US" sz="1400" b="1" dirty="0" err="1"/>
              <a:t>atau</a:t>
            </a:r>
            <a:r>
              <a:rPr lang="en-US" sz="1400" b="1" dirty="0"/>
              <a:t> </a:t>
            </a:r>
            <a:r>
              <a:rPr lang="en-US" sz="1400" b="1" dirty="0" err="1"/>
              <a:t>belum</a:t>
            </a:r>
            <a:r>
              <a:rPr lang="en-US" sz="1400" b="1" dirty="0"/>
              <a:t>. </a:t>
            </a:r>
            <a:r>
              <a:rPr lang="en-US" sz="1400" b="1" dirty="0" err="1"/>
              <a:t>Gunakan</a:t>
            </a:r>
            <a:r>
              <a:rPr lang="en-US" sz="1400" b="1" dirty="0"/>
              <a:t> </a:t>
            </a:r>
            <a:r>
              <a:rPr lang="en-US" sz="1400" b="1" dirty="0" err="1"/>
              <a:t>perintah</a:t>
            </a:r>
            <a:r>
              <a:rPr lang="en-US" sz="1400" b="1" dirty="0"/>
              <a:t> </a:t>
            </a:r>
            <a:r>
              <a:rPr lang="en-US" sz="1400" b="1" dirty="0" err="1"/>
              <a:t>dibawah</a:t>
            </a:r>
            <a:r>
              <a:rPr lang="en-US" sz="1400" b="1" dirty="0"/>
              <a:t> </a:t>
            </a:r>
            <a:r>
              <a:rPr lang="en-US" sz="1400" b="1" dirty="0" err="1"/>
              <a:t>untuk</a:t>
            </a:r>
            <a:r>
              <a:rPr lang="en-US" sz="1400" b="1" dirty="0"/>
              <a:t> </a:t>
            </a:r>
            <a:r>
              <a:rPr lang="en-US" sz="1400" b="1" dirty="0" err="1"/>
              <a:t>melihat</a:t>
            </a:r>
            <a:r>
              <a:rPr lang="en-US" sz="1400" b="1" dirty="0"/>
              <a:t> status container.#</a:t>
            </a:r>
            <a:r>
              <a:rPr lang="en-US" sz="1400" b="1" dirty="0" err="1"/>
              <a:t>docker</a:t>
            </a:r>
            <a:r>
              <a:rPr lang="en-US" sz="1400" b="1" dirty="0"/>
              <a:t> container </a:t>
            </a:r>
            <a:r>
              <a:rPr lang="en-US" sz="1400" b="1" dirty="0" smtClean="0"/>
              <a:t>ls</a:t>
            </a:r>
          </a:p>
          <a:p>
            <a:pPr marL="342900" indent="-342900" algn="just">
              <a:buFont typeface="+mj-lt"/>
              <a:buAutoNum type="arabicPeriod"/>
            </a:pPr>
            <a:endParaRPr lang="en-US" sz="1400" b="1" dirty="0"/>
          </a:p>
          <a:p>
            <a:pPr marL="342900" indent="-342900" algn="just">
              <a:buFont typeface="+mj-lt"/>
              <a:buAutoNum type="arabicPeriod"/>
            </a:pPr>
            <a:endParaRPr lang="en-US" sz="1400" b="1" dirty="0" smtClean="0"/>
          </a:p>
          <a:p>
            <a:pPr marL="342900" indent="-342900" algn="just">
              <a:buFont typeface="+mj-lt"/>
              <a:buAutoNum type="arabicPeriod"/>
            </a:pPr>
            <a:endParaRPr lang="en-US" sz="1400" b="1" dirty="0"/>
          </a:p>
          <a:p>
            <a:pPr marL="342900" indent="-342900" algn="just">
              <a:buFont typeface="+mj-lt"/>
              <a:buAutoNum type="arabicPeriod"/>
            </a:pPr>
            <a:endParaRPr lang="en-US" sz="1400" b="1" dirty="0" smtClean="0"/>
          </a:p>
          <a:p>
            <a:pPr marL="342900" indent="-342900" algn="just">
              <a:buFont typeface="+mj-lt"/>
              <a:buAutoNum type="arabicPeriod"/>
            </a:pPr>
            <a:endParaRPr lang="en-US" sz="1400" b="1" dirty="0"/>
          </a:p>
          <a:p>
            <a:pPr marL="342900" indent="-342900" algn="just">
              <a:buFont typeface="+mj-lt"/>
              <a:buAutoNum type="arabicPeriod"/>
            </a:pPr>
            <a:endParaRPr lang="en-US" sz="1400" b="1" dirty="0" smtClean="0"/>
          </a:p>
          <a:p>
            <a:pPr marL="342900" indent="-342900" algn="just">
              <a:buFont typeface="+mj-lt"/>
              <a:buAutoNum type="arabicPeriod"/>
            </a:pPr>
            <a:endParaRPr lang="en-US" sz="1400" b="1" dirty="0"/>
          </a:p>
          <a:p>
            <a:pPr marL="342900" indent="-342900" algn="just">
              <a:buFont typeface="+mj-lt"/>
              <a:buAutoNum type="arabicPeriod"/>
            </a:pPr>
            <a:endParaRPr lang="en-US" sz="1400" b="1" dirty="0"/>
          </a:p>
          <a:p>
            <a:pPr marL="342900" indent="-342900" algn="just">
              <a:buFont typeface="+mj-lt"/>
              <a:buAutoNum type="arabicPeriod"/>
            </a:pPr>
            <a:r>
              <a:rPr lang="en-US" sz="1400" b="1" dirty="0" err="1"/>
              <a:t>Selanjutnya</a:t>
            </a:r>
            <a:r>
              <a:rPr lang="en-US" sz="1400" b="1" dirty="0"/>
              <a:t> </a:t>
            </a:r>
            <a:r>
              <a:rPr lang="en-US" sz="1400" b="1" dirty="0" err="1"/>
              <a:t>kita</a:t>
            </a:r>
            <a:r>
              <a:rPr lang="en-US" sz="1400" b="1" dirty="0"/>
              <a:t> </a:t>
            </a:r>
            <a:r>
              <a:rPr lang="en-US" sz="1400" b="1" dirty="0" err="1"/>
              <a:t>uji</a:t>
            </a:r>
            <a:r>
              <a:rPr lang="en-US" sz="1400" b="1" dirty="0"/>
              <a:t> </a:t>
            </a:r>
            <a:r>
              <a:rPr lang="en-US" sz="1400" b="1" dirty="0" err="1"/>
              <a:t>coba</a:t>
            </a:r>
            <a:r>
              <a:rPr lang="en-US" sz="1400" b="1" dirty="0"/>
              <a:t> </a:t>
            </a:r>
            <a:r>
              <a:rPr lang="en-US" sz="1400" b="1" dirty="0" err="1"/>
              <a:t>lagi</a:t>
            </a:r>
            <a:r>
              <a:rPr lang="en-US" sz="1400" b="1" dirty="0"/>
              <a:t> </a:t>
            </a:r>
            <a:r>
              <a:rPr lang="en-US" sz="1400" b="1" dirty="0" err="1"/>
              <a:t>dengan</a:t>
            </a:r>
            <a:r>
              <a:rPr lang="en-US" sz="1400" b="1" dirty="0"/>
              <a:t> </a:t>
            </a:r>
            <a:r>
              <a:rPr lang="en-US" sz="1400" b="1" dirty="0" err="1"/>
              <a:t>mengetikkan</a:t>
            </a:r>
            <a:r>
              <a:rPr lang="en-US" sz="1400" b="1" dirty="0"/>
              <a:t> </a:t>
            </a:r>
            <a:r>
              <a:rPr lang="en-US" sz="1400" b="1" dirty="0" err="1"/>
              <a:t>alamat</a:t>
            </a:r>
            <a:r>
              <a:rPr lang="en-US" sz="1400" b="1" dirty="0"/>
              <a:t> IP server. </a:t>
            </a:r>
            <a:r>
              <a:rPr lang="en-US" sz="1400" b="1" dirty="0" err="1"/>
              <a:t>Dapat</a:t>
            </a:r>
            <a:r>
              <a:rPr lang="en-US" sz="1400" b="1" dirty="0"/>
              <a:t> </a:t>
            </a:r>
            <a:r>
              <a:rPr lang="en-US" sz="1400" b="1" dirty="0" err="1"/>
              <a:t>dilihat</a:t>
            </a:r>
            <a:r>
              <a:rPr lang="en-US" sz="1400" b="1" dirty="0"/>
              <a:t> </a:t>
            </a:r>
            <a:r>
              <a:rPr lang="en-US" sz="1400" b="1" dirty="0" err="1"/>
              <a:t>pada</a:t>
            </a:r>
            <a:r>
              <a:rPr lang="en-US" sz="1400" b="1" dirty="0"/>
              <a:t> </a:t>
            </a:r>
            <a:r>
              <a:rPr lang="en-US" sz="1400" b="1" dirty="0" err="1"/>
              <a:t>hasil</a:t>
            </a:r>
            <a:r>
              <a:rPr lang="en-US" sz="1400" b="1" dirty="0"/>
              <a:t> </a:t>
            </a:r>
            <a:r>
              <a:rPr lang="en-US" sz="1400" b="1" dirty="0" err="1"/>
              <a:t>gambar</a:t>
            </a:r>
            <a:r>
              <a:rPr lang="en-US" sz="1400" b="1" dirty="0"/>
              <a:t> </a:t>
            </a:r>
            <a:r>
              <a:rPr lang="en-US" sz="1400" b="1" dirty="0" err="1"/>
              <a:t>dibawah</a:t>
            </a:r>
            <a:r>
              <a:rPr lang="en-US" sz="1400" b="1" dirty="0"/>
              <a:t>, </a:t>
            </a:r>
            <a:r>
              <a:rPr lang="en-US" sz="1400" b="1" dirty="0" err="1"/>
              <a:t>kita</a:t>
            </a:r>
            <a:r>
              <a:rPr lang="en-US" sz="1400" b="1" dirty="0"/>
              <a:t> </a:t>
            </a:r>
            <a:r>
              <a:rPr lang="en-US" sz="1400" b="1" dirty="0" err="1"/>
              <a:t>tidak</a:t>
            </a:r>
            <a:r>
              <a:rPr lang="en-US" sz="1400" b="1" dirty="0"/>
              <a:t> </a:t>
            </a:r>
            <a:r>
              <a:rPr lang="en-US" sz="1400" b="1" dirty="0" err="1"/>
              <a:t>perlu</a:t>
            </a:r>
            <a:r>
              <a:rPr lang="en-US" sz="1400" b="1" dirty="0"/>
              <a:t> </a:t>
            </a:r>
            <a:r>
              <a:rPr lang="en-US" sz="1400" b="1" dirty="0" err="1"/>
              <a:t>lagi</a:t>
            </a:r>
            <a:r>
              <a:rPr lang="en-US" sz="1400" b="1" dirty="0"/>
              <a:t> </a:t>
            </a:r>
            <a:r>
              <a:rPr lang="en-US" sz="1400" b="1" dirty="0" err="1"/>
              <a:t>mengetikkan</a:t>
            </a:r>
            <a:r>
              <a:rPr lang="en-US" sz="1400" b="1" dirty="0"/>
              <a:t> port </a:t>
            </a:r>
            <a:r>
              <a:rPr lang="en-US" sz="1400" b="1" dirty="0" err="1"/>
              <a:t>untuk</a:t>
            </a:r>
            <a:r>
              <a:rPr lang="en-US" sz="1400" b="1" dirty="0"/>
              <a:t> </a:t>
            </a:r>
            <a:r>
              <a:rPr lang="en-US" sz="1400" b="1" dirty="0" err="1"/>
              <a:t>membuka</a:t>
            </a:r>
            <a:r>
              <a:rPr lang="en-US" sz="1400" b="1" dirty="0"/>
              <a:t> simple app yang </a:t>
            </a:r>
            <a:r>
              <a:rPr lang="en-US" sz="1400" b="1" dirty="0" err="1"/>
              <a:t>kita</a:t>
            </a:r>
            <a:r>
              <a:rPr lang="en-US" sz="1400" b="1" dirty="0"/>
              <a:t> </a:t>
            </a:r>
            <a:r>
              <a:rPr lang="en-US" sz="1400" b="1" dirty="0" err="1"/>
              <a:t>buat</a:t>
            </a:r>
            <a:r>
              <a:rPr lang="en-US" sz="1400" b="1" dirty="0"/>
              <a:t>.</a:t>
            </a:r>
          </a:p>
          <a:p>
            <a:pPr marL="342900" indent="-342900" algn="just">
              <a:buFont typeface="+mj-lt"/>
              <a:buAutoNum type="arabicPeriod" startAt="3"/>
            </a:pPr>
            <a:endParaRPr lang="en-US" sz="1400" b="1" dirty="0" smtClean="0"/>
          </a:p>
          <a:p>
            <a:pPr algn="just"/>
            <a:endParaRPr lang="en-US" sz="1400" b="1" dirty="0"/>
          </a:p>
        </p:txBody>
      </p:sp>
      <p:sp>
        <p:nvSpPr>
          <p:cNvPr id="13" name="Rectangle 12"/>
          <p:cNvSpPr/>
          <p:nvPr/>
        </p:nvSpPr>
        <p:spPr>
          <a:xfrm>
            <a:off x="435158" y="2750562"/>
            <a:ext cx="5622129" cy="1384995"/>
          </a:xfrm>
          <a:prstGeom prst="rect">
            <a:avLst/>
          </a:prstGeom>
          <a:solidFill>
            <a:schemeClr val="tx1"/>
          </a:solidFill>
        </p:spPr>
        <p:txBody>
          <a:bodyPr wrap="square">
            <a:spAutoFit/>
          </a:bodyPr>
          <a:lstStyle/>
          <a:p>
            <a:pPr algn="just"/>
            <a:r>
              <a:rPr lang="en-US" sz="1400" dirty="0" err="1" smtClean="0">
                <a:solidFill>
                  <a:schemeClr val="bg1">
                    <a:lumMod val="95000"/>
                  </a:schemeClr>
                </a:solidFill>
              </a:rPr>
              <a:t>root@panda</a:t>
            </a:r>
            <a:r>
              <a:rPr lang="en-US" sz="1400" dirty="0" smtClean="0">
                <a:solidFill>
                  <a:schemeClr val="bg1">
                    <a:lumMod val="95000"/>
                  </a:schemeClr>
                </a:solidFill>
              </a:rPr>
              <a:t>: /flash/sample-app# </a:t>
            </a:r>
            <a:r>
              <a:rPr lang="en-US" sz="1400" dirty="0" err="1" smtClean="0">
                <a:solidFill>
                  <a:schemeClr val="bg1">
                    <a:lumMod val="95000"/>
                  </a:schemeClr>
                </a:solidFill>
              </a:rPr>
              <a:t>docker</a:t>
            </a:r>
            <a:r>
              <a:rPr lang="en-US" sz="1400" dirty="0" smtClean="0">
                <a:solidFill>
                  <a:schemeClr val="bg1">
                    <a:lumMod val="95000"/>
                  </a:schemeClr>
                </a:solidFill>
              </a:rPr>
              <a:t> container ls</a:t>
            </a:r>
          </a:p>
          <a:p>
            <a:pPr algn="just"/>
            <a:r>
              <a:rPr lang="en-US" sz="1400" dirty="0">
                <a:solidFill>
                  <a:schemeClr val="bg1">
                    <a:lumMod val="95000"/>
                  </a:schemeClr>
                </a:solidFill>
              </a:rPr>
              <a:t> </a:t>
            </a:r>
            <a:r>
              <a:rPr lang="en-US" sz="1400" dirty="0" smtClean="0">
                <a:solidFill>
                  <a:schemeClr val="bg1">
                    <a:lumMod val="95000"/>
                  </a:schemeClr>
                </a:solidFill>
              </a:rPr>
              <a:t>  </a:t>
            </a:r>
          </a:p>
          <a:p>
            <a:pPr algn="just"/>
            <a:endParaRPr lang="en-US" sz="1400" b="1" dirty="0">
              <a:solidFill>
                <a:schemeClr val="bg1">
                  <a:lumMod val="95000"/>
                </a:schemeClr>
              </a:solidFill>
            </a:endParaRPr>
          </a:p>
          <a:p>
            <a:pPr algn="just"/>
            <a:endParaRPr lang="en-US" sz="1400" b="1" dirty="0" smtClean="0">
              <a:solidFill>
                <a:schemeClr val="bg1">
                  <a:lumMod val="50000"/>
                </a:schemeClr>
              </a:solidFill>
            </a:endParaRPr>
          </a:p>
          <a:p>
            <a:pPr algn="just"/>
            <a:endParaRPr lang="en-US" sz="1400" b="1" dirty="0">
              <a:solidFill>
                <a:schemeClr val="bg1">
                  <a:lumMod val="50000"/>
                </a:schemeClr>
              </a:solidFill>
            </a:endParaRPr>
          </a:p>
          <a:p>
            <a:pPr algn="just"/>
            <a:r>
              <a:rPr lang="en-US" sz="1400" dirty="0" err="1" smtClean="0">
                <a:solidFill>
                  <a:schemeClr val="bg1">
                    <a:lumMod val="50000"/>
                  </a:schemeClr>
                </a:solidFill>
              </a:rPr>
              <a:t>root@administrator</a:t>
            </a:r>
            <a:r>
              <a:rPr lang="en-US" sz="1400" dirty="0">
                <a:solidFill>
                  <a:schemeClr val="bg1">
                    <a:lumMod val="50000"/>
                  </a:schemeClr>
                </a:solidFill>
              </a:rPr>
              <a:t>:/home/panda/GPU2#</a:t>
            </a:r>
            <a:endParaRPr lang="en-US" sz="1400" b="1" dirty="0">
              <a:solidFill>
                <a:schemeClr val="bg1">
                  <a:lumMod val="50000"/>
                </a:schemeClr>
              </a:solidFill>
            </a:endParaRPr>
          </a:p>
        </p:txBody>
      </p:sp>
      <p:pic>
        <p:nvPicPr>
          <p:cNvPr id="3" name="Picture 2"/>
          <p:cNvPicPr>
            <a:picLocks noChangeAspect="1"/>
          </p:cNvPicPr>
          <p:nvPr/>
        </p:nvPicPr>
        <p:blipFill>
          <a:blip r:embed="rId3"/>
          <a:stretch>
            <a:fillRect/>
          </a:stretch>
        </p:blipFill>
        <p:spPr>
          <a:xfrm>
            <a:off x="435158" y="3167778"/>
            <a:ext cx="5622129" cy="616855"/>
          </a:xfrm>
          <a:prstGeom prst="rect">
            <a:avLst/>
          </a:prstGeom>
        </p:spPr>
      </p:pic>
      <p:pic>
        <p:nvPicPr>
          <p:cNvPr id="5" name="Picture 4"/>
          <p:cNvPicPr>
            <a:picLocks noChangeAspect="1"/>
          </p:cNvPicPr>
          <p:nvPr/>
        </p:nvPicPr>
        <p:blipFill>
          <a:blip r:embed="rId4"/>
          <a:stretch>
            <a:fillRect/>
          </a:stretch>
        </p:blipFill>
        <p:spPr>
          <a:xfrm>
            <a:off x="435158" y="5351274"/>
            <a:ext cx="5622129" cy="1123950"/>
          </a:xfrm>
          <a:prstGeom prst="rect">
            <a:avLst/>
          </a:prstGeom>
        </p:spPr>
      </p:pic>
      <p:sp>
        <p:nvSpPr>
          <p:cNvPr id="14" name="Rectangle 13"/>
          <p:cNvSpPr/>
          <p:nvPr/>
        </p:nvSpPr>
        <p:spPr>
          <a:xfrm>
            <a:off x="6273655" y="103684"/>
            <a:ext cx="5838497" cy="3293209"/>
          </a:xfrm>
          <a:prstGeom prst="rect">
            <a:avLst/>
          </a:prstGeom>
        </p:spPr>
        <p:txBody>
          <a:bodyPr wrap="square">
            <a:spAutoFit/>
          </a:bodyPr>
          <a:lstStyle/>
          <a:p>
            <a:pPr fontAlgn="base"/>
            <a:r>
              <a:rPr lang="en-US" b="1" dirty="0" smtClean="0">
                <a:solidFill>
                  <a:srgbClr val="002060"/>
                </a:solidFill>
              </a:rPr>
              <a:t>Deploy Simple App </a:t>
            </a:r>
            <a:r>
              <a:rPr lang="en-US" b="1" dirty="0" err="1" smtClean="0">
                <a:solidFill>
                  <a:srgbClr val="002060"/>
                </a:solidFill>
              </a:rPr>
              <a:t>NodeJS</a:t>
            </a:r>
            <a:endParaRPr lang="en-US" b="1" dirty="0" smtClean="0">
              <a:solidFill>
                <a:srgbClr val="002060"/>
              </a:solidFill>
            </a:endParaRPr>
          </a:p>
          <a:p>
            <a:pPr marL="342900" indent="-342900" fontAlgn="base">
              <a:buFont typeface="+mj-lt"/>
              <a:buAutoNum type="arabicPeriod"/>
            </a:pPr>
            <a:endParaRPr lang="en-US" sz="1400" b="1" dirty="0" smtClean="0">
              <a:solidFill>
                <a:srgbClr val="002060"/>
              </a:solidFill>
            </a:endParaRPr>
          </a:p>
          <a:p>
            <a:pPr algn="just"/>
            <a:r>
              <a:rPr lang="en-US" dirty="0" err="1"/>
              <a:t>Pada</a:t>
            </a:r>
            <a:r>
              <a:rPr lang="en-US" dirty="0"/>
              <a:t> </a:t>
            </a:r>
            <a:r>
              <a:rPr lang="en-US" dirty="0" err="1"/>
              <a:t>materi</a:t>
            </a:r>
            <a:r>
              <a:rPr lang="en-US" dirty="0"/>
              <a:t> </a:t>
            </a:r>
            <a:r>
              <a:rPr lang="en-US" dirty="0" err="1"/>
              <a:t>sebelumnya</a:t>
            </a:r>
            <a:r>
              <a:rPr lang="en-US" dirty="0"/>
              <a:t> </a:t>
            </a:r>
            <a:r>
              <a:rPr lang="en-US" dirty="0" err="1"/>
              <a:t>kita</a:t>
            </a:r>
            <a:r>
              <a:rPr lang="en-US" dirty="0"/>
              <a:t> </a:t>
            </a:r>
            <a:r>
              <a:rPr lang="en-US" dirty="0" err="1"/>
              <a:t>melakukan</a:t>
            </a:r>
            <a:r>
              <a:rPr lang="en-US" dirty="0"/>
              <a:t> deploy </a:t>
            </a:r>
            <a:r>
              <a:rPr lang="en-US" dirty="0" err="1"/>
              <a:t>pada</a:t>
            </a:r>
            <a:r>
              <a:rPr lang="en-US" dirty="0"/>
              <a:t> server </a:t>
            </a:r>
            <a:r>
              <a:rPr lang="en-US" dirty="0" err="1"/>
              <a:t>kita</a:t>
            </a:r>
            <a:r>
              <a:rPr lang="en-US" dirty="0"/>
              <a:t> </a:t>
            </a:r>
            <a:r>
              <a:rPr lang="en-US" dirty="0" err="1"/>
              <a:t>menggunakan</a:t>
            </a:r>
            <a:r>
              <a:rPr lang="en-US" dirty="0"/>
              <a:t> Simple App </a:t>
            </a:r>
            <a:r>
              <a:rPr lang="en-US" dirty="0" err="1"/>
              <a:t>NodeJS</a:t>
            </a:r>
            <a:r>
              <a:rPr lang="en-US" dirty="0"/>
              <a:t>. Nah </a:t>
            </a:r>
            <a:r>
              <a:rPr lang="en-US" dirty="0" err="1"/>
              <a:t>pada</a:t>
            </a:r>
            <a:r>
              <a:rPr lang="en-US" dirty="0"/>
              <a:t> </a:t>
            </a:r>
            <a:r>
              <a:rPr lang="en-US" dirty="0" err="1"/>
              <a:t>kesempatan</a:t>
            </a:r>
            <a:r>
              <a:rPr lang="en-US" dirty="0"/>
              <a:t> </a:t>
            </a:r>
            <a:r>
              <a:rPr lang="en-US" dirty="0" err="1"/>
              <a:t>ini</a:t>
            </a:r>
            <a:r>
              <a:rPr lang="en-US" dirty="0"/>
              <a:t> </a:t>
            </a:r>
            <a:r>
              <a:rPr lang="en-US" dirty="0" err="1"/>
              <a:t>saya</a:t>
            </a:r>
            <a:r>
              <a:rPr lang="en-US" dirty="0"/>
              <a:t> </a:t>
            </a:r>
            <a:r>
              <a:rPr lang="en-US" dirty="0" err="1"/>
              <a:t>akan</a:t>
            </a:r>
            <a:r>
              <a:rPr lang="en-US" dirty="0"/>
              <a:t> </a:t>
            </a:r>
            <a:r>
              <a:rPr lang="en-US" dirty="0" err="1"/>
              <a:t>membantu</a:t>
            </a:r>
            <a:r>
              <a:rPr lang="en-US" dirty="0"/>
              <a:t> kalian </a:t>
            </a:r>
            <a:r>
              <a:rPr lang="en-US" dirty="0" err="1"/>
              <a:t>dalam</a:t>
            </a:r>
            <a:r>
              <a:rPr lang="en-US" dirty="0"/>
              <a:t> </a:t>
            </a:r>
            <a:r>
              <a:rPr lang="en-US" dirty="0" err="1"/>
              <a:t>melakukan</a:t>
            </a:r>
            <a:r>
              <a:rPr lang="en-US" dirty="0"/>
              <a:t> </a:t>
            </a:r>
            <a:r>
              <a:rPr lang="en-US" dirty="0" err="1"/>
              <a:t>konfigurasi</a:t>
            </a:r>
            <a:r>
              <a:rPr lang="en-US" dirty="0"/>
              <a:t> </a:t>
            </a:r>
            <a:r>
              <a:rPr lang="en-US" dirty="0" err="1"/>
              <a:t>sederhana</a:t>
            </a:r>
            <a:r>
              <a:rPr lang="en-US" dirty="0"/>
              <a:t> </a:t>
            </a:r>
            <a:r>
              <a:rPr lang="en-US" dirty="0" err="1"/>
              <a:t>untuk</a:t>
            </a:r>
            <a:r>
              <a:rPr lang="en-US" dirty="0"/>
              <a:t> </a:t>
            </a:r>
            <a:r>
              <a:rPr lang="en-US" dirty="0" err="1"/>
              <a:t>mendeploy</a:t>
            </a:r>
            <a:r>
              <a:rPr lang="en-US" dirty="0"/>
              <a:t> Simple App </a:t>
            </a:r>
            <a:r>
              <a:rPr lang="en-US" dirty="0" err="1"/>
              <a:t>NodeJS</a:t>
            </a:r>
            <a:r>
              <a:rPr lang="en-US" dirty="0"/>
              <a:t> </a:t>
            </a:r>
            <a:r>
              <a:rPr lang="en-US" dirty="0" err="1"/>
              <a:t>kedalam</a:t>
            </a:r>
            <a:r>
              <a:rPr lang="en-US" dirty="0"/>
              <a:t> </a:t>
            </a:r>
            <a:r>
              <a:rPr lang="en-US" dirty="0" err="1"/>
              <a:t>docker</a:t>
            </a:r>
            <a:r>
              <a:rPr lang="en-US" dirty="0"/>
              <a:t>. </a:t>
            </a:r>
            <a:r>
              <a:rPr lang="en-US" dirty="0" err="1"/>
              <a:t>Seperti</a:t>
            </a:r>
            <a:r>
              <a:rPr lang="en-US" dirty="0"/>
              <a:t> </a:t>
            </a:r>
            <a:r>
              <a:rPr lang="en-US" dirty="0" err="1"/>
              <a:t>halnya</a:t>
            </a:r>
            <a:r>
              <a:rPr lang="en-US" dirty="0"/>
              <a:t> </a:t>
            </a:r>
            <a:r>
              <a:rPr lang="en-US" dirty="0" err="1"/>
              <a:t>pada</a:t>
            </a:r>
            <a:r>
              <a:rPr lang="en-US" dirty="0"/>
              <a:t> </a:t>
            </a:r>
            <a:r>
              <a:rPr lang="en-US" dirty="0" err="1"/>
              <a:t>pembuat</a:t>
            </a:r>
            <a:r>
              <a:rPr lang="en-US" dirty="0"/>
              <a:t> simple app flask, </a:t>
            </a:r>
            <a:r>
              <a:rPr lang="en-US" dirty="0" err="1"/>
              <a:t>kita</a:t>
            </a:r>
            <a:r>
              <a:rPr lang="en-US" dirty="0"/>
              <a:t> </a:t>
            </a:r>
            <a:r>
              <a:rPr lang="en-US" dirty="0" err="1"/>
              <a:t>akan</a:t>
            </a:r>
            <a:r>
              <a:rPr lang="en-US" dirty="0"/>
              <a:t> </a:t>
            </a:r>
            <a:r>
              <a:rPr lang="en-US" dirty="0" err="1"/>
              <a:t>membuat</a:t>
            </a:r>
            <a:r>
              <a:rPr lang="en-US" dirty="0"/>
              <a:t> </a:t>
            </a:r>
            <a:r>
              <a:rPr lang="en-US" dirty="0" err="1"/>
              <a:t>Dockerfile</a:t>
            </a:r>
            <a:r>
              <a:rPr lang="en-US" dirty="0"/>
              <a:t> </a:t>
            </a:r>
            <a:r>
              <a:rPr lang="en-US" dirty="0" err="1"/>
              <a:t>terlebih</a:t>
            </a:r>
            <a:r>
              <a:rPr lang="en-US" dirty="0"/>
              <a:t> </a:t>
            </a:r>
            <a:r>
              <a:rPr lang="en-US" dirty="0" err="1"/>
              <a:t>dahulu</a:t>
            </a:r>
            <a:r>
              <a:rPr lang="en-US" dirty="0"/>
              <a:t> </a:t>
            </a:r>
            <a:r>
              <a:rPr lang="en-US" dirty="0" err="1"/>
              <a:t>lalu</a:t>
            </a:r>
            <a:r>
              <a:rPr lang="en-US" dirty="0"/>
              <a:t> </a:t>
            </a:r>
            <a:r>
              <a:rPr lang="en-US" dirty="0" err="1"/>
              <a:t>menjalankannya</a:t>
            </a:r>
            <a:r>
              <a:rPr lang="en-US" dirty="0"/>
              <a:t>. </a:t>
            </a:r>
            <a:r>
              <a:rPr lang="en-US" dirty="0" err="1"/>
              <a:t>Selain</a:t>
            </a:r>
            <a:r>
              <a:rPr lang="en-US" dirty="0"/>
              <a:t> </a:t>
            </a:r>
            <a:r>
              <a:rPr lang="en-US" dirty="0" err="1"/>
              <a:t>itu</a:t>
            </a:r>
            <a:r>
              <a:rPr lang="en-US" dirty="0"/>
              <a:t> </a:t>
            </a:r>
            <a:r>
              <a:rPr lang="en-US" dirty="0" err="1"/>
              <a:t>kita</a:t>
            </a:r>
            <a:r>
              <a:rPr lang="en-US" dirty="0"/>
              <a:t> </a:t>
            </a:r>
            <a:r>
              <a:rPr lang="en-US" dirty="0" err="1"/>
              <a:t>akan</a:t>
            </a:r>
            <a:r>
              <a:rPr lang="en-US" dirty="0"/>
              <a:t> </a:t>
            </a:r>
            <a:r>
              <a:rPr lang="en-US" dirty="0" err="1"/>
              <a:t>coba</a:t>
            </a:r>
            <a:r>
              <a:rPr lang="en-US" dirty="0"/>
              <a:t> </a:t>
            </a:r>
            <a:r>
              <a:rPr lang="en-US" dirty="0" err="1"/>
              <a:t>juga</a:t>
            </a:r>
            <a:r>
              <a:rPr lang="en-US" dirty="0"/>
              <a:t> </a:t>
            </a:r>
            <a:r>
              <a:rPr lang="en-US" dirty="0" err="1"/>
              <a:t>untuk</a:t>
            </a:r>
            <a:r>
              <a:rPr lang="en-US" dirty="0"/>
              <a:t> </a:t>
            </a:r>
            <a:r>
              <a:rPr lang="en-US" dirty="0" err="1"/>
              <a:t>membuat</a:t>
            </a:r>
            <a:r>
              <a:rPr lang="en-US" dirty="0"/>
              <a:t> Docker Compose. </a:t>
            </a:r>
            <a:r>
              <a:rPr lang="en-US" dirty="0" err="1"/>
              <a:t>Untuk</a:t>
            </a:r>
            <a:r>
              <a:rPr lang="en-US" dirty="0"/>
              <a:t> </a:t>
            </a:r>
            <a:r>
              <a:rPr lang="en-US" dirty="0" err="1"/>
              <a:t>memahami</a:t>
            </a:r>
            <a:r>
              <a:rPr lang="en-US" dirty="0"/>
              <a:t> </a:t>
            </a:r>
            <a:r>
              <a:rPr lang="en-US" dirty="0" err="1"/>
              <a:t>lebih</a:t>
            </a:r>
            <a:r>
              <a:rPr lang="en-US" dirty="0"/>
              <a:t> </a:t>
            </a:r>
            <a:r>
              <a:rPr lang="en-US" dirty="0" err="1"/>
              <a:t>lanjut</a:t>
            </a:r>
            <a:endParaRPr lang="en-US" sz="1400" b="1" dirty="0" smtClean="0"/>
          </a:p>
          <a:p>
            <a:pPr algn="just"/>
            <a:endParaRPr lang="en-US" sz="1400" b="1" dirty="0"/>
          </a:p>
        </p:txBody>
      </p:sp>
    </p:spTree>
    <p:extLst>
      <p:ext uri="{BB962C8B-B14F-4D97-AF65-F5344CB8AC3E}">
        <p14:creationId xmlns:p14="http://schemas.microsoft.com/office/powerpoint/2010/main" val="4170782109"/>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63276" y="519182"/>
            <a:ext cx="1888068" cy="1116355"/>
          </a:xfrm>
        </p:spPr>
        <p:txBody>
          <a:bodyPr>
            <a:normAutofit/>
          </a:bodyPr>
          <a:lstStyle/>
          <a:p>
            <a:pPr algn="just"/>
            <a:r>
              <a:rPr lang="en-US" b="1" dirty="0" smtClean="0">
                <a:solidFill>
                  <a:srgbClr val="002060"/>
                </a:solidFill>
              </a:rPr>
              <a:t>Image</a:t>
            </a:r>
            <a:endParaRPr lang="en-US" sz="2000" b="1" dirty="0">
              <a:solidFill>
                <a:srgbClr val="002060"/>
              </a:solidFill>
            </a:endParaRPr>
          </a:p>
        </p:txBody>
      </p:sp>
      <p:sp>
        <p:nvSpPr>
          <p:cNvPr id="7" name="Rectangle 6"/>
          <p:cNvSpPr/>
          <p:nvPr/>
        </p:nvSpPr>
        <p:spPr>
          <a:xfrm>
            <a:off x="0" y="61696"/>
            <a:ext cx="2363980" cy="1015663"/>
          </a:xfrm>
          <a:prstGeom prst="rect">
            <a:avLst/>
          </a:prstGeom>
        </p:spPr>
        <p:txBody>
          <a:bodyPr wrap="none">
            <a:spAutoFit/>
          </a:bodyPr>
          <a:lstStyle/>
          <a:p>
            <a:r>
              <a:rPr lang="en-US" sz="6000" dirty="0">
                <a:solidFill>
                  <a:srgbClr val="FFC000"/>
                </a:solidFill>
              </a:rPr>
              <a:t>Docker</a:t>
            </a:r>
          </a:p>
        </p:txBody>
      </p:sp>
      <p:sp>
        <p:nvSpPr>
          <p:cNvPr id="13" name="Rectangle 12"/>
          <p:cNvSpPr/>
          <p:nvPr/>
        </p:nvSpPr>
        <p:spPr>
          <a:xfrm>
            <a:off x="279400" y="1501530"/>
            <a:ext cx="5645150" cy="3877985"/>
          </a:xfrm>
          <a:prstGeom prst="rect">
            <a:avLst/>
          </a:prstGeom>
        </p:spPr>
        <p:txBody>
          <a:bodyPr wrap="square">
            <a:spAutoFit/>
          </a:bodyPr>
          <a:lstStyle/>
          <a:p>
            <a:pPr fontAlgn="base"/>
            <a:r>
              <a:rPr lang="en-US" b="1" dirty="0" err="1">
                <a:solidFill>
                  <a:srgbClr val="002060"/>
                </a:solidFill>
              </a:rPr>
              <a:t>Konfigurasi</a:t>
            </a:r>
            <a:r>
              <a:rPr lang="en-US" b="1" dirty="0">
                <a:solidFill>
                  <a:srgbClr val="002060"/>
                </a:solidFill>
              </a:rPr>
              <a:t> </a:t>
            </a:r>
            <a:r>
              <a:rPr lang="en-US" b="1" dirty="0" err="1" smtClean="0">
                <a:solidFill>
                  <a:srgbClr val="002060"/>
                </a:solidFill>
              </a:rPr>
              <a:t>Dockerfile</a:t>
            </a:r>
            <a:endParaRPr lang="en-US" b="1" dirty="0" smtClean="0">
              <a:solidFill>
                <a:srgbClr val="002060"/>
              </a:solidFill>
            </a:endParaRPr>
          </a:p>
          <a:p>
            <a:pPr marL="342900" indent="-342900" algn="just" fontAlgn="base">
              <a:buFont typeface="+mj-lt"/>
              <a:buAutoNum type="arabicPeriod"/>
            </a:pPr>
            <a:r>
              <a:rPr lang="en-US" sz="1400" b="1" dirty="0" err="1"/>
              <a:t>Masuk</a:t>
            </a:r>
            <a:r>
              <a:rPr lang="en-US" sz="1400" b="1" dirty="0"/>
              <a:t> </a:t>
            </a:r>
            <a:r>
              <a:rPr lang="en-US" sz="1400" b="1" dirty="0" err="1"/>
              <a:t>ke</a:t>
            </a:r>
            <a:r>
              <a:rPr lang="en-US" sz="1400" b="1" dirty="0"/>
              <a:t> </a:t>
            </a:r>
            <a:r>
              <a:rPr lang="en-US" sz="1400" b="1" dirty="0" err="1"/>
              <a:t>diretory</a:t>
            </a:r>
            <a:r>
              <a:rPr lang="en-US" sz="1400" b="1" dirty="0"/>
              <a:t> </a:t>
            </a:r>
            <a:r>
              <a:rPr lang="en-US" sz="1400" b="1" dirty="0" err="1"/>
              <a:t>tempat</a:t>
            </a:r>
            <a:r>
              <a:rPr lang="en-US" sz="1400" b="1" dirty="0"/>
              <a:t> kalian </a:t>
            </a:r>
            <a:r>
              <a:rPr lang="en-US" sz="1400" b="1" dirty="0" err="1"/>
              <a:t>menyimpan</a:t>
            </a:r>
            <a:r>
              <a:rPr lang="en-US" sz="1400" b="1" dirty="0"/>
              <a:t> source code </a:t>
            </a:r>
            <a:r>
              <a:rPr lang="en-US" sz="1400" b="1" dirty="0" err="1"/>
              <a:t>dari</a:t>
            </a:r>
            <a:r>
              <a:rPr lang="en-US" sz="1400" b="1" dirty="0"/>
              <a:t> simple apps. </a:t>
            </a:r>
            <a:r>
              <a:rPr lang="en-US" sz="1400" b="1" dirty="0" err="1"/>
              <a:t>Kemudian</a:t>
            </a:r>
            <a:r>
              <a:rPr lang="en-US" sz="1400" b="1" dirty="0"/>
              <a:t> </a:t>
            </a:r>
            <a:r>
              <a:rPr lang="en-US" sz="1400" b="1" dirty="0" err="1"/>
              <a:t>buatlah</a:t>
            </a:r>
            <a:r>
              <a:rPr lang="en-US" sz="1400" b="1" dirty="0"/>
              <a:t> </a:t>
            </a:r>
            <a:r>
              <a:rPr lang="en-US" sz="1400" b="1" dirty="0" err="1"/>
              <a:t>sebuah</a:t>
            </a:r>
            <a:r>
              <a:rPr lang="en-US" sz="1400" b="1" dirty="0"/>
              <a:t> file </a:t>
            </a:r>
            <a:r>
              <a:rPr lang="en-US" sz="1400" b="1" dirty="0" err="1"/>
              <a:t>baru</a:t>
            </a:r>
            <a:r>
              <a:rPr lang="en-US" sz="1400" b="1" dirty="0"/>
              <a:t> </a:t>
            </a:r>
            <a:r>
              <a:rPr lang="en-US" sz="1400" b="1" dirty="0" err="1"/>
              <a:t>dengan</a:t>
            </a:r>
            <a:r>
              <a:rPr lang="en-US" sz="1400" b="1" dirty="0"/>
              <a:t> </a:t>
            </a:r>
            <a:r>
              <a:rPr lang="en-US" sz="1400" b="1" dirty="0" err="1"/>
              <a:t>naman</a:t>
            </a:r>
            <a:r>
              <a:rPr lang="en-US" sz="1400" b="1" dirty="0"/>
              <a:t> </a:t>
            </a:r>
            <a:r>
              <a:rPr lang="en-US" sz="1400" b="1" dirty="0" err="1"/>
              <a:t>Dockerfile</a:t>
            </a:r>
            <a:r>
              <a:rPr lang="en-US" sz="1400" b="1" dirty="0"/>
              <a:t>. </a:t>
            </a:r>
            <a:r>
              <a:rPr lang="en-US" sz="1400" b="1" dirty="0" err="1"/>
              <a:t>Isikan</a:t>
            </a:r>
            <a:r>
              <a:rPr lang="en-US" sz="1400" b="1" dirty="0"/>
              <a:t> </a:t>
            </a:r>
            <a:r>
              <a:rPr lang="en-US" sz="1400" b="1" dirty="0" err="1"/>
              <a:t>Dockerfile</a:t>
            </a:r>
            <a:r>
              <a:rPr lang="en-US" sz="1400" b="1" dirty="0"/>
              <a:t> </a:t>
            </a:r>
            <a:r>
              <a:rPr lang="en-US" sz="1400" b="1" dirty="0" err="1"/>
              <a:t>dengan</a:t>
            </a:r>
            <a:r>
              <a:rPr lang="en-US" sz="1400" b="1" dirty="0"/>
              <a:t> </a:t>
            </a:r>
            <a:r>
              <a:rPr lang="en-US" sz="1400" b="1" dirty="0" err="1"/>
              <a:t>perintah</a:t>
            </a:r>
            <a:r>
              <a:rPr lang="en-US" sz="1400" b="1" dirty="0"/>
              <a:t> </a:t>
            </a:r>
            <a:r>
              <a:rPr lang="en-US" sz="1400" b="1" dirty="0" err="1"/>
              <a:t>dibawah</a:t>
            </a:r>
            <a:r>
              <a:rPr lang="en-US" sz="1400" b="1" dirty="0"/>
              <a:t>. </a:t>
            </a:r>
            <a:r>
              <a:rPr lang="en-US" sz="1400" b="1" dirty="0" err="1"/>
              <a:t>Dockerfile</a:t>
            </a:r>
            <a:r>
              <a:rPr lang="en-US" sz="1400" b="1" dirty="0"/>
              <a:t> </a:t>
            </a:r>
            <a:r>
              <a:rPr lang="en-US" sz="1400" b="1" dirty="0" err="1"/>
              <a:t>digunakan</a:t>
            </a:r>
            <a:r>
              <a:rPr lang="en-US" sz="1400" b="1" dirty="0"/>
              <a:t> </a:t>
            </a:r>
            <a:r>
              <a:rPr lang="en-US" sz="1400" b="1" dirty="0" err="1"/>
              <a:t>untuk</a:t>
            </a:r>
            <a:r>
              <a:rPr lang="en-US" sz="1400" b="1" dirty="0"/>
              <a:t> </a:t>
            </a:r>
            <a:r>
              <a:rPr lang="en-US" sz="1400" b="1" dirty="0" err="1"/>
              <a:t>membuat</a:t>
            </a:r>
            <a:r>
              <a:rPr lang="en-US" sz="1400" b="1" dirty="0"/>
              <a:t> image </a:t>
            </a:r>
            <a:r>
              <a:rPr lang="en-US" sz="1400" b="1" dirty="0" err="1"/>
              <a:t>baru</a:t>
            </a:r>
            <a:r>
              <a:rPr lang="en-US" sz="1400" b="1" dirty="0"/>
              <a:t> </a:t>
            </a:r>
            <a:r>
              <a:rPr lang="en-US" sz="1400" b="1" dirty="0" err="1"/>
              <a:t>berdasarkan</a:t>
            </a:r>
            <a:r>
              <a:rPr lang="en-US" sz="1400" b="1" dirty="0"/>
              <a:t> </a:t>
            </a:r>
            <a:r>
              <a:rPr lang="en-US" sz="1400" b="1" dirty="0" err="1"/>
              <a:t>konfigurasi</a:t>
            </a:r>
            <a:r>
              <a:rPr lang="en-US" sz="1400" b="1" dirty="0"/>
              <a:t> yang </a:t>
            </a:r>
            <a:r>
              <a:rPr lang="en-US" sz="1400" b="1" dirty="0" err="1"/>
              <a:t>diperlukan</a:t>
            </a:r>
            <a:r>
              <a:rPr lang="en-US" sz="1400" b="1" dirty="0"/>
              <a:t>. </a:t>
            </a:r>
            <a:r>
              <a:rPr lang="en-US" sz="1400" b="1" dirty="0" err="1"/>
              <a:t>Umumnya</a:t>
            </a:r>
            <a:r>
              <a:rPr lang="en-US" sz="1400" b="1" dirty="0"/>
              <a:t> </a:t>
            </a:r>
            <a:r>
              <a:rPr lang="en-US" sz="1400" b="1" dirty="0" err="1"/>
              <a:t>isi</a:t>
            </a:r>
            <a:r>
              <a:rPr lang="en-US" sz="1400" b="1" dirty="0"/>
              <a:t> </a:t>
            </a:r>
            <a:r>
              <a:rPr lang="en-US" sz="1400" b="1" dirty="0" err="1"/>
              <a:t>Dockerfile</a:t>
            </a:r>
            <a:r>
              <a:rPr lang="en-US" sz="1400" b="1" dirty="0"/>
              <a:t> </a:t>
            </a:r>
            <a:r>
              <a:rPr lang="en-US" sz="1400" b="1" dirty="0" err="1"/>
              <a:t>berupa</a:t>
            </a:r>
            <a:r>
              <a:rPr lang="en-US" sz="1400" b="1" dirty="0"/>
              <a:t> requirements yang </a:t>
            </a:r>
            <a:r>
              <a:rPr lang="en-US" sz="1400" b="1" dirty="0" err="1"/>
              <a:t>diperlukan</a:t>
            </a:r>
            <a:r>
              <a:rPr lang="en-US" sz="1400" b="1" dirty="0"/>
              <a:t> </a:t>
            </a:r>
            <a:r>
              <a:rPr lang="en-US" sz="1400" b="1" dirty="0" err="1"/>
              <a:t>dalam</a:t>
            </a:r>
            <a:r>
              <a:rPr lang="en-US" sz="1400" b="1" dirty="0"/>
              <a:t> </a:t>
            </a:r>
            <a:r>
              <a:rPr lang="en-US" sz="1400" b="1" dirty="0" err="1"/>
              <a:t>mendeploy</a:t>
            </a:r>
            <a:r>
              <a:rPr lang="en-US" sz="1400" b="1" dirty="0"/>
              <a:t> apps </a:t>
            </a:r>
            <a:r>
              <a:rPr lang="en-US" sz="1400" b="1" dirty="0" err="1"/>
              <a:t>kita</a:t>
            </a:r>
            <a:r>
              <a:rPr lang="en-US" sz="1400" b="1" dirty="0"/>
              <a:t>. </a:t>
            </a:r>
            <a:r>
              <a:rPr lang="en-US" sz="1400" b="1" dirty="0" err="1"/>
              <a:t>Pada</a:t>
            </a:r>
            <a:r>
              <a:rPr lang="en-US" sz="1400" b="1" dirty="0"/>
              <a:t> </a:t>
            </a:r>
            <a:r>
              <a:rPr lang="en-US" sz="1400" b="1" dirty="0" err="1"/>
              <a:t>sebelumnya</a:t>
            </a:r>
            <a:r>
              <a:rPr lang="en-US" sz="1400" b="1" dirty="0"/>
              <a:t> </a:t>
            </a:r>
            <a:r>
              <a:rPr lang="en-US" sz="1400" b="1" dirty="0" err="1"/>
              <a:t>kita</a:t>
            </a:r>
            <a:r>
              <a:rPr lang="en-US" sz="1400" b="1" dirty="0"/>
              <a:t> </a:t>
            </a:r>
            <a:r>
              <a:rPr lang="en-US" sz="1400" b="1" dirty="0" err="1"/>
              <a:t>menggunakan</a:t>
            </a:r>
            <a:r>
              <a:rPr lang="en-US" sz="1400" b="1" dirty="0"/>
              <a:t> </a:t>
            </a:r>
            <a:r>
              <a:rPr lang="en-US" sz="1400" b="1" dirty="0" err="1"/>
              <a:t>nodejs</a:t>
            </a:r>
            <a:r>
              <a:rPr lang="en-US" sz="1400" b="1" dirty="0"/>
              <a:t> </a:t>
            </a:r>
            <a:r>
              <a:rPr lang="en-US" sz="1400" b="1" dirty="0" err="1"/>
              <a:t>versi</a:t>
            </a:r>
            <a:r>
              <a:rPr lang="en-US" sz="1400" b="1" dirty="0"/>
              <a:t> 16, </a:t>
            </a:r>
            <a:r>
              <a:rPr lang="en-US" sz="1400" b="1" dirty="0" err="1"/>
              <a:t>namun</a:t>
            </a:r>
            <a:r>
              <a:rPr lang="en-US" sz="1400" b="1" dirty="0"/>
              <a:t> </a:t>
            </a:r>
            <a:r>
              <a:rPr lang="en-US" sz="1400" b="1" dirty="0" err="1"/>
              <a:t>disini</a:t>
            </a:r>
            <a:r>
              <a:rPr lang="en-US" sz="1400" b="1" dirty="0"/>
              <a:t> </a:t>
            </a:r>
            <a:r>
              <a:rPr lang="en-US" sz="1400" b="1" dirty="0" err="1"/>
              <a:t>saya</a:t>
            </a:r>
            <a:r>
              <a:rPr lang="en-US" sz="1400" b="1" dirty="0"/>
              <a:t> </a:t>
            </a:r>
            <a:r>
              <a:rPr lang="en-US" sz="1400" b="1" dirty="0" err="1"/>
              <a:t>ubah</a:t>
            </a:r>
            <a:r>
              <a:rPr lang="en-US" sz="1400" b="1" dirty="0"/>
              <a:t> </a:t>
            </a:r>
            <a:r>
              <a:rPr lang="en-US" sz="1400" b="1" dirty="0" err="1"/>
              <a:t>menggunakan</a:t>
            </a:r>
            <a:r>
              <a:rPr lang="en-US" sz="1400" b="1" dirty="0"/>
              <a:t> </a:t>
            </a:r>
            <a:r>
              <a:rPr lang="en-US" sz="1400" b="1" dirty="0" err="1"/>
              <a:t>nodejs</a:t>
            </a:r>
            <a:r>
              <a:rPr lang="en-US" sz="1400" b="1" dirty="0"/>
              <a:t> </a:t>
            </a:r>
            <a:r>
              <a:rPr lang="en-US" sz="1400" b="1" dirty="0" err="1"/>
              <a:t>versi</a:t>
            </a:r>
            <a:r>
              <a:rPr lang="en-US" sz="1400" b="1" dirty="0"/>
              <a:t> 18.#cd /deploy/simple-apps --&gt; </a:t>
            </a:r>
            <a:r>
              <a:rPr lang="en-US" sz="1400" b="1" dirty="0" err="1"/>
              <a:t>direktori</a:t>
            </a:r>
            <a:r>
              <a:rPr lang="en-US" sz="1400" b="1" dirty="0"/>
              <a:t> </a:t>
            </a:r>
            <a:r>
              <a:rPr lang="en-US" sz="1400" b="1" dirty="0" err="1"/>
              <a:t>tempat</a:t>
            </a:r>
            <a:r>
              <a:rPr lang="en-US" sz="1400" b="1" dirty="0"/>
              <a:t> </a:t>
            </a:r>
            <a:r>
              <a:rPr lang="en-US" sz="1400" b="1" dirty="0" err="1"/>
              <a:t>saya</a:t>
            </a:r>
            <a:r>
              <a:rPr lang="en-US" sz="1400" b="1" dirty="0"/>
              <a:t> </a:t>
            </a:r>
            <a:r>
              <a:rPr lang="en-US" sz="1400" b="1" dirty="0" err="1"/>
              <a:t>menyimpan</a:t>
            </a:r>
            <a:r>
              <a:rPr lang="en-US" sz="1400" b="1" dirty="0"/>
              <a:t> source code #vim </a:t>
            </a:r>
            <a:r>
              <a:rPr lang="en-US" sz="1400" b="1" dirty="0" err="1"/>
              <a:t>Dockerfile</a:t>
            </a:r>
            <a:r>
              <a:rPr lang="en-US" sz="1400" b="1" dirty="0"/>
              <a:t> ===</a:t>
            </a:r>
            <a:r>
              <a:rPr lang="en-US" sz="1400" b="1" dirty="0" err="1"/>
              <a:t>isi</a:t>
            </a:r>
            <a:r>
              <a:rPr lang="en-US" sz="1400" b="1" dirty="0"/>
              <a:t> file=== FROM node:18.16.0-slim WORKDIR /app ADD . . RUN </a:t>
            </a:r>
            <a:r>
              <a:rPr lang="en-US" sz="1400" b="1" dirty="0" err="1"/>
              <a:t>npm</a:t>
            </a:r>
            <a:r>
              <a:rPr lang="en-US" sz="1400" b="1" dirty="0"/>
              <a:t> install CMD </a:t>
            </a:r>
            <a:r>
              <a:rPr lang="en-US" sz="1400" b="1" dirty="0" err="1"/>
              <a:t>npm</a:t>
            </a:r>
            <a:r>
              <a:rPr lang="en-US" sz="1400" b="1" dirty="0"/>
              <a:t> start ===end===</a:t>
            </a:r>
          </a:p>
          <a:p>
            <a:pPr marL="342900" indent="-342900" algn="just" fontAlgn="base">
              <a:buFont typeface="+mj-lt"/>
              <a:buAutoNum type="arabicPeriod"/>
            </a:pPr>
            <a:r>
              <a:rPr lang="en-US" sz="1400" b="1" dirty="0" err="1"/>
              <a:t>Setelah</a:t>
            </a:r>
            <a:r>
              <a:rPr lang="en-US" sz="1400" b="1" dirty="0"/>
              <a:t> </a:t>
            </a:r>
            <a:r>
              <a:rPr lang="en-US" sz="1400" b="1" dirty="0" err="1"/>
              <a:t>Dockerfile</a:t>
            </a:r>
            <a:r>
              <a:rPr lang="en-US" sz="1400" b="1" dirty="0"/>
              <a:t> </a:t>
            </a:r>
            <a:r>
              <a:rPr lang="en-US" sz="1400" b="1" dirty="0" err="1"/>
              <a:t>dibuat</a:t>
            </a:r>
            <a:r>
              <a:rPr lang="en-US" sz="1400" b="1" dirty="0"/>
              <a:t>, </a:t>
            </a:r>
            <a:r>
              <a:rPr lang="en-US" sz="1400" b="1" dirty="0" err="1"/>
              <a:t>kita</a:t>
            </a:r>
            <a:r>
              <a:rPr lang="en-US" sz="1400" b="1" dirty="0"/>
              <a:t> build image </a:t>
            </a:r>
            <a:r>
              <a:rPr lang="en-US" sz="1400" b="1" dirty="0" err="1"/>
              <a:t>baru</a:t>
            </a:r>
            <a:r>
              <a:rPr lang="en-US" sz="1400" b="1" dirty="0"/>
              <a:t> </a:t>
            </a:r>
            <a:r>
              <a:rPr lang="en-US" sz="1400" b="1" dirty="0" err="1"/>
              <a:t>dari</a:t>
            </a:r>
            <a:r>
              <a:rPr lang="en-US" sz="1400" b="1" dirty="0"/>
              <a:t> </a:t>
            </a:r>
            <a:r>
              <a:rPr lang="en-US" sz="1400" b="1" dirty="0" err="1"/>
              <a:t>Dockerfile</a:t>
            </a:r>
            <a:r>
              <a:rPr lang="en-US" sz="1400" b="1" dirty="0"/>
              <a:t> </a:t>
            </a:r>
            <a:r>
              <a:rPr lang="en-US" sz="1400" b="1" dirty="0" err="1"/>
              <a:t>tersebut</a:t>
            </a:r>
            <a:r>
              <a:rPr lang="en-US" sz="1400" b="1" dirty="0"/>
              <a:t> </a:t>
            </a:r>
            <a:r>
              <a:rPr lang="en-US" sz="1400" b="1" dirty="0" err="1"/>
              <a:t>dengan</a:t>
            </a:r>
            <a:r>
              <a:rPr lang="en-US" sz="1400" b="1" dirty="0"/>
              <a:t> </a:t>
            </a:r>
            <a:r>
              <a:rPr lang="en-US" sz="1400" b="1" dirty="0" err="1"/>
              <a:t>perintah</a:t>
            </a:r>
            <a:r>
              <a:rPr lang="en-US" sz="1400" b="1" dirty="0"/>
              <a:t> </a:t>
            </a:r>
            <a:r>
              <a:rPr lang="en-US" sz="1400" b="1" dirty="0" err="1"/>
              <a:t>dibawah</a:t>
            </a:r>
            <a:r>
              <a:rPr lang="en-US" sz="1400" b="1" dirty="0"/>
              <a:t>.#</a:t>
            </a:r>
            <a:r>
              <a:rPr lang="en-US" sz="1400" b="1" dirty="0" err="1"/>
              <a:t>docker</a:t>
            </a:r>
            <a:r>
              <a:rPr lang="en-US" sz="1400" b="1" dirty="0"/>
              <a:t> build -t simple-apps . //</a:t>
            </a:r>
            <a:r>
              <a:rPr lang="en-US" sz="1400" b="1" dirty="0" err="1"/>
              <a:t>penjelasan</a:t>
            </a:r>
            <a:r>
              <a:rPr lang="en-US" sz="1400" b="1" dirty="0"/>
              <a:t> -t --&gt; </a:t>
            </a:r>
            <a:r>
              <a:rPr lang="en-US" sz="1400" b="1" dirty="0" err="1"/>
              <a:t>untuk</a:t>
            </a:r>
            <a:r>
              <a:rPr lang="en-US" sz="1400" b="1" dirty="0"/>
              <a:t> </a:t>
            </a:r>
            <a:r>
              <a:rPr lang="en-US" sz="1400" b="1" dirty="0" err="1"/>
              <a:t>memberikan</a:t>
            </a:r>
            <a:r>
              <a:rPr lang="en-US" sz="1400" b="1" dirty="0"/>
              <a:t> tag </a:t>
            </a:r>
            <a:r>
              <a:rPr lang="en-US" sz="1400" b="1" dirty="0" err="1"/>
              <a:t>untuk</a:t>
            </a:r>
            <a:r>
              <a:rPr lang="en-US" sz="1400" b="1" dirty="0"/>
              <a:t> image yang </a:t>
            </a:r>
            <a:r>
              <a:rPr lang="en-US" sz="1400" b="1" dirty="0" err="1"/>
              <a:t>akan</a:t>
            </a:r>
            <a:r>
              <a:rPr lang="en-US" sz="1400" b="1" dirty="0"/>
              <a:t> </a:t>
            </a:r>
            <a:r>
              <a:rPr lang="en-US" sz="1400" b="1" dirty="0" err="1"/>
              <a:t>dibuat</a:t>
            </a:r>
            <a:r>
              <a:rPr lang="en-US" sz="1400" b="1" dirty="0"/>
              <a:t> </a:t>
            </a:r>
            <a:r>
              <a:rPr lang="en-US" sz="1400" b="1" dirty="0" err="1"/>
              <a:t>docker</a:t>
            </a:r>
            <a:r>
              <a:rPr lang="en-US" sz="1400" b="1" dirty="0"/>
              <a:t> build -t &lt;tag&gt; &lt;</a:t>
            </a:r>
            <a:r>
              <a:rPr lang="en-US" sz="1400" b="1" dirty="0" err="1"/>
              <a:t>lokasi</a:t>
            </a:r>
            <a:r>
              <a:rPr lang="en-US" sz="1400" b="1" dirty="0"/>
              <a:t> </a:t>
            </a:r>
            <a:r>
              <a:rPr lang="en-US" sz="1400" b="1" dirty="0" err="1"/>
              <a:t>dockerfile</a:t>
            </a:r>
            <a:r>
              <a:rPr lang="en-US" sz="1400" b="1" dirty="0"/>
              <a:t> </a:t>
            </a:r>
            <a:r>
              <a:rPr lang="en-US" sz="1400" b="1" dirty="0" err="1" smtClean="0"/>
              <a:t>berada</a:t>
            </a:r>
            <a:r>
              <a:rPr lang="en-US" sz="1400" b="1" dirty="0" smtClean="0"/>
              <a:t>&gt;</a:t>
            </a:r>
          </a:p>
          <a:p>
            <a:pPr marL="342900" indent="-342900" algn="just" fontAlgn="base">
              <a:buFont typeface="+mj-lt"/>
              <a:buAutoNum type="arabicPeriod"/>
            </a:pPr>
            <a:r>
              <a:rPr lang="en-US" b="1" dirty="0" smtClean="0">
                <a:solidFill>
                  <a:srgbClr val="002060"/>
                </a:solidFill>
              </a:rPr>
              <a:t>p</a:t>
            </a:r>
            <a:endParaRPr lang="en-US" b="1" dirty="0">
              <a:solidFill>
                <a:srgbClr val="002060"/>
              </a:solidFill>
            </a:endParaRPr>
          </a:p>
        </p:txBody>
      </p:sp>
      <p:sp>
        <p:nvSpPr>
          <p:cNvPr id="8" name="Rectangle 7"/>
          <p:cNvSpPr/>
          <p:nvPr/>
        </p:nvSpPr>
        <p:spPr>
          <a:xfrm>
            <a:off x="5954110" y="304054"/>
            <a:ext cx="5838497" cy="6463308"/>
          </a:xfrm>
          <a:prstGeom prst="rect">
            <a:avLst/>
          </a:prstGeom>
        </p:spPr>
        <p:txBody>
          <a:bodyPr wrap="square">
            <a:spAutoFit/>
          </a:bodyPr>
          <a:lstStyle/>
          <a:p>
            <a:pPr fontAlgn="base"/>
            <a:r>
              <a:rPr lang="en-US" b="1" dirty="0" err="1" smtClean="0">
                <a:solidFill>
                  <a:srgbClr val="002060"/>
                </a:solidFill>
              </a:rPr>
              <a:t>Pengujian</a:t>
            </a:r>
            <a:endParaRPr lang="en-US" b="1" dirty="0" smtClean="0">
              <a:solidFill>
                <a:srgbClr val="002060"/>
              </a:solidFill>
            </a:endParaRPr>
          </a:p>
          <a:p>
            <a:pPr fontAlgn="base"/>
            <a:endParaRPr lang="en-US" b="1" dirty="0" smtClean="0">
              <a:solidFill>
                <a:srgbClr val="002060"/>
              </a:solidFill>
            </a:endParaRPr>
          </a:p>
          <a:p>
            <a:pPr marL="342900" indent="-342900" algn="just" fontAlgn="base">
              <a:buFont typeface="+mj-lt"/>
              <a:buAutoNum type="arabicPeriod"/>
            </a:pPr>
            <a:r>
              <a:rPr lang="en-US" sz="1400" b="1" dirty="0" err="1"/>
              <a:t>Setelah</a:t>
            </a:r>
            <a:r>
              <a:rPr lang="en-US" sz="1400" b="1" dirty="0"/>
              <a:t> </a:t>
            </a:r>
            <a:r>
              <a:rPr lang="en-US" sz="1400" b="1" dirty="0" err="1"/>
              <a:t>membuat</a:t>
            </a:r>
            <a:r>
              <a:rPr lang="en-US" sz="1400" b="1" dirty="0"/>
              <a:t> images </a:t>
            </a:r>
            <a:r>
              <a:rPr lang="en-US" sz="1400" b="1" dirty="0" err="1"/>
              <a:t>dari</a:t>
            </a:r>
            <a:r>
              <a:rPr lang="en-US" sz="1400" b="1" dirty="0"/>
              <a:t> </a:t>
            </a:r>
            <a:r>
              <a:rPr lang="en-US" sz="1400" b="1" dirty="0" err="1"/>
              <a:t>Dockerfile</a:t>
            </a:r>
            <a:r>
              <a:rPr lang="en-US" sz="1400" b="1" dirty="0"/>
              <a:t>, </a:t>
            </a:r>
            <a:r>
              <a:rPr lang="en-US" sz="1400" b="1" dirty="0" err="1"/>
              <a:t>kita</a:t>
            </a:r>
            <a:r>
              <a:rPr lang="en-US" sz="1400" b="1" dirty="0"/>
              <a:t> </a:t>
            </a:r>
            <a:r>
              <a:rPr lang="en-US" sz="1400" b="1" dirty="0" err="1"/>
              <a:t>lihat</a:t>
            </a:r>
            <a:r>
              <a:rPr lang="en-US" sz="1400" b="1" dirty="0"/>
              <a:t> </a:t>
            </a:r>
            <a:r>
              <a:rPr lang="en-US" sz="1400" b="1" dirty="0" err="1"/>
              <a:t>apakah</a:t>
            </a:r>
            <a:r>
              <a:rPr lang="en-US" sz="1400" b="1" dirty="0"/>
              <a:t> images yang </a:t>
            </a:r>
            <a:r>
              <a:rPr lang="en-US" sz="1400" b="1" dirty="0" err="1"/>
              <a:t>sudah</a:t>
            </a:r>
            <a:r>
              <a:rPr lang="en-US" sz="1400" b="1" dirty="0"/>
              <a:t> </a:t>
            </a:r>
            <a:r>
              <a:rPr lang="en-US" sz="1400" b="1" dirty="0" err="1"/>
              <a:t>dibuat</a:t>
            </a:r>
            <a:r>
              <a:rPr lang="en-US" sz="1400" b="1" dirty="0"/>
              <a:t> </a:t>
            </a:r>
            <a:r>
              <a:rPr lang="en-US" sz="1400" b="1" dirty="0" err="1"/>
              <a:t>telah</a:t>
            </a:r>
            <a:r>
              <a:rPr lang="en-US" sz="1400" b="1" dirty="0"/>
              <a:t> </a:t>
            </a:r>
            <a:r>
              <a:rPr lang="en-US" sz="1400" b="1" dirty="0" err="1"/>
              <a:t>muncul</a:t>
            </a:r>
            <a:r>
              <a:rPr lang="en-US" sz="1400" b="1" dirty="0"/>
              <a:t> </a:t>
            </a:r>
            <a:r>
              <a:rPr lang="en-US" sz="1400" b="1" dirty="0" err="1"/>
              <a:t>atau</a:t>
            </a:r>
            <a:r>
              <a:rPr lang="en-US" sz="1400" b="1" dirty="0"/>
              <a:t> </a:t>
            </a:r>
            <a:r>
              <a:rPr lang="en-US" sz="1400" b="1" dirty="0" err="1"/>
              <a:t>belum</a:t>
            </a:r>
            <a:r>
              <a:rPr lang="en-US" sz="1400" b="1" dirty="0"/>
              <a:t> </a:t>
            </a:r>
            <a:r>
              <a:rPr lang="en-US" sz="1400" b="1" dirty="0" err="1"/>
              <a:t>dengan</a:t>
            </a:r>
            <a:r>
              <a:rPr lang="en-US" sz="1400" b="1" dirty="0"/>
              <a:t> </a:t>
            </a:r>
            <a:r>
              <a:rPr lang="en-US" sz="1400" b="1" dirty="0" err="1"/>
              <a:t>perintah</a:t>
            </a:r>
            <a:r>
              <a:rPr lang="en-US" sz="1400" b="1" dirty="0"/>
              <a:t> </a:t>
            </a:r>
            <a:r>
              <a:rPr lang="en-US" sz="1400" b="1" dirty="0" err="1"/>
              <a:t>docker</a:t>
            </a:r>
            <a:r>
              <a:rPr lang="en-US" sz="1400" b="1" dirty="0"/>
              <a:t> images.#</a:t>
            </a:r>
            <a:r>
              <a:rPr lang="en-US" sz="1400" b="1" dirty="0" err="1"/>
              <a:t>docker</a:t>
            </a:r>
            <a:r>
              <a:rPr lang="en-US" sz="1400" b="1" dirty="0"/>
              <a:t> </a:t>
            </a:r>
            <a:r>
              <a:rPr lang="en-US" sz="1400" b="1" dirty="0" smtClean="0"/>
              <a:t>images</a:t>
            </a:r>
          </a:p>
          <a:p>
            <a:pPr marL="342900" indent="-342900" algn="just" fontAlgn="base">
              <a:buFont typeface="+mj-lt"/>
              <a:buAutoNum type="arabicPeriod"/>
            </a:pPr>
            <a:endParaRPr lang="en-US" sz="1400" b="1" dirty="0"/>
          </a:p>
          <a:p>
            <a:pPr marL="342900" indent="-342900" algn="just" fontAlgn="base">
              <a:buFont typeface="+mj-lt"/>
              <a:buAutoNum type="arabicPeriod"/>
            </a:pPr>
            <a:endParaRPr lang="en-US" sz="1400" b="1" dirty="0" smtClean="0"/>
          </a:p>
          <a:p>
            <a:pPr marL="342900" indent="-342900" algn="just" fontAlgn="base">
              <a:buFont typeface="+mj-lt"/>
              <a:buAutoNum type="arabicPeriod"/>
            </a:pPr>
            <a:endParaRPr lang="en-US" sz="1400" b="1" dirty="0"/>
          </a:p>
          <a:p>
            <a:pPr marL="342900" indent="-342900" algn="just" fontAlgn="base">
              <a:buFont typeface="+mj-lt"/>
              <a:buAutoNum type="arabicPeriod"/>
            </a:pPr>
            <a:endParaRPr lang="en-US" sz="1400" b="1" dirty="0" smtClean="0"/>
          </a:p>
          <a:p>
            <a:pPr marL="342900" indent="-342900" algn="just" fontAlgn="base">
              <a:buFont typeface="+mj-lt"/>
              <a:buAutoNum type="arabicPeriod"/>
            </a:pPr>
            <a:endParaRPr lang="en-US" sz="1400" b="1" dirty="0"/>
          </a:p>
          <a:p>
            <a:pPr marL="342900" indent="-342900" algn="just" fontAlgn="base">
              <a:buFont typeface="+mj-lt"/>
              <a:buAutoNum type="arabicPeriod"/>
            </a:pPr>
            <a:endParaRPr lang="en-US" sz="1400" b="1" dirty="0" smtClean="0"/>
          </a:p>
          <a:p>
            <a:pPr marL="342900" indent="-342900" algn="just" fontAlgn="base">
              <a:buFont typeface="+mj-lt"/>
              <a:buAutoNum type="arabicPeriod"/>
            </a:pPr>
            <a:endParaRPr lang="en-US" sz="1400" b="1" dirty="0"/>
          </a:p>
          <a:p>
            <a:pPr marL="342900" indent="-342900" algn="just" fontAlgn="base">
              <a:buFont typeface="+mj-lt"/>
              <a:buAutoNum type="arabicPeriod"/>
            </a:pPr>
            <a:r>
              <a:rPr lang="en-US" sz="1400" b="1" dirty="0" err="1" smtClean="0"/>
              <a:t>Jika</a:t>
            </a:r>
            <a:r>
              <a:rPr lang="en-US" sz="1400" b="1" dirty="0" smtClean="0"/>
              <a:t> </a:t>
            </a:r>
            <a:r>
              <a:rPr lang="en-US" sz="1400" b="1" dirty="0"/>
              <a:t>images yang </a:t>
            </a:r>
            <a:r>
              <a:rPr lang="en-US" sz="1400" b="1" dirty="0" err="1"/>
              <a:t>dibuat</a:t>
            </a:r>
            <a:r>
              <a:rPr lang="en-US" sz="1400" b="1" dirty="0"/>
              <a:t> </a:t>
            </a:r>
            <a:r>
              <a:rPr lang="en-US" sz="1400" b="1" dirty="0" err="1"/>
              <a:t>telah</a:t>
            </a:r>
            <a:r>
              <a:rPr lang="en-US" sz="1400" b="1" dirty="0"/>
              <a:t> </a:t>
            </a:r>
            <a:r>
              <a:rPr lang="en-US" sz="1400" b="1" dirty="0" err="1"/>
              <a:t>muncul</a:t>
            </a:r>
            <a:r>
              <a:rPr lang="en-US" sz="1400" b="1" dirty="0"/>
              <a:t>, </a:t>
            </a:r>
            <a:r>
              <a:rPr lang="en-US" sz="1400" b="1" dirty="0" err="1"/>
              <a:t>sekarang</a:t>
            </a:r>
            <a:r>
              <a:rPr lang="en-US" sz="1400" b="1" dirty="0"/>
              <a:t> </a:t>
            </a:r>
            <a:r>
              <a:rPr lang="en-US" sz="1400" b="1" dirty="0" err="1"/>
              <a:t>kita</a:t>
            </a:r>
            <a:r>
              <a:rPr lang="en-US" sz="1400" b="1" dirty="0"/>
              <a:t> </a:t>
            </a:r>
            <a:r>
              <a:rPr lang="en-US" sz="1400" b="1" dirty="0" err="1"/>
              <a:t>buat</a:t>
            </a:r>
            <a:r>
              <a:rPr lang="en-US" sz="1400" b="1" dirty="0"/>
              <a:t> container </a:t>
            </a:r>
            <a:r>
              <a:rPr lang="en-US" sz="1400" b="1" dirty="0" err="1"/>
              <a:t>dari</a:t>
            </a:r>
            <a:r>
              <a:rPr lang="en-US" sz="1400" b="1" dirty="0"/>
              <a:t> images simple apps.#</a:t>
            </a:r>
            <a:r>
              <a:rPr lang="en-US" sz="1400" b="1" dirty="0" err="1"/>
              <a:t>docker</a:t>
            </a:r>
            <a:r>
              <a:rPr lang="en-US" sz="1400" b="1" dirty="0"/>
              <a:t> run -d -p 3000:3000 --name test-simple simple-apps</a:t>
            </a:r>
          </a:p>
          <a:p>
            <a:pPr marL="342900" indent="-342900" algn="just" fontAlgn="base">
              <a:buFont typeface="+mj-lt"/>
              <a:buAutoNum type="arabicPeriod"/>
            </a:pPr>
            <a:r>
              <a:rPr lang="en-US" sz="1400" b="1" dirty="0" err="1"/>
              <a:t>Kemudian</a:t>
            </a:r>
            <a:r>
              <a:rPr lang="en-US" sz="1400" b="1" dirty="0"/>
              <a:t> </a:t>
            </a:r>
            <a:r>
              <a:rPr lang="en-US" sz="1400" b="1" dirty="0" err="1"/>
              <a:t>kita</a:t>
            </a:r>
            <a:r>
              <a:rPr lang="en-US" sz="1400" b="1" dirty="0"/>
              <a:t> </a:t>
            </a:r>
            <a:r>
              <a:rPr lang="en-US" sz="1400" b="1" dirty="0" err="1"/>
              <a:t>lihat</a:t>
            </a:r>
            <a:r>
              <a:rPr lang="en-US" sz="1400" b="1" dirty="0"/>
              <a:t> </a:t>
            </a:r>
            <a:r>
              <a:rPr lang="en-US" sz="1400" b="1" dirty="0" err="1"/>
              <a:t>apakah</a:t>
            </a:r>
            <a:r>
              <a:rPr lang="en-US" sz="1400" b="1" dirty="0"/>
              <a:t> container yang </a:t>
            </a:r>
            <a:r>
              <a:rPr lang="en-US" sz="1400" b="1" dirty="0" err="1"/>
              <a:t>telah</a:t>
            </a:r>
            <a:r>
              <a:rPr lang="en-US" sz="1400" b="1" dirty="0"/>
              <a:t> </a:t>
            </a:r>
            <a:r>
              <a:rPr lang="en-US" sz="1400" b="1" dirty="0" err="1"/>
              <a:t>dibuat</a:t>
            </a:r>
            <a:r>
              <a:rPr lang="en-US" sz="1400" b="1" dirty="0"/>
              <a:t> </a:t>
            </a:r>
            <a:r>
              <a:rPr lang="en-US" sz="1400" b="1" dirty="0" err="1"/>
              <a:t>sudah</a:t>
            </a:r>
            <a:r>
              <a:rPr lang="en-US" sz="1400" b="1" dirty="0"/>
              <a:t> </a:t>
            </a:r>
            <a:r>
              <a:rPr lang="en-US" sz="1400" b="1" dirty="0" err="1"/>
              <a:t>jalan</a:t>
            </a:r>
            <a:r>
              <a:rPr lang="en-US" sz="1400" b="1" dirty="0"/>
              <a:t> </a:t>
            </a:r>
            <a:r>
              <a:rPr lang="en-US" sz="1400" b="1" dirty="0" err="1"/>
              <a:t>atau</a:t>
            </a:r>
            <a:r>
              <a:rPr lang="en-US" sz="1400" b="1" dirty="0"/>
              <a:t> </a:t>
            </a:r>
            <a:r>
              <a:rPr lang="en-US" sz="1400" b="1" dirty="0" err="1"/>
              <a:t>belum</a:t>
            </a:r>
            <a:r>
              <a:rPr lang="en-US" sz="1400" b="1" dirty="0"/>
              <a:t>.#</a:t>
            </a:r>
            <a:r>
              <a:rPr lang="en-US" sz="1400" b="1" dirty="0" err="1"/>
              <a:t>docker</a:t>
            </a:r>
            <a:r>
              <a:rPr lang="en-US" sz="1400" b="1" dirty="0"/>
              <a:t> </a:t>
            </a:r>
            <a:r>
              <a:rPr lang="en-US" sz="1400" b="1" dirty="0" err="1" smtClean="0"/>
              <a:t>ps</a:t>
            </a:r>
            <a:endParaRPr lang="en-US" sz="1400" b="1" dirty="0" smtClean="0"/>
          </a:p>
          <a:p>
            <a:pPr marL="342900" indent="-342900" algn="just" fontAlgn="base">
              <a:buFont typeface="+mj-lt"/>
              <a:buAutoNum type="arabicPeriod"/>
            </a:pPr>
            <a:endParaRPr lang="en-US" sz="1400" b="1" dirty="0"/>
          </a:p>
          <a:p>
            <a:pPr marL="342900" indent="-342900" algn="just" fontAlgn="base">
              <a:buFont typeface="+mj-lt"/>
              <a:buAutoNum type="arabicPeriod"/>
            </a:pPr>
            <a:endParaRPr lang="en-US" sz="1400" b="1" dirty="0" smtClean="0"/>
          </a:p>
          <a:p>
            <a:pPr marL="342900" indent="-342900" algn="just" fontAlgn="base">
              <a:buFont typeface="+mj-lt"/>
              <a:buAutoNum type="arabicPeriod"/>
            </a:pPr>
            <a:endParaRPr lang="en-US" sz="1400" b="1" dirty="0"/>
          </a:p>
          <a:p>
            <a:pPr marL="342900" indent="-342900" algn="just" fontAlgn="base">
              <a:buFont typeface="+mj-lt"/>
              <a:buAutoNum type="arabicPeriod"/>
            </a:pPr>
            <a:endParaRPr lang="en-US" sz="1400" b="1" dirty="0" smtClean="0"/>
          </a:p>
          <a:p>
            <a:pPr marL="342900" indent="-342900" algn="just" fontAlgn="base">
              <a:buFont typeface="+mj-lt"/>
              <a:buAutoNum type="arabicPeriod"/>
            </a:pPr>
            <a:endParaRPr lang="en-US" sz="1400" b="1" dirty="0"/>
          </a:p>
          <a:p>
            <a:pPr marL="342900" indent="-342900" algn="just" fontAlgn="base">
              <a:buFont typeface="+mj-lt"/>
              <a:buAutoNum type="arabicPeriod"/>
            </a:pPr>
            <a:r>
              <a:rPr lang="en-US" sz="1400" b="1" dirty="0" err="1" smtClean="0"/>
              <a:t>Sekarang</a:t>
            </a:r>
            <a:r>
              <a:rPr lang="en-US" sz="1400" b="1" dirty="0" smtClean="0"/>
              <a:t> </a:t>
            </a:r>
            <a:r>
              <a:rPr lang="en-US" sz="1400" b="1" dirty="0" err="1"/>
              <a:t>kita</a:t>
            </a:r>
            <a:r>
              <a:rPr lang="en-US" sz="1400" b="1" dirty="0"/>
              <a:t> </a:t>
            </a:r>
            <a:r>
              <a:rPr lang="en-US" sz="1400" b="1" dirty="0" err="1"/>
              <a:t>uji</a:t>
            </a:r>
            <a:r>
              <a:rPr lang="en-US" sz="1400" b="1" dirty="0"/>
              <a:t> </a:t>
            </a:r>
            <a:r>
              <a:rPr lang="en-US" sz="1400" b="1" dirty="0" err="1"/>
              <a:t>coba</a:t>
            </a:r>
            <a:r>
              <a:rPr lang="en-US" sz="1400" b="1" dirty="0"/>
              <a:t> </a:t>
            </a:r>
            <a:r>
              <a:rPr lang="en-US" sz="1400" b="1" dirty="0" err="1"/>
              <a:t>untuk</a:t>
            </a:r>
            <a:r>
              <a:rPr lang="en-US" sz="1400" b="1" dirty="0"/>
              <a:t> </a:t>
            </a:r>
            <a:r>
              <a:rPr lang="en-US" sz="1400" b="1" dirty="0" err="1"/>
              <a:t>dibuka</a:t>
            </a:r>
            <a:r>
              <a:rPr lang="en-US" sz="1400" b="1" dirty="0"/>
              <a:t> </a:t>
            </a:r>
            <a:r>
              <a:rPr lang="en-US" sz="1400" b="1" dirty="0" err="1"/>
              <a:t>dengan</a:t>
            </a:r>
            <a:r>
              <a:rPr lang="en-US" sz="1400" b="1" dirty="0"/>
              <a:t> browser</a:t>
            </a:r>
            <a:r>
              <a:rPr lang="en-US" sz="1400" b="1" dirty="0" smtClean="0"/>
              <a:t>.</a:t>
            </a:r>
          </a:p>
          <a:p>
            <a:pPr marL="342900" indent="-342900" algn="just" fontAlgn="base">
              <a:buFont typeface="+mj-lt"/>
              <a:buAutoNum type="arabicPeriod"/>
            </a:pPr>
            <a:endParaRPr lang="en-US" sz="1400" b="1" dirty="0"/>
          </a:p>
          <a:p>
            <a:pPr marL="342900" indent="-342900" algn="just" fontAlgn="base">
              <a:buFont typeface="+mj-lt"/>
              <a:buAutoNum type="arabicPeriod"/>
            </a:pPr>
            <a:endParaRPr lang="en-US" sz="1400" b="1" dirty="0" smtClean="0"/>
          </a:p>
          <a:p>
            <a:pPr marL="342900" indent="-342900" algn="just" fontAlgn="base">
              <a:buFont typeface="+mj-lt"/>
              <a:buAutoNum type="arabicPeriod"/>
            </a:pPr>
            <a:endParaRPr lang="en-US" sz="1400" b="1" dirty="0"/>
          </a:p>
          <a:p>
            <a:pPr marL="342900" indent="-342900" algn="just" fontAlgn="base">
              <a:buFont typeface="+mj-lt"/>
              <a:buAutoNum type="arabicPeriod"/>
            </a:pPr>
            <a:endParaRPr lang="en-US" sz="1400" b="1" dirty="0"/>
          </a:p>
          <a:p>
            <a:pPr marL="342900" indent="-342900" algn="just" fontAlgn="base">
              <a:buFont typeface="+mj-lt"/>
              <a:buAutoNum type="arabicPeriod"/>
            </a:pPr>
            <a:r>
              <a:rPr lang="en-US" sz="1400" b="1" dirty="0"/>
              <a:t>p</a:t>
            </a:r>
            <a:endParaRPr lang="en-US" sz="1400" b="1" dirty="0" smtClean="0"/>
          </a:p>
          <a:p>
            <a:pPr algn="just"/>
            <a:endParaRPr lang="en-US" sz="1400" b="1" dirty="0"/>
          </a:p>
        </p:txBody>
      </p:sp>
      <p:sp>
        <p:nvSpPr>
          <p:cNvPr id="14" name="Rectangle 13"/>
          <p:cNvSpPr/>
          <p:nvPr/>
        </p:nvSpPr>
        <p:spPr>
          <a:xfrm>
            <a:off x="6343869" y="1635537"/>
            <a:ext cx="5622129" cy="1169551"/>
          </a:xfrm>
          <a:prstGeom prst="rect">
            <a:avLst/>
          </a:prstGeom>
          <a:solidFill>
            <a:schemeClr val="tx1"/>
          </a:solidFill>
        </p:spPr>
        <p:txBody>
          <a:bodyPr wrap="square">
            <a:spAutoFit/>
          </a:bodyPr>
          <a:lstStyle/>
          <a:p>
            <a:pPr algn="just"/>
            <a:r>
              <a:rPr lang="en-US" sz="1400" dirty="0" err="1" smtClean="0">
                <a:solidFill>
                  <a:schemeClr val="bg1">
                    <a:lumMod val="95000"/>
                  </a:schemeClr>
                </a:solidFill>
              </a:rPr>
              <a:t>root@panda</a:t>
            </a:r>
            <a:r>
              <a:rPr lang="en-US" sz="1400" dirty="0" smtClean="0">
                <a:solidFill>
                  <a:schemeClr val="bg1">
                    <a:lumMod val="95000"/>
                  </a:schemeClr>
                </a:solidFill>
              </a:rPr>
              <a:t>: /deploy/simple-apps# </a:t>
            </a:r>
            <a:r>
              <a:rPr lang="en-US" sz="1400" dirty="0" err="1" smtClean="0">
                <a:solidFill>
                  <a:schemeClr val="bg1">
                    <a:lumMod val="95000"/>
                  </a:schemeClr>
                </a:solidFill>
              </a:rPr>
              <a:t>docker</a:t>
            </a:r>
            <a:r>
              <a:rPr lang="en-US" sz="1400" dirty="0" smtClean="0">
                <a:solidFill>
                  <a:schemeClr val="bg1">
                    <a:lumMod val="95000"/>
                  </a:schemeClr>
                </a:solidFill>
              </a:rPr>
              <a:t> images</a:t>
            </a:r>
          </a:p>
          <a:p>
            <a:pPr algn="just"/>
            <a:endParaRPr lang="en-US" sz="1400" b="1" dirty="0" smtClean="0">
              <a:solidFill>
                <a:schemeClr val="bg1">
                  <a:lumMod val="50000"/>
                </a:schemeClr>
              </a:solidFill>
            </a:endParaRPr>
          </a:p>
          <a:p>
            <a:pPr algn="just"/>
            <a:endParaRPr lang="en-US" sz="1400" b="1" dirty="0" smtClean="0">
              <a:solidFill>
                <a:schemeClr val="bg1">
                  <a:lumMod val="50000"/>
                </a:schemeClr>
              </a:solidFill>
            </a:endParaRPr>
          </a:p>
          <a:p>
            <a:pPr algn="just"/>
            <a:endParaRPr lang="en-US" sz="1400" b="1" dirty="0">
              <a:solidFill>
                <a:schemeClr val="bg1">
                  <a:lumMod val="50000"/>
                </a:schemeClr>
              </a:solidFill>
            </a:endParaRPr>
          </a:p>
          <a:p>
            <a:pPr algn="just"/>
            <a:endParaRPr lang="en-US" sz="1400" b="1" dirty="0">
              <a:solidFill>
                <a:schemeClr val="bg1">
                  <a:lumMod val="50000"/>
                </a:schemeClr>
              </a:solidFill>
            </a:endParaRPr>
          </a:p>
        </p:txBody>
      </p:sp>
      <p:pic>
        <p:nvPicPr>
          <p:cNvPr id="5" name="Picture 4"/>
          <p:cNvPicPr>
            <a:picLocks noChangeAspect="1"/>
          </p:cNvPicPr>
          <p:nvPr/>
        </p:nvPicPr>
        <p:blipFill>
          <a:blip r:embed="rId2"/>
          <a:stretch>
            <a:fillRect/>
          </a:stretch>
        </p:blipFill>
        <p:spPr>
          <a:xfrm>
            <a:off x="6448426" y="2013761"/>
            <a:ext cx="5373742" cy="552450"/>
          </a:xfrm>
          <a:prstGeom prst="rect">
            <a:avLst/>
          </a:prstGeom>
        </p:spPr>
      </p:pic>
      <p:sp>
        <p:nvSpPr>
          <p:cNvPr id="15" name="Rectangle 14"/>
          <p:cNvSpPr/>
          <p:nvPr/>
        </p:nvSpPr>
        <p:spPr>
          <a:xfrm>
            <a:off x="6343869" y="4131001"/>
            <a:ext cx="5622129" cy="954107"/>
          </a:xfrm>
          <a:prstGeom prst="rect">
            <a:avLst/>
          </a:prstGeom>
          <a:solidFill>
            <a:schemeClr val="tx1"/>
          </a:solidFill>
        </p:spPr>
        <p:txBody>
          <a:bodyPr wrap="square">
            <a:spAutoFit/>
          </a:bodyPr>
          <a:lstStyle/>
          <a:p>
            <a:pPr algn="just"/>
            <a:r>
              <a:rPr lang="en-US" sz="1400" dirty="0" err="1" smtClean="0">
                <a:solidFill>
                  <a:schemeClr val="bg1">
                    <a:lumMod val="95000"/>
                  </a:schemeClr>
                </a:solidFill>
              </a:rPr>
              <a:t>root@panda</a:t>
            </a:r>
            <a:r>
              <a:rPr lang="en-US" sz="1400" dirty="0" smtClean="0">
                <a:solidFill>
                  <a:schemeClr val="bg1">
                    <a:lumMod val="95000"/>
                  </a:schemeClr>
                </a:solidFill>
              </a:rPr>
              <a:t>: /deploy/simple-apps# </a:t>
            </a:r>
            <a:r>
              <a:rPr lang="en-US" sz="1400" dirty="0" err="1" smtClean="0">
                <a:solidFill>
                  <a:schemeClr val="bg1">
                    <a:lumMod val="95000"/>
                  </a:schemeClr>
                </a:solidFill>
              </a:rPr>
              <a:t>docker</a:t>
            </a:r>
            <a:r>
              <a:rPr lang="en-US" sz="1400" dirty="0" smtClean="0">
                <a:solidFill>
                  <a:schemeClr val="bg1">
                    <a:lumMod val="95000"/>
                  </a:schemeClr>
                </a:solidFill>
              </a:rPr>
              <a:t> </a:t>
            </a:r>
            <a:r>
              <a:rPr lang="en-US" sz="1400" dirty="0" err="1" smtClean="0">
                <a:solidFill>
                  <a:schemeClr val="bg1">
                    <a:lumMod val="95000"/>
                  </a:schemeClr>
                </a:solidFill>
              </a:rPr>
              <a:t>ps</a:t>
            </a:r>
            <a:endParaRPr lang="en-US" sz="1400" dirty="0" smtClean="0">
              <a:solidFill>
                <a:schemeClr val="bg1">
                  <a:lumMod val="95000"/>
                </a:schemeClr>
              </a:solidFill>
            </a:endParaRPr>
          </a:p>
          <a:p>
            <a:pPr algn="just"/>
            <a:endParaRPr lang="en-US" sz="1400" b="1" dirty="0" smtClean="0">
              <a:solidFill>
                <a:schemeClr val="bg1">
                  <a:lumMod val="50000"/>
                </a:schemeClr>
              </a:solidFill>
            </a:endParaRPr>
          </a:p>
          <a:p>
            <a:pPr algn="just"/>
            <a:endParaRPr lang="en-US" sz="1400" b="1" dirty="0" smtClean="0">
              <a:solidFill>
                <a:schemeClr val="bg1">
                  <a:lumMod val="50000"/>
                </a:schemeClr>
              </a:solidFill>
            </a:endParaRPr>
          </a:p>
          <a:p>
            <a:pPr algn="just"/>
            <a:endParaRPr lang="en-US" sz="1400" b="1" dirty="0">
              <a:solidFill>
                <a:schemeClr val="bg1">
                  <a:lumMod val="50000"/>
                </a:schemeClr>
              </a:solidFill>
            </a:endParaRPr>
          </a:p>
        </p:txBody>
      </p:sp>
      <p:pic>
        <p:nvPicPr>
          <p:cNvPr id="6" name="Picture 5"/>
          <p:cNvPicPr>
            <a:picLocks noChangeAspect="1"/>
          </p:cNvPicPr>
          <p:nvPr/>
        </p:nvPicPr>
        <p:blipFill>
          <a:blip r:embed="rId3"/>
          <a:stretch>
            <a:fillRect/>
          </a:stretch>
        </p:blipFill>
        <p:spPr>
          <a:xfrm>
            <a:off x="6448426" y="4481789"/>
            <a:ext cx="5344181" cy="467974"/>
          </a:xfrm>
          <a:prstGeom prst="rect">
            <a:avLst/>
          </a:prstGeom>
        </p:spPr>
      </p:pic>
      <p:pic>
        <p:nvPicPr>
          <p:cNvPr id="9" name="Picture 8"/>
          <p:cNvPicPr>
            <a:picLocks noChangeAspect="1"/>
          </p:cNvPicPr>
          <p:nvPr/>
        </p:nvPicPr>
        <p:blipFill>
          <a:blip r:embed="rId4"/>
          <a:stretch>
            <a:fillRect/>
          </a:stretch>
        </p:blipFill>
        <p:spPr>
          <a:xfrm>
            <a:off x="6343869" y="5379515"/>
            <a:ext cx="5622129" cy="847725"/>
          </a:xfrm>
          <a:prstGeom prst="rect">
            <a:avLst/>
          </a:prstGeom>
        </p:spPr>
      </p:pic>
    </p:spTree>
    <p:extLst>
      <p:ext uri="{BB962C8B-B14F-4D97-AF65-F5344CB8AC3E}">
        <p14:creationId xmlns:p14="http://schemas.microsoft.com/office/powerpoint/2010/main" val="1282524571"/>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63276" y="519182"/>
            <a:ext cx="1888068" cy="1116355"/>
          </a:xfrm>
        </p:spPr>
        <p:txBody>
          <a:bodyPr>
            <a:normAutofit/>
          </a:bodyPr>
          <a:lstStyle/>
          <a:p>
            <a:pPr algn="just"/>
            <a:r>
              <a:rPr lang="en-US" b="1" dirty="0" smtClean="0">
                <a:solidFill>
                  <a:srgbClr val="002060"/>
                </a:solidFill>
              </a:rPr>
              <a:t>Image</a:t>
            </a:r>
            <a:endParaRPr lang="en-US" sz="2000" b="1" dirty="0">
              <a:solidFill>
                <a:srgbClr val="002060"/>
              </a:solidFill>
            </a:endParaRPr>
          </a:p>
        </p:txBody>
      </p:sp>
      <p:sp>
        <p:nvSpPr>
          <p:cNvPr id="7" name="Rectangle 6"/>
          <p:cNvSpPr/>
          <p:nvPr/>
        </p:nvSpPr>
        <p:spPr>
          <a:xfrm>
            <a:off x="0" y="61696"/>
            <a:ext cx="2363980" cy="1015663"/>
          </a:xfrm>
          <a:prstGeom prst="rect">
            <a:avLst/>
          </a:prstGeom>
        </p:spPr>
        <p:txBody>
          <a:bodyPr wrap="none">
            <a:spAutoFit/>
          </a:bodyPr>
          <a:lstStyle/>
          <a:p>
            <a:r>
              <a:rPr lang="en-US" sz="6000" dirty="0">
                <a:solidFill>
                  <a:srgbClr val="FFC000"/>
                </a:solidFill>
              </a:rPr>
              <a:t>Docker</a:t>
            </a:r>
          </a:p>
        </p:txBody>
      </p:sp>
      <p:sp>
        <p:nvSpPr>
          <p:cNvPr id="13" name="Rectangle 12"/>
          <p:cNvSpPr/>
          <p:nvPr/>
        </p:nvSpPr>
        <p:spPr>
          <a:xfrm>
            <a:off x="279400" y="1501530"/>
            <a:ext cx="5645150" cy="5109091"/>
          </a:xfrm>
          <a:prstGeom prst="rect">
            <a:avLst/>
          </a:prstGeom>
        </p:spPr>
        <p:txBody>
          <a:bodyPr wrap="square">
            <a:spAutoFit/>
          </a:bodyPr>
          <a:lstStyle/>
          <a:p>
            <a:pPr fontAlgn="base"/>
            <a:r>
              <a:rPr lang="en-US" b="1" dirty="0" err="1">
                <a:solidFill>
                  <a:srgbClr val="002060"/>
                </a:solidFill>
              </a:rPr>
              <a:t>Konfigurasi</a:t>
            </a:r>
            <a:r>
              <a:rPr lang="en-US" b="1" dirty="0">
                <a:solidFill>
                  <a:srgbClr val="002060"/>
                </a:solidFill>
              </a:rPr>
              <a:t> Docker </a:t>
            </a:r>
            <a:r>
              <a:rPr lang="en-US" b="1" dirty="0" smtClean="0">
                <a:solidFill>
                  <a:srgbClr val="002060"/>
                </a:solidFill>
              </a:rPr>
              <a:t>Compose</a:t>
            </a:r>
          </a:p>
          <a:p>
            <a:pPr marL="342900" indent="-342900" algn="just" fontAlgn="base">
              <a:buFont typeface="+mj-lt"/>
              <a:buAutoNum type="arabicPeriod"/>
            </a:pPr>
            <a:r>
              <a:rPr lang="en-US" sz="1400" b="1" dirty="0" err="1"/>
              <a:t>Sebelumnya</a:t>
            </a:r>
            <a:r>
              <a:rPr lang="en-US" sz="1400" b="1" dirty="0"/>
              <a:t> </a:t>
            </a:r>
            <a:r>
              <a:rPr lang="en-US" sz="1400" b="1" dirty="0" err="1"/>
              <a:t>kita</a:t>
            </a:r>
            <a:r>
              <a:rPr lang="en-US" sz="1400" b="1" dirty="0"/>
              <a:t> </a:t>
            </a:r>
            <a:r>
              <a:rPr lang="en-US" sz="1400" b="1" dirty="0" err="1"/>
              <a:t>telah</a:t>
            </a:r>
            <a:r>
              <a:rPr lang="en-US" sz="1400" b="1" dirty="0"/>
              <a:t> </a:t>
            </a:r>
            <a:r>
              <a:rPr lang="en-US" sz="1400" b="1" dirty="0" err="1"/>
              <a:t>membuat</a:t>
            </a:r>
            <a:r>
              <a:rPr lang="en-US" sz="1400" b="1" dirty="0"/>
              <a:t> images </a:t>
            </a:r>
            <a:r>
              <a:rPr lang="en-US" sz="1400" b="1" dirty="0" err="1"/>
              <a:t>dengan</a:t>
            </a:r>
            <a:r>
              <a:rPr lang="en-US" sz="1400" b="1" dirty="0"/>
              <a:t> </a:t>
            </a:r>
            <a:r>
              <a:rPr lang="en-US" sz="1400" b="1" dirty="0" err="1"/>
              <a:t>Dockerfile</a:t>
            </a:r>
            <a:r>
              <a:rPr lang="en-US" sz="1400" b="1" dirty="0"/>
              <a:t> </a:t>
            </a:r>
            <a:r>
              <a:rPr lang="en-US" sz="1400" b="1" dirty="0" err="1"/>
              <a:t>dan</a:t>
            </a:r>
            <a:r>
              <a:rPr lang="en-US" sz="1400" b="1" dirty="0"/>
              <a:t> </a:t>
            </a:r>
            <a:r>
              <a:rPr lang="en-US" sz="1400" b="1" dirty="0" err="1"/>
              <a:t>menjalankannya</a:t>
            </a:r>
            <a:r>
              <a:rPr lang="en-US" sz="1400" b="1" dirty="0"/>
              <a:t> </a:t>
            </a:r>
            <a:r>
              <a:rPr lang="en-US" sz="1400" b="1" dirty="0" err="1"/>
              <a:t>menjadi</a:t>
            </a:r>
            <a:r>
              <a:rPr lang="en-US" sz="1400" b="1" dirty="0"/>
              <a:t> container. </a:t>
            </a:r>
            <a:r>
              <a:rPr lang="en-US" sz="1400" b="1" dirty="0" err="1"/>
              <a:t>Sekarang</a:t>
            </a:r>
            <a:r>
              <a:rPr lang="en-US" sz="1400" b="1" dirty="0"/>
              <a:t> </a:t>
            </a:r>
            <a:r>
              <a:rPr lang="en-US" sz="1400" b="1" dirty="0" err="1"/>
              <a:t>kita</a:t>
            </a:r>
            <a:r>
              <a:rPr lang="en-US" sz="1400" b="1" dirty="0"/>
              <a:t> </a:t>
            </a:r>
            <a:r>
              <a:rPr lang="en-US" sz="1400" b="1" dirty="0" err="1"/>
              <a:t>akan</a:t>
            </a:r>
            <a:r>
              <a:rPr lang="en-US" sz="1400" b="1" dirty="0"/>
              <a:t> </a:t>
            </a:r>
            <a:r>
              <a:rPr lang="en-US" sz="1400" b="1" dirty="0" err="1"/>
              <a:t>coba</a:t>
            </a:r>
            <a:r>
              <a:rPr lang="en-US" sz="1400" b="1" dirty="0"/>
              <a:t> </a:t>
            </a:r>
            <a:r>
              <a:rPr lang="en-US" sz="1400" b="1" dirty="0" err="1"/>
              <a:t>mendeploy</a:t>
            </a:r>
            <a:r>
              <a:rPr lang="en-US" sz="1400" b="1" dirty="0"/>
              <a:t> </a:t>
            </a:r>
            <a:r>
              <a:rPr lang="en-US" sz="1400" b="1" dirty="0" err="1"/>
              <a:t>kembali</a:t>
            </a:r>
            <a:r>
              <a:rPr lang="en-US" sz="1400" b="1" dirty="0"/>
              <a:t> </a:t>
            </a:r>
            <a:r>
              <a:rPr lang="en-US" sz="1400" b="1" dirty="0" err="1"/>
              <a:t>menggunakan</a:t>
            </a:r>
            <a:r>
              <a:rPr lang="en-US" sz="1400" b="1" dirty="0"/>
              <a:t> </a:t>
            </a:r>
            <a:r>
              <a:rPr lang="en-US" sz="1400" b="1" dirty="0" err="1"/>
              <a:t>fitur</a:t>
            </a:r>
            <a:r>
              <a:rPr lang="en-US" sz="1400" b="1" dirty="0"/>
              <a:t> Docker Compose. </a:t>
            </a:r>
            <a:r>
              <a:rPr lang="en-US" sz="1400" b="1" dirty="0" err="1"/>
              <a:t>Sebelum</a:t>
            </a:r>
            <a:r>
              <a:rPr lang="en-US" sz="1400" b="1" dirty="0"/>
              <a:t> </a:t>
            </a:r>
            <a:r>
              <a:rPr lang="en-US" sz="1400" b="1" dirty="0" err="1"/>
              <a:t>itu</a:t>
            </a:r>
            <a:r>
              <a:rPr lang="en-US" sz="1400" b="1" dirty="0"/>
              <a:t> install </a:t>
            </a:r>
            <a:r>
              <a:rPr lang="en-US" sz="1400" b="1" dirty="0" err="1"/>
              <a:t>terlebih</a:t>
            </a:r>
            <a:r>
              <a:rPr lang="en-US" sz="1400" b="1" dirty="0"/>
              <a:t> </a:t>
            </a:r>
            <a:r>
              <a:rPr lang="en-US" sz="1400" b="1" dirty="0" err="1"/>
              <a:t>dahulu</a:t>
            </a:r>
            <a:r>
              <a:rPr lang="en-US" sz="1400" b="1" dirty="0"/>
              <a:t> </a:t>
            </a:r>
            <a:r>
              <a:rPr lang="en-US" sz="1400" b="1" dirty="0" err="1"/>
              <a:t>docker-composenya</a:t>
            </a:r>
            <a:r>
              <a:rPr lang="en-US" sz="1400" b="1" dirty="0"/>
              <a:t>.#apt update &amp;&amp; apt install </a:t>
            </a:r>
            <a:r>
              <a:rPr lang="en-US" sz="1400" b="1" dirty="0" err="1"/>
              <a:t>docker</a:t>
            </a:r>
            <a:r>
              <a:rPr lang="en-US" sz="1400" b="1" dirty="0"/>
              <a:t>-compose -y</a:t>
            </a:r>
          </a:p>
          <a:p>
            <a:pPr marL="342900" indent="-342900" algn="just" fontAlgn="base">
              <a:buFont typeface="+mj-lt"/>
              <a:buAutoNum type="arabicPeriod"/>
            </a:pPr>
            <a:r>
              <a:rPr lang="en-US" sz="1400" b="1" dirty="0" err="1"/>
              <a:t>Setelah</a:t>
            </a:r>
            <a:r>
              <a:rPr lang="en-US" sz="1400" b="1" dirty="0"/>
              <a:t> </a:t>
            </a:r>
            <a:r>
              <a:rPr lang="en-US" sz="1400" b="1" dirty="0" err="1"/>
              <a:t>instalasi</a:t>
            </a:r>
            <a:r>
              <a:rPr lang="en-US" sz="1400" b="1" dirty="0"/>
              <a:t> </a:t>
            </a:r>
            <a:r>
              <a:rPr lang="en-US" sz="1400" b="1" dirty="0" err="1"/>
              <a:t>berhasil</a:t>
            </a:r>
            <a:r>
              <a:rPr lang="en-US" sz="1400" b="1" dirty="0"/>
              <a:t>, </a:t>
            </a:r>
            <a:r>
              <a:rPr lang="en-US" sz="1400" b="1" dirty="0" err="1"/>
              <a:t>kita</a:t>
            </a:r>
            <a:r>
              <a:rPr lang="en-US" sz="1400" b="1" dirty="0"/>
              <a:t> </a:t>
            </a:r>
            <a:r>
              <a:rPr lang="en-US" sz="1400" b="1" dirty="0" err="1"/>
              <a:t>hapus</a:t>
            </a:r>
            <a:r>
              <a:rPr lang="en-US" sz="1400" b="1" dirty="0"/>
              <a:t> </a:t>
            </a:r>
            <a:r>
              <a:rPr lang="en-US" sz="1400" b="1" dirty="0" err="1"/>
              <a:t>terlebih</a:t>
            </a:r>
            <a:r>
              <a:rPr lang="en-US" sz="1400" b="1" dirty="0"/>
              <a:t> </a:t>
            </a:r>
            <a:r>
              <a:rPr lang="en-US" sz="1400" b="1" dirty="0" err="1"/>
              <a:t>dahulu</a:t>
            </a:r>
            <a:r>
              <a:rPr lang="en-US" sz="1400" b="1" dirty="0"/>
              <a:t> container yang </a:t>
            </a:r>
            <a:r>
              <a:rPr lang="en-US" sz="1400" b="1" dirty="0" err="1"/>
              <a:t>tadinya</a:t>
            </a:r>
            <a:r>
              <a:rPr lang="en-US" sz="1400" b="1" dirty="0"/>
              <a:t> </a:t>
            </a:r>
            <a:r>
              <a:rPr lang="en-US" sz="1400" b="1" dirty="0" err="1"/>
              <a:t>telah</a:t>
            </a:r>
            <a:r>
              <a:rPr lang="en-US" sz="1400" b="1" dirty="0"/>
              <a:t> </a:t>
            </a:r>
            <a:r>
              <a:rPr lang="en-US" sz="1400" b="1" dirty="0" err="1"/>
              <a:t>kita</a:t>
            </a:r>
            <a:r>
              <a:rPr lang="en-US" sz="1400" b="1" dirty="0"/>
              <a:t> </a:t>
            </a:r>
            <a:r>
              <a:rPr lang="en-US" sz="1400" b="1" dirty="0" err="1"/>
              <a:t>buat</a:t>
            </a:r>
            <a:r>
              <a:rPr lang="en-US" sz="1400" b="1" dirty="0"/>
              <a:t>.#</a:t>
            </a:r>
            <a:r>
              <a:rPr lang="en-US" sz="1400" b="1" dirty="0" err="1"/>
              <a:t>docker</a:t>
            </a:r>
            <a:r>
              <a:rPr lang="en-US" sz="1400" b="1" dirty="0"/>
              <a:t> </a:t>
            </a:r>
            <a:r>
              <a:rPr lang="en-US" sz="1400" b="1" dirty="0" err="1"/>
              <a:t>rm</a:t>
            </a:r>
            <a:r>
              <a:rPr lang="en-US" sz="1400" b="1" dirty="0"/>
              <a:t> -f test-simple</a:t>
            </a:r>
          </a:p>
          <a:p>
            <a:pPr marL="342900" indent="-342900" algn="just" fontAlgn="base">
              <a:buFont typeface="+mj-lt"/>
              <a:buAutoNum type="arabicPeriod"/>
            </a:pPr>
            <a:r>
              <a:rPr lang="en-US" sz="1400" b="1" dirty="0" err="1"/>
              <a:t>Buatlah</a:t>
            </a:r>
            <a:r>
              <a:rPr lang="en-US" sz="1400" b="1" dirty="0"/>
              <a:t> </a:t>
            </a:r>
            <a:r>
              <a:rPr lang="en-US" sz="1400" b="1" dirty="0" err="1"/>
              <a:t>sebuah</a:t>
            </a:r>
            <a:r>
              <a:rPr lang="en-US" sz="1400" b="1" dirty="0"/>
              <a:t> </a:t>
            </a:r>
            <a:r>
              <a:rPr lang="en-US" sz="1400" b="1" dirty="0" err="1"/>
              <a:t>direktori</a:t>
            </a:r>
            <a:r>
              <a:rPr lang="en-US" sz="1400" b="1" dirty="0"/>
              <a:t> </a:t>
            </a:r>
            <a:r>
              <a:rPr lang="en-US" sz="1400" b="1" dirty="0" err="1"/>
              <a:t>baru</a:t>
            </a:r>
            <a:r>
              <a:rPr lang="en-US" sz="1400" b="1" dirty="0"/>
              <a:t> </a:t>
            </a:r>
            <a:r>
              <a:rPr lang="en-US" sz="1400" b="1" dirty="0" err="1"/>
              <a:t>dengan</a:t>
            </a:r>
            <a:r>
              <a:rPr lang="en-US" sz="1400" b="1" dirty="0"/>
              <a:t> </a:t>
            </a:r>
            <a:r>
              <a:rPr lang="en-US" sz="1400" b="1" dirty="0" err="1"/>
              <a:t>nama</a:t>
            </a:r>
            <a:r>
              <a:rPr lang="en-US" sz="1400" b="1" dirty="0"/>
              <a:t> apps </a:t>
            </a:r>
            <a:r>
              <a:rPr lang="en-US" sz="1400" b="1" dirty="0" err="1"/>
              <a:t>untuk</a:t>
            </a:r>
            <a:r>
              <a:rPr lang="en-US" sz="1400" b="1" dirty="0"/>
              <a:t> </a:t>
            </a:r>
            <a:r>
              <a:rPr lang="en-US" sz="1400" b="1" dirty="0" err="1"/>
              <a:t>menyimpan</a:t>
            </a:r>
            <a:r>
              <a:rPr lang="en-US" sz="1400" b="1" dirty="0"/>
              <a:t> file source code yang </a:t>
            </a:r>
            <a:r>
              <a:rPr lang="en-US" sz="1400" b="1" dirty="0" err="1"/>
              <a:t>telah</a:t>
            </a:r>
            <a:r>
              <a:rPr lang="en-US" sz="1400" b="1" dirty="0"/>
              <a:t> </a:t>
            </a:r>
            <a:r>
              <a:rPr lang="en-US" sz="1400" b="1" dirty="0" err="1"/>
              <a:t>kita</a:t>
            </a:r>
            <a:r>
              <a:rPr lang="en-US" sz="1400" b="1" dirty="0"/>
              <a:t> </a:t>
            </a:r>
            <a:r>
              <a:rPr lang="en-US" sz="1400" b="1" dirty="0" err="1"/>
              <a:t>buat</a:t>
            </a:r>
            <a:r>
              <a:rPr lang="en-US" sz="1400" b="1" dirty="0"/>
              <a:t>. </a:t>
            </a:r>
            <a:r>
              <a:rPr lang="en-US" sz="1400" b="1" dirty="0" err="1"/>
              <a:t>Pindahkan</a:t>
            </a:r>
            <a:r>
              <a:rPr lang="en-US" sz="1400" b="1" dirty="0"/>
              <a:t> </a:t>
            </a:r>
            <a:r>
              <a:rPr lang="en-US" sz="1400" b="1" dirty="0" err="1"/>
              <a:t>semua</a:t>
            </a:r>
            <a:r>
              <a:rPr lang="en-US" sz="1400" b="1" dirty="0"/>
              <a:t> file source code </a:t>
            </a:r>
            <a:r>
              <a:rPr lang="en-US" sz="1400" b="1" dirty="0" err="1"/>
              <a:t>ke</a:t>
            </a:r>
            <a:r>
              <a:rPr lang="en-US" sz="1400" b="1" dirty="0"/>
              <a:t> </a:t>
            </a:r>
            <a:r>
              <a:rPr lang="en-US" sz="1400" b="1" dirty="0" err="1"/>
              <a:t>direktori</a:t>
            </a:r>
            <a:r>
              <a:rPr lang="en-US" sz="1400" b="1" dirty="0"/>
              <a:t> apps.#</a:t>
            </a:r>
            <a:r>
              <a:rPr lang="en-US" sz="1400" b="1" dirty="0" err="1"/>
              <a:t>mkdir</a:t>
            </a:r>
            <a:r>
              <a:rPr lang="en-US" sz="1400" b="1" dirty="0"/>
              <a:t> apps #mv * apps/</a:t>
            </a:r>
          </a:p>
          <a:p>
            <a:pPr marL="342900" indent="-342900" algn="just" fontAlgn="base">
              <a:buFont typeface="+mj-lt"/>
              <a:buAutoNum type="arabicPeriod"/>
            </a:pPr>
            <a:r>
              <a:rPr lang="en-US" sz="1400" b="1" dirty="0" err="1"/>
              <a:t>Kemudian</a:t>
            </a:r>
            <a:r>
              <a:rPr lang="en-US" sz="1400" b="1" dirty="0"/>
              <a:t> </a:t>
            </a:r>
            <a:r>
              <a:rPr lang="en-US" sz="1400" b="1" dirty="0" err="1"/>
              <a:t>kita</a:t>
            </a:r>
            <a:r>
              <a:rPr lang="en-US" sz="1400" b="1" dirty="0"/>
              <a:t> </a:t>
            </a:r>
            <a:r>
              <a:rPr lang="en-US" sz="1400" b="1" dirty="0" err="1"/>
              <a:t>buat</a:t>
            </a:r>
            <a:r>
              <a:rPr lang="en-US" sz="1400" b="1" dirty="0"/>
              <a:t> file </a:t>
            </a:r>
            <a:r>
              <a:rPr lang="en-US" sz="1400" b="1" dirty="0" err="1"/>
              <a:t>docker-compose.yml</a:t>
            </a:r>
            <a:r>
              <a:rPr lang="en-US" sz="1400" b="1" dirty="0"/>
              <a:t>. </a:t>
            </a:r>
            <a:r>
              <a:rPr lang="en-US" sz="1400" b="1" dirty="0" err="1"/>
              <a:t>Isikan</a:t>
            </a:r>
            <a:r>
              <a:rPr lang="en-US" sz="1400" b="1" dirty="0"/>
              <a:t> file </a:t>
            </a:r>
            <a:r>
              <a:rPr lang="en-US" sz="1400" b="1" dirty="0" err="1"/>
              <a:t>tersebut</a:t>
            </a:r>
            <a:r>
              <a:rPr lang="en-US" sz="1400" b="1" dirty="0"/>
              <a:t> </a:t>
            </a:r>
            <a:r>
              <a:rPr lang="en-US" sz="1400" b="1" dirty="0" err="1"/>
              <a:t>dengan</a:t>
            </a:r>
            <a:r>
              <a:rPr lang="en-US" sz="1400" b="1" dirty="0"/>
              <a:t> </a:t>
            </a:r>
            <a:r>
              <a:rPr lang="en-US" sz="1400" b="1" dirty="0" err="1"/>
              <a:t>konfigurasi</a:t>
            </a:r>
            <a:r>
              <a:rPr lang="en-US" sz="1400" b="1" dirty="0"/>
              <a:t> </a:t>
            </a:r>
            <a:r>
              <a:rPr lang="en-US" sz="1400" b="1" dirty="0" err="1"/>
              <a:t>dibawah</a:t>
            </a:r>
            <a:r>
              <a:rPr lang="en-US" sz="1400" b="1" dirty="0"/>
              <a:t>.#vim </a:t>
            </a:r>
            <a:r>
              <a:rPr lang="en-US" sz="1400" b="1" dirty="0" err="1"/>
              <a:t>docker-compose.yml</a:t>
            </a:r>
            <a:r>
              <a:rPr lang="en-US" sz="1400" b="1" dirty="0"/>
              <a:t> #</a:t>
            </a:r>
            <a:r>
              <a:rPr lang="en-US" sz="1400" b="1" dirty="0" err="1"/>
              <a:t>versi</a:t>
            </a:r>
            <a:r>
              <a:rPr lang="en-US" sz="1400" b="1" dirty="0"/>
              <a:t> yang </a:t>
            </a:r>
            <a:r>
              <a:rPr lang="en-US" sz="1400" b="1" dirty="0" err="1"/>
              <a:t>digunakan</a:t>
            </a:r>
            <a:r>
              <a:rPr lang="en-US" sz="1400" b="1" dirty="0"/>
              <a:t> </a:t>
            </a:r>
            <a:r>
              <a:rPr lang="en-US" sz="1400" b="1" dirty="0" err="1"/>
              <a:t>mungkin</a:t>
            </a:r>
            <a:r>
              <a:rPr lang="en-US" sz="1400" b="1" dirty="0"/>
              <a:t> </a:t>
            </a:r>
            <a:r>
              <a:rPr lang="en-US" sz="1400" b="1" dirty="0" err="1"/>
              <a:t>dapat</a:t>
            </a:r>
            <a:r>
              <a:rPr lang="en-US" sz="1400" b="1" dirty="0"/>
              <a:t> </a:t>
            </a:r>
            <a:r>
              <a:rPr lang="en-US" sz="1400" b="1" dirty="0" err="1"/>
              <a:t>berbeda</a:t>
            </a:r>
            <a:r>
              <a:rPr lang="en-US" sz="1400" b="1" dirty="0"/>
              <a:t> </a:t>
            </a:r>
            <a:r>
              <a:rPr lang="en-US" sz="1400" b="1" dirty="0" err="1"/>
              <a:t>tergantung</a:t>
            </a:r>
            <a:r>
              <a:rPr lang="en-US" sz="1400" b="1" dirty="0"/>
              <a:t> </a:t>
            </a:r>
            <a:r>
              <a:rPr lang="en-US" sz="1400" b="1" dirty="0" err="1"/>
              <a:t>dari</a:t>
            </a:r>
            <a:r>
              <a:rPr lang="en-US" sz="1400" b="1" dirty="0"/>
              <a:t> </a:t>
            </a:r>
            <a:r>
              <a:rPr lang="en-US" sz="1400" b="1" dirty="0" err="1"/>
              <a:t>versi</a:t>
            </a:r>
            <a:r>
              <a:rPr lang="en-US" sz="1400" b="1" dirty="0"/>
              <a:t> </a:t>
            </a:r>
            <a:r>
              <a:rPr lang="en-US" sz="1400" b="1" dirty="0" err="1"/>
              <a:t>docker</a:t>
            </a:r>
            <a:r>
              <a:rPr lang="en-US" sz="1400" b="1" dirty="0"/>
              <a:t> compose yang </a:t>
            </a:r>
            <a:r>
              <a:rPr lang="en-US" sz="1400" b="1" dirty="0" err="1"/>
              <a:t>diinstall</a:t>
            </a:r>
            <a:r>
              <a:rPr lang="en-US" sz="1400" b="1" dirty="0"/>
              <a:t> version: "3.3" services: #</a:t>
            </a:r>
            <a:r>
              <a:rPr lang="en-US" sz="1400" b="1" dirty="0" err="1"/>
              <a:t>perintah</a:t>
            </a:r>
            <a:r>
              <a:rPr lang="en-US" sz="1400" b="1" dirty="0"/>
              <a:t> </a:t>
            </a:r>
            <a:r>
              <a:rPr lang="en-US" sz="1400" b="1" dirty="0" err="1"/>
              <a:t>ini</a:t>
            </a:r>
            <a:r>
              <a:rPr lang="en-US" sz="1400" b="1" dirty="0"/>
              <a:t> </a:t>
            </a:r>
            <a:r>
              <a:rPr lang="en-US" sz="1400" b="1" dirty="0" err="1"/>
              <a:t>digunakan</a:t>
            </a:r>
            <a:r>
              <a:rPr lang="en-US" sz="1400" b="1" dirty="0"/>
              <a:t> </a:t>
            </a:r>
            <a:r>
              <a:rPr lang="en-US" sz="1400" b="1" dirty="0" err="1"/>
              <a:t>untuk</a:t>
            </a:r>
            <a:r>
              <a:rPr lang="en-US" sz="1400" b="1" dirty="0"/>
              <a:t> </a:t>
            </a:r>
            <a:r>
              <a:rPr lang="en-US" sz="1400" b="1" dirty="0" err="1"/>
              <a:t>membuat</a:t>
            </a:r>
            <a:r>
              <a:rPr lang="en-US" sz="1400" b="1" dirty="0"/>
              <a:t> container </a:t>
            </a:r>
            <a:r>
              <a:rPr lang="en-US" sz="1400" b="1" dirty="0" err="1"/>
              <a:t>dari</a:t>
            </a:r>
            <a:r>
              <a:rPr lang="en-US" sz="1400" b="1" dirty="0"/>
              <a:t> folder apps </a:t>
            </a:r>
            <a:r>
              <a:rPr lang="en-US" sz="1400" b="1" dirty="0" err="1"/>
              <a:t>kita</a:t>
            </a:r>
            <a:r>
              <a:rPr lang="en-US" sz="1400" b="1" dirty="0"/>
              <a:t> backend: build: ./apps restart: always links: - </a:t>
            </a:r>
            <a:r>
              <a:rPr lang="en-US" sz="1400" b="1" dirty="0" err="1"/>
              <a:t>db</a:t>
            </a:r>
            <a:r>
              <a:rPr lang="en-US" sz="1400" b="1" dirty="0"/>
              <a:t> ports: - "3000:3000" volumes: - app-data:/app/public/images #</a:t>
            </a:r>
            <a:r>
              <a:rPr lang="en-US" sz="1400" b="1" dirty="0" err="1"/>
              <a:t>perintah</a:t>
            </a:r>
            <a:r>
              <a:rPr lang="en-US" sz="1400" b="1" dirty="0"/>
              <a:t> </a:t>
            </a:r>
            <a:r>
              <a:rPr lang="en-US" sz="1400" b="1" dirty="0" err="1"/>
              <a:t>ini</a:t>
            </a:r>
            <a:r>
              <a:rPr lang="en-US" sz="1400" b="1" dirty="0"/>
              <a:t> </a:t>
            </a:r>
            <a:r>
              <a:rPr lang="en-US" sz="1400" b="1" dirty="0" err="1"/>
              <a:t>digunakan</a:t>
            </a:r>
            <a:r>
              <a:rPr lang="en-US" sz="1400" b="1" dirty="0"/>
              <a:t> </a:t>
            </a:r>
            <a:r>
              <a:rPr lang="en-US" sz="1400" b="1" dirty="0" err="1"/>
              <a:t>untuk</a:t>
            </a:r>
            <a:r>
              <a:rPr lang="en-US" sz="1400" b="1" dirty="0"/>
              <a:t> </a:t>
            </a:r>
            <a:r>
              <a:rPr lang="en-US" sz="1400" b="1" dirty="0" err="1"/>
              <a:t>membuat</a:t>
            </a:r>
            <a:r>
              <a:rPr lang="en-US" sz="1400" b="1" dirty="0"/>
              <a:t> container </a:t>
            </a:r>
            <a:r>
              <a:rPr lang="en-US" sz="1400" b="1" dirty="0" err="1"/>
              <a:t>mariadb</a:t>
            </a:r>
            <a:r>
              <a:rPr lang="en-US" sz="1400" b="1" dirty="0"/>
              <a:t>, </a:t>
            </a:r>
            <a:r>
              <a:rPr lang="en-US" sz="1400" b="1" dirty="0" err="1"/>
              <a:t>sebelumnya</a:t>
            </a:r>
            <a:r>
              <a:rPr lang="en-US" sz="1400" b="1" dirty="0"/>
              <a:t> </a:t>
            </a:r>
            <a:r>
              <a:rPr lang="en-US" sz="1400" b="1" dirty="0" err="1"/>
              <a:t>pada</a:t>
            </a:r>
            <a:r>
              <a:rPr lang="en-US" sz="1400" b="1" dirty="0"/>
              <a:t> </a:t>
            </a:r>
            <a:r>
              <a:rPr lang="en-US" sz="1400" b="1" dirty="0" err="1"/>
              <a:t>saat</a:t>
            </a:r>
            <a:r>
              <a:rPr lang="en-US" sz="1400" b="1" dirty="0"/>
              <a:t> </a:t>
            </a:r>
            <a:r>
              <a:rPr lang="en-US" sz="1400" b="1" dirty="0" err="1"/>
              <a:t>kita</a:t>
            </a:r>
            <a:r>
              <a:rPr lang="en-US" sz="1400" b="1" dirty="0"/>
              <a:t> </a:t>
            </a:r>
            <a:r>
              <a:rPr lang="en-US" sz="1400" b="1" dirty="0" err="1"/>
              <a:t>membuat</a:t>
            </a:r>
            <a:r>
              <a:rPr lang="en-US" sz="1400" b="1" dirty="0"/>
              <a:t> </a:t>
            </a:r>
            <a:r>
              <a:rPr lang="en-US" sz="1400" b="1" dirty="0" err="1"/>
              <a:t>dockerfile</a:t>
            </a:r>
            <a:r>
              <a:rPr lang="en-US" sz="1400" b="1" dirty="0"/>
              <a:t> </a:t>
            </a:r>
            <a:r>
              <a:rPr lang="en-US" sz="1400" b="1" dirty="0" err="1"/>
              <a:t>kita</a:t>
            </a:r>
            <a:r>
              <a:rPr lang="en-US" sz="1400" b="1" dirty="0"/>
              <a:t> </a:t>
            </a:r>
            <a:r>
              <a:rPr lang="en-US" sz="1400" b="1" dirty="0" err="1"/>
              <a:t>hanya</a:t>
            </a:r>
            <a:r>
              <a:rPr lang="en-US" sz="1400" b="1" dirty="0"/>
              <a:t> </a:t>
            </a:r>
            <a:r>
              <a:rPr lang="en-US" sz="1400" b="1" dirty="0" err="1"/>
              <a:t>menjalankan</a:t>
            </a:r>
            <a:r>
              <a:rPr lang="en-US" sz="1400" b="1" dirty="0"/>
              <a:t> web </a:t>
            </a:r>
            <a:r>
              <a:rPr lang="en-US" sz="1400" b="1" dirty="0" err="1"/>
              <a:t>untuk</a:t>
            </a:r>
            <a:r>
              <a:rPr lang="en-US" sz="1400" b="1" dirty="0"/>
              <a:t> route </a:t>
            </a:r>
            <a:r>
              <a:rPr lang="en-US" sz="1400" b="1" dirty="0" err="1"/>
              <a:t>ke</a:t>
            </a:r>
            <a:r>
              <a:rPr lang="en-US" sz="1400" b="1" dirty="0"/>
              <a:t> page </a:t>
            </a:r>
            <a:r>
              <a:rPr lang="en-US" sz="1400" b="1" dirty="0" err="1"/>
              <a:t>utama</a:t>
            </a:r>
            <a:r>
              <a:rPr lang="en-US" sz="1400" b="1" dirty="0"/>
              <a:t> </a:t>
            </a:r>
            <a:r>
              <a:rPr lang="en-US" sz="1400" b="1" dirty="0" err="1"/>
              <a:t>dan</a:t>
            </a:r>
            <a:r>
              <a:rPr lang="en-US" sz="1400" b="1" dirty="0"/>
              <a:t> /app. </a:t>
            </a:r>
            <a:r>
              <a:rPr lang="en-US" sz="1400" b="1" dirty="0" err="1"/>
              <a:t>Sedangkan</a:t>
            </a:r>
            <a:r>
              <a:rPr lang="en-US" sz="1400" b="1" dirty="0"/>
              <a:t> route </a:t>
            </a:r>
            <a:r>
              <a:rPr lang="en-US" sz="1400" b="1" dirty="0" err="1"/>
              <a:t>ke</a:t>
            </a:r>
            <a:r>
              <a:rPr lang="en-US" sz="1400" b="1" dirty="0"/>
              <a:t> /users </a:t>
            </a:r>
            <a:r>
              <a:rPr lang="en-US" sz="1400" b="1" dirty="0" err="1"/>
              <a:t>tidak</a:t>
            </a:r>
            <a:r>
              <a:rPr lang="en-US" sz="1400" b="1" dirty="0"/>
              <a:t> </a:t>
            </a:r>
            <a:r>
              <a:rPr lang="en-US" sz="1400" b="1" dirty="0" err="1"/>
              <a:t>dapat</a:t>
            </a:r>
            <a:r>
              <a:rPr lang="en-US" sz="1400" b="1" dirty="0"/>
              <a:t> </a:t>
            </a:r>
            <a:r>
              <a:rPr lang="en-US" sz="1400" b="1" dirty="0" err="1"/>
              <a:t>dibuka</a:t>
            </a:r>
            <a:r>
              <a:rPr lang="en-US" sz="1400" b="1" dirty="0"/>
              <a:t> </a:t>
            </a:r>
            <a:r>
              <a:rPr lang="en-US" sz="1400" b="1" dirty="0" err="1"/>
              <a:t>karena</a:t>
            </a:r>
            <a:r>
              <a:rPr lang="en-US" sz="1400" b="1" dirty="0"/>
              <a:t> </a:t>
            </a:r>
            <a:r>
              <a:rPr lang="en-US" sz="1400" b="1" dirty="0" err="1"/>
              <a:t>tidak</a:t>
            </a:r>
            <a:r>
              <a:rPr lang="en-US" sz="1400" b="1" dirty="0"/>
              <a:t> </a:t>
            </a:r>
            <a:r>
              <a:rPr lang="en-US" sz="1400" b="1" dirty="0" err="1"/>
              <a:t>ada</a:t>
            </a:r>
            <a:r>
              <a:rPr lang="en-US" sz="1400" b="1" dirty="0"/>
              <a:t> container </a:t>
            </a:r>
            <a:r>
              <a:rPr lang="en-US" sz="1400" b="1" dirty="0" err="1"/>
              <a:t>mariadbnya</a:t>
            </a:r>
            <a:r>
              <a:rPr lang="en-US" sz="1400" b="1" dirty="0"/>
              <a:t> </a:t>
            </a:r>
            <a:r>
              <a:rPr lang="en-US" sz="1400" b="1" dirty="0" err="1"/>
              <a:t>db</a:t>
            </a:r>
            <a:r>
              <a:rPr lang="en-US" sz="1400" b="1" dirty="0"/>
              <a:t>: image: "</a:t>
            </a:r>
            <a:r>
              <a:rPr lang="en-US" sz="1400" b="1" dirty="0" err="1"/>
              <a:t>mariadb</a:t>
            </a:r>
            <a:r>
              <a:rPr lang="en-US" sz="1400" b="1" dirty="0"/>
              <a:t>" restart: always links: - </a:t>
            </a:r>
            <a:r>
              <a:rPr lang="en-US" sz="1400" b="1" dirty="0" err="1"/>
              <a:t>phpmyadmin</a:t>
            </a:r>
            <a:r>
              <a:rPr lang="en-US" sz="1400" b="1" dirty="0"/>
              <a:t> ports: - "3306" </a:t>
            </a:r>
            <a:r>
              <a:rPr lang="en-US" sz="1400" b="1" dirty="0" smtClean="0"/>
              <a:t>environment</a:t>
            </a:r>
            <a:endParaRPr lang="en-US" sz="1400" b="1" dirty="0"/>
          </a:p>
        </p:txBody>
      </p:sp>
      <p:sp>
        <p:nvSpPr>
          <p:cNvPr id="8" name="Rectangle 7"/>
          <p:cNvSpPr/>
          <p:nvPr/>
        </p:nvSpPr>
        <p:spPr>
          <a:xfrm>
            <a:off x="6089650" y="61696"/>
            <a:ext cx="5645150" cy="3323987"/>
          </a:xfrm>
          <a:prstGeom prst="rect">
            <a:avLst/>
          </a:prstGeom>
        </p:spPr>
        <p:txBody>
          <a:bodyPr wrap="square">
            <a:spAutoFit/>
          </a:bodyPr>
          <a:lstStyle/>
          <a:p>
            <a:pPr fontAlgn="base"/>
            <a:r>
              <a:rPr lang="en-US" sz="1400" b="1" dirty="0" smtClean="0"/>
              <a:t>- </a:t>
            </a:r>
            <a:r>
              <a:rPr lang="en-US" sz="1400" b="1" dirty="0"/>
              <a:t>MYSQL_ROOT_PASSWORD=password - MYSQL_DATABASE=training - MYSQL_USER=</a:t>
            </a:r>
            <a:r>
              <a:rPr lang="en-US" sz="1400" b="1" dirty="0" err="1"/>
              <a:t>peserta</a:t>
            </a:r>
            <a:r>
              <a:rPr lang="en-US" sz="1400" b="1" dirty="0"/>
              <a:t> - MYSQL_PASSWORD=password volumes: - ./apps/database/:/</a:t>
            </a:r>
            <a:r>
              <a:rPr lang="en-US" sz="1400" b="1" dirty="0" err="1"/>
              <a:t>docker-entrypoint-initdb.d</a:t>
            </a:r>
            <a:r>
              <a:rPr lang="en-US" sz="1400" b="1" dirty="0"/>
              <a:t> - </a:t>
            </a:r>
            <a:r>
              <a:rPr lang="en-US" sz="1400" b="1" dirty="0" err="1"/>
              <a:t>db</a:t>
            </a:r>
            <a:r>
              <a:rPr lang="en-US" sz="1400" b="1" dirty="0"/>
              <a:t>-data:/</a:t>
            </a:r>
            <a:r>
              <a:rPr lang="en-US" sz="1400" b="1" dirty="0" err="1"/>
              <a:t>var</a:t>
            </a:r>
            <a:r>
              <a:rPr lang="en-US" sz="1400" b="1" dirty="0"/>
              <a:t>/lib/</a:t>
            </a:r>
            <a:r>
              <a:rPr lang="en-US" sz="1400" b="1" dirty="0" err="1"/>
              <a:t>mysql</a:t>
            </a:r>
            <a:r>
              <a:rPr lang="en-US" sz="1400" b="1" dirty="0"/>
              <a:t> #</a:t>
            </a:r>
            <a:r>
              <a:rPr lang="en-US" sz="1400" b="1" dirty="0" err="1"/>
              <a:t>perintah</a:t>
            </a:r>
            <a:r>
              <a:rPr lang="en-US" sz="1400" b="1" dirty="0"/>
              <a:t> </a:t>
            </a:r>
            <a:r>
              <a:rPr lang="en-US" sz="1400" b="1" dirty="0" err="1"/>
              <a:t>ini</a:t>
            </a:r>
            <a:r>
              <a:rPr lang="en-US" sz="1400" b="1" dirty="0"/>
              <a:t> </a:t>
            </a:r>
            <a:r>
              <a:rPr lang="en-US" sz="1400" b="1" dirty="0" err="1"/>
              <a:t>digunakan</a:t>
            </a:r>
            <a:r>
              <a:rPr lang="en-US" sz="1400" b="1" dirty="0"/>
              <a:t> </a:t>
            </a:r>
            <a:r>
              <a:rPr lang="en-US" sz="1400" b="1" dirty="0" err="1"/>
              <a:t>untuk</a:t>
            </a:r>
            <a:r>
              <a:rPr lang="en-US" sz="1400" b="1" dirty="0"/>
              <a:t> </a:t>
            </a:r>
            <a:r>
              <a:rPr lang="en-US" sz="1400" b="1" dirty="0" err="1"/>
              <a:t>membuat</a:t>
            </a:r>
            <a:r>
              <a:rPr lang="en-US" sz="1400" b="1" dirty="0"/>
              <a:t> container </a:t>
            </a:r>
            <a:r>
              <a:rPr lang="en-US" sz="1400" b="1" dirty="0" err="1"/>
              <a:t>phpmyadmin</a:t>
            </a:r>
            <a:r>
              <a:rPr lang="en-US" sz="1400" b="1" dirty="0"/>
              <a:t>, </a:t>
            </a:r>
            <a:r>
              <a:rPr lang="en-US" sz="1400" b="1" dirty="0" err="1"/>
              <a:t>dengan</a:t>
            </a:r>
            <a:r>
              <a:rPr lang="en-US" sz="1400" b="1" dirty="0"/>
              <a:t> </a:t>
            </a:r>
            <a:r>
              <a:rPr lang="en-US" sz="1400" b="1" dirty="0" err="1"/>
              <a:t>ini</a:t>
            </a:r>
            <a:r>
              <a:rPr lang="en-US" sz="1400" b="1" dirty="0"/>
              <a:t> kalian </a:t>
            </a:r>
            <a:r>
              <a:rPr lang="en-US" sz="1400" b="1" dirty="0" err="1"/>
              <a:t>dapat</a:t>
            </a:r>
            <a:r>
              <a:rPr lang="en-US" sz="1400" b="1" dirty="0"/>
              <a:t> </a:t>
            </a:r>
            <a:r>
              <a:rPr lang="en-US" sz="1400" b="1" dirty="0" err="1"/>
              <a:t>mengakses</a:t>
            </a:r>
            <a:r>
              <a:rPr lang="en-US" sz="1400" b="1" dirty="0"/>
              <a:t> </a:t>
            </a:r>
            <a:r>
              <a:rPr lang="en-US" sz="1400" b="1" dirty="0" err="1"/>
              <a:t>phpmyadmin</a:t>
            </a:r>
            <a:r>
              <a:rPr lang="en-US" sz="1400" b="1" dirty="0"/>
              <a:t> </a:t>
            </a:r>
            <a:r>
              <a:rPr lang="en-US" sz="1400" b="1" dirty="0" err="1"/>
              <a:t>untuk</a:t>
            </a:r>
            <a:r>
              <a:rPr lang="en-US" sz="1400" b="1" dirty="0"/>
              <a:t> </a:t>
            </a:r>
            <a:r>
              <a:rPr lang="en-US" sz="1400" b="1" dirty="0" err="1"/>
              <a:t>mengubah</a:t>
            </a:r>
            <a:r>
              <a:rPr lang="en-US" sz="1400" b="1" dirty="0"/>
              <a:t> </a:t>
            </a:r>
            <a:r>
              <a:rPr lang="en-US" sz="1400" b="1" dirty="0" err="1"/>
              <a:t>isi</a:t>
            </a:r>
            <a:r>
              <a:rPr lang="en-US" sz="1400" b="1" dirty="0"/>
              <a:t> database </a:t>
            </a:r>
            <a:r>
              <a:rPr lang="en-US" sz="1400" b="1" dirty="0" err="1"/>
              <a:t>phpmyadmin</a:t>
            </a:r>
            <a:r>
              <a:rPr lang="en-US" sz="1400" b="1" dirty="0"/>
              <a:t>: image: "</a:t>
            </a:r>
            <a:r>
              <a:rPr lang="en-US" sz="1400" b="1" dirty="0" err="1"/>
              <a:t>phpmyadmin</a:t>
            </a:r>
            <a:r>
              <a:rPr lang="en-US" sz="1400" b="1" dirty="0"/>
              <a:t>" restart: always ports: - "8000:80" environment: - PMA_HOST=</a:t>
            </a:r>
            <a:r>
              <a:rPr lang="en-US" sz="1400" b="1" dirty="0" err="1"/>
              <a:t>db</a:t>
            </a:r>
            <a:r>
              <a:rPr lang="en-US" sz="1400" b="1" dirty="0"/>
              <a:t> #</a:t>
            </a:r>
            <a:r>
              <a:rPr lang="en-US" sz="1400" b="1" dirty="0" err="1"/>
              <a:t>konfigurasi</a:t>
            </a:r>
            <a:r>
              <a:rPr lang="en-US" sz="1400" b="1" dirty="0"/>
              <a:t> volume volumes: app-data: </a:t>
            </a:r>
            <a:r>
              <a:rPr lang="en-US" sz="1400" b="1" dirty="0" err="1"/>
              <a:t>db</a:t>
            </a:r>
            <a:r>
              <a:rPr lang="en-US" sz="1400" b="1" dirty="0"/>
              <a:t>-data:</a:t>
            </a:r>
          </a:p>
          <a:p>
            <a:pPr marL="342900" indent="-342900" algn="just" fontAlgn="base">
              <a:buFont typeface="+mj-lt"/>
              <a:buAutoNum type="arabicPeriod" startAt="5"/>
            </a:pPr>
            <a:r>
              <a:rPr lang="en-US" sz="1400" b="1" dirty="0" err="1"/>
              <a:t>Sekarang</a:t>
            </a:r>
            <a:r>
              <a:rPr lang="en-US" sz="1400" b="1" dirty="0"/>
              <a:t> </a:t>
            </a:r>
            <a:r>
              <a:rPr lang="en-US" sz="1400" b="1" dirty="0" err="1"/>
              <a:t>kita</a:t>
            </a:r>
            <a:r>
              <a:rPr lang="en-US" sz="1400" b="1" dirty="0"/>
              <a:t> edit file .</a:t>
            </a:r>
            <a:r>
              <a:rPr lang="en-US" sz="1400" b="1" dirty="0" err="1"/>
              <a:t>env</a:t>
            </a:r>
            <a:r>
              <a:rPr lang="en-US" sz="1400" b="1" dirty="0"/>
              <a:t> </a:t>
            </a:r>
            <a:r>
              <a:rPr lang="en-US" sz="1400" b="1" dirty="0" err="1"/>
              <a:t>untuk</a:t>
            </a:r>
            <a:r>
              <a:rPr lang="en-US" sz="1400" b="1" dirty="0"/>
              <a:t> </a:t>
            </a:r>
            <a:r>
              <a:rPr lang="en-US" sz="1400" b="1" dirty="0" err="1"/>
              <a:t>disesuaikan</a:t>
            </a:r>
            <a:r>
              <a:rPr lang="en-US" sz="1400" b="1" dirty="0"/>
              <a:t> </a:t>
            </a:r>
            <a:r>
              <a:rPr lang="en-US" sz="1400" b="1" dirty="0" err="1"/>
              <a:t>arah</a:t>
            </a:r>
            <a:r>
              <a:rPr lang="en-US" sz="1400" b="1" dirty="0"/>
              <a:t> </a:t>
            </a:r>
            <a:r>
              <a:rPr lang="en-US" sz="1400" b="1" dirty="0" err="1"/>
              <a:t>kedatabase</a:t>
            </a:r>
            <a:r>
              <a:rPr lang="en-US" sz="1400" b="1" dirty="0"/>
              <a:t> container </a:t>
            </a:r>
            <a:r>
              <a:rPr lang="en-US" sz="1400" b="1" dirty="0" err="1"/>
              <a:t>mariadb</a:t>
            </a:r>
            <a:r>
              <a:rPr lang="en-US" sz="1400" b="1" dirty="0"/>
              <a:t>.#vim apps/.</a:t>
            </a:r>
            <a:r>
              <a:rPr lang="en-US" sz="1400" b="1" dirty="0" err="1"/>
              <a:t>env</a:t>
            </a:r>
            <a:r>
              <a:rPr lang="en-US" sz="1400" b="1" dirty="0"/>
              <a:t> ===edit file=== DB_NAME='training' DB_HOST='</a:t>
            </a:r>
            <a:r>
              <a:rPr lang="en-US" sz="1400" b="1" dirty="0" err="1"/>
              <a:t>db</a:t>
            </a:r>
            <a:r>
              <a:rPr lang="en-US" sz="1400" b="1" dirty="0"/>
              <a:t>' DB_USER='</a:t>
            </a:r>
            <a:r>
              <a:rPr lang="en-US" sz="1400" b="1" dirty="0" err="1"/>
              <a:t>peserta</a:t>
            </a:r>
            <a:r>
              <a:rPr lang="en-US" sz="1400" b="1" dirty="0"/>
              <a:t>' DB_PASS='password' APP_PORT='3000' //</a:t>
            </a:r>
            <a:r>
              <a:rPr lang="en-US" sz="1400" b="1" dirty="0" err="1"/>
              <a:t>dengan</a:t>
            </a:r>
            <a:r>
              <a:rPr lang="en-US" sz="1400" b="1" dirty="0"/>
              <a:t> </a:t>
            </a:r>
            <a:r>
              <a:rPr lang="en-US" sz="1400" b="1" dirty="0" err="1"/>
              <a:t>menggunakan</a:t>
            </a:r>
            <a:r>
              <a:rPr lang="en-US" sz="1400" b="1" dirty="0"/>
              <a:t> value </a:t>
            </a:r>
            <a:r>
              <a:rPr lang="en-US" sz="1400" b="1" dirty="0" err="1"/>
              <a:t>db</a:t>
            </a:r>
            <a:r>
              <a:rPr lang="en-US" sz="1400" b="1" dirty="0"/>
              <a:t>, </a:t>
            </a:r>
            <a:r>
              <a:rPr lang="en-US" sz="1400" b="1" dirty="0" err="1"/>
              <a:t>kita</a:t>
            </a:r>
            <a:r>
              <a:rPr lang="en-US" sz="1400" b="1" dirty="0"/>
              <a:t> </a:t>
            </a:r>
            <a:r>
              <a:rPr lang="en-US" sz="1400" b="1" dirty="0" err="1"/>
              <a:t>akan</a:t>
            </a:r>
            <a:r>
              <a:rPr lang="en-US" sz="1400" b="1" dirty="0"/>
              <a:t> </a:t>
            </a:r>
            <a:r>
              <a:rPr lang="en-US" sz="1400" b="1" dirty="0" err="1"/>
              <a:t>mengarahkan</a:t>
            </a:r>
            <a:r>
              <a:rPr lang="en-US" sz="1400" b="1" dirty="0"/>
              <a:t> database </a:t>
            </a:r>
            <a:r>
              <a:rPr lang="en-US" sz="1400" b="1" dirty="0" err="1"/>
              <a:t>ke</a:t>
            </a:r>
            <a:r>
              <a:rPr lang="en-US" sz="1400" b="1" dirty="0"/>
              <a:t> container </a:t>
            </a:r>
            <a:r>
              <a:rPr lang="en-US" sz="1400" b="1" dirty="0" err="1"/>
              <a:t>mariadb</a:t>
            </a:r>
            <a:r>
              <a:rPr lang="en-US" sz="1400" b="1" dirty="0"/>
              <a:t> ===END===</a:t>
            </a:r>
          </a:p>
          <a:p>
            <a:pPr marL="342900" indent="-342900" algn="just" fontAlgn="base">
              <a:buFont typeface="+mj-lt"/>
              <a:buAutoNum type="arabicPeriod" startAt="5"/>
            </a:pPr>
            <a:r>
              <a:rPr lang="en-US" sz="1400" b="1" dirty="0"/>
              <a:t>p</a:t>
            </a:r>
          </a:p>
        </p:txBody>
      </p:sp>
    </p:spTree>
    <p:extLst>
      <p:ext uri="{BB962C8B-B14F-4D97-AF65-F5344CB8AC3E}">
        <p14:creationId xmlns:p14="http://schemas.microsoft.com/office/powerpoint/2010/main" val="1817805112"/>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63276" y="519182"/>
            <a:ext cx="1888068" cy="1116355"/>
          </a:xfrm>
        </p:spPr>
        <p:txBody>
          <a:bodyPr>
            <a:normAutofit/>
          </a:bodyPr>
          <a:lstStyle/>
          <a:p>
            <a:pPr algn="just"/>
            <a:r>
              <a:rPr lang="en-US" b="1" dirty="0" smtClean="0">
                <a:solidFill>
                  <a:srgbClr val="002060"/>
                </a:solidFill>
              </a:rPr>
              <a:t>Image</a:t>
            </a:r>
            <a:endParaRPr lang="en-US" sz="2000" b="1" dirty="0">
              <a:solidFill>
                <a:srgbClr val="002060"/>
              </a:solidFill>
            </a:endParaRPr>
          </a:p>
        </p:txBody>
      </p:sp>
      <p:sp>
        <p:nvSpPr>
          <p:cNvPr id="7" name="Rectangle 6"/>
          <p:cNvSpPr/>
          <p:nvPr/>
        </p:nvSpPr>
        <p:spPr>
          <a:xfrm>
            <a:off x="0" y="61696"/>
            <a:ext cx="2363980" cy="1015663"/>
          </a:xfrm>
          <a:prstGeom prst="rect">
            <a:avLst/>
          </a:prstGeom>
        </p:spPr>
        <p:txBody>
          <a:bodyPr wrap="none">
            <a:spAutoFit/>
          </a:bodyPr>
          <a:lstStyle/>
          <a:p>
            <a:r>
              <a:rPr lang="en-US" sz="6000" dirty="0">
                <a:solidFill>
                  <a:srgbClr val="FFC000"/>
                </a:solidFill>
              </a:rPr>
              <a:t>Docker</a:t>
            </a:r>
          </a:p>
        </p:txBody>
      </p:sp>
      <p:sp>
        <p:nvSpPr>
          <p:cNvPr id="9" name="Rectangle 8"/>
          <p:cNvSpPr/>
          <p:nvPr/>
        </p:nvSpPr>
        <p:spPr>
          <a:xfrm>
            <a:off x="132095" y="1534845"/>
            <a:ext cx="5838497" cy="4247317"/>
          </a:xfrm>
          <a:prstGeom prst="rect">
            <a:avLst/>
          </a:prstGeom>
        </p:spPr>
        <p:txBody>
          <a:bodyPr wrap="square">
            <a:spAutoFit/>
          </a:bodyPr>
          <a:lstStyle/>
          <a:p>
            <a:pPr fontAlgn="base"/>
            <a:r>
              <a:rPr lang="en-US" b="1" dirty="0" err="1" smtClean="0">
                <a:solidFill>
                  <a:srgbClr val="002060"/>
                </a:solidFill>
              </a:rPr>
              <a:t>Pengujian</a:t>
            </a:r>
            <a:endParaRPr lang="en-US" b="1" dirty="0" smtClean="0">
              <a:solidFill>
                <a:srgbClr val="002060"/>
              </a:solidFill>
            </a:endParaRPr>
          </a:p>
          <a:p>
            <a:pPr marL="342900" indent="-342900" fontAlgn="base">
              <a:buFont typeface="+mj-lt"/>
              <a:buAutoNum type="arabicPeriod"/>
            </a:pPr>
            <a:endParaRPr lang="en-US" sz="1400" dirty="0">
              <a:solidFill>
                <a:srgbClr val="002060"/>
              </a:solidFill>
            </a:endParaRPr>
          </a:p>
          <a:p>
            <a:pPr marL="342900" indent="-342900" algn="just">
              <a:buFont typeface="+mj-lt"/>
              <a:buAutoNum type="arabicPeriod"/>
            </a:pPr>
            <a:r>
              <a:rPr lang="en-US" sz="1400" dirty="0" err="1"/>
              <a:t>Setelah</a:t>
            </a:r>
            <a:r>
              <a:rPr lang="en-US" sz="1400" dirty="0"/>
              <a:t> </a:t>
            </a:r>
            <a:r>
              <a:rPr lang="en-US" sz="1400" dirty="0" err="1"/>
              <a:t>semua</a:t>
            </a:r>
            <a:r>
              <a:rPr lang="en-US" sz="1400" dirty="0"/>
              <a:t> </a:t>
            </a:r>
            <a:r>
              <a:rPr lang="en-US" sz="1400" dirty="0" err="1"/>
              <a:t>konfigurasi</a:t>
            </a:r>
            <a:r>
              <a:rPr lang="en-US" sz="1400" dirty="0"/>
              <a:t> </a:t>
            </a:r>
            <a:r>
              <a:rPr lang="en-US" sz="1400" dirty="0" err="1"/>
              <a:t>dilakukan</a:t>
            </a:r>
            <a:r>
              <a:rPr lang="en-US" sz="1400" dirty="0"/>
              <a:t>, </a:t>
            </a:r>
            <a:r>
              <a:rPr lang="en-US" sz="1400" dirty="0" err="1"/>
              <a:t>sekarang</a:t>
            </a:r>
            <a:r>
              <a:rPr lang="en-US" sz="1400" dirty="0"/>
              <a:t> </a:t>
            </a:r>
            <a:r>
              <a:rPr lang="en-US" sz="1400" dirty="0" err="1"/>
              <a:t>kita</a:t>
            </a:r>
            <a:r>
              <a:rPr lang="en-US" sz="1400" dirty="0"/>
              <a:t> </a:t>
            </a:r>
            <a:r>
              <a:rPr lang="en-US" sz="1400" dirty="0" err="1"/>
              <a:t>akan</a:t>
            </a:r>
            <a:r>
              <a:rPr lang="en-US" sz="1400" dirty="0"/>
              <a:t> </a:t>
            </a:r>
            <a:r>
              <a:rPr lang="en-US" sz="1400" dirty="0" err="1"/>
              <a:t>jalankan</a:t>
            </a:r>
            <a:r>
              <a:rPr lang="en-US" sz="1400" dirty="0"/>
              <a:t> </a:t>
            </a:r>
            <a:r>
              <a:rPr lang="en-US" sz="1400" dirty="0" err="1"/>
              <a:t>docker</a:t>
            </a:r>
            <a:r>
              <a:rPr lang="en-US" sz="1400" dirty="0"/>
              <a:t> </a:t>
            </a:r>
            <a:r>
              <a:rPr lang="en-US" sz="1400" dirty="0" err="1"/>
              <a:t>composenya</a:t>
            </a:r>
            <a:r>
              <a:rPr lang="en-US" sz="1400" dirty="0"/>
              <a:t>. </a:t>
            </a:r>
            <a:r>
              <a:rPr lang="en-US" sz="1400" dirty="0" err="1"/>
              <a:t>Gunakan</a:t>
            </a:r>
            <a:r>
              <a:rPr lang="en-US" sz="1400" dirty="0"/>
              <a:t> </a:t>
            </a:r>
            <a:r>
              <a:rPr lang="en-US" sz="1400" dirty="0" err="1"/>
              <a:t>perintah</a:t>
            </a:r>
            <a:r>
              <a:rPr lang="en-US" sz="1400" dirty="0"/>
              <a:t> </a:t>
            </a:r>
            <a:r>
              <a:rPr lang="en-US" sz="1400" dirty="0" err="1"/>
              <a:t>dibawah</a:t>
            </a:r>
            <a:r>
              <a:rPr lang="en-US" sz="1400" dirty="0"/>
              <a:t> </a:t>
            </a:r>
            <a:r>
              <a:rPr lang="en-US" sz="1400" dirty="0" err="1"/>
              <a:t>untuk</a:t>
            </a:r>
            <a:r>
              <a:rPr lang="en-US" sz="1400" dirty="0"/>
              <a:t> </a:t>
            </a:r>
            <a:r>
              <a:rPr lang="en-US" sz="1400" dirty="0" err="1"/>
              <a:t>menjalankan</a:t>
            </a:r>
            <a:r>
              <a:rPr lang="en-US" sz="1400" dirty="0"/>
              <a:t> </a:t>
            </a:r>
            <a:r>
              <a:rPr lang="en-US" sz="1400" dirty="0" err="1"/>
              <a:t>docker</a:t>
            </a:r>
            <a:r>
              <a:rPr lang="en-US" sz="1400" dirty="0"/>
              <a:t> compose.#</a:t>
            </a:r>
            <a:r>
              <a:rPr lang="en-US" sz="1400" dirty="0" err="1"/>
              <a:t>docker</a:t>
            </a:r>
            <a:r>
              <a:rPr lang="en-US" sz="1400" dirty="0"/>
              <a:t>-compose build #</a:t>
            </a:r>
            <a:r>
              <a:rPr lang="en-US" sz="1400" dirty="0" err="1"/>
              <a:t>docker</a:t>
            </a:r>
            <a:r>
              <a:rPr lang="en-US" sz="1400" dirty="0"/>
              <a:t>-compose up -d</a:t>
            </a:r>
          </a:p>
          <a:p>
            <a:pPr marL="342900" indent="-342900" algn="just">
              <a:buFont typeface="+mj-lt"/>
              <a:buAutoNum type="arabicPeriod"/>
            </a:pPr>
            <a:r>
              <a:rPr lang="en-US" sz="1400" dirty="0" err="1"/>
              <a:t>Sekarang</a:t>
            </a:r>
            <a:r>
              <a:rPr lang="en-US" sz="1400" dirty="0"/>
              <a:t> </a:t>
            </a:r>
            <a:r>
              <a:rPr lang="en-US" sz="1400" dirty="0" err="1"/>
              <a:t>kita</a:t>
            </a:r>
            <a:r>
              <a:rPr lang="en-US" sz="1400" dirty="0"/>
              <a:t> </a:t>
            </a:r>
            <a:r>
              <a:rPr lang="en-US" sz="1400" dirty="0" err="1"/>
              <a:t>lihat</a:t>
            </a:r>
            <a:r>
              <a:rPr lang="en-US" sz="1400" dirty="0"/>
              <a:t> </a:t>
            </a:r>
            <a:r>
              <a:rPr lang="en-US" sz="1400" dirty="0" err="1"/>
              <a:t>apakah</a:t>
            </a:r>
            <a:r>
              <a:rPr lang="en-US" sz="1400" dirty="0"/>
              <a:t> </a:t>
            </a:r>
            <a:r>
              <a:rPr lang="en-US" sz="1400" dirty="0" err="1"/>
              <a:t>containernya</a:t>
            </a:r>
            <a:r>
              <a:rPr lang="en-US" sz="1400" dirty="0"/>
              <a:t> </a:t>
            </a:r>
            <a:r>
              <a:rPr lang="en-US" sz="1400" dirty="0" err="1"/>
              <a:t>sudah</a:t>
            </a:r>
            <a:r>
              <a:rPr lang="en-US" sz="1400" dirty="0"/>
              <a:t> </a:t>
            </a:r>
            <a:r>
              <a:rPr lang="en-US" sz="1400" dirty="0" err="1"/>
              <a:t>jalan</a:t>
            </a:r>
            <a:r>
              <a:rPr lang="en-US" sz="1400" dirty="0"/>
              <a:t> </a:t>
            </a:r>
            <a:r>
              <a:rPr lang="en-US" sz="1400" dirty="0" err="1"/>
              <a:t>atau</a:t>
            </a:r>
            <a:r>
              <a:rPr lang="en-US" sz="1400" dirty="0"/>
              <a:t> </a:t>
            </a:r>
            <a:r>
              <a:rPr lang="en-US" sz="1400" dirty="0" err="1"/>
              <a:t>belum</a:t>
            </a:r>
            <a:r>
              <a:rPr lang="en-US" sz="1400" dirty="0"/>
              <a:t>.#</a:t>
            </a:r>
            <a:r>
              <a:rPr lang="en-US" sz="1400" dirty="0" err="1"/>
              <a:t>docker</a:t>
            </a:r>
            <a:r>
              <a:rPr lang="en-US" sz="1400" dirty="0"/>
              <a:t> </a:t>
            </a:r>
            <a:r>
              <a:rPr lang="en-US" sz="1400" dirty="0" err="1"/>
              <a:t>ps</a:t>
            </a:r>
            <a:r>
              <a:rPr lang="en-US" sz="1400" dirty="0"/>
              <a:t> </a:t>
            </a:r>
            <a:r>
              <a:rPr lang="en-US" sz="1400" dirty="0" err="1"/>
              <a:t>atau</a:t>
            </a:r>
            <a:r>
              <a:rPr lang="en-US" sz="1400" dirty="0"/>
              <a:t> #</a:t>
            </a:r>
            <a:r>
              <a:rPr lang="en-US" sz="1400" dirty="0" err="1"/>
              <a:t>docker</a:t>
            </a:r>
            <a:r>
              <a:rPr lang="en-US" sz="1400" dirty="0"/>
              <a:t>-compose </a:t>
            </a:r>
            <a:r>
              <a:rPr lang="en-US" sz="1400" dirty="0" err="1" smtClean="0"/>
              <a:t>ps</a:t>
            </a:r>
            <a:endParaRPr lang="en-US" sz="1400" dirty="0" smtClean="0"/>
          </a:p>
          <a:p>
            <a:pPr marL="342900" indent="-342900" algn="just">
              <a:buFont typeface="+mj-lt"/>
              <a:buAutoNum type="arabicPeriod"/>
            </a:pPr>
            <a:endParaRPr lang="en-US" sz="1400" dirty="0"/>
          </a:p>
          <a:p>
            <a:pPr marL="342900" indent="-342900" algn="just">
              <a:buFont typeface="+mj-lt"/>
              <a:buAutoNum type="arabicPeriod"/>
            </a:pPr>
            <a:endParaRPr lang="en-US" sz="1400" dirty="0" smtClean="0"/>
          </a:p>
          <a:p>
            <a:pPr marL="342900" indent="-342900" algn="just">
              <a:buFont typeface="+mj-lt"/>
              <a:buAutoNum type="arabicPeriod"/>
            </a:pPr>
            <a:endParaRPr lang="en-US" sz="1400" dirty="0"/>
          </a:p>
          <a:p>
            <a:pPr marL="342900" indent="-342900" algn="just">
              <a:buFont typeface="+mj-lt"/>
              <a:buAutoNum type="arabicPeriod"/>
            </a:pPr>
            <a:endParaRPr lang="en-US" sz="1400" dirty="0" smtClean="0"/>
          </a:p>
          <a:p>
            <a:pPr marL="342900" indent="-342900" algn="just">
              <a:buFont typeface="+mj-lt"/>
              <a:buAutoNum type="arabicPeriod"/>
            </a:pPr>
            <a:endParaRPr lang="en-US" sz="1400" dirty="0"/>
          </a:p>
          <a:p>
            <a:pPr marL="342900" indent="-342900" algn="just">
              <a:buFont typeface="+mj-lt"/>
              <a:buAutoNum type="arabicPeriod"/>
            </a:pPr>
            <a:endParaRPr lang="en-US" sz="1400" dirty="0" smtClean="0"/>
          </a:p>
          <a:p>
            <a:pPr marL="342900" indent="-342900" algn="just">
              <a:buFont typeface="+mj-lt"/>
              <a:buAutoNum type="arabicPeriod"/>
            </a:pPr>
            <a:endParaRPr lang="en-US" sz="1400" dirty="0" smtClean="0"/>
          </a:p>
          <a:p>
            <a:pPr marL="342900" indent="-342900" algn="just">
              <a:buFont typeface="+mj-lt"/>
              <a:buAutoNum type="arabicPeriod"/>
            </a:pPr>
            <a:endParaRPr lang="en-US" sz="1400" dirty="0"/>
          </a:p>
          <a:p>
            <a:pPr marL="342900" indent="-342900" algn="just">
              <a:buFont typeface="+mj-lt"/>
              <a:buAutoNum type="arabicPeriod"/>
            </a:pPr>
            <a:r>
              <a:rPr lang="en-US" sz="1400" dirty="0" err="1"/>
              <a:t>Sekarang</a:t>
            </a:r>
            <a:r>
              <a:rPr lang="en-US" sz="1400" dirty="0"/>
              <a:t> </a:t>
            </a:r>
            <a:r>
              <a:rPr lang="en-US" sz="1400" dirty="0" err="1"/>
              <a:t>kita</a:t>
            </a:r>
            <a:r>
              <a:rPr lang="en-US" sz="1400" dirty="0"/>
              <a:t> </a:t>
            </a:r>
            <a:r>
              <a:rPr lang="en-US" sz="1400" dirty="0" err="1"/>
              <a:t>buka</a:t>
            </a:r>
            <a:r>
              <a:rPr lang="en-US" sz="1400" dirty="0"/>
              <a:t> web browser </a:t>
            </a:r>
            <a:r>
              <a:rPr lang="en-US" sz="1400" dirty="0" err="1"/>
              <a:t>dan</a:t>
            </a:r>
            <a:r>
              <a:rPr lang="en-US" sz="1400" dirty="0"/>
              <a:t> </a:t>
            </a:r>
            <a:r>
              <a:rPr lang="en-US" sz="1400" dirty="0" err="1"/>
              <a:t>lihat</a:t>
            </a:r>
            <a:r>
              <a:rPr lang="en-US" sz="1400" dirty="0"/>
              <a:t> </a:t>
            </a:r>
            <a:r>
              <a:rPr lang="en-US" sz="1400" dirty="0" err="1"/>
              <a:t>apakah</a:t>
            </a:r>
            <a:r>
              <a:rPr lang="en-US" sz="1400" dirty="0"/>
              <a:t> simple </a:t>
            </a:r>
            <a:r>
              <a:rPr lang="en-US" sz="1400" dirty="0" err="1"/>
              <a:t>appsnya</a:t>
            </a:r>
            <a:r>
              <a:rPr lang="en-US" sz="1400" dirty="0"/>
              <a:t> </a:t>
            </a:r>
            <a:r>
              <a:rPr lang="en-US" sz="1400" dirty="0" err="1"/>
              <a:t>sudah</a:t>
            </a:r>
            <a:r>
              <a:rPr lang="en-US" sz="1400" dirty="0"/>
              <a:t> </a:t>
            </a:r>
            <a:r>
              <a:rPr lang="en-US" sz="1400" dirty="0" err="1"/>
              <a:t>jalan</a:t>
            </a:r>
            <a:r>
              <a:rPr lang="en-US" sz="1400" dirty="0"/>
              <a:t> </a:t>
            </a:r>
            <a:r>
              <a:rPr lang="en-US" sz="1400" dirty="0" err="1"/>
              <a:t>atau</a:t>
            </a:r>
            <a:r>
              <a:rPr lang="en-US" sz="1400" dirty="0"/>
              <a:t> </a:t>
            </a:r>
            <a:r>
              <a:rPr lang="en-US" sz="1400" dirty="0" err="1"/>
              <a:t>belum</a:t>
            </a:r>
            <a:r>
              <a:rPr lang="en-US" sz="1400" b="1" dirty="0"/>
              <a:t>.</a:t>
            </a:r>
          </a:p>
          <a:p>
            <a:pPr marL="342900" indent="-342900" algn="just">
              <a:buFont typeface="+mj-lt"/>
              <a:buAutoNum type="arabicPeriod" startAt="3"/>
            </a:pPr>
            <a:endParaRPr lang="en-US" sz="1400" b="1" dirty="0" smtClean="0"/>
          </a:p>
          <a:p>
            <a:pPr algn="just"/>
            <a:endParaRPr lang="en-US" sz="1400" b="1" dirty="0"/>
          </a:p>
        </p:txBody>
      </p:sp>
      <p:sp>
        <p:nvSpPr>
          <p:cNvPr id="10" name="Rectangle 9"/>
          <p:cNvSpPr/>
          <p:nvPr/>
        </p:nvSpPr>
        <p:spPr>
          <a:xfrm>
            <a:off x="552669" y="3156642"/>
            <a:ext cx="5622129" cy="1600438"/>
          </a:xfrm>
          <a:prstGeom prst="rect">
            <a:avLst/>
          </a:prstGeom>
          <a:solidFill>
            <a:schemeClr val="tx1"/>
          </a:solidFill>
        </p:spPr>
        <p:txBody>
          <a:bodyPr wrap="square">
            <a:spAutoFit/>
          </a:bodyPr>
          <a:lstStyle/>
          <a:p>
            <a:pPr algn="just"/>
            <a:r>
              <a:rPr lang="en-US" sz="1400" dirty="0" err="1" smtClean="0">
                <a:solidFill>
                  <a:schemeClr val="bg1">
                    <a:lumMod val="95000"/>
                  </a:schemeClr>
                </a:solidFill>
              </a:rPr>
              <a:t>root@panda</a:t>
            </a:r>
            <a:r>
              <a:rPr lang="en-US" sz="1400" dirty="0" smtClean="0">
                <a:solidFill>
                  <a:schemeClr val="bg1">
                    <a:lumMod val="95000"/>
                  </a:schemeClr>
                </a:solidFill>
              </a:rPr>
              <a:t>: /deploy/simple-apps# </a:t>
            </a:r>
            <a:r>
              <a:rPr lang="en-US" sz="1400" dirty="0" err="1" smtClean="0">
                <a:solidFill>
                  <a:schemeClr val="bg1">
                    <a:lumMod val="95000"/>
                  </a:schemeClr>
                </a:solidFill>
              </a:rPr>
              <a:t>docker</a:t>
            </a:r>
            <a:r>
              <a:rPr lang="en-US" sz="1400" dirty="0" smtClean="0">
                <a:solidFill>
                  <a:schemeClr val="bg1">
                    <a:lumMod val="95000"/>
                  </a:schemeClr>
                </a:solidFill>
              </a:rPr>
              <a:t> </a:t>
            </a:r>
            <a:r>
              <a:rPr lang="en-US" sz="1400" dirty="0" err="1" smtClean="0">
                <a:solidFill>
                  <a:schemeClr val="bg1">
                    <a:lumMod val="95000"/>
                  </a:schemeClr>
                </a:solidFill>
              </a:rPr>
              <a:t>ps</a:t>
            </a:r>
            <a:endParaRPr lang="en-US" sz="1400" dirty="0" smtClean="0">
              <a:solidFill>
                <a:schemeClr val="bg1">
                  <a:lumMod val="95000"/>
                </a:schemeClr>
              </a:solidFill>
            </a:endParaRPr>
          </a:p>
          <a:p>
            <a:pPr algn="just"/>
            <a:endParaRPr lang="en-US" sz="1400" dirty="0">
              <a:solidFill>
                <a:schemeClr val="bg1">
                  <a:lumMod val="95000"/>
                </a:schemeClr>
              </a:solidFill>
            </a:endParaRPr>
          </a:p>
          <a:p>
            <a:pPr algn="just"/>
            <a:endParaRPr lang="en-US" sz="1400" dirty="0" smtClean="0">
              <a:solidFill>
                <a:schemeClr val="bg1">
                  <a:lumMod val="95000"/>
                </a:schemeClr>
              </a:solidFill>
            </a:endParaRPr>
          </a:p>
          <a:p>
            <a:pPr algn="just"/>
            <a:endParaRPr lang="en-US" sz="1400" dirty="0">
              <a:solidFill>
                <a:schemeClr val="bg1">
                  <a:lumMod val="95000"/>
                </a:schemeClr>
              </a:solidFill>
            </a:endParaRPr>
          </a:p>
          <a:p>
            <a:pPr algn="just"/>
            <a:endParaRPr lang="en-US" sz="1400" dirty="0" smtClean="0">
              <a:solidFill>
                <a:schemeClr val="bg1">
                  <a:lumMod val="95000"/>
                </a:schemeClr>
              </a:solidFill>
            </a:endParaRPr>
          </a:p>
          <a:p>
            <a:pPr algn="just"/>
            <a:endParaRPr lang="en-US" sz="1400" dirty="0">
              <a:solidFill>
                <a:schemeClr val="bg1">
                  <a:lumMod val="95000"/>
                </a:schemeClr>
              </a:solidFill>
            </a:endParaRPr>
          </a:p>
          <a:p>
            <a:pPr algn="just"/>
            <a:r>
              <a:rPr lang="en-US" sz="1400" dirty="0" err="1">
                <a:solidFill>
                  <a:schemeClr val="bg1">
                    <a:lumMod val="95000"/>
                  </a:schemeClr>
                </a:solidFill>
              </a:rPr>
              <a:t>root@panda</a:t>
            </a:r>
            <a:r>
              <a:rPr lang="en-US" sz="1400" dirty="0">
                <a:solidFill>
                  <a:schemeClr val="bg1">
                    <a:lumMod val="95000"/>
                  </a:schemeClr>
                </a:solidFill>
              </a:rPr>
              <a:t>: /deploy/simple-apps</a:t>
            </a:r>
            <a:r>
              <a:rPr lang="en-US" sz="1400" dirty="0" smtClean="0">
                <a:solidFill>
                  <a:schemeClr val="bg1">
                    <a:lumMod val="95000"/>
                  </a:schemeClr>
                </a:solidFill>
              </a:rPr>
              <a:t>#</a:t>
            </a:r>
          </a:p>
        </p:txBody>
      </p:sp>
      <p:pic>
        <p:nvPicPr>
          <p:cNvPr id="3" name="Picture 2"/>
          <p:cNvPicPr>
            <a:picLocks noChangeAspect="1"/>
          </p:cNvPicPr>
          <p:nvPr/>
        </p:nvPicPr>
        <p:blipFill>
          <a:blip r:embed="rId3"/>
          <a:stretch>
            <a:fillRect/>
          </a:stretch>
        </p:blipFill>
        <p:spPr>
          <a:xfrm>
            <a:off x="552669" y="3532998"/>
            <a:ext cx="5622129" cy="847725"/>
          </a:xfrm>
          <a:prstGeom prst="rect">
            <a:avLst/>
          </a:prstGeom>
        </p:spPr>
      </p:pic>
      <p:pic>
        <p:nvPicPr>
          <p:cNvPr id="5" name="Picture 4"/>
          <p:cNvPicPr>
            <a:picLocks noChangeAspect="1"/>
          </p:cNvPicPr>
          <p:nvPr/>
        </p:nvPicPr>
        <p:blipFill>
          <a:blip r:embed="rId4"/>
          <a:stretch>
            <a:fillRect/>
          </a:stretch>
        </p:blipFill>
        <p:spPr>
          <a:xfrm>
            <a:off x="583623" y="5454175"/>
            <a:ext cx="5591175" cy="1009650"/>
          </a:xfrm>
          <a:prstGeom prst="rect">
            <a:avLst/>
          </a:prstGeom>
        </p:spPr>
      </p:pic>
      <p:sp>
        <p:nvSpPr>
          <p:cNvPr id="13" name="Rectangle 12"/>
          <p:cNvSpPr/>
          <p:nvPr/>
        </p:nvSpPr>
        <p:spPr>
          <a:xfrm>
            <a:off x="6174798" y="519182"/>
            <a:ext cx="5838497" cy="738664"/>
          </a:xfrm>
          <a:prstGeom prst="rect">
            <a:avLst/>
          </a:prstGeom>
        </p:spPr>
        <p:txBody>
          <a:bodyPr wrap="square">
            <a:spAutoFit/>
          </a:bodyPr>
          <a:lstStyle/>
          <a:p>
            <a:pPr marL="342900" indent="-342900" algn="just" fontAlgn="base">
              <a:buFont typeface="+mj-lt"/>
              <a:buAutoNum type="arabicPeriod" startAt="4"/>
            </a:pPr>
            <a:r>
              <a:rPr lang="en-US" sz="1400" dirty="0" err="1"/>
              <a:t>Kemudian</a:t>
            </a:r>
            <a:r>
              <a:rPr lang="en-US" sz="1400" dirty="0"/>
              <a:t> </a:t>
            </a:r>
            <a:r>
              <a:rPr lang="en-US" sz="1400" dirty="0" err="1"/>
              <a:t>kita</a:t>
            </a:r>
            <a:r>
              <a:rPr lang="en-US" sz="1400" dirty="0"/>
              <a:t> </a:t>
            </a:r>
            <a:r>
              <a:rPr lang="en-US" sz="1400" dirty="0" err="1"/>
              <a:t>coba</a:t>
            </a:r>
            <a:r>
              <a:rPr lang="en-US" sz="1400" dirty="0"/>
              <a:t> </a:t>
            </a:r>
            <a:r>
              <a:rPr lang="en-US" sz="1400" dirty="0" err="1"/>
              <a:t>ubah</a:t>
            </a:r>
            <a:r>
              <a:rPr lang="en-US" sz="1400" dirty="0"/>
              <a:t> </a:t>
            </a:r>
            <a:r>
              <a:rPr lang="en-US" sz="1400" dirty="0" err="1"/>
              <a:t>pathnya</a:t>
            </a:r>
            <a:r>
              <a:rPr lang="en-US" sz="1400" dirty="0"/>
              <a:t> </a:t>
            </a:r>
            <a:r>
              <a:rPr lang="en-US" sz="1400" dirty="0" err="1"/>
              <a:t>ke</a:t>
            </a:r>
            <a:r>
              <a:rPr lang="en-US" sz="1400" dirty="0"/>
              <a:t> /users. </a:t>
            </a:r>
            <a:r>
              <a:rPr lang="en-US" sz="1400" dirty="0" err="1"/>
              <a:t>Jika</a:t>
            </a:r>
            <a:r>
              <a:rPr lang="en-US" sz="1400" dirty="0"/>
              <a:t> </a:t>
            </a:r>
            <a:r>
              <a:rPr lang="en-US" sz="1400" dirty="0" err="1"/>
              <a:t>berhasil</a:t>
            </a:r>
            <a:r>
              <a:rPr lang="en-US" sz="1400" dirty="0"/>
              <a:t> </a:t>
            </a:r>
            <a:r>
              <a:rPr lang="en-US" sz="1400" dirty="0" err="1"/>
              <a:t>akan</a:t>
            </a:r>
            <a:r>
              <a:rPr lang="en-US" sz="1400" dirty="0"/>
              <a:t> </a:t>
            </a:r>
            <a:r>
              <a:rPr lang="en-US" sz="1400" dirty="0" err="1"/>
              <a:t>menampilkan</a:t>
            </a:r>
            <a:r>
              <a:rPr lang="en-US" sz="1400" dirty="0"/>
              <a:t> </a:t>
            </a:r>
            <a:r>
              <a:rPr lang="en-US" sz="1400" dirty="0" err="1"/>
              <a:t>json</a:t>
            </a:r>
            <a:r>
              <a:rPr lang="en-US" sz="1400" dirty="0"/>
              <a:t> </a:t>
            </a:r>
            <a:r>
              <a:rPr lang="en-US" sz="1400" dirty="0" err="1"/>
              <a:t>dalam</a:t>
            </a:r>
            <a:r>
              <a:rPr lang="en-US" sz="1400" dirty="0"/>
              <a:t> </a:t>
            </a:r>
            <a:r>
              <a:rPr lang="en-US" sz="1400" dirty="0" err="1"/>
              <a:t>bentuk</a:t>
            </a:r>
            <a:r>
              <a:rPr lang="en-US" sz="1400" dirty="0"/>
              <a:t> raw. </a:t>
            </a:r>
            <a:r>
              <a:rPr lang="en-US" sz="1400" dirty="0" err="1"/>
              <a:t>Disini</a:t>
            </a:r>
            <a:r>
              <a:rPr lang="en-US" sz="1400" dirty="0"/>
              <a:t> </a:t>
            </a:r>
            <a:r>
              <a:rPr lang="en-US" sz="1400" dirty="0" err="1"/>
              <a:t>karena</a:t>
            </a:r>
            <a:r>
              <a:rPr lang="en-US" sz="1400" dirty="0"/>
              <a:t> </a:t>
            </a:r>
            <a:r>
              <a:rPr lang="en-US" sz="1400" dirty="0" err="1"/>
              <a:t>saya</a:t>
            </a:r>
            <a:r>
              <a:rPr lang="en-US" sz="1400" dirty="0"/>
              <a:t> </a:t>
            </a:r>
            <a:r>
              <a:rPr lang="en-US" sz="1400" dirty="0" err="1"/>
              <a:t>menggunakan</a:t>
            </a:r>
            <a:r>
              <a:rPr lang="en-US" sz="1400" dirty="0"/>
              <a:t> browser </a:t>
            </a:r>
            <a:r>
              <a:rPr lang="en-US" sz="1400" dirty="0" err="1"/>
              <a:t>firefox</a:t>
            </a:r>
            <a:r>
              <a:rPr lang="en-US" sz="1400" dirty="0"/>
              <a:t> </a:t>
            </a:r>
            <a:r>
              <a:rPr lang="en-US" sz="1400" dirty="0" err="1"/>
              <a:t>jadi</a:t>
            </a:r>
            <a:r>
              <a:rPr lang="en-US" sz="1400" dirty="0"/>
              <a:t> </a:t>
            </a:r>
            <a:r>
              <a:rPr lang="en-US" sz="1400" dirty="0" err="1"/>
              <a:t>bisa</a:t>
            </a:r>
            <a:r>
              <a:rPr lang="en-US" sz="1400" dirty="0"/>
              <a:t> </a:t>
            </a:r>
            <a:r>
              <a:rPr lang="en-US" sz="1400" dirty="0" err="1"/>
              <a:t>ditampilkan</a:t>
            </a:r>
            <a:r>
              <a:rPr lang="en-US" sz="1400" dirty="0"/>
              <a:t> </a:t>
            </a:r>
            <a:r>
              <a:rPr lang="en-US" sz="1400" dirty="0" err="1"/>
              <a:t>dalam</a:t>
            </a:r>
            <a:r>
              <a:rPr lang="en-US" sz="1400" dirty="0"/>
              <a:t> </a:t>
            </a:r>
            <a:r>
              <a:rPr lang="en-US" sz="1400" dirty="0" err="1"/>
              <a:t>bentu</a:t>
            </a:r>
            <a:r>
              <a:rPr lang="en-US" sz="1400" dirty="0"/>
              <a:t> raw </a:t>
            </a:r>
            <a:r>
              <a:rPr lang="en-US" sz="1400" dirty="0" err="1"/>
              <a:t>dan</a:t>
            </a:r>
            <a:r>
              <a:rPr lang="en-US" sz="1400" dirty="0"/>
              <a:t> </a:t>
            </a:r>
            <a:r>
              <a:rPr lang="en-US" sz="1400" dirty="0" err="1"/>
              <a:t>json</a:t>
            </a:r>
            <a:r>
              <a:rPr lang="en-US" sz="1400" dirty="0"/>
              <a:t>.</a:t>
            </a:r>
            <a:endParaRPr lang="en-US" sz="1400" b="1" dirty="0"/>
          </a:p>
        </p:txBody>
      </p:sp>
      <p:pic>
        <p:nvPicPr>
          <p:cNvPr id="6" name="Picture 5"/>
          <p:cNvPicPr>
            <a:picLocks noChangeAspect="1"/>
          </p:cNvPicPr>
          <p:nvPr/>
        </p:nvPicPr>
        <p:blipFill>
          <a:blip r:embed="rId5"/>
          <a:stretch>
            <a:fillRect/>
          </a:stretch>
        </p:blipFill>
        <p:spPr>
          <a:xfrm>
            <a:off x="6638236" y="1421219"/>
            <a:ext cx="5375060" cy="1289861"/>
          </a:xfrm>
          <a:prstGeom prst="rect">
            <a:avLst/>
          </a:prstGeom>
        </p:spPr>
      </p:pic>
    </p:spTree>
    <p:extLst>
      <p:ext uri="{BB962C8B-B14F-4D97-AF65-F5344CB8AC3E}">
        <p14:creationId xmlns:p14="http://schemas.microsoft.com/office/powerpoint/2010/main" val="3848180893"/>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3667" y="2786591"/>
            <a:ext cx="10515600" cy="1325563"/>
          </a:xfrm>
        </p:spPr>
        <p:txBody>
          <a:bodyPr/>
          <a:lstStyle/>
          <a:p>
            <a:pPr algn="ctr"/>
            <a:r>
              <a:rPr lang="en-US" b="1" dirty="0" smtClean="0">
                <a:solidFill>
                  <a:srgbClr val="002060"/>
                </a:solidFill>
              </a:rPr>
              <a:t>Docker </a:t>
            </a:r>
            <a:r>
              <a:rPr lang="en-US" u="sng" dirty="0" smtClean="0">
                <a:solidFill>
                  <a:srgbClr val="0070C0"/>
                </a:solidFill>
              </a:rPr>
              <a:t>Containers </a:t>
            </a:r>
            <a:r>
              <a:rPr lang="en-US" u="sng" dirty="0">
                <a:solidFill>
                  <a:srgbClr val="0070C0"/>
                </a:solidFill>
              </a:rPr>
              <a:t>For Deep Learning</a:t>
            </a:r>
          </a:p>
        </p:txBody>
      </p:sp>
    </p:spTree>
    <p:extLst>
      <p:ext uri="{BB962C8B-B14F-4D97-AF65-F5344CB8AC3E}">
        <p14:creationId xmlns:p14="http://schemas.microsoft.com/office/powerpoint/2010/main" val="3300196152"/>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63276" y="519182"/>
            <a:ext cx="1888068" cy="1116355"/>
          </a:xfrm>
        </p:spPr>
        <p:txBody>
          <a:bodyPr>
            <a:normAutofit/>
          </a:bodyPr>
          <a:lstStyle/>
          <a:p>
            <a:pPr algn="just"/>
            <a:r>
              <a:rPr lang="en-US" b="1" dirty="0" smtClean="0">
                <a:solidFill>
                  <a:srgbClr val="002060"/>
                </a:solidFill>
              </a:rPr>
              <a:t>Image</a:t>
            </a:r>
            <a:endParaRPr lang="en-US" sz="2000" b="1" dirty="0">
              <a:solidFill>
                <a:srgbClr val="002060"/>
              </a:solidFill>
            </a:endParaRPr>
          </a:p>
        </p:txBody>
      </p:sp>
      <p:sp>
        <p:nvSpPr>
          <p:cNvPr id="7" name="Rectangle 6"/>
          <p:cNvSpPr/>
          <p:nvPr/>
        </p:nvSpPr>
        <p:spPr>
          <a:xfrm>
            <a:off x="0" y="61696"/>
            <a:ext cx="2363980" cy="1015663"/>
          </a:xfrm>
          <a:prstGeom prst="rect">
            <a:avLst/>
          </a:prstGeom>
        </p:spPr>
        <p:txBody>
          <a:bodyPr wrap="none">
            <a:spAutoFit/>
          </a:bodyPr>
          <a:lstStyle/>
          <a:p>
            <a:r>
              <a:rPr lang="en-US" sz="6000" dirty="0">
                <a:solidFill>
                  <a:srgbClr val="FFC000"/>
                </a:solidFill>
              </a:rPr>
              <a:t>Docker</a:t>
            </a:r>
          </a:p>
        </p:txBody>
      </p:sp>
      <p:sp>
        <p:nvSpPr>
          <p:cNvPr id="4" name="Rectangle 3"/>
          <p:cNvSpPr/>
          <p:nvPr/>
        </p:nvSpPr>
        <p:spPr>
          <a:xfrm>
            <a:off x="178676" y="1499237"/>
            <a:ext cx="5228896" cy="1692771"/>
          </a:xfrm>
          <a:prstGeom prst="rect">
            <a:avLst/>
          </a:prstGeom>
        </p:spPr>
        <p:txBody>
          <a:bodyPr wrap="square">
            <a:spAutoFit/>
          </a:bodyPr>
          <a:lstStyle/>
          <a:p>
            <a:pPr algn="just"/>
            <a:r>
              <a:rPr lang="en-US" sz="2400" b="1" dirty="0" smtClean="0">
                <a:solidFill>
                  <a:srgbClr val="002060"/>
                </a:solidFill>
              </a:rPr>
              <a:t>OpenMAP-T1</a:t>
            </a:r>
          </a:p>
          <a:p>
            <a:pPr algn="just"/>
            <a:endParaRPr lang="en-US" sz="2400" b="1" dirty="0">
              <a:solidFill>
                <a:srgbClr val="002060"/>
              </a:solidFill>
            </a:endParaRPr>
          </a:p>
          <a:p>
            <a:pPr algn="just"/>
            <a:r>
              <a:rPr lang="en-US" sz="1400" b="1" dirty="0"/>
              <a:t>OpenMAP-T1: A Rapid Deep-Learning Approach to </a:t>
            </a:r>
            <a:r>
              <a:rPr lang="en-US" sz="1400" b="1" dirty="0" err="1"/>
              <a:t>Parcellate</a:t>
            </a:r>
            <a:r>
              <a:rPr lang="en-US" sz="1400" b="1" dirty="0"/>
              <a:t> 280 Anatomical Regions to Cover the Whole Brain</a:t>
            </a:r>
          </a:p>
          <a:p>
            <a:pPr algn="just"/>
            <a:r>
              <a:rPr lang="en-US" sz="1400" b="1" dirty="0"/>
              <a:t>Author: Kei </a:t>
            </a:r>
            <a:r>
              <a:rPr lang="en-US" sz="1400" b="1" dirty="0" err="1"/>
              <a:t>Nishimaki</a:t>
            </a:r>
            <a:r>
              <a:rPr lang="en-US" sz="1400" b="1" dirty="0"/>
              <a:t>, </a:t>
            </a:r>
            <a:r>
              <a:rPr lang="en-US" sz="1400" b="1" dirty="0" err="1"/>
              <a:t>Kengo</a:t>
            </a:r>
            <a:r>
              <a:rPr lang="en-US" sz="1400" b="1" dirty="0"/>
              <a:t> </a:t>
            </a:r>
            <a:r>
              <a:rPr lang="en-US" sz="1400" b="1" dirty="0" err="1"/>
              <a:t>Onda</a:t>
            </a:r>
            <a:r>
              <a:rPr lang="en-US" sz="1400" b="1" dirty="0"/>
              <a:t>, </a:t>
            </a:r>
            <a:r>
              <a:rPr lang="en-US" sz="1400" b="1" dirty="0" err="1"/>
              <a:t>Kumpei</a:t>
            </a:r>
            <a:r>
              <a:rPr lang="en-US" sz="1400" b="1" dirty="0"/>
              <a:t> Ikuta, Jill </a:t>
            </a:r>
            <a:r>
              <a:rPr lang="en-US" sz="1400" b="1" dirty="0" err="1"/>
              <a:t>Chotiyanonta</a:t>
            </a:r>
            <a:r>
              <a:rPr lang="en-US" sz="1400" b="1" dirty="0"/>
              <a:t>, </a:t>
            </a:r>
            <a:r>
              <a:rPr lang="en-US" sz="1400" b="1" dirty="0" err="1"/>
              <a:t>Yuto</a:t>
            </a:r>
            <a:r>
              <a:rPr lang="en-US" sz="1400" b="1" dirty="0"/>
              <a:t> Uchida, Susumu Mori, Hitoshi </a:t>
            </a:r>
            <a:r>
              <a:rPr lang="en-US" sz="1400" b="1" dirty="0" err="1"/>
              <a:t>Iyatomi</a:t>
            </a:r>
            <a:r>
              <a:rPr lang="en-US" sz="1400" b="1" dirty="0"/>
              <a:t>, Kenichi </a:t>
            </a:r>
            <a:r>
              <a:rPr lang="en-US" sz="1400" b="1" dirty="0" err="1"/>
              <a:t>Oishi</a:t>
            </a:r>
            <a:endParaRPr lang="en-US" sz="1400" b="1" dirty="0" smtClean="0"/>
          </a:p>
        </p:txBody>
      </p:sp>
      <p:sp>
        <p:nvSpPr>
          <p:cNvPr id="10" name="Rectangle 9"/>
          <p:cNvSpPr/>
          <p:nvPr/>
        </p:nvSpPr>
        <p:spPr>
          <a:xfrm>
            <a:off x="5649310" y="395650"/>
            <a:ext cx="6237890" cy="2862322"/>
          </a:xfrm>
          <a:prstGeom prst="rect">
            <a:avLst/>
          </a:prstGeom>
        </p:spPr>
        <p:txBody>
          <a:bodyPr wrap="square">
            <a:spAutoFit/>
          </a:bodyPr>
          <a:lstStyle/>
          <a:p>
            <a:pPr algn="just"/>
            <a:r>
              <a:rPr lang="en-US" sz="2400" b="1" dirty="0" err="1" smtClean="0">
                <a:solidFill>
                  <a:srgbClr val="002060"/>
                </a:solidFill>
              </a:rPr>
              <a:t>Instalasi</a:t>
            </a:r>
            <a:endParaRPr lang="en-US" sz="2400" b="1" dirty="0" smtClean="0">
              <a:solidFill>
                <a:srgbClr val="002060"/>
              </a:solidFill>
            </a:endParaRPr>
          </a:p>
          <a:p>
            <a:pPr algn="just"/>
            <a:endParaRPr lang="en-US" sz="2400" b="1" dirty="0" smtClean="0">
              <a:solidFill>
                <a:srgbClr val="002060"/>
              </a:solidFill>
            </a:endParaRPr>
          </a:p>
          <a:p>
            <a:pPr marL="342900" indent="-342900" algn="just">
              <a:buFont typeface="+mj-lt"/>
              <a:buAutoNum type="arabicPeriod"/>
            </a:pPr>
            <a:r>
              <a:rPr lang="en-US" dirty="0" err="1"/>
              <a:t>Lakukan</a:t>
            </a:r>
            <a:r>
              <a:rPr lang="en-US" dirty="0"/>
              <a:t> update </a:t>
            </a:r>
            <a:r>
              <a:rPr lang="en-US" dirty="0" err="1"/>
              <a:t>pada</a:t>
            </a:r>
            <a:r>
              <a:rPr lang="en-US" dirty="0"/>
              <a:t> server </a:t>
            </a:r>
            <a:r>
              <a:rPr lang="en-US" dirty="0" err="1"/>
              <a:t>dan</a:t>
            </a:r>
            <a:r>
              <a:rPr lang="en-US" dirty="0"/>
              <a:t> </a:t>
            </a:r>
            <a:r>
              <a:rPr lang="en-US" dirty="0" err="1"/>
              <a:t>instal</a:t>
            </a:r>
            <a:r>
              <a:rPr lang="en-US" dirty="0"/>
              <a:t> package docker.</a:t>
            </a:r>
            <a:r>
              <a:rPr lang="en-US" dirty="0" err="1"/>
              <a:t>io</a:t>
            </a:r>
            <a:r>
              <a:rPr lang="en-US" dirty="0"/>
              <a:t>.$</a:t>
            </a:r>
            <a:r>
              <a:rPr lang="en-US" dirty="0" err="1"/>
              <a:t>sudo</a:t>
            </a:r>
            <a:r>
              <a:rPr lang="en-US" dirty="0"/>
              <a:t> apt update -y &amp;&amp; </a:t>
            </a:r>
            <a:r>
              <a:rPr lang="en-US" dirty="0" err="1"/>
              <a:t>sudo</a:t>
            </a:r>
            <a:r>
              <a:rPr lang="en-US" dirty="0"/>
              <a:t> apt install docker.io</a:t>
            </a:r>
          </a:p>
          <a:p>
            <a:pPr marL="342900" indent="-342900" algn="just">
              <a:buFont typeface="+mj-lt"/>
              <a:buAutoNum type="arabicPeriod"/>
            </a:pPr>
            <a:r>
              <a:rPr lang="en-US" dirty="0" err="1"/>
              <a:t>Instal</a:t>
            </a:r>
            <a:r>
              <a:rPr lang="en-US" dirty="0"/>
              <a:t> </a:t>
            </a:r>
            <a:r>
              <a:rPr lang="en-US" dirty="0" err="1"/>
              <a:t>juga</a:t>
            </a:r>
            <a:r>
              <a:rPr lang="en-US" dirty="0"/>
              <a:t> package virtual environment python3 </a:t>
            </a:r>
            <a:r>
              <a:rPr lang="en-US" dirty="0" err="1"/>
              <a:t>untuk</a:t>
            </a:r>
            <a:r>
              <a:rPr lang="en-US" dirty="0"/>
              <a:t> </a:t>
            </a:r>
            <a:r>
              <a:rPr lang="en-US" dirty="0" err="1"/>
              <a:t>uji</a:t>
            </a:r>
            <a:r>
              <a:rPr lang="en-US" dirty="0"/>
              <a:t> </a:t>
            </a:r>
            <a:r>
              <a:rPr lang="en-US" dirty="0" err="1"/>
              <a:t>coba</a:t>
            </a:r>
            <a:r>
              <a:rPr lang="en-US" dirty="0"/>
              <a:t> </a:t>
            </a:r>
            <a:r>
              <a:rPr lang="en-US" dirty="0" err="1"/>
              <a:t>menjalankan</a:t>
            </a:r>
            <a:r>
              <a:rPr lang="en-US" dirty="0"/>
              <a:t> </a:t>
            </a:r>
            <a:r>
              <a:rPr lang="en-US" dirty="0" err="1"/>
              <a:t>aplikasi</a:t>
            </a:r>
            <a:r>
              <a:rPr lang="en-US" dirty="0"/>
              <a:t> </a:t>
            </a:r>
            <a:r>
              <a:rPr lang="en-US" dirty="0" err="1"/>
              <a:t>webnya</a:t>
            </a:r>
            <a:r>
              <a:rPr lang="en-US" dirty="0"/>
              <a:t>.$</a:t>
            </a:r>
            <a:r>
              <a:rPr lang="en-US" dirty="0" err="1"/>
              <a:t>sudo</a:t>
            </a:r>
            <a:r>
              <a:rPr lang="en-US" dirty="0"/>
              <a:t> apt install python3.8-venv -y</a:t>
            </a:r>
          </a:p>
          <a:p>
            <a:pPr marL="342900" indent="-342900" algn="just">
              <a:buFont typeface="+mj-lt"/>
              <a:buAutoNum type="arabicPeriod"/>
            </a:pPr>
            <a:r>
              <a:rPr lang="en-US" dirty="0"/>
              <a:t>p</a:t>
            </a:r>
          </a:p>
          <a:p>
            <a:pPr algn="just"/>
            <a:endParaRPr lang="en-US" sz="2400" b="1" dirty="0" smtClean="0">
              <a:solidFill>
                <a:srgbClr val="002060"/>
              </a:solidFill>
            </a:endParaRPr>
          </a:p>
        </p:txBody>
      </p:sp>
      <p:pic>
        <p:nvPicPr>
          <p:cNvPr id="3" name="Picture 2"/>
          <p:cNvPicPr>
            <a:picLocks noChangeAspect="1"/>
          </p:cNvPicPr>
          <p:nvPr/>
        </p:nvPicPr>
        <p:blipFill>
          <a:blip r:embed="rId3"/>
          <a:stretch>
            <a:fillRect/>
          </a:stretch>
        </p:blipFill>
        <p:spPr>
          <a:xfrm>
            <a:off x="275095" y="3613886"/>
            <a:ext cx="5374215" cy="2835618"/>
          </a:xfrm>
          <a:prstGeom prst="rect">
            <a:avLst/>
          </a:prstGeom>
        </p:spPr>
      </p:pic>
    </p:spTree>
    <p:extLst>
      <p:ext uri="{BB962C8B-B14F-4D97-AF65-F5344CB8AC3E}">
        <p14:creationId xmlns:p14="http://schemas.microsoft.com/office/powerpoint/2010/main" val="2607359450"/>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63276" y="519182"/>
            <a:ext cx="1888068" cy="1116355"/>
          </a:xfrm>
        </p:spPr>
        <p:txBody>
          <a:bodyPr>
            <a:normAutofit/>
          </a:bodyPr>
          <a:lstStyle/>
          <a:p>
            <a:pPr algn="just"/>
            <a:r>
              <a:rPr lang="en-US" b="1" dirty="0" smtClean="0">
                <a:solidFill>
                  <a:srgbClr val="002060"/>
                </a:solidFill>
              </a:rPr>
              <a:t>Image</a:t>
            </a:r>
            <a:endParaRPr lang="en-US" sz="2000" b="1" dirty="0">
              <a:solidFill>
                <a:srgbClr val="002060"/>
              </a:solidFill>
            </a:endParaRPr>
          </a:p>
        </p:txBody>
      </p:sp>
      <p:sp>
        <p:nvSpPr>
          <p:cNvPr id="7" name="Rectangle 6"/>
          <p:cNvSpPr/>
          <p:nvPr/>
        </p:nvSpPr>
        <p:spPr>
          <a:xfrm>
            <a:off x="0" y="61696"/>
            <a:ext cx="2363980" cy="1015663"/>
          </a:xfrm>
          <a:prstGeom prst="rect">
            <a:avLst/>
          </a:prstGeom>
        </p:spPr>
        <p:txBody>
          <a:bodyPr wrap="none">
            <a:spAutoFit/>
          </a:bodyPr>
          <a:lstStyle/>
          <a:p>
            <a:r>
              <a:rPr lang="en-US" sz="6000" dirty="0">
                <a:solidFill>
                  <a:srgbClr val="FFC000"/>
                </a:solidFill>
              </a:rPr>
              <a:t>Docker</a:t>
            </a:r>
          </a:p>
        </p:txBody>
      </p:sp>
      <p:pic>
        <p:nvPicPr>
          <p:cNvPr id="3" name="Picture 2"/>
          <p:cNvPicPr>
            <a:picLocks noChangeAspect="1"/>
          </p:cNvPicPr>
          <p:nvPr/>
        </p:nvPicPr>
        <p:blipFill>
          <a:blip r:embed="rId3"/>
          <a:stretch>
            <a:fillRect/>
          </a:stretch>
        </p:blipFill>
        <p:spPr>
          <a:xfrm>
            <a:off x="279400" y="1534845"/>
            <a:ext cx="4795308" cy="3968096"/>
          </a:xfrm>
          <a:prstGeom prst="rect">
            <a:avLst/>
          </a:prstGeom>
        </p:spPr>
      </p:pic>
      <p:sp>
        <p:nvSpPr>
          <p:cNvPr id="4" name="Rectangle 3"/>
          <p:cNvSpPr/>
          <p:nvPr/>
        </p:nvSpPr>
        <p:spPr>
          <a:xfrm>
            <a:off x="279400" y="5591095"/>
            <a:ext cx="4644220" cy="369332"/>
          </a:xfrm>
          <a:prstGeom prst="rect">
            <a:avLst/>
          </a:prstGeom>
        </p:spPr>
        <p:txBody>
          <a:bodyPr wrap="none">
            <a:spAutoFit/>
          </a:bodyPr>
          <a:lstStyle/>
          <a:p>
            <a:r>
              <a:rPr lang="en-US" dirty="0"/>
              <a:t>https://hub.docker.com/r/cschranz/gpu-jupyter</a:t>
            </a:r>
          </a:p>
        </p:txBody>
      </p:sp>
      <p:sp>
        <p:nvSpPr>
          <p:cNvPr id="9" name="Rectangle 8"/>
          <p:cNvSpPr/>
          <p:nvPr/>
        </p:nvSpPr>
        <p:spPr>
          <a:xfrm>
            <a:off x="279400" y="1142491"/>
            <a:ext cx="2933175" cy="523220"/>
          </a:xfrm>
          <a:prstGeom prst="rect">
            <a:avLst/>
          </a:prstGeom>
        </p:spPr>
        <p:txBody>
          <a:bodyPr wrap="none">
            <a:spAutoFit/>
          </a:bodyPr>
          <a:lstStyle/>
          <a:p>
            <a:r>
              <a:rPr lang="en-US" sz="2800" dirty="0" err="1" smtClean="0">
                <a:solidFill>
                  <a:srgbClr val="0070C0"/>
                </a:solidFill>
              </a:rPr>
              <a:t>MultiGPUs-Jupyter</a:t>
            </a:r>
            <a:endParaRPr lang="en-US" sz="2800" dirty="0">
              <a:solidFill>
                <a:srgbClr val="0070C0"/>
              </a:solidFill>
            </a:endParaRPr>
          </a:p>
        </p:txBody>
      </p:sp>
      <p:pic>
        <p:nvPicPr>
          <p:cNvPr id="5" name="Picture 4"/>
          <p:cNvPicPr>
            <a:picLocks noChangeAspect="1"/>
          </p:cNvPicPr>
          <p:nvPr/>
        </p:nvPicPr>
        <p:blipFill>
          <a:blip r:embed="rId4"/>
          <a:stretch>
            <a:fillRect/>
          </a:stretch>
        </p:blipFill>
        <p:spPr>
          <a:xfrm>
            <a:off x="5636528" y="825697"/>
            <a:ext cx="5033315" cy="3559765"/>
          </a:xfrm>
          <a:prstGeom prst="rect">
            <a:avLst/>
          </a:prstGeom>
        </p:spPr>
      </p:pic>
      <p:sp>
        <p:nvSpPr>
          <p:cNvPr id="6" name="Rectangle 5"/>
          <p:cNvSpPr/>
          <p:nvPr/>
        </p:nvSpPr>
        <p:spPr>
          <a:xfrm>
            <a:off x="5636528" y="4155156"/>
            <a:ext cx="6096000" cy="738664"/>
          </a:xfrm>
          <a:prstGeom prst="rect">
            <a:avLst/>
          </a:prstGeom>
        </p:spPr>
        <p:txBody>
          <a:bodyPr>
            <a:spAutoFit/>
          </a:bodyPr>
          <a:lstStyle/>
          <a:p>
            <a:r>
              <a:rPr lang="en-US" sz="1200" dirty="0">
                <a:solidFill>
                  <a:schemeClr val="bg1">
                    <a:lumMod val="85000"/>
                  </a:schemeClr>
                </a:solidFill>
              </a:rPr>
              <a:t>@Kin-Zhang </a:t>
            </a:r>
            <a:r>
              <a:rPr lang="en-US" sz="1200" dirty="0" err="1">
                <a:solidFill>
                  <a:schemeClr val="bg1">
                    <a:lumMod val="85000"/>
                  </a:schemeClr>
                </a:solidFill>
              </a:rPr>
              <a:t>Kin-Zhang</a:t>
            </a:r>
            <a:r>
              <a:rPr lang="en-US" sz="1200" dirty="0">
                <a:solidFill>
                  <a:schemeClr val="bg1">
                    <a:lumMod val="85000"/>
                  </a:schemeClr>
                </a:solidFill>
              </a:rPr>
              <a:t> mentioned this pull request on Apr </a:t>
            </a:r>
            <a:r>
              <a:rPr lang="en-US" sz="1200" dirty="0" smtClean="0">
                <a:solidFill>
                  <a:schemeClr val="bg1">
                    <a:lumMod val="85000"/>
                  </a:schemeClr>
                </a:solidFill>
              </a:rPr>
              <a:t>20</a:t>
            </a:r>
          </a:p>
          <a:p>
            <a:r>
              <a:rPr lang="en-US" sz="1200" dirty="0">
                <a:solidFill>
                  <a:schemeClr val="bg1">
                    <a:lumMod val="50000"/>
                  </a:schemeClr>
                </a:solidFill>
              </a:rPr>
              <a:t>https://github.com/lllyasviel/FramePack/pull/106</a:t>
            </a:r>
          </a:p>
          <a:p>
            <a:r>
              <a:rPr lang="en-US" dirty="0"/>
              <a:t>Multi GPUs in </a:t>
            </a:r>
            <a:r>
              <a:rPr lang="en-US" dirty="0" err="1"/>
              <a:t>docker</a:t>
            </a:r>
            <a:r>
              <a:rPr lang="en-US" dirty="0"/>
              <a:t> </a:t>
            </a:r>
            <a:r>
              <a:rPr lang="en-US" dirty="0" err="1"/>
              <a:t>nvidia</a:t>
            </a:r>
            <a:r>
              <a:rPr lang="en-US" dirty="0"/>
              <a:t> container #135</a:t>
            </a:r>
          </a:p>
        </p:txBody>
      </p:sp>
      <p:sp>
        <p:nvSpPr>
          <p:cNvPr id="15" name="Rectangle 14"/>
          <p:cNvSpPr/>
          <p:nvPr/>
        </p:nvSpPr>
        <p:spPr>
          <a:xfrm>
            <a:off x="5636528" y="4893820"/>
            <a:ext cx="5196423" cy="369332"/>
          </a:xfrm>
          <a:prstGeom prst="rect">
            <a:avLst/>
          </a:prstGeom>
        </p:spPr>
        <p:txBody>
          <a:bodyPr wrap="none">
            <a:spAutoFit/>
          </a:bodyPr>
          <a:lstStyle/>
          <a:p>
            <a:r>
              <a:rPr lang="en-US" dirty="0"/>
              <a:t>https://github.com/mmartial/ComfyUI-Nvidia-Docker</a:t>
            </a:r>
          </a:p>
        </p:txBody>
      </p:sp>
    </p:spTree>
    <p:extLst>
      <p:ext uri="{BB962C8B-B14F-4D97-AF65-F5344CB8AC3E}">
        <p14:creationId xmlns:p14="http://schemas.microsoft.com/office/powerpoint/2010/main" val="3558517141"/>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THX</a:t>
            </a:r>
            <a:endParaRPr lang="en-US" dirty="0"/>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3855937454"/>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4018</TotalTime>
  <Words>3790</Words>
  <Application>Microsoft Office PowerPoint</Application>
  <PresentationFormat>Widescreen</PresentationFormat>
  <Paragraphs>572</Paragraphs>
  <Slides>31</Slides>
  <Notes>21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31</vt:i4>
      </vt:variant>
    </vt:vector>
  </HeadingPairs>
  <TitlesOfParts>
    <vt:vector size="39" baseType="lpstr">
      <vt:lpstr>Malgun Gothic</vt:lpstr>
      <vt:lpstr>Arial</vt:lpstr>
      <vt:lpstr>Calibri</vt:lpstr>
      <vt:lpstr>Calibri Light</vt:lpstr>
      <vt:lpstr>Fira Code</vt:lpstr>
      <vt:lpstr>Noto Sans</vt:lpstr>
      <vt:lpstr>Wingdings</vt:lpstr>
      <vt:lpstr>Office Theme</vt:lpstr>
      <vt:lpstr>Create a Docker on Ubuntu 20.04 Docker Simple-apps</vt:lpstr>
      <vt:lpstr>Docker and Kubernetes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Docker Simple-apps</vt:lpstr>
      <vt:lpstr>Docker</vt:lpstr>
      <vt:lpstr>Image</vt:lpstr>
      <vt:lpstr>Image</vt:lpstr>
      <vt:lpstr>Image</vt:lpstr>
      <vt:lpstr>Image</vt:lpstr>
      <vt:lpstr>Image</vt:lpstr>
      <vt:lpstr>Image</vt:lpstr>
      <vt:lpstr>Image</vt:lpstr>
      <vt:lpstr>Image</vt:lpstr>
      <vt:lpstr>Image</vt:lpstr>
      <vt:lpstr>Image</vt:lpstr>
      <vt:lpstr>Image</vt:lpstr>
      <vt:lpstr>Image</vt:lpstr>
      <vt:lpstr>Docker Containers For Deep Learning</vt:lpstr>
      <vt:lpstr>Image</vt:lpstr>
      <vt:lpstr>Image</vt:lpstr>
      <vt:lpstr>THX</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Create a Docker on Ubuntu 20.04</dc:title>
  <dc:creator>pds</dc:creator>
  <cp:lastModifiedBy>PDS</cp:lastModifiedBy>
  <cp:revision>128</cp:revision>
  <dcterms:created xsi:type="dcterms:W3CDTF">2024-09-24T03:49:55Z</dcterms:created>
  <dcterms:modified xsi:type="dcterms:W3CDTF">2026-09-18T01:27:27Z</dcterms:modified>
</cp:coreProperties>
</file>