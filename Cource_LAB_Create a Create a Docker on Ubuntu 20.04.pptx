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5" r:id="rId1"/>
  </p:sldMasterIdLst>
  <p:notesMasterIdLst>
    <p:notesMasterId r:id="rId33"/>
  </p:notesMasterIdLst>
  <p:sldIdLst>
    <p:sldId id="270" r:id="rId2"/>
    <p:sldId id="307" r:id="rId3"/>
    <p:sldId id="308" r:id="rId4"/>
    <p:sldId id="309" r:id="rId5"/>
    <p:sldId id="310" r:id="rId6"/>
    <p:sldId id="311" r:id="rId7"/>
    <p:sldId id="312" r:id="rId8"/>
    <p:sldId id="323" r:id="rId9"/>
    <p:sldId id="313" r:id="rId10"/>
    <p:sldId id="314" r:id="rId11"/>
    <p:sldId id="315" r:id="rId12"/>
    <p:sldId id="316" r:id="rId13"/>
    <p:sldId id="318" r:id="rId14"/>
    <p:sldId id="302" r:id="rId15"/>
    <p:sldId id="289" r:id="rId16"/>
    <p:sldId id="290" r:id="rId17"/>
    <p:sldId id="291" r:id="rId18"/>
    <p:sldId id="292" r:id="rId19"/>
    <p:sldId id="293" r:id="rId20"/>
    <p:sldId id="294" r:id="rId21"/>
    <p:sldId id="295" r:id="rId22"/>
    <p:sldId id="296" r:id="rId23"/>
    <p:sldId id="297" r:id="rId24"/>
    <p:sldId id="298" r:id="rId25"/>
    <p:sldId id="299" r:id="rId26"/>
    <p:sldId id="300" r:id="rId27"/>
    <p:sldId id="301" r:id="rId28"/>
    <p:sldId id="303" r:id="rId29"/>
    <p:sldId id="304" r:id="rId30"/>
    <p:sldId id="305" r:id="rId31"/>
    <p:sldId id="271"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81787" autoAdjust="0"/>
  </p:normalViewPr>
  <p:slideViewPr>
    <p:cSldViewPr snapToGrid="0">
      <p:cViewPr varScale="1">
        <p:scale>
          <a:sx n="57" d="100"/>
          <a:sy n="57" d="100"/>
        </p:scale>
        <p:origin x="90"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DA0A24-8F73-440D-9695-CACB93E3DC8C}"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EEB89B-E730-41A0-81AF-DAEB457925DE}" type="slidenum">
              <a:rPr lang="en-US" smtClean="0"/>
              <a:t>‹#›</a:t>
            </a:fld>
            <a:endParaRPr lang="en-US"/>
          </a:p>
        </p:txBody>
      </p:sp>
    </p:spTree>
    <p:extLst>
      <p:ext uri="{BB962C8B-B14F-4D97-AF65-F5344CB8AC3E}">
        <p14:creationId xmlns:p14="http://schemas.microsoft.com/office/powerpoint/2010/main" val="803801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p>
          <a:p>
            <a:r>
              <a:rPr lang="en-US" dirty="0" smtClean="0"/>
              <a:t>https://medium.com/redbubble/running-a-docker-container-as-a-non-root-user-7d2e00f8ee15</a:t>
            </a:r>
          </a:p>
          <a:p>
            <a:r>
              <a:rPr lang="en-US" dirty="0" smtClean="0"/>
              <a:t>https://www.digitalocean.com/community/tutorials/how-to-install-and-use-docker-compose-on-ubuntu-20-04</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6390164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a:t>
            </a:fld>
            <a:endParaRPr lang="en-US"/>
          </a:p>
        </p:txBody>
      </p:sp>
    </p:spTree>
    <p:extLst>
      <p:ext uri="{BB962C8B-B14F-4D97-AF65-F5344CB8AC3E}">
        <p14:creationId xmlns:p14="http://schemas.microsoft.com/office/powerpoint/2010/main" val="38013202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3</a:t>
            </a:fld>
            <a:endParaRPr lang="en-US"/>
          </a:p>
        </p:txBody>
      </p:sp>
    </p:spTree>
    <p:extLst>
      <p:ext uri="{BB962C8B-B14F-4D97-AF65-F5344CB8AC3E}">
        <p14:creationId xmlns:p14="http://schemas.microsoft.com/office/powerpoint/2010/main" val="27798651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4</a:t>
            </a:fld>
            <a:endParaRPr lang="en-US"/>
          </a:p>
        </p:txBody>
      </p:sp>
    </p:spTree>
    <p:extLst>
      <p:ext uri="{BB962C8B-B14F-4D97-AF65-F5344CB8AC3E}">
        <p14:creationId xmlns:p14="http://schemas.microsoft.com/office/powerpoint/2010/main" val="13782499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5</a:t>
            </a:fld>
            <a:endParaRPr lang="en-US"/>
          </a:p>
        </p:txBody>
      </p:sp>
    </p:spTree>
    <p:extLst>
      <p:ext uri="{BB962C8B-B14F-4D97-AF65-F5344CB8AC3E}">
        <p14:creationId xmlns:p14="http://schemas.microsoft.com/office/powerpoint/2010/main" val="29859342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6</a:t>
            </a:fld>
            <a:endParaRPr lang="en-US"/>
          </a:p>
        </p:txBody>
      </p:sp>
    </p:spTree>
    <p:extLst>
      <p:ext uri="{BB962C8B-B14F-4D97-AF65-F5344CB8AC3E}">
        <p14:creationId xmlns:p14="http://schemas.microsoft.com/office/powerpoint/2010/main" val="919625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7</a:t>
            </a:fld>
            <a:endParaRPr lang="en-US"/>
          </a:p>
        </p:txBody>
      </p:sp>
    </p:spTree>
    <p:extLst>
      <p:ext uri="{BB962C8B-B14F-4D97-AF65-F5344CB8AC3E}">
        <p14:creationId xmlns:p14="http://schemas.microsoft.com/office/powerpoint/2010/main" val="1817314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8</a:t>
            </a:fld>
            <a:endParaRPr lang="en-US"/>
          </a:p>
        </p:txBody>
      </p:sp>
    </p:spTree>
    <p:extLst>
      <p:ext uri="{BB962C8B-B14F-4D97-AF65-F5344CB8AC3E}">
        <p14:creationId xmlns:p14="http://schemas.microsoft.com/office/powerpoint/2010/main" val="17720226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9</a:t>
            </a:fld>
            <a:endParaRPr lang="en-US"/>
          </a:p>
        </p:txBody>
      </p:sp>
    </p:spTree>
    <p:extLst>
      <p:ext uri="{BB962C8B-B14F-4D97-AF65-F5344CB8AC3E}">
        <p14:creationId xmlns:p14="http://schemas.microsoft.com/office/powerpoint/2010/main" val="39266035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10</a:t>
            </a:fld>
            <a:endParaRPr lang="en-US"/>
          </a:p>
        </p:txBody>
      </p:sp>
    </p:spTree>
    <p:extLst>
      <p:ext uri="{BB962C8B-B14F-4D97-AF65-F5344CB8AC3E}">
        <p14:creationId xmlns:p14="http://schemas.microsoft.com/office/powerpoint/2010/main" val="10480095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11</a:t>
            </a:fld>
            <a:endParaRPr lang="en-US"/>
          </a:p>
        </p:txBody>
      </p:sp>
    </p:spTree>
    <p:extLst>
      <p:ext uri="{BB962C8B-B14F-4D97-AF65-F5344CB8AC3E}">
        <p14:creationId xmlns:p14="http://schemas.microsoft.com/office/powerpoint/2010/main" val="11397648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12</a:t>
            </a:fld>
            <a:endParaRPr lang="en-US"/>
          </a:p>
        </p:txBody>
      </p:sp>
    </p:spTree>
    <p:extLst>
      <p:ext uri="{BB962C8B-B14F-4D97-AF65-F5344CB8AC3E}">
        <p14:creationId xmlns:p14="http://schemas.microsoft.com/office/powerpoint/2010/main" val="21520666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https://fernandocejas.com/blog/engineering/2023-01-06-over-engineered-home-lab-docker-kubernetes/</a:t>
            </a:r>
          </a:p>
          <a:p>
            <a:endParaRPr lang="en-US" dirty="0" smtClean="0"/>
          </a:p>
          <a:p>
            <a:r>
              <a:rPr lang="en-US" dirty="0" smtClean="0"/>
              <a:t>https://fernandocejas.com/blog/engineering/2023-01-06-over-engineered-home-lab-docker-kubernetes/</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13</a:t>
            </a:fld>
            <a:endParaRPr lang="en-US"/>
          </a:p>
        </p:txBody>
      </p:sp>
    </p:spTree>
    <p:extLst>
      <p:ext uri="{BB962C8B-B14F-4D97-AF65-F5344CB8AC3E}">
        <p14:creationId xmlns:p14="http://schemas.microsoft.com/office/powerpoint/2010/main" val="9441228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p>
          <a:p>
            <a:r>
              <a:rPr lang="en-US" dirty="0" smtClean="0"/>
              <a:t>https://www.domainesia.com/tips/cara-install-docker-di-ubuntu/</a:t>
            </a:r>
          </a:p>
          <a:p>
            <a:r>
              <a:rPr lang="en-US" dirty="0" smtClean="0"/>
              <a:t>https://www.hostinger.com/tutorials/how-to-install-docker-on-ubuntu</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15</a:t>
            </a:fld>
            <a:endParaRPr lang="en-US"/>
          </a:p>
        </p:txBody>
      </p:sp>
    </p:spTree>
    <p:extLst>
      <p:ext uri="{BB962C8B-B14F-4D97-AF65-F5344CB8AC3E}">
        <p14:creationId xmlns:p14="http://schemas.microsoft.com/office/powerpoint/2010/main" val="8891982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19</a:t>
            </a:fld>
            <a:endParaRPr lang="en-US"/>
          </a:p>
        </p:txBody>
      </p:sp>
    </p:spTree>
    <p:extLst>
      <p:ext uri="{BB962C8B-B14F-4D97-AF65-F5344CB8AC3E}">
        <p14:creationId xmlns:p14="http://schemas.microsoft.com/office/powerpoint/2010/main" val="4444368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22</a:t>
            </a:fld>
            <a:endParaRPr lang="en-US"/>
          </a:p>
        </p:txBody>
      </p:sp>
    </p:spTree>
    <p:extLst>
      <p:ext uri="{BB962C8B-B14F-4D97-AF65-F5344CB8AC3E}">
        <p14:creationId xmlns:p14="http://schemas.microsoft.com/office/powerpoint/2010/main" val="271166728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24</a:t>
            </a:fld>
            <a:endParaRPr lang="en-US"/>
          </a:p>
        </p:txBody>
      </p:sp>
    </p:spTree>
    <p:extLst>
      <p:ext uri="{BB962C8B-B14F-4D97-AF65-F5344CB8AC3E}">
        <p14:creationId xmlns:p14="http://schemas.microsoft.com/office/powerpoint/2010/main" val="3233903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https://www.idn.id/docker-pada-ubuntu-20-04/</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27</a:t>
            </a:fld>
            <a:endParaRPr lang="en-US"/>
          </a:p>
        </p:txBody>
      </p:sp>
    </p:spTree>
    <p:extLst>
      <p:ext uri="{BB962C8B-B14F-4D97-AF65-F5344CB8AC3E}">
        <p14:creationId xmlns:p14="http://schemas.microsoft.com/office/powerpoint/2010/main" val="42788925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https://docs.nvidia.com/deeplearning/frameworks/user-guide/index.html</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28</a:t>
            </a:fld>
            <a:endParaRPr lang="en-US"/>
          </a:p>
        </p:txBody>
      </p:sp>
    </p:spTree>
    <p:extLst>
      <p:ext uri="{BB962C8B-B14F-4D97-AF65-F5344CB8AC3E}">
        <p14:creationId xmlns:p14="http://schemas.microsoft.com/office/powerpoint/2010/main" val="42767146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https://github.com/OishiLab/OpenMAP-T1</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29</a:t>
            </a:fld>
            <a:endParaRPr lang="en-US"/>
          </a:p>
        </p:txBody>
      </p:sp>
    </p:spTree>
    <p:extLst>
      <p:ext uri="{BB962C8B-B14F-4D97-AF65-F5344CB8AC3E}">
        <p14:creationId xmlns:p14="http://schemas.microsoft.com/office/powerpoint/2010/main" val="24790598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https://hub.docker.com/r/cschranz/gpu-jupyter</a:t>
            </a:r>
          </a:p>
          <a:p>
            <a:r>
              <a:rPr lang="en-US" dirty="0" smtClean="0"/>
              <a:t>https://github.com/iot-salzburg/reproducible-research-with-gpu-jupyter</a:t>
            </a:r>
          </a:p>
          <a:p>
            <a:r>
              <a:rPr lang="en-US" dirty="0" smtClean="0"/>
              <a:t>https://docs.nvidia.com/datacenter/cloud-native/container-toolkit/latest/install-guide.html</a:t>
            </a:r>
          </a:p>
          <a:p>
            <a:r>
              <a:rPr lang="en-US" dirty="0" smtClean="0"/>
              <a:t>https://github.com/mmartial/ComfyUI-Nvidia-Docker</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30</a:t>
            </a:fld>
            <a:endParaRPr lang="en-US"/>
          </a:p>
        </p:txBody>
      </p:sp>
    </p:spTree>
    <p:extLst>
      <p:ext uri="{BB962C8B-B14F-4D97-AF65-F5344CB8AC3E}">
        <p14:creationId xmlns:p14="http://schemas.microsoft.com/office/powerpoint/2010/main" val="35388932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70193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2897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003391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31462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992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312713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52263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9355345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72807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5137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65877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A87A34-81AB-432B-8DAE-1953F412C126}" type="datetimeFigureOut">
              <a:rPr lang="en-US" smtClean="0"/>
              <a:pPr/>
              <a:t>9/15/2025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822784740"/>
      </p:ext>
    </p:extLst>
  </p:cSld>
  <p:clrMap bg1="lt1" tx1="dk1" bg2="lt2" tx2="dk2" accent1="accent1" accent2="accent2" accent3="accent3" accent4="accent4" accent5="accent5" accent6="accent6" hlink="hlink" folHlink="folHlink"/>
  <p:sldLayoutIdLst>
    <p:sldLayoutId id="2147483736" r:id="rId1"/>
    <p:sldLayoutId id="2147483737" r:id="rId2"/>
    <p:sldLayoutId id="2147483738" r:id="rId3"/>
    <p:sldLayoutId id="2147483739" r:id="rId4"/>
    <p:sldLayoutId id="2147483740" r:id="rId5"/>
    <p:sldLayoutId id="2147483741" r:id="rId6"/>
    <p:sldLayoutId id="2147483742" r:id="rId7"/>
    <p:sldLayoutId id="2147483743" r:id="rId8"/>
    <p:sldLayoutId id="2147483744" r:id="rId9"/>
    <p:sldLayoutId id="2147483745" r:id="rId10"/>
    <p:sldLayoutId id="214748374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github.com/amelcharolinesgn2/ClouD-Infrastructure-SISKA-2025" TargetMode="External"/><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hyperlink" Target="https://openwrt.org/" TargetMode="External"/><Relationship Id="rId3" Type="http://schemas.openxmlformats.org/officeDocument/2006/relationships/hyperlink" Target="https://fernandocejas.com/blog/engineering/2023-01-06-over-engineered-home-lab-docker-kubernetes/#main-software-stack" TargetMode="External"/><Relationship Id="rId7" Type="http://schemas.openxmlformats.org/officeDocument/2006/relationships/hyperlink" Target="https://fernandocejas.com/blog/engineering/2020-12-28-install-arch-linux-full-disk-encryption/"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linux.fernandocejas.com/" TargetMode="External"/><Relationship Id="rId5" Type="http://schemas.openxmlformats.org/officeDocument/2006/relationships/hyperlink" Target="https://www.docker.com/" TargetMode="External"/><Relationship Id="rId10" Type="http://schemas.openxmlformats.org/officeDocument/2006/relationships/hyperlink" Target="https://kubernetes.io/docs/concepts/workloads/pods/" TargetMode="External"/><Relationship Id="rId4" Type="http://schemas.openxmlformats.org/officeDocument/2006/relationships/hyperlink" Target="https://kubernetes.io/" TargetMode="External"/><Relationship Id="rId9" Type="http://schemas.openxmlformats.org/officeDocument/2006/relationships/hyperlink" Target="https://www.wireguard.com/"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hyperlink" Target="https://docs.k3s.io/quick-start" TargetMode="External"/><Relationship Id="rId13" Type="http://schemas.openxmlformats.org/officeDocument/2006/relationships/hyperlink" Target="https://metallb.universe.tf/installation/#installation-with-helm" TargetMode="External"/><Relationship Id="rId18" Type="http://schemas.openxmlformats.org/officeDocument/2006/relationships/hyperlink" Target="https://cert-manager.io/docs/installation/helm/" TargetMode="External"/><Relationship Id="rId3" Type="http://schemas.openxmlformats.org/officeDocument/2006/relationships/hyperlink" Target="https://fernandocejas.com/blog/engineering/2020-12-28-install-arch-linux-full-disk-encryption/" TargetMode="External"/><Relationship Id="rId21" Type="http://schemas.openxmlformats.org/officeDocument/2006/relationships/hyperlink" Target="https://docs.k3s.io/installation/kube-dashboard" TargetMode="External"/><Relationship Id="rId7" Type="http://schemas.openxmlformats.org/officeDocument/2006/relationships/hyperlink" Target="https://en.wikipedia.org/wiki/Headless_computer" TargetMode="External"/><Relationship Id="rId12" Type="http://schemas.openxmlformats.org/officeDocument/2006/relationships/hyperlink" Target="https://docs.k3s.io/networking#service-load-balancer" TargetMode="External"/><Relationship Id="rId17" Type="http://schemas.openxmlformats.org/officeDocument/2006/relationships/hyperlink" Target="https://docs.k3s.io/networking#traefik-ingress-controller" TargetMode="External"/><Relationship Id="rId2" Type="http://schemas.openxmlformats.org/officeDocument/2006/relationships/notesSlide" Target="../notesSlides/notesSlide6.xml"/><Relationship Id="rId16" Type="http://schemas.openxmlformats.org/officeDocument/2006/relationships/hyperlink" Target="https://kubernetes.io/docs/concepts/services-networking/ingress/" TargetMode="External"/><Relationship Id="rId20" Type="http://schemas.openxmlformats.org/officeDocument/2006/relationships/hyperlink" Target="https://github.com/FiloSottile/mkcert" TargetMode="External"/><Relationship Id="rId1" Type="http://schemas.openxmlformats.org/officeDocument/2006/relationships/slideLayout" Target="../slideLayouts/slideLayout2.xml"/><Relationship Id="rId6" Type="http://schemas.openxmlformats.org/officeDocument/2006/relationships/hyperlink" Target="https://linux.fernandocejas.com/docs/guides/configure-ssh-access-on-your-linux-machine" TargetMode="External"/><Relationship Id="rId11" Type="http://schemas.openxmlformats.org/officeDocument/2006/relationships/hyperlink" Target="https://docs.k3s.io/helm" TargetMode="External"/><Relationship Id="rId5" Type="http://schemas.openxmlformats.org/officeDocument/2006/relationships/hyperlink" Target="https://mosh.org/" TargetMode="External"/><Relationship Id="rId15" Type="http://schemas.openxmlformats.org/officeDocument/2006/relationships/hyperlink" Target="https://docs.nginx.com/nginx-ingress-controller/installation/installation-with-helm/" TargetMode="External"/><Relationship Id="rId10" Type="http://schemas.openxmlformats.org/officeDocument/2006/relationships/hyperlink" Target="https://docs.k3s.io/cli" TargetMode="External"/><Relationship Id="rId19" Type="http://schemas.openxmlformats.org/officeDocument/2006/relationships/hyperlink" Target="https://cert-manager.io/docs/configuration/selfsigned/" TargetMode="External"/><Relationship Id="rId4" Type="http://schemas.openxmlformats.org/officeDocument/2006/relationships/hyperlink" Target="https://simple.wikipedia.org/wiki/Virtual_machine" TargetMode="External"/><Relationship Id="rId9" Type="http://schemas.openxmlformats.org/officeDocument/2006/relationships/hyperlink" Target="https://docs.k3s.io/cluster-access#accessing-the-cluster-from-outside-with-kubectl" TargetMode="External"/><Relationship Id="rId14" Type="http://schemas.openxmlformats.org/officeDocument/2006/relationships/hyperlink" Target="https://docs.k3s.io/networking#disabling-servicelb" TargetMode="External"/><Relationship Id="rId22" Type="http://schemas.openxmlformats.org/officeDocument/2006/relationships/hyperlink" Target="https://kubernetes.io/docs/tasks/access-application-cluster/web-ui-dashboard/"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kubernetes.io/docs/reference/kubectl/"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hyperlink" Target="https://docs.k3s.io/installation/kube-dashboard" TargetMode="Externa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kubernetes.io/docs/concepts/workloads/controllers/deployment/"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kubernetes.io/docs/concepts/services-networking/ingress/" TargetMode="External"/><Relationship Id="rId4" Type="http://schemas.openxmlformats.org/officeDocument/2006/relationships/hyperlink" Target="https://kubernetes.io/docs/concepts/services-networking/service/"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119891" y="0"/>
            <a:ext cx="5305425" cy="3381375"/>
          </a:xfrm>
          <a:prstGeom prst="rect">
            <a:avLst/>
          </a:prstGeom>
        </p:spPr>
      </p:pic>
      <p:grpSp>
        <p:nvGrpSpPr>
          <p:cNvPr id="9" name="Group 8"/>
          <p:cNvGrpSpPr/>
          <p:nvPr/>
        </p:nvGrpSpPr>
        <p:grpSpPr>
          <a:xfrm>
            <a:off x="370421" y="1795824"/>
            <a:ext cx="4804363" cy="1929688"/>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4000" dirty="0" smtClean="0">
                  <a:solidFill>
                    <a:schemeClr val="accent1">
                      <a:lumMod val="75000"/>
                    </a:schemeClr>
                  </a:solidFill>
                </a:rPr>
                <a:t>Computer </a:t>
              </a:r>
              <a:r>
                <a:rPr lang="en-US" sz="4000" dirty="0" smtClean="0">
                  <a:solidFill>
                    <a:srgbClr val="00B0F0"/>
                  </a:solidFill>
                </a:rPr>
                <a:t>Vision</a:t>
              </a:r>
              <a:endParaRPr lang="en-US" sz="4000" dirty="0">
                <a:solidFill>
                  <a:srgbClr val="00B0F0"/>
                </a:solidFill>
              </a:endParaRP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smtClean="0">
                  <a:solidFill>
                    <a:srgbClr val="7030A0"/>
                  </a:solidFill>
                </a:rPr>
                <a:t>PDS</a:t>
              </a:r>
              <a:endParaRPr lang="en-US" sz="1600" dirty="0">
                <a:solidFill>
                  <a:srgbClr val="7030A0"/>
                </a:solidFill>
              </a:endParaRPr>
            </a:p>
          </p:txBody>
        </p:sp>
      </p:grpSp>
      <p:sp>
        <p:nvSpPr>
          <p:cNvPr id="22" name="Rectangle 21"/>
          <p:cNvSpPr/>
          <p:nvPr/>
        </p:nvSpPr>
        <p:spPr>
          <a:xfrm>
            <a:off x="8911525" y="5781051"/>
            <a:ext cx="3485015" cy="276999"/>
          </a:xfrm>
          <a:prstGeom prst="rect">
            <a:avLst/>
          </a:prstGeom>
        </p:spPr>
        <p:txBody>
          <a:bodyPr wrap="square">
            <a:spAutoFit/>
          </a:bodyPr>
          <a:lstStyle/>
          <a:p>
            <a:r>
              <a:rPr lang="en-US" sz="1200" dirty="0"/>
              <a:t>https://www.youtube.com/@AmelOline/videos</a:t>
            </a:r>
          </a:p>
        </p:txBody>
      </p:sp>
      <p:sp>
        <p:nvSpPr>
          <p:cNvPr id="23" name="Rectangle 22"/>
          <p:cNvSpPr/>
          <p:nvPr/>
        </p:nvSpPr>
        <p:spPr>
          <a:xfrm>
            <a:off x="10027402" y="5596385"/>
            <a:ext cx="2164597" cy="276999"/>
          </a:xfrm>
          <a:prstGeom prst="rect">
            <a:avLst/>
          </a:prstGeom>
        </p:spPr>
        <p:txBody>
          <a:bodyPr wrap="square">
            <a:spAutoFit/>
          </a:bodyPr>
          <a:lstStyle/>
          <a:p>
            <a:r>
              <a:rPr lang="en-US" sz="1200" dirty="0"/>
              <a:t>https://github.com/siagianp</a:t>
            </a:r>
          </a:p>
        </p:txBody>
      </p:sp>
      <p:sp>
        <p:nvSpPr>
          <p:cNvPr id="2" name="Rectangle 1"/>
          <p:cNvSpPr/>
          <p:nvPr/>
        </p:nvSpPr>
        <p:spPr>
          <a:xfrm>
            <a:off x="7609668" y="5965717"/>
            <a:ext cx="4889592" cy="276999"/>
          </a:xfrm>
          <a:prstGeom prst="rect">
            <a:avLst/>
          </a:prstGeom>
        </p:spPr>
        <p:txBody>
          <a:bodyPr wrap="square">
            <a:spAutoFit/>
          </a:bodyPr>
          <a:lstStyle/>
          <a:p>
            <a:r>
              <a:rPr lang="en-US" sz="1200" dirty="0"/>
              <a:t>https</a:t>
            </a:r>
            <a:r>
              <a:rPr lang="en-US" sz="1200" dirty="0" smtClean="0"/>
              <a:t>://github.com/amelcharolinesgn2/IoT_simulator-mqtt-NodeRed</a:t>
            </a:r>
            <a:endParaRPr lang="en-US" sz="1200" dirty="0"/>
          </a:p>
        </p:txBody>
      </p:sp>
      <p:pic>
        <p:nvPicPr>
          <p:cNvPr id="4" name="Picture 3"/>
          <p:cNvPicPr>
            <a:picLocks noChangeAspect="1"/>
          </p:cNvPicPr>
          <p:nvPr/>
        </p:nvPicPr>
        <p:blipFill>
          <a:blip r:embed="rId5"/>
          <a:stretch>
            <a:fillRect/>
          </a:stretch>
        </p:blipFill>
        <p:spPr>
          <a:xfrm>
            <a:off x="2611743" y="2639596"/>
            <a:ext cx="446086" cy="635863"/>
          </a:xfrm>
          <a:prstGeom prst="rect">
            <a:avLst/>
          </a:prstGeom>
        </p:spPr>
      </p:pic>
      <p:pic>
        <p:nvPicPr>
          <p:cNvPr id="5" name="Picture 4"/>
          <p:cNvPicPr>
            <a:picLocks noChangeAspect="1"/>
          </p:cNvPicPr>
          <p:nvPr/>
        </p:nvPicPr>
        <p:blipFill>
          <a:blip r:embed="rId6"/>
          <a:stretch>
            <a:fillRect/>
          </a:stretch>
        </p:blipFill>
        <p:spPr>
          <a:xfrm>
            <a:off x="1914363" y="2655435"/>
            <a:ext cx="613391" cy="582721"/>
          </a:xfrm>
          <a:prstGeom prst="rect">
            <a:avLst/>
          </a:prstGeom>
        </p:spPr>
      </p:pic>
      <p:pic>
        <p:nvPicPr>
          <p:cNvPr id="6" name="Picture 5"/>
          <p:cNvPicPr>
            <a:picLocks noChangeAspect="1"/>
          </p:cNvPicPr>
          <p:nvPr/>
        </p:nvPicPr>
        <p:blipFill>
          <a:blip r:embed="rId7"/>
          <a:stretch>
            <a:fillRect/>
          </a:stretch>
        </p:blipFill>
        <p:spPr>
          <a:xfrm>
            <a:off x="1053045" y="2639596"/>
            <a:ext cx="599662" cy="577554"/>
          </a:xfrm>
          <a:prstGeom prst="rect">
            <a:avLst/>
          </a:prstGeom>
        </p:spPr>
      </p:pic>
      <p:sp>
        <p:nvSpPr>
          <p:cNvPr id="26" name="Subtitle 2"/>
          <p:cNvSpPr txBox="1">
            <a:spLocks/>
          </p:cNvSpPr>
          <p:nvPr/>
        </p:nvSpPr>
        <p:spPr>
          <a:xfrm>
            <a:off x="2570755" y="3802371"/>
            <a:ext cx="9024615" cy="52107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4400" dirty="0" smtClean="0">
                <a:solidFill>
                  <a:srgbClr val="0070C0"/>
                </a:solidFill>
              </a:rPr>
              <a:t>Docker </a:t>
            </a:r>
            <a:r>
              <a:rPr lang="en-US" sz="4400" dirty="0">
                <a:solidFill>
                  <a:srgbClr val="0070C0"/>
                </a:solidFill>
              </a:rPr>
              <a:t>and </a:t>
            </a:r>
            <a:r>
              <a:rPr lang="en-US" sz="4400" dirty="0" smtClean="0">
                <a:solidFill>
                  <a:srgbClr val="0070C0"/>
                </a:solidFill>
              </a:rPr>
              <a:t>Kubernetes</a:t>
            </a:r>
            <a:endParaRPr lang="en-US" sz="4400" dirty="0" smtClean="0">
              <a:solidFill>
                <a:srgbClr val="0070C0"/>
              </a:solidFill>
            </a:endParaRPr>
          </a:p>
        </p:txBody>
      </p:sp>
      <p:sp>
        <p:nvSpPr>
          <p:cNvPr id="3" name="Rectangle 2"/>
          <p:cNvSpPr/>
          <p:nvPr/>
        </p:nvSpPr>
        <p:spPr>
          <a:xfrm>
            <a:off x="8203920" y="6150383"/>
            <a:ext cx="3988079" cy="276999"/>
          </a:xfrm>
          <a:prstGeom prst="rect">
            <a:avLst/>
          </a:prstGeom>
        </p:spPr>
        <p:txBody>
          <a:bodyPr wrap="none">
            <a:spAutoFit/>
          </a:bodyPr>
          <a:lstStyle/>
          <a:p>
            <a:r>
              <a:rPr lang="en-US" sz="1200" dirty="0"/>
              <a:t>https://github.com/amelcharolinesgn2/Cloud-Infrastructures</a:t>
            </a:r>
          </a:p>
        </p:txBody>
      </p:sp>
      <p:sp>
        <p:nvSpPr>
          <p:cNvPr id="24" name="Rectangle 23"/>
          <p:cNvSpPr/>
          <p:nvPr/>
        </p:nvSpPr>
        <p:spPr>
          <a:xfrm>
            <a:off x="7494493" y="6367868"/>
            <a:ext cx="4697506" cy="461665"/>
          </a:xfrm>
          <a:prstGeom prst="rect">
            <a:avLst/>
          </a:prstGeom>
        </p:spPr>
        <p:txBody>
          <a:bodyPr wrap="square">
            <a:spAutoFit/>
          </a:bodyPr>
          <a:lstStyle/>
          <a:p>
            <a:r>
              <a:rPr lang="en-US" sz="1200" dirty="0">
                <a:hlinkClick r:id="rId8"/>
              </a:rPr>
              <a:t>https://</a:t>
            </a:r>
            <a:r>
              <a:rPr lang="en-US" sz="1200" dirty="0" smtClean="0">
                <a:hlinkClick r:id="rId8"/>
              </a:rPr>
              <a:t>github.com/amelcharolinesgn2/ClouD-Infrastructure-SISKA-2025</a:t>
            </a:r>
            <a:endParaRPr lang="en-US" sz="1200" dirty="0" smtClean="0"/>
          </a:p>
          <a:p>
            <a:pPr algn="r"/>
            <a:r>
              <a:rPr lang="en-US" sz="1200" dirty="0"/>
              <a:t>https://github.com/amelcharolinesgn2/IoT_app-and-Modules</a:t>
            </a:r>
            <a:endParaRPr lang="en-US" sz="1200" dirty="0"/>
          </a:p>
        </p:txBody>
      </p:sp>
      <p:sp>
        <p:nvSpPr>
          <p:cNvPr id="25" name="Title 1"/>
          <p:cNvSpPr>
            <a:spLocks noGrp="1"/>
          </p:cNvSpPr>
          <p:nvPr>
            <p:ph type="title"/>
          </p:nvPr>
        </p:nvSpPr>
        <p:spPr>
          <a:xfrm>
            <a:off x="2527754" y="4778653"/>
            <a:ext cx="10515600" cy="1325563"/>
          </a:xfrm>
        </p:spPr>
        <p:txBody>
          <a:bodyPr>
            <a:normAutofit/>
          </a:bodyPr>
          <a:lstStyle/>
          <a:p>
            <a:r>
              <a:rPr lang="en-US" sz="2000" dirty="0">
                <a:solidFill>
                  <a:srgbClr val="7030A0"/>
                </a:solidFill>
              </a:rPr>
              <a:t>Create a Docker on Ubuntu 20.04</a:t>
            </a:r>
            <a:br>
              <a:rPr lang="en-US" sz="2000" dirty="0">
                <a:solidFill>
                  <a:srgbClr val="7030A0"/>
                </a:solidFill>
              </a:rPr>
            </a:br>
            <a:r>
              <a:rPr lang="en-US" sz="2000" b="1" dirty="0" smtClean="0">
                <a:solidFill>
                  <a:srgbClr val="002060"/>
                </a:solidFill>
              </a:rPr>
              <a:t>Docker </a:t>
            </a:r>
            <a:r>
              <a:rPr lang="en-US" sz="2000" u="sng" dirty="0" smtClean="0">
                <a:solidFill>
                  <a:srgbClr val="0070C0"/>
                </a:solidFill>
              </a:rPr>
              <a:t>Simple-apps</a:t>
            </a:r>
            <a:endParaRPr lang="en-US" sz="2000" u="sng" dirty="0">
              <a:solidFill>
                <a:srgbClr val="0070C0"/>
              </a:solidFill>
            </a:endParaRPr>
          </a:p>
        </p:txBody>
      </p:sp>
    </p:spTree>
    <p:extLst>
      <p:ext uri="{BB962C8B-B14F-4D97-AF65-F5344CB8AC3E}">
        <p14:creationId xmlns:p14="http://schemas.microsoft.com/office/powerpoint/2010/main" val="392634899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667" y="2786591"/>
            <a:ext cx="10515600" cy="1325563"/>
          </a:xfrm>
        </p:spPr>
        <p:txBody>
          <a:bodyPr/>
          <a:lstStyle/>
          <a:p>
            <a:pPr algn="ctr"/>
            <a:r>
              <a:rPr lang="en-US" b="1" dirty="0">
                <a:solidFill>
                  <a:srgbClr val="FFC000"/>
                </a:solidFill>
              </a:rPr>
              <a:t>Docker</a:t>
            </a:r>
            <a:r>
              <a:rPr lang="en-US" b="1" dirty="0">
                <a:solidFill>
                  <a:srgbClr val="002060"/>
                </a:solidFill>
              </a:rPr>
              <a:t> </a:t>
            </a:r>
            <a:r>
              <a:rPr lang="en-US" b="1" dirty="0">
                <a:solidFill>
                  <a:srgbClr val="FFC000"/>
                </a:solidFill>
              </a:rPr>
              <a:t>and</a:t>
            </a:r>
            <a:r>
              <a:rPr lang="en-US" b="1" dirty="0">
                <a:solidFill>
                  <a:srgbClr val="002060"/>
                </a:solidFill>
              </a:rPr>
              <a:t> </a:t>
            </a:r>
            <a:r>
              <a:rPr lang="en-US" b="1" dirty="0">
                <a:solidFill>
                  <a:srgbClr val="FFC000"/>
                </a:solidFill>
              </a:rPr>
              <a:t>Kubernetes</a:t>
            </a:r>
          </a:p>
        </p:txBody>
      </p:sp>
      <p:sp>
        <p:nvSpPr>
          <p:cNvPr id="3" name="Rectangle 2"/>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Tree>
    <p:extLst>
      <p:ext uri="{BB962C8B-B14F-4D97-AF65-F5344CB8AC3E}">
        <p14:creationId xmlns:p14="http://schemas.microsoft.com/office/powerpoint/2010/main" val="1270773589"/>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262467" y="1500802"/>
            <a:ext cx="5410201" cy="2554545"/>
          </a:xfrm>
          <a:prstGeom prst="rect">
            <a:avLst/>
          </a:prstGeom>
        </p:spPr>
        <p:txBody>
          <a:bodyPr wrap="square">
            <a:spAutoFit/>
          </a:bodyPr>
          <a:lstStyle/>
          <a:p>
            <a:pPr algn="just"/>
            <a:r>
              <a:rPr lang="en-US" sz="1600" b="1" dirty="0"/>
              <a:t>Main Software Stack </a:t>
            </a:r>
            <a:r>
              <a:rPr lang="en-US" sz="1600" b="1" dirty="0" smtClean="0">
                <a:hlinkClick r:id="rId3"/>
              </a:rPr>
              <a:t>Permalink</a:t>
            </a:r>
            <a:r>
              <a:rPr lang="en-US" sz="1600" b="1" dirty="0" smtClean="0"/>
              <a:t>:</a:t>
            </a:r>
            <a:endParaRPr lang="en-US" sz="1600" b="1" dirty="0"/>
          </a:p>
          <a:p>
            <a:pPr algn="just"/>
            <a:r>
              <a:rPr lang="en-US" sz="1600" b="1" dirty="0">
                <a:hlinkClick r:id="rId4"/>
              </a:rPr>
              <a:t>Kubernetes</a:t>
            </a:r>
            <a:r>
              <a:rPr lang="en-US" sz="1600" b="1" dirty="0"/>
              <a:t>:</a:t>
            </a:r>
            <a:r>
              <a:rPr lang="en-US" sz="1600" dirty="0"/>
              <a:t> for managing containerized workloads and services.</a:t>
            </a:r>
          </a:p>
          <a:p>
            <a:pPr algn="just"/>
            <a:r>
              <a:rPr lang="en-US" sz="1600" b="1" dirty="0">
                <a:hlinkClick r:id="rId5"/>
              </a:rPr>
              <a:t>Docker</a:t>
            </a:r>
            <a:r>
              <a:rPr lang="en-US" sz="1600" b="1" dirty="0"/>
              <a:t>:</a:t>
            </a:r>
            <a:r>
              <a:rPr lang="en-US" sz="1600" dirty="0"/>
              <a:t> for managing containerized applications.</a:t>
            </a:r>
          </a:p>
          <a:p>
            <a:pPr algn="just"/>
            <a:r>
              <a:rPr lang="en-US" sz="1600" b="1" dirty="0">
                <a:hlinkClick r:id="rId6"/>
              </a:rPr>
              <a:t>Linux</a:t>
            </a:r>
            <a:r>
              <a:rPr lang="en-US" sz="1600" dirty="0"/>
              <a:t>.</a:t>
            </a:r>
          </a:p>
          <a:p>
            <a:pPr algn="just"/>
            <a:r>
              <a:rPr lang="en-US" sz="1600" b="1" dirty="0">
                <a:hlinkClick r:id="rId7"/>
              </a:rPr>
              <a:t>Arch</a:t>
            </a:r>
            <a:r>
              <a:rPr lang="en-US" sz="1600" b="1" dirty="0"/>
              <a:t>:</a:t>
            </a:r>
            <a:r>
              <a:rPr lang="en-US" sz="1600" dirty="0"/>
              <a:t> with LTS Kernel (for stability) as the main OS for the Servers.</a:t>
            </a:r>
          </a:p>
          <a:p>
            <a:pPr algn="just"/>
            <a:r>
              <a:rPr lang="en-US" sz="1600" b="1" dirty="0" err="1">
                <a:hlinkClick r:id="rId8"/>
              </a:rPr>
              <a:t>OpenWRT</a:t>
            </a:r>
            <a:r>
              <a:rPr lang="en-US" sz="1600" b="1" dirty="0"/>
              <a:t>:</a:t>
            </a:r>
            <a:r>
              <a:rPr lang="en-US" sz="1600" dirty="0"/>
              <a:t> for network handling (DNS, Port Forwarding, DHCP, </a:t>
            </a:r>
            <a:r>
              <a:rPr lang="en-US" sz="1600" dirty="0" err="1"/>
              <a:t>etc</a:t>
            </a:r>
            <a:r>
              <a:rPr lang="en-US" sz="1600" dirty="0"/>
              <a:t>) inside my router.</a:t>
            </a:r>
          </a:p>
          <a:p>
            <a:pPr algn="just"/>
            <a:r>
              <a:rPr lang="en-US" sz="1600" b="1" dirty="0" err="1">
                <a:hlinkClick r:id="rId9"/>
              </a:rPr>
              <a:t>Wireguad</a:t>
            </a:r>
            <a:r>
              <a:rPr lang="en-US" sz="1600" b="1" dirty="0"/>
              <a:t>:</a:t>
            </a:r>
            <a:r>
              <a:rPr lang="en-US" sz="1600" dirty="0"/>
              <a:t> for the encrypted virtual private network (VPN).</a:t>
            </a:r>
          </a:p>
        </p:txBody>
      </p:sp>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13" name="Rectangle 12"/>
          <p:cNvSpPr/>
          <p:nvPr/>
        </p:nvSpPr>
        <p:spPr>
          <a:xfrm>
            <a:off x="6053667" y="1500801"/>
            <a:ext cx="5410201" cy="2308324"/>
          </a:xfrm>
          <a:prstGeom prst="rect">
            <a:avLst/>
          </a:prstGeom>
        </p:spPr>
        <p:txBody>
          <a:bodyPr wrap="square">
            <a:spAutoFit/>
          </a:bodyPr>
          <a:lstStyle/>
          <a:p>
            <a:pPr algn="just"/>
            <a:r>
              <a:rPr lang="en-US" b="1" dirty="0"/>
              <a:t>Kubernetes: The Main </a:t>
            </a:r>
            <a:r>
              <a:rPr lang="en-US" b="1" dirty="0" smtClean="0"/>
              <a:t>Components: </a:t>
            </a:r>
            <a:endParaRPr lang="en-US" b="1" dirty="0"/>
          </a:p>
          <a:p>
            <a:pPr algn="just"/>
            <a:r>
              <a:rPr lang="en-US" b="1" dirty="0"/>
              <a:t>Cluster:</a:t>
            </a:r>
            <a:r>
              <a:rPr lang="en-US" dirty="0"/>
              <a:t> When we deploy Kubernetes, we get a cluster.</a:t>
            </a:r>
          </a:p>
          <a:p>
            <a:pPr algn="just"/>
            <a:r>
              <a:rPr lang="en-US" b="1" dirty="0"/>
              <a:t>Node:</a:t>
            </a:r>
            <a:r>
              <a:rPr lang="en-US" dirty="0"/>
              <a:t> A node is a working machine in Kubernetes.</a:t>
            </a:r>
          </a:p>
          <a:p>
            <a:pPr algn="just"/>
            <a:r>
              <a:rPr lang="en-US" b="1" dirty="0">
                <a:hlinkClick r:id="rId10"/>
              </a:rPr>
              <a:t>Pod</a:t>
            </a:r>
            <a:r>
              <a:rPr lang="en-US" b="1" dirty="0"/>
              <a:t>:</a:t>
            </a:r>
            <a:r>
              <a:rPr lang="en-US" dirty="0"/>
              <a:t> A Pod represents a set of running containers in our cluster.</a:t>
            </a:r>
          </a:p>
          <a:p>
            <a:pPr algn="just"/>
            <a:r>
              <a:rPr lang="en-US" b="1" dirty="0"/>
              <a:t>Control Plane:</a:t>
            </a:r>
            <a:r>
              <a:rPr lang="en-US" dirty="0"/>
              <a:t> The container orchestration layer that exposes the API and interfaces to define, deploy and manage the lifecycle of containers.</a:t>
            </a:r>
          </a:p>
        </p:txBody>
      </p:sp>
    </p:spTree>
    <p:extLst>
      <p:ext uri="{BB962C8B-B14F-4D97-AF65-F5344CB8AC3E}">
        <p14:creationId xmlns:p14="http://schemas.microsoft.com/office/powerpoint/2010/main" val="151848515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553998"/>
          </a:xfrm>
          <a:prstGeom prst="rect">
            <a:avLst/>
          </a:prstGeom>
        </p:spPr>
        <p:txBody>
          <a:bodyPr wrap="square">
            <a:spAutoFit/>
          </a:bodyPr>
          <a:lstStyle/>
          <a:p>
            <a:r>
              <a:rPr lang="en-US" b="1" dirty="0" smtClean="0"/>
              <a:t>Kubernetes Arch: </a:t>
            </a:r>
            <a:endParaRPr lang="en-US" b="1" dirty="0"/>
          </a:p>
          <a:p>
            <a:r>
              <a:rPr lang="en-US" sz="1200" dirty="0"/>
              <a:t>Infrastructure with Kubernetes (k3s):</a:t>
            </a:r>
          </a:p>
        </p:txBody>
      </p:sp>
      <p:pic>
        <p:nvPicPr>
          <p:cNvPr id="2" name="Picture 1"/>
          <p:cNvPicPr>
            <a:picLocks noChangeAspect="1"/>
          </p:cNvPicPr>
          <p:nvPr/>
        </p:nvPicPr>
        <p:blipFill>
          <a:blip r:embed="rId3"/>
          <a:stretch>
            <a:fillRect/>
          </a:stretch>
        </p:blipFill>
        <p:spPr>
          <a:xfrm>
            <a:off x="245533" y="1441403"/>
            <a:ext cx="7018867" cy="4402314"/>
          </a:xfrm>
          <a:prstGeom prst="rect">
            <a:avLst/>
          </a:prstGeom>
        </p:spPr>
      </p:pic>
      <p:sp>
        <p:nvSpPr>
          <p:cNvPr id="3" name="Rectangle 2"/>
          <p:cNvSpPr/>
          <p:nvPr/>
        </p:nvSpPr>
        <p:spPr>
          <a:xfrm>
            <a:off x="7382933" y="796181"/>
            <a:ext cx="4419600" cy="5047536"/>
          </a:xfrm>
          <a:prstGeom prst="rect">
            <a:avLst/>
          </a:prstGeom>
        </p:spPr>
        <p:txBody>
          <a:bodyPr wrap="square">
            <a:spAutoFit/>
          </a:bodyPr>
          <a:lstStyle/>
          <a:p>
            <a:pPr algn="just"/>
            <a:r>
              <a:rPr lang="en-US" sz="1400" dirty="0" smtClean="0"/>
              <a:t>Traffic </a:t>
            </a:r>
            <a:r>
              <a:rPr lang="en-US" sz="1400" dirty="0" err="1"/>
              <a:t>comming</a:t>
            </a:r>
            <a:r>
              <a:rPr lang="en-US" sz="1400" dirty="0"/>
              <a:t> from the Internet (via Dynamic DNS) is received by the Router.</a:t>
            </a:r>
          </a:p>
          <a:p>
            <a:pPr marL="342900" indent="-342900" algn="just">
              <a:buFont typeface="+mj-lt"/>
              <a:buAutoNum type="arabicPeriod"/>
            </a:pPr>
            <a:r>
              <a:rPr lang="en-US" sz="1400" dirty="0"/>
              <a:t>The router runs </a:t>
            </a:r>
            <a:r>
              <a:rPr lang="en-US" sz="1400" dirty="0" err="1"/>
              <a:t>OpenWRT</a:t>
            </a:r>
            <a:r>
              <a:rPr lang="en-US" sz="1400" dirty="0"/>
              <a:t> as OS and hosts and manages the VPN using </a:t>
            </a:r>
            <a:r>
              <a:rPr lang="en-US" sz="1400" dirty="0" err="1"/>
              <a:t>Wireguard</a:t>
            </a:r>
            <a:r>
              <a:rPr lang="en-US" sz="1400" dirty="0"/>
              <a:t> (more on this in the Security Section).</a:t>
            </a:r>
          </a:p>
          <a:p>
            <a:pPr marL="342900" indent="-342900" algn="just">
              <a:buFont typeface="+mj-lt"/>
              <a:buAutoNum type="arabicPeriod"/>
            </a:pPr>
            <a:r>
              <a:rPr lang="en-US" sz="1400" dirty="0"/>
              <a:t>Once the request passes the security checks of the VPN, we are inside our Local Area Network (LAN), zone of Linux Servers and for instance, the Kubernetes Cluster.</a:t>
            </a:r>
          </a:p>
          <a:p>
            <a:pPr marL="342900" indent="-342900" algn="just">
              <a:buFont typeface="+mj-lt"/>
              <a:buAutoNum type="arabicPeriod"/>
            </a:pPr>
            <a:r>
              <a:rPr lang="en-US" sz="1400" dirty="0"/>
              <a:t>The Kubernetes Cluster is composed by 2 Nodes running Linux: one node being the master (Kubernetes Control Plane) and the other is a worker.</a:t>
            </a:r>
          </a:p>
          <a:p>
            <a:pPr marL="342900" indent="-342900" algn="just">
              <a:buFont typeface="+mj-lt"/>
              <a:buAutoNum type="arabicPeriod"/>
            </a:pPr>
            <a:r>
              <a:rPr lang="en-US" sz="1400" dirty="0"/>
              <a:t>In Reality both Kubernetes Nodes can act as workers, meaning that the load is distributed between both nodes via Ingress (usually NGINX), which acts as a Load Balancer and Reverse Proxy.</a:t>
            </a:r>
          </a:p>
          <a:p>
            <a:pPr marL="342900" indent="-342900" algn="just">
              <a:buFont typeface="+mj-lt"/>
              <a:buAutoNum type="arabicPeriod"/>
            </a:pPr>
            <a:r>
              <a:rPr lang="en-US" sz="1400" dirty="0"/>
              <a:t>Persistence is handled by NFS (Network File System), which means that there is only one single point where I store my data/information.</a:t>
            </a:r>
          </a:p>
          <a:p>
            <a:pPr marL="342900" indent="-342900" algn="just">
              <a:buFont typeface="+mj-lt"/>
              <a:buAutoNum type="arabicPeriod"/>
            </a:pPr>
            <a:r>
              <a:rPr lang="en-US" sz="1400" dirty="0"/>
              <a:t>The NAS (Network Attached Storage) contains some services specific to it (from Synology) and acts as a drive (via NFS) that both Linux Servers see as a local drive.</a:t>
            </a:r>
          </a:p>
        </p:txBody>
      </p:sp>
    </p:spTree>
    <p:extLst>
      <p:ext uri="{BB962C8B-B14F-4D97-AF65-F5344CB8AC3E}">
        <p14:creationId xmlns:p14="http://schemas.microsoft.com/office/powerpoint/2010/main" val="163218014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169333" y="519182"/>
            <a:ext cx="5410201" cy="646331"/>
          </a:xfrm>
          <a:prstGeom prst="rect">
            <a:avLst/>
          </a:prstGeom>
        </p:spPr>
        <p:txBody>
          <a:bodyPr wrap="square">
            <a:spAutoFit/>
          </a:bodyPr>
          <a:lstStyle/>
          <a:p>
            <a:r>
              <a:rPr lang="en-US" b="1" dirty="0" smtClean="0"/>
              <a:t>Kubernetes : Application Flow </a:t>
            </a:r>
            <a:endParaRPr lang="en-US" b="1" dirty="0"/>
          </a:p>
          <a:p>
            <a:r>
              <a:rPr lang="en-US" dirty="0"/>
              <a:t>H</a:t>
            </a:r>
            <a:r>
              <a:rPr lang="en-US" dirty="0" smtClean="0"/>
              <a:t>osted </a:t>
            </a:r>
            <a:r>
              <a:rPr lang="en-US" dirty="0"/>
              <a:t>app contained in the Kubernetes Cluster?</a:t>
            </a:r>
            <a:endParaRPr lang="en-US" sz="1200" dirty="0"/>
          </a:p>
        </p:txBody>
      </p:sp>
      <p:pic>
        <p:nvPicPr>
          <p:cNvPr id="4" name="Picture 3"/>
          <p:cNvPicPr>
            <a:picLocks noChangeAspect="1"/>
          </p:cNvPicPr>
          <p:nvPr/>
        </p:nvPicPr>
        <p:blipFill>
          <a:blip r:embed="rId3"/>
          <a:stretch>
            <a:fillRect/>
          </a:stretch>
        </p:blipFill>
        <p:spPr>
          <a:xfrm>
            <a:off x="355600" y="1471459"/>
            <a:ext cx="6546850" cy="4712386"/>
          </a:xfrm>
          <a:prstGeom prst="rect">
            <a:avLst/>
          </a:prstGeom>
        </p:spPr>
      </p:pic>
      <p:sp>
        <p:nvSpPr>
          <p:cNvPr id="8" name="Rectangle 7"/>
          <p:cNvSpPr/>
          <p:nvPr/>
        </p:nvSpPr>
        <p:spPr>
          <a:xfrm>
            <a:off x="6902450" y="1031463"/>
            <a:ext cx="5141383" cy="5632311"/>
          </a:xfrm>
          <a:prstGeom prst="rect">
            <a:avLst/>
          </a:prstGeom>
        </p:spPr>
        <p:txBody>
          <a:bodyPr wrap="square">
            <a:spAutoFit/>
          </a:bodyPr>
          <a:lstStyle/>
          <a:p>
            <a:pPr algn="just"/>
            <a:r>
              <a:rPr lang="en-US" dirty="0" smtClean="0"/>
              <a:t>The </a:t>
            </a:r>
            <a:r>
              <a:rPr lang="en-US" dirty="0"/>
              <a:t>flow:</a:t>
            </a:r>
          </a:p>
          <a:p>
            <a:pPr marL="342900" indent="-342900" algn="just">
              <a:buFont typeface="+mj-lt"/>
              <a:buAutoNum type="arabicPeriod"/>
            </a:pPr>
            <a:r>
              <a:rPr lang="en-US" b="1" dirty="0" smtClean="0"/>
              <a:t>A </a:t>
            </a:r>
            <a:r>
              <a:rPr lang="en-US" b="1" dirty="0"/>
              <a:t>request enters our Kubernetes cluster from the outside </a:t>
            </a:r>
            <a:r>
              <a:rPr lang="en-US" dirty="0"/>
              <a:t>(either from the Internet or LAN).</a:t>
            </a:r>
          </a:p>
          <a:p>
            <a:pPr marL="342900" indent="-342900" algn="just">
              <a:buFont typeface="+mj-lt"/>
              <a:buAutoNum type="arabicPeriod"/>
            </a:pPr>
            <a:r>
              <a:rPr lang="en-US" dirty="0"/>
              <a:t>As mentioned before, an Ingress has these main functions:</a:t>
            </a:r>
          </a:p>
          <a:p>
            <a:pPr algn="just"/>
            <a:r>
              <a:rPr lang="en-US" dirty="0" smtClean="0"/>
              <a:t>	a. Load </a:t>
            </a:r>
            <a:r>
              <a:rPr lang="en-US" dirty="0"/>
              <a:t>Balancer: when it is declared as </a:t>
            </a:r>
            <a:r>
              <a:rPr lang="en-US" dirty="0" smtClean="0"/>
              <a:t>	     </a:t>
            </a:r>
            <a:r>
              <a:rPr lang="en-US" dirty="0" err="1" smtClean="0"/>
              <a:t>Service.Type</a:t>
            </a:r>
            <a:r>
              <a:rPr lang="en-US" dirty="0" smtClean="0"/>
              <a:t>=</a:t>
            </a:r>
            <a:r>
              <a:rPr lang="en-US" dirty="0" err="1" smtClean="0"/>
              <a:t>LoadBalancer</a:t>
            </a:r>
            <a:r>
              <a:rPr lang="en-US" dirty="0"/>
              <a:t>.</a:t>
            </a:r>
          </a:p>
          <a:p>
            <a:pPr algn="just"/>
            <a:r>
              <a:rPr lang="en-US" dirty="0" smtClean="0"/>
              <a:t>	b. Reverse </a:t>
            </a:r>
            <a:r>
              <a:rPr lang="en-US" dirty="0"/>
              <a:t>Proxy: exposes HTTP and HTTPS </a:t>
            </a:r>
            <a:r>
              <a:rPr lang="en-US" dirty="0" smtClean="0"/>
              <a:t>	     routes </a:t>
            </a:r>
            <a:r>
              <a:rPr lang="en-US" dirty="0"/>
              <a:t>from outside the cluster to </a:t>
            </a:r>
            <a:r>
              <a:rPr lang="en-US" dirty="0" smtClean="0"/>
              <a:t>	   </a:t>
            </a:r>
          </a:p>
          <a:p>
            <a:pPr algn="just"/>
            <a:r>
              <a:rPr lang="en-US" dirty="0"/>
              <a:t> </a:t>
            </a:r>
            <a:r>
              <a:rPr lang="en-US" dirty="0" smtClean="0"/>
              <a:t>                     services within the cluster.</a:t>
            </a:r>
            <a:endParaRPr lang="en-US" dirty="0"/>
          </a:p>
          <a:p>
            <a:pPr marL="342900" indent="-342900" algn="just">
              <a:buFont typeface="+mj-lt"/>
              <a:buAutoNum type="arabicPeriod" startAt="3"/>
            </a:pPr>
            <a:r>
              <a:rPr lang="en-US" dirty="0"/>
              <a:t>A Service is a method for exposing a network application that is running as one or more Pods in our cluster (if we skip setting up a service, we are not </a:t>
            </a:r>
            <a:r>
              <a:rPr lang="en-US" dirty="0" err="1"/>
              <a:t>gonna</a:t>
            </a:r>
            <a:r>
              <a:rPr lang="en-US" dirty="0"/>
              <a:t> be able to reach our containerized apps).</a:t>
            </a:r>
          </a:p>
          <a:p>
            <a:pPr marL="342900" indent="-342900" algn="just">
              <a:buFont typeface="+mj-lt"/>
              <a:buAutoNum type="arabicPeriod" startAt="3"/>
            </a:pPr>
            <a:r>
              <a:rPr lang="en-US" dirty="0"/>
              <a:t>Pods are the smallest deployable units of computing that we can create and manage. Each of them is a group of one or more containers, with shared storage and network resources, and a specification for how to run the containers.</a:t>
            </a:r>
          </a:p>
        </p:txBody>
      </p:sp>
    </p:spTree>
    <p:extLst>
      <p:ext uri="{BB962C8B-B14F-4D97-AF65-F5344CB8AC3E}">
        <p14:creationId xmlns:p14="http://schemas.microsoft.com/office/powerpoint/2010/main" val="130323614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553998"/>
          </a:xfrm>
          <a:prstGeom prst="rect">
            <a:avLst/>
          </a:prstGeom>
        </p:spPr>
        <p:txBody>
          <a:bodyPr wrap="square">
            <a:spAutoFit/>
          </a:bodyPr>
          <a:lstStyle/>
          <a:p>
            <a:r>
              <a:rPr lang="en-US" b="1" dirty="0" smtClean="0"/>
              <a:t>Kubernetes : Cluster </a:t>
            </a:r>
            <a:endParaRPr lang="en-US" b="1" dirty="0"/>
          </a:p>
          <a:p>
            <a:r>
              <a:rPr lang="en-US" sz="1200" dirty="0" smtClean="0"/>
              <a:t>Setup :</a:t>
            </a:r>
            <a:endParaRPr lang="en-US" sz="1200" dirty="0"/>
          </a:p>
        </p:txBody>
      </p:sp>
      <p:sp>
        <p:nvSpPr>
          <p:cNvPr id="6" name="Rectangle 5"/>
          <p:cNvSpPr/>
          <p:nvPr/>
        </p:nvSpPr>
        <p:spPr>
          <a:xfrm>
            <a:off x="245533" y="1236448"/>
            <a:ext cx="4419600" cy="2862322"/>
          </a:xfrm>
          <a:prstGeom prst="rect">
            <a:avLst/>
          </a:prstGeom>
        </p:spPr>
        <p:txBody>
          <a:bodyPr wrap="square">
            <a:spAutoFit/>
          </a:bodyPr>
          <a:lstStyle/>
          <a:p>
            <a:pPr algn="just"/>
            <a:r>
              <a:rPr lang="en-US" b="1" dirty="0"/>
              <a:t>A </a:t>
            </a:r>
            <a:r>
              <a:rPr lang="en-US" b="1" dirty="0">
                <a:hlinkClick r:id="rId3"/>
              </a:rPr>
              <a:t>LINUX SERVER</a:t>
            </a:r>
            <a:r>
              <a:rPr lang="en-US" b="1" dirty="0"/>
              <a:t> up and running</a:t>
            </a:r>
            <a:r>
              <a:rPr lang="en-US" dirty="0"/>
              <a:t> (if it is just for testing, we could also use a couple of </a:t>
            </a:r>
            <a:r>
              <a:rPr lang="en-US" dirty="0">
                <a:hlinkClick r:id="rId4"/>
              </a:rPr>
              <a:t>VMs</a:t>
            </a:r>
            <a:r>
              <a:rPr lang="en-US" dirty="0"/>
              <a:t>).</a:t>
            </a:r>
          </a:p>
          <a:p>
            <a:pPr algn="just"/>
            <a:r>
              <a:rPr lang="en-US" b="1" dirty="0"/>
              <a:t>SSH (or </a:t>
            </a:r>
            <a:r>
              <a:rPr lang="en-US" b="1" dirty="0">
                <a:hlinkClick r:id="rId5"/>
              </a:rPr>
              <a:t>alternative</a:t>
            </a:r>
            <a:r>
              <a:rPr lang="en-US" b="1" dirty="0"/>
              <a:t>/){: target=”_blank” }) </a:t>
            </a:r>
            <a:r>
              <a:rPr lang="en-US" b="1" dirty="0">
                <a:hlinkClick r:id="rId6"/>
              </a:rPr>
              <a:t>properly configure</a:t>
            </a:r>
            <a:r>
              <a:rPr lang="en-US" dirty="0"/>
              <a:t> in our </a:t>
            </a:r>
            <a:r>
              <a:rPr lang="en-US" dirty="0">
                <a:hlinkClick r:id="rId7"/>
              </a:rPr>
              <a:t>headless server</a:t>
            </a:r>
            <a:r>
              <a:rPr lang="en-US" dirty="0"/>
              <a:t> in order to manage it.</a:t>
            </a:r>
          </a:p>
          <a:p>
            <a:pPr algn="just"/>
            <a:r>
              <a:rPr lang="en-US" b="1" dirty="0"/>
              <a:t>OPTIONAL: NFS up and running</a:t>
            </a:r>
            <a:r>
              <a:rPr lang="en-US" dirty="0"/>
              <a:t> in our server, in case we want to </a:t>
            </a:r>
            <a:r>
              <a:rPr lang="en-US" b="1" dirty="0"/>
              <a:t>store our data/information in an external network drive</a:t>
            </a:r>
            <a:r>
              <a:rPr lang="en-US" dirty="0"/>
              <a:t> outside of our Linux Server.</a:t>
            </a:r>
          </a:p>
        </p:txBody>
      </p:sp>
      <p:sp>
        <p:nvSpPr>
          <p:cNvPr id="8" name="Rectangle 2"/>
          <p:cNvSpPr>
            <a:spLocks noChangeArrowheads="1"/>
          </p:cNvSpPr>
          <p:nvPr/>
        </p:nvSpPr>
        <p:spPr bwMode="auto">
          <a:xfrm>
            <a:off x="4944534" y="959449"/>
            <a:ext cx="7086603" cy="2677656"/>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1.</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8"/>
              </a:rPr>
              <a:t>Install </a:t>
            </a:r>
            <a:r>
              <a:rPr kumimoji="0" lang="en-US" altLang="en-US" sz="1000" b="0" i="0" u="none" strike="noStrike" cap="none" normalizeH="0" baseline="0" dirty="0" smtClean="0">
                <a:ln>
                  <a:noFill/>
                </a:ln>
                <a:solidFill>
                  <a:srgbClr val="333333"/>
                </a:solidFill>
                <a:effectLst/>
                <a:latin typeface="Fira Code"/>
                <a:hlinkClick r:id="rId8"/>
              </a:rPr>
              <a:t>k3s</a:t>
            </a:r>
            <a:r>
              <a:rPr kumimoji="0" lang="en-US" altLang="en-US" sz="1200" b="0" i="0" u="none" strike="noStrike" cap="none" normalizeH="0" baseline="0" dirty="0" smtClean="0">
                <a:ln>
                  <a:noFill/>
                </a:ln>
                <a:solidFill>
                  <a:srgbClr val="333333"/>
                </a:solidFill>
                <a:effectLst/>
                <a:latin typeface="Noto Sans"/>
                <a:hlinkClick r:id="rId8"/>
              </a:rPr>
              <a:t> MASTER and WORKER nodes</a:t>
            </a:r>
            <a:r>
              <a:rPr kumimoji="0" lang="en-US" altLang="en-US" sz="1200" b="0" i="0" u="none" strike="noStrike" cap="none" normalizeH="0" baseline="0" dirty="0" smtClean="0">
                <a:ln>
                  <a:noFill/>
                </a:ln>
                <a:solidFill>
                  <a:srgbClr val="333333"/>
                </a:solidFill>
                <a:effectLst/>
                <a:latin typeface="Noto Sans"/>
              </a:rPr>
              <a:t>.</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2.</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9"/>
              </a:rPr>
              <a:t>Install </a:t>
            </a:r>
            <a:r>
              <a:rPr kumimoji="0" lang="en-US" altLang="en-US" sz="1000" b="0" i="0" u="none" strike="noStrike" cap="none" normalizeH="0" baseline="0" dirty="0" err="1" smtClean="0">
                <a:ln>
                  <a:noFill/>
                </a:ln>
                <a:solidFill>
                  <a:srgbClr val="333333"/>
                </a:solidFill>
                <a:effectLst/>
                <a:latin typeface="Fira Code"/>
                <a:hlinkClick r:id="rId9"/>
              </a:rPr>
              <a:t>kubectl</a:t>
            </a:r>
            <a:r>
              <a:rPr kumimoji="0" lang="en-US" altLang="en-US" sz="1200" b="0" i="0" u="none" strike="noStrike" cap="none" normalizeH="0" baseline="0" dirty="0" smtClean="0">
                <a:ln>
                  <a:noFill/>
                </a:ln>
                <a:solidFill>
                  <a:srgbClr val="333333"/>
                </a:solidFill>
                <a:effectLst/>
                <a:latin typeface="Noto Sans"/>
              </a:rPr>
              <a:t> (if not </a:t>
            </a:r>
            <a:r>
              <a:rPr kumimoji="0" lang="en-US" altLang="en-US" sz="1200" b="0" i="0" u="none" strike="noStrike" cap="none" normalizeH="0" baseline="0" dirty="0" smtClean="0">
                <a:ln>
                  <a:noFill/>
                </a:ln>
                <a:solidFill>
                  <a:srgbClr val="333333"/>
                </a:solidFill>
                <a:effectLst/>
                <a:latin typeface="Noto Sans"/>
                <a:hlinkClick r:id="rId10"/>
              </a:rPr>
              <a:t>already installed</a:t>
            </a:r>
            <a:r>
              <a:rPr kumimoji="0" lang="en-US" altLang="en-US" sz="1200" b="0" i="0" u="none" strike="noStrike" cap="none" normalizeH="0" baseline="0" dirty="0" smtClean="0">
                <a:ln>
                  <a:noFill/>
                </a:ln>
                <a:solidFill>
                  <a:srgbClr val="333333"/>
                </a:solidFill>
                <a:effectLst/>
                <a:latin typeface="Noto Sans"/>
              </a:rPr>
              <a:t> after </a:t>
            </a:r>
            <a:r>
              <a:rPr kumimoji="0" lang="en-US" altLang="en-US" sz="1200" b="1" i="0" u="none" strike="noStrike" cap="none" normalizeH="0" baseline="0" dirty="0" smtClean="0">
                <a:ln>
                  <a:noFill/>
                </a:ln>
                <a:solidFill>
                  <a:srgbClr val="333333"/>
                </a:solidFill>
                <a:effectLst/>
                <a:latin typeface="Noto Sans"/>
              </a:rPr>
              <a:t>Step 1</a:t>
            </a:r>
            <a:r>
              <a:rPr kumimoji="0" lang="en-US" altLang="en-US" sz="1200" b="0" i="0" u="none" strike="noStrike" cap="none" normalizeH="0" baseline="0" dirty="0" smtClean="0">
                <a:ln>
                  <a:noFill/>
                </a:ln>
                <a:solidFill>
                  <a:srgbClr val="333333"/>
                </a:solidFill>
                <a:effectLst/>
                <a:latin typeface="Noto Sans"/>
              </a:rPr>
              <a:t>) in order to </a:t>
            </a:r>
            <a:r>
              <a:rPr kumimoji="0" lang="en-US" altLang="en-US" sz="1200" b="0" i="0" u="none" strike="noStrike" cap="none" normalizeH="0" baseline="0" dirty="0" smtClean="0">
                <a:ln>
                  <a:noFill/>
                </a:ln>
                <a:solidFill>
                  <a:srgbClr val="333333"/>
                </a:solidFill>
                <a:effectLst/>
                <a:latin typeface="Noto Sans"/>
                <a:hlinkClick r:id="rId9"/>
              </a:rPr>
              <a:t>connect remotely to the cluster</a:t>
            </a:r>
            <a:r>
              <a:rPr kumimoji="0" lang="en-US" altLang="en-US" sz="1200" b="0" i="0" u="none" strike="noStrike" cap="none" normalizeH="0" baseline="0" dirty="0" smtClean="0">
                <a:ln>
                  <a:noFill/>
                </a:ln>
                <a:solidFill>
                  <a:srgbClr val="333333"/>
                </a:solidFill>
                <a:effectLst/>
                <a:latin typeface="Noto Sans"/>
              </a:rPr>
              <a:t>.</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3.</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11"/>
              </a:rPr>
              <a:t>Install Helm if necessary</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1" i="0" u="none" strike="noStrike" cap="none" normalizeH="0" baseline="0" dirty="0" smtClean="0">
                <a:ln>
                  <a:noFill/>
                </a:ln>
                <a:solidFill>
                  <a:srgbClr val="333333"/>
                </a:solidFill>
                <a:effectLst/>
                <a:latin typeface="Noto Sans"/>
              </a:rPr>
              <a:t>a package manager for Kubernetes</a:t>
            </a:r>
            <a:r>
              <a:rPr kumimoji="0" lang="en-US" altLang="en-US" sz="1200" b="0" i="0" u="none" strike="noStrike" cap="none" normalizeH="0" baseline="0" dirty="0" smtClean="0">
                <a:ln>
                  <a:noFill/>
                </a:ln>
                <a:solidFill>
                  <a:srgbClr val="333333"/>
                </a:solidFill>
                <a:effectLst/>
                <a:latin typeface="Noto Sans"/>
              </a:rPr>
              <a:t>, which will facilitate actually installing packages in our cluster.</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4.</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12"/>
              </a:rPr>
              <a:t>Setup a Load Balancer</a:t>
            </a:r>
            <a:r>
              <a:rPr kumimoji="0" lang="en-US" altLang="en-US" sz="1200" b="0" i="0" u="none" strike="noStrike" cap="none" normalizeH="0" baseline="0" dirty="0" smtClean="0">
                <a:ln>
                  <a:noFill/>
                </a:ln>
                <a:solidFill>
                  <a:srgbClr val="333333"/>
                </a:solidFill>
                <a:effectLst/>
                <a:latin typeface="Noto Sans"/>
              </a:rPr>
              <a:t>. </a:t>
            </a:r>
            <a:r>
              <a:rPr kumimoji="0" lang="en-US" altLang="en-US" sz="1000" b="0" i="0" u="none" strike="noStrike" cap="none" normalizeH="0" baseline="0" dirty="0" smtClean="0">
                <a:ln>
                  <a:noFill/>
                </a:ln>
                <a:solidFill>
                  <a:srgbClr val="333333"/>
                </a:solidFill>
                <a:effectLst/>
                <a:latin typeface="Fira Code"/>
              </a:rPr>
              <a:t>k3s</a:t>
            </a:r>
            <a:r>
              <a:rPr kumimoji="0" lang="en-US" altLang="en-US" sz="1200" b="0" i="0" u="none" strike="noStrike" cap="none" normalizeH="0" baseline="0" dirty="0" smtClean="0">
                <a:ln>
                  <a:noFill/>
                </a:ln>
                <a:solidFill>
                  <a:srgbClr val="333333"/>
                </a:solidFill>
                <a:effectLst/>
                <a:latin typeface="Noto Sans"/>
              </a:rPr>
              <a:t> already comes with </a:t>
            </a:r>
            <a:r>
              <a:rPr kumimoji="0" lang="en-US" altLang="en-US" sz="1000" b="0" i="0" u="none" strike="noStrike" cap="none" normalizeH="0" baseline="0" dirty="0" err="1" smtClean="0">
                <a:ln>
                  <a:noFill/>
                </a:ln>
                <a:solidFill>
                  <a:srgbClr val="333333"/>
                </a:solidFill>
                <a:effectLst/>
                <a:latin typeface="Fira Code"/>
              </a:rPr>
              <a:t>ServiceLB</a:t>
            </a:r>
            <a:r>
              <a:rPr kumimoji="0" lang="en-US" altLang="en-US" sz="1200" b="0" i="0" u="none" strike="noStrike" cap="none" normalizeH="0" baseline="0" dirty="0" smtClean="0">
                <a:ln>
                  <a:noFill/>
                </a:ln>
                <a:solidFill>
                  <a:srgbClr val="333333"/>
                </a:solidFill>
                <a:effectLst/>
                <a:latin typeface="Noto Sans"/>
              </a:rPr>
              <a:t>, but I found </a:t>
            </a:r>
            <a:r>
              <a:rPr kumimoji="0" lang="en-US" altLang="en-US" sz="1200" b="0" i="0" u="none" strike="noStrike" cap="none" normalizeH="0" baseline="0" dirty="0" err="1" smtClean="0">
                <a:ln>
                  <a:noFill/>
                </a:ln>
                <a:solidFill>
                  <a:srgbClr val="333333"/>
                </a:solidFill>
                <a:effectLst/>
                <a:latin typeface="Noto Sans"/>
                <a:hlinkClick r:id="rId13"/>
              </a:rPr>
              <a:t>MetalLB</a:t>
            </a:r>
            <a:r>
              <a:rPr kumimoji="0" lang="en-US" altLang="en-US" sz="1200" b="0" i="0" u="none" strike="noStrike" cap="none" normalizeH="0" baseline="0" dirty="0" smtClean="0">
                <a:ln>
                  <a:noFill/>
                </a:ln>
                <a:solidFill>
                  <a:srgbClr val="333333"/>
                </a:solidFill>
                <a:effectLst/>
                <a:latin typeface="Noto Sans"/>
              </a:rPr>
              <a:t> the </a:t>
            </a:r>
            <a:r>
              <a:rPr kumimoji="0" lang="en-US" altLang="en-US" sz="1200" b="1" i="0" u="none" strike="noStrike" cap="none" normalizeH="0" baseline="0" dirty="0" smtClean="0">
                <a:ln>
                  <a:noFill/>
                </a:ln>
                <a:solidFill>
                  <a:srgbClr val="333333"/>
                </a:solidFill>
                <a:effectLst/>
                <a:latin typeface="Noto Sans"/>
              </a:rPr>
              <a:t>right option for bare metal,</a:t>
            </a:r>
            <a:r>
              <a:rPr kumimoji="0" lang="en-US" altLang="en-US" sz="1200" b="0" i="0" u="none" strike="noStrike" cap="none" normalizeH="0" baseline="0" dirty="0" smtClean="0">
                <a:ln>
                  <a:noFill/>
                </a:ln>
                <a:solidFill>
                  <a:srgbClr val="333333"/>
                </a:solidFill>
                <a:effectLst/>
                <a:latin typeface="Noto Sans"/>
              </a:rPr>
              <a:t> because it makes the setup easier on </a:t>
            </a:r>
            <a:r>
              <a:rPr kumimoji="0" lang="en-US" altLang="en-US" sz="1200" b="1" i="0" u="none" strike="noStrike" cap="none" normalizeH="0" baseline="0" dirty="0" smtClean="0">
                <a:ln>
                  <a:noFill/>
                </a:ln>
                <a:solidFill>
                  <a:srgbClr val="333333"/>
                </a:solidFill>
                <a:effectLst/>
                <a:latin typeface="Noto Sans"/>
              </a:rPr>
              <a:t>clusters that are not running on cloud providers</a:t>
            </a:r>
            <a:r>
              <a:rPr kumimoji="0" lang="en-US" altLang="en-US" sz="1200" b="0" i="0" u="none" strike="noStrike" cap="none" normalizeH="0" baseline="0" dirty="0" smtClean="0">
                <a:ln>
                  <a:noFill/>
                </a:ln>
                <a:solidFill>
                  <a:srgbClr val="333333"/>
                </a:solidFill>
                <a:effectLst/>
                <a:latin typeface="Noto Sans"/>
              </a:rPr>
              <a:t> (we have to disable </a:t>
            </a:r>
            <a:r>
              <a:rPr kumimoji="0" lang="en-US" altLang="en-US" sz="1000" b="0" i="0" u="none" strike="noStrike" cap="none" normalizeH="0" baseline="0" dirty="0" err="1" smtClean="0">
                <a:ln>
                  <a:noFill/>
                </a:ln>
                <a:solidFill>
                  <a:srgbClr val="333333"/>
                </a:solidFill>
                <a:effectLst/>
                <a:latin typeface="Fira Code"/>
                <a:hlinkClick r:id="rId14"/>
              </a:rPr>
              <a:t>ServiceLB</a:t>
            </a:r>
            <a:r>
              <a:rPr kumimoji="0" lang="en-US" altLang="en-US" sz="1200" b="0" i="0" u="none" strike="noStrike" cap="none" normalizeH="0" baseline="0" dirty="0" smtClean="0">
                <a:ln>
                  <a:noFill/>
                </a:ln>
                <a:solidFill>
                  <a:srgbClr val="333333"/>
                </a:solidFill>
                <a:effectLst/>
                <a:latin typeface="Noto Sans"/>
              </a:rPr>
              <a:t> though){: target=”_blank” }.</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5.</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15"/>
              </a:rPr>
              <a:t>Install Nginx Web/Reverse Proxy</a:t>
            </a:r>
            <a:r>
              <a:rPr kumimoji="0" lang="en-US" altLang="en-US" sz="1200" b="0" i="0" u="none" strike="noStrike" cap="none" normalizeH="0" baseline="0" dirty="0" smtClean="0">
                <a:ln>
                  <a:noFill/>
                </a:ln>
                <a:solidFill>
                  <a:srgbClr val="333333"/>
                </a:solidFill>
                <a:effectLst/>
                <a:latin typeface="Noto Sans"/>
              </a:rPr>
              <a:t>, which is our </a:t>
            </a:r>
            <a:r>
              <a:rPr kumimoji="0" lang="en-US" altLang="en-US" sz="1200" b="0" i="0" u="none" strike="noStrike" cap="none" normalizeH="0" baseline="0" dirty="0" smtClean="0">
                <a:ln>
                  <a:noFill/>
                </a:ln>
                <a:solidFill>
                  <a:srgbClr val="333333"/>
                </a:solidFill>
                <a:effectLst/>
                <a:latin typeface="Noto Sans"/>
                <a:hlinkClick r:id="rId16"/>
              </a:rPr>
              <a:t>Ingress</a:t>
            </a:r>
            <a:r>
              <a:rPr kumimoji="0" lang="en-US" altLang="en-US" sz="1200" b="0" i="0" u="none" strike="noStrike" cap="none" normalizeH="0" baseline="0" dirty="0" smtClean="0">
                <a:ln>
                  <a:noFill/>
                </a:ln>
                <a:solidFill>
                  <a:srgbClr val="333333"/>
                </a:solidFill>
                <a:effectLst/>
                <a:latin typeface="Noto Sans"/>
              </a:rPr>
              <a:t>, in order to </a:t>
            </a:r>
            <a:r>
              <a:rPr kumimoji="0" lang="en-US" altLang="en-US" sz="1200" b="1" i="0" u="none" strike="noStrike" cap="none" normalizeH="0" baseline="0" dirty="0" smtClean="0">
                <a:ln>
                  <a:noFill/>
                </a:ln>
                <a:solidFill>
                  <a:srgbClr val="333333"/>
                </a:solidFill>
                <a:effectLst/>
                <a:latin typeface="Noto Sans"/>
              </a:rPr>
              <a:t>expose HTTP and HTTPS routes</a:t>
            </a:r>
            <a:r>
              <a:rPr kumimoji="0" lang="en-US" altLang="en-US" sz="1200" b="0" i="0" u="none" strike="noStrike" cap="none" normalizeH="0" baseline="0" dirty="0" smtClean="0">
                <a:ln>
                  <a:noFill/>
                </a:ln>
                <a:solidFill>
                  <a:srgbClr val="333333"/>
                </a:solidFill>
                <a:effectLst/>
                <a:latin typeface="Noto Sans"/>
              </a:rPr>
              <a:t> from outside the cluster to services within the cluster. </a:t>
            </a:r>
            <a:r>
              <a:rPr kumimoji="0" lang="en-US" altLang="en-US" sz="1000" b="0" i="0" u="none" strike="noStrike" cap="none" normalizeH="0" baseline="0" dirty="0" smtClean="0">
                <a:ln>
                  <a:noFill/>
                </a:ln>
                <a:solidFill>
                  <a:srgbClr val="333333"/>
                </a:solidFill>
                <a:effectLst/>
                <a:latin typeface="Fira Code"/>
              </a:rPr>
              <a:t>k3s</a:t>
            </a:r>
            <a:r>
              <a:rPr kumimoji="0" lang="en-US" altLang="en-US" sz="1200" b="0" i="0" u="none" strike="noStrike" cap="none" normalizeH="0" baseline="0" dirty="0" smtClean="0">
                <a:ln>
                  <a:noFill/>
                </a:ln>
                <a:solidFill>
                  <a:srgbClr val="333333"/>
                </a:solidFill>
                <a:effectLst/>
                <a:latin typeface="Noto Sans"/>
              </a:rPr>
              <a:t> recommends another option too: </a:t>
            </a:r>
            <a:r>
              <a:rPr kumimoji="0" lang="en-US" altLang="en-US" sz="1200" b="0" i="0" u="none" strike="noStrike" cap="none" normalizeH="0" baseline="0" dirty="0" err="1" smtClean="0">
                <a:ln>
                  <a:noFill/>
                </a:ln>
                <a:solidFill>
                  <a:srgbClr val="333333"/>
                </a:solidFill>
                <a:effectLst/>
                <a:latin typeface="Noto Sans"/>
                <a:hlinkClick r:id="rId17"/>
              </a:rPr>
              <a:t>Traefik</a:t>
            </a:r>
            <a:r>
              <a:rPr kumimoji="0" lang="en-US" altLang="en-US" sz="1200" b="0" i="0" u="none" strike="noStrike" cap="none" normalizeH="0" baseline="0" dirty="0" smtClean="0">
                <a:ln>
                  <a:noFill/>
                </a:ln>
                <a:solidFill>
                  <a:srgbClr val="333333"/>
                </a:solidFill>
                <a:effectLst/>
                <a:latin typeface="Noto Sans"/>
              </a:rPr>
              <a:t>, so up to you.</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6.</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18"/>
              </a:rPr>
              <a:t>Install</a:t>
            </a:r>
            <a:r>
              <a:rPr kumimoji="0" lang="en-US" altLang="en-US" sz="1200" b="0" i="0" u="none" strike="noStrike" cap="none" normalizeH="0" baseline="0" dirty="0" smtClean="0">
                <a:ln>
                  <a:noFill/>
                </a:ln>
                <a:solidFill>
                  <a:srgbClr val="333333"/>
                </a:solidFill>
                <a:effectLst/>
                <a:latin typeface="Noto Sans"/>
              </a:rPr>
              <a:t> and </a:t>
            </a:r>
            <a:r>
              <a:rPr kumimoji="0" lang="en-US" altLang="en-US" sz="1200" b="0" i="0" u="none" strike="noStrike" cap="none" normalizeH="0" baseline="0" dirty="0" smtClean="0">
                <a:ln>
                  <a:noFill/>
                </a:ln>
                <a:solidFill>
                  <a:srgbClr val="333333"/>
                </a:solidFill>
                <a:effectLst/>
                <a:latin typeface="Noto Sans"/>
                <a:hlinkClick r:id="rId19"/>
              </a:rPr>
              <a:t>configure cert-manager</a:t>
            </a:r>
            <a:r>
              <a:rPr kumimoji="0" lang="en-US" altLang="en-US" sz="1200" b="0" i="0" u="none" strike="noStrike" cap="none" normalizeH="0" baseline="0" dirty="0" smtClean="0">
                <a:ln>
                  <a:noFill/>
                </a:ln>
                <a:solidFill>
                  <a:srgbClr val="333333"/>
                </a:solidFill>
                <a:effectLst/>
                <a:latin typeface="Noto Sans"/>
              </a:rPr>
              <a:t>. I would label this as </a:t>
            </a:r>
            <a:r>
              <a:rPr kumimoji="0" lang="en-US" altLang="en-US" sz="1200" b="1" i="0" u="none" strike="noStrike" cap="none" normalizeH="0" baseline="0" dirty="0" smtClean="0">
                <a:ln>
                  <a:noFill/>
                </a:ln>
                <a:solidFill>
                  <a:srgbClr val="333333"/>
                </a:solidFill>
                <a:effectLst/>
                <a:latin typeface="Noto Sans"/>
              </a:rPr>
              <a:t>OPTIONAL</a:t>
            </a:r>
            <a:r>
              <a:rPr kumimoji="0" lang="en-US" altLang="en-US" sz="1200" b="0" i="0" u="none" strike="noStrike" cap="none" normalizeH="0" baseline="0" dirty="0" smtClean="0">
                <a:ln>
                  <a:noFill/>
                </a:ln>
                <a:solidFill>
                  <a:srgbClr val="333333"/>
                </a:solidFill>
                <a:effectLst/>
                <a:latin typeface="Noto Sans"/>
              </a:rPr>
              <a:t> but I guess we want to be able to have </a:t>
            </a:r>
            <a:r>
              <a:rPr kumimoji="0" lang="en-US" altLang="en-US" sz="1200" b="0" i="0" u="none" strike="noStrike" cap="none" normalizeH="0" baseline="0" dirty="0" smtClean="0">
                <a:ln>
                  <a:noFill/>
                </a:ln>
                <a:solidFill>
                  <a:srgbClr val="333333"/>
                </a:solidFill>
                <a:effectLst/>
                <a:latin typeface="Noto Sans"/>
                <a:hlinkClick r:id="rId20"/>
              </a:rPr>
              <a:t>valid SSL/TSL Certificates</a:t>
            </a:r>
            <a:r>
              <a:rPr kumimoji="0" lang="en-US" altLang="en-US" sz="1200" b="0" i="0" u="none" strike="noStrike" cap="none" normalizeH="0" baseline="0" dirty="0" smtClean="0">
                <a:ln>
                  <a:noFill/>
                </a:ln>
                <a:solidFill>
                  <a:srgbClr val="333333"/>
                </a:solidFill>
                <a:effectLst/>
                <a:latin typeface="Noto Sans"/>
              </a:rPr>
              <a:t> to </a:t>
            </a:r>
            <a:r>
              <a:rPr kumimoji="0" lang="en-US" altLang="en-US" sz="1200" b="1" i="0" u="none" strike="noStrike" cap="none" normalizeH="0" baseline="0" dirty="0" smtClean="0">
                <a:ln>
                  <a:noFill/>
                </a:ln>
                <a:solidFill>
                  <a:srgbClr val="333333"/>
                </a:solidFill>
                <a:effectLst/>
                <a:latin typeface="Noto Sans"/>
              </a:rPr>
              <a:t>avoid our browser warning us when accessing our hosted applications</a:t>
            </a:r>
            <a:r>
              <a:rPr kumimoji="0" lang="en-US" altLang="en-US" sz="1200" b="0" i="0" u="none" strike="noStrike" cap="none" normalizeH="0" baseline="0" dirty="0" smtClean="0">
                <a:ln>
                  <a:noFill/>
                </a:ln>
                <a:solidFill>
                  <a:srgbClr val="333333"/>
                </a:solidFill>
                <a:effectLst/>
                <a:latin typeface="Noto Sans"/>
              </a:rPr>
              <a:t>.</a:t>
            </a:r>
            <a:endParaRPr kumimoji="0" lang="en-US" altLang="en-US" sz="800" b="0" i="0" u="none" strike="noStrike" cap="none" normalizeH="0" baseline="0" dirty="0" smtClean="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1" i="0" u="none" strike="noStrike" cap="none" normalizeH="0" baseline="0" dirty="0" smtClean="0">
                <a:ln>
                  <a:noFill/>
                </a:ln>
                <a:solidFill>
                  <a:srgbClr val="333333"/>
                </a:solidFill>
                <a:effectLst/>
                <a:latin typeface="Noto Sans"/>
              </a:rPr>
              <a:t>7.</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21"/>
              </a:rPr>
              <a:t>Deploy and configure</a:t>
            </a:r>
            <a:r>
              <a:rPr kumimoji="0" lang="en-US" altLang="en-US" sz="1200" b="0" i="0" u="none" strike="noStrike" cap="none" normalizeH="0" baseline="0" dirty="0" smtClean="0">
                <a:ln>
                  <a:noFill/>
                </a:ln>
                <a:solidFill>
                  <a:srgbClr val="333333"/>
                </a:solidFill>
                <a:effectLst/>
                <a:latin typeface="Noto Sans"/>
              </a:rPr>
              <a:t> </a:t>
            </a:r>
            <a:r>
              <a:rPr kumimoji="0" lang="en-US" altLang="en-US" sz="1200" b="0" i="0" u="none" strike="noStrike" cap="none" normalizeH="0" baseline="0" dirty="0" smtClean="0">
                <a:ln>
                  <a:noFill/>
                </a:ln>
                <a:solidFill>
                  <a:srgbClr val="333333"/>
                </a:solidFill>
                <a:effectLst/>
                <a:latin typeface="Noto Sans"/>
                <a:hlinkClick r:id="rId22"/>
              </a:rPr>
              <a:t>Kubernetes Dashboard</a:t>
            </a:r>
            <a:r>
              <a:rPr kumimoji="0" lang="en-US" altLang="en-US" sz="1200" b="0" i="0" u="none" strike="noStrike" cap="none" normalizeH="0" baseline="0" dirty="0" smtClean="0">
                <a:ln>
                  <a:noFill/>
                </a:ln>
                <a:solidFill>
                  <a:srgbClr val="333333"/>
                </a:solidFill>
                <a:effectLst/>
                <a:latin typeface="Noto Sans"/>
              </a:rPr>
              <a:t>, which is a </a:t>
            </a:r>
            <a:r>
              <a:rPr kumimoji="0" lang="en-US" altLang="en-US" sz="1200" b="1" i="0" u="none" strike="noStrike" cap="none" normalizeH="0" baseline="0" dirty="0" smtClean="0">
                <a:ln>
                  <a:noFill/>
                </a:ln>
                <a:solidFill>
                  <a:srgbClr val="333333"/>
                </a:solidFill>
                <a:effectLst/>
                <a:latin typeface="Noto Sans"/>
              </a:rPr>
              <a:t>web-based Kubernetes user interface</a:t>
            </a:r>
            <a:r>
              <a:rPr kumimoji="0" lang="en-US" altLang="en-US" sz="1200" b="0" i="0" u="none" strike="noStrike" cap="none" normalizeH="0" baseline="0" dirty="0" smtClean="0">
                <a:ln>
                  <a:noFill/>
                </a:ln>
                <a:solidFill>
                  <a:srgbClr val="333333"/>
                </a:solidFill>
                <a:effectLst/>
                <a:latin typeface="Noto Sans"/>
              </a:rPr>
              <a:t>.</a:t>
            </a: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
        <p:nvSpPr>
          <p:cNvPr id="9" name="Rectangle 8"/>
          <p:cNvSpPr/>
          <p:nvPr/>
        </p:nvSpPr>
        <p:spPr>
          <a:xfrm>
            <a:off x="5223931" y="4473148"/>
            <a:ext cx="6968069" cy="1600438"/>
          </a:xfrm>
          <a:prstGeom prst="rect">
            <a:avLst/>
          </a:prstGeom>
          <a:solidFill>
            <a:schemeClr val="tx1"/>
          </a:solidFill>
        </p:spPr>
        <p:txBody>
          <a:bodyPr wrap="square">
            <a:spAutoFit/>
          </a:bodyPr>
          <a:lstStyle/>
          <a:p>
            <a:pPr algn="just"/>
            <a:r>
              <a:rPr lang="en-US" sz="1400" dirty="0" err="1">
                <a:solidFill>
                  <a:schemeClr val="bg1">
                    <a:lumMod val="95000"/>
                  </a:schemeClr>
                </a:solidFill>
              </a:rPr>
              <a:t>root@administrator</a:t>
            </a:r>
            <a:r>
              <a:rPr lang="en-US" sz="1400" dirty="0">
                <a:solidFill>
                  <a:schemeClr val="bg1">
                    <a:lumMod val="95000"/>
                  </a:schemeClr>
                </a:solidFill>
              </a:rPr>
              <a:t>:/home/panda/GPU2# </a:t>
            </a:r>
            <a:endParaRPr lang="en-US" sz="1400" dirty="0" smtClean="0">
              <a:solidFill>
                <a:schemeClr val="bg1">
                  <a:lumMod val="95000"/>
                </a:schemeClr>
              </a:solidFill>
            </a:endParaRPr>
          </a:p>
          <a:p>
            <a:pPr algn="just"/>
            <a:endParaRPr lang="en-US" sz="1400" dirty="0" smtClean="0">
              <a:solidFill>
                <a:schemeClr val="bg1">
                  <a:lumMod val="95000"/>
                </a:schemeClr>
              </a:solidFill>
            </a:endParaRPr>
          </a:p>
          <a:p>
            <a:pPr algn="just"/>
            <a:r>
              <a:rPr lang="en-US" sz="1400" dirty="0">
                <a:solidFill>
                  <a:schemeClr val="bg1">
                    <a:lumMod val="95000"/>
                  </a:schemeClr>
                </a:solidFill>
              </a:rPr>
              <a:t>$ </a:t>
            </a:r>
            <a:r>
              <a:rPr lang="en-US" sz="1400" dirty="0" err="1">
                <a:solidFill>
                  <a:schemeClr val="bg1">
                    <a:lumMod val="95000"/>
                  </a:schemeClr>
                </a:solidFill>
              </a:rPr>
              <a:t>kubectl</a:t>
            </a:r>
            <a:r>
              <a:rPr lang="en-US" sz="1400" dirty="0">
                <a:solidFill>
                  <a:schemeClr val="bg1">
                    <a:lumMod val="95000"/>
                  </a:schemeClr>
                </a:solidFill>
              </a:rPr>
              <a:t> get nodes -o wide</a:t>
            </a:r>
          </a:p>
          <a:p>
            <a:pPr algn="just"/>
            <a:endParaRPr lang="en-US" sz="1400" dirty="0">
              <a:solidFill>
                <a:schemeClr val="bg1">
                  <a:lumMod val="95000"/>
                </a:schemeClr>
              </a:solidFill>
            </a:endParaRPr>
          </a:p>
          <a:p>
            <a:pPr algn="just"/>
            <a:r>
              <a:rPr lang="en-US" sz="1400" dirty="0">
                <a:solidFill>
                  <a:schemeClr val="bg1">
                    <a:lumMod val="95000"/>
                  </a:schemeClr>
                </a:solidFill>
              </a:rPr>
              <a:t>NAME           STATUS   ROLES    AGE     VERSION         INTERNAL-IP    EXTERNAL-IP</a:t>
            </a:r>
          </a:p>
          <a:p>
            <a:pPr algn="just"/>
            <a:r>
              <a:rPr lang="en-US" sz="1400" dirty="0" err="1">
                <a:solidFill>
                  <a:schemeClr val="bg1">
                    <a:lumMod val="95000"/>
                  </a:schemeClr>
                </a:solidFill>
              </a:rPr>
              <a:t>kube</a:t>
            </a:r>
            <a:r>
              <a:rPr lang="en-US" sz="1400" dirty="0">
                <a:solidFill>
                  <a:schemeClr val="bg1">
                    <a:lumMod val="95000"/>
                  </a:schemeClr>
                </a:solidFill>
              </a:rPr>
              <a:t>-master    Ready    master   44h     v1.25.0+k3s.1   192.168.0.22   &lt;none&gt;</a:t>
            </a:r>
          </a:p>
          <a:p>
            <a:pPr algn="just"/>
            <a:r>
              <a:rPr lang="en-US" sz="1400" dirty="0" err="1">
                <a:solidFill>
                  <a:schemeClr val="bg1">
                    <a:lumMod val="95000"/>
                  </a:schemeClr>
                </a:solidFill>
              </a:rPr>
              <a:t>kube</a:t>
            </a:r>
            <a:r>
              <a:rPr lang="en-US" sz="1400" dirty="0">
                <a:solidFill>
                  <a:schemeClr val="bg1">
                    <a:lumMod val="95000"/>
                  </a:schemeClr>
                </a:solidFill>
              </a:rPr>
              <a:t>-worker    Ready    &lt;none&gt;   2m47s   v1.25.0+k3s.1   192.168.0.23   &lt;none&gt;</a:t>
            </a:r>
            <a:endParaRPr lang="en-US" sz="1400" b="1" dirty="0">
              <a:solidFill>
                <a:srgbClr val="00B0F0"/>
              </a:solidFill>
            </a:endParaRPr>
          </a:p>
        </p:txBody>
      </p:sp>
    </p:spTree>
    <p:extLst>
      <p:ext uri="{BB962C8B-B14F-4D97-AF65-F5344CB8AC3E}">
        <p14:creationId xmlns:p14="http://schemas.microsoft.com/office/powerpoint/2010/main" val="49551758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369332"/>
          </a:xfrm>
          <a:prstGeom prst="rect">
            <a:avLst/>
          </a:prstGeom>
        </p:spPr>
        <p:txBody>
          <a:bodyPr wrap="square">
            <a:spAutoFit/>
          </a:bodyPr>
          <a:lstStyle/>
          <a:p>
            <a:r>
              <a:rPr lang="en-US" b="1" dirty="0" smtClean="0"/>
              <a:t>Kubernetes </a:t>
            </a:r>
            <a:r>
              <a:rPr lang="en-US" b="1" dirty="0" err="1" smtClean="0"/>
              <a:t>Dasboard</a:t>
            </a:r>
            <a:r>
              <a:rPr lang="en-US" b="1" dirty="0" smtClean="0"/>
              <a:t> </a:t>
            </a:r>
            <a:endParaRPr lang="en-US" b="1" dirty="0"/>
          </a:p>
        </p:txBody>
      </p:sp>
      <p:pic>
        <p:nvPicPr>
          <p:cNvPr id="2" name="Picture 1"/>
          <p:cNvPicPr>
            <a:picLocks noChangeAspect="1"/>
          </p:cNvPicPr>
          <p:nvPr/>
        </p:nvPicPr>
        <p:blipFill>
          <a:blip r:embed="rId3"/>
          <a:stretch>
            <a:fillRect/>
          </a:stretch>
        </p:blipFill>
        <p:spPr>
          <a:xfrm>
            <a:off x="2184400" y="1431679"/>
            <a:ext cx="6565899" cy="3957528"/>
          </a:xfrm>
          <a:prstGeom prst="rect">
            <a:avLst/>
          </a:prstGeom>
        </p:spPr>
      </p:pic>
    </p:spTree>
    <p:extLst>
      <p:ext uri="{BB962C8B-B14F-4D97-AF65-F5344CB8AC3E}">
        <p14:creationId xmlns:p14="http://schemas.microsoft.com/office/powerpoint/2010/main" val="171275726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646331"/>
          </a:xfrm>
          <a:prstGeom prst="rect">
            <a:avLst/>
          </a:prstGeom>
        </p:spPr>
        <p:txBody>
          <a:bodyPr wrap="square">
            <a:spAutoFit/>
          </a:bodyPr>
          <a:lstStyle/>
          <a:p>
            <a:r>
              <a:rPr lang="en-US" b="1" dirty="0" smtClean="0"/>
              <a:t>Kubernetes : </a:t>
            </a:r>
            <a:r>
              <a:rPr lang="en-US" b="1" dirty="0"/>
              <a:t>Administration</a:t>
            </a:r>
          </a:p>
          <a:p>
            <a:endParaRPr lang="en-US" b="1" dirty="0"/>
          </a:p>
        </p:txBody>
      </p:sp>
      <p:sp>
        <p:nvSpPr>
          <p:cNvPr id="2" name="Rectangle 1"/>
          <p:cNvSpPr>
            <a:spLocks noChangeArrowheads="1"/>
          </p:cNvSpPr>
          <p:nvPr/>
        </p:nvSpPr>
        <p:spPr bwMode="auto">
          <a:xfrm>
            <a:off x="245533" y="1165513"/>
            <a:ext cx="3801534" cy="2046714"/>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smtClean="0">
                <a:ln>
                  <a:noFill/>
                </a:ln>
                <a:solidFill>
                  <a:srgbClr val="333333"/>
                </a:solidFill>
                <a:effectLst/>
                <a:latin typeface="Noto Sans"/>
              </a:rPr>
              <a:t>We have a </a:t>
            </a:r>
            <a:r>
              <a:rPr kumimoji="0" lang="en-US" altLang="en-US" sz="1600" b="1" i="0" u="none" strike="noStrike" cap="none" normalizeH="0" baseline="0" dirty="0" smtClean="0">
                <a:ln>
                  <a:noFill/>
                </a:ln>
                <a:solidFill>
                  <a:srgbClr val="333333"/>
                </a:solidFill>
                <a:effectLst/>
                <a:latin typeface="Noto Sans"/>
              </a:rPr>
              <a:t>variety of tools</a:t>
            </a:r>
            <a:r>
              <a:rPr kumimoji="0" lang="en-US" altLang="en-US" sz="1600" b="0" i="0" u="none" strike="noStrike" cap="none" normalizeH="0" baseline="0" dirty="0" smtClean="0">
                <a:ln>
                  <a:noFill/>
                </a:ln>
                <a:solidFill>
                  <a:srgbClr val="333333"/>
                </a:solidFill>
                <a:effectLst/>
                <a:latin typeface="Noto Sans"/>
              </a:rPr>
              <a:t> in this area:</a:t>
            </a:r>
            <a:endParaRPr kumimoji="0" lang="en-US" altLang="en-US" sz="1600" b="0" i="0" u="none" strike="noStrike" cap="none" normalizeH="0" baseline="0" dirty="0" smtClean="0">
              <a:ln>
                <a:noFill/>
              </a:ln>
              <a:solidFill>
                <a:schemeClr val="tx1"/>
              </a:solidFill>
              <a:effectLst/>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600" b="0" i="0" u="none" strike="noStrike" cap="none" normalizeH="0" baseline="0" dirty="0" err="1" smtClean="0">
                <a:ln>
                  <a:noFill/>
                </a:ln>
                <a:solidFill>
                  <a:srgbClr val="333333"/>
                </a:solidFill>
                <a:effectLst/>
                <a:latin typeface="Fira Code"/>
                <a:hlinkClick r:id="rId3"/>
              </a:rPr>
              <a:t>kubectl</a:t>
            </a:r>
            <a:r>
              <a:rPr kumimoji="0" lang="en-US" altLang="en-US" sz="1600" b="0" i="0" u="none" strike="noStrike" cap="none" normalizeH="0" baseline="0" dirty="0" smtClean="0">
                <a:ln>
                  <a:noFill/>
                </a:ln>
                <a:solidFill>
                  <a:srgbClr val="333333"/>
                </a:solidFill>
                <a:effectLst/>
                <a:latin typeface="Noto Sans"/>
              </a:rPr>
              <a:t> </a:t>
            </a:r>
            <a:r>
              <a:rPr kumimoji="0" lang="en-US" altLang="en-US" sz="1600" b="1" i="0" u="none" strike="noStrike" cap="none" normalizeH="0" baseline="0" dirty="0" smtClean="0">
                <a:ln>
                  <a:noFill/>
                </a:ln>
                <a:solidFill>
                  <a:srgbClr val="333333"/>
                </a:solidFill>
                <a:effectLst/>
                <a:latin typeface="Noto Sans"/>
              </a:rPr>
              <a:t>(already installed).</a:t>
            </a:r>
            <a:endParaRPr kumimoji="0" lang="en-US" altLang="en-US" sz="1600" b="0" i="0" u="none" strike="noStrike" cap="none" normalizeH="0" baseline="0" dirty="0" smtClean="0">
              <a:ln>
                <a:noFill/>
              </a:ln>
              <a:solidFill>
                <a:srgbClr val="333333"/>
              </a:solidFill>
              <a:effectLst/>
              <a:latin typeface="Noto Sans"/>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600" b="0" i="0" u="none" strike="noStrike" cap="none" normalizeH="0" baseline="0" dirty="0" smtClean="0">
                <a:ln>
                  <a:noFill/>
                </a:ln>
                <a:solidFill>
                  <a:srgbClr val="333333"/>
                </a:solidFill>
                <a:effectLst/>
                <a:latin typeface="Noto Sans"/>
                <a:hlinkClick r:id="rId4"/>
              </a:rPr>
              <a:t>Kubernetes Dashboard</a:t>
            </a:r>
            <a:r>
              <a:rPr kumimoji="0" lang="en-US" altLang="en-US" sz="1600" b="0" i="0" u="none" strike="noStrike" cap="none" normalizeH="0" baseline="0" dirty="0" smtClean="0">
                <a:ln>
                  <a:noFill/>
                </a:ln>
                <a:solidFill>
                  <a:srgbClr val="333333"/>
                </a:solidFill>
                <a:effectLst/>
                <a:latin typeface="Noto Sans"/>
              </a:rPr>
              <a:t> </a:t>
            </a:r>
            <a:r>
              <a:rPr kumimoji="0" lang="en-US" altLang="en-US" sz="1600" b="1" i="0" u="none" strike="noStrike" cap="none" normalizeH="0" baseline="0" dirty="0" smtClean="0">
                <a:ln>
                  <a:noFill/>
                </a:ln>
                <a:solidFill>
                  <a:srgbClr val="333333"/>
                </a:solidFill>
                <a:effectLst/>
                <a:latin typeface="Noto Sans"/>
              </a:rPr>
              <a:t>(already installed).</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lang="en-US" altLang="en-US" sz="1600" b="1" dirty="0" smtClean="0">
                <a:solidFill>
                  <a:srgbClr val="333333"/>
                </a:solidFill>
                <a:latin typeface="Noto Sans"/>
              </a:rPr>
              <a:t>Lens</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600" b="1" i="0" u="none" strike="noStrike" cap="none" normalizeH="0" baseline="0" dirty="0" err="1" smtClean="0">
                <a:ln>
                  <a:noFill/>
                </a:ln>
                <a:solidFill>
                  <a:srgbClr val="333333"/>
                </a:solidFill>
                <a:effectLst/>
                <a:latin typeface="Noto Sans"/>
              </a:rPr>
              <a:t>Kuvenav</a:t>
            </a:r>
            <a:endParaRPr kumimoji="0" lang="en-US" altLang="en-US" sz="1600" b="1" i="0" u="none" strike="noStrike" cap="none" normalizeH="0" baseline="0" dirty="0" smtClean="0">
              <a:ln>
                <a:noFill/>
              </a:ln>
              <a:solidFill>
                <a:srgbClr val="333333"/>
              </a:solidFill>
              <a:effectLst/>
              <a:latin typeface="Noto Sans"/>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lang="en-US" altLang="en-US" sz="1600" b="1" dirty="0" smtClean="0">
                <a:solidFill>
                  <a:srgbClr val="333333"/>
                </a:solidFill>
                <a:latin typeface="Noto Sans"/>
              </a:rPr>
              <a:t>k9s</a:t>
            </a:r>
            <a:endParaRPr kumimoji="0" lang="en-US" altLang="en-US" sz="1600" b="0" i="0" u="none" strike="noStrike" cap="none" normalizeH="0" baseline="0" dirty="0" smtClean="0">
              <a:ln>
                <a:noFill/>
              </a:ln>
              <a:solidFill>
                <a:srgbClr val="333333"/>
              </a:solidFill>
              <a:effectLst/>
              <a:latin typeface="Noto Sans"/>
            </a:endParaRP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pic>
        <p:nvPicPr>
          <p:cNvPr id="3" name="Picture 2"/>
          <p:cNvPicPr>
            <a:picLocks noChangeAspect="1"/>
          </p:cNvPicPr>
          <p:nvPr/>
        </p:nvPicPr>
        <p:blipFill>
          <a:blip r:embed="rId5"/>
          <a:stretch>
            <a:fillRect/>
          </a:stretch>
        </p:blipFill>
        <p:spPr>
          <a:xfrm>
            <a:off x="4199466" y="2967235"/>
            <a:ext cx="7653866" cy="3625122"/>
          </a:xfrm>
          <a:prstGeom prst="rect">
            <a:avLst/>
          </a:prstGeom>
        </p:spPr>
      </p:pic>
    </p:spTree>
    <p:extLst>
      <p:ext uri="{BB962C8B-B14F-4D97-AF65-F5344CB8AC3E}">
        <p14:creationId xmlns:p14="http://schemas.microsoft.com/office/powerpoint/2010/main" val="42494217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369332"/>
          </a:xfrm>
          <a:prstGeom prst="rect">
            <a:avLst/>
          </a:prstGeom>
        </p:spPr>
        <p:txBody>
          <a:bodyPr wrap="square">
            <a:spAutoFit/>
          </a:bodyPr>
          <a:lstStyle/>
          <a:p>
            <a:r>
              <a:rPr lang="en-US" b="1" dirty="0" smtClean="0"/>
              <a:t>Kubernetes : </a:t>
            </a:r>
            <a:r>
              <a:rPr lang="en-US" b="1" dirty="0"/>
              <a:t>Application </a:t>
            </a:r>
            <a:r>
              <a:rPr lang="en-US" b="1" dirty="0" smtClean="0"/>
              <a:t>Example</a:t>
            </a:r>
            <a:endParaRPr lang="en-US" b="1" dirty="0"/>
          </a:p>
        </p:txBody>
      </p:sp>
      <p:sp>
        <p:nvSpPr>
          <p:cNvPr id="3" name="Rectangle 2"/>
          <p:cNvSpPr/>
          <p:nvPr/>
        </p:nvSpPr>
        <p:spPr>
          <a:xfrm>
            <a:off x="245533" y="1140305"/>
            <a:ext cx="6392334" cy="3693319"/>
          </a:xfrm>
          <a:prstGeom prst="rect">
            <a:avLst/>
          </a:prstGeom>
        </p:spPr>
        <p:txBody>
          <a:bodyPr wrap="square">
            <a:spAutoFit/>
          </a:bodyPr>
          <a:lstStyle/>
          <a:p>
            <a:pPr algn="just"/>
            <a:r>
              <a:rPr lang="en-US" dirty="0"/>
              <a:t>This is a simple example where we will be deploying https://draw.io/ to our Kubernetes cluster.</a:t>
            </a:r>
          </a:p>
          <a:p>
            <a:pPr algn="just"/>
            <a:endParaRPr lang="en-US" dirty="0"/>
          </a:p>
          <a:p>
            <a:pPr marL="342900" indent="-342900" algn="just">
              <a:buFont typeface="+mj-lt"/>
              <a:buAutoNum type="alphaLcPeriod"/>
            </a:pPr>
            <a:r>
              <a:rPr lang="en-US" dirty="0"/>
              <a:t>First, we create a namespace for our draw.io application called </a:t>
            </a:r>
            <a:r>
              <a:rPr lang="en-US" dirty="0" smtClean="0"/>
              <a:t>home-cloud-</a:t>
            </a:r>
            <a:r>
              <a:rPr lang="en-US" dirty="0" err="1" smtClean="0"/>
              <a:t>drawio</a:t>
            </a:r>
            <a:r>
              <a:rPr lang="en-US" dirty="0" smtClean="0"/>
              <a:t> : </a:t>
            </a:r>
          </a:p>
          <a:p>
            <a:pPr algn="just"/>
            <a:endParaRPr lang="en-US" dirty="0"/>
          </a:p>
          <a:p>
            <a:pPr algn="just"/>
            <a:r>
              <a:rPr lang="en-US" dirty="0"/>
              <a:t> </a:t>
            </a:r>
            <a:r>
              <a:rPr lang="en-US" dirty="0" smtClean="0"/>
              <a:t>      $ </a:t>
            </a:r>
            <a:r>
              <a:rPr lang="en-US" dirty="0" err="1"/>
              <a:t>kubectl</a:t>
            </a:r>
            <a:r>
              <a:rPr lang="en-US" dirty="0"/>
              <a:t> create namespace </a:t>
            </a:r>
            <a:r>
              <a:rPr lang="en-US" dirty="0" smtClean="0"/>
              <a:t>home-cloud-</a:t>
            </a:r>
            <a:r>
              <a:rPr lang="en-US" dirty="0" err="1" smtClean="0"/>
              <a:t>drawio</a:t>
            </a:r>
            <a:endParaRPr lang="en-US" dirty="0" smtClean="0"/>
          </a:p>
          <a:p>
            <a:pPr algn="just"/>
            <a:endParaRPr lang="en-US" dirty="0"/>
          </a:p>
          <a:p>
            <a:pPr algn="just"/>
            <a:endParaRPr lang="en-US" dirty="0" smtClean="0"/>
          </a:p>
          <a:p>
            <a:pPr algn="just"/>
            <a:endParaRPr lang="en-US" dirty="0"/>
          </a:p>
          <a:p>
            <a:pPr algn="just"/>
            <a:endParaRPr lang="en-US" dirty="0"/>
          </a:p>
          <a:p>
            <a:pPr marL="342900" indent="-342900" algn="just">
              <a:buFont typeface="+mj-lt"/>
              <a:buAutoNum type="alphaLcPeriod"/>
            </a:pPr>
            <a:r>
              <a:rPr lang="en-US" dirty="0"/>
              <a:t>Second, we create a file called </a:t>
            </a:r>
            <a:r>
              <a:rPr lang="en-US" dirty="0" err="1"/>
              <a:t>drawio-app.yml</a:t>
            </a:r>
            <a:r>
              <a:rPr lang="en-US" dirty="0"/>
              <a:t> with the following content:</a:t>
            </a:r>
          </a:p>
        </p:txBody>
      </p:sp>
      <p:sp>
        <p:nvSpPr>
          <p:cNvPr id="6" name="Rectangle 5"/>
          <p:cNvSpPr/>
          <p:nvPr/>
        </p:nvSpPr>
        <p:spPr>
          <a:xfrm>
            <a:off x="694265" y="3216253"/>
            <a:ext cx="5494870" cy="738664"/>
          </a:xfrm>
          <a:prstGeom prst="rect">
            <a:avLst/>
          </a:prstGeom>
          <a:solidFill>
            <a:schemeClr val="tx1"/>
          </a:solidFill>
        </p:spPr>
        <p:txBody>
          <a:bodyPr wrap="square">
            <a:spAutoFit/>
          </a:bodyPr>
          <a:lstStyle/>
          <a:p>
            <a:pPr algn="just"/>
            <a:r>
              <a:rPr lang="en-US" sz="1400" dirty="0" err="1">
                <a:solidFill>
                  <a:schemeClr val="bg1">
                    <a:lumMod val="95000"/>
                  </a:schemeClr>
                </a:solidFill>
              </a:rPr>
              <a:t>root@administrator</a:t>
            </a:r>
            <a:r>
              <a:rPr lang="en-US" sz="1400" dirty="0">
                <a:solidFill>
                  <a:schemeClr val="bg1">
                    <a:lumMod val="95000"/>
                  </a:schemeClr>
                </a:solidFill>
              </a:rPr>
              <a:t>:/home/panda/GPU2# </a:t>
            </a:r>
            <a:endParaRPr lang="en-US" sz="1400" dirty="0" smtClean="0">
              <a:solidFill>
                <a:schemeClr val="bg1">
                  <a:lumMod val="95000"/>
                </a:schemeClr>
              </a:solidFill>
            </a:endParaRPr>
          </a:p>
          <a:p>
            <a:pPr algn="just"/>
            <a:endParaRPr lang="en-US" sz="1400" dirty="0" smtClean="0">
              <a:solidFill>
                <a:schemeClr val="bg1">
                  <a:lumMod val="95000"/>
                </a:schemeClr>
              </a:solidFill>
            </a:endParaRPr>
          </a:p>
          <a:p>
            <a:pPr algn="just"/>
            <a:r>
              <a:rPr lang="en-US" sz="1400" dirty="0">
                <a:solidFill>
                  <a:schemeClr val="bg1"/>
                </a:solidFill>
              </a:rPr>
              <a:t>$ </a:t>
            </a:r>
            <a:r>
              <a:rPr lang="en-US" sz="1400" dirty="0" err="1">
                <a:solidFill>
                  <a:schemeClr val="bg1"/>
                </a:solidFill>
              </a:rPr>
              <a:t>kubectl</a:t>
            </a:r>
            <a:r>
              <a:rPr lang="en-US" sz="1400" dirty="0">
                <a:solidFill>
                  <a:schemeClr val="bg1"/>
                </a:solidFill>
              </a:rPr>
              <a:t> create namespace home-cloud-</a:t>
            </a:r>
            <a:r>
              <a:rPr lang="en-US" sz="1400" dirty="0" err="1">
                <a:solidFill>
                  <a:schemeClr val="bg1"/>
                </a:solidFill>
              </a:rPr>
              <a:t>drawio</a:t>
            </a:r>
            <a:endParaRPr lang="en-US" sz="1400" dirty="0">
              <a:solidFill>
                <a:schemeClr val="bg1"/>
              </a:solidFill>
            </a:endParaRPr>
          </a:p>
        </p:txBody>
      </p:sp>
      <p:sp>
        <p:nvSpPr>
          <p:cNvPr id="8" name="Rectangle 7"/>
          <p:cNvSpPr/>
          <p:nvPr/>
        </p:nvSpPr>
        <p:spPr>
          <a:xfrm>
            <a:off x="6991770" y="338542"/>
            <a:ext cx="3351110" cy="6340197"/>
          </a:xfrm>
          <a:prstGeom prst="rect">
            <a:avLst/>
          </a:prstGeom>
          <a:solidFill>
            <a:schemeClr val="tx1"/>
          </a:solidFill>
        </p:spPr>
        <p:txBody>
          <a:bodyPr wrap="square">
            <a:spAutoFit/>
          </a:bodyPr>
          <a:lstStyle/>
          <a:p>
            <a:pPr algn="just"/>
            <a:r>
              <a:rPr lang="en-US" sz="700" dirty="0" err="1">
                <a:solidFill>
                  <a:schemeClr val="bg1"/>
                </a:solidFill>
              </a:rPr>
              <a:t>apiVersion</a:t>
            </a:r>
            <a:r>
              <a:rPr lang="en-US" sz="700" dirty="0">
                <a:solidFill>
                  <a:schemeClr val="bg1"/>
                </a:solidFill>
              </a:rPr>
              <a:t>: apps/v1</a:t>
            </a:r>
          </a:p>
          <a:p>
            <a:pPr algn="just"/>
            <a:r>
              <a:rPr lang="en-US" sz="700" dirty="0">
                <a:solidFill>
                  <a:schemeClr val="bg1"/>
                </a:solidFill>
              </a:rPr>
              <a:t>kind: Deployment</a:t>
            </a:r>
          </a:p>
          <a:p>
            <a:pPr algn="just"/>
            <a:r>
              <a:rPr lang="en-US" sz="700" dirty="0">
                <a:solidFill>
                  <a:schemeClr val="bg1"/>
                </a:solidFill>
              </a:rPr>
              <a:t>metadata:</a:t>
            </a:r>
          </a:p>
          <a:p>
            <a:pPr algn="just"/>
            <a:r>
              <a:rPr lang="en-US" sz="700" dirty="0">
                <a:solidFill>
                  <a:schemeClr val="bg1"/>
                </a:solidFill>
              </a:rPr>
              <a:t>  namespace: home-cloud-</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name: </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spec:</a:t>
            </a:r>
          </a:p>
          <a:p>
            <a:pPr algn="just"/>
            <a:r>
              <a:rPr lang="en-US" sz="700" dirty="0">
                <a:solidFill>
                  <a:schemeClr val="bg1"/>
                </a:solidFill>
              </a:rPr>
              <a:t>  replicas: 1</a:t>
            </a:r>
          </a:p>
          <a:p>
            <a:pPr algn="just"/>
            <a:r>
              <a:rPr lang="en-US" sz="700" dirty="0">
                <a:solidFill>
                  <a:schemeClr val="bg1"/>
                </a:solidFill>
              </a:rPr>
              <a:t>  selector:</a:t>
            </a:r>
          </a:p>
          <a:p>
            <a:pPr algn="just"/>
            <a:r>
              <a:rPr lang="en-US" sz="700" dirty="0">
                <a:solidFill>
                  <a:schemeClr val="bg1"/>
                </a:solidFill>
              </a:rPr>
              <a:t>    </a:t>
            </a:r>
            <a:r>
              <a:rPr lang="en-US" sz="700" dirty="0" err="1">
                <a:solidFill>
                  <a:schemeClr val="bg1"/>
                </a:solidFill>
              </a:rPr>
              <a:t>matchLabels</a:t>
            </a:r>
            <a:r>
              <a:rPr lang="en-US" sz="700" dirty="0">
                <a:solidFill>
                  <a:schemeClr val="bg1"/>
                </a:solidFill>
              </a:rPr>
              <a:t>:</a:t>
            </a:r>
          </a:p>
          <a:p>
            <a:pPr algn="just"/>
            <a:r>
              <a:rPr lang="en-US" sz="700" dirty="0">
                <a:solidFill>
                  <a:schemeClr val="bg1"/>
                </a:solidFill>
              </a:rPr>
              <a:t>      app: </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template:</a:t>
            </a:r>
          </a:p>
          <a:p>
            <a:pPr algn="just"/>
            <a:r>
              <a:rPr lang="en-US" sz="700" dirty="0">
                <a:solidFill>
                  <a:schemeClr val="bg1"/>
                </a:solidFill>
              </a:rPr>
              <a:t>    metadata:</a:t>
            </a:r>
          </a:p>
          <a:p>
            <a:pPr algn="just"/>
            <a:r>
              <a:rPr lang="en-US" sz="700" dirty="0">
                <a:solidFill>
                  <a:schemeClr val="bg1"/>
                </a:solidFill>
              </a:rPr>
              <a:t>      labels:</a:t>
            </a:r>
          </a:p>
          <a:p>
            <a:pPr algn="just"/>
            <a:r>
              <a:rPr lang="en-US" sz="700" dirty="0">
                <a:solidFill>
                  <a:schemeClr val="bg1"/>
                </a:solidFill>
              </a:rPr>
              <a:t>        app: </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spec:</a:t>
            </a:r>
          </a:p>
          <a:p>
            <a:pPr algn="just"/>
            <a:r>
              <a:rPr lang="en-US" sz="700" dirty="0">
                <a:solidFill>
                  <a:schemeClr val="bg1"/>
                </a:solidFill>
              </a:rPr>
              <a:t>      containers:</a:t>
            </a:r>
          </a:p>
          <a:p>
            <a:pPr algn="just"/>
            <a:r>
              <a:rPr lang="en-US" sz="700" dirty="0">
                <a:solidFill>
                  <a:schemeClr val="bg1"/>
                </a:solidFill>
              </a:rPr>
              <a:t>      - name: </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image: </a:t>
            </a:r>
            <a:r>
              <a:rPr lang="en-US" sz="700" dirty="0" err="1">
                <a:solidFill>
                  <a:schemeClr val="bg1"/>
                </a:solidFill>
              </a:rPr>
              <a:t>jgraph</a:t>
            </a:r>
            <a:r>
              <a:rPr lang="en-US" sz="700" dirty="0">
                <a:solidFill>
                  <a:schemeClr val="bg1"/>
                </a:solidFill>
              </a:rPr>
              <a:t>/</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resources:</a:t>
            </a:r>
          </a:p>
          <a:p>
            <a:pPr algn="just"/>
            <a:r>
              <a:rPr lang="en-US" sz="700" dirty="0">
                <a:solidFill>
                  <a:schemeClr val="bg1"/>
                </a:solidFill>
              </a:rPr>
              <a:t>          limits:</a:t>
            </a:r>
          </a:p>
          <a:p>
            <a:pPr algn="just"/>
            <a:r>
              <a:rPr lang="en-US" sz="700" dirty="0">
                <a:solidFill>
                  <a:schemeClr val="bg1"/>
                </a:solidFill>
              </a:rPr>
              <a:t>            memory: "256Mi"</a:t>
            </a:r>
          </a:p>
          <a:p>
            <a:pPr algn="just"/>
            <a:r>
              <a:rPr lang="en-US" sz="700" dirty="0">
                <a:solidFill>
                  <a:schemeClr val="bg1"/>
                </a:solidFill>
              </a:rPr>
              <a:t>            </a:t>
            </a:r>
            <a:r>
              <a:rPr lang="en-US" sz="700" dirty="0" err="1">
                <a:solidFill>
                  <a:schemeClr val="bg1"/>
                </a:solidFill>
              </a:rPr>
              <a:t>cpu</a:t>
            </a:r>
            <a:r>
              <a:rPr lang="en-US" sz="700" dirty="0">
                <a:solidFill>
                  <a:schemeClr val="bg1"/>
                </a:solidFill>
              </a:rPr>
              <a:t>: "800m"</a:t>
            </a:r>
          </a:p>
          <a:p>
            <a:pPr algn="just"/>
            <a:r>
              <a:rPr lang="en-US" sz="700" dirty="0">
                <a:solidFill>
                  <a:schemeClr val="bg1"/>
                </a:solidFill>
              </a:rPr>
              <a:t>        ports:</a:t>
            </a:r>
          </a:p>
          <a:p>
            <a:pPr algn="just"/>
            <a:r>
              <a:rPr lang="en-US" sz="700" dirty="0">
                <a:solidFill>
                  <a:schemeClr val="bg1"/>
                </a:solidFill>
              </a:rPr>
              <a:t>        - </a:t>
            </a:r>
            <a:r>
              <a:rPr lang="en-US" sz="700" dirty="0" err="1">
                <a:solidFill>
                  <a:schemeClr val="bg1"/>
                </a:solidFill>
              </a:rPr>
              <a:t>containerPort</a:t>
            </a:r>
            <a:r>
              <a:rPr lang="en-US" sz="700" dirty="0">
                <a:solidFill>
                  <a:schemeClr val="bg1"/>
                </a:solidFill>
              </a:rPr>
              <a:t>: 8080</a:t>
            </a:r>
          </a:p>
          <a:p>
            <a:pPr algn="just"/>
            <a:r>
              <a:rPr lang="en-US" sz="700" dirty="0">
                <a:solidFill>
                  <a:schemeClr val="bg1"/>
                </a:solidFill>
              </a:rPr>
              <a:t>---</a:t>
            </a:r>
          </a:p>
          <a:p>
            <a:pPr algn="just"/>
            <a:r>
              <a:rPr lang="en-US" sz="700" dirty="0" err="1">
                <a:solidFill>
                  <a:schemeClr val="bg1"/>
                </a:solidFill>
              </a:rPr>
              <a:t>apiVersion</a:t>
            </a:r>
            <a:r>
              <a:rPr lang="en-US" sz="700" dirty="0">
                <a:solidFill>
                  <a:schemeClr val="bg1"/>
                </a:solidFill>
              </a:rPr>
              <a:t>: v1</a:t>
            </a:r>
          </a:p>
          <a:p>
            <a:pPr algn="just"/>
            <a:r>
              <a:rPr lang="en-US" sz="700" dirty="0">
                <a:solidFill>
                  <a:schemeClr val="bg1"/>
                </a:solidFill>
              </a:rPr>
              <a:t>kind: Service</a:t>
            </a:r>
          </a:p>
          <a:p>
            <a:pPr algn="just"/>
            <a:r>
              <a:rPr lang="en-US" sz="700" dirty="0">
                <a:solidFill>
                  <a:schemeClr val="bg1"/>
                </a:solidFill>
              </a:rPr>
              <a:t>metadata:</a:t>
            </a:r>
          </a:p>
          <a:p>
            <a:pPr algn="just"/>
            <a:r>
              <a:rPr lang="en-US" sz="700" dirty="0">
                <a:solidFill>
                  <a:schemeClr val="bg1"/>
                </a:solidFill>
              </a:rPr>
              <a:t>  namespace: home-cloud-</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name: </a:t>
            </a:r>
            <a:r>
              <a:rPr lang="en-US" sz="700" dirty="0" err="1">
                <a:solidFill>
                  <a:schemeClr val="bg1"/>
                </a:solidFill>
              </a:rPr>
              <a:t>drawio</a:t>
            </a:r>
            <a:r>
              <a:rPr lang="en-US" sz="700" dirty="0">
                <a:solidFill>
                  <a:schemeClr val="bg1"/>
                </a:solidFill>
              </a:rPr>
              <a:t>-service</a:t>
            </a:r>
          </a:p>
          <a:p>
            <a:pPr algn="just"/>
            <a:r>
              <a:rPr lang="en-US" sz="700" dirty="0">
                <a:solidFill>
                  <a:schemeClr val="bg1"/>
                </a:solidFill>
              </a:rPr>
              <a:t>spec:</a:t>
            </a:r>
          </a:p>
          <a:p>
            <a:pPr algn="just"/>
            <a:r>
              <a:rPr lang="en-US" sz="700" dirty="0">
                <a:solidFill>
                  <a:schemeClr val="bg1"/>
                </a:solidFill>
              </a:rPr>
              <a:t>  selector:</a:t>
            </a:r>
          </a:p>
          <a:p>
            <a:pPr algn="just"/>
            <a:r>
              <a:rPr lang="en-US" sz="700" dirty="0">
                <a:solidFill>
                  <a:schemeClr val="bg1"/>
                </a:solidFill>
              </a:rPr>
              <a:t>    app: </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ports:</a:t>
            </a:r>
          </a:p>
          <a:p>
            <a:pPr algn="just"/>
            <a:r>
              <a:rPr lang="en-US" sz="700" dirty="0">
                <a:solidFill>
                  <a:schemeClr val="bg1"/>
                </a:solidFill>
              </a:rPr>
              <a:t>  - port: 5001</a:t>
            </a:r>
          </a:p>
          <a:p>
            <a:pPr algn="just"/>
            <a:r>
              <a:rPr lang="en-US" sz="700" dirty="0">
                <a:solidFill>
                  <a:schemeClr val="bg1"/>
                </a:solidFill>
              </a:rPr>
              <a:t>    </a:t>
            </a:r>
            <a:r>
              <a:rPr lang="en-US" sz="700" dirty="0" err="1">
                <a:solidFill>
                  <a:schemeClr val="bg1"/>
                </a:solidFill>
              </a:rPr>
              <a:t>targetPort</a:t>
            </a:r>
            <a:r>
              <a:rPr lang="en-US" sz="700" dirty="0">
                <a:solidFill>
                  <a:schemeClr val="bg1"/>
                </a:solidFill>
              </a:rPr>
              <a:t>: 8080</a:t>
            </a:r>
          </a:p>
          <a:p>
            <a:pPr algn="just"/>
            <a:r>
              <a:rPr lang="en-US" sz="700" dirty="0">
                <a:solidFill>
                  <a:schemeClr val="bg1"/>
                </a:solidFill>
              </a:rPr>
              <a:t>---</a:t>
            </a:r>
          </a:p>
          <a:p>
            <a:pPr algn="just"/>
            <a:r>
              <a:rPr lang="en-US" sz="700" dirty="0" err="1">
                <a:solidFill>
                  <a:schemeClr val="bg1"/>
                </a:solidFill>
              </a:rPr>
              <a:t>apiVersion</a:t>
            </a:r>
            <a:r>
              <a:rPr lang="en-US" sz="700" dirty="0">
                <a:solidFill>
                  <a:schemeClr val="bg1"/>
                </a:solidFill>
              </a:rPr>
              <a:t>: networking.k8s.io/v1</a:t>
            </a:r>
          </a:p>
          <a:p>
            <a:pPr algn="just"/>
            <a:r>
              <a:rPr lang="en-US" sz="700" dirty="0">
                <a:solidFill>
                  <a:schemeClr val="bg1"/>
                </a:solidFill>
              </a:rPr>
              <a:t>kind: Ingress</a:t>
            </a:r>
          </a:p>
          <a:p>
            <a:pPr algn="just"/>
            <a:r>
              <a:rPr lang="en-US" sz="700" dirty="0">
                <a:solidFill>
                  <a:schemeClr val="bg1"/>
                </a:solidFill>
              </a:rPr>
              <a:t>metadata:</a:t>
            </a:r>
          </a:p>
          <a:p>
            <a:pPr algn="just"/>
            <a:r>
              <a:rPr lang="en-US" sz="700" dirty="0">
                <a:solidFill>
                  <a:schemeClr val="bg1"/>
                </a:solidFill>
              </a:rPr>
              <a:t>  namespace: home-cloud-</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name: </a:t>
            </a:r>
            <a:r>
              <a:rPr lang="en-US" sz="700" dirty="0" err="1">
                <a:solidFill>
                  <a:schemeClr val="bg1"/>
                </a:solidFill>
              </a:rPr>
              <a:t>drawio</a:t>
            </a:r>
            <a:r>
              <a:rPr lang="en-US" sz="700" dirty="0">
                <a:solidFill>
                  <a:schemeClr val="bg1"/>
                </a:solidFill>
              </a:rPr>
              <a:t>-ingress</a:t>
            </a:r>
          </a:p>
          <a:p>
            <a:pPr algn="just"/>
            <a:r>
              <a:rPr lang="en-US" sz="700" dirty="0">
                <a:solidFill>
                  <a:schemeClr val="bg1"/>
                </a:solidFill>
              </a:rPr>
              <a:t>  labels:</a:t>
            </a:r>
          </a:p>
          <a:p>
            <a:pPr algn="just"/>
            <a:r>
              <a:rPr lang="en-US" sz="700" dirty="0">
                <a:solidFill>
                  <a:schemeClr val="bg1"/>
                </a:solidFill>
              </a:rPr>
              <a:t>    name: </a:t>
            </a:r>
            <a:r>
              <a:rPr lang="en-US" sz="700" dirty="0" err="1">
                <a:solidFill>
                  <a:schemeClr val="bg1"/>
                </a:solidFill>
              </a:rPr>
              <a:t>drawio</a:t>
            </a:r>
            <a:r>
              <a:rPr lang="en-US" sz="700" dirty="0">
                <a:solidFill>
                  <a:schemeClr val="bg1"/>
                </a:solidFill>
              </a:rPr>
              <a:t>-ingress</a:t>
            </a:r>
          </a:p>
          <a:p>
            <a:pPr algn="just"/>
            <a:r>
              <a:rPr lang="en-US" sz="700" dirty="0">
                <a:solidFill>
                  <a:schemeClr val="bg1"/>
                </a:solidFill>
              </a:rPr>
              <a:t>spec:</a:t>
            </a:r>
          </a:p>
          <a:p>
            <a:pPr algn="just"/>
            <a:r>
              <a:rPr lang="en-US" sz="700" dirty="0">
                <a:solidFill>
                  <a:schemeClr val="bg1"/>
                </a:solidFill>
              </a:rPr>
              <a:t>  rules:</a:t>
            </a:r>
          </a:p>
          <a:p>
            <a:pPr algn="just"/>
            <a:r>
              <a:rPr lang="en-US" sz="700" dirty="0">
                <a:solidFill>
                  <a:schemeClr val="bg1"/>
                </a:solidFill>
              </a:rPr>
              <a:t>  - host: home-cloud-</a:t>
            </a:r>
            <a:r>
              <a:rPr lang="en-US" sz="700" dirty="0" err="1">
                <a:solidFill>
                  <a:schemeClr val="bg1"/>
                </a:solidFill>
              </a:rPr>
              <a:t>drawio</a:t>
            </a:r>
            <a:endParaRPr lang="en-US" sz="700" dirty="0">
              <a:solidFill>
                <a:schemeClr val="bg1"/>
              </a:solidFill>
            </a:endParaRPr>
          </a:p>
          <a:p>
            <a:pPr algn="just"/>
            <a:r>
              <a:rPr lang="en-US" sz="700" dirty="0">
                <a:solidFill>
                  <a:schemeClr val="bg1"/>
                </a:solidFill>
              </a:rPr>
              <a:t>    http:</a:t>
            </a:r>
          </a:p>
          <a:p>
            <a:pPr algn="just"/>
            <a:r>
              <a:rPr lang="en-US" sz="700" dirty="0">
                <a:solidFill>
                  <a:schemeClr val="bg1"/>
                </a:solidFill>
              </a:rPr>
              <a:t>      paths:</a:t>
            </a:r>
          </a:p>
          <a:p>
            <a:pPr algn="just"/>
            <a:r>
              <a:rPr lang="en-US" sz="700" dirty="0">
                <a:solidFill>
                  <a:schemeClr val="bg1"/>
                </a:solidFill>
              </a:rPr>
              <a:t>      - </a:t>
            </a:r>
            <a:r>
              <a:rPr lang="en-US" sz="700" dirty="0" err="1">
                <a:solidFill>
                  <a:schemeClr val="bg1"/>
                </a:solidFill>
              </a:rPr>
              <a:t>pathType</a:t>
            </a:r>
            <a:r>
              <a:rPr lang="en-US" sz="700" dirty="0">
                <a:solidFill>
                  <a:schemeClr val="bg1"/>
                </a:solidFill>
              </a:rPr>
              <a:t>: Prefix</a:t>
            </a:r>
          </a:p>
          <a:p>
            <a:pPr algn="just"/>
            <a:r>
              <a:rPr lang="en-US" sz="700" dirty="0">
                <a:solidFill>
                  <a:schemeClr val="bg1"/>
                </a:solidFill>
              </a:rPr>
              <a:t>        path: "/"</a:t>
            </a:r>
          </a:p>
          <a:p>
            <a:pPr algn="just"/>
            <a:r>
              <a:rPr lang="en-US" sz="700" dirty="0">
                <a:solidFill>
                  <a:schemeClr val="bg1"/>
                </a:solidFill>
              </a:rPr>
              <a:t>        backend:</a:t>
            </a:r>
          </a:p>
          <a:p>
            <a:pPr algn="just"/>
            <a:r>
              <a:rPr lang="en-US" sz="700" dirty="0">
                <a:solidFill>
                  <a:schemeClr val="bg1"/>
                </a:solidFill>
              </a:rPr>
              <a:t>          service:</a:t>
            </a:r>
          </a:p>
          <a:p>
            <a:pPr algn="just"/>
            <a:r>
              <a:rPr lang="en-US" sz="700" dirty="0">
                <a:solidFill>
                  <a:schemeClr val="bg1"/>
                </a:solidFill>
              </a:rPr>
              <a:t>            name: </a:t>
            </a:r>
            <a:r>
              <a:rPr lang="en-US" sz="700" dirty="0" err="1">
                <a:solidFill>
                  <a:schemeClr val="bg1"/>
                </a:solidFill>
              </a:rPr>
              <a:t>drawio</a:t>
            </a:r>
            <a:r>
              <a:rPr lang="en-US" sz="700" dirty="0">
                <a:solidFill>
                  <a:schemeClr val="bg1"/>
                </a:solidFill>
              </a:rPr>
              <a:t>-service</a:t>
            </a:r>
          </a:p>
          <a:p>
            <a:pPr algn="just"/>
            <a:r>
              <a:rPr lang="en-US" sz="700" dirty="0">
                <a:solidFill>
                  <a:schemeClr val="bg1"/>
                </a:solidFill>
              </a:rPr>
              <a:t>            port: </a:t>
            </a:r>
          </a:p>
          <a:p>
            <a:pPr algn="just"/>
            <a:r>
              <a:rPr lang="en-US" sz="700" dirty="0">
                <a:solidFill>
                  <a:schemeClr val="bg1"/>
                </a:solidFill>
              </a:rPr>
              <a:t>              number: 5001</a:t>
            </a:r>
          </a:p>
          <a:p>
            <a:pPr algn="just"/>
            <a:r>
              <a:rPr lang="en-US" sz="700" dirty="0">
                <a:solidFill>
                  <a:schemeClr val="bg1"/>
                </a:solidFill>
              </a:rPr>
              <a:t>  </a:t>
            </a:r>
            <a:r>
              <a:rPr lang="en-US" sz="700" dirty="0" err="1">
                <a:solidFill>
                  <a:schemeClr val="bg1"/>
                </a:solidFill>
              </a:rPr>
              <a:t>ingressClassName</a:t>
            </a:r>
            <a:r>
              <a:rPr lang="en-US" sz="700" dirty="0">
                <a:solidFill>
                  <a:schemeClr val="bg1"/>
                </a:solidFill>
              </a:rPr>
              <a:t>: "</a:t>
            </a:r>
            <a:r>
              <a:rPr lang="en-US" sz="700" dirty="0" err="1">
                <a:solidFill>
                  <a:schemeClr val="bg1"/>
                </a:solidFill>
              </a:rPr>
              <a:t>nginx</a:t>
            </a:r>
            <a:r>
              <a:rPr lang="en-US" sz="700" dirty="0">
                <a:solidFill>
                  <a:schemeClr val="bg1"/>
                </a:solidFill>
              </a:rPr>
              <a:t>"</a:t>
            </a:r>
          </a:p>
          <a:p>
            <a:pPr algn="just"/>
            <a:endParaRPr lang="en-US" sz="700" dirty="0">
              <a:solidFill>
                <a:schemeClr val="bg1"/>
              </a:solidFill>
            </a:endParaRPr>
          </a:p>
        </p:txBody>
      </p:sp>
    </p:spTree>
    <p:extLst>
      <p:ext uri="{BB962C8B-B14F-4D97-AF65-F5344CB8AC3E}">
        <p14:creationId xmlns:p14="http://schemas.microsoft.com/office/powerpoint/2010/main" val="406524275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369332"/>
          </a:xfrm>
          <a:prstGeom prst="rect">
            <a:avLst/>
          </a:prstGeom>
        </p:spPr>
        <p:txBody>
          <a:bodyPr wrap="square">
            <a:spAutoFit/>
          </a:bodyPr>
          <a:lstStyle/>
          <a:p>
            <a:r>
              <a:rPr lang="en-US" b="1" dirty="0" smtClean="0"/>
              <a:t>Kubernetes </a:t>
            </a:r>
            <a:r>
              <a:rPr lang="en-US" b="1" dirty="0"/>
              <a:t>: Application Example</a:t>
            </a:r>
            <a:endParaRPr lang="en-US" b="1" dirty="0"/>
          </a:p>
        </p:txBody>
      </p:sp>
      <p:sp>
        <p:nvSpPr>
          <p:cNvPr id="4" name="Rectangle 3"/>
          <p:cNvSpPr/>
          <p:nvPr/>
        </p:nvSpPr>
        <p:spPr>
          <a:xfrm>
            <a:off x="245533" y="1140305"/>
            <a:ext cx="6392334" cy="2031325"/>
          </a:xfrm>
          <a:prstGeom prst="rect">
            <a:avLst/>
          </a:prstGeom>
        </p:spPr>
        <p:txBody>
          <a:bodyPr wrap="square">
            <a:spAutoFit/>
          </a:bodyPr>
          <a:lstStyle/>
          <a:p>
            <a:pPr algn="just"/>
            <a:endParaRPr lang="en-US" dirty="0"/>
          </a:p>
          <a:p>
            <a:pPr marL="342900" indent="-342900" algn="just">
              <a:buFont typeface="+mj-lt"/>
              <a:buAutoNum type="alphaLcPeriod" startAt="3"/>
            </a:pPr>
            <a:r>
              <a:rPr lang="en-US" dirty="0" smtClean="0"/>
              <a:t>As </a:t>
            </a:r>
            <a:r>
              <a:rPr lang="en-US" dirty="0"/>
              <a:t>a third step, we apply the configuration contained in the </a:t>
            </a:r>
            <a:r>
              <a:rPr lang="en-US" dirty="0" err="1"/>
              <a:t>drawio-app.yml</a:t>
            </a:r>
            <a:r>
              <a:rPr lang="en-US" dirty="0"/>
              <a:t> file:: </a:t>
            </a:r>
            <a:endParaRPr lang="en-US" dirty="0" smtClean="0"/>
          </a:p>
          <a:p>
            <a:pPr algn="just"/>
            <a:endParaRPr lang="en-US" dirty="0"/>
          </a:p>
          <a:p>
            <a:pPr algn="just"/>
            <a:r>
              <a:rPr lang="en-US" dirty="0"/>
              <a:t> </a:t>
            </a:r>
            <a:r>
              <a:rPr lang="en-US" dirty="0" smtClean="0"/>
              <a:t>      $ </a:t>
            </a:r>
            <a:r>
              <a:rPr lang="en-US" dirty="0" err="1"/>
              <a:t>kubectl</a:t>
            </a:r>
            <a:r>
              <a:rPr lang="en-US" dirty="0"/>
              <a:t> </a:t>
            </a:r>
            <a:r>
              <a:rPr lang="en-US" dirty="0" smtClean="0"/>
              <a:t>apply –f  </a:t>
            </a:r>
            <a:r>
              <a:rPr lang="en-US" dirty="0" err="1" smtClean="0"/>
              <a:t>drawio-app.yml</a:t>
            </a:r>
            <a:endParaRPr lang="en-US" dirty="0" smtClean="0"/>
          </a:p>
          <a:p>
            <a:pPr algn="just"/>
            <a:endParaRPr lang="en-US" dirty="0"/>
          </a:p>
          <a:p>
            <a:pPr algn="just"/>
            <a:endParaRPr lang="en-US" dirty="0" smtClean="0"/>
          </a:p>
        </p:txBody>
      </p:sp>
      <p:sp>
        <p:nvSpPr>
          <p:cNvPr id="8" name="Rectangle 7"/>
          <p:cNvSpPr/>
          <p:nvPr/>
        </p:nvSpPr>
        <p:spPr>
          <a:xfrm>
            <a:off x="694265" y="2684757"/>
            <a:ext cx="5494870" cy="738664"/>
          </a:xfrm>
          <a:prstGeom prst="rect">
            <a:avLst/>
          </a:prstGeom>
          <a:solidFill>
            <a:schemeClr val="tx1"/>
          </a:solidFill>
        </p:spPr>
        <p:txBody>
          <a:bodyPr wrap="square">
            <a:spAutoFit/>
          </a:bodyPr>
          <a:lstStyle/>
          <a:p>
            <a:pPr algn="just"/>
            <a:r>
              <a:rPr lang="en-US" sz="1400" dirty="0" err="1">
                <a:solidFill>
                  <a:schemeClr val="bg1">
                    <a:lumMod val="95000"/>
                  </a:schemeClr>
                </a:solidFill>
              </a:rPr>
              <a:t>root@administrator</a:t>
            </a:r>
            <a:r>
              <a:rPr lang="en-US" sz="1400" dirty="0">
                <a:solidFill>
                  <a:schemeClr val="bg1">
                    <a:lumMod val="95000"/>
                  </a:schemeClr>
                </a:solidFill>
              </a:rPr>
              <a:t>:/home/panda/GPU2# </a:t>
            </a:r>
            <a:endParaRPr lang="en-US" sz="1400" dirty="0" smtClean="0">
              <a:solidFill>
                <a:schemeClr val="bg1">
                  <a:lumMod val="95000"/>
                </a:schemeClr>
              </a:solidFill>
            </a:endParaRPr>
          </a:p>
          <a:p>
            <a:pPr algn="just"/>
            <a:endParaRPr lang="en-US" sz="1400" dirty="0" smtClean="0">
              <a:solidFill>
                <a:schemeClr val="bg1">
                  <a:lumMod val="95000"/>
                </a:schemeClr>
              </a:solidFill>
            </a:endParaRPr>
          </a:p>
          <a:p>
            <a:pPr algn="just"/>
            <a:r>
              <a:rPr lang="en-US" sz="1400" dirty="0">
                <a:solidFill>
                  <a:schemeClr val="bg1"/>
                </a:solidFill>
              </a:rPr>
              <a:t>$ </a:t>
            </a:r>
            <a:r>
              <a:rPr lang="en-US" sz="1400" dirty="0" err="1">
                <a:solidFill>
                  <a:schemeClr val="bg1"/>
                </a:solidFill>
              </a:rPr>
              <a:t>kubectl</a:t>
            </a:r>
            <a:r>
              <a:rPr lang="en-US" sz="1400" dirty="0">
                <a:solidFill>
                  <a:schemeClr val="bg1"/>
                </a:solidFill>
              </a:rPr>
              <a:t> apply –f  </a:t>
            </a:r>
            <a:r>
              <a:rPr lang="en-US" sz="1400" dirty="0" err="1">
                <a:solidFill>
                  <a:schemeClr val="bg1"/>
                </a:solidFill>
              </a:rPr>
              <a:t>drawio-app.yml</a:t>
            </a:r>
            <a:endParaRPr lang="en-US" sz="1400" dirty="0">
              <a:solidFill>
                <a:schemeClr val="bg1"/>
              </a:solidFill>
            </a:endParaRPr>
          </a:p>
        </p:txBody>
      </p:sp>
      <p:sp>
        <p:nvSpPr>
          <p:cNvPr id="2" name="Rectangle 1"/>
          <p:cNvSpPr/>
          <p:nvPr/>
        </p:nvSpPr>
        <p:spPr>
          <a:xfrm>
            <a:off x="393700" y="3977418"/>
            <a:ext cx="6159500" cy="1477328"/>
          </a:xfrm>
          <a:prstGeom prst="rect">
            <a:avLst/>
          </a:prstGeom>
        </p:spPr>
        <p:txBody>
          <a:bodyPr wrap="square">
            <a:spAutoFit/>
          </a:bodyPr>
          <a:lstStyle/>
          <a:p>
            <a:pPr algn="just"/>
            <a:r>
              <a:rPr lang="en-US" b="1" dirty="0" err="1" smtClean="0">
                <a:solidFill>
                  <a:srgbClr val="333333"/>
                </a:solidFill>
                <a:latin typeface="Noto Sans"/>
              </a:rPr>
              <a:t>OK_Goes</a:t>
            </a:r>
            <a:r>
              <a:rPr lang="en-US" b="1" dirty="0" smtClean="0">
                <a:solidFill>
                  <a:srgbClr val="333333"/>
                </a:solidFill>
                <a:latin typeface="Noto Sans"/>
              </a:rPr>
              <a:t>!!!</a:t>
            </a:r>
            <a:r>
              <a:rPr lang="en-US" dirty="0">
                <a:solidFill>
                  <a:srgbClr val="333333"/>
                </a:solidFill>
                <a:latin typeface="Noto Sans"/>
              </a:rPr>
              <a:t> We have basically created a </a:t>
            </a:r>
            <a:r>
              <a:rPr lang="en-US" b="1" dirty="0">
                <a:solidFill>
                  <a:srgbClr val="333333"/>
                </a:solidFill>
                <a:latin typeface="Noto Sans"/>
                <a:hlinkClick r:id="rId3"/>
              </a:rPr>
              <a:t>Deployment</a:t>
            </a:r>
            <a:r>
              <a:rPr lang="en-US" dirty="0">
                <a:solidFill>
                  <a:srgbClr val="333333"/>
                </a:solidFill>
                <a:latin typeface="Noto Sans"/>
              </a:rPr>
              <a:t>, which includes a </a:t>
            </a:r>
            <a:r>
              <a:rPr lang="en-US" b="1" dirty="0">
                <a:solidFill>
                  <a:srgbClr val="333333"/>
                </a:solidFill>
                <a:latin typeface="Noto Sans"/>
                <a:hlinkClick r:id="rId4"/>
              </a:rPr>
              <a:t>Service</a:t>
            </a:r>
            <a:r>
              <a:rPr lang="en-US" dirty="0">
                <a:solidFill>
                  <a:srgbClr val="333333"/>
                </a:solidFill>
                <a:latin typeface="Noto Sans"/>
              </a:rPr>
              <a:t> and </a:t>
            </a:r>
            <a:r>
              <a:rPr lang="en-US" b="1" dirty="0">
                <a:solidFill>
                  <a:srgbClr val="333333"/>
                </a:solidFill>
                <a:latin typeface="Noto Sans"/>
                <a:hlinkClick r:id="rId5"/>
              </a:rPr>
              <a:t>Ingress</a:t>
            </a:r>
            <a:r>
              <a:rPr lang="en-US" dirty="0">
                <a:solidFill>
                  <a:srgbClr val="333333"/>
                </a:solidFill>
                <a:latin typeface="Noto Sans"/>
              </a:rPr>
              <a:t> configuration </a:t>
            </a:r>
            <a:r>
              <a:rPr lang="en-US" b="1" dirty="0">
                <a:solidFill>
                  <a:srgbClr val="333333"/>
                </a:solidFill>
                <a:latin typeface="Noto Sans"/>
              </a:rPr>
              <a:t>to access our hosted app from outside the cluster</a:t>
            </a:r>
            <a:r>
              <a:rPr lang="en-US" dirty="0">
                <a:solidFill>
                  <a:srgbClr val="333333"/>
                </a:solidFill>
                <a:latin typeface="Noto Sans"/>
              </a:rPr>
              <a:t>.</a:t>
            </a:r>
          </a:p>
          <a:p>
            <a:pPr algn="just"/>
            <a:r>
              <a:rPr lang="en-US" b="1" dirty="0">
                <a:solidFill>
                  <a:srgbClr val="333333"/>
                </a:solidFill>
                <a:latin typeface="Noto Sans"/>
              </a:rPr>
              <a:t>Now let’s check the running services to corroborate that everything works as expected:</a:t>
            </a:r>
            <a:endParaRPr lang="en-US" b="0" i="0" dirty="0">
              <a:solidFill>
                <a:srgbClr val="333333"/>
              </a:solidFill>
              <a:effectLst/>
              <a:latin typeface="Noto Sans"/>
            </a:endParaRPr>
          </a:p>
        </p:txBody>
      </p:sp>
      <p:sp>
        <p:nvSpPr>
          <p:cNvPr id="9" name="Rectangle 8"/>
          <p:cNvSpPr/>
          <p:nvPr/>
        </p:nvSpPr>
        <p:spPr>
          <a:xfrm>
            <a:off x="6697130" y="888514"/>
            <a:ext cx="5494870" cy="2462213"/>
          </a:xfrm>
          <a:prstGeom prst="rect">
            <a:avLst/>
          </a:prstGeom>
          <a:solidFill>
            <a:schemeClr val="tx1"/>
          </a:solidFill>
        </p:spPr>
        <p:txBody>
          <a:bodyPr wrap="square">
            <a:spAutoFit/>
          </a:bodyPr>
          <a:lstStyle/>
          <a:p>
            <a:pPr algn="just"/>
            <a:r>
              <a:rPr lang="en-US" sz="1400" dirty="0" err="1">
                <a:solidFill>
                  <a:schemeClr val="bg1">
                    <a:lumMod val="95000"/>
                  </a:schemeClr>
                </a:solidFill>
              </a:rPr>
              <a:t>root@administrator</a:t>
            </a:r>
            <a:r>
              <a:rPr lang="en-US" sz="1400" dirty="0">
                <a:solidFill>
                  <a:schemeClr val="bg1">
                    <a:lumMod val="95000"/>
                  </a:schemeClr>
                </a:solidFill>
              </a:rPr>
              <a:t>:/home/panda/GPU2# </a:t>
            </a:r>
            <a:endParaRPr lang="en-US" sz="1400" dirty="0" smtClean="0">
              <a:solidFill>
                <a:schemeClr val="bg1">
                  <a:lumMod val="95000"/>
                </a:schemeClr>
              </a:solidFill>
            </a:endParaRPr>
          </a:p>
          <a:p>
            <a:pPr algn="just"/>
            <a:endParaRPr lang="en-US" sz="1400" dirty="0" smtClean="0">
              <a:solidFill>
                <a:schemeClr val="bg1">
                  <a:lumMod val="95000"/>
                </a:schemeClr>
              </a:solidFill>
            </a:endParaRPr>
          </a:p>
          <a:p>
            <a:pPr algn="just"/>
            <a:r>
              <a:rPr lang="en-US" sz="1400" dirty="0" err="1">
                <a:solidFill>
                  <a:schemeClr val="bg1"/>
                </a:solidFill>
              </a:rPr>
              <a:t>kubectl</a:t>
            </a:r>
            <a:r>
              <a:rPr lang="en-US" sz="1400" dirty="0">
                <a:solidFill>
                  <a:schemeClr val="bg1"/>
                </a:solidFill>
              </a:rPr>
              <a:t> get services -o wide --all-namespaces</a:t>
            </a:r>
          </a:p>
          <a:p>
            <a:pPr algn="just"/>
            <a:endParaRPr lang="en-US" sz="1400" dirty="0">
              <a:solidFill>
                <a:schemeClr val="bg1"/>
              </a:solidFill>
            </a:endParaRPr>
          </a:p>
          <a:p>
            <a:pPr algn="just"/>
            <a:r>
              <a:rPr lang="en-US" sz="1400" dirty="0">
                <a:solidFill>
                  <a:schemeClr val="bg1"/>
                </a:solidFill>
              </a:rPr>
              <a:t>NAMESPACE            NAME              TYPE           CLUSTER-IP      EXTERNAL-IP</a:t>
            </a:r>
          </a:p>
          <a:p>
            <a:pPr algn="just"/>
            <a:r>
              <a:rPr lang="en-US" sz="1400" dirty="0">
                <a:solidFill>
                  <a:schemeClr val="bg1"/>
                </a:solidFill>
              </a:rPr>
              <a:t>default              </a:t>
            </a:r>
            <a:r>
              <a:rPr lang="en-US" sz="1400" dirty="0" err="1">
                <a:solidFill>
                  <a:schemeClr val="bg1"/>
                </a:solidFill>
              </a:rPr>
              <a:t>kubernetes</a:t>
            </a:r>
            <a:r>
              <a:rPr lang="en-US" sz="1400" dirty="0">
                <a:solidFill>
                  <a:schemeClr val="bg1"/>
                </a:solidFill>
              </a:rPr>
              <a:t>        </a:t>
            </a:r>
            <a:r>
              <a:rPr lang="en-US" sz="1400" dirty="0" err="1">
                <a:solidFill>
                  <a:schemeClr val="bg1"/>
                </a:solidFill>
              </a:rPr>
              <a:t>ClusterIP</a:t>
            </a:r>
            <a:r>
              <a:rPr lang="en-US" sz="1400" dirty="0">
                <a:solidFill>
                  <a:schemeClr val="bg1"/>
                </a:solidFill>
              </a:rPr>
              <a:t>      10.43.0.1       &lt;none&gt;           </a:t>
            </a:r>
          </a:p>
          <a:p>
            <a:pPr algn="just"/>
            <a:r>
              <a:rPr lang="en-US" sz="1400" dirty="0" err="1">
                <a:solidFill>
                  <a:schemeClr val="bg1"/>
                </a:solidFill>
              </a:rPr>
              <a:t>kube</a:t>
            </a:r>
            <a:r>
              <a:rPr lang="en-US" sz="1400" dirty="0">
                <a:solidFill>
                  <a:schemeClr val="bg1"/>
                </a:solidFill>
              </a:rPr>
              <a:t>-system          </a:t>
            </a:r>
            <a:r>
              <a:rPr lang="en-US" sz="1400" dirty="0" err="1">
                <a:solidFill>
                  <a:schemeClr val="bg1"/>
                </a:solidFill>
              </a:rPr>
              <a:t>kube-dns</a:t>
            </a:r>
            <a:r>
              <a:rPr lang="en-US" sz="1400" dirty="0">
                <a:solidFill>
                  <a:schemeClr val="bg1"/>
                </a:solidFill>
              </a:rPr>
              <a:t>          </a:t>
            </a:r>
            <a:r>
              <a:rPr lang="en-US" sz="1400" dirty="0" err="1">
                <a:solidFill>
                  <a:schemeClr val="bg1"/>
                </a:solidFill>
              </a:rPr>
              <a:t>ClusterIP</a:t>
            </a:r>
            <a:r>
              <a:rPr lang="en-US" sz="1400" dirty="0">
                <a:solidFill>
                  <a:schemeClr val="bg1"/>
                </a:solidFill>
              </a:rPr>
              <a:t>      10.43.0.10      &lt;none&gt;           </a:t>
            </a:r>
          </a:p>
          <a:p>
            <a:pPr algn="just"/>
            <a:r>
              <a:rPr lang="en-US" sz="1400" dirty="0" err="1">
                <a:solidFill>
                  <a:schemeClr val="bg1"/>
                </a:solidFill>
              </a:rPr>
              <a:t>kube</a:t>
            </a:r>
            <a:r>
              <a:rPr lang="en-US" sz="1400" dirty="0">
                <a:solidFill>
                  <a:schemeClr val="bg1"/>
                </a:solidFill>
              </a:rPr>
              <a:t>-system          metrics-server    </a:t>
            </a:r>
            <a:r>
              <a:rPr lang="en-US" sz="1400" dirty="0" err="1">
                <a:solidFill>
                  <a:schemeClr val="bg1"/>
                </a:solidFill>
              </a:rPr>
              <a:t>ClusterIP</a:t>
            </a:r>
            <a:r>
              <a:rPr lang="en-US" sz="1400" dirty="0">
                <a:solidFill>
                  <a:schemeClr val="bg1"/>
                </a:solidFill>
              </a:rPr>
              <a:t>      10.43.33.97     &lt;none&gt;           </a:t>
            </a:r>
          </a:p>
          <a:p>
            <a:pPr algn="just"/>
            <a:r>
              <a:rPr lang="en-US" sz="1400" dirty="0" err="1">
                <a:solidFill>
                  <a:schemeClr val="bg1"/>
                </a:solidFill>
              </a:rPr>
              <a:t>kube</a:t>
            </a:r>
            <a:r>
              <a:rPr lang="en-US" sz="1400" dirty="0">
                <a:solidFill>
                  <a:schemeClr val="bg1"/>
                </a:solidFill>
              </a:rPr>
              <a:t>-system          </a:t>
            </a:r>
            <a:r>
              <a:rPr lang="en-US" sz="1400" dirty="0" err="1">
                <a:solidFill>
                  <a:schemeClr val="bg1"/>
                </a:solidFill>
              </a:rPr>
              <a:t>nginx</a:t>
            </a:r>
            <a:r>
              <a:rPr lang="en-US" sz="1400" dirty="0">
                <a:solidFill>
                  <a:schemeClr val="bg1"/>
                </a:solidFill>
              </a:rPr>
              <a:t>-ingress     </a:t>
            </a:r>
            <a:r>
              <a:rPr lang="en-US" sz="1400" dirty="0" err="1">
                <a:solidFill>
                  <a:schemeClr val="bg1"/>
                </a:solidFill>
              </a:rPr>
              <a:t>LoadBalancer</a:t>
            </a:r>
            <a:r>
              <a:rPr lang="en-US" sz="1400" dirty="0">
                <a:solidFill>
                  <a:schemeClr val="bg1"/>
                </a:solidFill>
              </a:rPr>
              <a:t>   10.43.196.229   192.168.0.200   </a:t>
            </a:r>
          </a:p>
          <a:p>
            <a:pPr algn="just"/>
            <a:r>
              <a:rPr lang="en-US" sz="1400" dirty="0" smtClean="0">
                <a:solidFill>
                  <a:schemeClr val="bg1"/>
                </a:solidFill>
              </a:rPr>
              <a:t>Home-cloud-</a:t>
            </a:r>
            <a:r>
              <a:rPr lang="en-US" sz="1400" dirty="0" err="1" smtClean="0">
                <a:solidFill>
                  <a:schemeClr val="bg1"/>
                </a:solidFill>
              </a:rPr>
              <a:t>drawio</a:t>
            </a:r>
            <a:r>
              <a:rPr lang="en-US" sz="1400" dirty="0" smtClean="0">
                <a:solidFill>
                  <a:schemeClr val="bg1"/>
                </a:solidFill>
              </a:rPr>
              <a:t>    </a:t>
            </a:r>
            <a:r>
              <a:rPr lang="en-US" sz="1400" dirty="0" err="1">
                <a:solidFill>
                  <a:schemeClr val="bg1"/>
                </a:solidFill>
              </a:rPr>
              <a:t>drawio</a:t>
            </a:r>
            <a:r>
              <a:rPr lang="en-US" sz="1400" dirty="0">
                <a:solidFill>
                  <a:schemeClr val="bg1"/>
                </a:solidFill>
              </a:rPr>
              <a:t>            </a:t>
            </a:r>
            <a:r>
              <a:rPr lang="en-US" sz="1400" dirty="0" err="1">
                <a:solidFill>
                  <a:schemeClr val="bg1"/>
                </a:solidFill>
              </a:rPr>
              <a:t>ClusterIP</a:t>
            </a:r>
            <a:r>
              <a:rPr lang="en-US" sz="1400" dirty="0">
                <a:solidFill>
                  <a:schemeClr val="bg1"/>
                </a:solidFill>
              </a:rPr>
              <a:t>      10.43.35.88     &lt;none&gt;</a:t>
            </a:r>
          </a:p>
        </p:txBody>
      </p:sp>
    </p:spTree>
    <p:extLst>
      <p:ext uri="{BB962C8B-B14F-4D97-AF65-F5344CB8AC3E}">
        <p14:creationId xmlns:p14="http://schemas.microsoft.com/office/powerpoint/2010/main" val="37319548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369332"/>
          </a:xfrm>
          <a:prstGeom prst="rect">
            <a:avLst/>
          </a:prstGeom>
        </p:spPr>
        <p:txBody>
          <a:bodyPr wrap="square">
            <a:spAutoFit/>
          </a:bodyPr>
          <a:lstStyle/>
          <a:p>
            <a:r>
              <a:rPr lang="en-US" b="1" dirty="0"/>
              <a:t>Kubernetes: Useful Commands</a:t>
            </a:r>
          </a:p>
        </p:txBody>
      </p:sp>
      <p:sp>
        <p:nvSpPr>
          <p:cNvPr id="4" name="Rectangle 3"/>
          <p:cNvSpPr/>
          <p:nvPr/>
        </p:nvSpPr>
        <p:spPr>
          <a:xfrm>
            <a:off x="557103" y="1032809"/>
            <a:ext cx="6927430" cy="5078313"/>
          </a:xfrm>
          <a:prstGeom prst="rect">
            <a:avLst/>
          </a:prstGeom>
          <a:solidFill>
            <a:schemeClr val="bg1">
              <a:lumMod val="75000"/>
            </a:schemeClr>
          </a:solidFill>
        </p:spPr>
        <p:txBody>
          <a:bodyPr wrap="square">
            <a:spAutoFit/>
          </a:bodyPr>
          <a:lstStyle/>
          <a:p>
            <a:pPr algn="just"/>
            <a:r>
              <a:rPr lang="en-US" dirty="0">
                <a:solidFill>
                  <a:schemeClr val="bg1"/>
                </a:solidFill>
              </a:rPr>
              <a:t># Cluster information</a:t>
            </a:r>
          </a:p>
          <a:p>
            <a:pPr algn="just"/>
            <a:r>
              <a:rPr lang="en-US" dirty="0">
                <a:solidFill>
                  <a:schemeClr val="bg1"/>
                </a:solidFill>
              </a:rPr>
              <a:t>$ </a:t>
            </a:r>
            <a:r>
              <a:rPr lang="en-US" dirty="0" err="1">
                <a:solidFill>
                  <a:schemeClr val="bg1"/>
                </a:solidFill>
              </a:rPr>
              <a:t>kubectl</a:t>
            </a:r>
            <a:r>
              <a:rPr lang="en-US" dirty="0">
                <a:solidFill>
                  <a:schemeClr val="bg1"/>
                </a:solidFill>
              </a:rPr>
              <a:t> cluster-info</a:t>
            </a:r>
          </a:p>
          <a:p>
            <a:pPr algn="just"/>
            <a:r>
              <a:rPr lang="en-US" dirty="0">
                <a:solidFill>
                  <a:schemeClr val="bg1"/>
                </a:solidFill>
              </a:rPr>
              <a:t>$ </a:t>
            </a:r>
            <a:r>
              <a:rPr lang="en-US" dirty="0" err="1">
                <a:solidFill>
                  <a:schemeClr val="bg1"/>
                </a:solidFill>
              </a:rPr>
              <a:t>kubectl</a:t>
            </a:r>
            <a:r>
              <a:rPr lang="en-US" dirty="0">
                <a:solidFill>
                  <a:schemeClr val="bg1"/>
                </a:solidFill>
              </a:rPr>
              <a:t> get nodes -o wide</a:t>
            </a:r>
          </a:p>
          <a:p>
            <a:pPr algn="just"/>
            <a:endParaRPr lang="en-US" dirty="0">
              <a:solidFill>
                <a:schemeClr val="bg1"/>
              </a:solidFill>
            </a:endParaRPr>
          </a:p>
          <a:p>
            <a:pPr algn="just"/>
            <a:r>
              <a:rPr lang="en-US" dirty="0">
                <a:solidFill>
                  <a:schemeClr val="bg1"/>
                </a:solidFill>
              </a:rPr>
              <a:t># Check </a:t>
            </a:r>
            <a:r>
              <a:rPr lang="en-US" dirty="0" err="1">
                <a:solidFill>
                  <a:schemeClr val="bg1"/>
                </a:solidFill>
              </a:rPr>
              <a:t>runnint</a:t>
            </a:r>
            <a:r>
              <a:rPr lang="en-US" dirty="0">
                <a:solidFill>
                  <a:schemeClr val="bg1"/>
                </a:solidFill>
              </a:rPr>
              <a:t> Services</a:t>
            </a:r>
          </a:p>
          <a:p>
            <a:pPr algn="just"/>
            <a:r>
              <a:rPr lang="en-US" dirty="0">
                <a:solidFill>
                  <a:schemeClr val="bg1"/>
                </a:solidFill>
              </a:rPr>
              <a:t>$ </a:t>
            </a:r>
            <a:r>
              <a:rPr lang="en-US" dirty="0" err="1">
                <a:solidFill>
                  <a:schemeClr val="bg1"/>
                </a:solidFill>
              </a:rPr>
              <a:t>kubectl</a:t>
            </a:r>
            <a:r>
              <a:rPr lang="en-US" dirty="0">
                <a:solidFill>
                  <a:schemeClr val="bg1"/>
                </a:solidFill>
              </a:rPr>
              <a:t> get services -o wide --all-namespaces</a:t>
            </a:r>
          </a:p>
          <a:p>
            <a:pPr algn="just"/>
            <a:endParaRPr lang="en-US" dirty="0">
              <a:solidFill>
                <a:schemeClr val="bg1"/>
              </a:solidFill>
            </a:endParaRPr>
          </a:p>
          <a:p>
            <a:pPr algn="just"/>
            <a:r>
              <a:rPr lang="en-US" dirty="0">
                <a:solidFill>
                  <a:schemeClr val="bg1"/>
                </a:solidFill>
              </a:rPr>
              <a:t># Check running Ingress</a:t>
            </a:r>
          </a:p>
          <a:p>
            <a:pPr algn="just"/>
            <a:r>
              <a:rPr lang="en-US" dirty="0">
                <a:solidFill>
                  <a:schemeClr val="bg1"/>
                </a:solidFill>
              </a:rPr>
              <a:t>$ </a:t>
            </a:r>
            <a:r>
              <a:rPr lang="en-US" dirty="0" err="1">
                <a:solidFill>
                  <a:schemeClr val="bg1"/>
                </a:solidFill>
              </a:rPr>
              <a:t>kubectl</a:t>
            </a:r>
            <a:r>
              <a:rPr lang="en-US" dirty="0">
                <a:solidFill>
                  <a:schemeClr val="bg1"/>
                </a:solidFill>
              </a:rPr>
              <a:t> get ingresses --all-namespaces</a:t>
            </a:r>
          </a:p>
          <a:p>
            <a:pPr algn="just"/>
            <a:endParaRPr lang="en-US" dirty="0">
              <a:solidFill>
                <a:schemeClr val="bg1"/>
              </a:solidFill>
            </a:endParaRPr>
          </a:p>
          <a:p>
            <a:pPr algn="just"/>
            <a:r>
              <a:rPr lang="en-US" dirty="0">
                <a:solidFill>
                  <a:schemeClr val="bg1"/>
                </a:solidFill>
              </a:rPr>
              <a:t># Display all the running Pod</a:t>
            </a:r>
          </a:p>
          <a:p>
            <a:pPr algn="just"/>
            <a:r>
              <a:rPr lang="en-US" dirty="0">
                <a:solidFill>
                  <a:schemeClr val="bg1"/>
                </a:solidFill>
              </a:rPr>
              <a:t>$ </a:t>
            </a:r>
            <a:r>
              <a:rPr lang="en-US" dirty="0" err="1">
                <a:solidFill>
                  <a:schemeClr val="bg1"/>
                </a:solidFill>
              </a:rPr>
              <a:t>kubectl</a:t>
            </a:r>
            <a:r>
              <a:rPr lang="en-US" dirty="0">
                <a:solidFill>
                  <a:schemeClr val="bg1"/>
                </a:solidFill>
              </a:rPr>
              <a:t> get pods -A -o wide</a:t>
            </a:r>
          </a:p>
          <a:p>
            <a:pPr algn="just"/>
            <a:endParaRPr lang="en-US" dirty="0">
              <a:solidFill>
                <a:schemeClr val="bg1"/>
              </a:solidFill>
            </a:endParaRPr>
          </a:p>
          <a:p>
            <a:pPr algn="just"/>
            <a:r>
              <a:rPr lang="en-US" dirty="0">
                <a:solidFill>
                  <a:schemeClr val="bg1"/>
                </a:solidFill>
              </a:rPr>
              <a:t># Get logs for an specific Pod</a:t>
            </a:r>
          </a:p>
          <a:p>
            <a:pPr algn="just"/>
            <a:r>
              <a:rPr lang="en-US" dirty="0">
                <a:solidFill>
                  <a:schemeClr val="bg1"/>
                </a:solidFill>
              </a:rPr>
              <a:t>$ </a:t>
            </a:r>
            <a:r>
              <a:rPr lang="en-US" dirty="0" err="1">
                <a:solidFill>
                  <a:schemeClr val="bg1"/>
                </a:solidFill>
              </a:rPr>
              <a:t>kubectl</a:t>
            </a:r>
            <a:r>
              <a:rPr lang="en-US" dirty="0">
                <a:solidFill>
                  <a:schemeClr val="bg1"/>
                </a:solidFill>
              </a:rPr>
              <a:t> logs -f &lt;</a:t>
            </a:r>
            <a:r>
              <a:rPr lang="en-US" dirty="0" err="1">
                <a:solidFill>
                  <a:schemeClr val="bg1"/>
                </a:solidFill>
              </a:rPr>
              <a:t>your_pod</a:t>
            </a:r>
            <a:r>
              <a:rPr lang="en-US" dirty="0">
                <a:solidFill>
                  <a:schemeClr val="bg1"/>
                </a:solidFill>
              </a:rPr>
              <a:t>&gt; -n &lt;</a:t>
            </a:r>
            <a:r>
              <a:rPr lang="en-US" dirty="0" err="1">
                <a:solidFill>
                  <a:schemeClr val="bg1"/>
                </a:solidFill>
              </a:rPr>
              <a:t>your_pod_namespace</a:t>
            </a:r>
            <a:r>
              <a:rPr lang="en-US" dirty="0">
                <a:solidFill>
                  <a:schemeClr val="bg1"/>
                </a:solidFill>
              </a:rPr>
              <a:t>&gt;</a:t>
            </a:r>
          </a:p>
          <a:p>
            <a:pPr algn="just"/>
            <a:endParaRPr lang="en-US" dirty="0">
              <a:solidFill>
                <a:schemeClr val="bg1"/>
              </a:solidFill>
            </a:endParaRPr>
          </a:p>
          <a:p>
            <a:pPr algn="just"/>
            <a:r>
              <a:rPr lang="en-US" dirty="0">
                <a:solidFill>
                  <a:schemeClr val="bg1"/>
                </a:solidFill>
              </a:rPr>
              <a:t># Get information about an specific Pod</a:t>
            </a:r>
          </a:p>
          <a:p>
            <a:pPr algn="just"/>
            <a:r>
              <a:rPr lang="en-US" dirty="0">
                <a:solidFill>
                  <a:schemeClr val="bg1"/>
                </a:solidFill>
              </a:rPr>
              <a:t>$ </a:t>
            </a:r>
            <a:r>
              <a:rPr lang="en-US" dirty="0" err="1">
                <a:solidFill>
                  <a:schemeClr val="bg1"/>
                </a:solidFill>
              </a:rPr>
              <a:t>kubectl</a:t>
            </a:r>
            <a:r>
              <a:rPr lang="en-US" dirty="0">
                <a:solidFill>
                  <a:schemeClr val="bg1"/>
                </a:solidFill>
              </a:rPr>
              <a:t> describe pod &lt;</a:t>
            </a:r>
            <a:r>
              <a:rPr lang="en-US" dirty="0" err="1">
                <a:solidFill>
                  <a:schemeClr val="bg1"/>
                </a:solidFill>
              </a:rPr>
              <a:t>your_pod</a:t>
            </a:r>
            <a:r>
              <a:rPr lang="en-US" dirty="0">
                <a:solidFill>
                  <a:schemeClr val="bg1"/>
                </a:solidFill>
              </a:rPr>
              <a:t>&gt; -n &lt;</a:t>
            </a:r>
            <a:r>
              <a:rPr lang="en-US" dirty="0" err="1">
                <a:solidFill>
                  <a:schemeClr val="bg1"/>
                </a:solidFill>
              </a:rPr>
              <a:t>your_pod_namespace</a:t>
            </a:r>
            <a:endParaRPr lang="en-US" dirty="0">
              <a:solidFill>
                <a:schemeClr val="bg1"/>
              </a:solidFill>
            </a:endParaRPr>
          </a:p>
        </p:txBody>
      </p:sp>
    </p:spTree>
    <p:extLst>
      <p:ext uri="{BB962C8B-B14F-4D97-AF65-F5344CB8AC3E}">
        <p14:creationId xmlns:p14="http://schemas.microsoft.com/office/powerpoint/2010/main" val="345250301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5" name="Rectangle 4"/>
          <p:cNvSpPr/>
          <p:nvPr/>
        </p:nvSpPr>
        <p:spPr>
          <a:xfrm>
            <a:off x="245533" y="519182"/>
            <a:ext cx="5410201" cy="369332"/>
          </a:xfrm>
          <a:prstGeom prst="rect">
            <a:avLst/>
          </a:prstGeom>
        </p:spPr>
        <p:txBody>
          <a:bodyPr wrap="square">
            <a:spAutoFit/>
          </a:bodyPr>
          <a:lstStyle/>
          <a:p>
            <a:r>
              <a:rPr lang="en-US" b="1" dirty="0"/>
              <a:t>A simpler Docker Approach</a:t>
            </a:r>
            <a:endParaRPr lang="en-US" b="1" dirty="0"/>
          </a:p>
        </p:txBody>
      </p:sp>
      <p:pic>
        <p:nvPicPr>
          <p:cNvPr id="2" name="Picture 1"/>
          <p:cNvPicPr>
            <a:picLocks noChangeAspect="1"/>
          </p:cNvPicPr>
          <p:nvPr/>
        </p:nvPicPr>
        <p:blipFill>
          <a:blip r:embed="rId3"/>
          <a:stretch>
            <a:fillRect/>
          </a:stretch>
        </p:blipFill>
        <p:spPr>
          <a:xfrm>
            <a:off x="1304925" y="1638300"/>
            <a:ext cx="9582150" cy="3581400"/>
          </a:xfrm>
          <a:prstGeom prst="rect">
            <a:avLst/>
          </a:prstGeom>
        </p:spPr>
      </p:pic>
    </p:spTree>
    <p:extLst>
      <p:ext uri="{BB962C8B-B14F-4D97-AF65-F5344CB8AC3E}">
        <p14:creationId xmlns:p14="http://schemas.microsoft.com/office/powerpoint/2010/main" val="84233805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8478754" y="119072"/>
            <a:ext cx="3552383" cy="400110"/>
          </a:xfrm>
          <a:prstGeom prst="rect">
            <a:avLst/>
          </a:prstGeom>
        </p:spPr>
        <p:txBody>
          <a:bodyPr wrap="none">
            <a:spAutoFit/>
          </a:bodyPr>
          <a:lstStyle/>
          <a:p>
            <a:r>
              <a:rPr lang="en-US" sz="2000" b="1" dirty="0">
                <a:solidFill>
                  <a:srgbClr val="FFC000"/>
                </a:solidFill>
              </a:rPr>
              <a:t>Docker and </a:t>
            </a:r>
            <a:r>
              <a:rPr lang="en-US" sz="2000" b="1" dirty="0" smtClean="0">
                <a:solidFill>
                  <a:srgbClr val="FFC000"/>
                </a:solidFill>
              </a:rPr>
              <a:t>Kubernetes (</a:t>
            </a:r>
            <a:r>
              <a:rPr lang="en-US" sz="2000" b="1" dirty="0" err="1" smtClean="0">
                <a:solidFill>
                  <a:srgbClr val="FFC000"/>
                </a:solidFill>
              </a:rPr>
              <a:t>Cons’t</a:t>
            </a:r>
            <a:r>
              <a:rPr lang="en-US" sz="2000" b="1" dirty="0" smtClean="0">
                <a:solidFill>
                  <a:srgbClr val="FFC000"/>
                </a:solidFill>
              </a:rPr>
              <a:t>)</a:t>
            </a:r>
            <a:endParaRPr lang="en-US" sz="2000" dirty="0">
              <a:solidFill>
                <a:srgbClr val="FFC000"/>
              </a:solidFill>
            </a:endParaRPr>
          </a:p>
        </p:txBody>
      </p:sp>
      <p:sp>
        <p:nvSpPr>
          <p:cNvPr id="2" name="Rectangle 1"/>
          <p:cNvSpPr/>
          <p:nvPr/>
        </p:nvSpPr>
        <p:spPr>
          <a:xfrm>
            <a:off x="203200" y="519182"/>
            <a:ext cx="6096000" cy="4524315"/>
          </a:xfrm>
          <a:prstGeom prst="rect">
            <a:avLst/>
          </a:prstGeom>
        </p:spPr>
        <p:txBody>
          <a:bodyPr>
            <a:spAutoFit/>
          </a:bodyPr>
          <a:lstStyle/>
          <a:p>
            <a:pPr algn="just"/>
            <a:r>
              <a:rPr lang="en-US" dirty="0"/>
              <a:t>Upfront, this infrastructure architecture seems very similar to the one defined with Kubernetes, and indeed it is, the flow is the same as described above and server configuration is equal too. The biggest </a:t>
            </a:r>
            <a:r>
              <a:rPr lang="en-US" dirty="0" err="1"/>
              <a:t>changeset</a:t>
            </a:r>
            <a:r>
              <a:rPr lang="en-US" dirty="0"/>
              <a:t> has to do with implementation details:</a:t>
            </a:r>
          </a:p>
          <a:p>
            <a:pPr algn="just"/>
            <a:endParaRPr lang="en-US" dirty="0"/>
          </a:p>
          <a:p>
            <a:pPr marL="285750" indent="-285750" algn="just">
              <a:buFont typeface="Wingdings" panose="05000000000000000000" pitchFamily="2" charset="2"/>
              <a:buChar char="ü"/>
            </a:pPr>
            <a:r>
              <a:rPr lang="en-US" dirty="0"/>
              <a:t>I only need one server (load distribution is off here).</a:t>
            </a:r>
          </a:p>
          <a:p>
            <a:pPr marL="285750" indent="-285750" algn="just">
              <a:buFont typeface="Wingdings" panose="05000000000000000000" pitchFamily="2" charset="2"/>
              <a:buChar char="ü"/>
            </a:pPr>
            <a:r>
              <a:rPr lang="en-US" dirty="0"/>
              <a:t>Handling configuration files with </a:t>
            </a:r>
            <a:r>
              <a:rPr lang="en-US" dirty="0" err="1"/>
              <a:t>docker</a:t>
            </a:r>
            <a:r>
              <a:rPr lang="en-US" dirty="0"/>
              <a:t> is easier.</a:t>
            </a:r>
          </a:p>
          <a:p>
            <a:pPr marL="285750" indent="-285750" algn="just">
              <a:buFont typeface="Wingdings" panose="05000000000000000000" pitchFamily="2" charset="2"/>
              <a:buChar char="ü"/>
            </a:pPr>
            <a:r>
              <a:rPr lang="en-US" dirty="0"/>
              <a:t>Less moving parts, les complexity, for instance, less to maintain.</a:t>
            </a:r>
          </a:p>
          <a:p>
            <a:pPr marL="285750" indent="-285750" algn="just">
              <a:buFont typeface="Wingdings" panose="05000000000000000000" pitchFamily="2" charset="2"/>
              <a:buChar char="ü"/>
            </a:pPr>
            <a:r>
              <a:rPr lang="en-US" dirty="0"/>
              <a:t>I do not need a system for </a:t>
            </a:r>
            <a:r>
              <a:rPr lang="en-US" dirty="0" err="1"/>
              <a:t>Microservices</a:t>
            </a:r>
            <a:r>
              <a:rPr lang="en-US" dirty="0"/>
              <a:t> Orchestration.</a:t>
            </a:r>
          </a:p>
          <a:p>
            <a:pPr algn="just"/>
            <a:r>
              <a:rPr lang="en-US" dirty="0"/>
              <a:t>As an example, we will setup the same application as above: draw.io with </a:t>
            </a:r>
            <a:r>
              <a:rPr lang="en-US" dirty="0" err="1"/>
              <a:t>docker</a:t>
            </a:r>
            <a:r>
              <a:rPr lang="en-US" dirty="0"/>
              <a:t> compose:</a:t>
            </a:r>
          </a:p>
          <a:p>
            <a:pPr algn="just"/>
            <a:endParaRPr lang="en-US" dirty="0"/>
          </a:p>
          <a:p>
            <a:pPr marL="285750" indent="-285750" algn="just">
              <a:buFont typeface="Wingdings" panose="05000000000000000000" pitchFamily="2" charset="2"/>
              <a:buChar char="ü"/>
            </a:pPr>
            <a:r>
              <a:rPr lang="en-US" dirty="0"/>
              <a:t>We add this content to our </a:t>
            </a:r>
            <a:r>
              <a:rPr lang="en-US" dirty="0" err="1"/>
              <a:t>docker</a:t>
            </a:r>
            <a:r>
              <a:rPr lang="en-US" dirty="0"/>
              <a:t> compose file called home-</a:t>
            </a:r>
            <a:r>
              <a:rPr lang="en-US" dirty="0" err="1"/>
              <a:t>lab.yml</a:t>
            </a:r>
            <a:r>
              <a:rPr lang="en-US" dirty="0"/>
              <a:t>:</a:t>
            </a:r>
          </a:p>
        </p:txBody>
      </p:sp>
      <p:sp>
        <p:nvSpPr>
          <p:cNvPr id="6" name="Rectangle 5"/>
          <p:cNvSpPr/>
          <p:nvPr/>
        </p:nvSpPr>
        <p:spPr>
          <a:xfrm>
            <a:off x="6299200" y="519182"/>
            <a:ext cx="6079067" cy="7294305"/>
          </a:xfrm>
          <a:prstGeom prst="rect">
            <a:avLst/>
          </a:prstGeom>
          <a:solidFill>
            <a:schemeClr val="tx1"/>
          </a:solidFill>
        </p:spPr>
        <p:txBody>
          <a:bodyPr wrap="square">
            <a:spAutoFit/>
          </a:bodyPr>
          <a:lstStyle/>
          <a:p>
            <a:pPr algn="just"/>
            <a:r>
              <a:rPr lang="en-US" sz="1200" dirty="0">
                <a:solidFill>
                  <a:schemeClr val="bg1"/>
                </a:solidFill>
              </a:rPr>
              <a:t>version: "3.8"</a:t>
            </a:r>
          </a:p>
          <a:p>
            <a:pPr algn="just"/>
            <a:endParaRPr lang="en-US" sz="1200" dirty="0">
              <a:solidFill>
                <a:schemeClr val="bg1"/>
              </a:solidFill>
            </a:endParaRPr>
          </a:p>
          <a:p>
            <a:pPr algn="just"/>
            <a:r>
              <a:rPr lang="en-US" sz="1200" dirty="0">
                <a:solidFill>
                  <a:schemeClr val="bg1"/>
                </a:solidFill>
              </a:rPr>
              <a:t>services:</a:t>
            </a:r>
          </a:p>
          <a:p>
            <a:pPr algn="just"/>
            <a:endParaRPr lang="en-US" sz="1200" dirty="0">
              <a:solidFill>
                <a:schemeClr val="bg1"/>
              </a:solidFill>
            </a:endParaRPr>
          </a:p>
          <a:p>
            <a:pPr algn="just"/>
            <a:r>
              <a:rPr lang="en-US" sz="1200" dirty="0">
                <a:solidFill>
                  <a:schemeClr val="bg1"/>
                </a:solidFill>
              </a:rPr>
              <a:t>  </a:t>
            </a:r>
            <a:r>
              <a:rPr lang="en-US" sz="1200" dirty="0" err="1">
                <a:solidFill>
                  <a:schemeClr val="bg1"/>
                </a:solidFill>
              </a:rPr>
              <a:t>traefik</a:t>
            </a:r>
            <a:r>
              <a:rPr lang="en-US" sz="1200" dirty="0">
                <a:solidFill>
                  <a:schemeClr val="bg1"/>
                </a:solidFill>
              </a:rPr>
              <a:t>:</a:t>
            </a:r>
          </a:p>
          <a:p>
            <a:pPr algn="just"/>
            <a:r>
              <a:rPr lang="en-US" sz="1200" dirty="0">
                <a:solidFill>
                  <a:schemeClr val="bg1"/>
                </a:solidFill>
              </a:rPr>
              <a:t>    image: </a:t>
            </a:r>
            <a:r>
              <a:rPr lang="en-US" sz="1200" dirty="0" err="1">
                <a:solidFill>
                  <a:schemeClr val="bg1"/>
                </a:solidFill>
              </a:rPr>
              <a:t>traefik:latest</a:t>
            </a:r>
            <a:endParaRPr lang="en-US" sz="1200" dirty="0">
              <a:solidFill>
                <a:schemeClr val="bg1"/>
              </a:solidFill>
            </a:endParaRPr>
          </a:p>
          <a:p>
            <a:pPr algn="just"/>
            <a:r>
              <a:rPr lang="en-US" sz="1200" dirty="0">
                <a:solidFill>
                  <a:schemeClr val="bg1"/>
                </a:solidFill>
              </a:rPr>
              <a:t>    </a:t>
            </a:r>
            <a:r>
              <a:rPr lang="en-US" sz="1200" dirty="0" err="1">
                <a:solidFill>
                  <a:schemeClr val="bg1"/>
                </a:solidFill>
              </a:rPr>
              <a:t>container_name</a:t>
            </a:r>
            <a:r>
              <a:rPr lang="en-US" sz="1200" dirty="0">
                <a:solidFill>
                  <a:schemeClr val="bg1"/>
                </a:solidFill>
              </a:rPr>
              <a:t>: </a:t>
            </a:r>
            <a:r>
              <a:rPr lang="en-US" sz="1200" dirty="0" err="1">
                <a:solidFill>
                  <a:schemeClr val="bg1"/>
                </a:solidFill>
              </a:rPr>
              <a:t>traefik</a:t>
            </a:r>
            <a:endParaRPr lang="en-US" sz="1200" dirty="0">
              <a:solidFill>
                <a:schemeClr val="bg1"/>
              </a:solidFill>
            </a:endParaRPr>
          </a:p>
          <a:p>
            <a:pPr algn="just"/>
            <a:r>
              <a:rPr lang="en-US" sz="1200" dirty="0">
                <a:solidFill>
                  <a:schemeClr val="bg1"/>
                </a:solidFill>
              </a:rPr>
              <a:t>    command:</a:t>
            </a:r>
          </a:p>
          <a:p>
            <a:pPr algn="just"/>
            <a:r>
              <a:rPr lang="en-US" sz="1200" dirty="0">
                <a:solidFill>
                  <a:schemeClr val="bg1"/>
                </a:solidFill>
              </a:rPr>
              <a:t>      # Dynamic Configuration: mostly used for TSL certificates</a:t>
            </a:r>
          </a:p>
          <a:p>
            <a:pPr algn="just"/>
            <a:r>
              <a:rPr lang="en-US" sz="1200" dirty="0">
                <a:solidFill>
                  <a:schemeClr val="bg1"/>
                </a:solidFill>
              </a:rPr>
              <a:t>      - --</a:t>
            </a:r>
            <a:r>
              <a:rPr lang="en-US" sz="1200" dirty="0" err="1">
                <a:solidFill>
                  <a:schemeClr val="bg1"/>
                </a:solidFill>
              </a:rPr>
              <a:t>providers.file.filename</a:t>
            </a:r>
            <a:r>
              <a:rPr lang="en-US" sz="1200" dirty="0">
                <a:solidFill>
                  <a:schemeClr val="bg1"/>
                </a:solidFill>
              </a:rPr>
              <a:t>=/</a:t>
            </a:r>
            <a:r>
              <a:rPr lang="en-US" sz="1200" dirty="0" err="1">
                <a:solidFill>
                  <a:schemeClr val="bg1"/>
                </a:solidFill>
              </a:rPr>
              <a:t>etc</a:t>
            </a:r>
            <a:r>
              <a:rPr lang="en-US" sz="1200" dirty="0">
                <a:solidFill>
                  <a:schemeClr val="bg1"/>
                </a:solidFill>
              </a:rPr>
              <a:t>/</a:t>
            </a:r>
            <a:r>
              <a:rPr lang="en-US" sz="1200" dirty="0" err="1">
                <a:solidFill>
                  <a:schemeClr val="bg1"/>
                </a:solidFill>
              </a:rPr>
              <a:t>traefik</a:t>
            </a:r>
            <a:r>
              <a:rPr lang="en-US" sz="1200" dirty="0">
                <a:solidFill>
                  <a:schemeClr val="bg1"/>
                </a:solidFill>
              </a:rPr>
              <a:t>/</a:t>
            </a:r>
            <a:r>
              <a:rPr lang="en-US" sz="1200" dirty="0" err="1">
                <a:solidFill>
                  <a:schemeClr val="bg1"/>
                </a:solidFill>
              </a:rPr>
              <a:t>dynamic_conf.yml</a:t>
            </a:r>
            <a:endParaRPr lang="en-US" sz="1200" dirty="0">
              <a:solidFill>
                <a:schemeClr val="bg1"/>
              </a:solidFill>
            </a:endParaRPr>
          </a:p>
          <a:p>
            <a:pPr algn="just"/>
            <a:r>
              <a:rPr lang="en-US" sz="1200" dirty="0">
                <a:solidFill>
                  <a:schemeClr val="bg1"/>
                </a:solidFill>
              </a:rPr>
              <a:t>      # </a:t>
            </a:r>
            <a:r>
              <a:rPr lang="en-US" sz="1200" dirty="0" err="1">
                <a:solidFill>
                  <a:schemeClr val="bg1"/>
                </a:solidFill>
              </a:rPr>
              <a:t>Entrypoints</a:t>
            </a:r>
            <a:r>
              <a:rPr lang="en-US" sz="1200" dirty="0">
                <a:solidFill>
                  <a:schemeClr val="bg1"/>
                </a:solidFill>
              </a:rPr>
              <a:t> configuration</a:t>
            </a:r>
          </a:p>
          <a:p>
            <a:pPr algn="just"/>
            <a:r>
              <a:rPr lang="en-US" sz="1200" dirty="0">
                <a:solidFill>
                  <a:schemeClr val="bg1"/>
                </a:solidFill>
              </a:rPr>
              <a:t>      - --</a:t>
            </a:r>
            <a:r>
              <a:rPr lang="en-US" sz="1200" dirty="0" err="1">
                <a:solidFill>
                  <a:schemeClr val="bg1"/>
                </a:solidFill>
              </a:rPr>
              <a:t>entrypoints.web-secure.address</a:t>
            </a:r>
            <a:r>
              <a:rPr lang="en-US" sz="1200" dirty="0">
                <a:solidFill>
                  <a:schemeClr val="bg1"/>
                </a:solidFill>
              </a:rPr>
              <a:t>=:443</a:t>
            </a:r>
          </a:p>
          <a:p>
            <a:pPr algn="just"/>
            <a:r>
              <a:rPr lang="en-US" sz="1200" dirty="0">
                <a:solidFill>
                  <a:schemeClr val="bg1"/>
                </a:solidFill>
              </a:rPr>
              <a:t>    labels:</a:t>
            </a:r>
          </a:p>
          <a:p>
            <a:pPr algn="just"/>
            <a:r>
              <a:rPr lang="en-US" sz="1200" dirty="0">
                <a:solidFill>
                  <a:schemeClr val="bg1"/>
                </a:solidFill>
              </a:rPr>
              <a:t>      - </a:t>
            </a:r>
            <a:r>
              <a:rPr lang="en-US" sz="1200" dirty="0" err="1">
                <a:solidFill>
                  <a:schemeClr val="bg1"/>
                </a:solidFill>
              </a:rPr>
              <a:t>traefik.http.routers.traefik_route.rule</a:t>
            </a:r>
            <a:r>
              <a:rPr lang="en-US" sz="1200" dirty="0">
                <a:solidFill>
                  <a:schemeClr val="bg1"/>
                </a:solidFill>
              </a:rPr>
              <a:t>=Host(`</a:t>
            </a:r>
            <a:r>
              <a:rPr lang="en-US" sz="1200" dirty="0" err="1">
                <a:solidFill>
                  <a:schemeClr val="bg1"/>
                </a:solidFill>
              </a:rPr>
              <a:t>traefik.home.lab</a:t>
            </a:r>
            <a:r>
              <a:rPr lang="en-US" sz="1200" dirty="0">
                <a:solidFill>
                  <a:schemeClr val="bg1"/>
                </a:solidFill>
              </a:rPr>
              <a:t>`)</a:t>
            </a:r>
          </a:p>
          <a:p>
            <a:pPr algn="just"/>
            <a:r>
              <a:rPr lang="en-US" sz="1200" dirty="0">
                <a:solidFill>
                  <a:schemeClr val="bg1"/>
                </a:solidFill>
              </a:rPr>
              <a:t>      - </a:t>
            </a:r>
            <a:r>
              <a:rPr lang="en-US" sz="1200" dirty="0" err="1">
                <a:solidFill>
                  <a:schemeClr val="bg1"/>
                </a:solidFill>
              </a:rPr>
              <a:t>traefik.http.routers.traefik_route.tls</a:t>
            </a:r>
            <a:r>
              <a:rPr lang="en-US" sz="1200" dirty="0">
                <a:solidFill>
                  <a:schemeClr val="bg1"/>
                </a:solidFill>
              </a:rPr>
              <a:t>=true</a:t>
            </a:r>
          </a:p>
          <a:p>
            <a:pPr algn="just"/>
            <a:r>
              <a:rPr lang="en-US" sz="1200" dirty="0">
                <a:solidFill>
                  <a:schemeClr val="bg1"/>
                </a:solidFill>
              </a:rPr>
              <a:t>      - </a:t>
            </a:r>
            <a:r>
              <a:rPr lang="en-US" sz="1200" dirty="0" err="1">
                <a:solidFill>
                  <a:schemeClr val="bg1"/>
                </a:solidFill>
              </a:rPr>
              <a:t>traefik.http.routers.traefik_route.service</a:t>
            </a:r>
            <a:r>
              <a:rPr lang="en-US" sz="1200" dirty="0">
                <a:solidFill>
                  <a:schemeClr val="bg1"/>
                </a:solidFill>
              </a:rPr>
              <a:t>=</a:t>
            </a:r>
            <a:r>
              <a:rPr lang="en-US" sz="1200" dirty="0" err="1">
                <a:solidFill>
                  <a:schemeClr val="bg1"/>
                </a:solidFill>
              </a:rPr>
              <a:t>traefik_service</a:t>
            </a:r>
            <a:endParaRPr lang="en-US" sz="1200" dirty="0">
              <a:solidFill>
                <a:schemeClr val="bg1"/>
              </a:solidFill>
            </a:endParaRPr>
          </a:p>
          <a:p>
            <a:pPr algn="just"/>
            <a:r>
              <a:rPr lang="en-US" sz="1200" dirty="0">
                <a:solidFill>
                  <a:schemeClr val="bg1"/>
                </a:solidFill>
              </a:rPr>
              <a:t>      - </a:t>
            </a:r>
            <a:r>
              <a:rPr lang="en-US" sz="1200" dirty="0" err="1">
                <a:solidFill>
                  <a:schemeClr val="bg1"/>
                </a:solidFill>
              </a:rPr>
              <a:t>traefik.http.services.traefik_service.loadbalancer.server.port</a:t>
            </a:r>
            <a:r>
              <a:rPr lang="en-US" sz="1200" dirty="0">
                <a:solidFill>
                  <a:schemeClr val="bg1"/>
                </a:solidFill>
              </a:rPr>
              <a:t>=8080</a:t>
            </a:r>
          </a:p>
          <a:p>
            <a:pPr algn="just"/>
            <a:r>
              <a:rPr lang="en-US" sz="1200" dirty="0">
                <a:solidFill>
                  <a:schemeClr val="bg1"/>
                </a:solidFill>
              </a:rPr>
              <a:t>    ports:</a:t>
            </a:r>
          </a:p>
          <a:p>
            <a:pPr algn="just"/>
            <a:r>
              <a:rPr lang="en-US" sz="1200" dirty="0">
                <a:solidFill>
                  <a:schemeClr val="bg1"/>
                </a:solidFill>
              </a:rPr>
              <a:t>      - 80:80</a:t>
            </a:r>
          </a:p>
          <a:p>
            <a:pPr algn="just"/>
            <a:r>
              <a:rPr lang="en-US" sz="1200" dirty="0">
                <a:solidFill>
                  <a:schemeClr val="bg1"/>
                </a:solidFill>
              </a:rPr>
              <a:t>      - 443:443</a:t>
            </a:r>
          </a:p>
          <a:p>
            <a:pPr algn="just"/>
            <a:r>
              <a:rPr lang="en-US" sz="1200" dirty="0">
                <a:solidFill>
                  <a:schemeClr val="bg1"/>
                </a:solidFill>
              </a:rPr>
              <a:t>    volumes:</a:t>
            </a:r>
          </a:p>
          <a:p>
            <a:pPr algn="just"/>
            <a:r>
              <a:rPr lang="en-US" sz="1200" dirty="0">
                <a:solidFill>
                  <a:schemeClr val="bg1"/>
                </a:solidFill>
              </a:rPr>
              <a:t>      - ~/</a:t>
            </a:r>
            <a:r>
              <a:rPr lang="en-US" sz="1200" dirty="0" err="1">
                <a:solidFill>
                  <a:schemeClr val="bg1"/>
                </a:solidFill>
              </a:rPr>
              <a:t>traefik</a:t>
            </a:r>
            <a:r>
              <a:rPr lang="en-US" sz="1200" dirty="0">
                <a:solidFill>
                  <a:schemeClr val="bg1"/>
                </a:solidFill>
              </a:rPr>
              <a:t>/</a:t>
            </a:r>
            <a:r>
              <a:rPr lang="en-US" sz="1200" dirty="0" err="1">
                <a:solidFill>
                  <a:schemeClr val="bg1"/>
                </a:solidFill>
              </a:rPr>
              <a:t>dynamic_conf.yml</a:t>
            </a:r>
            <a:r>
              <a:rPr lang="en-US" sz="1200" dirty="0">
                <a:solidFill>
                  <a:schemeClr val="bg1"/>
                </a:solidFill>
              </a:rPr>
              <a:t>:/</a:t>
            </a:r>
            <a:r>
              <a:rPr lang="en-US" sz="1200" dirty="0" err="1">
                <a:solidFill>
                  <a:schemeClr val="bg1"/>
                </a:solidFill>
              </a:rPr>
              <a:t>etc</a:t>
            </a:r>
            <a:r>
              <a:rPr lang="en-US" sz="1200" dirty="0">
                <a:solidFill>
                  <a:schemeClr val="bg1"/>
                </a:solidFill>
              </a:rPr>
              <a:t>/</a:t>
            </a:r>
            <a:r>
              <a:rPr lang="en-US" sz="1200" dirty="0" err="1">
                <a:solidFill>
                  <a:schemeClr val="bg1"/>
                </a:solidFill>
              </a:rPr>
              <a:t>traefik</a:t>
            </a:r>
            <a:r>
              <a:rPr lang="en-US" sz="1200" dirty="0">
                <a:solidFill>
                  <a:schemeClr val="bg1"/>
                </a:solidFill>
              </a:rPr>
              <a:t>/</a:t>
            </a:r>
            <a:r>
              <a:rPr lang="en-US" sz="1200" dirty="0" err="1">
                <a:solidFill>
                  <a:schemeClr val="bg1"/>
                </a:solidFill>
              </a:rPr>
              <a:t>dynamic_conf.yml</a:t>
            </a:r>
            <a:endParaRPr lang="en-US" sz="1200" dirty="0">
              <a:solidFill>
                <a:schemeClr val="bg1"/>
              </a:solidFill>
            </a:endParaRPr>
          </a:p>
          <a:p>
            <a:pPr algn="just"/>
            <a:r>
              <a:rPr lang="en-US" sz="1200" dirty="0">
                <a:solidFill>
                  <a:schemeClr val="bg1"/>
                </a:solidFill>
              </a:rPr>
              <a:t>      - ~/</a:t>
            </a:r>
            <a:r>
              <a:rPr lang="en-US" sz="1200" dirty="0" err="1">
                <a:solidFill>
                  <a:schemeClr val="bg1"/>
                </a:solidFill>
              </a:rPr>
              <a:t>traefik</a:t>
            </a:r>
            <a:r>
              <a:rPr lang="en-US" sz="1200" dirty="0">
                <a:solidFill>
                  <a:schemeClr val="bg1"/>
                </a:solidFill>
              </a:rPr>
              <a:t>/_</a:t>
            </a:r>
            <a:r>
              <a:rPr lang="en-US" sz="1200" dirty="0" err="1">
                <a:solidFill>
                  <a:schemeClr val="bg1"/>
                </a:solidFill>
              </a:rPr>
              <a:t>wildcard.home.lab.pem</a:t>
            </a:r>
            <a:r>
              <a:rPr lang="en-US" sz="1200" dirty="0">
                <a:solidFill>
                  <a:schemeClr val="bg1"/>
                </a:solidFill>
              </a:rPr>
              <a:t>:/</a:t>
            </a:r>
            <a:r>
              <a:rPr lang="en-US" sz="1200" dirty="0" err="1">
                <a:solidFill>
                  <a:schemeClr val="bg1"/>
                </a:solidFill>
              </a:rPr>
              <a:t>etc</a:t>
            </a:r>
            <a:r>
              <a:rPr lang="en-US" sz="1200" dirty="0">
                <a:solidFill>
                  <a:schemeClr val="bg1"/>
                </a:solidFill>
              </a:rPr>
              <a:t>/</a:t>
            </a:r>
            <a:r>
              <a:rPr lang="en-US" sz="1200" dirty="0" err="1">
                <a:solidFill>
                  <a:schemeClr val="bg1"/>
                </a:solidFill>
              </a:rPr>
              <a:t>traefik</a:t>
            </a:r>
            <a:r>
              <a:rPr lang="en-US" sz="1200" dirty="0">
                <a:solidFill>
                  <a:schemeClr val="bg1"/>
                </a:solidFill>
              </a:rPr>
              <a:t>/_</a:t>
            </a:r>
            <a:r>
              <a:rPr lang="en-US" sz="1200" dirty="0" err="1">
                <a:solidFill>
                  <a:schemeClr val="bg1"/>
                </a:solidFill>
              </a:rPr>
              <a:t>wildcard.home.lab.pem</a:t>
            </a:r>
            <a:endParaRPr lang="en-US" sz="1200" dirty="0">
              <a:solidFill>
                <a:schemeClr val="bg1"/>
              </a:solidFill>
            </a:endParaRPr>
          </a:p>
          <a:p>
            <a:pPr algn="just"/>
            <a:r>
              <a:rPr lang="en-US" sz="1200" dirty="0">
                <a:solidFill>
                  <a:schemeClr val="bg1"/>
                </a:solidFill>
              </a:rPr>
              <a:t>      - ~/</a:t>
            </a:r>
            <a:r>
              <a:rPr lang="en-US" sz="1200" dirty="0" err="1">
                <a:solidFill>
                  <a:schemeClr val="bg1"/>
                </a:solidFill>
              </a:rPr>
              <a:t>traefik</a:t>
            </a:r>
            <a:r>
              <a:rPr lang="en-US" sz="1200" dirty="0">
                <a:solidFill>
                  <a:schemeClr val="bg1"/>
                </a:solidFill>
              </a:rPr>
              <a:t>/_</a:t>
            </a:r>
            <a:r>
              <a:rPr lang="en-US" sz="1200" dirty="0" err="1">
                <a:solidFill>
                  <a:schemeClr val="bg1"/>
                </a:solidFill>
              </a:rPr>
              <a:t>wildcard.home.lab-key.pem</a:t>
            </a:r>
            <a:r>
              <a:rPr lang="en-US" sz="1200" dirty="0">
                <a:solidFill>
                  <a:schemeClr val="bg1"/>
                </a:solidFill>
              </a:rPr>
              <a:t>:/</a:t>
            </a:r>
            <a:r>
              <a:rPr lang="en-US" sz="1200" dirty="0" err="1">
                <a:solidFill>
                  <a:schemeClr val="bg1"/>
                </a:solidFill>
              </a:rPr>
              <a:t>etc</a:t>
            </a:r>
            <a:r>
              <a:rPr lang="en-US" sz="1200" dirty="0">
                <a:solidFill>
                  <a:schemeClr val="bg1"/>
                </a:solidFill>
              </a:rPr>
              <a:t>/</a:t>
            </a:r>
            <a:r>
              <a:rPr lang="en-US" sz="1200" dirty="0" err="1">
                <a:solidFill>
                  <a:schemeClr val="bg1"/>
                </a:solidFill>
              </a:rPr>
              <a:t>traefik</a:t>
            </a:r>
            <a:r>
              <a:rPr lang="en-US" sz="1200" dirty="0">
                <a:solidFill>
                  <a:schemeClr val="bg1"/>
                </a:solidFill>
              </a:rPr>
              <a:t>/_</a:t>
            </a:r>
            <a:r>
              <a:rPr lang="en-US" sz="1200" dirty="0" err="1">
                <a:solidFill>
                  <a:schemeClr val="bg1"/>
                </a:solidFill>
              </a:rPr>
              <a:t>wildcard.home.lab-key.pem</a:t>
            </a:r>
            <a:endParaRPr lang="en-US" sz="1200" dirty="0">
              <a:solidFill>
                <a:schemeClr val="bg1"/>
              </a:solidFill>
            </a:endParaRPr>
          </a:p>
          <a:p>
            <a:pPr algn="just"/>
            <a:r>
              <a:rPr lang="en-US" sz="1200" dirty="0">
                <a:solidFill>
                  <a:schemeClr val="bg1"/>
                </a:solidFill>
              </a:rPr>
              <a:t>    networks:</a:t>
            </a:r>
          </a:p>
          <a:p>
            <a:pPr algn="just"/>
            <a:r>
              <a:rPr lang="en-US" sz="1200" dirty="0">
                <a:solidFill>
                  <a:schemeClr val="bg1"/>
                </a:solidFill>
              </a:rPr>
              <a:t>      - home-lab-network</a:t>
            </a:r>
          </a:p>
          <a:p>
            <a:pPr algn="just"/>
            <a:r>
              <a:rPr lang="en-US" sz="1200" dirty="0">
                <a:solidFill>
                  <a:schemeClr val="bg1"/>
                </a:solidFill>
              </a:rPr>
              <a:t>    restart: always</a:t>
            </a:r>
          </a:p>
          <a:p>
            <a:pPr algn="just"/>
            <a:endParaRPr lang="en-US" sz="1200" dirty="0">
              <a:solidFill>
                <a:schemeClr val="bg1"/>
              </a:solidFill>
            </a:endParaRPr>
          </a:p>
          <a:p>
            <a:pPr algn="just"/>
            <a:r>
              <a:rPr lang="en-US" sz="1200" dirty="0">
                <a:solidFill>
                  <a:schemeClr val="bg1"/>
                </a:solidFill>
              </a:rPr>
              <a:t>  </a:t>
            </a:r>
            <a:r>
              <a:rPr lang="en-US" sz="1200" dirty="0" err="1">
                <a:solidFill>
                  <a:schemeClr val="bg1"/>
                </a:solidFill>
              </a:rPr>
              <a:t>drawio</a:t>
            </a:r>
            <a:r>
              <a:rPr lang="en-US" sz="1200" dirty="0">
                <a:solidFill>
                  <a:schemeClr val="bg1"/>
                </a:solidFill>
              </a:rPr>
              <a:t>:</a:t>
            </a:r>
          </a:p>
          <a:p>
            <a:pPr algn="just"/>
            <a:r>
              <a:rPr lang="en-US" sz="1200" dirty="0">
                <a:solidFill>
                  <a:schemeClr val="bg1"/>
                </a:solidFill>
              </a:rPr>
              <a:t>    image: </a:t>
            </a:r>
            <a:r>
              <a:rPr lang="en-US" sz="1200" dirty="0" err="1">
                <a:solidFill>
                  <a:schemeClr val="bg1"/>
                </a:solidFill>
              </a:rPr>
              <a:t>jgraph</a:t>
            </a:r>
            <a:r>
              <a:rPr lang="en-US" sz="1200" dirty="0">
                <a:solidFill>
                  <a:schemeClr val="bg1"/>
                </a:solidFill>
              </a:rPr>
              <a:t>/</a:t>
            </a:r>
            <a:r>
              <a:rPr lang="en-US" sz="1200" dirty="0" err="1">
                <a:solidFill>
                  <a:schemeClr val="bg1"/>
                </a:solidFill>
              </a:rPr>
              <a:t>drawio:latest</a:t>
            </a:r>
            <a:endParaRPr lang="en-US" sz="1200" dirty="0">
              <a:solidFill>
                <a:schemeClr val="bg1"/>
              </a:solidFill>
            </a:endParaRPr>
          </a:p>
          <a:p>
            <a:pPr algn="just"/>
            <a:r>
              <a:rPr lang="en-US" sz="1200" dirty="0">
                <a:solidFill>
                  <a:schemeClr val="bg1"/>
                </a:solidFill>
              </a:rPr>
              <a:t>    </a:t>
            </a:r>
            <a:r>
              <a:rPr lang="en-US" sz="1200" dirty="0" err="1">
                <a:solidFill>
                  <a:schemeClr val="bg1"/>
                </a:solidFill>
              </a:rPr>
              <a:t>container_name</a:t>
            </a:r>
            <a:r>
              <a:rPr lang="en-US" sz="1200" dirty="0">
                <a:solidFill>
                  <a:schemeClr val="bg1"/>
                </a:solidFill>
              </a:rPr>
              <a:t>: </a:t>
            </a:r>
            <a:r>
              <a:rPr lang="en-US" sz="1200" dirty="0" err="1">
                <a:solidFill>
                  <a:schemeClr val="bg1"/>
                </a:solidFill>
              </a:rPr>
              <a:t>drawio</a:t>
            </a:r>
            <a:endParaRPr lang="en-US" sz="1200" dirty="0">
              <a:solidFill>
                <a:schemeClr val="bg1"/>
              </a:solidFill>
            </a:endParaRPr>
          </a:p>
          <a:p>
            <a:pPr algn="just"/>
            <a:r>
              <a:rPr lang="en-US" sz="1200" dirty="0">
                <a:solidFill>
                  <a:schemeClr val="bg1"/>
                </a:solidFill>
              </a:rPr>
              <a:t>    labels:</a:t>
            </a:r>
          </a:p>
          <a:p>
            <a:pPr algn="just"/>
            <a:r>
              <a:rPr lang="en-US" sz="1200" dirty="0">
                <a:solidFill>
                  <a:schemeClr val="bg1"/>
                </a:solidFill>
              </a:rPr>
              <a:t>      - </a:t>
            </a:r>
            <a:r>
              <a:rPr lang="en-US" sz="1200" dirty="0" err="1">
                <a:solidFill>
                  <a:schemeClr val="bg1"/>
                </a:solidFill>
              </a:rPr>
              <a:t>traefik.http.routers.drawio_route.rule</a:t>
            </a:r>
            <a:r>
              <a:rPr lang="en-US" sz="1200" dirty="0">
                <a:solidFill>
                  <a:schemeClr val="bg1"/>
                </a:solidFill>
              </a:rPr>
              <a:t>=Host(`</a:t>
            </a:r>
            <a:r>
              <a:rPr lang="en-US" sz="1200" dirty="0" err="1">
                <a:solidFill>
                  <a:schemeClr val="bg1"/>
                </a:solidFill>
              </a:rPr>
              <a:t>drawio.home.lab</a:t>
            </a:r>
            <a:r>
              <a:rPr lang="en-US" sz="1200" dirty="0">
                <a:solidFill>
                  <a:schemeClr val="bg1"/>
                </a:solidFill>
              </a:rPr>
              <a:t>`)</a:t>
            </a:r>
          </a:p>
          <a:p>
            <a:pPr algn="just"/>
            <a:r>
              <a:rPr lang="en-US" sz="1200" dirty="0">
                <a:solidFill>
                  <a:schemeClr val="bg1"/>
                </a:solidFill>
              </a:rPr>
              <a:t>      - </a:t>
            </a:r>
            <a:r>
              <a:rPr lang="en-US" sz="1200" dirty="0" err="1">
                <a:solidFill>
                  <a:schemeClr val="bg1"/>
                </a:solidFill>
              </a:rPr>
              <a:t>traefik.http.routers.drawio_route.tls</a:t>
            </a:r>
            <a:r>
              <a:rPr lang="en-US" sz="1200" dirty="0">
                <a:solidFill>
                  <a:schemeClr val="bg1"/>
                </a:solidFill>
              </a:rPr>
              <a:t>=true</a:t>
            </a:r>
          </a:p>
          <a:p>
            <a:pPr algn="just"/>
            <a:r>
              <a:rPr lang="en-US" sz="1200" dirty="0">
                <a:solidFill>
                  <a:schemeClr val="bg1"/>
                </a:solidFill>
              </a:rPr>
              <a:t>      - </a:t>
            </a:r>
            <a:r>
              <a:rPr lang="en-US" sz="1200" dirty="0" err="1">
                <a:solidFill>
                  <a:schemeClr val="bg1"/>
                </a:solidFill>
              </a:rPr>
              <a:t>traefik.http.routers.drawio_route.service</a:t>
            </a:r>
            <a:r>
              <a:rPr lang="en-US" sz="1200" dirty="0">
                <a:solidFill>
                  <a:schemeClr val="bg1"/>
                </a:solidFill>
              </a:rPr>
              <a:t>=</a:t>
            </a:r>
            <a:r>
              <a:rPr lang="en-US" sz="1200" dirty="0" err="1">
                <a:solidFill>
                  <a:schemeClr val="bg1"/>
                </a:solidFill>
              </a:rPr>
              <a:t>drawio_service</a:t>
            </a:r>
            <a:endParaRPr lang="en-US" sz="1200" dirty="0">
              <a:solidFill>
                <a:schemeClr val="bg1"/>
              </a:solidFill>
            </a:endParaRPr>
          </a:p>
          <a:p>
            <a:pPr algn="just"/>
            <a:r>
              <a:rPr lang="en-US" sz="1200" dirty="0">
                <a:solidFill>
                  <a:schemeClr val="bg1"/>
                </a:solidFill>
              </a:rPr>
              <a:t>      - </a:t>
            </a:r>
            <a:r>
              <a:rPr lang="en-US" sz="1200" dirty="0" err="1">
                <a:solidFill>
                  <a:schemeClr val="bg1"/>
                </a:solidFill>
              </a:rPr>
              <a:t>traefik.http.services.drawio_service.loadbalancer.server.port</a:t>
            </a:r>
            <a:r>
              <a:rPr lang="en-US" sz="1200" dirty="0">
                <a:solidFill>
                  <a:schemeClr val="bg1"/>
                </a:solidFill>
              </a:rPr>
              <a:t>=8080</a:t>
            </a:r>
          </a:p>
          <a:p>
            <a:pPr algn="just"/>
            <a:r>
              <a:rPr lang="en-US" sz="1200" dirty="0">
                <a:solidFill>
                  <a:schemeClr val="bg1"/>
                </a:solidFill>
              </a:rPr>
              <a:t>    networks:</a:t>
            </a:r>
          </a:p>
          <a:p>
            <a:pPr algn="just"/>
            <a:r>
              <a:rPr lang="en-US" sz="1200" dirty="0">
                <a:solidFill>
                  <a:schemeClr val="bg1"/>
                </a:solidFill>
              </a:rPr>
              <a:t>      - home-lab-network</a:t>
            </a:r>
          </a:p>
          <a:p>
            <a:pPr algn="just"/>
            <a:r>
              <a:rPr lang="en-US" sz="1200" dirty="0">
                <a:solidFill>
                  <a:schemeClr val="bg1"/>
                </a:solidFill>
              </a:rPr>
              <a:t>    restart: always</a:t>
            </a:r>
          </a:p>
        </p:txBody>
      </p:sp>
    </p:spTree>
    <p:extLst>
      <p:ext uri="{BB962C8B-B14F-4D97-AF65-F5344CB8AC3E}">
        <p14:creationId xmlns:p14="http://schemas.microsoft.com/office/powerpoint/2010/main" val="342259484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667" y="2786591"/>
            <a:ext cx="10515600" cy="1325563"/>
          </a:xfrm>
        </p:spPr>
        <p:txBody>
          <a:bodyPr/>
          <a:lstStyle/>
          <a:p>
            <a:pPr algn="ctr"/>
            <a:r>
              <a:rPr lang="en-US" b="1" dirty="0" smtClean="0">
                <a:solidFill>
                  <a:srgbClr val="002060"/>
                </a:solidFill>
              </a:rPr>
              <a:t>Docker </a:t>
            </a:r>
            <a:r>
              <a:rPr lang="en-US" u="sng" dirty="0" smtClean="0">
                <a:solidFill>
                  <a:srgbClr val="0070C0"/>
                </a:solidFill>
              </a:rPr>
              <a:t>Simple-apps</a:t>
            </a:r>
            <a:endParaRPr lang="en-US" u="sng" dirty="0">
              <a:solidFill>
                <a:srgbClr val="0070C0"/>
              </a:solidFill>
            </a:endParaRPr>
          </a:p>
        </p:txBody>
      </p:sp>
    </p:spTree>
    <p:extLst>
      <p:ext uri="{BB962C8B-B14F-4D97-AF65-F5344CB8AC3E}">
        <p14:creationId xmlns:p14="http://schemas.microsoft.com/office/powerpoint/2010/main" val="2420589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1217" y="0"/>
            <a:ext cx="10515600" cy="1325563"/>
          </a:xfrm>
        </p:spPr>
        <p:txBody>
          <a:bodyPr/>
          <a:lstStyle/>
          <a:p>
            <a:r>
              <a:rPr lang="en-US" dirty="0" smtClean="0">
                <a:solidFill>
                  <a:srgbClr val="FFC000"/>
                </a:solidFill>
              </a:rPr>
              <a:t>Docker</a:t>
            </a:r>
            <a:endParaRPr lang="en-US" dirty="0">
              <a:solidFill>
                <a:srgbClr val="FFC000"/>
              </a:solidFill>
            </a:endParaRPr>
          </a:p>
        </p:txBody>
      </p:sp>
      <p:sp>
        <p:nvSpPr>
          <p:cNvPr id="3" name="Content Placeholder 2"/>
          <p:cNvSpPr>
            <a:spLocks noGrp="1"/>
          </p:cNvSpPr>
          <p:nvPr>
            <p:ph idx="1"/>
          </p:nvPr>
        </p:nvSpPr>
        <p:spPr>
          <a:xfrm>
            <a:off x="838200" y="986047"/>
            <a:ext cx="10515600" cy="4351338"/>
          </a:xfrm>
        </p:spPr>
        <p:txBody>
          <a:bodyPr/>
          <a:lstStyle/>
          <a:p>
            <a:pPr marL="0" indent="0" algn="just">
              <a:buNone/>
            </a:pPr>
            <a:r>
              <a:rPr lang="en-US" dirty="0" err="1" smtClean="0"/>
              <a:t>Komponen</a:t>
            </a:r>
            <a:r>
              <a:rPr lang="en-US" dirty="0" smtClean="0"/>
              <a:t> </a:t>
            </a:r>
            <a:r>
              <a:rPr lang="en-US" dirty="0" err="1" smtClean="0"/>
              <a:t>utama</a:t>
            </a:r>
            <a:r>
              <a:rPr lang="en-US" dirty="0" smtClean="0"/>
              <a:t> :</a:t>
            </a:r>
          </a:p>
          <a:p>
            <a:pPr lvl="1" fontAlgn="base"/>
            <a:r>
              <a:rPr lang="fr-FR" dirty="0" smtClean="0">
                <a:solidFill>
                  <a:srgbClr val="002060"/>
                </a:solidFill>
              </a:rPr>
              <a:t>Images</a:t>
            </a:r>
            <a:endParaRPr lang="fr-FR" dirty="0">
              <a:solidFill>
                <a:srgbClr val="002060"/>
              </a:solidFill>
            </a:endParaRPr>
          </a:p>
          <a:p>
            <a:pPr lvl="1" fontAlgn="base"/>
            <a:r>
              <a:rPr lang="fr-FR" dirty="0">
                <a:solidFill>
                  <a:srgbClr val="002060"/>
                </a:solidFill>
              </a:rPr>
              <a:t>Container</a:t>
            </a:r>
          </a:p>
          <a:p>
            <a:pPr lvl="1" fontAlgn="base"/>
            <a:r>
              <a:rPr lang="fr-FR" dirty="0" err="1">
                <a:solidFill>
                  <a:srgbClr val="002060"/>
                </a:solidFill>
              </a:rPr>
              <a:t>Dockerfile</a:t>
            </a:r>
            <a:endParaRPr lang="fr-FR" dirty="0">
              <a:solidFill>
                <a:srgbClr val="002060"/>
              </a:solidFill>
            </a:endParaRPr>
          </a:p>
          <a:p>
            <a:pPr lvl="1" fontAlgn="base"/>
            <a:r>
              <a:rPr lang="fr-FR" dirty="0">
                <a:solidFill>
                  <a:srgbClr val="002060"/>
                </a:solidFill>
              </a:rPr>
              <a:t>Docker Compose</a:t>
            </a:r>
          </a:p>
          <a:p>
            <a:pPr lvl="1" fontAlgn="base"/>
            <a:r>
              <a:rPr lang="fr-FR" dirty="0">
                <a:solidFill>
                  <a:srgbClr val="002060"/>
                </a:solidFill>
              </a:rPr>
              <a:t>Docker Hub</a:t>
            </a:r>
          </a:p>
          <a:p>
            <a:pPr marL="0" indent="0" algn="just">
              <a:buNone/>
            </a:pPr>
            <a:endParaRPr lang="en-US" dirty="0" smtClean="0"/>
          </a:p>
          <a:p>
            <a:pPr marL="0" indent="0" algn="just">
              <a:buNone/>
            </a:pPr>
            <a:r>
              <a:rPr lang="en-US" dirty="0" smtClean="0"/>
              <a:t> </a:t>
            </a:r>
            <a:endParaRPr lang="en-US" dirty="0"/>
          </a:p>
        </p:txBody>
      </p:sp>
    </p:spTree>
    <p:extLst>
      <p:ext uri="{BB962C8B-B14F-4D97-AF65-F5344CB8AC3E}">
        <p14:creationId xmlns:p14="http://schemas.microsoft.com/office/powerpoint/2010/main" val="188293868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pic>
        <p:nvPicPr>
          <p:cNvPr id="5" name="Content Placeholder 4"/>
          <p:cNvPicPr>
            <a:picLocks noGrp="1" noChangeAspect="1"/>
          </p:cNvPicPr>
          <p:nvPr>
            <p:ph idx="1"/>
          </p:nvPr>
        </p:nvPicPr>
        <p:blipFill>
          <a:blip r:embed="rId2"/>
          <a:stretch>
            <a:fillRect/>
          </a:stretch>
        </p:blipFill>
        <p:spPr>
          <a:xfrm>
            <a:off x="279399" y="3324419"/>
            <a:ext cx="5163019" cy="3363274"/>
          </a:xfrm>
          <a:prstGeom prst="rect">
            <a:avLst/>
          </a:prstGeom>
        </p:spPr>
      </p:pic>
      <p:sp>
        <p:nvSpPr>
          <p:cNvPr id="6" name="Rectangle 5"/>
          <p:cNvSpPr/>
          <p:nvPr/>
        </p:nvSpPr>
        <p:spPr>
          <a:xfrm>
            <a:off x="279399" y="1367522"/>
            <a:ext cx="5410201" cy="1200329"/>
          </a:xfrm>
          <a:prstGeom prst="rect">
            <a:avLst/>
          </a:prstGeom>
        </p:spPr>
        <p:txBody>
          <a:bodyPr wrap="square">
            <a:spAutoFit/>
          </a:bodyPr>
          <a:lstStyle/>
          <a:p>
            <a:pPr algn="just"/>
            <a:r>
              <a:rPr lang="en-US" dirty="0" err="1"/>
              <a:t>docker</a:t>
            </a:r>
            <a:r>
              <a:rPr lang="en-US" dirty="0"/>
              <a:t> pull &lt;</a:t>
            </a:r>
            <a:r>
              <a:rPr lang="en-US" dirty="0" err="1"/>
              <a:t>nama</a:t>
            </a:r>
            <a:r>
              <a:rPr lang="en-US" dirty="0"/>
              <a:t> images&gt;</a:t>
            </a:r>
            <a:r>
              <a:rPr lang="en-US" dirty="0" err="1"/>
              <a:t>Untuk</a:t>
            </a:r>
            <a:r>
              <a:rPr lang="en-US" dirty="0"/>
              <a:t> </a:t>
            </a:r>
            <a:r>
              <a:rPr lang="en-US" dirty="0" err="1"/>
              <a:t>mengambil</a:t>
            </a:r>
            <a:r>
              <a:rPr lang="en-US" dirty="0"/>
              <a:t> </a:t>
            </a:r>
            <a:r>
              <a:rPr lang="en-US" dirty="0" err="1"/>
              <a:t>atau</a:t>
            </a:r>
            <a:r>
              <a:rPr lang="en-US" dirty="0"/>
              <a:t> pull images </a:t>
            </a:r>
            <a:r>
              <a:rPr lang="en-US" dirty="0" err="1"/>
              <a:t>dari</a:t>
            </a:r>
            <a:r>
              <a:rPr lang="en-US" dirty="0"/>
              <a:t> registry </a:t>
            </a:r>
            <a:r>
              <a:rPr lang="en-US" dirty="0" err="1"/>
              <a:t>docker</a:t>
            </a:r>
            <a:r>
              <a:rPr lang="en-US" dirty="0"/>
              <a:t>. </a:t>
            </a:r>
            <a:r>
              <a:rPr lang="en-US" dirty="0" err="1"/>
              <a:t>Untuk</a:t>
            </a:r>
            <a:r>
              <a:rPr lang="en-US" dirty="0"/>
              <a:t> </a:t>
            </a:r>
            <a:r>
              <a:rPr lang="en-US" dirty="0" err="1"/>
              <a:t>melihat</a:t>
            </a:r>
            <a:r>
              <a:rPr lang="en-US" dirty="0"/>
              <a:t> </a:t>
            </a:r>
            <a:r>
              <a:rPr lang="en-US" dirty="0" err="1"/>
              <a:t>hasil</a:t>
            </a:r>
            <a:r>
              <a:rPr lang="en-US" dirty="0"/>
              <a:t> image yang </a:t>
            </a:r>
            <a:r>
              <a:rPr lang="en-US" dirty="0" err="1"/>
              <a:t>dipull</a:t>
            </a:r>
            <a:r>
              <a:rPr lang="en-US" dirty="0"/>
              <a:t> kalian </a:t>
            </a:r>
            <a:r>
              <a:rPr lang="en-US" dirty="0" err="1"/>
              <a:t>dapat</a:t>
            </a:r>
            <a:r>
              <a:rPr lang="en-US" dirty="0"/>
              <a:t> </a:t>
            </a:r>
            <a:r>
              <a:rPr lang="en-US" dirty="0" err="1"/>
              <a:t>menggunakan</a:t>
            </a:r>
            <a:r>
              <a:rPr lang="en-US" dirty="0"/>
              <a:t> </a:t>
            </a:r>
            <a:r>
              <a:rPr lang="en-US" dirty="0" err="1"/>
              <a:t>perintah</a:t>
            </a:r>
            <a:r>
              <a:rPr lang="en-US" dirty="0"/>
              <a:t> </a:t>
            </a:r>
            <a:r>
              <a:rPr lang="en-US" dirty="0" err="1"/>
              <a:t>docker</a:t>
            </a:r>
            <a:r>
              <a:rPr lang="en-US" dirty="0"/>
              <a:t> images.</a:t>
            </a: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pic>
        <p:nvPicPr>
          <p:cNvPr id="8" name="Picture 7"/>
          <p:cNvPicPr>
            <a:picLocks noChangeAspect="1"/>
          </p:cNvPicPr>
          <p:nvPr/>
        </p:nvPicPr>
        <p:blipFill>
          <a:blip r:embed="rId3"/>
          <a:stretch>
            <a:fillRect/>
          </a:stretch>
        </p:blipFill>
        <p:spPr>
          <a:xfrm>
            <a:off x="279399" y="3856120"/>
            <a:ext cx="4986867" cy="2699809"/>
          </a:xfrm>
          <a:prstGeom prst="rect">
            <a:avLst/>
          </a:prstGeom>
        </p:spPr>
      </p:pic>
      <p:sp>
        <p:nvSpPr>
          <p:cNvPr id="9" name="Rectangle 8"/>
          <p:cNvSpPr/>
          <p:nvPr/>
        </p:nvSpPr>
        <p:spPr>
          <a:xfrm>
            <a:off x="279399" y="2837807"/>
            <a:ext cx="5771009" cy="338554"/>
          </a:xfrm>
          <a:prstGeom prst="rect">
            <a:avLst/>
          </a:prstGeom>
        </p:spPr>
        <p:txBody>
          <a:bodyPr wrap="square">
            <a:spAutoFit/>
          </a:bodyPr>
          <a:lstStyle/>
          <a:p>
            <a:pPr algn="just"/>
            <a:r>
              <a:rPr lang="en-US" sz="1600" dirty="0" err="1" smtClean="0">
                <a:solidFill>
                  <a:srgbClr val="002060"/>
                </a:solidFill>
              </a:rPr>
              <a:t>root@administrator</a:t>
            </a:r>
            <a:r>
              <a:rPr lang="en-US" sz="1600" dirty="0" smtClean="0">
                <a:solidFill>
                  <a:srgbClr val="002060"/>
                </a:solidFill>
              </a:rPr>
              <a:t>:/home/panda/GPU2# </a:t>
            </a:r>
            <a:r>
              <a:rPr lang="en-US" sz="1600" b="1" dirty="0" err="1" smtClean="0">
                <a:solidFill>
                  <a:srgbClr val="00B0F0"/>
                </a:solidFill>
              </a:rPr>
              <a:t>docker</a:t>
            </a:r>
            <a:r>
              <a:rPr lang="en-US" sz="1600" b="1" dirty="0" smtClean="0">
                <a:solidFill>
                  <a:srgbClr val="00B0F0"/>
                </a:solidFill>
              </a:rPr>
              <a:t> pull </a:t>
            </a:r>
            <a:r>
              <a:rPr lang="en-US" sz="1600" b="1" dirty="0" err="1" smtClean="0">
                <a:solidFill>
                  <a:srgbClr val="00B0F0"/>
                </a:solidFill>
              </a:rPr>
              <a:t>nginx</a:t>
            </a:r>
            <a:endParaRPr lang="en-US" sz="1600" b="1" dirty="0">
              <a:solidFill>
                <a:srgbClr val="00B0F0"/>
              </a:solidFill>
            </a:endParaRPr>
          </a:p>
        </p:txBody>
      </p:sp>
      <p:sp>
        <p:nvSpPr>
          <p:cNvPr id="10" name="Rectangle 9"/>
          <p:cNvSpPr/>
          <p:nvPr/>
        </p:nvSpPr>
        <p:spPr>
          <a:xfrm>
            <a:off x="5936192" y="1432289"/>
            <a:ext cx="5762457" cy="923330"/>
          </a:xfrm>
          <a:prstGeom prst="rect">
            <a:avLst/>
          </a:prstGeom>
        </p:spPr>
        <p:txBody>
          <a:bodyPr wrap="square">
            <a:spAutoFit/>
          </a:bodyPr>
          <a:lstStyle/>
          <a:p>
            <a:pPr algn="just"/>
            <a:r>
              <a:rPr lang="en-US" dirty="0" err="1"/>
              <a:t>docker</a:t>
            </a:r>
            <a:r>
              <a:rPr lang="en-US" dirty="0"/>
              <a:t> pull &lt;</a:t>
            </a:r>
            <a:r>
              <a:rPr lang="en-US" dirty="0" err="1"/>
              <a:t>nama</a:t>
            </a:r>
            <a:r>
              <a:rPr lang="en-US" dirty="0"/>
              <a:t> images&gt;</a:t>
            </a:r>
            <a:r>
              <a:rPr lang="en-US" dirty="0" err="1"/>
              <a:t>Untuk</a:t>
            </a:r>
            <a:r>
              <a:rPr lang="en-US" dirty="0"/>
              <a:t> </a:t>
            </a:r>
            <a:r>
              <a:rPr lang="en-US" dirty="0" err="1"/>
              <a:t>mengambil</a:t>
            </a:r>
            <a:r>
              <a:rPr lang="en-US" dirty="0"/>
              <a:t> </a:t>
            </a:r>
            <a:r>
              <a:rPr lang="en-US" dirty="0" err="1"/>
              <a:t>atau</a:t>
            </a:r>
            <a:r>
              <a:rPr lang="en-US" dirty="0"/>
              <a:t> pull images </a:t>
            </a:r>
            <a:r>
              <a:rPr lang="en-US" dirty="0" err="1"/>
              <a:t>dari</a:t>
            </a:r>
            <a:r>
              <a:rPr lang="en-US" dirty="0"/>
              <a:t> registry </a:t>
            </a:r>
            <a:r>
              <a:rPr lang="en-US" dirty="0" err="1"/>
              <a:t>docker</a:t>
            </a:r>
            <a:r>
              <a:rPr lang="en-US" dirty="0"/>
              <a:t>. </a:t>
            </a:r>
            <a:r>
              <a:rPr lang="en-US" dirty="0" err="1"/>
              <a:t>Untuk</a:t>
            </a:r>
            <a:r>
              <a:rPr lang="en-US" dirty="0"/>
              <a:t> </a:t>
            </a:r>
            <a:r>
              <a:rPr lang="en-US" dirty="0" err="1"/>
              <a:t>melihat</a:t>
            </a:r>
            <a:r>
              <a:rPr lang="en-US" dirty="0"/>
              <a:t> </a:t>
            </a:r>
            <a:r>
              <a:rPr lang="en-US" dirty="0" err="1"/>
              <a:t>hasil</a:t>
            </a:r>
            <a:r>
              <a:rPr lang="en-US" dirty="0"/>
              <a:t> image yang </a:t>
            </a:r>
            <a:r>
              <a:rPr lang="en-US" dirty="0" err="1"/>
              <a:t>dipull</a:t>
            </a:r>
            <a:r>
              <a:rPr lang="en-US" dirty="0"/>
              <a:t> kalian </a:t>
            </a:r>
            <a:r>
              <a:rPr lang="en-US" dirty="0" err="1"/>
              <a:t>dapat</a:t>
            </a:r>
            <a:r>
              <a:rPr lang="en-US" dirty="0"/>
              <a:t> </a:t>
            </a:r>
            <a:r>
              <a:rPr lang="en-US" dirty="0" err="1"/>
              <a:t>menggunakan</a:t>
            </a:r>
            <a:r>
              <a:rPr lang="en-US" dirty="0"/>
              <a:t> </a:t>
            </a:r>
            <a:r>
              <a:rPr lang="en-US" dirty="0" err="1"/>
              <a:t>perintah</a:t>
            </a:r>
            <a:r>
              <a:rPr lang="en-US" dirty="0"/>
              <a:t> </a:t>
            </a:r>
            <a:r>
              <a:rPr lang="en-US" dirty="0" err="1"/>
              <a:t>docker</a:t>
            </a:r>
            <a:r>
              <a:rPr lang="en-US" dirty="0"/>
              <a:t> images.</a:t>
            </a:r>
          </a:p>
        </p:txBody>
      </p:sp>
      <p:sp>
        <p:nvSpPr>
          <p:cNvPr id="11" name="Rectangle 10"/>
          <p:cNvSpPr/>
          <p:nvPr/>
        </p:nvSpPr>
        <p:spPr>
          <a:xfrm>
            <a:off x="5936192" y="2701131"/>
            <a:ext cx="5906390" cy="369332"/>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images</a:t>
            </a:r>
            <a:endParaRPr lang="en-US" b="1" dirty="0">
              <a:solidFill>
                <a:srgbClr val="00B0F0"/>
              </a:solidFill>
            </a:endParaRPr>
          </a:p>
        </p:txBody>
      </p:sp>
      <p:pic>
        <p:nvPicPr>
          <p:cNvPr id="12" name="Picture 11"/>
          <p:cNvPicPr>
            <a:picLocks noChangeAspect="1"/>
          </p:cNvPicPr>
          <p:nvPr/>
        </p:nvPicPr>
        <p:blipFill>
          <a:blip r:embed="rId4"/>
          <a:stretch>
            <a:fillRect/>
          </a:stretch>
        </p:blipFill>
        <p:spPr>
          <a:xfrm>
            <a:off x="6050408" y="3070463"/>
            <a:ext cx="3350683" cy="3877362"/>
          </a:xfrm>
          <a:prstGeom prst="rect">
            <a:avLst/>
          </a:prstGeom>
        </p:spPr>
      </p:pic>
    </p:spTree>
    <p:extLst>
      <p:ext uri="{BB962C8B-B14F-4D97-AF65-F5344CB8AC3E}">
        <p14:creationId xmlns:p14="http://schemas.microsoft.com/office/powerpoint/2010/main" val="158353908"/>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0" name="Rectangle 9"/>
          <p:cNvSpPr/>
          <p:nvPr/>
        </p:nvSpPr>
        <p:spPr>
          <a:xfrm>
            <a:off x="279399" y="1367522"/>
            <a:ext cx="5410201" cy="2585323"/>
          </a:xfrm>
          <a:prstGeom prst="rect">
            <a:avLst/>
          </a:prstGeom>
        </p:spPr>
        <p:txBody>
          <a:bodyPr wrap="square">
            <a:spAutoFit/>
          </a:bodyPr>
          <a:lstStyle/>
          <a:p>
            <a:pPr algn="just"/>
            <a:r>
              <a:rPr lang="en-US" b="1" dirty="0" err="1"/>
              <a:t>docker</a:t>
            </a:r>
            <a:r>
              <a:rPr lang="en-US" b="1" dirty="0"/>
              <a:t> push &lt;</a:t>
            </a:r>
            <a:r>
              <a:rPr lang="en-US" b="1" dirty="0" err="1"/>
              <a:t>nama</a:t>
            </a:r>
            <a:r>
              <a:rPr lang="en-US" b="1" dirty="0"/>
              <a:t> image&gt; </a:t>
            </a:r>
            <a:r>
              <a:rPr lang="en-US" dirty="0" err="1"/>
              <a:t>Untuk</a:t>
            </a:r>
            <a:r>
              <a:rPr lang="en-US" dirty="0"/>
              <a:t> </a:t>
            </a:r>
            <a:r>
              <a:rPr lang="en-US" dirty="0" err="1"/>
              <a:t>mengunggah</a:t>
            </a:r>
            <a:r>
              <a:rPr lang="en-US" dirty="0"/>
              <a:t> image yang </a:t>
            </a:r>
            <a:r>
              <a:rPr lang="en-US" dirty="0" err="1"/>
              <a:t>telah</a:t>
            </a:r>
            <a:r>
              <a:rPr lang="en-US" dirty="0"/>
              <a:t> </a:t>
            </a:r>
            <a:r>
              <a:rPr lang="en-US" dirty="0" err="1"/>
              <a:t>dibuat</a:t>
            </a:r>
            <a:r>
              <a:rPr lang="en-US" dirty="0"/>
              <a:t> </a:t>
            </a:r>
            <a:r>
              <a:rPr lang="en-US" dirty="0" err="1"/>
              <a:t>ke</a:t>
            </a:r>
            <a:r>
              <a:rPr lang="en-US" dirty="0"/>
              <a:t> </a:t>
            </a:r>
            <a:r>
              <a:rPr lang="en-US" dirty="0" err="1"/>
              <a:t>registriy</a:t>
            </a:r>
            <a:r>
              <a:rPr lang="en-US" dirty="0"/>
              <a:t> </a:t>
            </a:r>
            <a:r>
              <a:rPr lang="en-US" dirty="0" err="1"/>
              <a:t>lokal</a:t>
            </a:r>
            <a:r>
              <a:rPr lang="en-US" dirty="0"/>
              <a:t> </a:t>
            </a:r>
            <a:r>
              <a:rPr lang="en-US" dirty="0" err="1"/>
              <a:t>maupun</a:t>
            </a:r>
            <a:r>
              <a:rPr lang="en-US" dirty="0"/>
              <a:t> global, </a:t>
            </a:r>
            <a:r>
              <a:rPr lang="en-US" dirty="0" err="1"/>
              <a:t>tergantung</a:t>
            </a:r>
            <a:r>
              <a:rPr lang="en-US" dirty="0"/>
              <a:t> </a:t>
            </a:r>
            <a:r>
              <a:rPr lang="en-US" dirty="0" err="1"/>
              <a:t>kebutuhan</a:t>
            </a:r>
            <a:r>
              <a:rPr lang="en-US" dirty="0"/>
              <a:t>. </a:t>
            </a:r>
            <a:r>
              <a:rPr lang="en-US" dirty="0" err="1"/>
              <a:t>Untuk</a:t>
            </a:r>
            <a:r>
              <a:rPr lang="en-US" dirty="0"/>
              <a:t> </a:t>
            </a:r>
            <a:r>
              <a:rPr lang="en-US" dirty="0" err="1"/>
              <a:t>melakukan</a:t>
            </a:r>
            <a:r>
              <a:rPr lang="en-US" dirty="0"/>
              <a:t> push </a:t>
            </a:r>
            <a:r>
              <a:rPr lang="en-US" dirty="0" err="1"/>
              <a:t>ke</a:t>
            </a:r>
            <a:r>
              <a:rPr lang="en-US" dirty="0"/>
              <a:t> </a:t>
            </a:r>
            <a:r>
              <a:rPr lang="en-US" dirty="0" err="1"/>
              <a:t>docker</a:t>
            </a:r>
            <a:r>
              <a:rPr lang="en-US" dirty="0"/>
              <a:t> hub, </a:t>
            </a:r>
            <a:r>
              <a:rPr lang="en-US" dirty="0" err="1"/>
              <a:t>pastikan</a:t>
            </a:r>
            <a:r>
              <a:rPr lang="en-US" dirty="0"/>
              <a:t> kalian </a:t>
            </a:r>
            <a:r>
              <a:rPr lang="en-US" dirty="0" err="1"/>
              <a:t>sudah</a:t>
            </a:r>
            <a:r>
              <a:rPr lang="en-US" dirty="0"/>
              <a:t> </a:t>
            </a:r>
            <a:r>
              <a:rPr lang="en-US" dirty="0" err="1"/>
              <a:t>membuat</a:t>
            </a:r>
            <a:r>
              <a:rPr lang="en-US" dirty="0"/>
              <a:t> tag </a:t>
            </a:r>
            <a:r>
              <a:rPr lang="en-US" dirty="0" err="1"/>
              <a:t>untuk</a:t>
            </a:r>
            <a:r>
              <a:rPr lang="en-US" dirty="0"/>
              <a:t> image </a:t>
            </a:r>
            <a:r>
              <a:rPr lang="en-US" dirty="0" err="1"/>
              <a:t>dan</a:t>
            </a:r>
            <a:r>
              <a:rPr lang="en-US" dirty="0"/>
              <a:t> login </a:t>
            </a:r>
            <a:r>
              <a:rPr lang="en-US" dirty="0" err="1"/>
              <a:t>menggunakan</a:t>
            </a:r>
            <a:r>
              <a:rPr lang="en-US" dirty="0"/>
              <a:t> </a:t>
            </a:r>
            <a:r>
              <a:rPr lang="en-US" dirty="0" err="1"/>
              <a:t>akun</a:t>
            </a:r>
            <a:r>
              <a:rPr lang="en-US" dirty="0"/>
              <a:t> </a:t>
            </a:r>
            <a:r>
              <a:rPr lang="en-US" dirty="0" err="1"/>
              <a:t>docker</a:t>
            </a:r>
            <a:r>
              <a:rPr lang="en-US" dirty="0"/>
              <a:t> hub </a:t>
            </a:r>
            <a:r>
              <a:rPr lang="en-US" dirty="0" err="1"/>
              <a:t>terlebih</a:t>
            </a:r>
            <a:r>
              <a:rPr lang="en-US" dirty="0"/>
              <a:t> </a:t>
            </a:r>
            <a:r>
              <a:rPr lang="en-US" dirty="0" err="1"/>
              <a:t>dahulu</a:t>
            </a:r>
            <a:r>
              <a:rPr lang="en-US" dirty="0"/>
              <a:t>. </a:t>
            </a:r>
            <a:r>
              <a:rPr lang="en-US" dirty="0" err="1"/>
              <a:t>Gunakan</a:t>
            </a:r>
            <a:r>
              <a:rPr lang="en-US" dirty="0"/>
              <a:t> </a:t>
            </a:r>
            <a:r>
              <a:rPr lang="en-US" dirty="0" err="1"/>
              <a:t>perintah</a:t>
            </a:r>
            <a:r>
              <a:rPr lang="en-US" dirty="0"/>
              <a:t> </a:t>
            </a:r>
            <a:r>
              <a:rPr lang="en-US" dirty="0" err="1"/>
              <a:t>docker</a:t>
            </a:r>
            <a:r>
              <a:rPr lang="en-US" dirty="0"/>
              <a:t> tag </a:t>
            </a:r>
            <a:r>
              <a:rPr lang="en-US" dirty="0" err="1"/>
              <a:t>dan</a:t>
            </a:r>
            <a:r>
              <a:rPr lang="en-US" dirty="0"/>
              <a:t> </a:t>
            </a:r>
            <a:r>
              <a:rPr lang="en-US" dirty="0" err="1"/>
              <a:t>docker</a:t>
            </a:r>
            <a:r>
              <a:rPr lang="en-US" dirty="0"/>
              <a:t> login.//</a:t>
            </a:r>
            <a:r>
              <a:rPr lang="en-US" dirty="0" err="1"/>
              <a:t>pastikan</a:t>
            </a:r>
            <a:r>
              <a:rPr lang="en-US" dirty="0"/>
              <a:t> login </a:t>
            </a:r>
            <a:r>
              <a:rPr lang="en-US" dirty="0" err="1"/>
              <a:t>menggunakan</a:t>
            </a:r>
            <a:r>
              <a:rPr lang="en-US" dirty="0"/>
              <a:t> </a:t>
            </a:r>
            <a:r>
              <a:rPr lang="en-US" dirty="0" err="1"/>
              <a:t>akun</a:t>
            </a:r>
            <a:r>
              <a:rPr lang="en-US" dirty="0"/>
              <a:t> </a:t>
            </a:r>
            <a:r>
              <a:rPr lang="en-US" dirty="0" err="1"/>
              <a:t>docker</a:t>
            </a:r>
            <a:r>
              <a:rPr lang="en-US" dirty="0"/>
              <a:t> hub kalian #</a:t>
            </a:r>
            <a:r>
              <a:rPr lang="en-US" dirty="0" err="1"/>
              <a:t>docker</a:t>
            </a:r>
            <a:r>
              <a:rPr lang="en-US" dirty="0"/>
              <a:t> login</a:t>
            </a:r>
          </a:p>
          <a:p>
            <a:pPr algn="just"/>
            <a:endParaRPr lang="en-US" dirty="0"/>
          </a:p>
        </p:txBody>
      </p:sp>
      <p:sp>
        <p:nvSpPr>
          <p:cNvPr id="12" name="Rectangle 11"/>
          <p:cNvSpPr/>
          <p:nvPr/>
        </p:nvSpPr>
        <p:spPr>
          <a:xfrm>
            <a:off x="6050408" y="1367522"/>
            <a:ext cx="5410201" cy="923330"/>
          </a:xfrm>
          <a:prstGeom prst="rect">
            <a:avLst/>
          </a:prstGeom>
        </p:spPr>
        <p:txBody>
          <a:bodyPr wrap="square">
            <a:spAutoFit/>
          </a:bodyPr>
          <a:lstStyle/>
          <a:p>
            <a:pPr algn="just"/>
            <a:r>
              <a:rPr lang="en-US" dirty="0"/>
              <a:t>#</a:t>
            </a:r>
            <a:r>
              <a:rPr lang="en-US" dirty="0" err="1"/>
              <a:t>docker</a:t>
            </a:r>
            <a:r>
              <a:rPr lang="en-US" dirty="0"/>
              <a:t> tag &lt;</a:t>
            </a:r>
            <a:r>
              <a:rPr lang="en-US" dirty="0" err="1"/>
              <a:t>nama</a:t>
            </a:r>
            <a:r>
              <a:rPr lang="en-US" dirty="0"/>
              <a:t> image </a:t>
            </a:r>
            <a:r>
              <a:rPr lang="en-US" dirty="0" err="1"/>
              <a:t>asli:tag</a:t>
            </a:r>
            <a:r>
              <a:rPr lang="en-US" dirty="0"/>
              <a:t>&gt; &lt;image yang </a:t>
            </a:r>
            <a:r>
              <a:rPr lang="en-US" dirty="0" err="1"/>
              <a:t>ditag:tag</a:t>
            </a:r>
            <a:r>
              <a:rPr lang="en-US" dirty="0"/>
              <a:t>&gt; //</a:t>
            </a:r>
            <a:r>
              <a:rPr lang="en-US" dirty="0" err="1"/>
              <a:t>dalam</a:t>
            </a:r>
            <a:r>
              <a:rPr lang="en-US" dirty="0"/>
              <a:t> </a:t>
            </a:r>
            <a:r>
              <a:rPr lang="en-US" dirty="0" err="1"/>
              <a:t>membuat</a:t>
            </a:r>
            <a:r>
              <a:rPr lang="en-US" dirty="0"/>
              <a:t> tag </a:t>
            </a:r>
            <a:r>
              <a:rPr lang="en-US" dirty="0" err="1"/>
              <a:t>pastikan</a:t>
            </a:r>
            <a:r>
              <a:rPr lang="en-US" dirty="0"/>
              <a:t> kalian </a:t>
            </a:r>
            <a:r>
              <a:rPr lang="en-US" dirty="0" err="1"/>
              <a:t>juga</a:t>
            </a:r>
            <a:r>
              <a:rPr lang="en-US" dirty="0"/>
              <a:t> </a:t>
            </a:r>
            <a:r>
              <a:rPr lang="en-US" dirty="0" err="1"/>
              <a:t>menggunakan</a:t>
            </a:r>
            <a:r>
              <a:rPr lang="en-US" dirty="0"/>
              <a:t> format </a:t>
            </a:r>
            <a:r>
              <a:rPr lang="en-US" dirty="0" err="1"/>
              <a:t>usernamedockerhub</a:t>
            </a:r>
            <a:r>
              <a:rPr lang="en-US" dirty="0"/>
              <a:t>/</a:t>
            </a:r>
            <a:r>
              <a:rPr lang="en-US" dirty="0" err="1"/>
              <a:t>namaimage</a:t>
            </a:r>
            <a:endParaRPr lang="en-US" dirty="0"/>
          </a:p>
        </p:txBody>
      </p:sp>
      <p:sp>
        <p:nvSpPr>
          <p:cNvPr id="13" name="Rectangle 12"/>
          <p:cNvSpPr/>
          <p:nvPr/>
        </p:nvSpPr>
        <p:spPr>
          <a:xfrm>
            <a:off x="6050408" y="2436393"/>
            <a:ext cx="6316133" cy="584775"/>
          </a:xfrm>
          <a:prstGeom prst="rect">
            <a:avLst/>
          </a:prstGeom>
        </p:spPr>
        <p:txBody>
          <a:bodyPr wrap="square">
            <a:spAutoFit/>
          </a:bodyPr>
          <a:lstStyle/>
          <a:p>
            <a:pPr algn="just"/>
            <a:r>
              <a:rPr lang="en-US" sz="1600" dirty="0" err="1">
                <a:solidFill>
                  <a:srgbClr val="002060"/>
                </a:solidFill>
              </a:rPr>
              <a:t>root@administrator</a:t>
            </a:r>
            <a:r>
              <a:rPr lang="en-US" sz="1600" dirty="0">
                <a:solidFill>
                  <a:srgbClr val="002060"/>
                </a:solidFill>
              </a:rPr>
              <a:t>:/home/panda/GPU2# </a:t>
            </a:r>
            <a:r>
              <a:rPr lang="en-US" sz="1600" b="1" dirty="0" err="1">
                <a:solidFill>
                  <a:srgbClr val="00B0F0"/>
                </a:solidFill>
              </a:rPr>
              <a:t>docker</a:t>
            </a:r>
            <a:r>
              <a:rPr lang="en-US" sz="1600" b="1" dirty="0">
                <a:solidFill>
                  <a:srgbClr val="00B0F0"/>
                </a:solidFill>
              </a:rPr>
              <a:t> tag </a:t>
            </a:r>
            <a:r>
              <a:rPr lang="en-US" sz="1600" b="1" dirty="0" err="1">
                <a:solidFill>
                  <a:srgbClr val="00B0F0"/>
                </a:solidFill>
              </a:rPr>
              <a:t>nginx</a:t>
            </a:r>
            <a:r>
              <a:rPr lang="en-US" sz="1600" b="1" dirty="0">
                <a:solidFill>
                  <a:srgbClr val="00B0F0"/>
                </a:solidFill>
              </a:rPr>
              <a:t> </a:t>
            </a:r>
            <a:r>
              <a:rPr lang="en-US" sz="1600" b="1" dirty="0" err="1">
                <a:solidFill>
                  <a:srgbClr val="00B0F0"/>
                </a:solidFill>
              </a:rPr>
              <a:t>Amel</a:t>
            </a:r>
            <a:r>
              <a:rPr lang="en-US" sz="1600" b="1" dirty="0">
                <a:solidFill>
                  <a:srgbClr val="00B0F0"/>
                </a:solidFill>
              </a:rPr>
              <a:t>/web-1</a:t>
            </a:r>
          </a:p>
          <a:p>
            <a:pPr algn="just"/>
            <a:r>
              <a:rPr lang="en-US" sz="1600" dirty="0" err="1">
                <a:solidFill>
                  <a:srgbClr val="002060"/>
                </a:solidFill>
              </a:rPr>
              <a:t>root@administrator</a:t>
            </a:r>
            <a:r>
              <a:rPr lang="en-US" sz="1600" dirty="0">
                <a:solidFill>
                  <a:srgbClr val="002060"/>
                </a:solidFill>
              </a:rPr>
              <a:t>:/home/panda/GPU2# </a:t>
            </a:r>
            <a:r>
              <a:rPr lang="en-US" sz="1600" b="1" dirty="0" err="1">
                <a:solidFill>
                  <a:srgbClr val="00B0F0"/>
                </a:solidFill>
              </a:rPr>
              <a:t>docker</a:t>
            </a:r>
            <a:r>
              <a:rPr lang="en-US" sz="1600" b="1" dirty="0">
                <a:solidFill>
                  <a:srgbClr val="00B0F0"/>
                </a:solidFill>
              </a:rPr>
              <a:t> images</a:t>
            </a:r>
          </a:p>
        </p:txBody>
      </p:sp>
      <p:sp>
        <p:nvSpPr>
          <p:cNvPr id="14" name="Rectangle 13"/>
          <p:cNvSpPr/>
          <p:nvPr/>
        </p:nvSpPr>
        <p:spPr>
          <a:xfrm>
            <a:off x="279399" y="3689348"/>
            <a:ext cx="8187269" cy="369332"/>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login</a:t>
            </a:r>
            <a:endParaRPr lang="en-US" b="1" dirty="0">
              <a:solidFill>
                <a:srgbClr val="00B0F0"/>
              </a:solidFill>
            </a:endParaRPr>
          </a:p>
        </p:txBody>
      </p:sp>
      <p:sp>
        <p:nvSpPr>
          <p:cNvPr id="15" name="Rectangle 14"/>
          <p:cNvSpPr/>
          <p:nvPr/>
        </p:nvSpPr>
        <p:spPr>
          <a:xfrm>
            <a:off x="279399" y="4142666"/>
            <a:ext cx="2260602" cy="646331"/>
          </a:xfrm>
          <a:prstGeom prst="rect">
            <a:avLst/>
          </a:prstGeom>
        </p:spPr>
        <p:txBody>
          <a:bodyPr wrap="square">
            <a:spAutoFit/>
          </a:bodyPr>
          <a:lstStyle/>
          <a:p>
            <a:pPr algn="just"/>
            <a:r>
              <a:rPr lang="en-US" dirty="0" smtClean="0">
                <a:solidFill>
                  <a:srgbClr val="002060"/>
                </a:solidFill>
              </a:rPr>
              <a:t>Username: </a:t>
            </a:r>
            <a:r>
              <a:rPr lang="en-US" b="1" dirty="0" err="1" smtClean="0">
                <a:solidFill>
                  <a:srgbClr val="00B0F0"/>
                </a:solidFill>
              </a:rPr>
              <a:t>amel</a:t>
            </a:r>
            <a:endParaRPr lang="en-US" b="1" dirty="0" smtClean="0">
              <a:solidFill>
                <a:srgbClr val="00B0F0"/>
              </a:solidFill>
            </a:endParaRPr>
          </a:p>
          <a:p>
            <a:pPr algn="just"/>
            <a:r>
              <a:rPr lang="en-US" dirty="0" smtClean="0">
                <a:solidFill>
                  <a:srgbClr val="002060"/>
                </a:solidFill>
              </a:rPr>
              <a:t>Password:</a:t>
            </a:r>
            <a:endParaRPr lang="en-US" b="1" dirty="0">
              <a:solidFill>
                <a:srgbClr val="00B0F0"/>
              </a:solidFill>
            </a:endParaRPr>
          </a:p>
        </p:txBody>
      </p:sp>
      <p:sp>
        <p:nvSpPr>
          <p:cNvPr id="16" name="Rectangle 15"/>
          <p:cNvSpPr/>
          <p:nvPr/>
        </p:nvSpPr>
        <p:spPr>
          <a:xfrm>
            <a:off x="279399" y="4872983"/>
            <a:ext cx="4597401" cy="646331"/>
          </a:xfrm>
          <a:prstGeom prst="rect">
            <a:avLst/>
          </a:prstGeom>
        </p:spPr>
        <p:txBody>
          <a:bodyPr wrap="square">
            <a:spAutoFit/>
          </a:bodyPr>
          <a:lstStyle/>
          <a:p>
            <a:pPr algn="just"/>
            <a:r>
              <a:rPr lang="en-US" dirty="0" smtClean="0">
                <a:solidFill>
                  <a:srgbClr val="002060"/>
                </a:solidFill>
              </a:rPr>
              <a:t>Login Succeeded</a:t>
            </a:r>
          </a:p>
          <a:p>
            <a:pPr algn="just"/>
            <a:r>
              <a:rPr lang="en-US" dirty="0" err="1">
                <a:solidFill>
                  <a:srgbClr val="002060"/>
                </a:solidFill>
              </a:rPr>
              <a:t>root@administrator</a:t>
            </a:r>
            <a:r>
              <a:rPr lang="en-US" dirty="0">
                <a:solidFill>
                  <a:srgbClr val="002060"/>
                </a:solidFill>
              </a:rPr>
              <a:t>:/home/panda/GPU2#</a:t>
            </a:r>
            <a:endParaRPr lang="en-US" b="1" dirty="0">
              <a:solidFill>
                <a:srgbClr val="00B0F0"/>
              </a:solidFill>
            </a:endParaRPr>
          </a:p>
        </p:txBody>
      </p:sp>
      <p:pic>
        <p:nvPicPr>
          <p:cNvPr id="17" name="Picture 16"/>
          <p:cNvPicPr>
            <a:picLocks noChangeAspect="1"/>
          </p:cNvPicPr>
          <p:nvPr/>
        </p:nvPicPr>
        <p:blipFill>
          <a:blip r:embed="rId2"/>
          <a:stretch>
            <a:fillRect/>
          </a:stretch>
        </p:blipFill>
        <p:spPr>
          <a:xfrm>
            <a:off x="279399" y="5519314"/>
            <a:ext cx="5410201" cy="1203219"/>
          </a:xfrm>
          <a:prstGeom prst="rect">
            <a:avLst/>
          </a:prstGeom>
        </p:spPr>
      </p:pic>
      <p:sp>
        <p:nvSpPr>
          <p:cNvPr id="18" name="Rectangle 17"/>
          <p:cNvSpPr/>
          <p:nvPr/>
        </p:nvSpPr>
        <p:spPr>
          <a:xfrm>
            <a:off x="6206065" y="3440215"/>
            <a:ext cx="5765801" cy="1169551"/>
          </a:xfrm>
          <a:prstGeom prst="rect">
            <a:avLst/>
          </a:prstGeom>
          <a:solidFill>
            <a:schemeClr val="tx1"/>
          </a:solidFill>
        </p:spPr>
        <p:txBody>
          <a:bodyPr wrap="square">
            <a:spAutoFit/>
          </a:bodyPr>
          <a:lstStyle/>
          <a:p>
            <a:pPr algn="just"/>
            <a:r>
              <a:rPr lang="en-US" sz="1400" dirty="0" err="1" smtClean="0">
                <a:solidFill>
                  <a:srgbClr val="002060"/>
                </a:solidFill>
              </a:rPr>
              <a:t>Repostory</a:t>
            </a:r>
            <a:r>
              <a:rPr lang="en-US" sz="1400" dirty="0" smtClean="0">
                <a:solidFill>
                  <a:srgbClr val="002060"/>
                </a:solidFill>
              </a:rPr>
              <a:t>             TAG          IMAGE ID                CREATED            SIZE  </a:t>
            </a:r>
            <a:endParaRPr lang="en-US" sz="1400" b="1" dirty="0" smtClean="0">
              <a:solidFill>
                <a:srgbClr val="00B0F0"/>
              </a:solidFill>
            </a:endParaRPr>
          </a:p>
          <a:p>
            <a:pPr algn="just"/>
            <a:r>
              <a:rPr lang="en-US" sz="1400" dirty="0" smtClean="0">
                <a:solidFill>
                  <a:schemeClr val="bg1">
                    <a:lumMod val="95000"/>
                  </a:schemeClr>
                </a:solidFill>
              </a:rPr>
              <a:t>Nginx                      latest       f5awhshswya2      2 days ago          187MB</a:t>
            </a:r>
          </a:p>
          <a:p>
            <a:pPr algn="just"/>
            <a:r>
              <a:rPr lang="en-US" sz="1400" dirty="0" err="1" smtClean="0">
                <a:solidFill>
                  <a:schemeClr val="bg1">
                    <a:lumMod val="95000"/>
                  </a:schemeClr>
                </a:solidFill>
              </a:rPr>
              <a:t>Amel</a:t>
            </a:r>
            <a:r>
              <a:rPr lang="en-US" sz="1400" dirty="0" smtClean="0">
                <a:solidFill>
                  <a:schemeClr val="bg1">
                    <a:lumMod val="95000"/>
                  </a:schemeClr>
                </a:solidFill>
              </a:rPr>
              <a:t>/web-1         latest       </a:t>
            </a:r>
            <a:r>
              <a:rPr lang="en-US" sz="1400" dirty="0">
                <a:solidFill>
                  <a:schemeClr val="bg1">
                    <a:lumMod val="95000"/>
                  </a:schemeClr>
                </a:solidFill>
              </a:rPr>
              <a:t>f5awhshswya2      2 days ago       </a:t>
            </a:r>
            <a:r>
              <a:rPr lang="en-US" sz="1400" dirty="0" smtClean="0">
                <a:solidFill>
                  <a:schemeClr val="bg1">
                    <a:lumMod val="95000"/>
                  </a:schemeClr>
                </a:solidFill>
              </a:rPr>
              <a:t>    187MB</a:t>
            </a:r>
            <a:endParaRPr lang="en-US" sz="1400" b="1" dirty="0">
              <a:solidFill>
                <a:schemeClr val="bg1">
                  <a:lumMod val="95000"/>
                </a:schemeClr>
              </a:solidFill>
            </a:endParaRPr>
          </a:p>
          <a:p>
            <a:pPr algn="just"/>
            <a:r>
              <a:rPr lang="en-US" sz="1400" dirty="0" smtClean="0">
                <a:solidFill>
                  <a:schemeClr val="bg1">
                    <a:lumMod val="95000"/>
                  </a:schemeClr>
                </a:solidFill>
              </a:rPr>
              <a:t>registry                  2               0030ba3d760c      </a:t>
            </a:r>
            <a:r>
              <a:rPr lang="en-US" sz="1400" dirty="0">
                <a:solidFill>
                  <a:schemeClr val="bg1">
                    <a:lumMod val="95000"/>
                  </a:schemeClr>
                </a:solidFill>
              </a:rPr>
              <a:t>2 </a:t>
            </a:r>
            <a:r>
              <a:rPr lang="en-US" sz="1400" dirty="0" smtClean="0">
                <a:solidFill>
                  <a:schemeClr val="bg1">
                    <a:lumMod val="95000"/>
                  </a:schemeClr>
                </a:solidFill>
              </a:rPr>
              <a:t>weeks ago       24.1MB</a:t>
            </a:r>
            <a:endParaRPr lang="en-US" sz="1400" b="1" dirty="0">
              <a:solidFill>
                <a:schemeClr val="bg1">
                  <a:lumMod val="95000"/>
                </a:schemeClr>
              </a:solidFill>
            </a:endParaRPr>
          </a:p>
          <a:p>
            <a:pPr algn="just"/>
            <a:endParaRPr lang="en-US" sz="1400" b="1" dirty="0">
              <a:solidFill>
                <a:srgbClr val="00B0F0"/>
              </a:solidFill>
            </a:endParaRPr>
          </a:p>
        </p:txBody>
      </p:sp>
    </p:spTree>
    <p:extLst>
      <p:ext uri="{BB962C8B-B14F-4D97-AF65-F5344CB8AC3E}">
        <p14:creationId xmlns:p14="http://schemas.microsoft.com/office/powerpoint/2010/main" val="2692269900"/>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4" name="Rectangle 13"/>
          <p:cNvSpPr/>
          <p:nvPr/>
        </p:nvSpPr>
        <p:spPr>
          <a:xfrm>
            <a:off x="322883" y="1723691"/>
            <a:ext cx="2876365" cy="369332"/>
          </a:xfrm>
          <a:prstGeom prst="rect">
            <a:avLst/>
          </a:prstGeom>
        </p:spPr>
        <p:txBody>
          <a:bodyPr wrap="none">
            <a:spAutoFit/>
          </a:bodyPr>
          <a:lstStyle/>
          <a:p>
            <a:r>
              <a:rPr lang="en-US" dirty="0"/>
              <a:t>#</a:t>
            </a:r>
            <a:r>
              <a:rPr lang="en-US" dirty="0" err="1"/>
              <a:t>docker</a:t>
            </a:r>
            <a:r>
              <a:rPr lang="en-US" dirty="0"/>
              <a:t> push &lt;</a:t>
            </a:r>
            <a:r>
              <a:rPr lang="en-US" dirty="0" err="1"/>
              <a:t>nama</a:t>
            </a:r>
            <a:r>
              <a:rPr lang="en-US" dirty="0"/>
              <a:t> image&gt;</a:t>
            </a:r>
          </a:p>
        </p:txBody>
      </p:sp>
      <p:sp>
        <p:nvSpPr>
          <p:cNvPr id="15" name="Rectangle 14"/>
          <p:cNvSpPr/>
          <p:nvPr/>
        </p:nvSpPr>
        <p:spPr>
          <a:xfrm>
            <a:off x="279399" y="2299211"/>
            <a:ext cx="4495801" cy="646331"/>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push </a:t>
            </a:r>
            <a:r>
              <a:rPr lang="en-US" b="1" dirty="0" err="1" smtClean="0">
                <a:solidFill>
                  <a:srgbClr val="00B0F0"/>
                </a:solidFill>
              </a:rPr>
              <a:t>Amel</a:t>
            </a:r>
            <a:r>
              <a:rPr lang="en-US" b="1" dirty="0" smtClean="0">
                <a:solidFill>
                  <a:srgbClr val="00B0F0"/>
                </a:solidFill>
              </a:rPr>
              <a:t>/web-1</a:t>
            </a:r>
          </a:p>
        </p:txBody>
      </p:sp>
      <p:sp>
        <p:nvSpPr>
          <p:cNvPr id="16" name="Rectangle 15"/>
          <p:cNvSpPr/>
          <p:nvPr/>
        </p:nvSpPr>
        <p:spPr>
          <a:xfrm>
            <a:off x="5938476" y="342875"/>
            <a:ext cx="5638800" cy="2585323"/>
          </a:xfrm>
          <a:prstGeom prst="rect">
            <a:avLst/>
          </a:prstGeom>
        </p:spPr>
        <p:txBody>
          <a:bodyPr wrap="square">
            <a:spAutoFit/>
          </a:bodyPr>
          <a:lstStyle/>
          <a:p>
            <a:pPr algn="just"/>
            <a:r>
              <a:rPr lang="en-US" dirty="0" err="1"/>
              <a:t>docker</a:t>
            </a:r>
            <a:r>
              <a:rPr lang="en-US" dirty="0"/>
              <a:t> run &lt;options&gt; &lt;</a:t>
            </a:r>
            <a:r>
              <a:rPr lang="en-US" dirty="0" err="1"/>
              <a:t>nama</a:t>
            </a:r>
            <a:r>
              <a:rPr lang="en-US" dirty="0"/>
              <a:t> image&gt;</a:t>
            </a:r>
            <a:r>
              <a:rPr lang="en-US" dirty="0" err="1"/>
              <a:t>Untuk</a:t>
            </a:r>
            <a:r>
              <a:rPr lang="en-US" dirty="0"/>
              <a:t> </a:t>
            </a:r>
            <a:r>
              <a:rPr lang="en-US" dirty="0" err="1"/>
              <a:t>menjalankan</a:t>
            </a:r>
            <a:r>
              <a:rPr lang="en-US" dirty="0"/>
              <a:t> container </a:t>
            </a:r>
            <a:r>
              <a:rPr lang="en-US" dirty="0" err="1"/>
              <a:t>menggunakan</a:t>
            </a:r>
            <a:r>
              <a:rPr lang="en-US" dirty="0"/>
              <a:t> images yang </a:t>
            </a:r>
            <a:r>
              <a:rPr lang="en-US" dirty="0" err="1"/>
              <a:t>ada</a:t>
            </a:r>
            <a:r>
              <a:rPr lang="en-US" dirty="0"/>
              <a:t>. </a:t>
            </a:r>
            <a:r>
              <a:rPr lang="en-US" dirty="0" err="1"/>
              <a:t>Untuk</a:t>
            </a:r>
            <a:r>
              <a:rPr lang="en-US" dirty="0"/>
              <a:t> </a:t>
            </a:r>
            <a:r>
              <a:rPr lang="en-US" dirty="0" err="1"/>
              <a:t>opsi</a:t>
            </a:r>
            <a:r>
              <a:rPr lang="en-US" dirty="0"/>
              <a:t> yang </a:t>
            </a:r>
            <a:r>
              <a:rPr lang="en-US" dirty="0" err="1"/>
              <a:t>digunakan</a:t>
            </a:r>
            <a:r>
              <a:rPr lang="en-US" dirty="0"/>
              <a:t> </a:t>
            </a:r>
            <a:r>
              <a:rPr lang="en-US" dirty="0" err="1"/>
              <a:t>beragam</a:t>
            </a:r>
            <a:r>
              <a:rPr lang="en-US" dirty="0"/>
              <a:t>. </a:t>
            </a:r>
            <a:r>
              <a:rPr lang="en-US" dirty="0" err="1"/>
              <a:t>Untuk</a:t>
            </a:r>
            <a:r>
              <a:rPr lang="en-US" dirty="0"/>
              <a:t> </a:t>
            </a:r>
            <a:r>
              <a:rPr lang="en-US" dirty="0" err="1"/>
              <a:t>melihat</a:t>
            </a:r>
            <a:r>
              <a:rPr lang="en-US" dirty="0"/>
              <a:t> container yang </a:t>
            </a:r>
            <a:r>
              <a:rPr lang="en-US" dirty="0" err="1"/>
              <a:t>sedang</a:t>
            </a:r>
            <a:r>
              <a:rPr lang="en-US" dirty="0"/>
              <a:t> </a:t>
            </a:r>
            <a:r>
              <a:rPr lang="en-US" dirty="0" err="1"/>
              <a:t>berjalan</a:t>
            </a:r>
            <a:r>
              <a:rPr lang="en-US" dirty="0"/>
              <a:t> kalian </a:t>
            </a:r>
            <a:r>
              <a:rPr lang="en-US" dirty="0" err="1"/>
              <a:t>dapat</a:t>
            </a:r>
            <a:r>
              <a:rPr lang="en-US" dirty="0"/>
              <a:t> </a:t>
            </a:r>
            <a:r>
              <a:rPr lang="en-US" dirty="0" err="1"/>
              <a:t>menggunakan</a:t>
            </a:r>
            <a:r>
              <a:rPr lang="en-US" dirty="0"/>
              <a:t> </a:t>
            </a:r>
            <a:r>
              <a:rPr lang="en-US" dirty="0" err="1"/>
              <a:t>perintah</a:t>
            </a:r>
            <a:r>
              <a:rPr lang="en-US" dirty="0"/>
              <a:t> </a:t>
            </a:r>
            <a:r>
              <a:rPr lang="en-US" dirty="0" err="1"/>
              <a:t>docker</a:t>
            </a:r>
            <a:r>
              <a:rPr lang="en-US" dirty="0"/>
              <a:t> ps. </a:t>
            </a:r>
            <a:r>
              <a:rPr lang="en-US" dirty="0" err="1"/>
              <a:t>Nanti</a:t>
            </a:r>
            <a:r>
              <a:rPr lang="en-US" dirty="0"/>
              <a:t> </a:t>
            </a:r>
            <a:r>
              <a:rPr lang="en-US" dirty="0" err="1"/>
              <a:t>akan</a:t>
            </a:r>
            <a:r>
              <a:rPr lang="en-US" dirty="0"/>
              <a:t> </a:t>
            </a:r>
            <a:r>
              <a:rPr lang="en-US" dirty="0" err="1"/>
              <a:t>terlihat</a:t>
            </a:r>
            <a:r>
              <a:rPr lang="en-US" dirty="0"/>
              <a:t> status </a:t>
            </a:r>
            <a:r>
              <a:rPr lang="en-US" dirty="0" err="1"/>
              <a:t>dari</a:t>
            </a:r>
            <a:r>
              <a:rPr lang="en-US" dirty="0"/>
              <a:t> container.#</a:t>
            </a:r>
            <a:r>
              <a:rPr lang="en-US" dirty="0" err="1"/>
              <a:t>docker</a:t>
            </a:r>
            <a:r>
              <a:rPr lang="en-US" dirty="0"/>
              <a:t> run -d -p 80:80 --name web-1 </a:t>
            </a:r>
            <a:r>
              <a:rPr lang="en-US" dirty="0" err="1"/>
              <a:t>nginx</a:t>
            </a:r>
            <a:r>
              <a:rPr lang="en-US" dirty="0"/>
              <a:t> </a:t>
            </a:r>
            <a:r>
              <a:rPr lang="en-US" dirty="0" err="1"/>
              <a:t>penjelasan</a:t>
            </a:r>
            <a:r>
              <a:rPr lang="en-US" dirty="0"/>
              <a:t> </a:t>
            </a:r>
            <a:r>
              <a:rPr lang="en-US" dirty="0" err="1"/>
              <a:t>opsi</a:t>
            </a:r>
            <a:r>
              <a:rPr lang="en-US" dirty="0"/>
              <a:t> </a:t>
            </a:r>
            <a:r>
              <a:rPr lang="en-US" dirty="0" err="1"/>
              <a:t>perintah</a:t>
            </a:r>
            <a:r>
              <a:rPr lang="en-US" dirty="0"/>
              <a:t>: -d --&gt; agar container </a:t>
            </a:r>
            <a:r>
              <a:rPr lang="en-US" dirty="0" err="1"/>
              <a:t>dapat</a:t>
            </a:r>
            <a:r>
              <a:rPr lang="en-US" dirty="0"/>
              <a:t> </a:t>
            </a:r>
            <a:r>
              <a:rPr lang="en-US" dirty="0" err="1"/>
              <a:t>berjalan</a:t>
            </a:r>
            <a:r>
              <a:rPr lang="en-US" dirty="0"/>
              <a:t> </a:t>
            </a:r>
            <a:r>
              <a:rPr lang="en-US" dirty="0" err="1"/>
              <a:t>dilatar</a:t>
            </a:r>
            <a:r>
              <a:rPr lang="en-US" dirty="0"/>
              <a:t> </a:t>
            </a:r>
            <a:r>
              <a:rPr lang="en-US" dirty="0" err="1"/>
              <a:t>belakang</a:t>
            </a:r>
            <a:r>
              <a:rPr lang="en-US" dirty="0"/>
              <a:t> -p --&gt; </a:t>
            </a:r>
            <a:r>
              <a:rPr lang="en-US" dirty="0" err="1"/>
              <a:t>untuk</a:t>
            </a:r>
            <a:r>
              <a:rPr lang="en-US" dirty="0"/>
              <a:t> expose port </a:t>
            </a:r>
            <a:r>
              <a:rPr lang="en-US" dirty="0" err="1"/>
              <a:t>dari</a:t>
            </a:r>
            <a:r>
              <a:rPr lang="en-US" dirty="0"/>
              <a:t> container. --name --&gt; </a:t>
            </a:r>
            <a:r>
              <a:rPr lang="en-US" dirty="0" err="1"/>
              <a:t>untuk</a:t>
            </a:r>
            <a:r>
              <a:rPr lang="en-US" dirty="0"/>
              <a:t> </a:t>
            </a:r>
            <a:r>
              <a:rPr lang="en-US" dirty="0" err="1"/>
              <a:t>menentukan</a:t>
            </a:r>
            <a:r>
              <a:rPr lang="en-US" dirty="0"/>
              <a:t> </a:t>
            </a:r>
            <a:r>
              <a:rPr lang="en-US" dirty="0" err="1"/>
              <a:t>nama</a:t>
            </a:r>
            <a:r>
              <a:rPr lang="en-US" dirty="0"/>
              <a:t> container yang </a:t>
            </a:r>
            <a:r>
              <a:rPr lang="en-US" dirty="0" err="1"/>
              <a:t>akan</a:t>
            </a:r>
            <a:r>
              <a:rPr lang="en-US" dirty="0"/>
              <a:t> </a:t>
            </a:r>
            <a:r>
              <a:rPr lang="en-US" dirty="0" err="1" smtClean="0"/>
              <a:t>dideploy</a:t>
            </a:r>
            <a:endParaRPr lang="en-US" dirty="0"/>
          </a:p>
        </p:txBody>
      </p:sp>
      <p:sp>
        <p:nvSpPr>
          <p:cNvPr id="17" name="Rectangle 16"/>
          <p:cNvSpPr/>
          <p:nvPr/>
        </p:nvSpPr>
        <p:spPr>
          <a:xfrm>
            <a:off x="5938476" y="3083984"/>
            <a:ext cx="5089890" cy="646331"/>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run –d –p 80:80 –name web-1 </a:t>
            </a:r>
            <a:r>
              <a:rPr lang="en-US" b="1" dirty="0" err="1" smtClean="0">
                <a:solidFill>
                  <a:srgbClr val="00B0F0"/>
                </a:solidFill>
              </a:rPr>
              <a:t>nginx</a:t>
            </a:r>
            <a:endParaRPr lang="en-US" b="1" dirty="0" smtClean="0">
              <a:solidFill>
                <a:srgbClr val="00B0F0"/>
              </a:solidFill>
            </a:endParaRPr>
          </a:p>
        </p:txBody>
      </p:sp>
      <p:sp>
        <p:nvSpPr>
          <p:cNvPr id="18" name="Rectangle 17"/>
          <p:cNvSpPr/>
          <p:nvPr/>
        </p:nvSpPr>
        <p:spPr>
          <a:xfrm>
            <a:off x="316347" y="3083984"/>
            <a:ext cx="5622129" cy="2554545"/>
          </a:xfrm>
          <a:prstGeom prst="rect">
            <a:avLst/>
          </a:prstGeom>
          <a:solidFill>
            <a:schemeClr val="tx1"/>
          </a:solidFill>
        </p:spPr>
        <p:txBody>
          <a:bodyPr wrap="square">
            <a:spAutoFit/>
          </a:bodyPr>
          <a:lstStyle/>
          <a:p>
            <a:pPr algn="just"/>
            <a:r>
              <a:rPr lang="en-US" sz="1600" dirty="0" err="1">
                <a:solidFill>
                  <a:schemeClr val="bg1">
                    <a:lumMod val="50000"/>
                  </a:schemeClr>
                </a:solidFill>
              </a:rPr>
              <a:t>root@administrator</a:t>
            </a:r>
            <a:r>
              <a:rPr lang="en-US" sz="1600" dirty="0">
                <a:solidFill>
                  <a:schemeClr val="bg1">
                    <a:lumMod val="50000"/>
                  </a:schemeClr>
                </a:solidFill>
              </a:rPr>
              <a:t>:/home/panda/GPU2# </a:t>
            </a:r>
            <a:r>
              <a:rPr lang="en-US" sz="1600" b="1" dirty="0" err="1">
                <a:solidFill>
                  <a:schemeClr val="bg1">
                    <a:lumMod val="50000"/>
                  </a:schemeClr>
                </a:solidFill>
              </a:rPr>
              <a:t>docker</a:t>
            </a:r>
            <a:r>
              <a:rPr lang="en-US" sz="1600" b="1" dirty="0">
                <a:solidFill>
                  <a:schemeClr val="bg1">
                    <a:lumMod val="50000"/>
                  </a:schemeClr>
                </a:solidFill>
              </a:rPr>
              <a:t> push </a:t>
            </a:r>
            <a:r>
              <a:rPr lang="en-US" sz="1600" b="1" dirty="0" err="1" smtClean="0">
                <a:solidFill>
                  <a:schemeClr val="bg1">
                    <a:lumMod val="50000"/>
                  </a:schemeClr>
                </a:solidFill>
              </a:rPr>
              <a:t>Amel</a:t>
            </a:r>
            <a:r>
              <a:rPr lang="en-US" sz="1600" b="1" dirty="0" smtClean="0">
                <a:solidFill>
                  <a:schemeClr val="bg1">
                    <a:lumMod val="50000"/>
                  </a:schemeClr>
                </a:solidFill>
              </a:rPr>
              <a:t>/web-1</a:t>
            </a:r>
          </a:p>
          <a:p>
            <a:pPr algn="just"/>
            <a:r>
              <a:rPr lang="en-US" sz="1600" b="1" dirty="0" smtClean="0">
                <a:solidFill>
                  <a:schemeClr val="bg1">
                    <a:lumMod val="50000"/>
                  </a:schemeClr>
                </a:solidFill>
              </a:rPr>
              <a:t>Using default tag:     latest</a:t>
            </a:r>
          </a:p>
          <a:p>
            <a:pPr algn="just"/>
            <a:r>
              <a:rPr lang="en-US" sz="1600" b="1" dirty="0" smtClean="0">
                <a:solidFill>
                  <a:schemeClr val="bg1">
                    <a:lumMod val="50000"/>
                  </a:schemeClr>
                </a:solidFill>
              </a:rPr>
              <a:t>The push refers to repository [docker.io/</a:t>
            </a:r>
            <a:r>
              <a:rPr lang="en-US" sz="1600" b="1" dirty="0" err="1" smtClean="0">
                <a:solidFill>
                  <a:schemeClr val="bg1">
                    <a:lumMod val="50000"/>
                  </a:schemeClr>
                </a:solidFill>
              </a:rPr>
              <a:t>Amel</a:t>
            </a:r>
            <a:r>
              <a:rPr lang="en-US" sz="1600" b="1" dirty="0" smtClean="0">
                <a:solidFill>
                  <a:schemeClr val="bg1">
                    <a:lumMod val="50000"/>
                  </a:schemeClr>
                </a:solidFill>
              </a:rPr>
              <a:t>/web-1]</a:t>
            </a:r>
          </a:p>
          <a:p>
            <a:pPr algn="just"/>
            <a:endParaRPr lang="en-US" sz="1600" b="1" dirty="0">
              <a:solidFill>
                <a:schemeClr val="bg1">
                  <a:lumMod val="50000"/>
                </a:schemeClr>
              </a:solidFill>
            </a:endParaRPr>
          </a:p>
          <a:p>
            <a:pPr algn="just"/>
            <a:endParaRPr lang="en-US" sz="1600" b="1" dirty="0" smtClean="0">
              <a:solidFill>
                <a:schemeClr val="bg1">
                  <a:lumMod val="50000"/>
                </a:schemeClr>
              </a:solidFill>
            </a:endParaRPr>
          </a:p>
          <a:p>
            <a:pPr algn="just"/>
            <a:endParaRPr lang="en-US" sz="1600" b="1" dirty="0">
              <a:solidFill>
                <a:schemeClr val="bg1">
                  <a:lumMod val="50000"/>
                </a:schemeClr>
              </a:solidFill>
            </a:endParaRPr>
          </a:p>
          <a:p>
            <a:pPr algn="just"/>
            <a:endParaRPr lang="en-US" sz="1600" b="1" dirty="0" smtClean="0">
              <a:solidFill>
                <a:schemeClr val="bg1">
                  <a:lumMod val="50000"/>
                </a:schemeClr>
              </a:solidFill>
            </a:endParaRPr>
          </a:p>
          <a:p>
            <a:pPr algn="just"/>
            <a:endParaRPr lang="en-US" sz="1600" b="1" dirty="0" smtClean="0">
              <a:solidFill>
                <a:schemeClr val="bg1">
                  <a:lumMod val="50000"/>
                </a:schemeClr>
              </a:solidFill>
            </a:endParaRPr>
          </a:p>
          <a:p>
            <a:pPr algn="just"/>
            <a:r>
              <a:rPr lang="en-US" sz="1600" dirty="0" err="1">
                <a:solidFill>
                  <a:schemeClr val="bg1">
                    <a:lumMod val="50000"/>
                  </a:schemeClr>
                </a:solidFill>
              </a:rPr>
              <a:t>root@administrator</a:t>
            </a:r>
            <a:r>
              <a:rPr lang="en-US" sz="1600" dirty="0">
                <a:solidFill>
                  <a:schemeClr val="bg1">
                    <a:lumMod val="50000"/>
                  </a:schemeClr>
                </a:solidFill>
              </a:rPr>
              <a:t>:/home/panda/GPU2#</a:t>
            </a:r>
            <a:endParaRPr lang="en-US" sz="1600" b="1" dirty="0">
              <a:solidFill>
                <a:schemeClr val="bg1">
                  <a:lumMod val="50000"/>
                </a:schemeClr>
              </a:solidFill>
            </a:endParaRPr>
          </a:p>
        </p:txBody>
      </p:sp>
      <p:pic>
        <p:nvPicPr>
          <p:cNvPr id="20" name="Picture 19"/>
          <p:cNvPicPr>
            <a:picLocks noChangeAspect="1"/>
          </p:cNvPicPr>
          <p:nvPr/>
        </p:nvPicPr>
        <p:blipFill>
          <a:blip r:embed="rId2"/>
          <a:stretch>
            <a:fillRect/>
          </a:stretch>
        </p:blipFill>
        <p:spPr>
          <a:xfrm>
            <a:off x="391027" y="3868757"/>
            <a:ext cx="5547449" cy="1459988"/>
          </a:xfrm>
          <a:prstGeom prst="rect">
            <a:avLst/>
          </a:prstGeom>
        </p:spPr>
      </p:pic>
      <p:sp>
        <p:nvSpPr>
          <p:cNvPr id="21" name="Rectangle 20"/>
          <p:cNvSpPr/>
          <p:nvPr/>
        </p:nvSpPr>
        <p:spPr>
          <a:xfrm>
            <a:off x="6059605" y="3740023"/>
            <a:ext cx="5622129" cy="2062103"/>
          </a:xfrm>
          <a:prstGeom prst="rect">
            <a:avLst/>
          </a:prstGeom>
          <a:solidFill>
            <a:schemeClr val="tx1"/>
          </a:solidFill>
        </p:spPr>
        <p:txBody>
          <a:bodyPr wrap="square">
            <a:spAutoFit/>
          </a:bodyPr>
          <a:lstStyle/>
          <a:p>
            <a:pPr algn="just"/>
            <a:r>
              <a:rPr lang="en-US" sz="1600" dirty="0" err="1">
                <a:solidFill>
                  <a:schemeClr val="bg1">
                    <a:lumMod val="50000"/>
                  </a:schemeClr>
                </a:solidFill>
              </a:rPr>
              <a:t>root@administrator</a:t>
            </a:r>
            <a:r>
              <a:rPr lang="en-US" sz="1600" dirty="0">
                <a:solidFill>
                  <a:schemeClr val="bg1">
                    <a:lumMod val="50000"/>
                  </a:schemeClr>
                </a:solidFill>
              </a:rPr>
              <a:t>:/home/panda/GPU2# </a:t>
            </a:r>
            <a:r>
              <a:rPr lang="en-US" sz="1600" b="1" dirty="0" err="1">
                <a:solidFill>
                  <a:schemeClr val="bg1">
                    <a:lumMod val="50000"/>
                  </a:schemeClr>
                </a:solidFill>
              </a:rPr>
              <a:t>docker</a:t>
            </a:r>
            <a:r>
              <a:rPr lang="en-US" sz="1600" b="1" dirty="0">
                <a:solidFill>
                  <a:schemeClr val="bg1">
                    <a:lumMod val="50000"/>
                  </a:schemeClr>
                </a:solidFill>
              </a:rPr>
              <a:t> run –d –p 80:80 –name web-1 </a:t>
            </a:r>
            <a:r>
              <a:rPr lang="en-US" sz="1600" b="1" dirty="0" err="1">
                <a:solidFill>
                  <a:schemeClr val="bg1">
                    <a:lumMod val="50000"/>
                  </a:schemeClr>
                </a:solidFill>
              </a:rPr>
              <a:t>nginx</a:t>
            </a:r>
            <a:endParaRPr lang="en-US" sz="1600" b="1" dirty="0">
              <a:solidFill>
                <a:schemeClr val="bg1">
                  <a:lumMod val="50000"/>
                </a:schemeClr>
              </a:solidFill>
            </a:endParaRPr>
          </a:p>
          <a:p>
            <a:pPr algn="just"/>
            <a:r>
              <a:rPr lang="en-US" sz="1600" b="1" dirty="0" smtClean="0">
                <a:solidFill>
                  <a:schemeClr val="bg1">
                    <a:lumMod val="50000"/>
                  </a:schemeClr>
                </a:solidFill>
              </a:rPr>
              <a:t>1819991882ggfrqy11yy1yu1uuuuuuuuuuuuu1uuuu0c</a:t>
            </a:r>
          </a:p>
          <a:p>
            <a:pPr algn="just"/>
            <a:r>
              <a:rPr lang="en-US" sz="1600" dirty="0" err="1">
                <a:solidFill>
                  <a:schemeClr val="bg1">
                    <a:lumMod val="50000"/>
                  </a:schemeClr>
                </a:solidFill>
              </a:rPr>
              <a:t>root@administrator</a:t>
            </a:r>
            <a:r>
              <a:rPr lang="en-US" sz="1600" dirty="0">
                <a:solidFill>
                  <a:schemeClr val="bg1">
                    <a:lumMod val="50000"/>
                  </a:schemeClr>
                </a:solidFill>
              </a:rPr>
              <a:t>:/home/panda/GPU2# </a:t>
            </a:r>
            <a:r>
              <a:rPr lang="en-US" sz="1600" b="1" dirty="0" err="1">
                <a:solidFill>
                  <a:schemeClr val="bg1">
                    <a:lumMod val="50000"/>
                  </a:schemeClr>
                </a:solidFill>
              </a:rPr>
              <a:t>docker</a:t>
            </a:r>
            <a:r>
              <a:rPr lang="en-US" sz="1600" b="1" dirty="0">
                <a:solidFill>
                  <a:schemeClr val="bg1">
                    <a:lumMod val="50000"/>
                  </a:schemeClr>
                </a:solidFill>
              </a:rPr>
              <a:t> </a:t>
            </a:r>
            <a:r>
              <a:rPr lang="en-US" sz="1600" b="1" dirty="0" err="1" smtClean="0">
                <a:solidFill>
                  <a:schemeClr val="bg1">
                    <a:lumMod val="50000"/>
                  </a:schemeClr>
                </a:solidFill>
              </a:rPr>
              <a:t>ps</a:t>
            </a:r>
            <a:endParaRPr lang="en-US" sz="1600" b="1" dirty="0" smtClean="0">
              <a:solidFill>
                <a:schemeClr val="bg1">
                  <a:lumMod val="50000"/>
                </a:schemeClr>
              </a:solidFill>
            </a:endParaRPr>
          </a:p>
          <a:p>
            <a:pPr algn="just"/>
            <a:endParaRPr lang="en-US" sz="1600" b="1" dirty="0">
              <a:solidFill>
                <a:schemeClr val="bg1">
                  <a:lumMod val="50000"/>
                </a:schemeClr>
              </a:solidFill>
            </a:endParaRPr>
          </a:p>
          <a:p>
            <a:pPr algn="just"/>
            <a:endParaRPr lang="en-US" sz="1600" b="1" dirty="0" smtClean="0">
              <a:solidFill>
                <a:schemeClr val="bg1">
                  <a:lumMod val="50000"/>
                </a:schemeClr>
              </a:solidFill>
            </a:endParaRPr>
          </a:p>
          <a:p>
            <a:pPr algn="just"/>
            <a:endParaRPr lang="en-US" sz="1600" b="1" dirty="0">
              <a:solidFill>
                <a:schemeClr val="bg1">
                  <a:lumMod val="50000"/>
                </a:schemeClr>
              </a:solidFill>
            </a:endParaRPr>
          </a:p>
          <a:p>
            <a:pPr algn="just"/>
            <a:r>
              <a:rPr lang="en-US" sz="1600" dirty="0" err="1" smtClean="0">
                <a:solidFill>
                  <a:schemeClr val="bg1">
                    <a:lumMod val="50000"/>
                  </a:schemeClr>
                </a:solidFill>
              </a:rPr>
              <a:t>root@administrator</a:t>
            </a:r>
            <a:r>
              <a:rPr lang="en-US" sz="1600" dirty="0">
                <a:solidFill>
                  <a:schemeClr val="bg1">
                    <a:lumMod val="50000"/>
                  </a:schemeClr>
                </a:solidFill>
              </a:rPr>
              <a:t>:/home/panda/GPU2#</a:t>
            </a:r>
            <a:endParaRPr lang="en-US" sz="1600" b="1" dirty="0">
              <a:solidFill>
                <a:schemeClr val="bg1">
                  <a:lumMod val="50000"/>
                </a:schemeClr>
              </a:solidFill>
            </a:endParaRPr>
          </a:p>
        </p:txBody>
      </p:sp>
      <p:pic>
        <p:nvPicPr>
          <p:cNvPr id="22" name="Picture 21"/>
          <p:cNvPicPr>
            <a:picLocks noChangeAspect="1"/>
          </p:cNvPicPr>
          <p:nvPr/>
        </p:nvPicPr>
        <p:blipFill>
          <a:blip r:embed="rId3"/>
          <a:stretch>
            <a:fillRect/>
          </a:stretch>
        </p:blipFill>
        <p:spPr>
          <a:xfrm>
            <a:off x="6175550" y="4860133"/>
            <a:ext cx="5401726" cy="468612"/>
          </a:xfrm>
          <a:prstGeom prst="rect">
            <a:avLst/>
          </a:prstGeom>
        </p:spPr>
      </p:pic>
    </p:spTree>
    <p:extLst>
      <p:ext uri="{BB962C8B-B14F-4D97-AF65-F5344CB8AC3E}">
        <p14:creationId xmlns:p14="http://schemas.microsoft.com/office/powerpoint/2010/main" val="378474450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8" name="Rectangle 7"/>
          <p:cNvSpPr/>
          <p:nvPr/>
        </p:nvSpPr>
        <p:spPr>
          <a:xfrm>
            <a:off x="279400" y="1367522"/>
            <a:ext cx="5427134" cy="1754326"/>
          </a:xfrm>
          <a:prstGeom prst="rect">
            <a:avLst/>
          </a:prstGeom>
        </p:spPr>
        <p:txBody>
          <a:bodyPr wrap="square">
            <a:spAutoFit/>
          </a:bodyPr>
          <a:lstStyle/>
          <a:p>
            <a:pPr algn="just"/>
            <a:r>
              <a:rPr lang="en-US" b="1" dirty="0" err="1"/>
              <a:t>docker</a:t>
            </a:r>
            <a:r>
              <a:rPr lang="en-US" b="1" dirty="0"/>
              <a:t> stop &lt;</a:t>
            </a:r>
            <a:r>
              <a:rPr lang="en-US" b="1" dirty="0" err="1"/>
              <a:t>nama</a:t>
            </a:r>
            <a:r>
              <a:rPr lang="en-US" b="1" dirty="0"/>
              <a:t> </a:t>
            </a:r>
            <a:r>
              <a:rPr lang="en-US" b="1" dirty="0" err="1"/>
              <a:t>atau</a:t>
            </a:r>
            <a:r>
              <a:rPr lang="en-US" b="1" dirty="0"/>
              <a:t> id container&gt;</a:t>
            </a:r>
            <a:r>
              <a:rPr lang="en-US" dirty="0" err="1"/>
              <a:t>Untuk</a:t>
            </a:r>
            <a:r>
              <a:rPr lang="en-US" dirty="0"/>
              <a:t> </a:t>
            </a:r>
            <a:r>
              <a:rPr lang="en-US" dirty="0" err="1"/>
              <a:t>menghentikan</a:t>
            </a:r>
            <a:r>
              <a:rPr lang="en-US" dirty="0"/>
              <a:t> </a:t>
            </a:r>
            <a:r>
              <a:rPr lang="en-US" dirty="0" err="1"/>
              <a:t>atau</a:t>
            </a:r>
            <a:r>
              <a:rPr lang="en-US" dirty="0"/>
              <a:t> stop container yang </a:t>
            </a:r>
            <a:r>
              <a:rPr lang="en-US" dirty="0" err="1"/>
              <a:t>sedang</a:t>
            </a:r>
            <a:r>
              <a:rPr lang="en-US" dirty="0"/>
              <a:t> </a:t>
            </a:r>
            <a:r>
              <a:rPr lang="en-US" dirty="0" err="1"/>
              <a:t>aktif</a:t>
            </a:r>
            <a:r>
              <a:rPr lang="en-US" dirty="0"/>
              <a:t> </a:t>
            </a:r>
            <a:r>
              <a:rPr lang="en-US" dirty="0" err="1"/>
              <a:t>atau</a:t>
            </a:r>
            <a:r>
              <a:rPr lang="en-US" dirty="0"/>
              <a:t> </a:t>
            </a:r>
            <a:r>
              <a:rPr lang="en-US" dirty="0" err="1"/>
              <a:t>berjalan</a:t>
            </a:r>
            <a:r>
              <a:rPr lang="en-US" dirty="0"/>
              <a:t>. </a:t>
            </a:r>
            <a:r>
              <a:rPr lang="en-US" dirty="0" err="1"/>
              <a:t>Untuk</a:t>
            </a:r>
            <a:r>
              <a:rPr lang="en-US" dirty="0"/>
              <a:t> </a:t>
            </a:r>
            <a:r>
              <a:rPr lang="en-US" dirty="0" err="1"/>
              <a:t>melihat</a:t>
            </a:r>
            <a:r>
              <a:rPr lang="en-US" dirty="0"/>
              <a:t> container </a:t>
            </a:r>
            <a:r>
              <a:rPr lang="en-US" dirty="0" err="1"/>
              <a:t>docker</a:t>
            </a:r>
            <a:r>
              <a:rPr lang="en-US" dirty="0"/>
              <a:t> yang </a:t>
            </a:r>
            <a:r>
              <a:rPr lang="en-US" dirty="0" err="1"/>
              <a:t>statusnya</a:t>
            </a:r>
            <a:r>
              <a:rPr lang="en-US" dirty="0"/>
              <a:t> </a:t>
            </a:r>
            <a:r>
              <a:rPr lang="en-US" dirty="0" err="1"/>
              <a:t>tidak</a:t>
            </a:r>
            <a:r>
              <a:rPr lang="en-US" dirty="0"/>
              <a:t> </a:t>
            </a:r>
            <a:r>
              <a:rPr lang="en-US" dirty="0" err="1"/>
              <a:t>jalan</a:t>
            </a:r>
            <a:r>
              <a:rPr lang="en-US" dirty="0"/>
              <a:t> </a:t>
            </a:r>
            <a:r>
              <a:rPr lang="en-US" dirty="0" err="1"/>
              <a:t>dapat</a:t>
            </a:r>
            <a:r>
              <a:rPr lang="en-US" dirty="0"/>
              <a:t> </a:t>
            </a:r>
            <a:r>
              <a:rPr lang="en-US" dirty="0" err="1"/>
              <a:t>menggunakan</a:t>
            </a:r>
            <a:r>
              <a:rPr lang="en-US" dirty="0"/>
              <a:t> </a:t>
            </a:r>
            <a:r>
              <a:rPr lang="en-US" dirty="0" err="1"/>
              <a:t>perintah</a:t>
            </a:r>
            <a:r>
              <a:rPr lang="en-US" dirty="0"/>
              <a:t> </a:t>
            </a:r>
            <a:r>
              <a:rPr lang="en-US" b="1" dirty="0" err="1"/>
              <a:t>docker</a:t>
            </a:r>
            <a:r>
              <a:rPr lang="en-US" b="1" dirty="0"/>
              <a:t> </a:t>
            </a:r>
            <a:r>
              <a:rPr lang="en-US" b="1" dirty="0" err="1"/>
              <a:t>ps</a:t>
            </a:r>
            <a:r>
              <a:rPr lang="en-US" b="1" dirty="0"/>
              <a:t> -a</a:t>
            </a:r>
            <a:r>
              <a:rPr lang="en-US" dirty="0"/>
              <a:t>. </a:t>
            </a:r>
            <a:r>
              <a:rPr lang="en-US" dirty="0" err="1"/>
              <a:t>Jika</a:t>
            </a:r>
            <a:r>
              <a:rPr lang="en-US" dirty="0"/>
              <a:t> status </a:t>
            </a:r>
            <a:r>
              <a:rPr lang="en-US" dirty="0" err="1"/>
              <a:t>dari</a:t>
            </a:r>
            <a:r>
              <a:rPr lang="en-US" dirty="0"/>
              <a:t> container </a:t>
            </a:r>
            <a:r>
              <a:rPr lang="en-US" dirty="0" err="1"/>
              <a:t>sudah</a:t>
            </a:r>
            <a:r>
              <a:rPr lang="en-US" dirty="0"/>
              <a:t> Exited, </a:t>
            </a:r>
            <a:r>
              <a:rPr lang="en-US" dirty="0" err="1"/>
              <a:t>berarti</a:t>
            </a:r>
            <a:r>
              <a:rPr lang="en-US" dirty="0"/>
              <a:t> container </a:t>
            </a:r>
            <a:r>
              <a:rPr lang="en-US" dirty="0" err="1"/>
              <a:t>sudah</a:t>
            </a:r>
            <a:r>
              <a:rPr lang="en-US" dirty="0"/>
              <a:t> </a:t>
            </a:r>
            <a:r>
              <a:rPr lang="en-US" dirty="0" err="1"/>
              <a:t>dalam</a:t>
            </a:r>
            <a:r>
              <a:rPr lang="en-US" dirty="0"/>
              <a:t> </a:t>
            </a:r>
            <a:r>
              <a:rPr lang="en-US" dirty="0" err="1"/>
              <a:t>keadaan</a:t>
            </a:r>
            <a:r>
              <a:rPr lang="en-US" dirty="0"/>
              <a:t> down.</a:t>
            </a:r>
          </a:p>
        </p:txBody>
      </p:sp>
      <p:sp>
        <p:nvSpPr>
          <p:cNvPr id="9" name="Rectangle 8"/>
          <p:cNvSpPr/>
          <p:nvPr/>
        </p:nvSpPr>
        <p:spPr>
          <a:xfrm>
            <a:off x="279400" y="3121848"/>
            <a:ext cx="5427134" cy="646331"/>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stop  web-1</a:t>
            </a:r>
          </a:p>
        </p:txBody>
      </p:sp>
      <p:sp>
        <p:nvSpPr>
          <p:cNvPr id="10" name="Rectangle 9"/>
          <p:cNvSpPr/>
          <p:nvPr/>
        </p:nvSpPr>
        <p:spPr>
          <a:xfrm>
            <a:off x="279400" y="3970188"/>
            <a:ext cx="5622129" cy="1600438"/>
          </a:xfrm>
          <a:prstGeom prst="rect">
            <a:avLst/>
          </a:prstGeom>
          <a:solidFill>
            <a:schemeClr val="tx1"/>
          </a:solidFill>
        </p:spPr>
        <p:txBody>
          <a:bodyPr wrap="square">
            <a:spAutoFit/>
          </a:bodyPr>
          <a:lstStyle/>
          <a:p>
            <a:pPr algn="just"/>
            <a:r>
              <a:rPr lang="en-US" sz="1400" dirty="0" err="1">
                <a:solidFill>
                  <a:schemeClr val="bg1">
                    <a:lumMod val="50000"/>
                  </a:schemeClr>
                </a:solidFill>
              </a:rPr>
              <a:t>root@administrator</a:t>
            </a:r>
            <a:r>
              <a:rPr lang="en-US" sz="1400" dirty="0">
                <a:solidFill>
                  <a:schemeClr val="bg1">
                    <a:lumMod val="50000"/>
                  </a:schemeClr>
                </a:solidFill>
              </a:rPr>
              <a:t>:/home/panda/GPU2# </a:t>
            </a:r>
            <a:r>
              <a:rPr lang="en-US" sz="1400" b="1" dirty="0" err="1">
                <a:solidFill>
                  <a:schemeClr val="bg1">
                    <a:lumMod val="50000"/>
                  </a:schemeClr>
                </a:solidFill>
              </a:rPr>
              <a:t>docker</a:t>
            </a:r>
            <a:r>
              <a:rPr lang="en-US" sz="1400" b="1" dirty="0">
                <a:solidFill>
                  <a:schemeClr val="bg1">
                    <a:lumMod val="50000"/>
                  </a:schemeClr>
                </a:solidFill>
              </a:rPr>
              <a:t> </a:t>
            </a:r>
            <a:r>
              <a:rPr lang="en-US" sz="1400" b="1" dirty="0" smtClean="0">
                <a:solidFill>
                  <a:schemeClr val="bg1">
                    <a:lumMod val="50000"/>
                  </a:schemeClr>
                </a:solidFill>
              </a:rPr>
              <a:t>stop web-1</a:t>
            </a:r>
            <a:endParaRPr lang="en-US" sz="1400" b="1" dirty="0">
              <a:solidFill>
                <a:schemeClr val="bg1">
                  <a:lumMod val="50000"/>
                </a:schemeClr>
              </a:solidFill>
            </a:endParaRPr>
          </a:p>
          <a:p>
            <a:pPr algn="just"/>
            <a:r>
              <a:rPr lang="en-US" sz="1400" b="1" dirty="0" smtClean="0">
                <a:solidFill>
                  <a:schemeClr val="bg1">
                    <a:lumMod val="50000"/>
                  </a:schemeClr>
                </a:solidFill>
              </a:rPr>
              <a:t>Web-1</a:t>
            </a:r>
          </a:p>
          <a:p>
            <a:pPr algn="just"/>
            <a:r>
              <a:rPr lang="en-US" sz="1400" dirty="0" err="1">
                <a:solidFill>
                  <a:schemeClr val="bg1">
                    <a:lumMod val="50000"/>
                  </a:schemeClr>
                </a:solidFill>
              </a:rPr>
              <a:t>root@administrator</a:t>
            </a:r>
            <a:r>
              <a:rPr lang="en-US" sz="1400" dirty="0">
                <a:solidFill>
                  <a:schemeClr val="bg1">
                    <a:lumMod val="50000"/>
                  </a:schemeClr>
                </a:solidFill>
              </a:rPr>
              <a:t>:/home/panda/GPU2# </a:t>
            </a:r>
            <a:r>
              <a:rPr lang="en-US" sz="1400" b="1" dirty="0" err="1">
                <a:solidFill>
                  <a:schemeClr val="bg1">
                    <a:lumMod val="50000"/>
                  </a:schemeClr>
                </a:solidFill>
              </a:rPr>
              <a:t>docker</a:t>
            </a:r>
            <a:r>
              <a:rPr lang="en-US" sz="1400" b="1" dirty="0">
                <a:solidFill>
                  <a:schemeClr val="bg1">
                    <a:lumMod val="50000"/>
                  </a:schemeClr>
                </a:solidFill>
              </a:rPr>
              <a:t> </a:t>
            </a:r>
            <a:r>
              <a:rPr lang="en-US" sz="1400" b="1" dirty="0" smtClean="0">
                <a:solidFill>
                  <a:schemeClr val="bg1">
                    <a:lumMod val="50000"/>
                  </a:schemeClr>
                </a:solidFill>
              </a:rPr>
              <a:t>-a</a:t>
            </a:r>
          </a:p>
          <a:p>
            <a:pPr algn="just"/>
            <a:endParaRPr lang="en-US" sz="1400" b="1" dirty="0">
              <a:solidFill>
                <a:schemeClr val="bg1">
                  <a:lumMod val="50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pic>
        <p:nvPicPr>
          <p:cNvPr id="3" name="Picture 2"/>
          <p:cNvPicPr>
            <a:picLocks noChangeAspect="1"/>
          </p:cNvPicPr>
          <p:nvPr/>
        </p:nvPicPr>
        <p:blipFill>
          <a:blip r:embed="rId3"/>
          <a:stretch>
            <a:fillRect/>
          </a:stretch>
        </p:blipFill>
        <p:spPr>
          <a:xfrm>
            <a:off x="408590" y="4867068"/>
            <a:ext cx="4841327" cy="224136"/>
          </a:xfrm>
          <a:prstGeom prst="rect">
            <a:avLst/>
          </a:prstGeom>
        </p:spPr>
      </p:pic>
      <p:sp>
        <p:nvSpPr>
          <p:cNvPr id="11" name="Rectangle 10"/>
          <p:cNvSpPr/>
          <p:nvPr/>
        </p:nvSpPr>
        <p:spPr>
          <a:xfrm>
            <a:off x="6286062" y="490359"/>
            <a:ext cx="5427134" cy="1200329"/>
          </a:xfrm>
          <a:prstGeom prst="rect">
            <a:avLst/>
          </a:prstGeom>
        </p:spPr>
        <p:txBody>
          <a:bodyPr wrap="square">
            <a:spAutoFit/>
          </a:bodyPr>
          <a:lstStyle/>
          <a:p>
            <a:pPr algn="just"/>
            <a:r>
              <a:rPr lang="en-US" b="1" dirty="0" err="1"/>
              <a:t>docker</a:t>
            </a:r>
            <a:r>
              <a:rPr lang="en-US" b="1" dirty="0"/>
              <a:t> start &lt;</a:t>
            </a:r>
            <a:r>
              <a:rPr lang="en-US" b="1" dirty="0" err="1"/>
              <a:t>nama</a:t>
            </a:r>
            <a:r>
              <a:rPr lang="en-US" b="1" dirty="0"/>
              <a:t> </a:t>
            </a:r>
            <a:r>
              <a:rPr lang="en-US" b="1" dirty="0" err="1"/>
              <a:t>atau</a:t>
            </a:r>
            <a:r>
              <a:rPr lang="en-US" b="1" dirty="0"/>
              <a:t> id container&gt;</a:t>
            </a:r>
            <a:r>
              <a:rPr lang="en-US" dirty="0" err="1"/>
              <a:t>Untuk</a:t>
            </a:r>
            <a:r>
              <a:rPr lang="en-US" dirty="0"/>
              <a:t> </a:t>
            </a:r>
            <a:r>
              <a:rPr lang="en-US" dirty="0" err="1"/>
              <a:t>menjalankan</a:t>
            </a:r>
            <a:r>
              <a:rPr lang="en-US" dirty="0"/>
              <a:t> container yang </a:t>
            </a:r>
            <a:r>
              <a:rPr lang="en-US" dirty="0" err="1"/>
              <a:t>sedang</a:t>
            </a:r>
            <a:r>
              <a:rPr lang="en-US" dirty="0"/>
              <a:t> </a:t>
            </a:r>
            <a:r>
              <a:rPr lang="en-US" dirty="0" err="1"/>
              <a:t>tidak</a:t>
            </a:r>
            <a:r>
              <a:rPr lang="en-US" dirty="0"/>
              <a:t> </a:t>
            </a:r>
            <a:r>
              <a:rPr lang="en-US" dirty="0" err="1"/>
              <a:t>aktif</a:t>
            </a:r>
            <a:r>
              <a:rPr lang="en-US" dirty="0"/>
              <a:t> </a:t>
            </a:r>
            <a:r>
              <a:rPr lang="en-US" dirty="0" err="1"/>
              <a:t>atau</a:t>
            </a:r>
            <a:r>
              <a:rPr lang="en-US" dirty="0"/>
              <a:t> </a:t>
            </a:r>
            <a:r>
              <a:rPr lang="en-US" dirty="0" err="1"/>
              <a:t>tidak</a:t>
            </a:r>
            <a:r>
              <a:rPr lang="en-US" dirty="0"/>
              <a:t> </a:t>
            </a:r>
            <a:r>
              <a:rPr lang="en-US" dirty="0" err="1"/>
              <a:t>berjalan</a:t>
            </a:r>
            <a:r>
              <a:rPr lang="en-US" dirty="0"/>
              <a:t>. </a:t>
            </a:r>
            <a:r>
              <a:rPr lang="en-US" dirty="0" err="1"/>
              <a:t>Jika</a:t>
            </a:r>
            <a:r>
              <a:rPr lang="en-US" dirty="0"/>
              <a:t> </a:t>
            </a:r>
            <a:r>
              <a:rPr lang="en-US" dirty="0" err="1"/>
              <a:t>berhasil</a:t>
            </a:r>
            <a:r>
              <a:rPr lang="en-US" dirty="0"/>
              <a:t> </a:t>
            </a:r>
            <a:r>
              <a:rPr lang="en-US" dirty="0" err="1"/>
              <a:t>kalain</a:t>
            </a:r>
            <a:r>
              <a:rPr lang="en-US" dirty="0"/>
              <a:t> </a:t>
            </a:r>
            <a:r>
              <a:rPr lang="en-US" dirty="0" err="1"/>
              <a:t>dapat</a:t>
            </a:r>
            <a:r>
              <a:rPr lang="en-US" dirty="0"/>
              <a:t> </a:t>
            </a:r>
            <a:r>
              <a:rPr lang="en-US" dirty="0" err="1"/>
              <a:t>lihat</a:t>
            </a:r>
            <a:r>
              <a:rPr lang="en-US" dirty="0"/>
              <a:t> </a:t>
            </a:r>
            <a:r>
              <a:rPr lang="en-US" dirty="0" err="1"/>
              <a:t>containernya</a:t>
            </a:r>
            <a:r>
              <a:rPr lang="en-US" dirty="0"/>
              <a:t> </a:t>
            </a:r>
            <a:r>
              <a:rPr lang="en-US" dirty="0" err="1"/>
              <a:t>sudah</a:t>
            </a:r>
            <a:r>
              <a:rPr lang="en-US" dirty="0"/>
              <a:t> status Up </a:t>
            </a:r>
            <a:r>
              <a:rPr lang="en-US" dirty="0" err="1"/>
              <a:t>kembali</a:t>
            </a:r>
            <a:r>
              <a:rPr lang="en-US" dirty="0"/>
              <a:t>.</a:t>
            </a:r>
          </a:p>
        </p:txBody>
      </p:sp>
      <p:sp>
        <p:nvSpPr>
          <p:cNvPr id="12" name="Rectangle 11"/>
          <p:cNvSpPr/>
          <p:nvPr/>
        </p:nvSpPr>
        <p:spPr>
          <a:xfrm>
            <a:off x="6286062" y="2244685"/>
            <a:ext cx="5427134" cy="646331"/>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start  web-1</a:t>
            </a:r>
          </a:p>
        </p:txBody>
      </p:sp>
      <p:sp>
        <p:nvSpPr>
          <p:cNvPr id="13" name="Rectangle 12"/>
          <p:cNvSpPr/>
          <p:nvPr/>
        </p:nvSpPr>
        <p:spPr>
          <a:xfrm>
            <a:off x="6348541" y="3121848"/>
            <a:ext cx="5622129" cy="1600438"/>
          </a:xfrm>
          <a:prstGeom prst="rect">
            <a:avLst/>
          </a:prstGeom>
          <a:solidFill>
            <a:schemeClr val="tx1"/>
          </a:solidFill>
        </p:spPr>
        <p:txBody>
          <a:bodyPr wrap="square">
            <a:spAutoFit/>
          </a:bodyPr>
          <a:lstStyle/>
          <a:p>
            <a:pPr algn="just"/>
            <a:r>
              <a:rPr lang="en-US" sz="1400" dirty="0" err="1">
                <a:solidFill>
                  <a:schemeClr val="bg1">
                    <a:lumMod val="50000"/>
                  </a:schemeClr>
                </a:solidFill>
              </a:rPr>
              <a:t>root@administrator</a:t>
            </a:r>
            <a:r>
              <a:rPr lang="en-US" sz="1400" dirty="0">
                <a:solidFill>
                  <a:schemeClr val="bg1">
                    <a:lumMod val="50000"/>
                  </a:schemeClr>
                </a:solidFill>
              </a:rPr>
              <a:t>:/home/panda/GPU2# </a:t>
            </a:r>
            <a:r>
              <a:rPr lang="en-US" sz="1400" b="1" dirty="0" err="1">
                <a:solidFill>
                  <a:schemeClr val="bg1">
                    <a:lumMod val="50000"/>
                  </a:schemeClr>
                </a:solidFill>
              </a:rPr>
              <a:t>docker</a:t>
            </a:r>
            <a:r>
              <a:rPr lang="en-US" sz="1400" b="1" dirty="0">
                <a:solidFill>
                  <a:schemeClr val="bg1">
                    <a:lumMod val="50000"/>
                  </a:schemeClr>
                </a:solidFill>
              </a:rPr>
              <a:t> </a:t>
            </a:r>
            <a:r>
              <a:rPr lang="en-US" sz="1400" b="1" dirty="0" smtClean="0">
                <a:solidFill>
                  <a:schemeClr val="bg1">
                    <a:lumMod val="50000"/>
                  </a:schemeClr>
                </a:solidFill>
              </a:rPr>
              <a:t>stop web-1</a:t>
            </a:r>
            <a:endParaRPr lang="en-US" sz="1400" b="1" dirty="0">
              <a:solidFill>
                <a:schemeClr val="bg1">
                  <a:lumMod val="50000"/>
                </a:schemeClr>
              </a:solidFill>
            </a:endParaRPr>
          </a:p>
          <a:p>
            <a:pPr algn="just"/>
            <a:r>
              <a:rPr lang="en-US" sz="1400" b="1" dirty="0" smtClean="0">
                <a:solidFill>
                  <a:schemeClr val="bg1">
                    <a:lumMod val="50000"/>
                  </a:schemeClr>
                </a:solidFill>
              </a:rPr>
              <a:t>Web-1</a:t>
            </a:r>
          </a:p>
          <a:p>
            <a:pPr algn="just"/>
            <a:r>
              <a:rPr lang="en-US" sz="1400" dirty="0" err="1">
                <a:solidFill>
                  <a:schemeClr val="bg1">
                    <a:lumMod val="50000"/>
                  </a:schemeClr>
                </a:solidFill>
              </a:rPr>
              <a:t>root@administrator</a:t>
            </a:r>
            <a:r>
              <a:rPr lang="en-US" sz="1400" dirty="0">
                <a:solidFill>
                  <a:schemeClr val="bg1">
                    <a:lumMod val="50000"/>
                  </a:schemeClr>
                </a:solidFill>
              </a:rPr>
              <a:t>:/home/panda/GPU2# </a:t>
            </a:r>
            <a:r>
              <a:rPr lang="en-US" sz="1400" b="1" dirty="0" err="1">
                <a:solidFill>
                  <a:schemeClr val="bg1">
                    <a:lumMod val="50000"/>
                  </a:schemeClr>
                </a:solidFill>
              </a:rPr>
              <a:t>docker</a:t>
            </a:r>
            <a:r>
              <a:rPr lang="en-US" sz="1400" b="1" dirty="0">
                <a:solidFill>
                  <a:schemeClr val="bg1">
                    <a:lumMod val="50000"/>
                  </a:schemeClr>
                </a:solidFill>
              </a:rPr>
              <a:t> </a:t>
            </a:r>
            <a:r>
              <a:rPr lang="en-US" sz="1400" b="1" dirty="0" smtClean="0">
                <a:solidFill>
                  <a:schemeClr val="bg1">
                    <a:lumMod val="50000"/>
                  </a:schemeClr>
                </a:solidFill>
              </a:rPr>
              <a:t>-a</a:t>
            </a:r>
          </a:p>
          <a:p>
            <a:pPr algn="just"/>
            <a:endParaRPr lang="en-US" sz="1400" b="1" dirty="0">
              <a:solidFill>
                <a:schemeClr val="bg1">
                  <a:lumMod val="50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pic>
        <p:nvPicPr>
          <p:cNvPr id="4" name="Picture 3"/>
          <p:cNvPicPr>
            <a:picLocks noChangeAspect="1"/>
          </p:cNvPicPr>
          <p:nvPr/>
        </p:nvPicPr>
        <p:blipFill>
          <a:blip r:embed="rId4"/>
          <a:stretch>
            <a:fillRect/>
          </a:stretch>
        </p:blipFill>
        <p:spPr>
          <a:xfrm>
            <a:off x="6543536" y="3970188"/>
            <a:ext cx="3816143" cy="444265"/>
          </a:xfrm>
          <a:prstGeom prst="rect">
            <a:avLst/>
          </a:prstGeom>
        </p:spPr>
      </p:pic>
    </p:spTree>
    <p:extLst>
      <p:ext uri="{BB962C8B-B14F-4D97-AF65-F5344CB8AC3E}">
        <p14:creationId xmlns:p14="http://schemas.microsoft.com/office/powerpoint/2010/main" val="7618747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0" name="Rectangle 9"/>
          <p:cNvSpPr/>
          <p:nvPr/>
        </p:nvSpPr>
        <p:spPr>
          <a:xfrm>
            <a:off x="279400" y="3121848"/>
            <a:ext cx="5427134" cy="923330"/>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exec –it web-1  /bin/bash</a:t>
            </a:r>
          </a:p>
          <a:p>
            <a:pPr algn="just"/>
            <a:r>
              <a:rPr lang="en-US" b="1" dirty="0" smtClean="0">
                <a:solidFill>
                  <a:srgbClr val="002060"/>
                </a:solidFill>
              </a:rPr>
              <a:t>root@</a:t>
            </a:r>
            <a:r>
              <a:rPr lang="en-US" dirty="0">
                <a:solidFill>
                  <a:srgbClr val="002060"/>
                </a:solidFill>
              </a:rPr>
              <a:t> </a:t>
            </a:r>
            <a:r>
              <a:rPr lang="en-US" dirty="0" smtClean="0">
                <a:solidFill>
                  <a:srgbClr val="002060"/>
                </a:solidFill>
              </a:rPr>
              <a:t>f5awhshswya2:/# </a:t>
            </a:r>
            <a:r>
              <a:rPr lang="en-US" dirty="0" smtClean="0">
                <a:solidFill>
                  <a:srgbClr val="00B0F0"/>
                </a:solidFill>
              </a:rPr>
              <a:t>ls </a:t>
            </a:r>
            <a:endParaRPr lang="en-US" b="1" dirty="0" smtClean="0">
              <a:solidFill>
                <a:srgbClr val="00B0F0"/>
              </a:solidFill>
            </a:endParaRPr>
          </a:p>
        </p:txBody>
      </p:sp>
      <p:sp>
        <p:nvSpPr>
          <p:cNvPr id="13" name="Rectangle 12"/>
          <p:cNvSpPr/>
          <p:nvPr/>
        </p:nvSpPr>
        <p:spPr>
          <a:xfrm>
            <a:off x="279400" y="1501530"/>
            <a:ext cx="6096000" cy="1754326"/>
          </a:xfrm>
          <a:prstGeom prst="rect">
            <a:avLst/>
          </a:prstGeom>
        </p:spPr>
        <p:txBody>
          <a:bodyPr>
            <a:spAutoFit/>
          </a:bodyPr>
          <a:lstStyle/>
          <a:p>
            <a:pPr algn="just"/>
            <a:r>
              <a:rPr lang="en-US" dirty="0" err="1"/>
              <a:t>docker</a:t>
            </a:r>
            <a:r>
              <a:rPr lang="en-US" dirty="0"/>
              <a:t> exec &lt;options&gt; &lt;</a:t>
            </a:r>
            <a:r>
              <a:rPr lang="en-US" dirty="0" err="1"/>
              <a:t>nama</a:t>
            </a:r>
            <a:r>
              <a:rPr lang="en-US" dirty="0"/>
              <a:t> container&gt; &lt;</a:t>
            </a:r>
            <a:r>
              <a:rPr lang="en-US" dirty="0" err="1"/>
              <a:t>perintah</a:t>
            </a:r>
            <a:r>
              <a:rPr lang="en-US" dirty="0"/>
              <a:t>&gt;</a:t>
            </a:r>
            <a:r>
              <a:rPr lang="en-US" dirty="0" err="1"/>
              <a:t>Untuk</a:t>
            </a:r>
            <a:r>
              <a:rPr lang="en-US" dirty="0"/>
              <a:t> </a:t>
            </a:r>
            <a:r>
              <a:rPr lang="en-US" dirty="0" err="1"/>
              <a:t>masuk</a:t>
            </a:r>
            <a:r>
              <a:rPr lang="en-US" dirty="0"/>
              <a:t> </a:t>
            </a:r>
            <a:r>
              <a:rPr lang="en-US" dirty="0" err="1"/>
              <a:t>ke</a:t>
            </a:r>
            <a:r>
              <a:rPr lang="en-US" dirty="0"/>
              <a:t> terminal </a:t>
            </a:r>
            <a:r>
              <a:rPr lang="en-US" dirty="0" err="1"/>
              <a:t>dari</a:t>
            </a:r>
            <a:r>
              <a:rPr lang="en-US" dirty="0"/>
              <a:t> container yang </a:t>
            </a:r>
            <a:r>
              <a:rPr lang="en-US" dirty="0" err="1"/>
              <a:t>sudah</a:t>
            </a:r>
            <a:r>
              <a:rPr lang="en-US" dirty="0"/>
              <a:t> </a:t>
            </a:r>
            <a:r>
              <a:rPr lang="en-US" dirty="0" err="1"/>
              <a:t>berjalan</a:t>
            </a:r>
            <a:r>
              <a:rPr lang="en-US" dirty="0"/>
              <a:t>.#</a:t>
            </a:r>
            <a:r>
              <a:rPr lang="en-US" dirty="0" err="1"/>
              <a:t>docker</a:t>
            </a:r>
            <a:r>
              <a:rPr lang="en-US" dirty="0"/>
              <a:t> exec -it web-1 /bin/bash //</a:t>
            </a:r>
            <a:r>
              <a:rPr lang="en-US" dirty="0" err="1"/>
              <a:t>Disini</a:t>
            </a:r>
            <a:r>
              <a:rPr lang="en-US" dirty="0"/>
              <a:t> </a:t>
            </a:r>
            <a:r>
              <a:rPr lang="en-US" dirty="0" err="1"/>
              <a:t>saya</a:t>
            </a:r>
            <a:r>
              <a:rPr lang="en-US" dirty="0"/>
              <a:t> </a:t>
            </a:r>
            <a:r>
              <a:rPr lang="en-US" dirty="0" err="1"/>
              <a:t>uji</a:t>
            </a:r>
            <a:r>
              <a:rPr lang="en-US" dirty="0"/>
              <a:t> </a:t>
            </a:r>
            <a:r>
              <a:rPr lang="en-US" dirty="0" err="1"/>
              <a:t>coba</a:t>
            </a:r>
            <a:r>
              <a:rPr lang="en-US" dirty="0"/>
              <a:t> </a:t>
            </a:r>
            <a:r>
              <a:rPr lang="en-US" dirty="0" err="1"/>
              <a:t>masuk</a:t>
            </a:r>
            <a:r>
              <a:rPr lang="en-US" dirty="0"/>
              <a:t> </a:t>
            </a:r>
            <a:r>
              <a:rPr lang="en-US" dirty="0" err="1"/>
              <a:t>ke</a:t>
            </a:r>
            <a:r>
              <a:rPr lang="en-US" dirty="0"/>
              <a:t> container web-1 </a:t>
            </a:r>
            <a:r>
              <a:rPr lang="en-US" dirty="0" err="1"/>
              <a:t>dan</a:t>
            </a:r>
            <a:r>
              <a:rPr lang="en-US" dirty="0"/>
              <a:t> </a:t>
            </a:r>
            <a:r>
              <a:rPr lang="en-US" dirty="0" err="1"/>
              <a:t>masuk</a:t>
            </a:r>
            <a:r>
              <a:rPr lang="en-US" dirty="0"/>
              <a:t> </a:t>
            </a:r>
            <a:r>
              <a:rPr lang="en-US" dirty="0" err="1"/>
              <a:t>dengan</a:t>
            </a:r>
            <a:r>
              <a:rPr lang="en-US" dirty="0"/>
              <a:t> privileged /bin/bash. //</a:t>
            </a:r>
            <a:r>
              <a:rPr lang="en-US" dirty="0" err="1"/>
              <a:t>Untuk</a:t>
            </a:r>
            <a:r>
              <a:rPr lang="en-US" dirty="0"/>
              <a:t> </a:t>
            </a:r>
            <a:r>
              <a:rPr lang="en-US" dirty="0" err="1"/>
              <a:t>keluar</a:t>
            </a:r>
            <a:r>
              <a:rPr lang="en-US" dirty="0"/>
              <a:t> </a:t>
            </a:r>
            <a:r>
              <a:rPr lang="en-US" dirty="0" err="1"/>
              <a:t>dari</a:t>
            </a:r>
            <a:r>
              <a:rPr lang="en-US" dirty="0"/>
              <a:t> terminal container kalian </a:t>
            </a:r>
            <a:r>
              <a:rPr lang="en-US" dirty="0" err="1"/>
              <a:t>cukup</a:t>
            </a:r>
            <a:r>
              <a:rPr lang="en-US" dirty="0"/>
              <a:t> </a:t>
            </a:r>
            <a:r>
              <a:rPr lang="en-US" dirty="0" err="1"/>
              <a:t>ketikan</a:t>
            </a:r>
            <a:r>
              <a:rPr lang="en-US" dirty="0"/>
              <a:t> </a:t>
            </a:r>
            <a:r>
              <a:rPr lang="en-US" dirty="0" err="1"/>
              <a:t>perintah</a:t>
            </a:r>
            <a:r>
              <a:rPr lang="en-US" dirty="0"/>
              <a:t> #exit</a:t>
            </a:r>
          </a:p>
        </p:txBody>
      </p:sp>
      <p:sp>
        <p:nvSpPr>
          <p:cNvPr id="14" name="Rectangle 13"/>
          <p:cNvSpPr/>
          <p:nvPr/>
        </p:nvSpPr>
        <p:spPr>
          <a:xfrm>
            <a:off x="279400" y="4294706"/>
            <a:ext cx="5622129" cy="2031325"/>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root@administrator</a:t>
            </a:r>
            <a:r>
              <a:rPr lang="en-US" sz="1400" dirty="0">
                <a:solidFill>
                  <a:schemeClr val="bg1">
                    <a:lumMod val="95000"/>
                  </a:schemeClr>
                </a:solidFill>
              </a:rPr>
              <a:t>:/home/panda/GPU2# </a:t>
            </a:r>
            <a:r>
              <a:rPr lang="en-US" sz="1400" b="1" dirty="0" err="1">
                <a:solidFill>
                  <a:schemeClr val="bg1">
                    <a:lumMod val="95000"/>
                  </a:schemeClr>
                </a:solidFill>
              </a:rPr>
              <a:t>docker</a:t>
            </a:r>
            <a:r>
              <a:rPr lang="en-US" sz="1400" b="1" dirty="0">
                <a:solidFill>
                  <a:schemeClr val="bg1">
                    <a:lumMod val="95000"/>
                  </a:schemeClr>
                </a:solidFill>
              </a:rPr>
              <a:t> exec –it web-1  /bin/bash</a:t>
            </a:r>
          </a:p>
          <a:p>
            <a:pPr algn="just"/>
            <a:r>
              <a:rPr lang="en-US" sz="1400" dirty="0">
                <a:solidFill>
                  <a:schemeClr val="bg1">
                    <a:lumMod val="95000"/>
                  </a:schemeClr>
                </a:solidFill>
              </a:rPr>
              <a:t>root@</a:t>
            </a:r>
            <a:r>
              <a:rPr lang="en-US" sz="1400" dirty="0" smtClean="0">
                <a:solidFill>
                  <a:schemeClr val="bg1">
                    <a:lumMod val="95000"/>
                  </a:schemeClr>
                </a:solidFill>
              </a:rPr>
              <a:t>f5awhshswya2</a:t>
            </a:r>
            <a:r>
              <a:rPr lang="en-US" sz="1400" dirty="0">
                <a:solidFill>
                  <a:schemeClr val="bg1">
                    <a:lumMod val="95000"/>
                  </a:schemeClr>
                </a:solidFill>
              </a:rPr>
              <a:t>:/# </a:t>
            </a:r>
            <a:r>
              <a:rPr lang="en-US" sz="1400" dirty="0" smtClean="0">
                <a:solidFill>
                  <a:schemeClr val="bg1">
                    <a:lumMod val="95000"/>
                  </a:schemeClr>
                </a:solidFill>
              </a:rPr>
              <a:t>ls</a:t>
            </a:r>
          </a:p>
          <a:p>
            <a:pPr algn="just"/>
            <a:endParaRPr lang="en-US" sz="1400" b="1" dirty="0">
              <a:solidFill>
                <a:schemeClr val="bg1">
                  <a:lumMod val="95000"/>
                </a:schemeClr>
              </a:solidFill>
            </a:endParaRPr>
          </a:p>
          <a:p>
            <a:pPr algn="just"/>
            <a:endParaRPr lang="en-US" sz="1400" b="1" dirty="0">
              <a:solidFill>
                <a:schemeClr val="bg1">
                  <a:lumMod val="95000"/>
                </a:schemeClr>
              </a:solidFill>
            </a:endParaRPr>
          </a:p>
          <a:p>
            <a:pPr algn="just"/>
            <a:endParaRPr lang="en-US" sz="1400" b="1" dirty="0" smtClean="0">
              <a:solidFill>
                <a:schemeClr val="bg1">
                  <a:lumMod val="95000"/>
                </a:schemeClr>
              </a:solidFill>
            </a:endParaRPr>
          </a:p>
          <a:p>
            <a:pPr algn="just"/>
            <a:r>
              <a:rPr lang="en-US" sz="1400" dirty="0">
                <a:solidFill>
                  <a:schemeClr val="bg1">
                    <a:lumMod val="95000"/>
                  </a:schemeClr>
                </a:solidFill>
              </a:rPr>
              <a:t>root@</a:t>
            </a:r>
            <a:r>
              <a:rPr lang="en-US" sz="1400" dirty="0" smtClean="0">
                <a:solidFill>
                  <a:schemeClr val="bg1">
                    <a:lumMod val="95000"/>
                  </a:schemeClr>
                </a:solidFill>
              </a:rPr>
              <a:t>f5awhshswya2</a:t>
            </a:r>
            <a:r>
              <a:rPr lang="en-US" sz="1400" dirty="0">
                <a:solidFill>
                  <a:schemeClr val="bg1">
                    <a:lumMod val="95000"/>
                  </a:schemeClr>
                </a:solidFill>
              </a:rPr>
              <a:t>:/# ls</a:t>
            </a: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pic>
        <p:nvPicPr>
          <p:cNvPr id="15" name="Picture 14"/>
          <p:cNvPicPr>
            <a:picLocks noChangeAspect="1"/>
          </p:cNvPicPr>
          <p:nvPr/>
        </p:nvPicPr>
        <p:blipFill>
          <a:blip r:embed="rId2"/>
          <a:stretch>
            <a:fillRect/>
          </a:stretch>
        </p:blipFill>
        <p:spPr>
          <a:xfrm>
            <a:off x="279400" y="5202647"/>
            <a:ext cx="6730300" cy="328842"/>
          </a:xfrm>
          <a:prstGeom prst="rect">
            <a:avLst/>
          </a:prstGeom>
        </p:spPr>
      </p:pic>
      <p:sp>
        <p:nvSpPr>
          <p:cNvPr id="17" name="Rectangle 16"/>
          <p:cNvSpPr/>
          <p:nvPr/>
        </p:nvSpPr>
        <p:spPr>
          <a:xfrm>
            <a:off x="6375400" y="4045178"/>
            <a:ext cx="5622129" cy="1600438"/>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root@administrator</a:t>
            </a:r>
            <a:r>
              <a:rPr lang="en-US" sz="1400" dirty="0">
                <a:solidFill>
                  <a:schemeClr val="bg1">
                    <a:lumMod val="95000"/>
                  </a:schemeClr>
                </a:solidFill>
              </a:rPr>
              <a:t>:/home/panda/GPU2# </a:t>
            </a:r>
            <a:r>
              <a:rPr lang="en-US" sz="1400" b="1" dirty="0" err="1">
                <a:solidFill>
                  <a:schemeClr val="bg1">
                    <a:lumMod val="95000"/>
                  </a:schemeClr>
                </a:solidFill>
              </a:rPr>
              <a:t>docker</a:t>
            </a:r>
            <a:r>
              <a:rPr lang="en-US" sz="1400" b="1" dirty="0">
                <a:solidFill>
                  <a:schemeClr val="bg1">
                    <a:lumMod val="95000"/>
                  </a:schemeClr>
                </a:solidFill>
              </a:rPr>
              <a:t> </a:t>
            </a:r>
            <a:r>
              <a:rPr lang="en-US" sz="1400" b="1" dirty="0" smtClean="0">
                <a:solidFill>
                  <a:schemeClr val="bg1">
                    <a:lumMod val="95000"/>
                  </a:schemeClr>
                </a:solidFill>
              </a:rPr>
              <a:t>rename web-1 web-2</a:t>
            </a:r>
            <a:endParaRPr lang="en-US" sz="1400" b="1" dirty="0">
              <a:solidFill>
                <a:schemeClr val="bg1">
                  <a:lumMod val="95000"/>
                </a:schemeClr>
              </a:solidFill>
            </a:endParaRPr>
          </a:p>
          <a:p>
            <a:pPr algn="just"/>
            <a:r>
              <a:rPr lang="en-US" sz="1400" dirty="0" err="1">
                <a:solidFill>
                  <a:schemeClr val="bg1">
                    <a:lumMod val="50000"/>
                  </a:schemeClr>
                </a:solidFill>
              </a:rPr>
              <a:t>root@administrator</a:t>
            </a:r>
            <a:r>
              <a:rPr lang="en-US" sz="1400" dirty="0">
                <a:solidFill>
                  <a:schemeClr val="bg1">
                    <a:lumMod val="50000"/>
                  </a:schemeClr>
                </a:solidFill>
              </a:rPr>
              <a:t>:/home/panda/GPU2</a:t>
            </a:r>
            <a:r>
              <a:rPr lang="en-US" sz="1400" dirty="0" smtClean="0">
                <a:solidFill>
                  <a:schemeClr val="bg1">
                    <a:lumMod val="50000"/>
                  </a:schemeClr>
                </a:solidFill>
              </a:rPr>
              <a:t># </a:t>
            </a:r>
            <a:r>
              <a:rPr lang="en-US" sz="1400" dirty="0" err="1" smtClean="0">
                <a:solidFill>
                  <a:schemeClr val="bg1">
                    <a:lumMod val="50000"/>
                  </a:schemeClr>
                </a:solidFill>
              </a:rPr>
              <a:t>docker</a:t>
            </a:r>
            <a:r>
              <a:rPr lang="en-US" sz="1400" dirty="0" smtClean="0">
                <a:solidFill>
                  <a:schemeClr val="bg1">
                    <a:lumMod val="50000"/>
                  </a:schemeClr>
                </a:solidFill>
              </a:rPr>
              <a:t> </a:t>
            </a:r>
            <a:r>
              <a:rPr lang="en-US" sz="1400" dirty="0" err="1" smtClean="0">
                <a:solidFill>
                  <a:schemeClr val="bg1">
                    <a:lumMod val="50000"/>
                  </a:schemeClr>
                </a:solidFill>
              </a:rPr>
              <a:t>ps</a:t>
            </a:r>
            <a:endParaRPr lang="en-US" sz="1400" dirty="0" smtClean="0">
              <a:solidFill>
                <a:schemeClr val="bg1">
                  <a:lumMod val="50000"/>
                </a:schemeClr>
              </a:solidFill>
            </a:endParaRPr>
          </a:p>
          <a:p>
            <a:pPr algn="just"/>
            <a:endParaRPr lang="en-US" sz="1400" b="1" dirty="0">
              <a:solidFill>
                <a:schemeClr val="bg1">
                  <a:lumMod val="50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sp>
        <p:nvSpPr>
          <p:cNvPr id="18" name="Rectangle 17"/>
          <p:cNvSpPr/>
          <p:nvPr/>
        </p:nvSpPr>
        <p:spPr>
          <a:xfrm>
            <a:off x="6317023" y="3199064"/>
            <a:ext cx="5427134" cy="923330"/>
          </a:xfrm>
          <a:prstGeom prst="rect">
            <a:avLst/>
          </a:prstGeom>
        </p:spPr>
        <p:txBody>
          <a:bodyPr wrap="square">
            <a:spAutoFit/>
          </a:bodyPr>
          <a:lstStyle/>
          <a:p>
            <a:pPr algn="just"/>
            <a:r>
              <a:rPr lang="en-US" dirty="0" err="1" smtClean="0">
                <a:solidFill>
                  <a:srgbClr val="002060"/>
                </a:solidFill>
              </a:rPr>
              <a:t>root@administrator</a:t>
            </a:r>
            <a:r>
              <a:rPr lang="en-US" dirty="0" smtClean="0">
                <a:solidFill>
                  <a:srgbClr val="002060"/>
                </a:solidFill>
              </a:rPr>
              <a:t>:/home/panda/GPU2# </a:t>
            </a:r>
            <a:r>
              <a:rPr lang="en-US" b="1" dirty="0" err="1">
                <a:solidFill>
                  <a:srgbClr val="00B0F0"/>
                </a:solidFill>
              </a:rPr>
              <a:t>docker</a:t>
            </a:r>
            <a:r>
              <a:rPr lang="en-US" b="1" dirty="0">
                <a:solidFill>
                  <a:srgbClr val="00B0F0"/>
                </a:solidFill>
              </a:rPr>
              <a:t> </a:t>
            </a:r>
            <a:r>
              <a:rPr lang="en-US" b="1" dirty="0" smtClean="0">
                <a:solidFill>
                  <a:srgbClr val="00B0F0"/>
                </a:solidFill>
              </a:rPr>
              <a:t>exec –it web-1  /bin/bash</a:t>
            </a:r>
          </a:p>
          <a:p>
            <a:pPr algn="just"/>
            <a:r>
              <a:rPr lang="en-US" b="1" dirty="0" smtClean="0">
                <a:solidFill>
                  <a:srgbClr val="002060"/>
                </a:solidFill>
              </a:rPr>
              <a:t>root@</a:t>
            </a:r>
            <a:r>
              <a:rPr lang="en-US" dirty="0">
                <a:solidFill>
                  <a:srgbClr val="002060"/>
                </a:solidFill>
              </a:rPr>
              <a:t> </a:t>
            </a:r>
            <a:r>
              <a:rPr lang="en-US" dirty="0" smtClean="0">
                <a:solidFill>
                  <a:srgbClr val="002060"/>
                </a:solidFill>
              </a:rPr>
              <a:t>f5awhshswya2:/# </a:t>
            </a:r>
            <a:r>
              <a:rPr lang="en-US" dirty="0" smtClean="0">
                <a:solidFill>
                  <a:srgbClr val="00B0F0"/>
                </a:solidFill>
              </a:rPr>
              <a:t>ls </a:t>
            </a:r>
            <a:endParaRPr lang="en-US" b="1" dirty="0" smtClean="0">
              <a:solidFill>
                <a:srgbClr val="00B0F0"/>
              </a:solidFill>
            </a:endParaRPr>
          </a:p>
        </p:txBody>
      </p:sp>
      <p:sp>
        <p:nvSpPr>
          <p:cNvPr id="21" name="Rectangle 20"/>
          <p:cNvSpPr/>
          <p:nvPr/>
        </p:nvSpPr>
        <p:spPr>
          <a:xfrm>
            <a:off x="6521091" y="1594455"/>
            <a:ext cx="5476437" cy="1200329"/>
          </a:xfrm>
          <a:prstGeom prst="rect">
            <a:avLst/>
          </a:prstGeom>
        </p:spPr>
        <p:txBody>
          <a:bodyPr wrap="square">
            <a:spAutoFit/>
          </a:bodyPr>
          <a:lstStyle/>
          <a:p>
            <a:pPr algn="just"/>
            <a:r>
              <a:rPr lang="en-US" dirty="0" err="1"/>
              <a:t>docker</a:t>
            </a:r>
            <a:r>
              <a:rPr lang="en-US" dirty="0"/>
              <a:t> rename &lt;</a:t>
            </a:r>
            <a:r>
              <a:rPr lang="en-US" dirty="0" err="1"/>
              <a:t>nama</a:t>
            </a:r>
            <a:r>
              <a:rPr lang="en-US" dirty="0"/>
              <a:t> container lama&gt; &lt;</a:t>
            </a:r>
            <a:r>
              <a:rPr lang="en-US" dirty="0" err="1"/>
              <a:t>nama</a:t>
            </a:r>
            <a:r>
              <a:rPr lang="en-US" dirty="0"/>
              <a:t> container </a:t>
            </a:r>
            <a:r>
              <a:rPr lang="en-US" dirty="0" err="1"/>
              <a:t>baru</a:t>
            </a:r>
            <a:r>
              <a:rPr lang="en-US" dirty="0"/>
              <a:t>&gt;</a:t>
            </a:r>
            <a:r>
              <a:rPr lang="en-US" dirty="0" err="1"/>
              <a:t>Digunakan</a:t>
            </a:r>
            <a:r>
              <a:rPr lang="en-US" dirty="0"/>
              <a:t> </a:t>
            </a:r>
            <a:r>
              <a:rPr lang="en-US" dirty="0" err="1"/>
              <a:t>untuk</a:t>
            </a:r>
            <a:r>
              <a:rPr lang="en-US" dirty="0"/>
              <a:t> </a:t>
            </a:r>
            <a:r>
              <a:rPr lang="en-US" dirty="0" err="1"/>
              <a:t>merename</a:t>
            </a:r>
            <a:r>
              <a:rPr lang="en-US" dirty="0"/>
              <a:t> </a:t>
            </a:r>
            <a:r>
              <a:rPr lang="en-US" dirty="0" err="1"/>
              <a:t>nama</a:t>
            </a:r>
            <a:r>
              <a:rPr lang="en-US" dirty="0"/>
              <a:t> container. </a:t>
            </a:r>
            <a:r>
              <a:rPr lang="en-US" dirty="0" err="1"/>
              <a:t>Disini</a:t>
            </a:r>
            <a:r>
              <a:rPr lang="en-US" dirty="0"/>
              <a:t> </a:t>
            </a:r>
            <a:r>
              <a:rPr lang="en-US" dirty="0" err="1"/>
              <a:t>kita</a:t>
            </a:r>
            <a:r>
              <a:rPr lang="en-US" dirty="0"/>
              <a:t> </a:t>
            </a:r>
            <a:r>
              <a:rPr lang="en-US" dirty="0" err="1"/>
              <a:t>akan</a:t>
            </a:r>
            <a:r>
              <a:rPr lang="en-US" dirty="0"/>
              <a:t> </a:t>
            </a:r>
            <a:r>
              <a:rPr lang="en-US" dirty="0" err="1"/>
              <a:t>mencoba</a:t>
            </a:r>
            <a:r>
              <a:rPr lang="en-US" dirty="0"/>
              <a:t> rename container web-1 </a:t>
            </a:r>
            <a:r>
              <a:rPr lang="en-US" dirty="0" err="1"/>
              <a:t>menjadi</a:t>
            </a:r>
            <a:r>
              <a:rPr lang="en-US" dirty="0"/>
              <a:t> web-2#docker rename web-1 web-2</a:t>
            </a:r>
          </a:p>
        </p:txBody>
      </p:sp>
      <p:pic>
        <p:nvPicPr>
          <p:cNvPr id="22" name="Picture 21"/>
          <p:cNvPicPr>
            <a:picLocks noChangeAspect="1"/>
          </p:cNvPicPr>
          <p:nvPr/>
        </p:nvPicPr>
        <p:blipFill>
          <a:blip r:embed="rId3"/>
          <a:stretch>
            <a:fillRect/>
          </a:stretch>
        </p:blipFill>
        <p:spPr>
          <a:xfrm>
            <a:off x="6521090" y="4741575"/>
            <a:ext cx="5476437" cy="428625"/>
          </a:xfrm>
          <a:prstGeom prst="rect">
            <a:avLst/>
          </a:prstGeom>
        </p:spPr>
      </p:pic>
    </p:spTree>
    <p:extLst>
      <p:ext uri="{BB962C8B-B14F-4D97-AF65-F5344CB8AC3E}">
        <p14:creationId xmlns:p14="http://schemas.microsoft.com/office/powerpoint/2010/main" val="158929513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4" name="Rectangle 3"/>
          <p:cNvSpPr/>
          <p:nvPr/>
        </p:nvSpPr>
        <p:spPr>
          <a:xfrm>
            <a:off x="178676" y="1499237"/>
            <a:ext cx="5228896" cy="4616648"/>
          </a:xfrm>
          <a:prstGeom prst="rect">
            <a:avLst/>
          </a:prstGeom>
        </p:spPr>
        <p:txBody>
          <a:bodyPr wrap="square">
            <a:spAutoFit/>
          </a:bodyPr>
          <a:lstStyle/>
          <a:p>
            <a:pPr algn="just"/>
            <a:r>
              <a:rPr lang="en-US" sz="2400" b="1" dirty="0" smtClean="0">
                <a:solidFill>
                  <a:srgbClr val="002060"/>
                </a:solidFill>
              </a:rPr>
              <a:t>Goal</a:t>
            </a:r>
          </a:p>
          <a:p>
            <a:pPr algn="just"/>
            <a:endParaRPr lang="en-US" dirty="0"/>
          </a:p>
          <a:p>
            <a:pPr marL="285750" indent="-285750" algn="just">
              <a:buFont typeface="Wingdings" panose="05000000000000000000" pitchFamily="2" charset="2"/>
              <a:buChar char="q"/>
            </a:pPr>
            <a:r>
              <a:rPr lang="en-US" dirty="0" smtClean="0"/>
              <a:t>Deploy </a:t>
            </a:r>
            <a:r>
              <a:rPr lang="en-US" dirty="0"/>
              <a:t>simple app </a:t>
            </a:r>
            <a:r>
              <a:rPr lang="en-US" dirty="0" err="1"/>
              <a:t>dengan</a:t>
            </a:r>
            <a:r>
              <a:rPr lang="en-US" dirty="0"/>
              <a:t> flask</a:t>
            </a:r>
          </a:p>
          <a:p>
            <a:pPr marL="742950" lvl="1" indent="-285750" algn="just">
              <a:buFont typeface="Arial" panose="020B0604020202020204" pitchFamily="34" charset="0"/>
              <a:buChar char="•"/>
            </a:pPr>
            <a:r>
              <a:rPr lang="en-US" dirty="0"/>
              <a:t>Isi file </a:t>
            </a:r>
            <a:r>
              <a:rPr lang="en-US" dirty="0" err="1"/>
              <a:t>main.pyfrom</a:t>
            </a:r>
            <a:r>
              <a:rPr lang="en-US" dirty="0"/>
              <a:t> flask import Flask from flask import request from flask import </a:t>
            </a:r>
            <a:r>
              <a:rPr lang="en-US" dirty="0" err="1"/>
              <a:t>render_template</a:t>
            </a:r>
            <a:r>
              <a:rPr lang="en-US" dirty="0"/>
              <a:t> sample = Flask( name ) @</a:t>
            </a:r>
            <a:r>
              <a:rPr lang="en-US" dirty="0" err="1"/>
              <a:t>sample.route</a:t>
            </a:r>
            <a:r>
              <a:rPr lang="en-US" dirty="0"/>
              <a:t>("/") </a:t>
            </a:r>
            <a:r>
              <a:rPr lang="en-US" dirty="0" err="1"/>
              <a:t>def</a:t>
            </a:r>
            <a:r>
              <a:rPr lang="en-US" dirty="0"/>
              <a:t> main(): return </a:t>
            </a:r>
            <a:r>
              <a:rPr lang="en-US" dirty="0" err="1"/>
              <a:t>render_template</a:t>
            </a:r>
            <a:r>
              <a:rPr lang="en-US" dirty="0"/>
              <a:t>("index.html") if name == " main ": </a:t>
            </a:r>
            <a:r>
              <a:rPr lang="en-US" dirty="0" err="1"/>
              <a:t>sample.run</a:t>
            </a:r>
            <a:r>
              <a:rPr lang="en-US" dirty="0"/>
              <a:t>(host="0.0.0.0", port=8080)</a:t>
            </a:r>
          </a:p>
          <a:p>
            <a:pPr marL="742950" lvl="1" indent="-285750" algn="just">
              <a:buFont typeface="Arial" panose="020B0604020202020204" pitchFamily="34" charset="0"/>
              <a:buChar char="•"/>
            </a:pPr>
            <a:r>
              <a:rPr lang="en-US" dirty="0"/>
              <a:t>Isi file index.html&lt;html&gt; &lt;head&gt; &lt;title&gt;Sample app using Flask python&lt;/title&gt; &lt;/head&gt; &lt;body&gt; &lt;h1&gt;You are calling me from {{</a:t>
            </a:r>
            <a:r>
              <a:rPr lang="en-US" dirty="0" err="1"/>
              <a:t>request.remote_addr</a:t>
            </a:r>
            <a:r>
              <a:rPr lang="en-US" dirty="0"/>
              <a:t>}}&lt;/h1&gt; &lt;/body&gt; &lt;/html&gt;</a:t>
            </a:r>
          </a:p>
          <a:p>
            <a:pPr marL="285750" indent="-285750" algn="just">
              <a:buFont typeface="Wingdings" panose="05000000000000000000" pitchFamily="2" charset="2"/>
              <a:buChar char="q"/>
            </a:pPr>
            <a:r>
              <a:rPr lang="en-US" dirty="0"/>
              <a:t>Deploy simple app </a:t>
            </a:r>
            <a:r>
              <a:rPr lang="en-US" dirty="0" err="1"/>
              <a:t>tersebut</a:t>
            </a:r>
            <a:r>
              <a:rPr lang="en-US" dirty="0"/>
              <a:t> </a:t>
            </a:r>
            <a:r>
              <a:rPr lang="en-US" dirty="0" err="1"/>
              <a:t>ke</a:t>
            </a:r>
            <a:r>
              <a:rPr lang="en-US" dirty="0"/>
              <a:t> </a:t>
            </a:r>
            <a:r>
              <a:rPr lang="en-US" dirty="0" err="1"/>
              <a:t>dalam</a:t>
            </a:r>
            <a:r>
              <a:rPr lang="en-US" dirty="0"/>
              <a:t> container</a:t>
            </a:r>
          </a:p>
        </p:txBody>
      </p:sp>
      <p:sp>
        <p:nvSpPr>
          <p:cNvPr id="10" name="Rectangle 9"/>
          <p:cNvSpPr/>
          <p:nvPr/>
        </p:nvSpPr>
        <p:spPr>
          <a:xfrm>
            <a:off x="5649310" y="395650"/>
            <a:ext cx="6237890" cy="2862322"/>
          </a:xfrm>
          <a:prstGeom prst="rect">
            <a:avLst/>
          </a:prstGeom>
        </p:spPr>
        <p:txBody>
          <a:bodyPr wrap="square">
            <a:spAutoFit/>
          </a:bodyPr>
          <a:lstStyle/>
          <a:p>
            <a:pPr algn="just"/>
            <a:r>
              <a:rPr lang="en-US" sz="2400" b="1" dirty="0" err="1" smtClean="0">
                <a:solidFill>
                  <a:srgbClr val="002060"/>
                </a:solidFill>
              </a:rPr>
              <a:t>Instalasi</a:t>
            </a:r>
            <a:endParaRPr lang="en-US" sz="2400" b="1" dirty="0" smtClean="0">
              <a:solidFill>
                <a:srgbClr val="002060"/>
              </a:solidFill>
            </a:endParaRPr>
          </a:p>
          <a:p>
            <a:pPr algn="just"/>
            <a:endParaRPr lang="en-US" sz="2400" b="1" dirty="0" smtClean="0">
              <a:solidFill>
                <a:srgbClr val="002060"/>
              </a:solidFill>
            </a:endParaRPr>
          </a:p>
          <a:p>
            <a:pPr marL="342900" indent="-342900" algn="just">
              <a:buFont typeface="+mj-lt"/>
              <a:buAutoNum type="arabicPeriod"/>
            </a:pPr>
            <a:r>
              <a:rPr lang="en-US" dirty="0" err="1"/>
              <a:t>Lakukan</a:t>
            </a:r>
            <a:r>
              <a:rPr lang="en-US" dirty="0"/>
              <a:t> update </a:t>
            </a:r>
            <a:r>
              <a:rPr lang="en-US" dirty="0" err="1"/>
              <a:t>pada</a:t>
            </a:r>
            <a:r>
              <a:rPr lang="en-US" dirty="0"/>
              <a:t> server </a:t>
            </a:r>
            <a:r>
              <a:rPr lang="en-US" dirty="0" err="1"/>
              <a:t>dan</a:t>
            </a:r>
            <a:r>
              <a:rPr lang="en-US" dirty="0"/>
              <a:t> </a:t>
            </a:r>
            <a:r>
              <a:rPr lang="en-US" dirty="0" err="1"/>
              <a:t>instal</a:t>
            </a:r>
            <a:r>
              <a:rPr lang="en-US" dirty="0"/>
              <a:t> package docker.</a:t>
            </a:r>
            <a:r>
              <a:rPr lang="en-US" dirty="0" err="1"/>
              <a:t>io</a:t>
            </a:r>
            <a:r>
              <a:rPr lang="en-US" dirty="0"/>
              <a:t>.$</a:t>
            </a:r>
            <a:r>
              <a:rPr lang="en-US" dirty="0" err="1"/>
              <a:t>sudo</a:t>
            </a:r>
            <a:r>
              <a:rPr lang="en-US" dirty="0"/>
              <a:t> apt update -y &amp;&amp; </a:t>
            </a:r>
            <a:r>
              <a:rPr lang="en-US" dirty="0" err="1"/>
              <a:t>sudo</a:t>
            </a:r>
            <a:r>
              <a:rPr lang="en-US" dirty="0"/>
              <a:t> apt install docker.io</a:t>
            </a:r>
          </a:p>
          <a:p>
            <a:pPr marL="342900" indent="-342900" algn="just">
              <a:buFont typeface="+mj-lt"/>
              <a:buAutoNum type="arabicPeriod"/>
            </a:pPr>
            <a:r>
              <a:rPr lang="en-US" dirty="0" err="1"/>
              <a:t>Instal</a:t>
            </a:r>
            <a:r>
              <a:rPr lang="en-US" dirty="0"/>
              <a:t> </a:t>
            </a:r>
            <a:r>
              <a:rPr lang="en-US" dirty="0" err="1"/>
              <a:t>juga</a:t>
            </a:r>
            <a:r>
              <a:rPr lang="en-US" dirty="0"/>
              <a:t> package virtual environment python3 </a:t>
            </a:r>
            <a:r>
              <a:rPr lang="en-US" dirty="0" err="1"/>
              <a:t>untuk</a:t>
            </a:r>
            <a:r>
              <a:rPr lang="en-US" dirty="0"/>
              <a:t> </a:t>
            </a:r>
            <a:r>
              <a:rPr lang="en-US" dirty="0" err="1"/>
              <a:t>uji</a:t>
            </a:r>
            <a:r>
              <a:rPr lang="en-US" dirty="0"/>
              <a:t> </a:t>
            </a:r>
            <a:r>
              <a:rPr lang="en-US" dirty="0" err="1"/>
              <a:t>coba</a:t>
            </a:r>
            <a:r>
              <a:rPr lang="en-US" dirty="0"/>
              <a:t> </a:t>
            </a:r>
            <a:r>
              <a:rPr lang="en-US" dirty="0" err="1"/>
              <a:t>menjalankan</a:t>
            </a:r>
            <a:r>
              <a:rPr lang="en-US" dirty="0"/>
              <a:t> </a:t>
            </a:r>
            <a:r>
              <a:rPr lang="en-US" dirty="0" err="1"/>
              <a:t>aplikasi</a:t>
            </a:r>
            <a:r>
              <a:rPr lang="en-US" dirty="0"/>
              <a:t> </a:t>
            </a:r>
            <a:r>
              <a:rPr lang="en-US" dirty="0" err="1"/>
              <a:t>webnya</a:t>
            </a:r>
            <a:r>
              <a:rPr lang="en-US" dirty="0"/>
              <a:t>.$</a:t>
            </a:r>
            <a:r>
              <a:rPr lang="en-US" dirty="0" err="1"/>
              <a:t>sudo</a:t>
            </a:r>
            <a:r>
              <a:rPr lang="en-US" dirty="0"/>
              <a:t> apt install python3.8-venv -y</a:t>
            </a:r>
          </a:p>
          <a:p>
            <a:pPr marL="342900" indent="-342900" algn="just">
              <a:buFont typeface="+mj-lt"/>
              <a:buAutoNum type="arabicPeriod"/>
            </a:pPr>
            <a:r>
              <a:rPr lang="en-US" dirty="0"/>
              <a:t>p</a:t>
            </a:r>
          </a:p>
          <a:p>
            <a:pPr algn="just"/>
            <a:endParaRPr lang="en-US" sz="2400" b="1" dirty="0" smtClean="0">
              <a:solidFill>
                <a:srgbClr val="002060"/>
              </a:solidFill>
            </a:endParaRPr>
          </a:p>
        </p:txBody>
      </p:sp>
    </p:spTree>
    <p:extLst>
      <p:ext uri="{BB962C8B-B14F-4D97-AF65-F5344CB8AC3E}">
        <p14:creationId xmlns:p14="http://schemas.microsoft.com/office/powerpoint/2010/main" val="8680965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8" name="Rectangle 7"/>
          <p:cNvSpPr/>
          <p:nvPr/>
        </p:nvSpPr>
        <p:spPr>
          <a:xfrm>
            <a:off x="208295" y="1533465"/>
            <a:ext cx="5686097" cy="5324535"/>
          </a:xfrm>
          <a:prstGeom prst="rect">
            <a:avLst/>
          </a:prstGeom>
        </p:spPr>
        <p:txBody>
          <a:bodyPr wrap="square">
            <a:spAutoFit/>
          </a:bodyPr>
          <a:lstStyle/>
          <a:p>
            <a:pPr fontAlgn="base"/>
            <a:r>
              <a:rPr lang="en-US" b="1" dirty="0" err="1">
                <a:solidFill>
                  <a:srgbClr val="002060"/>
                </a:solidFill>
              </a:rPr>
              <a:t>Konfigurasi</a:t>
            </a:r>
            <a:r>
              <a:rPr lang="en-US" b="1" dirty="0">
                <a:solidFill>
                  <a:srgbClr val="002060"/>
                </a:solidFill>
              </a:rPr>
              <a:t> Sample App</a:t>
            </a:r>
          </a:p>
          <a:p>
            <a:pPr marL="342900" indent="-342900" algn="just">
              <a:buFont typeface="+mj-lt"/>
              <a:buAutoNum type="arabicParenR"/>
            </a:pPr>
            <a:r>
              <a:rPr lang="en-US" sz="1400" b="1" dirty="0" err="1" smtClean="0"/>
              <a:t>Pertama</a:t>
            </a:r>
            <a:r>
              <a:rPr lang="en-US" sz="1400" b="1" dirty="0" smtClean="0"/>
              <a:t> </a:t>
            </a:r>
            <a:r>
              <a:rPr lang="en-US" sz="1400" b="1" dirty="0" err="1"/>
              <a:t>kita</a:t>
            </a:r>
            <a:r>
              <a:rPr lang="en-US" sz="1400" b="1" dirty="0"/>
              <a:t> </a:t>
            </a:r>
            <a:r>
              <a:rPr lang="en-US" sz="1400" b="1" dirty="0" err="1"/>
              <a:t>akan</a:t>
            </a:r>
            <a:r>
              <a:rPr lang="en-US" sz="1400" b="1" dirty="0"/>
              <a:t> </a:t>
            </a:r>
            <a:r>
              <a:rPr lang="en-US" sz="1400" b="1" dirty="0" err="1"/>
              <a:t>membuat</a:t>
            </a:r>
            <a:r>
              <a:rPr lang="en-US" sz="1400" b="1" dirty="0"/>
              <a:t> folder </a:t>
            </a:r>
            <a:r>
              <a:rPr lang="en-US" sz="1400" b="1" dirty="0" err="1"/>
              <a:t>untuk</a:t>
            </a:r>
            <a:r>
              <a:rPr lang="en-US" sz="1400" b="1" dirty="0"/>
              <a:t> </a:t>
            </a:r>
            <a:r>
              <a:rPr lang="en-US" sz="1400" b="1" dirty="0" err="1"/>
              <a:t>menyimpan</a:t>
            </a:r>
            <a:r>
              <a:rPr lang="en-US" sz="1400" b="1" dirty="0"/>
              <a:t> file </a:t>
            </a:r>
            <a:r>
              <a:rPr lang="en-US" sz="1400" b="1" dirty="0" err="1"/>
              <a:t>konfigurasi</a:t>
            </a:r>
            <a:r>
              <a:rPr lang="en-US" sz="1400" b="1" dirty="0"/>
              <a:t> simple app yang </a:t>
            </a:r>
            <a:r>
              <a:rPr lang="en-US" sz="1400" b="1" dirty="0" err="1"/>
              <a:t>akan</a:t>
            </a:r>
            <a:r>
              <a:rPr lang="en-US" sz="1400" b="1" dirty="0"/>
              <a:t> </a:t>
            </a:r>
            <a:r>
              <a:rPr lang="en-US" sz="1400" b="1" dirty="0" err="1"/>
              <a:t>kita</a:t>
            </a:r>
            <a:r>
              <a:rPr lang="en-US" sz="1400" b="1" dirty="0"/>
              <a:t> </a:t>
            </a:r>
            <a:r>
              <a:rPr lang="en-US" sz="1400" b="1" dirty="0" err="1"/>
              <a:t>buat</a:t>
            </a:r>
            <a:r>
              <a:rPr lang="en-US" sz="1400" b="1" dirty="0"/>
              <a:t>.$</a:t>
            </a:r>
            <a:r>
              <a:rPr lang="en-US" sz="1400" b="1" dirty="0" err="1"/>
              <a:t>sudo</a:t>
            </a:r>
            <a:r>
              <a:rPr lang="en-US" sz="1400" b="1" dirty="0"/>
              <a:t> </a:t>
            </a:r>
            <a:r>
              <a:rPr lang="en-US" sz="1400" b="1" dirty="0" err="1"/>
              <a:t>mkdir</a:t>
            </a:r>
            <a:r>
              <a:rPr lang="en-US" sz="1400" b="1" dirty="0"/>
              <a:t> -p /flask/sample-app/templates</a:t>
            </a:r>
          </a:p>
          <a:p>
            <a:pPr marL="342900" indent="-342900" algn="just">
              <a:buFont typeface="+mj-lt"/>
              <a:buAutoNum type="arabicParenR"/>
            </a:pPr>
            <a:r>
              <a:rPr lang="en-US" sz="1400" b="1" dirty="0" err="1"/>
              <a:t>Masuk</a:t>
            </a:r>
            <a:r>
              <a:rPr lang="en-US" sz="1400" b="1" dirty="0"/>
              <a:t> </a:t>
            </a:r>
            <a:r>
              <a:rPr lang="en-US" sz="1400" b="1" dirty="0" err="1"/>
              <a:t>ke</a:t>
            </a:r>
            <a:r>
              <a:rPr lang="en-US" sz="1400" b="1" dirty="0"/>
              <a:t> </a:t>
            </a:r>
            <a:r>
              <a:rPr lang="en-US" sz="1400" b="1" dirty="0" err="1"/>
              <a:t>direktori</a:t>
            </a:r>
            <a:r>
              <a:rPr lang="en-US" sz="1400" b="1" dirty="0"/>
              <a:t> yang </a:t>
            </a:r>
            <a:r>
              <a:rPr lang="en-US" sz="1400" b="1" dirty="0" err="1"/>
              <a:t>sudah</a:t>
            </a:r>
            <a:r>
              <a:rPr lang="en-US" sz="1400" b="1" dirty="0"/>
              <a:t> </a:t>
            </a:r>
            <a:r>
              <a:rPr lang="en-US" sz="1400" b="1" dirty="0" err="1"/>
              <a:t>dibuat</a:t>
            </a:r>
            <a:r>
              <a:rPr lang="en-US" sz="1400" b="1" dirty="0"/>
              <a:t>.$cd /flask/sample-app</a:t>
            </a:r>
          </a:p>
          <a:p>
            <a:pPr marL="342900" indent="-342900" algn="just">
              <a:buFont typeface="+mj-lt"/>
              <a:buAutoNum type="arabicParenR"/>
            </a:pPr>
            <a:r>
              <a:rPr lang="en-US" sz="1400" b="1" dirty="0" err="1"/>
              <a:t>Buatlah</a:t>
            </a:r>
            <a:r>
              <a:rPr lang="en-US" sz="1400" b="1" dirty="0"/>
              <a:t> virtual environment python3 </a:t>
            </a:r>
            <a:r>
              <a:rPr lang="en-US" sz="1400" b="1" dirty="0" err="1"/>
              <a:t>baru</a:t>
            </a:r>
            <a:r>
              <a:rPr lang="en-US" sz="1400" b="1" dirty="0"/>
              <a:t> </a:t>
            </a:r>
            <a:r>
              <a:rPr lang="en-US" sz="1400" b="1" dirty="0" err="1"/>
              <a:t>pada</a:t>
            </a:r>
            <a:r>
              <a:rPr lang="en-US" sz="1400" b="1" dirty="0"/>
              <a:t> </a:t>
            </a:r>
            <a:r>
              <a:rPr lang="en-US" sz="1400" b="1" dirty="0" err="1"/>
              <a:t>direktori</a:t>
            </a:r>
            <a:r>
              <a:rPr lang="en-US" sz="1400" b="1" dirty="0"/>
              <a:t> </a:t>
            </a:r>
            <a:r>
              <a:rPr lang="en-US" sz="1400" b="1" dirty="0" err="1"/>
              <a:t>tempat</a:t>
            </a:r>
            <a:r>
              <a:rPr lang="en-US" sz="1400" b="1" dirty="0"/>
              <a:t> </a:t>
            </a:r>
            <a:r>
              <a:rPr lang="en-US" sz="1400" b="1" dirty="0" err="1"/>
              <a:t>kita</a:t>
            </a:r>
            <a:r>
              <a:rPr lang="en-US" sz="1400" b="1" dirty="0"/>
              <a:t> </a:t>
            </a:r>
            <a:r>
              <a:rPr lang="en-US" sz="1400" b="1" dirty="0" err="1"/>
              <a:t>menyimpan</a:t>
            </a:r>
            <a:r>
              <a:rPr lang="en-US" sz="1400" b="1" dirty="0"/>
              <a:t> </a:t>
            </a:r>
            <a:r>
              <a:rPr lang="en-US" sz="1400" b="1" dirty="0" err="1"/>
              <a:t>konfigurasi</a:t>
            </a:r>
            <a:r>
              <a:rPr lang="en-US" sz="1400" b="1" dirty="0"/>
              <a:t> simple app.$</a:t>
            </a:r>
            <a:r>
              <a:rPr lang="en-US" sz="1400" b="1" dirty="0" err="1"/>
              <a:t>sudo</a:t>
            </a:r>
            <a:r>
              <a:rPr lang="en-US" sz="1400" b="1" dirty="0"/>
              <a:t> python3 -m </a:t>
            </a:r>
            <a:r>
              <a:rPr lang="en-US" sz="1400" b="1" dirty="0" err="1"/>
              <a:t>venv</a:t>
            </a:r>
            <a:r>
              <a:rPr lang="en-US" sz="1400" b="1" dirty="0"/>
              <a:t> /flask/sample-app</a:t>
            </a:r>
          </a:p>
          <a:p>
            <a:pPr marL="342900" indent="-342900" algn="just">
              <a:buFont typeface="+mj-lt"/>
              <a:buAutoNum type="arabicParenR"/>
            </a:pPr>
            <a:r>
              <a:rPr lang="en-US" sz="1400" b="1" dirty="0" err="1"/>
              <a:t>Buatlah</a:t>
            </a:r>
            <a:r>
              <a:rPr lang="en-US" sz="1400" b="1" dirty="0"/>
              <a:t> file main.py </a:t>
            </a:r>
            <a:r>
              <a:rPr lang="en-US" sz="1400" b="1" dirty="0" err="1"/>
              <a:t>dan</a:t>
            </a:r>
            <a:r>
              <a:rPr lang="en-US" sz="1400" b="1" dirty="0"/>
              <a:t> </a:t>
            </a:r>
            <a:r>
              <a:rPr lang="en-US" sz="1400" b="1" dirty="0" err="1"/>
              <a:t>isikan</a:t>
            </a:r>
            <a:r>
              <a:rPr lang="en-US" sz="1400" b="1" dirty="0"/>
              <a:t> </a:t>
            </a:r>
            <a:r>
              <a:rPr lang="en-US" sz="1400" b="1" dirty="0" err="1"/>
              <a:t>sesuai</a:t>
            </a:r>
            <a:r>
              <a:rPr lang="en-US" sz="1400" b="1" dirty="0"/>
              <a:t> </a:t>
            </a:r>
            <a:r>
              <a:rPr lang="en-US" sz="1400" b="1" dirty="0" err="1"/>
              <a:t>dari</a:t>
            </a:r>
            <a:r>
              <a:rPr lang="en-US" sz="1400" b="1" dirty="0"/>
              <a:t> </a:t>
            </a:r>
            <a:r>
              <a:rPr lang="en-US" sz="1400" b="1" dirty="0" err="1"/>
              <a:t>ketentuan</a:t>
            </a:r>
            <a:r>
              <a:rPr lang="en-US" sz="1400" b="1" dirty="0"/>
              <a:t> goals.$</a:t>
            </a:r>
            <a:r>
              <a:rPr lang="en-US" sz="1400" b="1" dirty="0" err="1"/>
              <a:t>sudo</a:t>
            </a:r>
            <a:r>
              <a:rPr lang="en-US" sz="1400" b="1" dirty="0"/>
              <a:t> vim main.py -----Isi File </a:t>
            </a:r>
            <a:r>
              <a:rPr lang="en-US" sz="1400" b="1" dirty="0" err="1"/>
              <a:t>dengan</a:t>
            </a:r>
            <a:r>
              <a:rPr lang="en-US" sz="1400" b="1" dirty="0"/>
              <a:t> </a:t>
            </a:r>
            <a:r>
              <a:rPr lang="en-US" sz="1400" b="1" dirty="0" err="1"/>
              <a:t>ketentuan</a:t>
            </a:r>
            <a:r>
              <a:rPr lang="en-US" sz="1400" b="1" dirty="0"/>
              <a:t> Goals----- from flask import Flask from flask import request from flask import </a:t>
            </a:r>
            <a:r>
              <a:rPr lang="en-US" sz="1400" b="1" dirty="0" err="1"/>
              <a:t>render_template</a:t>
            </a:r>
            <a:r>
              <a:rPr lang="en-US" sz="1400" b="1" dirty="0"/>
              <a:t> sample = Flask(__name__) @</a:t>
            </a:r>
            <a:r>
              <a:rPr lang="en-US" sz="1400" b="1" dirty="0" err="1"/>
              <a:t>sample.route</a:t>
            </a:r>
            <a:r>
              <a:rPr lang="en-US" sz="1400" b="1" dirty="0"/>
              <a:t>("/") </a:t>
            </a:r>
            <a:r>
              <a:rPr lang="en-US" sz="1400" b="1" dirty="0" err="1"/>
              <a:t>def</a:t>
            </a:r>
            <a:r>
              <a:rPr lang="en-US" sz="1400" b="1" dirty="0"/>
              <a:t> main(): return </a:t>
            </a:r>
            <a:r>
              <a:rPr lang="en-US" sz="1400" b="1" dirty="0" err="1"/>
              <a:t>render_template</a:t>
            </a:r>
            <a:r>
              <a:rPr lang="en-US" sz="1400" b="1" dirty="0"/>
              <a:t>("index.html") if __name__ == "__main__": </a:t>
            </a:r>
            <a:r>
              <a:rPr lang="en-US" sz="1400" b="1" dirty="0" err="1"/>
              <a:t>sample.run</a:t>
            </a:r>
            <a:r>
              <a:rPr lang="en-US" sz="1400" b="1" dirty="0"/>
              <a:t>(host="0.0.0.0", port=8080)</a:t>
            </a:r>
          </a:p>
          <a:p>
            <a:pPr marL="342900" indent="-342900" algn="just">
              <a:buFont typeface="+mj-lt"/>
              <a:buAutoNum type="arabicParenR"/>
            </a:pPr>
            <a:r>
              <a:rPr lang="en-US" sz="1400" b="1" dirty="0" err="1"/>
              <a:t>Buatlah</a:t>
            </a:r>
            <a:r>
              <a:rPr lang="en-US" sz="1400" b="1" dirty="0"/>
              <a:t> file index.html </a:t>
            </a:r>
            <a:r>
              <a:rPr lang="en-US" sz="1400" b="1" dirty="0" err="1"/>
              <a:t>dan</a:t>
            </a:r>
            <a:r>
              <a:rPr lang="en-US" sz="1400" b="1" dirty="0"/>
              <a:t> </a:t>
            </a:r>
            <a:r>
              <a:rPr lang="en-US" sz="1400" b="1" dirty="0" err="1"/>
              <a:t>isikan</a:t>
            </a:r>
            <a:r>
              <a:rPr lang="en-US" sz="1400" b="1" dirty="0"/>
              <a:t> </a:t>
            </a:r>
            <a:r>
              <a:rPr lang="en-US" sz="1400" b="1" dirty="0" err="1"/>
              <a:t>dengan</a:t>
            </a:r>
            <a:r>
              <a:rPr lang="en-US" sz="1400" b="1" dirty="0"/>
              <a:t> source code </a:t>
            </a:r>
            <a:r>
              <a:rPr lang="en-US" sz="1400" b="1" dirty="0" err="1"/>
              <a:t>sesuai</a:t>
            </a:r>
            <a:r>
              <a:rPr lang="en-US" sz="1400" b="1" dirty="0"/>
              <a:t> </a:t>
            </a:r>
            <a:r>
              <a:rPr lang="en-US" sz="1400" b="1" dirty="0" err="1"/>
              <a:t>dengan</a:t>
            </a:r>
            <a:r>
              <a:rPr lang="en-US" sz="1400" b="1" dirty="0"/>
              <a:t> </a:t>
            </a:r>
            <a:r>
              <a:rPr lang="en-US" sz="1400" b="1" dirty="0" err="1"/>
              <a:t>ketentuan</a:t>
            </a:r>
            <a:r>
              <a:rPr lang="en-US" sz="1400" b="1" dirty="0"/>
              <a:t>.$</a:t>
            </a:r>
            <a:r>
              <a:rPr lang="en-US" sz="1400" b="1" dirty="0" err="1"/>
              <a:t>sudo</a:t>
            </a:r>
            <a:r>
              <a:rPr lang="en-US" sz="1400" b="1" dirty="0"/>
              <a:t> vim templates/index.html -----Isi File </a:t>
            </a:r>
            <a:r>
              <a:rPr lang="en-US" sz="1400" b="1" dirty="0" err="1"/>
              <a:t>dengan</a:t>
            </a:r>
            <a:r>
              <a:rPr lang="en-US" sz="1400" b="1" dirty="0"/>
              <a:t> </a:t>
            </a:r>
            <a:r>
              <a:rPr lang="en-US" sz="1400" b="1" dirty="0" err="1"/>
              <a:t>ketentuan</a:t>
            </a:r>
            <a:r>
              <a:rPr lang="en-US" sz="1400" b="1" dirty="0"/>
              <a:t> Goals---- &lt;html&gt; &lt;head&gt; &lt;title&gt;Sample app using Flask python&lt;/title&gt; &lt;/head&gt; &lt;body&gt; &lt;h1&gt;You are calling me from {{</a:t>
            </a:r>
            <a:r>
              <a:rPr lang="en-US" sz="1400" b="1" dirty="0" err="1"/>
              <a:t>request.remote_addr</a:t>
            </a:r>
            <a:r>
              <a:rPr lang="en-US" sz="1400" b="1" dirty="0"/>
              <a:t>}}&lt;/h1&gt; &lt;/body&gt; &lt;/html&gt;</a:t>
            </a:r>
          </a:p>
          <a:p>
            <a:pPr marL="342900" indent="-342900" algn="just">
              <a:buFont typeface="+mj-lt"/>
              <a:buAutoNum type="arabicParenR"/>
            </a:pPr>
            <a:r>
              <a:rPr lang="en-US" sz="1400" b="1" dirty="0" err="1"/>
              <a:t>Masuk</a:t>
            </a:r>
            <a:r>
              <a:rPr lang="en-US" sz="1400" b="1" dirty="0"/>
              <a:t> </a:t>
            </a:r>
            <a:r>
              <a:rPr lang="en-US" sz="1400" b="1" dirty="0" err="1"/>
              <a:t>sebagai</a:t>
            </a:r>
            <a:r>
              <a:rPr lang="en-US" sz="1400" b="1" dirty="0"/>
              <a:t> user </a:t>
            </a:r>
            <a:r>
              <a:rPr lang="en-US" sz="1400" b="1" dirty="0" err="1"/>
              <a:t>sudo</a:t>
            </a:r>
            <a:r>
              <a:rPr lang="en-US" sz="1400" b="1" dirty="0"/>
              <a:t> </a:t>
            </a:r>
            <a:r>
              <a:rPr lang="en-US" sz="1400" b="1" dirty="0" err="1"/>
              <a:t>dan</a:t>
            </a:r>
            <a:r>
              <a:rPr lang="en-US" sz="1400" b="1" dirty="0"/>
              <a:t> </a:t>
            </a:r>
            <a:r>
              <a:rPr lang="en-US" sz="1400" b="1" dirty="0" err="1"/>
              <a:t>jalankan</a:t>
            </a:r>
            <a:r>
              <a:rPr lang="en-US" sz="1400" b="1" dirty="0"/>
              <a:t> </a:t>
            </a:r>
            <a:r>
              <a:rPr lang="en-US" sz="1400" b="1" dirty="0" err="1"/>
              <a:t>perintah</a:t>
            </a:r>
            <a:r>
              <a:rPr lang="en-US" sz="1400" b="1" dirty="0"/>
              <a:t> </a:t>
            </a:r>
            <a:r>
              <a:rPr lang="en-US" sz="1400" b="1" dirty="0" err="1"/>
              <a:t>untuk</a:t>
            </a:r>
            <a:r>
              <a:rPr lang="en-US" sz="1400" b="1" dirty="0"/>
              <a:t> </a:t>
            </a:r>
            <a:r>
              <a:rPr lang="en-US" sz="1400" b="1" dirty="0" err="1"/>
              <a:t>mengaktifkan</a:t>
            </a:r>
            <a:r>
              <a:rPr lang="en-US" sz="1400" b="1" dirty="0"/>
              <a:t> virtual environment python yang </a:t>
            </a:r>
            <a:r>
              <a:rPr lang="en-US" sz="1400" b="1" dirty="0" err="1"/>
              <a:t>tadinya</a:t>
            </a:r>
            <a:r>
              <a:rPr lang="en-US" sz="1400" b="1" dirty="0"/>
              <a:t> </a:t>
            </a:r>
            <a:r>
              <a:rPr lang="en-US" sz="1400" b="1" dirty="0" err="1"/>
              <a:t>telah</a:t>
            </a:r>
            <a:r>
              <a:rPr lang="en-US" sz="1400" b="1" dirty="0"/>
              <a:t> </a:t>
            </a:r>
            <a:r>
              <a:rPr lang="en-US" sz="1400" b="1" dirty="0" err="1"/>
              <a:t>dibuat</a:t>
            </a:r>
            <a:r>
              <a:rPr lang="en-US" sz="1400" b="1" dirty="0"/>
              <a:t>.$</a:t>
            </a:r>
            <a:r>
              <a:rPr lang="en-US" sz="1400" b="1" dirty="0" err="1"/>
              <a:t>sudo</a:t>
            </a:r>
            <a:r>
              <a:rPr lang="en-US" sz="1400" b="1" dirty="0"/>
              <a:t> </a:t>
            </a:r>
            <a:r>
              <a:rPr lang="en-US" sz="1400" b="1" dirty="0" err="1"/>
              <a:t>su</a:t>
            </a:r>
            <a:r>
              <a:rPr lang="en-US" sz="1400" b="1" dirty="0"/>
              <a:t> #. bin/activate</a:t>
            </a:r>
          </a:p>
          <a:p>
            <a:pPr marL="342900" indent="-342900" algn="just">
              <a:buFont typeface="+mj-lt"/>
              <a:buAutoNum type="arabicParenR"/>
            </a:pPr>
            <a:r>
              <a:rPr lang="en-US" sz="1400" b="1" dirty="0" err="1"/>
              <a:t>Sekarang</a:t>
            </a:r>
            <a:r>
              <a:rPr lang="en-US" sz="1400" b="1" dirty="0"/>
              <a:t> </a:t>
            </a:r>
            <a:r>
              <a:rPr lang="en-US" sz="1400" b="1" dirty="0" err="1"/>
              <a:t>kita</a:t>
            </a:r>
            <a:r>
              <a:rPr lang="en-US" sz="1400" b="1" dirty="0"/>
              <a:t> </a:t>
            </a:r>
            <a:r>
              <a:rPr lang="en-US" sz="1400" b="1" dirty="0" err="1"/>
              <a:t>instal</a:t>
            </a:r>
            <a:r>
              <a:rPr lang="en-US" sz="1400" b="1" dirty="0"/>
              <a:t> Flask </a:t>
            </a:r>
            <a:r>
              <a:rPr lang="en-US" sz="1400" b="1" dirty="0" err="1"/>
              <a:t>menggunakan</a:t>
            </a:r>
            <a:r>
              <a:rPr lang="en-US" sz="1400" b="1" dirty="0"/>
              <a:t> </a:t>
            </a:r>
            <a:r>
              <a:rPr lang="en-US" sz="1400" b="1" dirty="0" err="1"/>
              <a:t>perintah</a:t>
            </a:r>
            <a:r>
              <a:rPr lang="en-US" sz="1400" b="1" dirty="0"/>
              <a:t> pip.#pip3 install Flask</a:t>
            </a:r>
            <a:endParaRPr lang="en-US" sz="1400" b="1" dirty="0" smtClean="0"/>
          </a:p>
        </p:txBody>
      </p:sp>
      <p:sp>
        <p:nvSpPr>
          <p:cNvPr id="9" name="Rectangle 8"/>
          <p:cNvSpPr/>
          <p:nvPr/>
        </p:nvSpPr>
        <p:spPr>
          <a:xfrm>
            <a:off x="5954110" y="304054"/>
            <a:ext cx="5838497" cy="5816977"/>
          </a:xfrm>
          <a:prstGeom prst="rect">
            <a:avLst/>
          </a:prstGeom>
        </p:spPr>
        <p:txBody>
          <a:bodyPr wrap="square">
            <a:spAutoFit/>
          </a:bodyPr>
          <a:lstStyle/>
          <a:p>
            <a:pPr fontAlgn="base"/>
            <a:r>
              <a:rPr lang="en-US" b="1" dirty="0" err="1" smtClean="0">
                <a:solidFill>
                  <a:srgbClr val="002060"/>
                </a:solidFill>
              </a:rPr>
              <a:t>Pengujian</a:t>
            </a:r>
            <a:endParaRPr lang="en-US" b="1" dirty="0" smtClean="0">
              <a:solidFill>
                <a:srgbClr val="002060"/>
              </a:solidFill>
            </a:endParaRPr>
          </a:p>
          <a:p>
            <a:pPr fontAlgn="base"/>
            <a:endParaRPr lang="en-US" b="1" dirty="0">
              <a:solidFill>
                <a:srgbClr val="002060"/>
              </a:solidFill>
            </a:endParaRPr>
          </a:p>
          <a:p>
            <a:pPr marL="342900" indent="-342900" algn="just">
              <a:buFont typeface="+mj-lt"/>
              <a:buAutoNum type="arabicPeriod"/>
            </a:pPr>
            <a:r>
              <a:rPr lang="en-US" sz="1400" b="1" dirty="0" err="1" smtClean="0"/>
              <a:t>Sekarang</a:t>
            </a:r>
            <a:r>
              <a:rPr lang="en-US" sz="1400" b="1" dirty="0" smtClean="0"/>
              <a:t> </a:t>
            </a:r>
            <a:r>
              <a:rPr lang="en-US" sz="1400" b="1" dirty="0" err="1"/>
              <a:t>kita</a:t>
            </a:r>
            <a:r>
              <a:rPr lang="en-US" sz="1400" b="1" dirty="0"/>
              <a:t> </a:t>
            </a:r>
            <a:r>
              <a:rPr lang="en-US" sz="1400" b="1" dirty="0" err="1"/>
              <a:t>akan</a:t>
            </a:r>
            <a:r>
              <a:rPr lang="en-US" sz="1400" b="1" dirty="0"/>
              <a:t> </a:t>
            </a:r>
            <a:r>
              <a:rPr lang="en-US" sz="1400" b="1" dirty="0" err="1"/>
              <a:t>menguji</a:t>
            </a:r>
            <a:r>
              <a:rPr lang="en-US" sz="1400" b="1" dirty="0"/>
              <a:t> </a:t>
            </a:r>
            <a:r>
              <a:rPr lang="en-US" sz="1400" b="1" dirty="0" err="1"/>
              <a:t>coba</a:t>
            </a:r>
            <a:r>
              <a:rPr lang="en-US" sz="1400" b="1" dirty="0"/>
              <a:t>, </a:t>
            </a:r>
            <a:r>
              <a:rPr lang="en-US" sz="1400" b="1" dirty="0" err="1"/>
              <a:t>apakah</a:t>
            </a:r>
            <a:r>
              <a:rPr lang="en-US" sz="1400" b="1" dirty="0"/>
              <a:t> simple app yang </a:t>
            </a:r>
            <a:r>
              <a:rPr lang="en-US" sz="1400" b="1" dirty="0" err="1"/>
              <a:t>kita</a:t>
            </a:r>
            <a:r>
              <a:rPr lang="en-US" sz="1400" b="1" dirty="0"/>
              <a:t> </a:t>
            </a:r>
            <a:r>
              <a:rPr lang="en-US" sz="1400" b="1" dirty="0" err="1"/>
              <a:t>buat</a:t>
            </a:r>
            <a:r>
              <a:rPr lang="en-US" sz="1400" b="1" dirty="0"/>
              <a:t> </a:t>
            </a:r>
            <a:r>
              <a:rPr lang="en-US" sz="1400" b="1" dirty="0" err="1"/>
              <a:t>sudah</a:t>
            </a:r>
            <a:r>
              <a:rPr lang="en-US" sz="1400" b="1" dirty="0"/>
              <a:t> berjalan.#python3 main.py</a:t>
            </a:r>
          </a:p>
          <a:p>
            <a:pPr marL="342900" indent="-342900" algn="just">
              <a:buFont typeface="+mj-lt"/>
              <a:buAutoNum type="arabicPeriod"/>
            </a:pPr>
            <a:r>
              <a:rPr lang="en-US" sz="1400" b="1" dirty="0" err="1"/>
              <a:t>Jika</a:t>
            </a:r>
            <a:r>
              <a:rPr lang="en-US" sz="1400" b="1" dirty="0"/>
              <a:t> </a:t>
            </a:r>
            <a:r>
              <a:rPr lang="en-US" sz="1400" b="1" dirty="0" err="1"/>
              <a:t>hasil</a:t>
            </a:r>
            <a:r>
              <a:rPr lang="en-US" sz="1400" b="1" dirty="0"/>
              <a:t> </a:t>
            </a:r>
            <a:r>
              <a:rPr lang="en-US" sz="1400" b="1" dirty="0" err="1"/>
              <a:t>dari</a:t>
            </a:r>
            <a:r>
              <a:rPr lang="en-US" sz="1400" b="1" dirty="0"/>
              <a:t> </a:t>
            </a:r>
            <a:r>
              <a:rPr lang="en-US" sz="1400" b="1" dirty="0" err="1"/>
              <a:t>menjalankan</a:t>
            </a:r>
            <a:r>
              <a:rPr lang="en-US" sz="1400" b="1" dirty="0"/>
              <a:t> </a:t>
            </a:r>
            <a:r>
              <a:rPr lang="en-US" sz="1400" b="1" dirty="0" err="1"/>
              <a:t>perintah</a:t>
            </a:r>
            <a:r>
              <a:rPr lang="en-US" sz="1400" b="1" dirty="0"/>
              <a:t> </a:t>
            </a:r>
            <a:r>
              <a:rPr lang="en-US" sz="1400" b="1" dirty="0" err="1"/>
              <a:t>diatas</a:t>
            </a:r>
            <a:r>
              <a:rPr lang="en-US" sz="1400" b="1" dirty="0"/>
              <a:t> </a:t>
            </a:r>
            <a:r>
              <a:rPr lang="en-US" sz="1400" b="1" dirty="0" err="1"/>
              <a:t>seperti</a:t>
            </a:r>
            <a:r>
              <a:rPr lang="en-US" sz="1400" b="1" dirty="0"/>
              <a:t> </a:t>
            </a:r>
            <a:r>
              <a:rPr lang="en-US" sz="1400" b="1" dirty="0" err="1"/>
              <a:t>ini</a:t>
            </a:r>
            <a:r>
              <a:rPr lang="en-US" sz="1400" b="1" dirty="0"/>
              <a:t>, </a:t>
            </a:r>
            <a:r>
              <a:rPr lang="en-US" sz="1400" b="1" dirty="0" err="1"/>
              <a:t>maka</a:t>
            </a:r>
            <a:r>
              <a:rPr lang="en-US" sz="1400" b="1" dirty="0"/>
              <a:t> simple app yang </a:t>
            </a:r>
            <a:r>
              <a:rPr lang="en-US" sz="1400" b="1" dirty="0" err="1"/>
              <a:t>kita</a:t>
            </a:r>
            <a:r>
              <a:rPr lang="en-US" sz="1400" b="1" dirty="0"/>
              <a:t> </a:t>
            </a:r>
            <a:r>
              <a:rPr lang="en-US" sz="1400" b="1" dirty="0" err="1"/>
              <a:t>buat</a:t>
            </a:r>
            <a:r>
              <a:rPr lang="en-US" sz="1400" b="1" dirty="0"/>
              <a:t> </a:t>
            </a:r>
            <a:r>
              <a:rPr lang="en-US" sz="1400" b="1" dirty="0" err="1"/>
              <a:t>telah</a:t>
            </a:r>
            <a:r>
              <a:rPr lang="en-US" sz="1400" b="1" dirty="0"/>
              <a:t> </a:t>
            </a:r>
            <a:r>
              <a:rPr lang="en-US" sz="1400" b="1" dirty="0" err="1"/>
              <a:t>berjalan</a:t>
            </a:r>
            <a:r>
              <a:rPr lang="en-US" sz="1400" b="1" dirty="0" smtClean="0"/>
              <a:t>.</a:t>
            </a:r>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algn="just"/>
            <a:endParaRPr lang="en-US" sz="1400" b="1" dirty="0"/>
          </a:p>
          <a:p>
            <a:pPr marL="342900" indent="-342900" algn="just">
              <a:buFont typeface="+mj-lt"/>
              <a:buAutoNum type="arabicPeriod" startAt="3"/>
            </a:pPr>
            <a:r>
              <a:rPr lang="en-US" sz="1400" b="1" dirty="0" err="1" smtClean="0"/>
              <a:t>Sekarang</a:t>
            </a:r>
            <a:r>
              <a:rPr lang="en-US" sz="1400" b="1" dirty="0" smtClean="0"/>
              <a:t> </a:t>
            </a:r>
            <a:r>
              <a:rPr lang="en-US" sz="1400" b="1" dirty="0" err="1"/>
              <a:t>kita</a:t>
            </a:r>
            <a:r>
              <a:rPr lang="en-US" sz="1400" b="1" dirty="0"/>
              <a:t> </a:t>
            </a:r>
            <a:r>
              <a:rPr lang="en-US" sz="1400" b="1" dirty="0" err="1"/>
              <a:t>buka</a:t>
            </a:r>
            <a:r>
              <a:rPr lang="en-US" sz="1400" b="1" dirty="0"/>
              <a:t> web browser </a:t>
            </a:r>
            <a:r>
              <a:rPr lang="en-US" sz="1400" b="1" dirty="0" err="1"/>
              <a:t>dan</a:t>
            </a:r>
            <a:r>
              <a:rPr lang="en-US" sz="1400" b="1" dirty="0"/>
              <a:t> </a:t>
            </a:r>
            <a:r>
              <a:rPr lang="en-US" sz="1400" b="1" dirty="0" err="1"/>
              <a:t>ketikkan</a:t>
            </a:r>
            <a:r>
              <a:rPr lang="en-US" sz="1400" b="1" dirty="0"/>
              <a:t> </a:t>
            </a:r>
            <a:r>
              <a:rPr lang="en-US" sz="1400" b="1" dirty="0" err="1"/>
              <a:t>alamat</a:t>
            </a:r>
            <a:r>
              <a:rPr lang="en-US" sz="1400" b="1" dirty="0"/>
              <a:t> </a:t>
            </a:r>
            <a:r>
              <a:rPr lang="en-US" sz="1400" b="1" dirty="0" err="1"/>
              <a:t>ip</a:t>
            </a:r>
            <a:r>
              <a:rPr lang="en-US" sz="1400" b="1" dirty="0"/>
              <a:t> </a:t>
            </a:r>
            <a:r>
              <a:rPr lang="en-US" sz="1400" b="1" dirty="0" err="1"/>
              <a:t>beserta</a:t>
            </a:r>
            <a:r>
              <a:rPr lang="en-US" sz="1400" b="1" dirty="0"/>
              <a:t> port simple app yang </a:t>
            </a:r>
            <a:r>
              <a:rPr lang="en-US" sz="1400" b="1" dirty="0" err="1"/>
              <a:t>kita</a:t>
            </a:r>
            <a:r>
              <a:rPr lang="en-US" sz="1400" b="1" dirty="0"/>
              <a:t> </a:t>
            </a:r>
            <a:r>
              <a:rPr lang="en-US" sz="1400" b="1" dirty="0" err="1"/>
              <a:t>buat</a:t>
            </a:r>
            <a:r>
              <a:rPr lang="en-US" sz="1400" b="1" dirty="0"/>
              <a:t>. </a:t>
            </a:r>
            <a:r>
              <a:rPr lang="en-US" sz="1400" b="1" dirty="0" err="1"/>
              <a:t>Jika</a:t>
            </a:r>
            <a:r>
              <a:rPr lang="en-US" sz="1400" b="1" dirty="0"/>
              <a:t> </a:t>
            </a:r>
            <a:r>
              <a:rPr lang="en-US" sz="1400" b="1" dirty="0" err="1"/>
              <a:t>berhasil</a:t>
            </a:r>
            <a:r>
              <a:rPr lang="en-US" sz="1400" b="1" dirty="0"/>
              <a:t> </a:t>
            </a:r>
            <a:r>
              <a:rPr lang="en-US" sz="1400" b="1" dirty="0" err="1"/>
              <a:t>maka</a:t>
            </a:r>
            <a:r>
              <a:rPr lang="en-US" sz="1400" b="1" dirty="0"/>
              <a:t> </a:t>
            </a:r>
            <a:r>
              <a:rPr lang="en-US" sz="1400" b="1" dirty="0" err="1"/>
              <a:t>hasilnya</a:t>
            </a:r>
            <a:r>
              <a:rPr lang="en-US" sz="1400" b="1" dirty="0"/>
              <a:t> </a:t>
            </a:r>
            <a:r>
              <a:rPr lang="en-US" sz="1400" b="1" dirty="0" err="1"/>
              <a:t>akan</a:t>
            </a:r>
            <a:r>
              <a:rPr lang="en-US" sz="1400" b="1" dirty="0"/>
              <a:t> </a:t>
            </a:r>
            <a:r>
              <a:rPr lang="en-US" sz="1400" b="1" dirty="0" err="1"/>
              <a:t>seperti</a:t>
            </a:r>
            <a:r>
              <a:rPr lang="en-US" sz="1400" b="1" dirty="0"/>
              <a:t> </a:t>
            </a:r>
            <a:r>
              <a:rPr lang="en-US" sz="1400" b="1" dirty="0" err="1"/>
              <a:t>gambar</a:t>
            </a:r>
            <a:r>
              <a:rPr lang="en-US" sz="1400" b="1" dirty="0"/>
              <a:t> </a:t>
            </a:r>
            <a:r>
              <a:rPr lang="en-US" sz="1400" b="1" dirty="0" err="1" smtClean="0"/>
              <a:t>dibawah</a:t>
            </a:r>
            <a:endParaRPr lang="en-US" sz="1400" b="1" dirty="0" smtClean="0"/>
          </a:p>
          <a:p>
            <a:pPr marL="342900" indent="-342900" algn="just">
              <a:buFont typeface="+mj-lt"/>
              <a:buAutoNum type="arabicPeriod" startAt="3"/>
            </a:pPr>
            <a:endParaRPr lang="en-US" sz="1400" b="1" dirty="0" smtClean="0"/>
          </a:p>
          <a:p>
            <a:pPr marL="342900" indent="-342900" algn="just">
              <a:buFont typeface="+mj-lt"/>
              <a:buAutoNum type="arabicPeriod" startAt="3"/>
            </a:pPr>
            <a:endParaRPr lang="en-US" sz="1400" b="1" dirty="0"/>
          </a:p>
          <a:p>
            <a:pPr marL="342900" indent="-342900" algn="just">
              <a:buFont typeface="+mj-lt"/>
              <a:buAutoNum type="arabicPeriod" startAt="3"/>
            </a:pPr>
            <a:endParaRPr lang="en-US" sz="1400" b="1" dirty="0"/>
          </a:p>
          <a:p>
            <a:pPr marL="342900" indent="-342900" algn="just">
              <a:buFont typeface="+mj-lt"/>
              <a:buAutoNum type="arabicPeriod" startAt="3"/>
            </a:pPr>
            <a:endParaRPr lang="en-US" sz="1400" b="1" dirty="0" smtClean="0"/>
          </a:p>
          <a:p>
            <a:pPr marL="342900" indent="-342900" algn="just">
              <a:buFont typeface="+mj-lt"/>
              <a:buAutoNum type="arabicPeriod" startAt="3"/>
            </a:pPr>
            <a:r>
              <a:rPr lang="en-US" sz="1400" b="1" dirty="0" smtClean="0"/>
              <a:t>Kalian </a:t>
            </a:r>
            <a:r>
              <a:rPr lang="en-US" sz="1400" b="1" dirty="0" err="1"/>
              <a:t>juga</a:t>
            </a:r>
            <a:r>
              <a:rPr lang="en-US" sz="1400" b="1" dirty="0"/>
              <a:t> </a:t>
            </a:r>
            <a:r>
              <a:rPr lang="en-US" sz="1400" b="1" dirty="0" err="1"/>
              <a:t>dapat</a:t>
            </a:r>
            <a:r>
              <a:rPr lang="en-US" sz="1400" b="1" dirty="0"/>
              <a:t> </a:t>
            </a:r>
            <a:r>
              <a:rPr lang="en-US" sz="1400" b="1" dirty="0" err="1"/>
              <a:t>melihat</a:t>
            </a:r>
            <a:r>
              <a:rPr lang="en-US" sz="1400" b="1" dirty="0"/>
              <a:t> log </a:t>
            </a:r>
            <a:r>
              <a:rPr lang="en-US" sz="1400" b="1" dirty="0" err="1"/>
              <a:t>alamat</a:t>
            </a:r>
            <a:r>
              <a:rPr lang="en-US" sz="1400" b="1" dirty="0"/>
              <a:t> IP </a:t>
            </a:r>
            <a:r>
              <a:rPr lang="en-US" sz="1400" b="1" dirty="0" err="1"/>
              <a:t>apa</a:t>
            </a:r>
            <a:r>
              <a:rPr lang="en-US" sz="1400" b="1" dirty="0"/>
              <a:t> </a:t>
            </a:r>
            <a:r>
              <a:rPr lang="en-US" sz="1400" b="1" dirty="0" err="1"/>
              <a:t>saja</a:t>
            </a:r>
            <a:r>
              <a:rPr lang="en-US" sz="1400" b="1" dirty="0"/>
              <a:t> yang </a:t>
            </a:r>
            <a:r>
              <a:rPr lang="en-US" sz="1400" b="1" dirty="0" err="1"/>
              <a:t>mengakses</a:t>
            </a:r>
            <a:r>
              <a:rPr lang="en-US" sz="1400" b="1" dirty="0"/>
              <a:t> simple app yang </a:t>
            </a:r>
            <a:r>
              <a:rPr lang="en-US" sz="1400" b="1" dirty="0" err="1"/>
              <a:t>kita</a:t>
            </a:r>
            <a:r>
              <a:rPr lang="en-US" sz="1400" b="1" dirty="0"/>
              <a:t> </a:t>
            </a:r>
            <a:r>
              <a:rPr lang="en-US" sz="1400" b="1" dirty="0" err="1"/>
              <a:t>buat</a:t>
            </a:r>
            <a:r>
              <a:rPr lang="en-US" sz="1400" b="1" dirty="0" smtClean="0"/>
              <a:t>.</a:t>
            </a:r>
          </a:p>
          <a:p>
            <a:pPr marL="342900" indent="-342900" algn="just">
              <a:buFont typeface="+mj-lt"/>
              <a:buAutoNum type="arabicPeriod" startAt="3"/>
            </a:pPr>
            <a:endParaRPr lang="en-US" sz="1400" b="1" dirty="0"/>
          </a:p>
          <a:p>
            <a:pPr marL="342900" indent="-342900" algn="just">
              <a:buFont typeface="+mj-lt"/>
              <a:buAutoNum type="arabicPeriod" startAt="3"/>
            </a:pPr>
            <a:endParaRPr lang="en-US" sz="1400" b="1" dirty="0" smtClean="0"/>
          </a:p>
          <a:p>
            <a:pPr algn="just"/>
            <a:endParaRPr lang="en-US" sz="1400" b="1" dirty="0"/>
          </a:p>
        </p:txBody>
      </p:sp>
      <p:sp>
        <p:nvSpPr>
          <p:cNvPr id="10" name="Rectangle 9"/>
          <p:cNvSpPr/>
          <p:nvPr/>
        </p:nvSpPr>
        <p:spPr>
          <a:xfrm>
            <a:off x="6343869" y="1765992"/>
            <a:ext cx="5622129" cy="1600438"/>
          </a:xfrm>
          <a:prstGeom prst="rect">
            <a:avLst/>
          </a:prstGeom>
          <a:solidFill>
            <a:schemeClr val="tx1"/>
          </a:solidFill>
        </p:spPr>
        <p:txBody>
          <a:bodyPr wrap="square">
            <a:spAutoFit/>
          </a:bodyPr>
          <a:lstStyle/>
          <a:p>
            <a:pPr algn="just"/>
            <a:r>
              <a:rPr lang="en-US" sz="1400" dirty="0" smtClean="0">
                <a:solidFill>
                  <a:schemeClr val="bg1">
                    <a:lumMod val="95000"/>
                  </a:schemeClr>
                </a:solidFill>
              </a:rPr>
              <a:t>( sample-app ) </a:t>
            </a:r>
            <a:r>
              <a:rPr lang="en-US" sz="1400" dirty="0" err="1" smtClean="0">
                <a:solidFill>
                  <a:schemeClr val="bg1">
                    <a:lumMod val="95000"/>
                  </a:schemeClr>
                </a:solidFill>
              </a:rPr>
              <a:t>root@panda</a:t>
            </a:r>
            <a:r>
              <a:rPr lang="en-US" sz="1400" dirty="0" smtClean="0">
                <a:solidFill>
                  <a:schemeClr val="bg1">
                    <a:lumMod val="95000"/>
                  </a:schemeClr>
                </a:solidFill>
              </a:rPr>
              <a:t>: /flash/sample-app# python3 main.py</a:t>
            </a:r>
          </a:p>
          <a:p>
            <a:pPr algn="just"/>
            <a:r>
              <a:rPr lang="en-US" sz="1400" dirty="0">
                <a:solidFill>
                  <a:schemeClr val="bg1">
                    <a:lumMod val="95000"/>
                  </a:schemeClr>
                </a:solidFill>
              </a:rPr>
              <a:t> </a:t>
            </a:r>
            <a:r>
              <a:rPr lang="en-US" sz="1400" dirty="0" smtClean="0">
                <a:solidFill>
                  <a:schemeClr val="bg1">
                    <a:lumMod val="95000"/>
                  </a:schemeClr>
                </a:solidFill>
              </a:rPr>
              <a:t>  * Serving Flash app ‘main’</a:t>
            </a:r>
          </a:p>
          <a:p>
            <a:pPr algn="just"/>
            <a:r>
              <a:rPr lang="en-US" sz="1400" dirty="0">
                <a:solidFill>
                  <a:schemeClr val="bg1">
                    <a:lumMod val="95000"/>
                  </a:schemeClr>
                </a:solidFill>
              </a:rPr>
              <a:t> </a:t>
            </a:r>
            <a:r>
              <a:rPr lang="en-US" sz="1400" dirty="0" smtClean="0">
                <a:solidFill>
                  <a:schemeClr val="bg1">
                    <a:lumMod val="95000"/>
                  </a:schemeClr>
                </a:solidFill>
              </a:rPr>
              <a:t>  * </a:t>
            </a:r>
            <a:r>
              <a:rPr lang="en-US" sz="1400" dirty="0" smtClean="0">
                <a:solidFill>
                  <a:srgbClr val="FFC000"/>
                </a:solidFill>
              </a:rPr>
              <a:t>Debu</a:t>
            </a:r>
            <a:r>
              <a:rPr lang="en-US" sz="1400" dirty="0" smtClean="0">
                <a:solidFill>
                  <a:schemeClr val="bg1">
                    <a:lumMod val="95000"/>
                  </a:schemeClr>
                </a:solidFill>
              </a:rPr>
              <a:t>g mode: off</a:t>
            </a: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pic>
        <p:nvPicPr>
          <p:cNvPr id="4" name="Picture 3"/>
          <p:cNvPicPr>
            <a:picLocks noChangeAspect="1"/>
          </p:cNvPicPr>
          <p:nvPr/>
        </p:nvPicPr>
        <p:blipFill>
          <a:blip r:embed="rId3"/>
          <a:stretch>
            <a:fillRect/>
          </a:stretch>
        </p:blipFill>
        <p:spPr>
          <a:xfrm>
            <a:off x="6512964" y="2184196"/>
            <a:ext cx="5279643" cy="1182234"/>
          </a:xfrm>
          <a:prstGeom prst="rect">
            <a:avLst/>
          </a:prstGeom>
        </p:spPr>
      </p:pic>
      <p:pic>
        <p:nvPicPr>
          <p:cNvPr id="11" name="Picture 10"/>
          <p:cNvPicPr>
            <a:picLocks noChangeAspect="1"/>
          </p:cNvPicPr>
          <p:nvPr/>
        </p:nvPicPr>
        <p:blipFill>
          <a:blip r:embed="rId4"/>
          <a:stretch>
            <a:fillRect/>
          </a:stretch>
        </p:blipFill>
        <p:spPr>
          <a:xfrm>
            <a:off x="6356868" y="4153916"/>
            <a:ext cx="5609130" cy="805258"/>
          </a:xfrm>
          <a:prstGeom prst="rect">
            <a:avLst/>
          </a:prstGeom>
        </p:spPr>
      </p:pic>
      <p:pic>
        <p:nvPicPr>
          <p:cNvPr id="12" name="Picture 11"/>
          <p:cNvPicPr>
            <a:picLocks noChangeAspect="1"/>
          </p:cNvPicPr>
          <p:nvPr/>
        </p:nvPicPr>
        <p:blipFill>
          <a:blip r:embed="rId5"/>
          <a:stretch>
            <a:fillRect/>
          </a:stretch>
        </p:blipFill>
        <p:spPr>
          <a:xfrm>
            <a:off x="6512964" y="5516257"/>
            <a:ext cx="5453034" cy="914400"/>
          </a:xfrm>
          <a:prstGeom prst="rect">
            <a:avLst/>
          </a:prstGeom>
        </p:spPr>
      </p:pic>
    </p:spTree>
    <p:extLst>
      <p:ext uri="{BB962C8B-B14F-4D97-AF65-F5344CB8AC3E}">
        <p14:creationId xmlns:p14="http://schemas.microsoft.com/office/powerpoint/2010/main" val="191212254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3" name="Rectangle 12"/>
          <p:cNvSpPr/>
          <p:nvPr/>
        </p:nvSpPr>
        <p:spPr>
          <a:xfrm>
            <a:off x="279400" y="1501530"/>
            <a:ext cx="5645150" cy="5324535"/>
          </a:xfrm>
          <a:prstGeom prst="rect">
            <a:avLst/>
          </a:prstGeom>
        </p:spPr>
        <p:txBody>
          <a:bodyPr wrap="square">
            <a:spAutoFit/>
          </a:bodyPr>
          <a:lstStyle/>
          <a:p>
            <a:pPr algn="just"/>
            <a:r>
              <a:rPr lang="en-US" b="1" dirty="0" err="1">
                <a:solidFill>
                  <a:srgbClr val="002060"/>
                </a:solidFill>
              </a:rPr>
              <a:t>Konfigurasi</a:t>
            </a:r>
            <a:r>
              <a:rPr lang="en-US" b="1" dirty="0">
                <a:solidFill>
                  <a:srgbClr val="002060"/>
                </a:solidFill>
              </a:rPr>
              <a:t> </a:t>
            </a:r>
            <a:r>
              <a:rPr lang="en-US" b="1" dirty="0" smtClean="0">
                <a:solidFill>
                  <a:srgbClr val="002060"/>
                </a:solidFill>
              </a:rPr>
              <a:t>Docker</a:t>
            </a:r>
          </a:p>
          <a:p>
            <a:pPr marL="342900" indent="-342900" algn="just">
              <a:buFont typeface="+mj-lt"/>
              <a:buAutoNum type="arabicPeriod"/>
            </a:pPr>
            <a:r>
              <a:rPr lang="en-US" sz="1400" dirty="0" err="1" smtClean="0"/>
              <a:t>Setelah</a:t>
            </a:r>
            <a:r>
              <a:rPr lang="en-US" sz="1400" dirty="0" smtClean="0"/>
              <a:t> </a:t>
            </a:r>
            <a:r>
              <a:rPr lang="en-US" sz="1400" dirty="0" err="1"/>
              <a:t>kita</a:t>
            </a:r>
            <a:r>
              <a:rPr lang="en-US" sz="1400" dirty="0"/>
              <a:t> </a:t>
            </a:r>
            <a:r>
              <a:rPr lang="en-US" sz="1400" dirty="0" err="1"/>
              <a:t>melakukan</a:t>
            </a:r>
            <a:r>
              <a:rPr lang="en-US" sz="1400" dirty="0"/>
              <a:t> </a:t>
            </a:r>
            <a:r>
              <a:rPr lang="en-US" sz="1400" dirty="0" err="1"/>
              <a:t>uji</a:t>
            </a:r>
            <a:r>
              <a:rPr lang="en-US" sz="1400" dirty="0"/>
              <a:t> </a:t>
            </a:r>
            <a:r>
              <a:rPr lang="en-US" sz="1400" dirty="0" err="1"/>
              <a:t>coba</a:t>
            </a:r>
            <a:r>
              <a:rPr lang="en-US" sz="1400" dirty="0"/>
              <a:t> </a:t>
            </a:r>
            <a:r>
              <a:rPr lang="en-US" sz="1400" dirty="0" err="1"/>
              <a:t>pada</a:t>
            </a:r>
            <a:r>
              <a:rPr lang="en-US" sz="1400" dirty="0"/>
              <a:t> simple app </a:t>
            </a:r>
            <a:r>
              <a:rPr lang="en-US" sz="1400" dirty="0" err="1"/>
              <a:t>kita</a:t>
            </a:r>
            <a:r>
              <a:rPr lang="en-US" sz="1400" dirty="0"/>
              <a:t>, </a:t>
            </a:r>
            <a:r>
              <a:rPr lang="en-US" sz="1400" dirty="0" err="1"/>
              <a:t>sekarang</a:t>
            </a:r>
            <a:r>
              <a:rPr lang="en-US" sz="1400" dirty="0"/>
              <a:t> </a:t>
            </a:r>
            <a:r>
              <a:rPr lang="en-US" sz="1400" dirty="0" err="1"/>
              <a:t>kita</a:t>
            </a:r>
            <a:r>
              <a:rPr lang="en-US" sz="1400" dirty="0"/>
              <a:t> </a:t>
            </a:r>
            <a:r>
              <a:rPr lang="en-US" sz="1400" dirty="0" err="1"/>
              <a:t>akan</a:t>
            </a:r>
            <a:r>
              <a:rPr lang="en-US" sz="1400" dirty="0"/>
              <a:t> </a:t>
            </a:r>
            <a:r>
              <a:rPr lang="en-US" sz="1400" dirty="0" err="1"/>
              <a:t>melakukan</a:t>
            </a:r>
            <a:r>
              <a:rPr lang="en-US" sz="1400" dirty="0"/>
              <a:t> </a:t>
            </a:r>
            <a:r>
              <a:rPr lang="en-US" sz="1400" dirty="0" err="1"/>
              <a:t>konfigurasi</a:t>
            </a:r>
            <a:r>
              <a:rPr lang="en-US" sz="1400" dirty="0"/>
              <a:t> </a:t>
            </a:r>
            <a:r>
              <a:rPr lang="en-US" sz="1400" dirty="0" err="1"/>
              <a:t>untuk</a:t>
            </a:r>
            <a:r>
              <a:rPr lang="en-US" sz="1400" dirty="0"/>
              <a:t> </a:t>
            </a:r>
            <a:r>
              <a:rPr lang="en-US" sz="1400" dirty="0" err="1"/>
              <a:t>menjalankan</a:t>
            </a:r>
            <a:r>
              <a:rPr lang="en-US" sz="1400" dirty="0"/>
              <a:t> web </a:t>
            </a:r>
            <a:r>
              <a:rPr lang="en-US" sz="1400" dirty="0" err="1"/>
              <a:t>kita</a:t>
            </a:r>
            <a:r>
              <a:rPr lang="en-US" sz="1400" dirty="0"/>
              <a:t> </a:t>
            </a:r>
            <a:r>
              <a:rPr lang="en-US" sz="1400" dirty="0" err="1"/>
              <a:t>pada</a:t>
            </a:r>
            <a:r>
              <a:rPr lang="en-US" sz="1400" dirty="0"/>
              <a:t> </a:t>
            </a:r>
            <a:r>
              <a:rPr lang="en-US" sz="1400" dirty="0" err="1"/>
              <a:t>docker</a:t>
            </a:r>
            <a:r>
              <a:rPr lang="en-US" sz="1400" dirty="0"/>
              <a:t> container. </a:t>
            </a:r>
            <a:r>
              <a:rPr lang="en-US" sz="1400" dirty="0" err="1"/>
              <a:t>Pertama</a:t>
            </a:r>
            <a:r>
              <a:rPr lang="en-US" sz="1400" dirty="0"/>
              <a:t> </a:t>
            </a:r>
            <a:r>
              <a:rPr lang="en-US" sz="1400" dirty="0" err="1"/>
              <a:t>buatlah</a:t>
            </a:r>
            <a:r>
              <a:rPr lang="en-US" sz="1400" dirty="0"/>
              <a:t> file </a:t>
            </a:r>
            <a:r>
              <a:rPr lang="en-US" sz="1400" dirty="0" err="1"/>
              <a:t>requirements.txt.#touch</a:t>
            </a:r>
            <a:r>
              <a:rPr lang="en-US" sz="1400" dirty="0"/>
              <a:t> requirements.txt</a:t>
            </a:r>
          </a:p>
          <a:p>
            <a:pPr marL="342900" indent="-342900" algn="just">
              <a:buFont typeface="+mj-lt"/>
              <a:buAutoNum type="arabicPeriod"/>
            </a:pPr>
            <a:r>
              <a:rPr lang="en-US" sz="1400" dirty="0" err="1"/>
              <a:t>Jalankan</a:t>
            </a:r>
            <a:r>
              <a:rPr lang="en-US" sz="1400" dirty="0"/>
              <a:t> </a:t>
            </a:r>
            <a:r>
              <a:rPr lang="en-US" sz="1400" dirty="0" err="1"/>
              <a:t>perintah</a:t>
            </a:r>
            <a:r>
              <a:rPr lang="en-US" sz="1400" dirty="0"/>
              <a:t> pip3 freeze. </a:t>
            </a:r>
            <a:r>
              <a:rPr lang="en-US" sz="1400" dirty="0" err="1"/>
              <a:t>Fungsinya</a:t>
            </a:r>
            <a:r>
              <a:rPr lang="en-US" sz="1400" dirty="0"/>
              <a:t> </a:t>
            </a:r>
            <a:r>
              <a:rPr lang="en-US" sz="1400" dirty="0" err="1"/>
              <a:t>disini</a:t>
            </a:r>
            <a:r>
              <a:rPr lang="en-US" sz="1400" dirty="0"/>
              <a:t> </a:t>
            </a:r>
            <a:r>
              <a:rPr lang="en-US" sz="1400" dirty="0" err="1"/>
              <a:t>untuk</a:t>
            </a:r>
            <a:r>
              <a:rPr lang="en-US" sz="1400" dirty="0"/>
              <a:t> </a:t>
            </a:r>
            <a:r>
              <a:rPr lang="en-US" sz="1400" dirty="0" err="1"/>
              <a:t>memasukkan</a:t>
            </a:r>
            <a:r>
              <a:rPr lang="en-US" sz="1400" dirty="0"/>
              <a:t> </a:t>
            </a:r>
            <a:r>
              <a:rPr lang="en-US" sz="1400" dirty="0" err="1"/>
              <a:t>semua</a:t>
            </a:r>
            <a:r>
              <a:rPr lang="en-US" sz="1400" dirty="0"/>
              <a:t> requirements dependencies yang </a:t>
            </a:r>
            <a:r>
              <a:rPr lang="en-US" sz="1400" dirty="0" err="1"/>
              <a:t>perlu</a:t>
            </a:r>
            <a:r>
              <a:rPr lang="en-US" sz="1400" dirty="0"/>
              <a:t> di </a:t>
            </a:r>
            <a:r>
              <a:rPr lang="en-US" sz="1400" dirty="0" err="1"/>
              <a:t>instal</a:t>
            </a:r>
            <a:r>
              <a:rPr lang="en-US" sz="1400" dirty="0"/>
              <a:t> </a:t>
            </a:r>
            <a:r>
              <a:rPr lang="en-US" sz="1400" dirty="0" err="1"/>
              <a:t>untuk</a:t>
            </a:r>
            <a:r>
              <a:rPr lang="en-US" sz="1400" dirty="0"/>
              <a:t> </a:t>
            </a:r>
            <a:r>
              <a:rPr lang="en-US" sz="1400" dirty="0" err="1"/>
              <a:t>menjalankan</a:t>
            </a:r>
            <a:r>
              <a:rPr lang="en-US" sz="1400" dirty="0"/>
              <a:t> simple app yang </a:t>
            </a:r>
            <a:r>
              <a:rPr lang="en-US" sz="1400" dirty="0" err="1"/>
              <a:t>kita</a:t>
            </a:r>
            <a:r>
              <a:rPr lang="en-US" sz="1400" dirty="0"/>
              <a:t> </a:t>
            </a:r>
            <a:r>
              <a:rPr lang="en-US" sz="1400" dirty="0" err="1"/>
              <a:t>buat</a:t>
            </a:r>
            <a:r>
              <a:rPr lang="en-US" sz="1400" dirty="0"/>
              <a:t> (</a:t>
            </a:r>
            <a:r>
              <a:rPr lang="en-US" sz="1400" dirty="0" err="1"/>
              <a:t>Fungsi</a:t>
            </a:r>
            <a:r>
              <a:rPr lang="en-US" sz="1400" dirty="0"/>
              <a:t> file </a:t>
            </a:r>
            <a:r>
              <a:rPr lang="en-US" sz="1400" dirty="0" err="1"/>
              <a:t>ini</a:t>
            </a:r>
            <a:r>
              <a:rPr lang="en-US" sz="1400" dirty="0"/>
              <a:t> </a:t>
            </a:r>
            <a:r>
              <a:rPr lang="en-US" sz="1400" dirty="0" err="1"/>
              <a:t>sama</a:t>
            </a:r>
            <a:r>
              <a:rPr lang="en-US" sz="1400" dirty="0"/>
              <a:t> </a:t>
            </a:r>
            <a:r>
              <a:rPr lang="en-US" sz="1400" dirty="0" err="1"/>
              <a:t>seperti</a:t>
            </a:r>
            <a:r>
              <a:rPr lang="en-US" sz="1400" dirty="0"/>
              <a:t> file </a:t>
            </a:r>
            <a:r>
              <a:rPr lang="en-US" sz="1400" dirty="0" err="1"/>
              <a:t>package.json</a:t>
            </a:r>
            <a:r>
              <a:rPr lang="en-US" sz="1400" dirty="0"/>
              <a:t> </a:t>
            </a:r>
            <a:r>
              <a:rPr lang="en-US" sz="1400" dirty="0" err="1"/>
              <a:t>pada</a:t>
            </a:r>
            <a:r>
              <a:rPr lang="en-US" sz="1400" dirty="0"/>
              <a:t> </a:t>
            </a:r>
            <a:r>
              <a:rPr lang="en-US" sz="1400" dirty="0" err="1"/>
              <a:t>NodeJS</a:t>
            </a:r>
            <a:r>
              <a:rPr lang="en-US" sz="1400" dirty="0"/>
              <a:t>). File </a:t>
            </a:r>
            <a:r>
              <a:rPr lang="en-US" sz="1400" dirty="0" err="1"/>
              <a:t>ini</a:t>
            </a:r>
            <a:r>
              <a:rPr lang="en-US" sz="1400" dirty="0"/>
              <a:t> </a:t>
            </a:r>
            <a:r>
              <a:rPr lang="en-US" sz="1400" dirty="0" err="1"/>
              <a:t>nanti</a:t>
            </a:r>
            <a:r>
              <a:rPr lang="en-US" sz="1400" dirty="0"/>
              <a:t> </a:t>
            </a:r>
            <a:r>
              <a:rPr lang="en-US" sz="1400" dirty="0" err="1"/>
              <a:t>berguna</a:t>
            </a:r>
            <a:r>
              <a:rPr lang="en-US" sz="1400" dirty="0"/>
              <a:t> </a:t>
            </a:r>
            <a:r>
              <a:rPr lang="en-US" sz="1400" dirty="0" err="1"/>
              <a:t>saat</a:t>
            </a:r>
            <a:r>
              <a:rPr lang="en-US" sz="1400" dirty="0"/>
              <a:t> </a:t>
            </a:r>
            <a:r>
              <a:rPr lang="en-US" sz="1400" dirty="0" err="1"/>
              <a:t>kita</a:t>
            </a:r>
            <a:r>
              <a:rPr lang="en-US" sz="1400" dirty="0"/>
              <a:t> </a:t>
            </a:r>
            <a:r>
              <a:rPr lang="en-US" sz="1400" dirty="0" err="1"/>
              <a:t>mendeploy</a:t>
            </a:r>
            <a:r>
              <a:rPr lang="en-US" sz="1400" dirty="0"/>
              <a:t> simple app yang </a:t>
            </a:r>
            <a:r>
              <a:rPr lang="en-US" sz="1400" dirty="0" err="1"/>
              <a:t>kita</a:t>
            </a:r>
            <a:r>
              <a:rPr lang="en-US" sz="1400" dirty="0"/>
              <a:t> </a:t>
            </a:r>
            <a:r>
              <a:rPr lang="en-US" sz="1400" dirty="0" err="1"/>
              <a:t>buat</a:t>
            </a:r>
            <a:r>
              <a:rPr lang="en-US" sz="1400" dirty="0"/>
              <a:t> </a:t>
            </a:r>
            <a:r>
              <a:rPr lang="en-US" sz="1400" dirty="0" err="1"/>
              <a:t>pada</a:t>
            </a:r>
            <a:r>
              <a:rPr lang="en-US" sz="1400" dirty="0"/>
              <a:t> container.#pip3 freeze &gt; requirements.txt</a:t>
            </a:r>
          </a:p>
          <a:p>
            <a:pPr marL="342900" indent="-342900" algn="just">
              <a:buFont typeface="+mj-lt"/>
              <a:buAutoNum type="arabicPeriod"/>
            </a:pPr>
            <a:r>
              <a:rPr lang="en-US" sz="1400" dirty="0" err="1"/>
              <a:t>Keluar</a:t>
            </a:r>
            <a:r>
              <a:rPr lang="en-US" sz="1400" dirty="0"/>
              <a:t> </a:t>
            </a:r>
            <a:r>
              <a:rPr lang="en-US" sz="1400" dirty="0" err="1"/>
              <a:t>dari</a:t>
            </a:r>
            <a:r>
              <a:rPr lang="en-US" sz="1400" dirty="0"/>
              <a:t> virtual environment </a:t>
            </a:r>
            <a:r>
              <a:rPr lang="en-US" sz="1400" dirty="0" err="1"/>
              <a:t>dengan</a:t>
            </a:r>
            <a:r>
              <a:rPr lang="en-US" sz="1400" dirty="0"/>
              <a:t> </a:t>
            </a:r>
            <a:r>
              <a:rPr lang="en-US" sz="1400" dirty="0" err="1"/>
              <a:t>menggunakan</a:t>
            </a:r>
            <a:r>
              <a:rPr lang="en-US" sz="1400" dirty="0"/>
              <a:t> </a:t>
            </a:r>
            <a:r>
              <a:rPr lang="en-US" sz="1400" dirty="0" err="1"/>
              <a:t>perintah</a:t>
            </a:r>
            <a:r>
              <a:rPr lang="en-US" sz="1400" dirty="0"/>
              <a:t> </a:t>
            </a:r>
            <a:r>
              <a:rPr lang="en-US" sz="1400" dirty="0" err="1"/>
              <a:t>dibawah</a:t>
            </a:r>
            <a:r>
              <a:rPr lang="en-US" sz="1400" dirty="0"/>
              <a:t>.#deactivate</a:t>
            </a:r>
          </a:p>
          <a:p>
            <a:pPr marL="342900" indent="-342900" algn="just">
              <a:buFont typeface="+mj-lt"/>
              <a:buAutoNum type="arabicPeriod"/>
            </a:pPr>
            <a:r>
              <a:rPr lang="en-US" sz="1400" dirty="0" err="1"/>
              <a:t>Sekarang</a:t>
            </a:r>
            <a:r>
              <a:rPr lang="en-US" sz="1400" dirty="0"/>
              <a:t> </a:t>
            </a:r>
            <a:r>
              <a:rPr lang="en-US" sz="1400" dirty="0" err="1"/>
              <a:t>kita</a:t>
            </a:r>
            <a:r>
              <a:rPr lang="en-US" sz="1400" dirty="0"/>
              <a:t> </a:t>
            </a:r>
            <a:r>
              <a:rPr lang="en-US" sz="1400" dirty="0" err="1"/>
              <a:t>akan</a:t>
            </a:r>
            <a:r>
              <a:rPr lang="en-US" sz="1400" dirty="0"/>
              <a:t> </a:t>
            </a:r>
            <a:r>
              <a:rPr lang="en-US" sz="1400" dirty="0" err="1"/>
              <a:t>membuat</a:t>
            </a:r>
            <a:r>
              <a:rPr lang="en-US" sz="1400" dirty="0"/>
              <a:t> </a:t>
            </a:r>
            <a:r>
              <a:rPr lang="en-US" sz="1400" dirty="0" err="1"/>
              <a:t>Dockerfile</a:t>
            </a:r>
            <a:r>
              <a:rPr lang="en-US" sz="1400" dirty="0"/>
              <a:t>. </a:t>
            </a:r>
            <a:r>
              <a:rPr lang="en-US" sz="1400" dirty="0" err="1"/>
              <a:t>Dockerfile</a:t>
            </a:r>
            <a:r>
              <a:rPr lang="en-US" sz="1400" dirty="0"/>
              <a:t> </a:t>
            </a:r>
            <a:r>
              <a:rPr lang="en-US" sz="1400" dirty="0" err="1"/>
              <a:t>ini</a:t>
            </a:r>
            <a:r>
              <a:rPr lang="en-US" sz="1400" dirty="0"/>
              <a:t> </a:t>
            </a:r>
            <a:r>
              <a:rPr lang="en-US" sz="1400" dirty="0" err="1"/>
              <a:t>digunakan</a:t>
            </a:r>
            <a:r>
              <a:rPr lang="en-US" sz="1400" dirty="0"/>
              <a:t> </a:t>
            </a:r>
            <a:r>
              <a:rPr lang="en-US" sz="1400" dirty="0" err="1"/>
              <a:t>untuk</a:t>
            </a:r>
            <a:r>
              <a:rPr lang="en-US" sz="1400" dirty="0"/>
              <a:t> </a:t>
            </a:r>
            <a:r>
              <a:rPr lang="en-US" sz="1400" dirty="0" err="1"/>
              <a:t>membuat</a:t>
            </a:r>
            <a:r>
              <a:rPr lang="en-US" sz="1400" dirty="0"/>
              <a:t> image </a:t>
            </a:r>
            <a:r>
              <a:rPr lang="en-US" sz="1400" dirty="0" err="1"/>
              <a:t>sesuai</a:t>
            </a:r>
            <a:r>
              <a:rPr lang="en-US" sz="1400" dirty="0"/>
              <a:t> </a:t>
            </a:r>
            <a:r>
              <a:rPr lang="en-US" sz="1400" dirty="0" err="1"/>
              <a:t>dengan</a:t>
            </a:r>
            <a:r>
              <a:rPr lang="en-US" sz="1400" dirty="0"/>
              <a:t> </a:t>
            </a:r>
            <a:r>
              <a:rPr lang="en-US" sz="1400" dirty="0" err="1"/>
              <a:t>kebutuhan</a:t>
            </a:r>
            <a:r>
              <a:rPr lang="en-US" sz="1400" dirty="0"/>
              <a:t> yang </a:t>
            </a:r>
            <a:r>
              <a:rPr lang="en-US" sz="1400" dirty="0" err="1"/>
              <a:t>kita</a:t>
            </a:r>
            <a:r>
              <a:rPr lang="en-US" sz="1400" dirty="0"/>
              <a:t> </a:t>
            </a:r>
            <a:r>
              <a:rPr lang="en-US" sz="1400" dirty="0" err="1"/>
              <a:t>perlukan</a:t>
            </a:r>
            <a:r>
              <a:rPr lang="en-US" sz="1400" dirty="0"/>
              <a:t>. </a:t>
            </a:r>
            <a:r>
              <a:rPr lang="en-US" sz="1400" dirty="0" err="1"/>
              <a:t>Umumnya</a:t>
            </a:r>
            <a:r>
              <a:rPr lang="en-US" sz="1400" dirty="0"/>
              <a:t> </a:t>
            </a:r>
            <a:r>
              <a:rPr lang="en-US" sz="1400" dirty="0" err="1"/>
              <a:t>isi</a:t>
            </a:r>
            <a:r>
              <a:rPr lang="en-US" sz="1400" dirty="0"/>
              <a:t> </a:t>
            </a:r>
            <a:r>
              <a:rPr lang="en-US" sz="1400" dirty="0" err="1"/>
              <a:t>pada</a:t>
            </a:r>
            <a:r>
              <a:rPr lang="en-US" sz="1400" dirty="0"/>
              <a:t> </a:t>
            </a:r>
            <a:r>
              <a:rPr lang="en-US" sz="1400" dirty="0" err="1"/>
              <a:t>dockerfile</a:t>
            </a:r>
            <a:r>
              <a:rPr lang="en-US" sz="1400" dirty="0"/>
              <a:t> </a:t>
            </a:r>
            <a:r>
              <a:rPr lang="en-US" sz="1400" dirty="0" err="1"/>
              <a:t>merupakan</a:t>
            </a:r>
            <a:r>
              <a:rPr lang="en-US" sz="1400" dirty="0"/>
              <a:t> </a:t>
            </a:r>
            <a:r>
              <a:rPr lang="en-US" sz="1400" dirty="0" err="1"/>
              <a:t>langkah-langkah</a:t>
            </a:r>
            <a:r>
              <a:rPr lang="en-US" sz="1400" dirty="0"/>
              <a:t> yang </a:t>
            </a:r>
            <a:r>
              <a:rPr lang="en-US" sz="1400" dirty="0" err="1"/>
              <a:t>kita</a:t>
            </a:r>
            <a:r>
              <a:rPr lang="en-US" sz="1400" dirty="0"/>
              <a:t> </a:t>
            </a:r>
            <a:r>
              <a:rPr lang="en-US" sz="1400" dirty="0" err="1"/>
              <a:t>gunakan</a:t>
            </a:r>
            <a:r>
              <a:rPr lang="en-US" sz="1400" dirty="0"/>
              <a:t> </a:t>
            </a:r>
            <a:r>
              <a:rPr lang="en-US" sz="1400" dirty="0" err="1"/>
              <a:t>saat</a:t>
            </a:r>
            <a:r>
              <a:rPr lang="en-US" sz="1400" dirty="0"/>
              <a:t> </a:t>
            </a:r>
            <a:r>
              <a:rPr lang="en-US" sz="1400" dirty="0" err="1"/>
              <a:t>mencoba</a:t>
            </a:r>
            <a:r>
              <a:rPr lang="en-US" sz="1400" dirty="0"/>
              <a:t> deploy simple app flask </a:t>
            </a:r>
            <a:r>
              <a:rPr lang="en-US" sz="1400" dirty="0" err="1"/>
              <a:t>kita</a:t>
            </a:r>
            <a:r>
              <a:rPr lang="en-US" sz="1400" dirty="0"/>
              <a:t>. </a:t>
            </a:r>
            <a:r>
              <a:rPr lang="en-US" sz="1400" dirty="0" err="1"/>
              <a:t>Jika</a:t>
            </a:r>
            <a:r>
              <a:rPr lang="en-US" sz="1400" dirty="0"/>
              <a:t> kalian </a:t>
            </a:r>
            <a:r>
              <a:rPr lang="en-US" sz="1400" dirty="0" err="1"/>
              <a:t>perhatikan</a:t>
            </a:r>
            <a:r>
              <a:rPr lang="en-US" sz="1400" dirty="0"/>
              <a:t> </a:t>
            </a:r>
            <a:r>
              <a:rPr lang="en-US" sz="1400" dirty="0" err="1"/>
              <a:t>dengan</a:t>
            </a:r>
            <a:r>
              <a:rPr lang="en-US" sz="1400" dirty="0"/>
              <a:t> </a:t>
            </a:r>
            <a:r>
              <a:rPr lang="en-US" sz="1400" dirty="0" err="1"/>
              <a:t>baik</a:t>
            </a:r>
            <a:r>
              <a:rPr lang="en-US" sz="1400" dirty="0"/>
              <a:t>, </a:t>
            </a:r>
            <a:r>
              <a:rPr lang="en-US" sz="1400" dirty="0" err="1"/>
              <a:t>isi</a:t>
            </a:r>
            <a:r>
              <a:rPr lang="en-US" sz="1400" dirty="0"/>
              <a:t> </a:t>
            </a:r>
            <a:r>
              <a:rPr lang="en-US" sz="1400" dirty="0" err="1"/>
              <a:t>Dockerfile</a:t>
            </a:r>
            <a:r>
              <a:rPr lang="en-US" sz="1400" dirty="0"/>
              <a:t> </a:t>
            </a:r>
            <a:r>
              <a:rPr lang="en-US" sz="1400" dirty="0" err="1"/>
              <a:t>merupakan</a:t>
            </a:r>
            <a:r>
              <a:rPr lang="en-US" sz="1400" dirty="0"/>
              <a:t> requirement-requirement </a:t>
            </a:r>
            <a:r>
              <a:rPr lang="en-US" sz="1400" dirty="0" err="1"/>
              <a:t>saat</a:t>
            </a:r>
            <a:r>
              <a:rPr lang="en-US" sz="1400" dirty="0"/>
              <a:t> </a:t>
            </a:r>
            <a:r>
              <a:rPr lang="en-US" sz="1400" dirty="0" err="1"/>
              <a:t>kita</a:t>
            </a:r>
            <a:r>
              <a:rPr lang="en-US" sz="1400" dirty="0"/>
              <a:t> </a:t>
            </a:r>
            <a:r>
              <a:rPr lang="en-US" sz="1400" dirty="0" err="1"/>
              <a:t>mendeploy</a:t>
            </a:r>
            <a:r>
              <a:rPr lang="en-US" sz="1400" dirty="0"/>
              <a:t> simple app </a:t>
            </a:r>
            <a:r>
              <a:rPr lang="en-US" sz="1400" dirty="0" err="1"/>
              <a:t>flask.#vim</a:t>
            </a:r>
            <a:r>
              <a:rPr lang="en-US" sz="1400" dirty="0"/>
              <a:t> </a:t>
            </a:r>
            <a:r>
              <a:rPr lang="en-US" sz="1400" dirty="0" err="1"/>
              <a:t>Dockerfile</a:t>
            </a:r>
            <a:r>
              <a:rPr lang="en-US" sz="1400" dirty="0"/>
              <a:t> ------Isi Docker File----- FROM python:3.8-slim EXPOSE 80 RUN </a:t>
            </a:r>
            <a:r>
              <a:rPr lang="en-US" sz="1400" dirty="0" err="1"/>
              <a:t>mkdir</a:t>
            </a:r>
            <a:r>
              <a:rPr lang="en-US" sz="1400" dirty="0"/>
              <a:t> -p /flask/sample-app WORKDIR /flask/sample-app COPY requirements.txt . COPY main.py . COPY templates/index.html templates/index.html RUN pip3 install -r requirements.txt CMD ["python3", "main.py"]</a:t>
            </a:r>
            <a:r>
              <a:rPr lang="en-US" sz="1400" dirty="0" err="1"/>
              <a:t>Penjelasan</a:t>
            </a:r>
            <a:r>
              <a:rPr lang="en-US" sz="1400" dirty="0"/>
              <a:t> </a:t>
            </a:r>
            <a:r>
              <a:rPr lang="en-US" sz="1400" dirty="0" err="1"/>
              <a:t>beberapa</a:t>
            </a:r>
            <a:r>
              <a:rPr lang="en-US" sz="1400" dirty="0"/>
              <a:t> </a:t>
            </a:r>
            <a:r>
              <a:rPr lang="en-US" sz="1400" dirty="0" err="1"/>
              <a:t>perintah</a:t>
            </a:r>
            <a:r>
              <a:rPr lang="en-US" sz="1400" dirty="0"/>
              <a:t> </a:t>
            </a:r>
            <a:r>
              <a:rPr lang="en-US" sz="1400" dirty="0" err="1"/>
              <a:t>pada</a:t>
            </a:r>
            <a:r>
              <a:rPr lang="en-US" sz="1400" dirty="0"/>
              <a:t> </a:t>
            </a:r>
            <a:r>
              <a:rPr lang="en-US" sz="1400" dirty="0" err="1"/>
              <a:t>Dockerfile</a:t>
            </a:r>
            <a:r>
              <a:rPr lang="en-US" sz="1400" dirty="0" smtClean="0"/>
              <a:t>:</a:t>
            </a:r>
            <a:endParaRPr lang="en-US" sz="1400" dirty="0"/>
          </a:p>
        </p:txBody>
      </p:sp>
      <p:sp>
        <p:nvSpPr>
          <p:cNvPr id="12" name="Rectangle 11"/>
          <p:cNvSpPr/>
          <p:nvPr/>
        </p:nvSpPr>
        <p:spPr>
          <a:xfrm>
            <a:off x="5924550" y="296309"/>
            <a:ext cx="6046952" cy="5693866"/>
          </a:xfrm>
          <a:prstGeom prst="rect">
            <a:avLst/>
          </a:prstGeom>
        </p:spPr>
        <p:txBody>
          <a:bodyPr wrap="square">
            <a:spAutoFit/>
          </a:bodyPr>
          <a:lstStyle/>
          <a:p>
            <a:pPr marL="285750" indent="-285750" algn="just">
              <a:buFont typeface="Wingdings" panose="05000000000000000000" pitchFamily="2" charset="2"/>
              <a:buChar char="ü"/>
            </a:pPr>
            <a:r>
              <a:rPr lang="en-US" sz="1400" dirty="0" smtClean="0"/>
              <a:t>FROM </a:t>
            </a:r>
            <a:r>
              <a:rPr lang="en-US" sz="1400" dirty="0"/>
              <a:t>python:3.8-slimMengambil </a:t>
            </a:r>
            <a:r>
              <a:rPr lang="en-US" sz="1400" dirty="0" err="1"/>
              <a:t>atau</a:t>
            </a:r>
            <a:r>
              <a:rPr lang="en-US" sz="1400" dirty="0"/>
              <a:t> </a:t>
            </a:r>
            <a:r>
              <a:rPr lang="en-US" sz="1400" dirty="0" err="1"/>
              <a:t>mengepull</a:t>
            </a:r>
            <a:r>
              <a:rPr lang="en-US" sz="1400" dirty="0"/>
              <a:t> image python:3.8-slim </a:t>
            </a:r>
            <a:r>
              <a:rPr lang="en-US" sz="1400" dirty="0" err="1"/>
              <a:t>dari</a:t>
            </a:r>
            <a:r>
              <a:rPr lang="en-US" sz="1400" dirty="0"/>
              <a:t> </a:t>
            </a:r>
            <a:r>
              <a:rPr lang="en-US" sz="1400" dirty="0" err="1"/>
              <a:t>docker</a:t>
            </a:r>
            <a:r>
              <a:rPr lang="en-US" sz="1400" dirty="0"/>
              <a:t> hub</a:t>
            </a:r>
          </a:p>
          <a:p>
            <a:pPr marL="285750" indent="-285750" algn="just">
              <a:buFont typeface="Wingdings" panose="05000000000000000000" pitchFamily="2" charset="2"/>
              <a:buChar char="ü"/>
            </a:pPr>
            <a:r>
              <a:rPr lang="en-US" sz="1400" dirty="0"/>
              <a:t>EXPOSE 80Untuk </a:t>
            </a:r>
            <a:r>
              <a:rPr lang="en-US" sz="1400" dirty="0" err="1"/>
              <a:t>mendefinisikan</a:t>
            </a:r>
            <a:r>
              <a:rPr lang="en-US" sz="1400" dirty="0"/>
              <a:t> port </a:t>
            </a:r>
            <a:r>
              <a:rPr lang="en-US" sz="1400" dirty="0" err="1"/>
              <a:t>untuk</a:t>
            </a:r>
            <a:r>
              <a:rPr lang="en-US" sz="1400" dirty="0"/>
              <a:t> container </a:t>
            </a:r>
            <a:r>
              <a:rPr lang="en-US" sz="1400" dirty="0" err="1"/>
              <a:t>saat</a:t>
            </a:r>
            <a:r>
              <a:rPr lang="en-US" sz="1400" dirty="0"/>
              <a:t> </a:t>
            </a:r>
            <a:r>
              <a:rPr lang="en-US" sz="1400" dirty="0" err="1"/>
              <a:t>diaktifkan</a:t>
            </a:r>
            <a:endParaRPr lang="en-US" sz="1400" dirty="0"/>
          </a:p>
          <a:p>
            <a:pPr marL="285750" indent="-285750" algn="just">
              <a:buFont typeface="Wingdings" panose="05000000000000000000" pitchFamily="2" charset="2"/>
              <a:buChar char="ü"/>
            </a:pPr>
            <a:r>
              <a:rPr lang="en-US" sz="1400" dirty="0"/>
              <a:t>RUN </a:t>
            </a:r>
            <a:r>
              <a:rPr lang="en-US" sz="1400" dirty="0" err="1"/>
              <a:t>mkdir</a:t>
            </a:r>
            <a:r>
              <a:rPr lang="en-US" sz="1400" dirty="0"/>
              <a:t> -p /flask/sample-</a:t>
            </a:r>
            <a:r>
              <a:rPr lang="en-US" sz="1400" dirty="0" err="1"/>
              <a:t>appDigunakan</a:t>
            </a:r>
            <a:r>
              <a:rPr lang="en-US" sz="1400" dirty="0"/>
              <a:t> </a:t>
            </a:r>
            <a:r>
              <a:rPr lang="en-US" sz="1400" dirty="0" err="1"/>
              <a:t>untuk</a:t>
            </a:r>
            <a:r>
              <a:rPr lang="en-US" sz="1400" dirty="0"/>
              <a:t> </a:t>
            </a:r>
            <a:r>
              <a:rPr lang="en-US" sz="1400" dirty="0" err="1"/>
              <a:t>mengeksekusi</a:t>
            </a:r>
            <a:r>
              <a:rPr lang="en-US" sz="1400" dirty="0"/>
              <a:t> </a:t>
            </a:r>
            <a:r>
              <a:rPr lang="en-US" sz="1400" dirty="0" err="1"/>
              <a:t>perintah</a:t>
            </a:r>
            <a:r>
              <a:rPr lang="en-US" sz="1400" dirty="0"/>
              <a:t> </a:t>
            </a:r>
            <a:r>
              <a:rPr lang="en-US" sz="1400" dirty="0" err="1"/>
              <a:t>mkdir</a:t>
            </a:r>
            <a:r>
              <a:rPr lang="en-US" sz="1400" dirty="0"/>
              <a:t>… </a:t>
            </a:r>
            <a:r>
              <a:rPr lang="en-US" sz="1400" dirty="0" err="1"/>
              <a:t>pada</a:t>
            </a:r>
            <a:r>
              <a:rPr lang="en-US" sz="1400" dirty="0"/>
              <a:t> </a:t>
            </a:r>
            <a:r>
              <a:rPr lang="en-US" sz="1400" dirty="0" err="1"/>
              <a:t>saat</a:t>
            </a:r>
            <a:r>
              <a:rPr lang="en-US" sz="1400" dirty="0"/>
              <a:t> </a:t>
            </a:r>
            <a:r>
              <a:rPr lang="en-US" sz="1400" dirty="0" err="1"/>
              <a:t>pembuatan</a:t>
            </a:r>
            <a:r>
              <a:rPr lang="en-US" sz="1400" dirty="0"/>
              <a:t> image.</a:t>
            </a:r>
          </a:p>
          <a:p>
            <a:pPr marL="285750" indent="-285750" algn="just">
              <a:buFont typeface="Wingdings" panose="05000000000000000000" pitchFamily="2" charset="2"/>
              <a:buChar char="ü"/>
            </a:pPr>
            <a:r>
              <a:rPr lang="en-US" sz="1400" dirty="0"/>
              <a:t>WORKDIR /flask/sample-</a:t>
            </a:r>
            <a:r>
              <a:rPr lang="en-US" sz="1400" dirty="0" err="1"/>
              <a:t>appPerintah</a:t>
            </a:r>
            <a:r>
              <a:rPr lang="en-US" sz="1400" dirty="0"/>
              <a:t> </a:t>
            </a:r>
            <a:r>
              <a:rPr lang="en-US" sz="1400" dirty="0" err="1"/>
              <a:t>ini</a:t>
            </a:r>
            <a:r>
              <a:rPr lang="en-US" sz="1400" dirty="0"/>
              <a:t> </a:t>
            </a:r>
            <a:r>
              <a:rPr lang="en-US" sz="1400" dirty="0" err="1"/>
              <a:t>digunakan</a:t>
            </a:r>
            <a:r>
              <a:rPr lang="en-US" sz="1400" dirty="0"/>
              <a:t> </a:t>
            </a:r>
            <a:r>
              <a:rPr lang="en-US" sz="1400" dirty="0" err="1"/>
              <a:t>untuk</a:t>
            </a:r>
            <a:r>
              <a:rPr lang="en-US" sz="1400" dirty="0"/>
              <a:t> </a:t>
            </a:r>
            <a:r>
              <a:rPr lang="en-US" sz="1400" dirty="0" err="1"/>
              <a:t>masuk</a:t>
            </a:r>
            <a:r>
              <a:rPr lang="en-US" sz="1400" dirty="0"/>
              <a:t> </a:t>
            </a:r>
            <a:r>
              <a:rPr lang="en-US" sz="1400" dirty="0" err="1"/>
              <a:t>ke</a:t>
            </a:r>
            <a:r>
              <a:rPr lang="en-US" sz="1400" dirty="0"/>
              <a:t> Working Directory (</a:t>
            </a:r>
            <a:r>
              <a:rPr lang="en-US" sz="1400" dirty="0" err="1"/>
              <a:t>direktori</a:t>
            </a:r>
            <a:r>
              <a:rPr lang="en-US" sz="1400" dirty="0"/>
              <a:t> </a:t>
            </a:r>
            <a:r>
              <a:rPr lang="en-US" sz="1400" dirty="0" err="1"/>
              <a:t>kerj</a:t>
            </a:r>
            <a:r>
              <a:rPr lang="en-US" sz="1400" dirty="0"/>
              <a:t>)a yang </a:t>
            </a:r>
            <a:r>
              <a:rPr lang="en-US" sz="1400" dirty="0" err="1"/>
              <a:t>akan</a:t>
            </a:r>
            <a:r>
              <a:rPr lang="en-US" sz="1400" dirty="0"/>
              <a:t> </a:t>
            </a:r>
            <a:r>
              <a:rPr lang="en-US" sz="1400" dirty="0" err="1"/>
              <a:t>digunakan</a:t>
            </a:r>
            <a:r>
              <a:rPr lang="en-US" sz="1400" dirty="0"/>
              <a:t>. </a:t>
            </a:r>
            <a:r>
              <a:rPr lang="en-US" sz="1400" dirty="0" err="1"/>
              <a:t>Sama</a:t>
            </a:r>
            <a:r>
              <a:rPr lang="en-US" sz="1400" dirty="0"/>
              <a:t> </a:t>
            </a:r>
            <a:r>
              <a:rPr lang="en-US" sz="1400" dirty="0" err="1"/>
              <a:t>seperti</a:t>
            </a:r>
            <a:r>
              <a:rPr lang="en-US" sz="1400" dirty="0"/>
              <a:t> </a:t>
            </a:r>
            <a:r>
              <a:rPr lang="en-US" sz="1400" dirty="0" err="1"/>
              <a:t>saat</a:t>
            </a:r>
            <a:r>
              <a:rPr lang="en-US" sz="1400" dirty="0"/>
              <a:t> </a:t>
            </a:r>
            <a:r>
              <a:rPr lang="en-US" sz="1400" dirty="0" err="1"/>
              <a:t>kita</a:t>
            </a:r>
            <a:r>
              <a:rPr lang="en-US" sz="1400" dirty="0"/>
              <a:t> </a:t>
            </a:r>
            <a:r>
              <a:rPr lang="en-US" sz="1400" dirty="0" err="1"/>
              <a:t>menggunakan</a:t>
            </a:r>
            <a:r>
              <a:rPr lang="en-US" sz="1400" dirty="0"/>
              <a:t> </a:t>
            </a:r>
            <a:r>
              <a:rPr lang="en-US" sz="1400" dirty="0" err="1"/>
              <a:t>perintah</a:t>
            </a:r>
            <a:r>
              <a:rPr lang="en-US" sz="1400" dirty="0"/>
              <a:t> cd /flask/sample-app.</a:t>
            </a:r>
          </a:p>
          <a:p>
            <a:pPr marL="285750" indent="-285750" algn="just">
              <a:buFont typeface="Wingdings" panose="05000000000000000000" pitchFamily="2" charset="2"/>
              <a:buChar char="ü"/>
            </a:pPr>
            <a:r>
              <a:rPr lang="en-US" sz="1400" dirty="0"/>
              <a:t>COPY requirements.txt .</a:t>
            </a:r>
            <a:r>
              <a:rPr lang="en-US" sz="1400" dirty="0" err="1"/>
              <a:t>Digunakan</a:t>
            </a:r>
            <a:r>
              <a:rPr lang="en-US" sz="1400" dirty="0"/>
              <a:t> </a:t>
            </a:r>
            <a:r>
              <a:rPr lang="en-US" sz="1400" dirty="0" err="1"/>
              <a:t>untuk</a:t>
            </a:r>
            <a:r>
              <a:rPr lang="en-US" sz="1400" dirty="0"/>
              <a:t> </a:t>
            </a:r>
            <a:r>
              <a:rPr lang="en-US" sz="1400" dirty="0" err="1"/>
              <a:t>mengcopy</a:t>
            </a:r>
            <a:r>
              <a:rPr lang="en-US" sz="1400" dirty="0"/>
              <a:t> file requirements.txt yang </a:t>
            </a:r>
            <a:r>
              <a:rPr lang="en-US" sz="1400" dirty="0" err="1"/>
              <a:t>telah</a:t>
            </a:r>
            <a:r>
              <a:rPr lang="en-US" sz="1400" dirty="0"/>
              <a:t> </a:t>
            </a:r>
            <a:r>
              <a:rPr lang="en-US" sz="1400" dirty="0" err="1"/>
              <a:t>kita</a:t>
            </a:r>
            <a:r>
              <a:rPr lang="en-US" sz="1400" dirty="0"/>
              <a:t> </a:t>
            </a:r>
            <a:r>
              <a:rPr lang="en-US" sz="1400" dirty="0" err="1"/>
              <a:t>buat</a:t>
            </a:r>
            <a:r>
              <a:rPr lang="en-US" sz="1400" dirty="0"/>
              <a:t> </a:t>
            </a:r>
            <a:r>
              <a:rPr lang="en-US" sz="1400" dirty="0" err="1"/>
              <a:t>kedalam</a:t>
            </a:r>
            <a:r>
              <a:rPr lang="en-US" sz="1400" dirty="0"/>
              <a:t> Working Directory.</a:t>
            </a:r>
          </a:p>
          <a:p>
            <a:pPr marL="285750" indent="-285750" algn="just">
              <a:buFont typeface="Wingdings" panose="05000000000000000000" pitchFamily="2" charset="2"/>
              <a:buChar char="ü"/>
            </a:pPr>
            <a:r>
              <a:rPr lang="en-US" sz="1400" dirty="0"/>
              <a:t>COPY main.py .</a:t>
            </a:r>
            <a:r>
              <a:rPr lang="en-US" sz="1400" dirty="0" err="1"/>
              <a:t>Digunakan</a:t>
            </a:r>
            <a:r>
              <a:rPr lang="en-US" sz="1400" dirty="0"/>
              <a:t> </a:t>
            </a:r>
            <a:r>
              <a:rPr lang="en-US" sz="1400" dirty="0" err="1"/>
              <a:t>untuk</a:t>
            </a:r>
            <a:r>
              <a:rPr lang="en-US" sz="1400" dirty="0"/>
              <a:t> </a:t>
            </a:r>
            <a:r>
              <a:rPr lang="en-US" sz="1400" dirty="0" err="1"/>
              <a:t>mengcopy</a:t>
            </a:r>
            <a:r>
              <a:rPr lang="en-US" sz="1400" dirty="0"/>
              <a:t> file main.py yang </a:t>
            </a:r>
            <a:r>
              <a:rPr lang="en-US" sz="1400" dirty="0" err="1"/>
              <a:t>telah</a:t>
            </a:r>
            <a:r>
              <a:rPr lang="en-US" sz="1400" dirty="0"/>
              <a:t> </a:t>
            </a:r>
            <a:r>
              <a:rPr lang="en-US" sz="1400" dirty="0" err="1"/>
              <a:t>kita</a:t>
            </a:r>
            <a:r>
              <a:rPr lang="en-US" sz="1400" dirty="0"/>
              <a:t> </a:t>
            </a:r>
            <a:r>
              <a:rPr lang="en-US" sz="1400" dirty="0" err="1"/>
              <a:t>buat</a:t>
            </a:r>
            <a:r>
              <a:rPr lang="en-US" sz="1400" dirty="0"/>
              <a:t> </a:t>
            </a:r>
            <a:r>
              <a:rPr lang="en-US" sz="1400" dirty="0" err="1"/>
              <a:t>kedalam</a:t>
            </a:r>
            <a:r>
              <a:rPr lang="en-US" sz="1400" dirty="0"/>
              <a:t> Working Directory.</a:t>
            </a:r>
          </a:p>
          <a:p>
            <a:pPr marL="285750" indent="-285750" algn="just">
              <a:buFont typeface="Wingdings" panose="05000000000000000000" pitchFamily="2" charset="2"/>
              <a:buChar char="ü"/>
            </a:pPr>
            <a:r>
              <a:rPr lang="en-US" sz="1400" dirty="0"/>
              <a:t>COPY templates/index.html templates/</a:t>
            </a:r>
            <a:r>
              <a:rPr lang="en-US" sz="1400" dirty="0" err="1"/>
              <a:t>index.htmlDigunakan</a:t>
            </a:r>
            <a:r>
              <a:rPr lang="en-US" sz="1400" dirty="0"/>
              <a:t> </a:t>
            </a:r>
            <a:r>
              <a:rPr lang="en-US" sz="1400" dirty="0" err="1"/>
              <a:t>untuk</a:t>
            </a:r>
            <a:r>
              <a:rPr lang="en-US" sz="1400" dirty="0"/>
              <a:t> </a:t>
            </a:r>
            <a:r>
              <a:rPr lang="en-US" sz="1400" dirty="0" err="1"/>
              <a:t>mengcopy</a:t>
            </a:r>
            <a:r>
              <a:rPr lang="en-US" sz="1400" dirty="0"/>
              <a:t> file index.html yang </a:t>
            </a:r>
            <a:r>
              <a:rPr lang="en-US" sz="1400" dirty="0" err="1"/>
              <a:t>telah</a:t>
            </a:r>
            <a:r>
              <a:rPr lang="en-US" sz="1400" dirty="0"/>
              <a:t> </a:t>
            </a:r>
            <a:r>
              <a:rPr lang="en-US" sz="1400" dirty="0" err="1"/>
              <a:t>kita</a:t>
            </a:r>
            <a:r>
              <a:rPr lang="en-US" sz="1400" dirty="0"/>
              <a:t> </a:t>
            </a:r>
            <a:r>
              <a:rPr lang="en-US" sz="1400" dirty="0" err="1"/>
              <a:t>buat</a:t>
            </a:r>
            <a:r>
              <a:rPr lang="en-US" sz="1400" dirty="0"/>
              <a:t> </a:t>
            </a:r>
            <a:r>
              <a:rPr lang="en-US" sz="1400" dirty="0" err="1"/>
              <a:t>kedalam</a:t>
            </a:r>
            <a:r>
              <a:rPr lang="en-US" sz="1400" dirty="0"/>
              <a:t> folder templates/.</a:t>
            </a:r>
          </a:p>
          <a:p>
            <a:pPr marL="285750" indent="-285750" algn="just">
              <a:buFont typeface="Wingdings" panose="05000000000000000000" pitchFamily="2" charset="2"/>
              <a:buChar char="ü"/>
            </a:pPr>
            <a:r>
              <a:rPr lang="en-US" sz="1400" dirty="0"/>
              <a:t>RUN pip3 install -r </a:t>
            </a:r>
            <a:r>
              <a:rPr lang="en-US" sz="1400" dirty="0" err="1"/>
              <a:t>requirements.txtDigunakan</a:t>
            </a:r>
            <a:r>
              <a:rPr lang="en-US" sz="1400" dirty="0"/>
              <a:t> </a:t>
            </a:r>
            <a:r>
              <a:rPr lang="en-US" sz="1400" dirty="0" err="1"/>
              <a:t>untuk</a:t>
            </a:r>
            <a:r>
              <a:rPr lang="en-US" sz="1400" dirty="0"/>
              <a:t> </a:t>
            </a:r>
            <a:r>
              <a:rPr lang="en-US" sz="1400" dirty="0" err="1"/>
              <a:t>mengeksekusi</a:t>
            </a:r>
            <a:r>
              <a:rPr lang="en-US" sz="1400" dirty="0"/>
              <a:t> </a:t>
            </a:r>
            <a:r>
              <a:rPr lang="en-US" sz="1400" dirty="0" err="1"/>
              <a:t>perintah</a:t>
            </a:r>
            <a:r>
              <a:rPr lang="en-US" sz="1400" dirty="0"/>
              <a:t> pip3… yang </a:t>
            </a:r>
            <a:r>
              <a:rPr lang="en-US" sz="1400" dirty="0" err="1"/>
              <a:t>dimana</a:t>
            </a:r>
            <a:r>
              <a:rPr lang="en-US" sz="1400" dirty="0"/>
              <a:t> </a:t>
            </a:r>
            <a:r>
              <a:rPr lang="en-US" sz="1400" dirty="0" err="1"/>
              <a:t>menginstal</a:t>
            </a:r>
            <a:r>
              <a:rPr lang="en-US" sz="1400" dirty="0"/>
              <a:t> </a:t>
            </a:r>
            <a:r>
              <a:rPr lang="en-US" sz="1400" dirty="0" err="1"/>
              <a:t>semua</a:t>
            </a:r>
            <a:r>
              <a:rPr lang="en-US" sz="1400" dirty="0"/>
              <a:t> dependencies yang </a:t>
            </a:r>
            <a:r>
              <a:rPr lang="en-US" sz="1400" dirty="0" err="1"/>
              <a:t>ada</a:t>
            </a:r>
            <a:r>
              <a:rPr lang="en-US" sz="1400" dirty="0"/>
              <a:t> </a:t>
            </a:r>
            <a:r>
              <a:rPr lang="en-US" sz="1400" dirty="0" err="1"/>
              <a:t>pada</a:t>
            </a:r>
            <a:r>
              <a:rPr lang="en-US" sz="1400" dirty="0"/>
              <a:t> </a:t>
            </a:r>
            <a:r>
              <a:rPr lang="en-US" sz="1400" dirty="0" err="1"/>
              <a:t>isi</a:t>
            </a:r>
            <a:r>
              <a:rPr lang="en-US" sz="1400" dirty="0"/>
              <a:t> file requirements.txt.</a:t>
            </a:r>
          </a:p>
          <a:p>
            <a:pPr marL="285750" indent="-285750" algn="just">
              <a:buFont typeface="Wingdings" panose="05000000000000000000" pitchFamily="2" charset="2"/>
              <a:buChar char="ü"/>
            </a:pPr>
            <a:r>
              <a:rPr lang="en-US" sz="1400" dirty="0"/>
              <a:t>CMD [“python3”, “main.py“]</a:t>
            </a:r>
            <a:r>
              <a:rPr lang="en-US" sz="1400" dirty="0" err="1"/>
              <a:t>Digunakan</a:t>
            </a:r>
            <a:r>
              <a:rPr lang="en-US" sz="1400" dirty="0"/>
              <a:t> </a:t>
            </a:r>
            <a:r>
              <a:rPr lang="en-US" sz="1400" dirty="0" err="1"/>
              <a:t>untuk</a:t>
            </a:r>
            <a:r>
              <a:rPr lang="en-US" sz="1400" dirty="0"/>
              <a:t> </a:t>
            </a:r>
            <a:r>
              <a:rPr lang="en-US" sz="1400" dirty="0" err="1"/>
              <a:t>mengeksekusi</a:t>
            </a:r>
            <a:r>
              <a:rPr lang="en-US" sz="1400" dirty="0"/>
              <a:t> </a:t>
            </a:r>
            <a:r>
              <a:rPr lang="en-US" sz="1400" dirty="0" err="1"/>
              <a:t>perintah</a:t>
            </a:r>
            <a:r>
              <a:rPr lang="en-US" sz="1400" dirty="0"/>
              <a:t> </a:t>
            </a:r>
            <a:r>
              <a:rPr lang="en-US" sz="1400" dirty="0" err="1"/>
              <a:t>utama</a:t>
            </a:r>
            <a:r>
              <a:rPr lang="en-US" sz="1400" dirty="0"/>
              <a:t> </a:t>
            </a:r>
            <a:r>
              <a:rPr lang="en-US" sz="1400" dirty="0" err="1"/>
              <a:t>pada</a:t>
            </a:r>
            <a:r>
              <a:rPr lang="en-US" sz="1400" dirty="0"/>
              <a:t> </a:t>
            </a:r>
            <a:r>
              <a:rPr lang="en-US" sz="1400" dirty="0" err="1"/>
              <a:t>saat</a:t>
            </a:r>
            <a:r>
              <a:rPr lang="en-US" sz="1400" dirty="0"/>
              <a:t> container </a:t>
            </a:r>
            <a:r>
              <a:rPr lang="en-US" sz="1400" dirty="0" err="1"/>
              <a:t>berjalan</a:t>
            </a:r>
            <a:r>
              <a:rPr lang="en-US" sz="1400" dirty="0"/>
              <a:t>.</a:t>
            </a:r>
          </a:p>
          <a:p>
            <a:pPr marL="342900" indent="-342900" algn="just">
              <a:buFont typeface="+mj-lt"/>
              <a:buAutoNum type="arabicPeriod" startAt="5"/>
            </a:pPr>
            <a:r>
              <a:rPr lang="en-US" sz="1400" dirty="0" err="1"/>
              <a:t>Selanjutnya</a:t>
            </a:r>
            <a:r>
              <a:rPr lang="en-US" sz="1400" dirty="0"/>
              <a:t> </a:t>
            </a:r>
            <a:r>
              <a:rPr lang="en-US" sz="1400" dirty="0" err="1"/>
              <a:t>kita</a:t>
            </a:r>
            <a:r>
              <a:rPr lang="en-US" sz="1400" dirty="0"/>
              <a:t> build </a:t>
            </a:r>
            <a:r>
              <a:rPr lang="en-US" sz="1400" dirty="0" err="1"/>
              <a:t>docker</a:t>
            </a:r>
            <a:r>
              <a:rPr lang="en-US" sz="1400" dirty="0"/>
              <a:t> images </a:t>
            </a:r>
            <a:r>
              <a:rPr lang="en-US" sz="1400" dirty="0" err="1"/>
              <a:t>dengan</a:t>
            </a:r>
            <a:r>
              <a:rPr lang="en-US" sz="1400" dirty="0"/>
              <a:t> </a:t>
            </a:r>
            <a:r>
              <a:rPr lang="en-US" sz="1400" dirty="0" err="1"/>
              <a:t>perintah</a:t>
            </a:r>
            <a:r>
              <a:rPr lang="en-US" sz="1400" dirty="0"/>
              <a:t> </a:t>
            </a:r>
            <a:r>
              <a:rPr lang="en-US" sz="1400" dirty="0" err="1"/>
              <a:t>dibawah</a:t>
            </a:r>
            <a:r>
              <a:rPr lang="en-US" sz="1400" dirty="0"/>
              <a:t>.#</a:t>
            </a:r>
            <a:r>
              <a:rPr lang="en-US" sz="1400" dirty="0" err="1"/>
              <a:t>docker</a:t>
            </a:r>
            <a:r>
              <a:rPr lang="en-US" sz="1400" dirty="0"/>
              <a:t> built -t &lt;tag </a:t>
            </a:r>
            <a:r>
              <a:rPr lang="en-US" sz="1400" dirty="0" err="1"/>
              <a:t>untuk</a:t>
            </a:r>
            <a:r>
              <a:rPr lang="en-US" sz="1400" dirty="0"/>
              <a:t> </a:t>
            </a:r>
            <a:r>
              <a:rPr lang="en-US" sz="1400" dirty="0" err="1"/>
              <a:t>nama</a:t>
            </a:r>
            <a:r>
              <a:rPr lang="en-US" sz="1400" dirty="0"/>
              <a:t> images&gt; &lt;</a:t>
            </a:r>
            <a:r>
              <a:rPr lang="en-US" sz="1400" dirty="0" err="1"/>
              <a:t>direktori</a:t>
            </a:r>
            <a:r>
              <a:rPr lang="en-US" sz="1400" dirty="0"/>
              <a:t> </a:t>
            </a:r>
            <a:r>
              <a:rPr lang="en-US" sz="1400" dirty="0" err="1"/>
              <a:t>letak</a:t>
            </a:r>
            <a:r>
              <a:rPr lang="en-US" sz="1400" dirty="0"/>
              <a:t> </a:t>
            </a:r>
            <a:r>
              <a:rPr lang="en-US" sz="1400" dirty="0" err="1"/>
              <a:t>Dockerfile</a:t>
            </a:r>
            <a:r>
              <a:rPr lang="en-US" sz="1400" dirty="0"/>
              <a:t>&gt; </a:t>
            </a:r>
            <a:r>
              <a:rPr lang="en-US" sz="1400" dirty="0" err="1"/>
              <a:t>contoh</a:t>
            </a:r>
            <a:r>
              <a:rPr lang="en-US" sz="1400" dirty="0"/>
              <a:t>: #</a:t>
            </a:r>
            <a:r>
              <a:rPr lang="en-US" sz="1400" dirty="0" err="1"/>
              <a:t>docker</a:t>
            </a:r>
            <a:r>
              <a:rPr lang="en-US" sz="1400" dirty="0"/>
              <a:t> built -t </a:t>
            </a:r>
            <a:r>
              <a:rPr lang="en-US" sz="1400" dirty="0" err="1"/>
              <a:t>sampleapp</a:t>
            </a:r>
            <a:r>
              <a:rPr lang="en-US" sz="1400" dirty="0"/>
              <a:t> .</a:t>
            </a:r>
          </a:p>
          <a:p>
            <a:pPr marL="342900" indent="-342900" algn="just">
              <a:buFont typeface="+mj-lt"/>
              <a:buAutoNum type="arabicPeriod" startAt="5"/>
            </a:pPr>
            <a:r>
              <a:rPr lang="en-US" sz="1400" dirty="0" err="1"/>
              <a:t>Kemudian</a:t>
            </a:r>
            <a:r>
              <a:rPr lang="en-US" sz="1400" dirty="0"/>
              <a:t>, </a:t>
            </a:r>
            <a:r>
              <a:rPr lang="en-US" sz="1400" dirty="0" err="1"/>
              <a:t>jalankan</a:t>
            </a:r>
            <a:r>
              <a:rPr lang="en-US" sz="1400" dirty="0"/>
              <a:t> </a:t>
            </a:r>
            <a:r>
              <a:rPr lang="en-US" sz="1400" dirty="0" err="1"/>
              <a:t>docker</a:t>
            </a:r>
            <a:r>
              <a:rPr lang="en-US" sz="1400" dirty="0"/>
              <a:t> container </a:t>
            </a:r>
            <a:r>
              <a:rPr lang="en-US" sz="1400" dirty="0" err="1"/>
              <a:t>menggunakan</a:t>
            </a:r>
            <a:r>
              <a:rPr lang="en-US" sz="1400" dirty="0"/>
              <a:t> images yang </a:t>
            </a:r>
            <a:r>
              <a:rPr lang="en-US" sz="1400" dirty="0" err="1"/>
              <a:t>telah</a:t>
            </a:r>
            <a:r>
              <a:rPr lang="en-US" sz="1400" dirty="0"/>
              <a:t> </a:t>
            </a:r>
            <a:r>
              <a:rPr lang="en-US" sz="1400" dirty="0" err="1"/>
              <a:t>kita</a:t>
            </a:r>
            <a:r>
              <a:rPr lang="en-US" sz="1400" dirty="0"/>
              <a:t> </a:t>
            </a:r>
            <a:r>
              <a:rPr lang="en-US" sz="1400" dirty="0" err="1"/>
              <a:t>buat</a:t>
            </a:r>
            <a:r>
              <a:rPr lang="en-US" sz="1400" dirty="0"/>
              <a:t>. </a:t>
            </a:r>
            <a:r>
              <a:rPr lang="en-US" sz="1400" dirty="0" err="1"/>
              <a:t>Jangan</a:t>
            </a:r>
            <a:r>
              <a:rPr lang="en-US" sz="1400" dirty="0"/>
              <a:t> </a:t>
            </a:r>
            <a:r>
              <a:rPr lang="en-US" sz="1400" dirty="0" err="1"/>
              <a:t>lupa</a:t>
            </a:r>
            <a:r>
              <a:rPr lang="en-US" sz="1400" dirty="0"/>
              <a:t> </a:t>
            </a:r>
            <a:r>
              <a:rPr lang="en-US" sz="1400" dirty="0" err="1"/>
              <a:t>untuk</a:t>
            </a:r>
            <a:r>
              <a:rPr lang="en-US" sz="1400" dirty="0"/>
              <a:t> expose </a:t>
            </a:r>
            <a:r>
              <a:rPr lang="en-US" sz="1400" dirty="0" err="1"/>
              <a:t>portnya</a:t>
            </a:r>
            <a:r>
              <a:rPr lang="en-US" sz="1400" dirty="0"/>
              <a:t> </a:t>
            </a:r>
            <a:r>
              <a:rPr lang="en-US" sz="1400" dirty="0" err="1"/>
              <a:t>ke</a:t>
            </a:r>
            <a:r>
              <a:rPr lang="en-US" sz="1400" dirty="0"/>
              <a:t> 80, agar </a:t>
            </a:r>
            <a:r>
              <a:rPr lang="en-US" sz="1400" dirty="0" err="1"/>
              <a:t>nantinya</a:t>
            </a:r>
            <a:r>
              <a:rPr lang="en-US" sz="1400" dirty="0"/>
              <a:t> </a:t>
            </a:r>
            <a:r>
              <a:rPr lang="en-US" sz="1400" dirty="0" err="1"/>
              <a:t>kita</a:t>
            </a:r>
            <a:r>
              <a:rPr lang="en-US" sz="1400" dirty="0"/>
              <a:t> </a:t>
            </a:r>
            <a:r>
              <a:rPr lang="en-US" sz="1400" dirty="0" err="1"/>
              <a:t>tidak</a:t>
            </a:r>
            <a:r>
              <a:rPr lang="en-US" sz="1400" dirty="0"/>
              <a:t> </a:t>
            </a:r>
            <a:r>
              <a:rPr lang="en-US" sz="1400" dirty="0" err="1"/>
              <a:t>perlu</a:t>
            </a:r>
            <a:r>
              <a:rPr lang="en-US" sz="1400" dirty="0"/>
              <a:t> </a:t>
            </a:r>
            <a:r>
              <a:rPr lang="en-US" sz="1400" dirty="0" err="1"/>
              <a:t>lagi</a:t>
            </a:r>
            <a:r>
              <a:rPr lang="en-US" sz="1400" dirty="0"/>
              <a:t> </a:t>
            </a:r>
            <a:r>
              <a:rPr lang="en-US" sz="1400" dirty="0" err="1"/>
              <a:t>mengetikkan</a:t>
            </a:r>
            <a:r>
              <a:rPr lang="en-US" sz="1400" dirty="0"/>
              <a:t> port </a:t>
            </a:r>
            <a:r>
              <a:rPr lang="en-US" sz="1400" dirty="0" err="1"/>
              <a:t>saat</a:t>
            </a:r>
            <a:r>
              <a:rPr lang="en-US" sz="1400" dirty="0"/>
              <a:t> </a:t>
            </a:r>
            <a:r>
              <a:rPr lang="en-US" sz="1400" dirty="0" err="1"/>
              <a:t>uji</a:t>
            </a:r>
            <a:r>
              <a:rPr lang="en-US" sz="1400" dirty="0"/>
              <a:t> </a:t>
            </a:r>
            <a:r>
              <a:rPr lang="en-US" sz="1400" dirty="0" err="1"/>
              <a:t>coba</a:t>
            </a:r>
            <a:r>
              <a:rPr lang="en-US" sz="1400" dirty="0"/>
              <a:t> </a:t>
            </a:r>
            <a:r>
              <a:rPr lang="en-US" sz="1400" dirty="0" err="1"/>
              <a:t>diweb</a:t>
            </a:r>
            <a:r>
              <a:rPr lang="en-US" sz="1400" dirty="0"/>
              <a:t> browser.#</a:t>
            </a:r>
            <a:r>
              <a:rPr lang="en-US" sz="1400" dirty="0" err="1"/>
              <a:t>docker</a:t>
            </a:r>
            <a:r>
              <a:rPr lang="en-US" sz="1400" dirty="0"/>
              <a:t> run -d -p 80:8080 --name </a:t>
            </a:r>
            <a:r>
              <a:rPr lang="en-US" sz="1400" dirty="0" err="1"/>
              <a:t>sampleapp</a:t>
            </a:r>
            <a:r>
              <a:rPr lang="en-US" sz="1400" dirty="0"/>
              <a:t>-flask </a:t>
            </a:r>
            <a:r>
              <a:rPr lang="en-US" sz="1400" dirty="0" err="1"/>
              <a:t>sampleapp</a:t>
            </a:r>
            <a:endParaRPr lang="en-US" sz="1400" dirty="0"/>
          </a:p>
        </p:txBody>
      </p:sp>
    </p:spTree>
    <p:extLst>
      <p:ext uri="{BB962C8B-B14F-4D97-AF65-F5344CB8AC3E}">
        <p14:creationId xmlns:p14="http://schemas.microsoft.com/office/powerpoint/2010/main" val="249261761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9" name="Rectangle 8"/>
          <p:cNvSpPr/>
          <p:nvPr/>
        </p:nvSpPr>
        <p:spPr>
          <a:xfrm>
            <a:off x="132095" y="1534845"/>
            <a:ext cx="5838497" cy="4031873"/>
          </a:xfrm>
          <a:prstGeom prst="rect">
            <a:avLst/>
          </a:prstGeom>
        </p:spPr>
        <p:txBody>
          <a:bodyPr wrap="square">
            <a:spAutoFit/>
          </a:bodyPr>
          <a:lstStyle/>
          <a:p>
            <a:pPr fontAlgn="base"/>
            <a:r>
              <a:rPr lang="en-US" b="1" dirty="0" err="1" smtClean="0">
                <a:solidFill>
                  <a:srgbClr val="002060"/>
                </a:solidFill>
              </a:rPr>
              <a:t>Pengujian</a:t>
            </a:r>
            <a:endParaRPr lang="en-US" b="1" dirty="0" smtClean="0">
              <a:solidFill>
                <a:srgbClr val="002060"/>
              </a:solidFill>
            </a:endParaRPr>
          </a:p>
          <a:p>
            <a:pPr marL="342900" indent="-342900" fontAlgn="base">
              <a:buFont typeface="+mj-lt"/>
              <a:buAutoNum type="arabicPeriod"/>
            </a:pPr>
            <a:endParaRPr lang="en-US" sz="1400" b="1" dirty="0">
              <a:solidFill>
                <a:srgbClr val="002060"/>
              </a:solidFill>
            </a:endParaRPr>
          </a:p>
          <a:p>
            <a:pPr marL="342900" indent="-342900" algn="just">
              <a:buFont typeface="+mj-lt"/>
              <a:buAutoNum type="arabicPeriod"/>
            </a:pPr>
            <a:r>
              <a:rPr lang="en-US" sz="1400" b="1" dirty="0" err="1"/>
              <a:t>Setelah</a:t>
            </a:r>
            <a:r>
              <a:rPr lang="en-US" sz="1400" b="1" dirty="0"/>
              <a:t> container </a:t>
            </a:r>
            <a:r>
              <a:rPr lang="en-US" sz="1400" b="1" dirty="0" err="1"/>
              <a:t>dijalankan</a:t>
            </a:r>
            <a:r>
              <a:rPr lang="en-US" sz="1400" b="1" dirty="0"/>
              <a:t>, </a:t>
            </a:r>
            <a:r>
              <a:rPr lang="en-US" sz="1400" b="1" dirty="0" err="1"/>
              <a:t>kita</a:t>
            </a:r>
            <a:r>
              <a:rPr lang="en-US" sz="1400" b="1" dirty="0"/>
              <a:t> </a:t>
            </a:r>
            <a:r>
              <a:rPr lang="en-US" sz="1400" b="1" dirty="0" err="1"/>
              <a:t>lihat</a:t>
            </a:r>
            <a:r>
              <a:rPr lang="en-US" sz="1400" b="1" dirty="0"/>
              <a:t> status </a:t>
            </a:r>
            <a:r>
              <a:rPr lang="en-US" sz="1400" b="1" dirty="0" err="1"/>
              <a:t>dari</a:t>
            </a:r>
            <a:r>
              <a:rPr lang="en-US" sz="1400" b="1" dirty="0"/>
              <a:t> container </a:t>
            </a:r>
            <a:r>
              <a:rPr lang="en-US" sz="1400" b="1" dirty="0" err="1"/>
              <a:t>sudah</a:t>
            </a:r>
            <a:r>
              <a:rPr lang="en-US" sz="1400" b="1" dirty="0"/>
              <a:t> </a:t>
            </a:r>
            <a:r>
              <a:rPr lang="en-US" sz="1400" b="1" dirty="0" err="1"/>
              <a:t>benar-benar</a:t>
            </a:r>
            <a:r>
              <a:rPr lang="en-US" sz="1400" b="1" dirty="0"/>
              <a:t> </a:t>
            </a:r>
            <a:r>
              <a:rPr lang="en-US" sz="1400" b="1" dirty="0" err="1"/>
              <a:t>jalan</a:t>
            </a:r>
            <a:r>
              <a:rPr lang="en-US" sz="1400" b="1" dirty="0"/>
              <a:t> </a:t>
            </a:r>
            <a:r>
              <a:rPr lang="en-US" sz="1400" b="1" dirty="0" err="1"/>
              <a:t>atau</a:t>
            </a:r>
            <a:r>
              <a:rPr lang="en-US" sz="1400" b="1" dirty="0"/>
              <a:t> </a:t>
            </a:r>
            <a:r>
              <a:rPr lang="en-US" sz="1400" b="1" dirty="0" err="1"/>
              <a:t>belum</a:t>
            </a:r>
            <a:r>
              <a:rPr lang="en-US" sz="1400" b="1" dirty="0"/>
              <a:t>. </a:t>
            </a:r>
            <a:r>
              <a:rPr lang="en-US" sz="1400" b="1" dirty="0" err="1"/>
              <a:t>Gunakan</a:t>
            </a:r>
            <a:r>
              <a:rPr lang="en-US" sz="1400" b="1" dirty="0"/>
              <a:t> </a:t>
            </a:r>
            <a:r>
              <a:rPr lang="en-US" sz="1400" b="1" dirty="0" err="1"/>
              <a:t>perintah</a:t>
            </a:r>
            <a:r>
              <a:rPr lang="en-US" sz="1400" b="1" dirty="0"/>
              <a:t> </a:t>
            </a:r>
            <a:r>
              <a:rPr lang="en-US" sz="1400" b="1" dirty="0" err="1"/>
              <a:t>dibawah</a:t>
            </a:r>
            <a:r>
              <a:rPr lang="en-US" sz="1400" b="1" dirty="0"/>
              <a:t> </a:t>
            </a:r>
            <a:r>
              <a:rPr lang="en-US" sz="1400" b="1" dirty="0" err="1"/>
              <a:t>untuk</a:t>
            </a:r>
            <a:r>
              <a:rPr lang="en-US" sz="1400" b="1" dirty="0"/>
              <a:t> </a:t>
            </a:r>
            <a:r>
              <a:rPr lang="en-US" sz="1400" b="1" dirty="0" err="1"/>
              <a:t>melihat</a:t>
            </a:r>
            <a:r>
              <a:rPr lang="en-US" sz="1400" b="1" dirty="0"/>
              <a:t> status container.#</a:t>
            </a:r>
            <a:r>
              <a:rPr lang="en-US" sz="1400" b="1" dirty="0" err="1"/>
              <a:t>docker</a:t>
            </a:r>
            <a:r>
              <a:rPr lang="en-US" sz="1400" b="1" dirty="0"/>
              <a:t> container </a:t>
            </a:r>
            <a:r>
              <a:rPr lang="en-US" sz="1400" b="1" dirty="0" smtClean="0"/>
              <a:t>ls</a:t>
            </a:r>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marL="342900" indent="-342900" algn="just">
              <a:buFont typeface="+mj-lt"/>
              <a:buAutoNum type="arabicPeriod"/>
            </a:pPr>
            <a:endParaRPr lang="en-US" sz="1400" b="1" dirty="0" smtClean="0"/>
          </a:p>
          <a:p>
            <a:pPr marL="342900" indent="-342900" algn="just">
              <a:buFont typeface="+mj-lt"/>
              <a:buAutoNum type="arabicPeriod"/>
            </a:pPr>
            <a:endParaRPr lang="en-US" sz="1400" b="1" dirty="0"/>
          </a:p>
          <a:p>
            <a:pPr marL="342900" indent="-342900" algn="just">
              <a:buFont typeface="+mj-lt"/>
              <a:buAutoNum type="arabicPeriod"/>
            </a:pPr>
            <a:endParaRPr lang="en-US" sz="1400" b="1" dirty="0"/>
          </a:p>
          <a:p>
            <a:pPr marL="342900" indent="-342900" algn="just">
              <a:buFont typeface="+mj-lt"/>
              <a:buAutoNum type="arabicPeriod"/>
            </a:pPr>
            <a:r>
              <a:rPr lang="en-US" sz="1400" b="1" dirty="0" err="1"/>
              <a:t>Selanjutnya</a:t>
            </a:r>
            <a:r>
              <a:rPr lang="en-US" sz="1400" b="1" dirty="0"/>
              <a:t> </a:t>
            </a:r>
            <a:r>
              <a:rPr lang="en-US" sz="1400" b="1" dirty="0" err="1"/>
              <a:t>kita</a:t>
            </a:r>
            <a:r>
              <a:rPr lang="en-US" sz="1400" b="1" dirty="0"/>
              <a:t> </a:t>
            </a:r>
            <a:r>
              <a:rPr lang="en-US" sz="1400" b="1" dirty="0" err="1"/>
              <a:t>uji</a:t>
            </a:r>
            <a:r>
              <a:rPr lang="en-US" sz="1400" b="1" dirty="0"/>
              <a:t> </a:t>
            </a:r>
            <a:r>
              <a:rPr lang="en-US" sz="1400" b="1" dirty="0" err="1"/>
              <a:t>coba</a:t>
            </a:r>
            <a:r>
              <a:rPr lang="en-US" sz="1400" b="1" dirty="0"/>
              <a:t> </a:t>
            </a:r>
            <a:r>
              <a:rPr lang="en-US" sz="1400" b="1" dirty="0" err="1"/>
              <a:t>lagi</a:t>
            </a:r>
            <a:r>
              <a:rPr lang="en-US" sz="1400" b="1" dirty="0"/>
              <a:t> </a:t>
            </a:r>
            <a:r>
              <a:rPr lang="en-US" sz="1400" b="1" dirty="0" err="1"/>
              <a:t>dengan</a:t>
            </a:r>
            <a:r>
              <a:rPr lang="en-US" sz="1400" b="1" dirty="0"/>
              <a:t> </a:t>
            </a:r>
            <a:r>
              <a:rPr lang="en-US" sz="1400" b="1" dirty="0" err="1"/>
              <a:t>mengetikkan</a:t>
            </a:r>
            <a:r>
              <a:rPr lang="en-US" sz="1400" b="1" dirty="0"/>
              <a:t> </a:t>
            </a:r>
            <a:r>
              <a:rPr lang="en-US" sz="1400" b="1" dirty="0" err="1"/>
              <a:t>alamat</a:t>
            </a:r>
            <a:r>
              <a:rPr lang="en-US" sz="1400" b="1" dirty="0"/>
              <a:t> IP server. </a:t>
            </a:r>
            <a:r>
              <a:rPr lang="en-US" sz="1400" b="1" dirty="0" err="1"/>
              <a:t>Dapat</a:t>
            </a:r>
            <a:r>
              <a:rPr lang="en-US" sz="1400" b="1" dirty="0"/>
              <a:t> </a:t>
            </a:r>
            <a:r>
              <a:rPr lang="en-US" sz="1400" b="1" dirty="0" err="1"/>
              <a:t>dilihat</a:t>
            </a:r>
            <a:r>
              <a:rPr lang="en-US" sz="1400" b="1" dirty="0"/>
              <a:t> </a:t>
            </a:r>
            <a:r>
              <a:rPr lang="en-US" sz="1400" b="1" dirty="0" err="1"/>
              <a:t>pada</a:t>
            </a:r>
            <a:r>
              <a:rPr lang="en-US" sz="1400" b="1" dirty="0"/>
              <a:t> </a:t>
            </a:r>
            <a:r>
              <a:rPr lang="en-US" sz="1400" b="1" dirty="0" err="1"/>
              <a:t>hasil</a:t>
            </a:r>
            <a:r>
              <a:rPr lang="en-US" sz="1400" b="1" dirty="0"/>
              <a:t> </a:t>
            </a:r>
            <a:r>
              <a:rPr lang="en-US" sz="1400" b="1" dirty="0" err="1"/>
              <a:t>gambar</a:t>
            </a:r>
            <a:r>
              <a:rPr lang="en-US" sz="1400" b="1" dirty="0"/>
              <a:t> </a:t>
            </a:r>
            <a:r>
              <a:rPr lang="en-US" sz="1400" b="1" dirty="0" err="1"/>
              <a:t>dibawah</a:t>
            </a:r>
            <a:r>
              <a:rPr lang="en-US" sz="1400" b="1" dirty="0"/>
              <a:t>, </a:t>
            </a:r>
            <a:r>
              <a:rPr lang="en-US" sz="1400" b="1" dirty="0" err="1"/>
              <a:t>kita</a:t>
            </a:r>
            <a:r>
              <a:rPr lang="en-US" sz="1400" b="1" dirty="0"/>
              <a:t> </a:t>
            </a:r>
            <a:r>
              <a:rPr lang="en-US" sz="1400" b="1" dirty="0" err="1"/>
              <a:t>tidak</a:t>
            </a:r>
            <a:r>
              <a:rPr lang="en-US" sz="1400" b="1" dirty="0"/>
              <a:t> </a:t>
            </a:r>
            <a:r>
              <a:rPr lang="en-US" sz="1400" b="1" dirty="0" err="1"/>
              <a:t>perlu</a:t>
            </a:r>
            <a:r>
              <a:rPr lang="en-US" sz="1400" b="1" dirty="0"/>
              <a:t> </a:t>
            </a:r>
            <a:r>
              <a:rPr lang="en-US" sz="1400" b="1" dirty="0" err="1"/>
              <a:t>lagi</a:t>
            </a:r>
            <a:r>
              <a:rPr lang="en-US" sz="1400" b="1" dirty="0"/>
              <a:t> </a:t>
            </a:r>
            <a:r>
              <a:rPr lang="en-US" sz="1400" b="1" dirty="0" err="1"/>
              <a:t>mengetikkan</a:t>
            </a:r>
            <a:r>
              <a:rPr lang="en-US" sz="1400" b="1" dirty="0"/>
              <a:t> port </a:t>
            </a:r>
            <a:r>
              <a:rPr lang="en-US" sz="1400" b="1" dirty="0" err="1"/>
              <a:t>untuk</a:t>
            </a:r>
            <a:r>
              <a:rPr lang="en-US" sz="1400" b="1" dirty="0"/>
              <a:t> </a:t>
            </a:r>
            <a:r>
              <a:rPr lang="en-US" sz="1400" b="1" dirty="0" err="1"/>
              <a:t>membuka</a:t>
            </a:r>
            <a:r>
              <a:rPr lang="en-US" sz="1400" b="1" dirty="0"/>
              <a:t> simple app yang </a:t>
            </a:r>
            <a:r>
              <a:rPr lang="en-US" sz="1400" b="1" dirty="0" err="1"/>
              <a:t>kita</a:t>
            </a:r>
            <a:r>
              <a:rPr lang="en-US" sz="1400" b="1" dirty="0"/>
              <a:t> </a:t>
            </a:r>
            <a:r>
              <a:rPr lang="en-US" sz="1400" b="1" dirty="0" err="1"/>
              <a:t>buat</a:t>
            </a:r>
            <a:r>
              <a:rPr lang="en-US" sz="1400" b="1" dirty="0"/>
              <a:t>.</a:t>
            </a:r>
          </a:p>
          <a:p>
            <a:pPr marL="342900" indent="-342900" algn="just">
              <a:buFont typeface="+mj-lt"/>
              <a:buAutoNum type="arabicPeriod" startAt="3"/>
            </a:pPr>
            <a:endParaRPr lang="en-US" sz="1400" b="1" dirty="0" smtClean="0"/>
          </a:p>
          <a:p>
            <a:pPr algn="just"/>
            <a:endParaRPr lang="en-US" sz="1400" b="1" dirty="0"/>
          </a:p>
        </p:txBody>
      </p:sp>
      <p:sp>
        <p:nvSpPr>
          <p:cNvPr id="13" name="Rectangle 12"/>
          <p:cNvSpPr/>
          <p:nvPr/>
        </p:nvSpPr>
        <p:spPr>
          <a:xfrm>
            <a:off x="435158" y="2750562"/>
            <a:ext cx="5622129" cy="1384995"/>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root@panda</a:t>
            </a:r>
            <a:r>
              <a:rPr lang="en-US" sz="1400" dirty="0" smtClean="0">
                <a:solidFill>
                  <a:schemeClr val="bg1">
                    <a:lumMod val="95000"/>
                  </a:schemeClr>
                </a:solidFill>
              </a:rPr>
              <a:t>: /flash/sample-app# </a:t>
            </a:r>
            <a:r>
              <a:rPr lang="en-US" sz="1400" dirty="0" err="1" smtClean="0">
                <a:solidFill>
                  <a:schemeClr val="bg1">
                    <a:lumMod val="95000"/>
                  </a:schemeClr>
                </a:solidFill>
              </a:rPr>
              <a:t>docker</a:t>
            </a:r>
            <a:r>
              <a:rPr lang="en-US" sz="1400" dirty="0" smtClean="0">
                <a:solidFill>
                  <a:schemeClr val="bg1">
                    <a:lumMod val="95000"/>
                  </a:schemeClr>
                </a:solidFill>
              </a:rPr>
              <a:t> container ls</a:t>
            </a:r>
          </a:p>
          <a:p>
            <a:pPr algn="just"/>
            <a:r>
              <a:rPr lang="en-US" sz="1400" dirty="0">
                <a:solidFill>
                  <a:schemeClr val="bg1">
                    <a:lumMod val="95000"/>
                  </a:schemeClr>
                </a:solidFill>
              </a:rPr>
              <a:t> </a:t>
            </a:r>
            <a:r>
              <a:rPr lang="en-US" sz="1400" dirty="0" smtClean="0">
                <a:solidFill>
                  <a:schemeClr val="bg1">
                    <a:lumMod val="95000"/>
                  </a:schemeClr>
                </a:solidFill>
              </a:rPr>
              <a:t>  </a:t>
            </a:r>
          </a:p>
          <a:p>
            <a:pPr algn="just"/>
            <a:endParaRPr lang="en-US" sz="1400" b="1" dirty="0">
              <a:solidFill>
                <a:schemeClr val="bg1">
                  <a:lumMod val="95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r>
              <a:rPr lang="en-US" sz="1400" dirty="0" err="1" smtClean="0">
                <a:solidFill>
                  <a:schemeClr val="bg1">
                    <a:lumMod val="50000"/>
                  </a:schemeClr>
                </a:solidFill>
              </a:rPr>
              <a:t>root@administrator</a:t>
            </a:r>
            <a:r>
              <a:rPr lang="en-US" sz="1400" dirty="0">
                <a:solidFill>
                  <a:schemeClr val="bg1">
                    <a:lumMod val="50000"/>
                  </a:schemeClr>
                </a:solidFill>
              </a:rPr>
              <a:t>:/home/panda/GPU2#</a:t>
            </a:r>
            <a:endParaRPr lang="en-US" sz="1400" b="1" dirty="0">
              <a:solidFill>
                <a:schemeClr val="bg1">
                  <a:lumMod val="50000"/>
                </a:schemeClr>
              </a:solidFill>
            </a:endParaRPr>
          </a:p>
        </p:txBody>
      </p:sp>
      <p:pic>
        <p:nvPicPr>
          <p:cNvPr id="3" name="Picture 2"/>
          <p:cNvPicPr>
            <a:picLocks noChangeAspect="1"/>
          </p:cNvPicPr>
          <p:nvPr/>
        </p:nvPicPr>
        <p:blipFill>
          <a:blip r:embed="rId3"/>
          <a:stretch>
            <a:fillRect/>
          </a:stretch>
        </p:blipFill>
        <p:spPr>
          <a:xfrm>
            <a:off x="435158" y="3167778"/>
            <a:ext cx="5622129" cy="616855"/>
          </a:xfrm>
          <a:prstGeom prst="rect">
            <a:avLst/>
          </a:prstGeom>
        </p:spPr>
      </p:pic>
      <p:pic>
        <p:nvPicPr>
          <p:cNvPr id="5" name="Picture 4"/>
          <p:cNvPicPr>
            <a:picLocks noChangeAspect="1"/>
          </p:cNvPicPr>
          <p:nvPr/>
        </p:nvPicPr>
        <p:blipFill>
          <a:blip r:embed="rId4"/>
          <a:stretch>
            <a:fillRect/>
          </a:stretch>
        </p:blipFill>
        <p:spPr>
          <a:xfrm>
            <a:off x="435158" y="5351274"/>
            <a:ext cx="5622129" cy="1123950"/>
          </a:xfrm>
          <a:prstGeom prst="rect">
            <a:avLst/>
          </a:prstGeom>
        </p:spPr>
      </p:pic>
      <p:sp>
        <p:nvSpPr>
          <p:cNvPr id="14" name="Rectangle 13"/>
          <p:cNvSpPr/>
          <p:nvPr/>
        </p:nvSpPr>
        <p:spPr>
          <a:xfrm>
            <a:off x="6273655" y="103684"/>
            <a:ext cx="5838497" cy="3293209"/>
          </a:xfrm>
          <a:prstGeom prst="rect">
            <a:avLst/>
          </a:prstGeom>
        </p:spPr>
        <p:txBody>
          <a:bodyPr wrap="square">
            <a:spAutoFit/>
          </a:bodyPr>
          <a:lstStyle/>
          <a:p>
            <a:pPr fontAlgn="base"/>
            <a:r>
              <a:rPr lang="en-US" b="1" dirty="0" smtClean="0">
                <a:solidFill>
                  <a:srgbClr val="002060"/>
                </a:solidFill>
              </a:rPr>
              <a:t>Deploy Simple App </a:t>
            </a:r>
            <a:r>
              <a:rPr lang="en-US" b="1" dirty="0" err="1" smtClean="0">
                <a:solidFill>
                  <a:srgbClr val="002060"/>
                </a:solidFill>
              </a:rPr>
              <a:t>NodeJS</a:t>
            </a:r>
            <a:endParaRPr lang="en-US" b="1" dirty="0" smtClean="0">
              <a:solidFill>
                <a:srgbClr val="002060"/>
              </a:solidFill>
            </a:endParaRPr>
          </a:p>
          <a:p>
            <a:pPr marL="342900" indent="-342900" fontAlgn="base">
              <a:buFont typeface="+mj-lt"/>
              <a:buAutoNum type="arabicPeriod"/>
            </a:pPr>
            <a:endParaRPr lang="en-US" sz="1400" b="1" dirty="0" smtClean="0">
              <a:solidFill>
                <a:srgbClr val="002060"/>
              </a:solidFill>
            </a:endParaRPr>
          </a:p>
          <a:p>
            <a:pPr algn="just"/>
            <a:r>
              <a:rPr lang="en-US" dirty="0" err="1"/>
              <a:t>Pada</a:t>
            </a:r>
            <a:r>
              <a:rPr lang="en-US" dirty="0"/>
              <a:t> </a:t>
            </a:r>
            <a:r>
              <a:rPr lang="en-US" dirty="0" err="1"/>
              <a:t>materi</a:t>
            </a:r>
            <a:r>
              <a:rPr lang="en-US" dirty="0"/>
              <a:t> </a:t>
            </a:r>
            <a:r>
              <a:rPr lang="en-US" dirty="0" err="1"/>
              <a:t>sebelumnya</a:t>
            </a:r>
            <a:r>
              <a:rPr lang="en-US" dirty="0"/>
              <a:t> </a:t>
            </a:r>
            <a:r>
              <a:rPr lang="en-US" dirty="0" err="1"/>
              <a:t>kita</a:t>
            </a:r>
            <a:r>
              <a:rPr lang="en-US" dirty="0"/>
              <a:t> </a:t>
            </a:r>
            <a:r>
              <a:rPr lang="en-US" dirty="0" err="1"/>
              <a:t>melakukan</a:t>
            </a:r>
            <a:r>
              <a:rPr lang="en-US" dirty="0"/>
              <a:t> deploy </a:t>
            </a:r>
            <a:r>
              <a:rPr lang="en-US" dirty="0" err="1"/>
              <a:t>pada</a:t>
            </a:r>
            <a:r>
              <a:rPr lang="en-US" dirty="0"/>
              <a:t> server </a:t>
            </a:r>
            <a:r>
              <a:rPr lang="en-US" dirty="0" err="1"/>
              <a:t>kita</a:t>
            </a:r>
            <a:r>
              <a:rPr lang="en-US" dirty="0"/>
              <a:t> </a:t>
            </a:r>
            <a:r>
              <a:rPr lang="en-US" dirty="0" err="1"/>
              <a:t>menggunakan</a:t>
            </a:r>
            <a:r>
              <a:rPr lang="en-US" dirty="0"/>
              <a:t> Simple App </a:t>
            </a:r>
            <a:r>
              <a:rPr lang="en-US" dirty="0" err="1"/>
              <a:t>NodeJS</a:t>
            </a:r>
            <a:r>
              <a:rPr lang="en-US" dirty="0"/>
              <a:t>. Nah </a:t>
            </a:r>
            <a:r>
              <a:rPr lang="en-US" dirty="0" err="1"/>
              <a:t>pada</a:t>
            </a:r>
            <a:r>
              <a:rPr lang="en-US" dirty="0"/>
              <a:t> </a:t>
            </a:r>
            <a:r>
              <a:rPr lang="en-US" dirty="0" err="1"/>
              <a:t>kesempatan</a:t>
            </a:r>
            <a:r>
              <a:rPr lang="en-US" dirty="0"/>
              <a:t> </a:t>
            </a:r>
            <a:r>
              <a:rPr lang="en-US" dirty="0" err="1"/>
              <a:t>ini</a:t>
            </a:r>
            <a:r>
              <a:rPr lang="en-US" dirty="0"/>
              <a:t> </a:t>
            </a:r>
            <a:r>
              <a:rPr lang="en-US" dirty="0" err="1"/>
              <a:t>saya</a:t>
            </a:r>
            <a:r>
              <a:rPr lang="en-US" dirty="0"/>
              <a:t> </a:t>
            </a:r>
            <a:r>
              <a:rPr lang="en-US" dirty="0" err="1"/>
              <a:t>akan</a:t>
            </a:r>
            <a:r>
              <a:rPr lang="en-US" dirty="0"/>
              <a:t> </a:t>
            </a:r>
            <a:r>
              <a:rPr lang="en-US" dirty="0" err="1"/>
              <a:t>membantu</a:t>
            </a:r>
            <a:r>
              <a:rPr lang="en-US" dirty="0"/>
              <a:t> kalian </a:t>
            </a:r>
            <a:r>
              <a:rPr lang="en-US" dirty="0" err="1"/>
              <a:t>dalam</a:t>
            </a:r>
            <a:r>
              <a:rPr lang="en-US" dirty="0"/>
              <a:t> </a:t>
            </a:r>
            <a:r>
              <a:rPr lang="en-US" dirty="0" err="1"/>
              <a:t>melakukan</a:t>
            </a:r>
            <a:r>
              <a:rPr lang="en-US" dirty="0"/>
              <a:t> </a:t>
            </a:r>
            <a:r>
              <a:rPr lang="en-US" dirty="0" err="1"/>
              <a:t>konfigurasi</a:t>
            </a:r>
            <a:r>
              <a:rPr lang="en-US" dirty="0"/>
              <a:t> </a:t>
            </a:r>
            <a:r>
              <a:rPr lang="en-US" dirty="0" err="1"/>
              <a:t>sederhana</a:t>
            </a:r>
            <a:r>
              <a:rPr lang="en-US" dirty="0"/>
              <a:t> </a:t>
            </a:r>
            <a:r>
              <a:rPr lang="en-US" dirty="0" err="1"/>
              <a:t>untuk</a:t>
            </a:r>
            <a:r>
              <a:rPr lang="en-US" dirty="0"/>
              <a:t> </a:t>
            </a:r>
            <a:r>
              <a:rPr lang="en-US" dirty="0" err="1"/>
              <a:t>mendeploy</a:t>
            </a:r>
            <a:r>
              <a:rPr lang="en-US" dirty="0"/>
              <a:t> Simple App </a:t>
            </a:r>
            <a:r>
              <a:rPr lang="en-US" dirty="0" err="1"/>
              <a:t>NodeJS</a:t>
            </a:r>
            <a:r>
              <a:rPr lang="en-US" dirty="0"/>
              <a:t> </a:t>
            </a:r>
            <a:r>
              <a:rPr lang="en-US" dirty="0" err="1"/>
              <a:t>kedalam</a:t>
            </a:r>
            <a:r>
              <a:rPr lang="en-US" dirty="0"/>
              <a:t> </a:t>
            </a:r>
            <a:r>
              <a:rPr lang="en-US" dirty="0" err="1"/>
              <a:t>docker</a:t>
            </a:r>
            <a:r>
              <a:rPr lang="en-US" dirty="0"/>
              <a:t>. </a:t>
            </a:r>
            <a:r>
              <a:rPr lang="en-US" dirty="0" err="1"/>
              <a:t>Seperti</a:t>
            </a:r>
            <a:r>
              <a:rPr lang="en-US" dirty="0"/>
              <a:t> </a:t>
            </a:r>
            <a:r>
              <a:rPr lang="en-US" dirty="0" err="1"/>
              <a:t>halnya</a:t>
            </a:r>
            <a:r>
              <a:rPr lang="en-US" dirty="0"/>
              <a:t> </a:t>
            </a:r>
            <a:r>
              <a:rPr lang="en-US" dirty="0" err="1"/>
              <a:t>pada</a:t>
            </a:r>
            <a:r>
              <a:rPr lang="en-US" dirty="0"/>
              <a:t> </a:t>
            </a:r>
            <a:r>
              <a:rPr lang="en-US" dirty="0" err="1"/>
              <a:t>pembuat</a:t>
            </a:r>
            <a:r>
              <a:rPr lang="en-US" dirty="0"/>
              <a:t> simple app flask, </a:t>
            </a:r>
            <a:r>
              <a:rPr lang="en-US" dirty="0" err="1"/>
              <a:t>kita</a:t>
            </a:r>
            <a:r>
              <a:rPr lang="en-US" dirty="0"/>
              <a:t> </a:t>
            </a:r>
            <a:r>
              <a:rPr lang="en-US" dirty="0" err="1"/>
              <a:t>akan</a:t>
            </a:r>
            <a:r>
              <a:rPr lang="en-US" dirty="0"/>
              <a:t> </a:t>
            </a:r>
            <a:r>
              <a:rPr lang="en-US" dirty="0" err="1"/>
              <a:t>membuat</a:t>
            </a:r>
            <a:r>
              <a:rPr lang="en-US" dirty="0"/>
              <a:t> </a:t>
            </a:r>
            <a:r>
              <a:rPr lang="en-US" dirty="0" err="1"/>
              <a:t>Dockerfile</a:t>
            </a:r>
            <a:r>
              <a:rPr lang="en-US" dirty="0"/>
              <a:t> </a:t>
            </a:r>
            <a:r>
              <a:rPr lang="en-US" dirty="0" err="1"/>
              <a:t>terlebih</a:t>
            </a:r>
            <a:r>
              <a:rPr lang="en-US" dirty="0"/>
              <a:t> </a:t>
            </a:r>
            <a:r>
              <a:rPr lang="en-US" dirty="0" err="1"/>
              <a:t>dahulu</a:t>
            </a:r>
            <a:r>
              <a:rPr lang="en-US" dirty="0"/>
              <a:t> </a:t>
            </a:r>
            <a:r>
              <a:rPr lang="en-US" dirty="0" err="1"/>
              <a:t>lalu</a:t>
            </a:r>
            <a:r>
              <a:rPr lang="en-US" dirty="0"/>
              <a:t> </a:t>
            </a:r>
            <a:r>
              <a:rPr lang="en-US" dirty="0" err="1"/>
              <a:t>menjalankannya</a:t>
            </a:r>
            <a:r>
              <a:rPr lang="en-US" dirty="0"/>
              <a:t>. </a:t>
            </a:r>
            <a:r>
              <a:rPr lang="en-US" dirty="0" err="1"/>
              <a:t>Selain</a:t>
            </a:r>
            <a:r>
              <a:rPr lang="en-US" dirty="0"/>
              <a:t> </a:t>
            </a:r>
            <a:r>
              <a:rPr lang="en-US" dirty="0" err="1"/>
              <a:t>itu</a:t>
            </a:r>
            <a:r>
              <a:rPr lang="en-US" dirty="0"/>
              <a:t> </a:t>
            </a:r>
            <a:r>
              <a:rPr lang="en-US" dirty="0" err="1"/>
              <a:t>kita</a:t>
            </a:r>
            <a:r>
              <a:rPr lang="en-US" dirty="0"/>
              <a:t> </a:t>
            </a:r>
            <a:r>
              <a:rPr lang="en-US" dirty="0" err="1"/>
              <a:t>akan</a:t>
            </a:r>
            <a:r>
              <a:rPr lang="en-US" dirty="0"/>
              <a:t> </a:t>
            </a:r>
            <a:r>
              <a:rPr lang="en-US" dirty="0" err="1"/>
              <a:t>coba</a:t>
            </a:r>
            <a:r>
              <a:rPr lang="en-US" dirty="0"/>
              <a:t> </a:t>
            </a:r>
            <a:r>
              <a:rPr lang="en-US" dirty="0" err="1"/>
              <a:t>juga</a:t>
            </a:r>
            <a:r>
              <a:rPr lang="en-US" dirty="0"/>
              <a:t> </a:t>
            </a:r>
            <a:r>
              <a:rPr lang="en-US" dirty="0" err="1"/>
              <a:t>untuk</a:t>
            </a:r>
            <a:r>
              <a:rPr lang="en-US" dirty="0"/>
              <a:t> </a:t>
            </a:r>
            <a:r>
              <a:rPr lang="en-US" dirty="0" err="1"/>
              <a:t>membuat</a:t>
            </a:r>
            <a:r>
              <a:rPr lang="en-US" dirty="0"/>
              <a:t> Docker Compose. </a:t>
            </a:r>
            <a:r>
              <a:rPr lang="en-US" dirty="0" err="1"/>
              <a:t>Untuk</a:t>
            </a:r>
            <a:r>
              <a:rPr lang="en-US" dirty="0"/>
              <a:t> </a:t>
            </a:r>
            <a:r>
              <a:rPr lang="en-US" dirty="0" err="1"/>
              <a:t>memahami</a:t>
            </a:r>
            <a:r>
              <a:rPr lang="en-US" dirty="0"/>
              <a:t> </a:t>
            </a:r>
            <a:r>
              <a:rPr lang="en-US" dirty="0" err="1"/>
              <a:t>lebih</a:t>
            </a:r>
            <a:r>
              <a:rPr lang="en-US" dirty="0"/>
              <a:t> </a:t>
            </a:r>
            <a:r>
              <a:rPr lang="en-US" dirty="0" err="1"/>
              <a:t>lanjut</a:t>
            </a:r>
            <a:endParaRPr lang="en-US" sz="1400" b="1" dirty="0" smtClean="0"/>
          </a:p>
          <a:p>
            <a:pPr algn="just"/>
            <a:endParaRPr lang="en-US" sz="1400" b="1" dirty="0"/>
          </a:p>
        </p:txBody>
      </p:sp>
    </p:spTree>
    <p:extLst>
      <p:ext uri="{BB962C8B-B14F-4D97-AF65-F5344CB8AC3E}">
        <p14:creationId xmlns:p14="http://schemas.microsoft.com/office/powerpoint/2010/main" val="417078210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3" name="Rectangle 12"/>
          <p:cNvSpPr/>
          <p:nvPr/>
        </p:nvSpPr>
        <p:spPr>
          <a:xfrm>
            <a:off x="279400" y="1501530"/>
            <a:ext cx="5645150" cy="3877985"/>
          </a:xfrm>
          <a:prstGeom prst="rect">
            <a:avLst/>
          </a:prstGeom>
        </p:spPr>
        <p:txBody>
          <a:bodyPr wrap="square">
            <a:spAutoFit/>
          </a:bodyPr>
          <a:lstStyle/>
          <a:p>
            <a:pPr fontAlgn="base"/>
            <a:r>
              <a:rPr lang="en-US" b="1" dirty="0" err="1">
                <a:solidFill>
                  <a:srgbClr val="002060"/>
                </a:solidFill>
              </a:rPr>
              <a:t>Konfigurasi</a:t>
            </a:r>
            <a:r>
              <a:rPr lang="en-US" b="1" dirty="0">
                <a:solidFill>
                  <a:srgbClr val="002060"/>
                </a:solidFill>
              </a:rPr>
              <a:t> </a:t>
            </a:r>
            <a:r>
              <a:rPr lang="en-US" b="1" dirty="0" err="1" smtClean="0">
                <a:solidFill>
                  <a:srgbClr val="002060"/>
                </a:solidFill>
              </a:rPr>
              <a:t>Dockerfile</a:t>
            </a:r>
            <a:endParaRPr lang="en-US" b="1" dirty="0" smtClean="0">
              <a:solidFill>
                <a:srgbClr val="002060"/>
              </a:solidFill>
            </a:endParaRPr>
          </a:p>
          <a:p>
            <a:pPr marL="342900" indent="-342900" algn="just" fontAlgn="base">
              <a:buFont typeface="+mj-lt"/>
              <a:buAutoNum type="arabicPeriod"/>
            </a:pPr>
            <a:r>
              <a:rPr lang="en-US" sz="1400" b="1" dirty="0" err="1"/>
              <a:t>Masuk</a:t>
            </a:r>
            <a:r>
              <a:rPr lang="en-US" sz="1400" b="1" dirty="0"/>
              <a:t> </a:t>
            </a:r>
            <a:r>
              <a:rPr lang="en-US" sz="1400" b="1" dirty="0" err="1"/>
              <a:t>ke</a:t>
            </a:r>
            <a:r>
              <a:rPr lang="en-US" sz="1400" b="1" dirty="0"/>
              <a:t> </a:t>
            </a:r>
            <a:r>
              <a:rPr lang="en-US" sz="1400" b="1" dirty="0" err="1"/>
              <a:t>diretory</a:t>
            </a:r>
            <a:r>
              <a:rPr lang="en-US" sz="1400" b="1" dirty="0"/>
              <a:t> </a:t>
            </a:r>
            <a:r>
              <a:rPr lang="en-US" sz="1400" b="1" dirty="0" err="1"/>
              <a:t>tempat</a:t>
            </a:r>
            <a:r>
              <a:rPr lang="en-US" sz="1400" b="1" dirty="0"/>
              <a:t> kalian </a:t>
            </a:r>
            <a:r>
              <a:rPr lang="en-US" sz="1400" b="1" dirty="0" err="1"/>
              <a:t>menyimpan</a:t>
            </a:r>
            <a:r>
              <a:rPr lang="en-US" sz="1400" b="1" dirty="0"/>
              <a:t> source code </a:t>
            </a:r>
            <a:r>
              <a:rPr lang="en-US" sz="1400" b="1" dirty="0" err="1"/>
              <a:t>dari</a:t>
            </a:r>
            <a:r>
              <a:rPr lang="en-US" sz="1400" b="1" dirty="0"/>
              <a:t> simple apps. </a:t>
            </a:r>
            <a:r>
              <a:rPr lang="en-US" sz="1400" b="1" dirty="0" err="1"/>
              <a:t>Kemudian</a:t>
            </a:r>
            <a:r>
              <a:rPr lang="en-US" sz="1400" b="1" dirty="0"/>
              <a:t> </a:t>
            </a:r>
            <a:r>
              <a:rPr lang="en-US" sz="1400" b="1" dirty="0" err="1"/>
              <a:t>buatlah</a:t>
            </a:r>
            <a:r>
              <a:rPr lang="en-US" sz="1400" b="1" dirty="0"/>
              <a:t> </a:t>
            </a:r>
            <a:r>
              <a:rPr lang="en-US" sz="1400" b="1" dirty="0" err="1"/>
              <a:t>sebuah</a:t>
            </a:r>
            <a:r>
              <a:rPr lang="en-US" sz="1400" b="1" dirty="0"/>
              <a:t> file </a:t>
            </a:r>
            <a:r>
              <a:rPr lang="en-US" sz="1400" b="1" dirty="0" err="1"/>
              <a:t>baru</a:t>
            </a:r>
            <a:r>
              <a:rPr lang="en-US" sz="1400" b="1" dirty="0"/>
              <a:t> </a:t>
            </a:r>
            <a:r>
              <a:rPr lang="en-US" sz="1400" b="1" dirty="0" err="1"/>
              <a:t>dengan</a:t>
            </a:r>
            <a:r>
              <a:rPr lang="en-US" sz="1400" b="1" dirty="0"/>
              <a:t> </a:t>
            </a:r>
            <a:r>
              <a:rPr lang="en-US" sz="1400" b="1" dirty="0" err="1"/>
              <a:t>naman</a:t>
            </a:r>
            <a:r>
              <a:rPr lang="en-US" sz="1400" b="1" dirty="0"/>
              <a:t> </a:t>
            </a:r>
            <a:r>
              <a:rPr lang="en-US" sz="1400" b="1" dirty="0" err="1"/>
              <a:t>Dockerfile</a:t>
            </a:r>
            <a:r>
              <a:rPr lang="en-US" sz="1400" b="1" dirty="0"/>
              <a:t>. </a:t>
            </a:r>
            <a:r>
              <a:rPr lang="en-US" sz="1400" b="1" dirty="0" err="1"/>
              <a:t>Isikan</a:t>
            </a:r>
            <a:r>
              <a:rPr lang="en-US" sz="1400" b="1" dirty="0"/>
              <a:t> </a:t>
            </a:r>
            <a:r>
              <a:rPr lang="en-US" sz="1400" b="1" dirty="0" err="1"/>
              <a:t>Dockerfile</a:t>
            </a:r>
            <a:r>
              <a:rPr lang="en-US" sz="1400" b="1" dirty="0"/>
              <a:t> </a:t>
            </a:r>
            <a:r>
              <a:rPr lang="en-US" sz="1400" b="1" dirty="0" err="1"/>
              <a:t>dengan</a:t>
            </a:r>
            <a:r>
              <a:rPr lang="en-US" sz="1400" b="1" dirty="0"/>
              <a:t> </a:t>
            </a:r>
            <a:r>
              <a:rPr lang="en-US" sz="1400" b="1" dirty="0" err="1"/>
              <a:t>perintah</a:t>
            </a:r>
            <a:r>
              <a:rPr lang="en-US" sz="1400" b="1" dirty="0"/>
              <a:t> </a:t>
            </a:r>
            <a:r>
              <a:rPr lang="en-US" sz="1400" b="1" dirty="0" err="1"/>
              <a:t>dibawah</a:t>
            </a:r>
            <a:r>
              <a:rPr lang="en-US" sz="1400" b="1" dirty="0"/>
              <a:t>. </a:t>
            </a:r>
            <a:r>
              <a:rPr lang="en-US" sz="1400" b="1" dirty="0" err="1"/>
              <a:t>Dockerfile</a:t>
            </a:r>
            <a:r>
              <a:rPr lang="en-US" sz="1400" b="1" dirty="0"/>
              <a:t> </a:t>
            </a:r>
            <a:r>
              <a:rPr lang="en-US" sz="1400" b="1" dirty="0" err="1"/>
              <a:t>digunakan</a:t>
            </a:r>
            <a:r>
              <a:rPr lang="en-US" sz="1400" b="1" dirty="0"/>
              <a:t> </a:t>
            </a:r>
            <a:r>
              <a:rPr lang="en-US" sz="1400" b="1" dirty="0" err="1"/>
              <a:t>untuk</a:t>
            </a:r>
            <a:r>
              <a:rPr lang="en-US" sz="1400" b="1" dirty="0"/>
              <a:t> </a:t>
            </a:r>
            <a:r>
              <a:rPr lang="en-US" sz="1400" b="1" dirty="0" err="1"/>
              <a:t>membuat</a:t>
            </a:r>
            <a:r>
              <a:rPr lang="en-US" sz="1400" b="1" dirty="0"/>
              <a:t> image </a:t>
            </a:r>
            <a:r>
              <a:rPr lang="en-US" sz="1400" b="1" dirty="0" err="1"/>
              <a:t>baru</a:t>
            </a:r>
            <a:r>
              <a:rPr lang="en-US" sz="1400" b="1" dirty="0"/>
              <a:t> </a:t>
            </a:r>
            <a:r>
              <a:rPr lang="en-US" sz="1400" b="1" dirty="0" err="1"/>
              <a:t>berdasarkan</a:t>
            </a:r>
            <a:r>
              <a:rPr lang="en-US" sz="1400" b="1" dirty="0"/>
              <a:t> </a:t>
            </a:r>
            <a:r>
              <a:rPr lang="en-US" sz="1400" b="1" dirty="0" err="1"/>
              <a:t>konfigurasi</a:t>
            </a:r>
            <a:r>
              <a:rPr lang="en-US" sz="1400" b="1" dirty="0"/>
              <a:t> yang </a:t>
            </a:r>
            <a:r>
              <a:rPr lang="en-US" sz="1400" b="1" dirty="0" err="1"/>
              <a:t>diperlukan</a:t>
            </a:r>
            <a:r>
              <a:rPr lang="en-US" sz="1400" b="1" dirty="0"/>
              <a:t>. </a:t>
            </a:r>
            <a:r>
              <a:rPr lang="en-US" sz="1400" b="1" dirty="0" err="1"/>
              <a:t>Umumnya</a:t>
            </a:r>
            <a:r>
              <a:rPr lang="en-US" sz="1400" b="1" dirty="0"/>
              <a:t> </a:t>
            </a:r>
            <a:r>
              <a:rPr lang="en-US" sz="1400" b="1" dirty="0" err="1"/>
              <a:t>isi</a:t>
            </a:r>
            <a:r>
              <a:rPr lang="en-US" sz="1400" b="1" dirty="0"/>
              <a:t> </a:t>
            </a:r>
            <a:r>
              <a:rPr lang="en-US" sz="1400" b="1" dirty="0" err="1"/>
              <a:t>Dockerfile</a:t>
            </a:r>
            <a:r>
              <a:rPr lang="en-US" sz="1400" b="1" dirty="0"/>
              <a:t> </a:t>
            </a:r>
            <a:r>
              <a:rPr lang="en-US" sz="1400" b="1" dirty="0" err="1"/>
              <a:t>berupa</a:t>
            </a:r>
            <a:r>
              <a:rPr lang="en-US" sz="1400" b="1" dirty="0"/>
              <a:t> requirements yang </a:t>
            </a:r>
            <a:r>
              <a:rPr lang="en-US" sz="1400" b="1" dirty="0" err="1"/>
              <a:t>diperlukan</a:t>
            </a:r>
            <a:r>
              <a:rPr lang="en-US" sz="1400" b="1" dirty="0"/>
              <a:t> </a:t>
            </a:r>
            <a:r>
              <a:rPr lang="en-US" sz="1400" b="1" dirty="0" err="1"/>
              <a:t>dalam</a:t>
            </a:r>
            <a:r>
              <a:rPr lang="en-US" sz="1400" b="1" dirty="0"/>
              <a:t> </a:t>
            </a:r>
            <a:r>
              <a:rPr lang="en-US" sz="1400" b="1" dirty="0" err="1"/>
              <a:t>mendeploy</a:t>
            </a:r>
            <a:r>
              <a:rPr lang="en-US" sz="1400" b="1" dirty="0"/>
              <a:t> apps </a:t>
            </a:r>
            <a:r>
              <a:rPr lang="en-US" sz="1400" b="1" dirty="0" err="1"/>
              <a:t>kita</a:t>
            </a:r>
            <a:r>
              <a:rPr lang="en-US" sz="1400" b="1" dirty="0"/>
              <a:t>. </a:t>
            </a:r>
            <a:r>
              <a:rPr lang="en-US" sz="1400" b="1" dirty="0" err="1"/>
              <a:t>Pada</a:t>
            </a:r>
            <a:r>
              <a:rPr lang="en-US" sz="1400" b="1" dirty="0"/>
              <a:t> </a:t>
            </a:r>
            <a:r>
              <a:rPr lang="en-US" sz="1400" b="1" dirty="0" err="1"/>
              <a:t>sebelumnya</a:t>
            </a:r>
            <a:r>
              <a:rPr lang="en-US" sz="1400" b="1" dirty="0"/>
              <a:t> </a:t>
            </a:r>
            <a:r>
              <a:rPr lang="en-US" sz="1400" b="1" dirty="0" err="1"/>
              <a:t>kita</a:t>
            </a:r>
            <a:r>
              <a:rPr lang="en-US" sz="1400" b="1" dirty="0"/>
              <a:t> </a:t>
            </a:r>
            <a:r>
              <a:rPr lang="en-US" sz="1400" b="1" dirty="0" err="1"/>
              <a:t>menggunakan</a:t>
            </a:r>
            <a:r>
              <a:rPr lang="en-US" sz="1400" b="1" dirty="0"/>
              <a:t> </a:t>
            </a:r>
            <a:r>
              <a:rPr lang="en-US" sz="1400" b="1" dirty="0" err="1"/>
              <a:t>nodejs</a:t>
            </a:r>
            <a:r>
              <a:rPr lang="en-US" sz="1400" b="1" dirty="0"/>
              <a:t> </a:t>
            </a:r>
            <a:r>
              <a:rPr lang="en-US" sz="1400" b="1" dirty="0" err="1"/>
              <a:t>versi</a:t>
            </a:r>
            <a:r>
              <a:rPr lang="en-US" sz="1400" b="1" dirty="0"/>
              <a:t> 16, </a:t>
            </a:r>
            <a:r>
              <a:rPr lang="en-US" sz="1400" b="1" dirty="0" err="1"/>
              <a:t>namun</a:t>
            </a:r>
            <a:r>
              <a:rPr lang="en-US" sz="1400" b="1" dirty="0"/>
              <a:t> </a:t>
            </a:r>
            <a:r>
              <a:rPr lang="en-US" sz="1400" b="1" dirty="0" err="1"/>
              <a:t>disini</a:t>
            </a:r>
            <a:r>
              <a:rPr lang="en-US" sz="1400" b="1" dirty="0"/>
              <a:t> </a:t>
            </a:r>
            <a:r>
              <a:rPr lang="en-US" sz="1400" b="1" dirty="0" err="1"/>
              <a:t>saya</a:t>
            </a:r>
            <a:r>
              <a:rPr lang="en-US" sz="1400" b="1" dirty="0"/>
              <a:t> </a:t>
            </a:r>
            <a:r>
              <a:rPr lang="en-US" sz="1400" b="1" dirty="0" err="1"/>
              <a:t>ubah</a:t>
            </a:r>
            <a:r>
              <a:rPr lang="en-US" sz="1400" b="1" dirty="0"/>
              <a:t> </a:t>
            </a:r>
            <a:r>
              <a:rPr lang="en-US" sz="1400" b="1" dirty="0" err="1"/>
              <a:t>menggunakan</a:t>
            </a:r>
            <a:r>
              <a:rPr lang="en-US" sz="1400" b="1" dirty="0"/>
              <a:t> </a:t>
            </a:r>
            <a:r>
              <a:rPr lang="en-US" sz="1400" b="1" dirty="0" err="1"/>
              <a:t>nodejs</a:t>
            </a:r>
            <a:r>
              <a:rPr lang="en-US" sz="1400" b="1" dirty="0"/>
              <a:t> </a:t>
            </a:r>
            <a:r>
              <a:rPr lang="en-US" sz="1400" b="1" dirty="0" err="1"/>
              <a:t>versi</a:t>
            </a:r>
            <a:r>
              <a:rPr lang="en-US" sz="1400" b="1" dirty="0"/>
              <a:t> 18.#cd /deploy/simple-apps --&gt; </a:t>
            </a:r>
            <a:r>
              <a:rPr lang="en-US" sz="1400" b="1" dirty="0" err="1"/>
              <a:t>direktori</a:t>
            </a:r>
            <a:r>
              <a:rPr lang="en-US" sz="1400" b="1" dirty="0"/>
              <a:t> </a:t>
            </a:r>
            <a:r>
              <a:rPr lang="en-US" sz="1400" b="1" dirty="0" err="1"/>
              <a:t>tempat</a:t>
            </a:r>
            <a:r>
              <a:rPr lang="en-US" sz="1400" b="1" dirty="0"/>
              <a:t> </a:t>
            </a:r>
            <a:r>
              <a:rPr lang="en-US" sz="1400" b="1" dirty="0" err="1"/>
              <a:t>saya</a:t>
            </a:r>
            <a:r>
              <a:rPr lang="en-US" sz="1400" b="1" dirty="0"/>
              <a:t> </a:t>
            </a:r>
            <a:r>
              <a:rPr lang="en-US" sz="1400" b="1" dirty="0" err="1"/>
              <a:t>menyimpan</a:t>
            </a:r>
            <a:r>
              <a:rPr lang="en-US" sz="1400" b="1" dirty="0"/>
              <a:t> source code #vim </a:t>
            </a:r>
            <a:r>
              <a:rPr lang="en-US" sz="1400" b="1" dirty="0" err="1"/>
              <a:t>Dockerfile</a:t>
            </a:r>
            <a:r>
              <a:rPr lang="en-US" sz="1400" b="1" dirty="0"/>
              <a:t> ===</a:t>
            </a:r>
            <a:r>
              <a:rPr lang="en-US" sz="1400" b="1" dirty="0" err="1"/>
              <a:t>isi</a:t>
            </a:r>
            <a:r>
              <a:rPr lang="en-US" sz="1400" b="1" dirty="0"/>
              <a:t> file=== FROM node:18.16.0-slim WORKDIR /app ADD . . RUN </a:t>
            </a:r>
            <a:r>
              <a:rPr lang="en-US" sz="1400" b="1" dirty="0" err="1"/>
              <a:t>npm</a:t>
            </a:r>
            <a:r>
              <a:rPr lang="en-US" sz="1400" b="1" dirty="0"/>
              <a:t> install CMD </a:t>
            </a:r>
            <a:r>
              <a:rPr lang="en-US" sz="1400" b="1" dirty="0" err="1"/>
              <a:t>npm</a:t>
            </a:r>
            <a:r>
              <a:rPr lang="en-US" sz="1400" b="1" dirty="0"/>
              <a:t> start ===end===</a:t>
            </a:r>
          </a:p>
          <a:p>
            <a:pPr marL="342900" indent="-342900" algn="just" fontAlgn="base">
              <a:buFont typeface="+mj-lt"/>
              <a:buAutoNum type="arabicPeriod"/>
            </a:pPr>
            <a:r>
              <a:rPr lang="en-US" sz="1400" b="1" dirty="0" err="1"/>
              <a:t>Setelah</a:t>
            </a:r>
            <a:r>
              <a:rPr lang="en-US" sz="1400" b="1" dirty="0"/>
              <a:t> </a:t>
            </a:r>
            <a:r>
              <a:rPr lang="en-US" sz="1400" b="1" dirty="0" err="1"/>
              <a:t>Dockerfile</a:t>
            </a:r>
            <a:r>
              <a:rPr lang="en-US" sz="1400" b="1" dirty="0"/>
              <a:t> </a:t>
            </a:r>
            <a:r>
              <a:rPr lang="en-US" sz="1400" b="1" dirty="0" err="1"/>
              <a:t>dibuat</a:t>
            </a:r>
            <a:r>
              <a:rPr lang="en-US" sz="1400" b="1" dirty="0"/>
              <a:t>, </a:t>
            </a:r>
            <a:r>
              <a:rPr lang="en-US" sz="1400" b="1" dirty="0" err="1"/>
              <a:t>kita</a:t>
            </a:r>
            <a:r>
              <a:rPr lang="en-US" sz="1400" b="1" dirty="0"/>
              <a:t> build image </a:t>
            </a:r>
            <a:r>
              <a:rPr lang="en-US" sz="1400" b="1" dirty="0" err="1"/>
              <a:t>baru</a:t>
            </a:r>
            <a:r>
              <a:rPr lang="en-US" sz="1400" b="1" dirty="0"/>
              <a:t> </a:t>
            </a:r>
            <a:r>
              <a:rPr lang="en-US" sz="1400" b="1" dirty="0" err="1"/>
              <a:t>dari</a:t>
            </a:r>
            <a:r>
              <a:rPr lang="en-US" sz="1400" b="1" dirty="0"/>
              <a:t> </a:t>
            </a:r>
            <a:r>
              <a:rPr lang="en-US" sz="1400" b="1" dirty="0" err="1"/>
              <a:t>Dockerfile</a:t>
            </a:r>
            <a:r>
              <a:rPr lang="en-US" sz="1400" b="1" dirty="0"/>
              <a:t> </a:t>
            </a:r>
            <a:r>
              <a:rPr lang="en-US" sz="1400" b="1" dirty="0" err="1"/>
              <a:t>tersebut</a:t>
            </a:r>
            <a:r>
              <a:rPr lang="en-US" sz="1400" b="1" dirty="0"/>
              <a:t> </a:t>
            </a:r>
            <a:r>
              <a:rPr lang="en-US" sz="1400" b="1" dirty="0" err="1"/>
              <a:t>dengan</a:t>
            </a:r>
            <a:r>
              <a:rPr lang="en-US" sz="1400" b="1" dirty="0"/>
              <a:t> </a:t>
            </a:r>
            <a:r>
              <a:rPr lang="en-US" sz="1400" b="1" dirty="0" err="1"/>
              <a:t>perintah</a:t>
            </a:r>
            <a:r>
              <a:rPr lang="en-US" sz="1400" b="1" dirty="0"/>
              <a:t> </a:t>
            </a:r>
            <a:r>
              <a:rPr lang="en-US" sz="1400" b="1" dirty="0" err="1"/>
              <a:t>dibawah</a:t>
            </a:r>
            <a:r>
              <a:rPr lang="en-US" sz="1400" b="1" dirty="0"/>
              <a:t>.#</a:t>
            </a:r>
            <a:r>
              <a:rPr lang="en-US" sz="1400" b="1" dirty="0" err="1"/>
              <a:t>docker</a:t>
            </a:r>
            <a:r>
              <a:rPr lang="en-US" sz="1400" b="1" dirty="0"/>
              <a:t> build -t simple-apps . //</a:t>
            </a:r>
            <a:r>
              <a:rPr lang="en-US" sz="1400" b="1" dirty="0" err="1"/>
              <a:t>penjelasan</a:t>
            </a:r>
            <a:r>
              <a:rPr lang="en-US" sz="1400" b="1" dirty="0"/>
              <a:t> -t --&gt; </a:t>
            </a:r>
            <a:r>
              <a:rPr lang="en-US" sz="1400" b="1" dirty="0" err="1"/>
              <a:t>untuk</a:t>
            </a:r>
            <a:r>
              <a:rPr lang="en-US" sz="1400" b="1" dirty="0"/>
              <a:t> </a:t>
            </a:r>
            <a:r>
              <a:rPr lang="en-US" sz="1400" b="1" dirty="0" err="1"/>
              <a:t>memberikan</a:t>
            </a:r>
            <a:r>
              <a:rPr lang="en-US" sz="1400" b="1" dirty="0"/>
              <a:t> tag </a:t>
            </a:r>
            <a:r>
              <a:rPr lang="en-US" sz="1400" b="1" dirty="0" err="1"/>
              <a:t>untuk</a:t>
            </a:r>
            <a:r>
              <a:rPr lang="en-US" sz="1400" b="1" dirty="0"/>
              <a:t> image yang </a:t>
            </a:r>
            <a:r>
              <a:rPr lang="en-US" sz="1400" b="1" dirty="0" err="1"/>
              <a:t>akan</a:t>
            </a:r>
            <a:r>
              <a:rPr lang="en-US" sz="1400" b="1" dirty="0"/>
              <a:t> </a:t>
            </a:r>
            <a:r>
              <a:rPr lang="en-US" sz="1400" b="1" dirty="0" err="1"/>
              <a:t>dibuat</a:t>
            </a:r>
            <a:r>
              <a:rPr lang="en-US" sz="1400" b="1" dirty="0"/>
              <a:t> </a:t>
            </a:r>
            <a:r>
              <a:rPr lang="en-US" sz="1400" b="1" dirty="0" err="1"/>
              <a:t>docker</a:t>
            </a:r>
            <a:r>
              <a:rPr lang="en-US" sz="1400" b="1" dirty="0"/>
              <a:t> build -t &lt;tag&gt; &lt;</a:t>
            </a:r>
            <a:r>
              <a:rPr lang="en-US" sz="1400" b="1" dirty="0" err="1"/>
              <a:t>lokasi</a:t>
            </a:r>
            <a:r>
              <a:rPr lang="en-US" sz="1400" b="1" dirty="0"/>
              <a:t> </a:t>
            </a:r>
            <a:r>
              <a:rPr lang="en-US" sz="1400" b="1" dirty="0" err="1"/>
              <a:t>dockerfile</a:t>
            </a:r>
            <a:r>
              <a:rPr lang="en-US" sz="1400" b="1" dirty="0"/>
              <a:t> </a:t>
            </a:r>
            <a:r>
              <a:rPr lang="en-US" sz="1400" b="1" dirty="0" err="1" smtClean="0"/>
              <a:t>berada</a:t>
            </a:r>
            <a:r>
              <a:rPr lang="en-US" sz="1400" b="1" dirty="0" smtClean="0"/>
              <a:t>&gt;</a:t>
            </a:r>
          </a:p>
          <a:p>
            <a:pPr marL="342900" indent="-342900" algn="just" fontAlgn="base">
              <a:buFont typeface="+mj-lt"/>
              <a:buAutoNum type="arabicPeriod"/>
            </a:pPr>
            <a:r>
              <a:rPr lang="en-US" b="1" dirty="0" smtClean="0">
                <a:solidFill>
                  <a:srgbClr val="002060"/>
                </a:solidFill>
              </a:rPr>
              <a:t>p</a:t>
            </a:r>
            <a:endParaRPr lang="en-US" b="1" dirty="0">
              <a:solidFill>
                <a:srgbClr val="002060"/>
              </a:solidFill>
            </a:endParaRPr>
          </a:p>
        </p:txBody>
      </p:sp>
      <p:sp>
        <p:nvSpPr>
          <p:cNvPr id="8" name="Rectangle 7"/>
          <p:cNvSpPr/>
          <p:nvPr/>
        </p:nvSpPr>
        <p:spPr>
          <a:xfrm>
            <a:off x="5954110" y="304054"/>
            <a:ext cx="5838497" cy="6463308"/>
          </a:xfrm>
          <a:prstGeom prst="rect">
            <a:avLst/>
          </a:prstGeom>
        </p:spPr>
        <p:txBody>
          <a:bodyPr wrap="square">
            <a:spAutoFit/>
          </a:bodyPr>
          <a:lstStyle/>
          <a:p>
            <a:pPr fontAlgn="base"/>
            <a:r>
              <a:rPr lang="en-US" b="1" dirty="0" err="1" smtClean="0">
                <a:solidFill>
                  <a:srgbClr val="002060"/>
                </a:solidFill>
              </a:rPr>
              <a:t>Pengujian</a:t>
            </a:r>
            <a:endParaRPr lang="en-US" b="1" dirty="0" smtClean="0">
              <a:solidFill>
                <a:srgbClr val="002060"/>
              </a:solidFill>
            </a:endParaRPr>
          </a:p>
          <a:p>
            <a:pPr fontAlgn="base"/>
            <a:endParaRPr lang="en-US" b="1" dirty="0" smtClean="0">
              <a:solidFill>
                <a:srgbClr val="002060"/>
              </a:solidFill>
            </a:endParaRPr>
          </a:p>
          <a:p>
            <a:pPr marL="342900" indent="-342900" algn="just" fontAlgn="base">
              <a:buFont typeface="+mj-lt"/>
              <a:buAutoNum type="arabicPeriod"/>
            </a:pPr>
            <a:r>
              <a:rPr lang="en-US" sz="1400" b="1" dirty="0" err="1"/>
              <a:t>Setelah</a:t>
            </a:r>
            <a:r>
              <a:rPr lang="en-US" sz="1400" b="1" dirty="0"/>
              <a:t> </a:t>
            </a:r>
            <a:r>
              <a:rPr lang="en-US" sz="1400" b="1" dirty="0" err="1"/>
              <a:t>membuat</a:t>
            </a:r>
            <a:r>
              <a:rPr lang="en-US" sz="1400" b="1" dirty="0"/>
              <a:t> images </a:t>
            </a:r>
            <a:r>
              <a:rPr lang="en-US" sz="1400" b="1" dirty="0" err="1"/>
              <a:t>dari</a:t>
            </a:r>
            <a:r>
              <a:rPr lang="en-US" sz="1400" b="1" dirty="0"/>
              <a:t> </a:t>
            </a:r>
            <a:r>
              <a:rPr lang="en-US" sz="1400" b="1" dirty="0" err="1"/>
              <a:t>Dockerfile</a:t>
            </a:r>
            <a:r>
              <a:rPr lang="en-US" sz="1400" b="1" dirty="0"/>
              <a:t>, </a:t>
            </a:r>
            <a:r>
              <a:rPr lang="en-US" sz="1400" b="1" dirty="0" err="1"/>
              <a:t>kita</a:t>
            </a:r>
            <a:r>
              <a:rPr lang="en-US" sz="1400" b="1" dirty="0"/>
              <a:t> </a:t>
            </a:r>
            <a:r>
              <a:rPr lang="en-US" sz="1400" b="1" dirty="0" err="1"/>
              <a:t>lihat</a:t>
            </a:r>
            <a:r>
              <a:rPr lang="en-US" sz="1400" b="1" dirty="0"/>
              <a:t> </a:t>
            </a:r>
            <a:r>
              <a:rPr lang="en-US" sz="1400" b="1" dirty="0" err="1"/>
              <a:t>apakah</a:t>
            </a:r>
            <a:r>
              <a:rPr lang="en-US" sz="1400" b="1" dirty="0"/>
              <a:t> images yang </a:t>
            </a:r>
            <a:r>
              <a:rPr lang="en-US" sz="1400" b="1" dirty="0" err="1"/>
              <a:t>sudah</a:t>
            </a:r>
            <a:r>
              <a:rPr lang="en-US" sz="1400" b="1" dirty="0"/>
              <a:t> </a:t>
            </a:r>
            <a:r>
              <a:rPr lang="en-US" sz="1400" b="1" dirty="0" err="1"/>
              <a:t>dibuat</a:t>
            </a:r>
            <a:r>
              <a:rPr lang="en-US" sz="1400" b="1" dirty="0"/>
              <a:t> </a:t>
            </a:r>
            <a:r>
              <a:rPr lang="en-US" sz="1400" b="1" dirty="0" err="1"/>
              <a:t>telah</a:t>
            </a:r>
            <a:r>
              <a:rPr lang="en-US" sz="1400" b="1" dirty="0"/>
              <a:t> </a:t>
            </a:r>
            <a:r>
              <a:rPr lang="en-US" sz="1400" b="1" dirty="0" err="1"/>
              <a:t>muncul</a:t>
            </a:r>
            <a:r>
              <a:rPr lang="en-US" sz="1400" b="1" dirty="0"/>
              <a:t> </a:t>
            </a:r>
            <a:r>
              <a:rPr lang="en-US" sz="1400" b="1" dirty="0" err="1"/>
              <a:t>atau</a:t>
            </a:r>
            <a:r>
              <a:rPr lang="en-US" sz="1400" b="1" dirty="0"/>
              <a:t> </a:t>
            </a:r>
            <a:r>
              <a:rPr lang="en-US" sz="1400" b="1" dirty="0" err="1"/>
              <a:t>belum</a:t>
            </a:r>
            <a:r>
              <a:rPr lang="en-US" sz="1400" b="1" dirty="0"/>
              <a:t> </a:t>
            </a:r>
            <a:r>
              <a:rPr lang="en-US" sz="1400" b="1" dirty="0" err="1"/>
              <a:t>dengan</a:t>
            </a:r>
            <a:r>
              <a:rPr lang="en-US" sz="1400" b="1" dirty="0"/>
              <a:t> </a:t>
            </a:r>
            <a:r>
              <a:rPr lang="en-US" sz="1400" b="1" dirty="0" err="1"/>
              <a:t>perintah</a:t>
            </a:r>
            <a:r>
              <a:rPr lang="en-US" sz="1400" b="1" dirty="0"/>
              <a:t> </a:t>
            </a:r>
            <a:r>
              <a:rPr lang="en-US" sz="1400" b="1" dirty="0" err="1"/>
              <a:t>docker</a:t>
            </a:r>
            <a:r>
              <a:rPr lang="en-US" sz="1400" b="1" dirty="0"/>
              <a:t> images.#</a:t>
            </a:r>
            <a:r>
              <a:rPr lang="en-US" sz="1400" b="1" dirty="0" err="1"/>
              <a:t>docker</a:t>
            </a:r>
            <a:r>
              <a:rPr lang="en-US" sz="1400" b="1" dirty="0"/>
              <a:t> </a:t>
            </a:r>
            <a:r>
              <a:rPr lang="en-US" sz="1400" b="1" dirty="0" smtClean="0"/>
              <a:t>images</a:t>
            </a:r>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r>
              <a:rPr lang="en-US" sz="1400" b="1" dirty="0" err="1" smtClean="0"/>
              <a:t>Jika</a:t>
            </a:r>
            <a:r>
              <a:rPr lang="en-US" sz="1400" b="1" dirty="0" smtClean="0"/>
              <a:t> </a:t>
            </a:r>
            <a:r>
              <a:rPr lang="en-US" sz="1400" b="1" dirty="0"/>
              <a:t>images yang </a:t>
            </a:r>
            <a:r>
              <a:rPr lang="en-US" sz="1400" b="1" dirty="0" err="1"/>
              <a:t>dibuat</a:t>
            </a:r>
            <a:r>
              <a:rPr lang="en-US" sz="1400" b="1" dirty="0"/>
              <a:t> </a:t>
            </a:r>
            <a:r>
              <a:rPr lang="en-US" sz="1400" b="1" dirty="0" err="1"/>
              <a:t>telah</a:t>
            </a:r>
            <a:r>
              <a:rPr lang="en-US" sz="1400" b="1" dirty="0"/>
              <a:t> </a:t>
            </a:r>
            <a:r>
              <a:rPr lang="en-US" sz="1400" b="1" dirty="0" err="1"/>
              <a:t>muncul</a:t>
            </a:r>
            <a:r>
              <a:rPr lang="en-US" sz="1400" b="1" dirty="0"/>
              <a:t>, </a:t>
            </a:r>
            <a:r>
              <a:rPr lang="en-US" sz="1400" b="1" dirty="0" err="1"/>
              <a:t>sekarang</a:t>
            </a:r>
            <a:r>
              <a:rPr lang="en-US" sz="1400" b="1" dirty="0"/>
              <a:t> </a:t>
            </a:r>
            <a:r>
              <a:rPr lang="en-US" sz="1400" b="1" dirty="0" err="1"/>
              <a:t>kita</a:t>
            </a:r>
            <a:r>
              <a:rPr lang="en-US" sz="1400" b="1" dirty="0"/>
              <a:t> </a:t>
            </a:r>
            <a:r>
              <a:rPr lang="en-US" sz="1400" b="1" dirty="0" err="1"/>
              <a:t>buat</a:t>
            </a:r>
            <a:r>
              <a:rPr lang="en-US" sz="1400" b="1" dirty="0"/>
              <a:t> container </a:t>
            </a:r>
            <a:r>
              <a:rPr lang="en-US" sz="1400" b="1" dirty="0" err="1"/>
              <a:t>dari</a:t>
            </a:r>
            <a:r>
              <a:rPr lang="en-US" sz="1400" b="1" dirty="0"/>
              <a:t> images simple apps.#</a:t>
            </a:r>
            <a:r>
              <a:rPr lang="en-US" sz="1400" b="1" dirty="0" err="1"/>
              <a:t>docker</a:t>
            </a:r>
            <a:r>
              <a:rPr lang="en-US" sz="1400" b="1" dirty="0"/>
              <a:t> run -d -p 3000:3000 --name test-simple simple-apps</a:t>
            </a:r>
          </a:p>
          <a:p>
            <a:pPr marL="342900" indent="-342900" algn="just" fontAlgn="base">
              <a:buFont typeface="+mj-lt"/>
              <a:buAutoNum type="arabicPeriod"/>
            </a:pPr>
            <a:r>
              <a:rPr lang="en-US" sz="1400" b="1" dirty="0" err="1"/>
              <a:t>Kemudian</a:t>
            </a:r>
            <a:r>
              <a:rPr lang="en-US" sz="1400" b="1" dirty="0"/>
              <a:t> </a:t>
            </a:r>
            <a:r>
              <a:rPr lang="en-US" sz="1400" b="1" dirty="0" err="1"/>
              <a:t>kita</a:t>
            </a:r>
            <a:r>
              <a:rPr lang="en-US" sz="1400" b="1" dirty="0"/>
              <a:t> </a:t>
            </a:r>
            <a:r>
              <a:rPr lang="en-US" sz="1400" b="1" dirty="0" err="1"/>
              <a:t>lihat</a:t>
            </a:r>
            <a:r>
              <a:rPr lang="en-US" sz="1400" b="1" dirty="0"/>
              <a:t> </a:t>
            </a:r>
            <a:r>
              <a:rPr lang="en-US" sz="1400" b="1" dirty="0" err="1"/>
              <a:t>apakah</a:t>
            </a:r>
            <a:r>
              <a:rPr lang="en-US" sz="1400" b="1" dirty="0"/>
              <a:t> container yang </a:t>
            </a:r>
            <a:r>
              <a:rPr lang="en-US" sz="1400" b="1" dirty="0" err="1"/>
              <a:t>telah</a:t>
            </a:r>
            <a:r>
              <a:rPr lang="en-US" sz="1400" b="1" dirty="0"/>
              <a:t> </a:t>
            </a:r>
            <a:r>
              <a:rPr lang="en-US" sz="1400" b="1" dirty="0" err="1"/>
              <a:t>dibuat</a:t>
            </a:r>
            <a:r>
              <a:rPr lang="en-US" sz="1400" b="1" dirty="0"/>
              <a:t> </a:t>
            </a:r>
            <a:r>
              <a:rPr lang="en-US" sz="1400" b="1" dirty="0" err="1"/>
              <a:t>sudah</a:t>
            </a:r>
            <a:r>
              <a:rPr lang="en-US" sz="1400" b="1" dirty="0"/>
              <a:t> </a:t>
            </a:r>
            <a:r>
              <a:rPr lang="en-US" sz="1400" b="1" dirty="0" err="1"/>
              <a:t>jalan</a:t>
            </a:r>
            <a:r>
              <a:rPr lang="en-US" sz="1400" b="1" dirty="0"/>
              <a:t> </a:t>
            </a:r>
            <a:r>
              <a:rPr lang="en-US" sz="1400" b="1" dirty="0" err="1"/>
              <a:t>atau</a:t>
            </a:r>
            <a:r>
              <a:rPr lang="en-US" sz="1400" b="1" dirty="0"/>
              <a:t> </a:t>
            </a:r>
            <a:r>
              <a:rPr lang="en-US" sz="1400" b="1" dirty="0" err="1"/>
              <a:t>belum</a:t>
            </a:r>
            <a:r>
              <a:rPr lang="en-US" sz="1400" b="1" dirty="0"/>
              <a:t>.#</a:t>
            </a:r>
            <a:r>
              <a:rPr lang="en-US" sz="1400" b="1" dirty="0" err="1"/>
              <a:t>docker</a:t>
            </a:r>
            <a:r>
              <a:rPr lang="en-US" sz="1400" b="1" dirty="0"/>
              <a:t> </a:t>
            </a:r>
            <a:r>
              <a:rPr lang="en-US" sz="1400" b="1" dirty="0" err="1" smtClean="0"/>
              <a:t>ps</a:t>
            </a: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r>
              <a:rPr lang="en-US" sz="1400" b="1" dirty="0" err="1" smtClean="0"/>
              <a:t>Sekarang</a:t>
            </a:r>
            <a:r>
              <a:rPr lang="en-US" sz="1400" b="1" dirty="0" smtClean="0"/>
              <a:t> </a:t>
            </a:r>
            <a:r>
              <a:rPr lang="en-US" sz="1400" b="1" dirty="0" err="1"/>
              <a:t>kita</a:t>
            </a:r>
            <a:r>
              <a:rPr lang="en-US" sz="1400" b="1" dirty="0"/>
              <a:t> </a:t>
            </a:r>
            <a:r>
              <a:rPr lang="en-US" sz="1400" b="1" dirty="0" err="1"/>
              <a:t>uji</a:t>
            </a:r>
            <a:r>
              <a:rPr lang="en-US" sz="1400" b="1" dirty="0"/>
              <a:t> </a:t>
            </a:r>
            <a:r>
              <a:rPr lang="en-US" sz="1400" b="1" dirty="0" err="1"/>
              <a:t>coba</a:t>
            </a:r>
            <a:r>
              <a:rPr lang="en-US" sz="1400" b="1" dirty="0"/>
              <a:t> </a:t>
            </a:r>
            <a:r>
              <a:rPr lang="en-US" sz="1400" b="1" dirty="0" err="1"/>
              <a:t>untuk</a:t>
            </a:r>
            <a:r>
              <a:rPr lang="en-US" sz="1400" b="1" dirty="0"/>
              <a:t> </a:t>
            </a:r>
            <a:r>
              <a:rPr lang="en-US" sz="1400" b="1" dirty="0" err="1"/>
              <a:t>dibuka</a:t>
            </a:r>
            <a:r>
              <a:rPr lang="en-US" sz="1400" b="1" dirty="0"/>
              <a:t> </a:t>
            </a:r>
            <a:r>
              <a:rPr lang="en-US" sz="1400" b="1" dirty="0" err="1"/>
              <a:t>dengan</a:t>
            </a:r>
            <a:r>
              <a:rPr lang="en-US" sz="1400" b="1" dirty="0"/>
              <a:t> browser</a:t>
            </a:r>
            <a:r>
              <a:rPr lang="en-US" sz="1400" b="1" dirty="0" smtClean="0"/>
              <a:t>.</a:t>
            </a:r>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smtClean="0"/>
          </a:p>
          <a:p>
            <a:pPr marL="342900" indent="-342900" algn="just" fontAlgn="base">
              <a:buFont typeface="+mj-lt"/>
              <a:buAutoNum type="arabicPeriod"/>
            </a:pPr>
            <a:endParaRPr lang="en-US" sz="1400" b="1" dirty="0"/>
          </a:p>
          <a:p>
            <a:pPr marL="342900" indent="-342900" algn="just" fontAlgn="base">
              <a:buFont typeface="+mj-lt"/>
              <a:buAutoNum type="arabicPeriod"/>
            </a:pPr>
            <a:endParaRPr lang="en-US" sz="1400" b="1" dirty="0"/>
          </a:p>
          <a:p>
            <a:pPr marL="342900" indent="-342900" algn="just" fontAlgn="base">
              <a:buFont typeface="+mj-lt"/>
              <a:buAutoNum type="arabicPeriod"/>
            </a:pPr>
            <a:r>
              <a:rPr lang="en-US" sz="1400" b="1" dirty="0"/>
              <a:t>p</a:t>
            </a:r>
            <a:endParaRPr lang="en-US" sz="1400" b="1" dirty="0" smtClean="0"/>
          </a:p>
          <a:p>
            <a:pPr algn="just"/>
            <a:endParaRPr lang="en-US" sz="1400" b="1" dirty="0"/>
          </a:p>
        </p:txBody>
      </p:sp>
      <p:sp>
        <p:nvSpPr>
          <p:cNvPr id="14" name="Rectangle 13"/>
          <p:cNvSpPr/>
          <p:nvPr/>
        </p:nvSpPr>
        <p:spPr>
          <a:xfrm>
            <a:off x="6343869" y="1635537"/>
            <a:ext cx="5622129" cy="1169551"/>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root@panda</a:t>
            </a:r>
            <a:r>
              <a:rPr lang="en-US" sz="1400" dirty="0" smtClean="0">
                <a:solidFill>
                  <a:schemeClr val="bg1">
                    <a:lumMod val="95000"/>
                  </a:schemeClr>
                </a:solidFill>
              </a:rPr>
              <a:t>: /deploy/simple-apps# </a:t>
            </a:r>
            <a:r>
              <a:rPr lang="en-US" sz="1400" dirty="0" err="1" smtClean="0">
                <a:solidFill>
                  <a:schemeClr val="bg1">
                    <a:lumMod val="95000"/>
                  </a:schemeClr>
                </a:solidFill>
              </a:rPr>
              <a:t>docker</a:t>
            </a:r>
            <a:r>
              <a:rPr lang="en-US" sz="1400" dirty="0" smtClean="0">
                <a:solidFill>
                  <a:schemeClr val="bg1">
                    <a:lumMod val="95000"/>
                  </a:schemeClr>
                </a:solidFill>
              </a:rPr>
              <a:t> images</a:t>
            </a:r>
          </a:p>
          <a:p>
            <a:pPr algn="just"/>
            <a:endParaRPr lang="en-US" sz="1400" b="1" dirty="0" smtClean="0">
              <a:solidFill>
                <a:schemeClr val="bg1">
                  <a:lumMod val="50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a:p>
            <a:pPr algn="just"/>
            <a:endParaRPr lang="en-US" sz="1400" b="1" dirty="0">
              <a:solidFill>
                <a:schemeClr val="bg1">
                  <a:lumMod val="50000"/>
                </a:schemeClr>
              </a:solidFill>
            </a:endParaRPr>
          </a:p>
        </p:txBody>
      </p:sp>
      <p:pic>
        <p:nvPicPr>
          <p:cNvPr id="5" name="Picture 4"/>
          <p:cNvPicPr>
            <a:picLocks noChangeAspect="1"/>
          </p:cNvPicPr>
          <p:nvPr/>
        </p:nvPicPr>
        <p:blipFill>
          <a:blip r:embed="rId2"/>
          <a:stretch>
            <a:fillRect/>
          </a:stretch>
        </p:blipFill>
        <p:spPr>
          <a:xfrm>
            <a:off x="6448426" y="2013761"/>
            <a:ext cx="5373742" cy="552450"/>
          </a:xfrm>
          <a:prstGeom prst="rect">
            <a:avLst/>
          </a:prstGeom>
        </p:spPr>
      </p:pic>
      <p:sp>
        <p:nvSpPr>
          <p:cNvPr id="15" name="Rectangle 14"/>
          <p:cNvSpPr/>
          <p:nvPr/>
        </p:nvSpPr>
        <p:spPr>
          <a:xfrm>
            <a:off x="6343869" y="4131001"/>
            <a:ext cx="5622129" cy="954107"/>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root@panda</a:t>
            </a:r>
            <a:r>
              <a:rPr lang="en-US" sz="1400" dirty="0" smtClean="0">
                <a:solidFill>
                  <a:schemeClr val="bg1">
                    <a:lumMod val="95000"/>
                  </a:schemeClr>
                </a:solidFill>
              </a:rPr>
              <a:t>: /deploy/simple-apps# </a:t>
            </a:r>
            <a:r>
              <a:rPr lang="en-US" sz="1400" dirty="0" err="1" smtClean="0">
                <a:solidFill>
                  <a:schemeClr val="bg1">
                    <a:lumMod val="95000"/>
                  </a:schemeClr>
                </a:solidFill>
              </a:rPr>
              <a:t>docker</a:t>
            </a:r>
            <a:r>
              <a:rPr lang="en-US" sz="1400" dirty="0" smtClean="0">
                <a:solidFill>
                  <a:schemeClr val="bg1">
                    <a:lumMod val="95000"/>
                  </a:schemeClr>
                </a:solidFill>
              </a:rPr>
              <a:t> </a:t>
            </a:r>
            <a:r>
              <a:rPr lang="en-US" sz="1400" dirty="0" err="1" smtClean="0">
                <a:solidFill>
                  <a:schemeClr val="bg1">
                    <a:lumMod val="95000"/>
                  </a:schemeClr>
                </a:solidFill>
              </a:rPr>
              <a:t>ps</a:t>
            </a:r>
            <a:endParaRPr lang="en-US" sz="1400" dirty="0" smtClean="0">
              <a:solidFill>
                <a:schemeClr val="bg1">
                  <a:lumMod val="95000"/>
                </a:schemeClr>
              </a:solidFill>
            </a:endParaRPr>
          </a:p>
          <a:p>
            <a:pPr algn="just"/>
            <a:endParaRPr lang="en-US" sz="1400" b="1" dirty="0" smtClean="0">
              <a:solidFill>
                <a:schemeClr val="bg1">
                  <a:lumMod val="50000"/>
                </a:schemeClr>
              </a:solidFill>
            </a:endParaRPr>
          </a:p>
          <a:p>
            <a:pPr algn="just"/>
            <a:endParaRPr lang="en-US" sz="1400" b="1" dirty="0" smtClean="0">
              <a:solidFill>
                <a:schemeClr val="bg1">
                  <a:lumMod val="50000"/>
                </a:schemeClr>
              </a:solidFill>
            </a:endParaRPr>
          </a:p>
          <a:p>
            <a:pPr algn="just"/>
            <a:endParaRPr lang="en-US" sz="1400" b="1" dirty="0">
              <a:solidFill>
                <a:schemeClr val="bg1">
                  <a:lumMod val="50000"/>
                </a:schemeClr>
              </a:solidFill>
            </a:endParaRPr>
          </a:p>
        </p:txBody>
      </p:sp>
      <p:pic>
        <p:nvPicPr>
          <p:cNvPr id="6" name="Picture 5"/>
          <p:cNvPicPr>
            <a:picLocks noChangeAspect="1"/>
          </p:cNvPicPr>
          <p:nvPr/>
        </p:nvPicPr>
        <p:blipFill>
          <a:blip r:embed="rId3"/>
          <a:stretch>
            <a:fillRect/>
          </a:stretch>
        </p:blipFill>
        <p:spPr>
          <a:xfrm>
            <a:off x="6448426" y="4481789"/>
            <a:ext cx="5344181" cy="467974"/>
          </a:xfrm>
          <a:prstGeom prst="rect">
            <a:avLst/>
          </a:prstGeom>
        </p:spPr>
      </p:pic>
      <p:pic>
        <p:nvPicPr>
          <p:cNvPr id="9" name="Picture 8"/>
          <p:cNvPicPr>
            <a:picLocks noChangeAspect="1"/>
          </p:cNvPicPr>
          <p:nvPr/>
        </p:nvPicPr>
        <p:blipFill>
          <a:blip r:embed="rId4"/>
          <a:stretch>
            <a:fillRect/>
          </a:stretch>
        </p:blipFill>
        <p:spPr>
          <a:xfrm>
            <a:off x="6343869" y="5379515"/>
            <a:ext cx="5622129" cy="847725"/>
          </a:xfrm>
          <a:prstGeom prst="rect">
            <a:avLst/>
          </a:prstGeom>
        </p:spPr>
      </p:pic>
    </p:spTree>
    <p:extLst>
      <p:ext uri="{BB962C8B-B14F-4D97-AF65-F5344CB8AC3E}">
        <p14:creationId xmlns:p14="http://schemas.microsoft.com/office/powerpoint/2010/main" val="128252457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13" name="Rectangle 12"/>
          <p:cNvSpPr/>
          <p:nvPr/>
        </p:nvSpPr>
        <p:spPr>
          <a:xfrm>
            <a:off x="279400" y="1501530"/>
            <a:ext cx="5645150" cy="5109091"/>
          </a:xfrm>
          <a:prstGeom prst="rect">
            <a:avLst/>
          </a:prstGeom>
        </p:spPr>
        <p:txBody>
          <a:bodyPr wrap="square">
            <a:spAutoFit/>
          </a:bodyPr>
          <a:lstStyle/>
          <a:p>
            <a:pPr fontAlgn="base"/>
            <a:r>
              <a:rPr lang="en-US" b="1" dirty="0" err="1">
                <a:solidFill>
                  <a:srgbClr val="002060"/>
                </a:solidFill>
              </a:rPr>
              <a:t>Konfigurasi</a:t>
            </a:r>
            <a:r>
              <a:rPr lang="en-US" b="1" dirty="0">
                <a:solidFill>
                  <a:srgbClr val="002060"/>
                </a:solidFill>
              </a:rPr>
              <a:t> Docker </a:t>
            </a:r>
            <a:r>
              <a:rPr lang="en-US" b="1" dirty="0" smtClean="0">
                <a:solidFill>
                  <a:srgbClr val="002060"/>
                </a:solidFill>
              </a:rPr>
              <a:t>Compose</a:t>
            </a:r>
          </a:p>
          <a:p>
            <a:pPr marL="342900" indent="-342900" algn="just" fontAlgn="base">
              <a:buFont typeface="+mj-lt"/>
              <a:buAutoNum type="arabicPeriod"/>
            </a:pPr>
            <a:r>
              <a:rPr lang="en-US" sz="1400" b="1" dirty="0" err="1"/>
              <a:t>Sebelumnya</a:t>
            </a:r>
            <a:r>
              <a:rPr lang="en-US" sz="1400" b="1" dirty="0"/>
              <a:t> </a:t>
            </a:r>
            <a:r>
              <a:rPr lang="en-US" sz="1400" b="1" dirty="0" err="1"/>
              <a:t>kita</a:t>
            </a:r>
            <a:r>
              <a:rPr lang="en-US" sz="1400" b="1" dirty="0"/>
              <a:t> </a:t>
            </a:r>
            <a:r>
              <a:rPr lang="en-US" sz="1400" b="1" dirty="0" err="1"/>
              <a:t>telah</a:t>
            </a:r>
            <a:r>
              <a:rPr lang="en-US" sz="1400" b="1" dirty="0"/>
              <a:t> </a:t>
            </a:r>
            <a:r>
              <a:rPr lang="en-US" sz="1400" b="1" dirty="0" err="1"/>
              <a:t>membuat</a:t>
            </a:r>
            <a:r>
              <a:rPr lang="en-US" sz="1400" b="1" dirty="0"/>
              <a:t> images </a:t>
            </a:r>
            <a:r>
              <a:rPr lang="en-US" sz="1400" b="1" dirty="0" err="1"/>
              <a:t>dengan</a:t>
            </a:r>
            <a:r>
              <a:rPr lang="en-US" sz="1400" b="1" dirty="0"/>
              <a:t> </a:t>
            </a:r>
            <a:r>
              <a:rPr lang="en-US" sz="1400" b="1" dirty="0" err="1"/>
              <a:t>Dockerfile</a:t>
            </a:r>
            <a:r>
              <a:rPr lang="en-US" sz="1400" b="1" dirty="0"/>
              <a:t> </a:t>
            </a:r>
            <a:r>
              <a:rPr lang="en-US" sz="1400" b="1" dirty="0" err="1"/>
              <a:t>dan</a:t>
            </a:r>
            <a:r>
              <a:rPr lang="en-US" sz="1400" b="1" dirty="0"/>
              <a:t> </a:t>
            </a:r>
            <a:r>
              <a:rPr lang="en-US" sz="1400" b="1" dirty="0" err="1"/>
              <a:t>menjalankannya</a:t>
            </a:r>
            <a:r>
              <a:rPr lang="en-US" sz="1400" b="1" dirty="0"/>
              <a:t> </a:t>
            </a:r>
            <a:r>
              <a:rPr lang="en-US" sz="1400" b="1" dirty="0" err="1"/>
              <a:t>menjadi</a:t>
            </a:r>
            <a:r>
              <a:rPr lang="en-US" sz="1400" b="1" dirty="0"/>
              <a:t> container. </a:t>
            </a:r>
            <a:r>
              <a:rPr lang="en-US" sz="1400" b="1" dirty="0" err="1"/>
              <a:t>Sekarang</a:t>
            </a:r>
            <a:r>
              <a:rPr lang="en-US" sz="1400" b="1" dirty="0"/>
              <a:t> </a:t>
            </a:r>
            <a:r>
              <a:rPr lang="en-US" sz="1400" b="1" dirty="0" err="1"/>
              <a:t>kita</a:t>
            </a:r>
            <a:r>
              <a:rPr lang="en-US" sz="1400" b="1" dirty="0"/>
              <a:t> </a:t>
            </a:r>
            <a:r>
              <a:rPr lang="en-US" sz="1400" b="1" dirty="0" err="1"/>
              <a:t>akan</a:t>
            </a:r>
            <a:r>
              <a:rPr lang="en-US" sz="1400" b="1" dirty="0"/>
              <a:t> </a:t>
            </a:r>
            <a:r>
              <a:rPr lang="en-US" sz="1400" b="1" dirty="0" err="1"/>
              <a:t>coba</a:t>
            </a:r>
            <a:r>
              <a:rPr lang="en-US" sz="1400" b="1" dirty="0"/>
              <a:t> </a:t>
            </a:r>
            <a:r>
              <a:rPr lang="en-US" sz="1400" b="1" dirty="0" err="1"/>
              <a:t>mendeploy</a:t>
            </a:r>
            <a:r>
              <a:rPr lang="en-US" sz="1400" b="1" dirty="0"/>
              <a:t> </a:t>
            </a:r>
            <a:r>
              <a:rPr lang="en-US" sz="1400" b="1" dirty="0" err="1"/>
              <a:t>kembali</a:t>
            </a:r>
            <a:r>
              <a:rPr lang="en-US" sz="1400" b="1" dirty="0"/>
              <a:t> </a:t>
            </a:r>
            <a:r>
              <a:rPr lang="en-US" sz="1400" b="1" dirty="0" err="1"/>
              <a:t>menggunakan</a:t>
            </a:r>
            <a:r>
              <a:rPr lang="en-US" sz="1400" b="1" dirty="0"/>
              <a:t> </a:t>
            </a:r>
            <a:r>
              <a:rPr lang="en-US" sz="1400" b="1" dirty="0" err="1"/>
              <a:t>fitur</a:t>
            </a:r>
            <a:r>
              <a:rPr lang="en-US" sz="1400" b="1" dirty="0"/>
              <a:t> Docker Compose. </a:t>
            </a:r>
            <a:r>
              <a:rPr lang="en-US" sz="1400" b="1" dirty="0" err="1"/>
              <a:t>Sebelum</a:t>
            </a:r>
            <a:r>
              <a:rPr lang="en-US" sz="1400" b="1" dirty="0"/>
              <a:t> </a:t>
            </a:r>
            <a:r>
              <a:rPr lang="en-US" sz="1400" b="1" dirty="0" err="1"/>
              <a:t>itu</a:t>
            </a:r>
            <a:r>
              <a:rPr lang="en-US" sz="1400" b="1" dirty="0"/>
              <a:t> install </a:t>
            </a:r>
            <a:r>
              <a:rPr lang="en-US" sz="1400" b="1" dirty="0" err="1"/>
              <a:t>terlebih</a:t>
            </a:r>
            <a:r>
              <a:rPr lang="en-US" sz="1400" b="1" dirty="0"/>
              <a:t> </a:t>
            </a:r>
            <a:r>
              <a:rPr lang="en-US" sz="1400" b="1" dirty="0" err="1"/>
              <a:t>dahulu</a:t>
            </a:r>
            <a:r>
              <a:rPr lang="en-US" sz="1400" b="1" dirty="0"/>
              <a:t> </a:t>
            </a:r>
            <a:r>
              <a:rPr lang="en-US" sz="1400" b="1" dirty="0" err="1"/>
              <a:t>docker-composenya</a:t>
            </a:r>
            <a:r>
              <a:rPr lang="en-US" sz="1400" b="1" dirty="0"/>
              <a:t>.#apt update &amp;&amp; apt install </a:t>
            </a:r>
            <a:r>
              <a:rPr lang="en-US" sz="1400" b="1" dirty="0" err="1"/>
              <a:t>docker</a:t>
            </a:r>
            <a:r>
              <a:rPr lang="en-US" sz="1400" b="1" dirty="0"/>
              <a:t>-compose -y</a:t>
            </a:r>
          </a:p>
          <a:p>
            <a:pPr marL="342900" indent="-342900" algn="just" fontAlgn="base">
              <a:buFont typeface="+mj-lt"/>
              <a:buAutoNum type="arabicPeriod"/>
            </a:pPr>
            <a:r>
              <a:rPr lang="en-US" sz="1400" b="1" dirty="0" err="1"/>
              <a:t>Setelah</a:t>
            </a:r>
            <a:r>
              <a:rPr lang="en-US" sz="1400" b="1" dirty="0"/>
              <a:t> </a:t>
            </a:r>
            <a:r>
              <a:rPr lang="en-US" sz="1400" b="1" dirty="0" err="1"/>
              <a:t>instalasi</a:t>
            </a:r>
            <a:r>
              <a:rPr lang="en-US" sz="1400" b="1" dirty="0"/>
              <a:t> </a:t>
            </a:r>
            <a:r>
              <a:rPr lang="en-US" sz="1400" b="1" dirty="0" err="1"/>
              <a:t>berhasil</a:t>
            </a:r>
            <a:r>
              <a:rPr lang="en-US" sz="1400" b="1" dirty="0"/>
              <a:t>, </a:t>
            </a:r>
            <a:r>
              <a:rPr lang="en-US" sz="1400" b="1" dirty="0" err="1"/>
              <a:t>kita</a:t>
            </a:r>
            <a:r>
              <a:rPr lang="en-US" sz="1400" b="1" dirty="0"/>
              <a:t> </a:t>
            </a:r>
            <a:r>
              <a:rPr lang="en-US" sz="1400" b="1" dirty="0" err="1"/>
              <a:t>hapus</a:t>
            </a:r>
            <a:r>
              <a:rPr lang="en-US" sz="1400" b="1" dirty="0"/>
              <a:t> </a:t>
            </a:r>
            <a:r>
              <a:rPr lang="en-US" sz="1400" b="1" dirty="0" err="1"/>
              <a:t>terlebih</a:t>
            </a:r>
            <a:r>
              <a:rPr lang="en-US" sz="1400" b="1" dirty="0"/>
              <a:t> </a:t>
            </a:r>
            <a:r>
              <a:rPr lang="en-US" sz="1400" b="1" dirty="0" err="1"/>
              <a:t>dahulu</a:t>
            </a:r>
            <a:r>
              <a:rPr lang="en-US" sz="1400" b="1" dirty="0"/>
              <a:t> container yang </a:t>
            </a:r>
            <a:r>
              <a:rPr lang="en-US" sz="1400" b="1" dirty="0" err="1"/>
              <a:t>tadinya</a:t>
            </a:r>
            <a:r>
              <a:rPr lang="en-US" sz="1400" b="1" dirty="0"/>
              <a:t> </a:t>
            </a:r>
            <a:r>
              <a:rPr lang="en-US" sz="1400" b="1" dirty="0" err="1"/>
              <a:t>telah</a:t>
            </a:r>
            <a:r>
              <a:rPr lang="en-US" sz="1400" b="1" dirty="0"/>
              <a:t> </a:t>
            </a:r>
            <a:r>
              <a:rPr lang="en-US" sz="1400" b="1" dirty="0" err="1"/>
              <a:t>kita</a:t>
            </a:r>
            <a:r>
              <a:rPr lang="en-US" sz="1400" b="1" dirty="0"/>
              <a:t> </a:t>
            </a:r>
            <a:r>
              <a:rPr lang="en-US" sz="1400" b="1" dirty="0" err="1"/>
              <a:t>buat</a:t>
            </a:r>
            <a:r>
              <a:rPr lang="en-US" sz="1400" b="1" dirty="0"/>
              <a:t>.#</a:t>
            </a:r>
            <a:r>
              <a:rPr lang="en-US" sz="1400" b="1" dirty="0" err="1"/>
              <a:t>docker</a:t>
            </a:r>
            <a:r>
              <a:rPr lang="en-US" sz="1400" b="1" dirty="0"/>
              <a:t> </a:t>
            </a:r>
            <a:r>
              <a:rPr lang="en-US" sz="1400" b="1" dirty="0" err="1"/>
              <a:t>rm</a:t>
            </a:r>
            <a:r>
              <a:rPr lang="en-US" sz="1400" b="1" dirty="0"/>
              <a:t> -f test-simple</a:t>
            </a:r>
          </a:p>
          <a:p>
            <a:pPr marL="342900" indent="-342900" algn="just" fontAlgn="base">
              <a:buFont typeface="+mj-lt"/>
              <a:buAutoNum type="arabicPeriod"/>
            </a:pPr>
            <a:r>
              <a:rPr lang="en-US" sz="1400" b="1" dirty="0" err="1"/>
              <a:t>Buatlah</a:t>
            </a:r>
            <a:r>
              <a:rPr lang="en-US" sz="1400" b="1" dirty="0"/>
              <a:t> </a:t>
            </a:r>
            <a:r>
              <a:rPr lang="en-US" sz="1400" b="1" dirty="0" err="1"/>
              <a:t>sebuah</a:t>
            </a:r>
            <a:r>
              <a:rPr lang="en-US" sz="1400" b="1" dirty="0"/>
              <a:t> </a:t>
            </a:r>
            <a:r>
              <a:rPr lang="en-US" sz="1400" b="1" dirty="0" err="1"/>
              <a:t>direktori</a:t>
            </a:r>
            <a:r>
              <a:rPr lang="en-US" sz="1400" b="1" dirty="0"/>
              <a:t> </a:t>
            </a:r>
            <a:r>
              <a:rPr lang="en-US" sz="1400" b="1" dirty="0" err="1"/>
              <a:t>baru</a:t>
            </a:r>
            <a:r>
              <a:rPr lang="en-US" sz="1400" b="1" dirty="0"/>
              <a:t> </a:t>
            </a:r>
            <a:r>
              <a:rPr lang="en-US" sz="1400" b="1" dirty="0" err="1"/>
              <a:t>dengan</a:t>
            </a:r>
            <a:r>
              <a:rPr lang="en-US" sz="1400" b="1" dirty="0"/>
              <a:t> </a:t>
            </a:r>
            <a:r>
              <a:rPr lang="en-US" sz="1400" b="1" dirty="0" err="1"/>
              <a:t>nama</a:t>
            </a:r>
            <a:r>
              <a:rPr lang="en-US" sz="1400" b="1" dirty="0"/>
              <a:t> apps </a:t>
            </a:r>
            <a:r>
              <a:rPr lang="en-US" sz="1400" b="1" dirty="0" err="1"/>
              <a:t>untuk</a:t>
            </a:r>
            <a:r>
              <a:rPr lang="en-US" sz="1400" b="1" dirty="0"/>
              <a:t> </a:t>
            </a:r>
            <a:r>
              <a:rPr lang="en-US" sz="1400" b="1" dirty="0" err="1"/>
              <a:t>menyimpan</a:t>
            </a:r>
            <a:r>
              <a:rPr lang="en-US" sz="1400" b="1" dirty="0"/>
              <a:t> file source code yang </a:t>
            </a:r>
            <a:r>
              <a:rPr lang="en-US" sz="1400" b="1" dirty="0" err="1"/>
              <a:t>telah</a:t>
            </a:r>
            <a:r>
              <a:rPr lang="en-US" sz="1400" b="1" dirty="0"/>
              <a:t> </a:t>
            </a:r>
            <a:r>
              <a:rPr lang="en-US" sz="1400" b="1" dirty="0" err="1"/>
              <a:t>kita</a:t>
            </a:r>
            <a:r>
              <a:rPr lang="en-US" sz="1400" b="1" dirty="0"/>
              <a:t> </a:t>
            </a:r>
            <a:r>
              <a:rPr lang="en-US" sz="1400" b="1" dirty="0" err="1"/>
              <a:t>buat</a:t>
            </a:r>
            <a:r>
              <a:rPr lang="en-US" sz="1400" b="1" dirty="0"/>
              <a:t>. </a:t>
            </a:r>
            <a:r>
              <a:rPr lang="en-US" sz="1400" b="1" dirty="0" err="1"/>
              <a:t>Pindahkan</a:t>
            </a:r>
            <a:r>
              <a:rPr lang="en-US" sz="1400" b="1" dirty="0"/>
              <a:t> </a:t>
            </a:r>
            <a:r>
              <a:rPr lang="en-US" sz="1400" b="1" dirty="0" err="1"/>
              <a:t>semua</a:t>
            </a:r>
            <a:r>
              <a:rPr lang="en-US" sz="1400" b="1" dirty="0"/>
              <a:t> file source code </a:t>
            </a:r>
            <a:r>
              <a:rPr lang="en-US" sz="1400" b="1" dirty="0" err="1"/>
              <a:t>ke</a:t>
            </a:r>
            <a:r>
              <a:rPr lang="en-US" sz="1400" b="1" dirty="0"/>
              <a:t> </a:t>
            </a:r>
            <a:r>
              <a:rPr lang="en-US" sz="1400" b="1" dirty="0" err="1"/>
              <a:t>direktori</a:t>
            </a:r>
            <a:r>
              <a:rPr lang="en-US" sz="1400" b="1" dirty="0"/>
              <a:t> apps.#</a:t>
            </a:r>
            <a:r>
              <a:rPr lang="en-US" sz="1400" b="1" dirty="0" err="1"/>
              <a:t>mkdir</a:t>
            </a:r>
            <a:r>
              <a:rPr lang="en-US" sz="1400" b="1" dirty="0"/>
              <a:t> apps #mv * apps/</a:t>
            </a:r>
          </a:p>
          <a:p>
            <a:pPr marL="342900" indent="-342900" algn="just" fontAlgn="base">
              <a:buFont typeface="+mj-lt"/>
              <a:buAutoNum type="arabicPeriod"/>
            </a:pPr>
            <a:r>
              <a:rPr lang="en-US" sz="1400" b="1" dirty="0" err="1"/>
              <a:t>Kemudian</a:t>
            </a:r>
            <a:r>
              <a:rPr lang="en-US" sz="1400" b="1" dirty="0"/>
              <a:t> </a:t>
            </a:r>
            <a:r>
              <a:rPr lang="en-US" sz="1400" b="1" dirty="0" err="1"/>
              <a:t>kita</a:t>
            </a:r>
            <a:r>
              <a:rPr lang="en-US" sz="1400" b="1" dirty="0"/>
              <a:t> </a:t>
            </a:r>
            <a:r>
              <a:rPr lang="en-US" sz="1400" b="1" dirty="0" err="1"/>
              <a:t>buat</a:t>
            </a:r>
            <a:r>
              <a:rPr lang="en-US" sz="1400" b="1" dirty="0"/>
              <a:t> file </a:t>
            </a:r>
            <a:r>
              <a:rPr lang="en-US" sz="1400" b="1" dirty="0" err="1"/>
              <a:t>docker-compose.yml</a:t>
            </a:r>
            <a:r>
              <a:rPr lang="en-US" sz="1400" b="1" dirty="0"/>
              <a:t>. </a:t>
            </a:r>
            <a:r>
              <a:rPr lang="en-US" sz="1400" b="1" dirty="0" err="1"/>
              <a:t>Isikan</a:t>
            </a:r>
            <a:r>
              <a:rPr lang="en-US" sz="1400" b="1" dirty="0"/>
              <a:t> file </a:t>
            </a:r>
            <a:r>
              <a:rPr lang="en-US" sz="1400" b="1" dirty="0" err="1"/>
              <a:t>tersebut</a:t>
            </a:r>
            <a:r>
              <a:rPr lang="en-US" sz="1400" b="1" dirty="0"/>
              <a:t> </a:t>
            </a:r>
            <a:r>
              <a:rPr lang="en-US" sz="1400" b="1" dirty="0" err="1"/>
              <a:t>dengan</a:t>
            </a:r>
            <a:r>
              <a:rPr lang="en-US" sz="1400" b="1" dirty="0"/>
              <a:t> </a:t>
            </a:r>
            <a:r>
              <a:rPr lang="en-US" sz="1400" b="1" dirty="0" err="1"/>
              <a:t>konfigurasi</a:t>
            </a:r>
            <a:r>
              <a:rPr lang="en-US" sz="1400" b="1" dirty="0"/>
              <a:t> </a:t>
            </a:r>
            <a:r>
              <a:rPr lang="en-US" sz="1400" b="1" dirty="0" err="1"/>
              <a:t>dibawah</a:t>
            </a:r>
            <a:r>
              <a:rPr lang="en-US" sz="1400" b="1" dirty="0"/>
              <a:t>.#vim </a:t>
            </a:r>
            <a:r>
              <a:rPr lang="en-US" sz="1400" b="1" dirty="0" err="1"/>
              <a:t>docker-compose.yml</a:t>
            </a:r>
            <a:r>
              <a:rPr lang="en-US" sz="1400" b="1" dirty="0"/>
              <a:t> #</a:t>
            </a:r>
            <a:r>
              <a:rPr lang="en-US" sz="1400" b="1" dirty="0" err="1"/>
              <a:t>versi</a:t>
            </a:r>
            <a:r>
              <a:rPr lang="en-US" sz="1400" b="1" dirty="0"/>
              <a:t> yang </a:t>
            </a:r>
            <a:r>
              <a:rPr lang="en-US" sz="1400" b="1" dirty="0" err="1"/>
              <a:t>digunakan</a:t>
            </a:r>
            <a:r>
              <a:rPr lang="en-US" sz="1400" b="1" dirty="0"/>
              <a:t> </a:t>
            </a:r>
            <a:r>
              <a:rPr lang="en-US" sz="1400" b="1" dirty="0" err="1"/>
              <a:t>mungkin</a:t>
            </a:r>
            <a:r>
              <a:rPr lang="en-US" sz="1400" b="1" dirty="0"/>
              <a:t> </a:t>
            </a:r>
            <a:r>
              <a:rPr lang="en-US" sz="1400" b="1" dirty="0" err="1"/>
              <a:t>dapat</a:t>
            </a:r>
            <a:r>
              <a:rPr lang="en-US" sz="1400" b="1" dirty="0"/>
              <a:t> </a:t>
            </a:r>
            <a:r>
              <a:rPr lang="en-US" sz="1400" b="1" dirty="0" err="1"/>
              <a:t>berbeda</a:t>
            </a:r>
            <a:r>
              <a:rPr lang="en-US" sz="1400" b="1" dirty="0"/>
              <a:t> </a:t>
            </a:r>
            <a:r>
              <a:rPr lang="en-US" sz="1400" b="1" dirty="0" err="1"/>
              <a:t>tergantung</a:t>
            </a:r>
            <a:r>
              <a:rPr lang="en-US" sz="1400" b="1" dirty="0"/>
              <a:t> </a:t>
            </a:r>
            <a:r>
              <a:rPr lang="en-US" sz="1400" b="1" dirty="0" err="1"/>
              <a:t>dari</a:t>
            </a:r>
            <a:r>
              <a:rPr lang="en-US" sz="1400" b="1" dirty="0"/>
              <a:t> </a:t>
            </a:r>
            <a:r>
              <a:rPr lang="en-US" sz="1400" b="1" dirty="0" err="1"/>
              <a:t>versi</a:t>
            </a:r>
            <a:r>
              <a:rPr lang="en-US" sz="1400" b="1" dirty="0"/>
              <a:t> </a:t>
            </a:r>
            <a:r>
              <a:rPr lang="en-US" sz="1400" b="1" dirty="0" err="1"/>
              <a:t>docker</a:t>
            </a:r>
            <a:r>
              <a:rPr lang="en-US" sz="1400" b="1" dirty="0"/>
              <a:t> compose yang </a:t>
            </a:r>
            <a:r>
              <a:rPr lang="en-US" sz="1400" b="1" dirty="0" err="1"/>
              <a:t>diinstall</a:t>
            </a:r>
            <a:r>
              <a:rPr lang="en-US" sz="1400" b="1" dirty="0"/>
              <a:t> version: "3.3" services: #</a:t>
            </a:r>
            <a:r>
              <a:rPr lang="en-US" sz="1400" b="1" dirty="0" err="1"/>
              <a:t>perintah</a:t>
            </a:r>
            <a:r>
              <a:rPr lang="en-US" sz="1400" b="1" dirty="0"/>
              <a:t> </a:t>
            </a:r>
            <a:r>
              <a:rPr lang="en-US" sz="1400" b="1" dirty="0" err="1"/>
              <a:t>ini</a:t>
            </a:r>
            <a:r>
              <a:rPr lang="en-US" sz="1400" b="1" dirty="0"/>
              <a:t> </a:t>
            </a:r>
            <a:r>
              <a:rPr lang="en-US" sz="1400" b="1" dirty="0" err="1"/>
              <a:t>digunakan</a:t>
            </a:r>
            <a:r>
              <a:rPr lang="en-US" sz="1400" b="1" dirty="0"/>
              <a:t> </a:t>
            </a:r>
            <a:r>
              <a:rPr lang="en-US" sz="1400" b="1" dirty="0" err="1"/>
              <a:t>untuk</a:t>
            </a:r>
            <a:r>
              <a:rPr lang="en-US" sz="1400" b="1" dirty="0"/>
              <a:t> </a:t>
            </a:r>
            <a:r>
              <a:rPr lang="en-US" sz="1400" b="1" dirty="0" err="1"/>
              <a:t>membuat</a:t>
            </a:r>
            <a:r>
              <a:rPr lang="en-US" sz="1400" b="1" dirty="0"/>
              <a:t> container </a:t>
            </a:r>
            <a:r>
              <a:rPr lang="en-US" sz="1400" b="1" dirty="0" err="1"/>
              <a:t>dari</a:t>
            </a:r>
            <a:r>
              <a:rPr lang="en-US" sz="1400" b="1" dirty="0"/>
              <a:t> folder apps </a:t>
            </a:r>
            <a:r>
              <a:rPr lang="en-US" sz="1400" b="1" dirty="0" err="1"/>
              <a:t>kita</a:t>
            </a:r>
            <a:r>
              <a:rPr lang="en-US" sz="1400" b="1" dirty="0"/>
              <a:t> backend: build: ./apps restart: always links: - </a:t>
            </a:r>
            <a:r>
              <a:rPr lang="en-US" sz="1400" b="1" dirty="0" err="1"/>
              <a:t>db</a:t>
            </a:r>
            <a:r>
              <a:rPr lang="en-US" sz="1400" b="1" dirty="0"/>
              <a:t> ports: - "3000:3000" volumes: - app-data:/app/public/images #</a:t>
            </a:r>
            <a:r>
              <a:rPr lang="en-US" sz="1400" b="1" dirty="0" err="1"/>
              <a:t>perintah</a:t>
            </a:r>
            <a:r>
              <a:rPr lang="en-US" sz="1400" b="1" dirty="0"/>
              <a:t> </a:t>
            </a:r>
            <a:r>
              <a:rPr lang="en-US" sz="1400" b="1" dirty="0" err="1"/>
              <a:t>ini</a:t>
            </a:r>
            <a:r>
              <a:rPr lang="en-US" sz="1400" b="1" dirty="0"/>
              <a:t> </a:t>
            </a:r>
            <a:r>
              <a:rPr lang="en-US" sz="1400" b="1" dirty="0" err="1"/>
              <a:t>digunakan</a:t>
            </a:r>
            <a:r>
              <a:rPr lang="en-US" sz="1400" b="1" dirty="0"/>
              <a:t> </a:t>
            </a:r>
            <a:r>
              <a:rPr lang="en-US" sz="1400" b="1" dirty="0" err="1"/>
              <a:t>untuk</a:t>
            </a:r>
            <a:r>
              <a:rPr lang="en-US" sz="1400" b="1" dirty="0"/>
              <a:t> </a:t>
            </a:r>
            <a:r>
              <a:rPr lang="en-US" sz="1400" b="1" dirty="0" err="1"/>
              <a:t>membuat</a:t>
            </a:r>
            <a:r>
              <a:rPr lang="en-US" sz="1400" b="1" dirty="0"/>
              <a:t> container </a:t>
            </a:r>
            <a:r>
              <a:rPr lang="en-US" sz="1400" b="1" dirty="0" err="1"/>
              <a:t>mariadb</a:t>
            </a:r>
            <a:r>
              <a:rPr lang="en-US" sz="1400" b="1" dirty="0"/>
              <a:t>, </a:t>
            </a:r>
            <a:r>
              <a:rPr lang="en-US" sz="1400" b="1" dirty="0" err="1"/>
              <a:t>sebelumnya</a:t>
            </a:r>
            <a:r>
              <a:rPr lang="en-US" sz="1400" b="1" dirty="0"/>
              <a:t> </a:t>
            </a:r>
            <a:r>
              <a:rPr lang="en-US" sz="1400" b="1" dirty="0" err="1"/>
              <a:t>pada</a:t>
            </a:r>
            <a:r>
              <a:rPr lang="en-US" sz="1400" b="1" dirty="0"/>
              <a:t> </a:t>
            </a:r>
            <a:r>
              <a:rPr lang="en-US" sz="1400" b="1" dirty="0" err="1"/>
              <a:t>saat</a:t>
            </a:r>
            <a:r>
              <a:rPr lang="en-US" sz="1400" b="1" dirty="0"/>
              <a:t> </a:t>
            </a:r>
            <a:r>
              <a:rPr lang="en-US" sz="1400" b="1" dirty="0" err="1"/>
              <a:t>kita</a:t>
            </a:r>
            <a:r>
              <a:rPr lang="en-US" sz="1400" b="1" dirty="0"/>
              <a:t> </a:t>
            </a:r>
            <a:r>
              <a:rPr lang="en-US" sz="1400" b="1" dirty="0" err="1"/>
              <a:t>membuat</a:t>
            </a:r>
            <a:r>
              <a:rPr lang="en-US" sz="1400" b="1" dirty="0"/>
              <a:t> </a:t>
            </a:r>
            <a:r>
              <a:rPr lang="en-US" sz="1400" b="1" dirty="0" err="1"/>
              <a:t>dockerfile</a:t>
            </a:r>
            <a:r>
              <a:rPr lang="en-US" sz="1400" b="1" dirty="0"/>
              <a:t> </a:t>
            </a:r>
            <a:r>
              <a:rPr lang="en-US" sz="1400" b="1" dirty="0" err="1"/>
              <a:t>kita</a:t>
            </a:r>
            <a:r>
              <a:rPr lang="en-US" sz="1400" b="1" dirty="0"/>
              <a:t> </a:t>
            </a:r>
            <a:r>
              <a:rPr lang="en-US" sz="1400" b="1" dirty="0" err="1"/>
              <a:t>hanya</a:t>
            </a:r>
            <a:r>
              <a:rPr lang="en-US" sz="1400" b="1" dirty="0"/>
              <a:t> </a:t>
            </a:r>
            <a:r>
              <a:rPr lang="en-US" sz="1400" b="1" dirty="0" err="1"/>
              <a:t>menjalankan</a:t>
            </a:r>
            <a:r>
              <a:rPr lang="en-US" sz="1400" b="1" dirty="0"/>
              <a:t> web </a:t>
            </a:r>
            <a:r>
              <a:rPr lang="en-US" sz="1400" b="1" dirty="0" err="1"/>
              <a:t>untuk</a:t>
            </a:r>
            <a:r>
              <a:rPr lang="en-US" sz="1400" b="1" dirty="0"/>
              <a:t> route </a:t>
            </a:r>
            <a:r>
              <a:rPr lang="en-US" sz="1400" b="1" dirty="0" err="1"/>
              <a:t>ke</a:t>
            </a:r>
            <a:r>
              <a:rPr lang="en-US" sz="1400" b="1" dirty="0"/>
              <a:t> page </a:t>
            </a:r>
            <a:r>
              <a:rPr lang="en-US" sz="1400" b="1" dirty="0" err="1"/>
              <a:t>utama</a:t>
            </a:r>
            <a:r>
              <a:rPr lang="en-US" sz="1400" b="1" dirty="0"/>
              <a:t> </a:t>
            </a:r>
            <a:r>
              <a:rPr lang="en-US" sz="1400" b="1" dirty="0" err="1"/>
              <a:t>dan</a:t>
            </a:r>
            <a:r>
              <a:rPr lang="en-US" sz="1400" b="1" dirty="0"/>
              <a:t> /app. </a:t>
            </a:r>
            <a:r>
              <a:rPr lang="en-US" sz="1400" b="1" dirty="0" err="1"/>
              <a:t>Sedangkan</a:t>
            </a:r>
            <a:r>
              <a:rPr lang="en-US" sz="1400" b="1" dirty="0"/>
              <a:t> route </a:t>
            </a:r>
            <a:r>
              <a:rPr lang="en-US" sz="1400" b="1" dirty="0" err="1"/>
              <a:t>ke</a:t>
            </a:r>
            <a:r>
              <a:rPr lang="en-US" sz="1400" b="1" dirty="0"/>
              <a:t> /users </a:t>
            </a:r>
            <a:r>
              <a:rPr lang="en-US" sz="1400" b="1" dirty="0" err="1"/>
              <a:t>tidak</a:t>
            </a:r>
            <a:r>
              <a:rPr lang="en-US" sz="1400" b="1" dirty="0"/>
              <a:t> </a:t>
            </a:r>
            <a:r>
              <a:rPr lang="en-US" sz="1400" b="1" dirty="0" err="1"/>
              <a:t>dapat</a:t>
            </a:r>
            <a:r>
              <a:rPr lang="en-US" sz="1400" b="1" dirty="0"/>
              <a:t> </a:t>
            </a:r>
            <a:r>
              <a:rPr lang="en-US" sz="1400" b="1" dirty="0" err="1"/>
              <a:t>dibuka</a:t>
            </a:r>
            <a:r>
              <a:rPr lang="en-US" sz="1400" b="1" dirty="0"/>
              <a:t> </a:t>
            </a:r>
            <a:r>
              <a:rPr lang="en-US" sz="1400" b="1" dirty="0" err="1"/>
              <a:t>karena</a:t>
            </a:r>
            <a:r>
              <a:rPr lang="en-US" sz="1400" b="1" dirty="0"/>
              <a:t> </a:t>
            </a:r>
            <a:r>
              <a:rPr lang="en-US" sz="1400" b="1" dirty="0" err="1"/>
              <a:t>tidak</a:t>
            </a:r>
            <a:r>
              <a:rPr lang="en-US" sz="1400" b="1" dirty="0"/>
              <a:t> </a:t>
            </a:r>
            <a:r>
              <a:rPr lang="en-US" sz="1400" b="1" dirty="0" err="1"/>
              <a:t>ada</a:t>
            </a:r>
            <a:r>
              <a:rPr lang="en-US" sz="1400" b="1" dirty="0"/>
              <a:t> container </a:t>
            </a:r>
            <a:r>
              <a:rPr lang="en-US" sz="1400" b="1" dirty="0" err="1"/>
              <a:t>mariadbnya</a:t>
            </a:r>
            <a:r>
              <a:rPr lang="en-US" sz="1400" b="1" dirty="0"/>
              <a:t> </a:t>
            </a:r>
            <a:r>
              <a:rPr lang="en-US" sz="1400" b="1" dirty="0" err="1"/>
              <a:t>db</a:t>
            </a:r>
            <a:r>
              <a:rPr lang="en-US" sz="1400" b="1" dirty="0"/>
              <a:t>: image: "</a:t>
            </a:r>
            <a:r>
              <a:rPr lang="en-US" sz="1400" b="1" dirty="0" err="1"/>
              <a:t>mariadb</a:t>
            </a:r>
            <a:r>
              <a:rPr lang="en-US" sz="1400" b="1" dirty="0"/>
              <a:t>" restart: always links: - </a:t>
            </a:r>
            <a:r>
              <a:rPr lang="en-US" sz="1400" b="1" dirty="0" err="1"/>
              <a:t>phpmyadmin</a:t>
            </a:r>
            <a:r>
              <a:rPr lang="en-US" sz="1400" b="1" dirty="0"/>
              <a:t> ports: - "3306" </a:t>
            </a:r>
            <a:r>
              <a:rPr lang="en-US" sz="1400" b="1" dirty="0" smtClean="0"/>
              <a:t>environment</a:t>
            </a:r>
            <a:endParaRPr lang="en-US" sz="1400" b="1" dirty="0"/>
          </a:p>
        </p:txBody>
      </p:sp>
      <p:sp>
        <p:nvSpPr>
          <p:cNvPr id="8" name="Rectangle 7"/>
          <p:cNvSpPr/>
          <p:nvPr/>
        </p:nvSpPr>
        <p:spPr>
          <a:xfrm>
            <a:off x="6089650" y="61696"/>
            <a:ext cx="5645150" cy="3323987"/>
          </a:xfrm>
          <a:prstGeom prst="rect">
            <a:avLst/>
          </a:prstGeom>
        </p:spPr>
        <p:txBody>
          <a:bodyPr wrap="square">
            <a:spAutoFit/>
          </a:bodyPr>
          <a:lstStyle/>
          <a:p>
            <a:pPr fontAlgn="base"/>
            <a:r>
              <a:rPr lang="en-US" sz="1400" b="1" dirty="0" smtClean="0"/>
              <a:t>- </a:t>
            </a:r>
            <a:r>
              <a:rPr lang="en-US" sz="1400" b="1" dirty="0"/>
              <a:t>MYSQL_ROOT_PASSWORD=password - MYSQL_DATABASE=training - MYSQL_USER=</a:t>
            </a:r>
            <a:r>
              <a:rPr lang="en-US" sz="1400" b="1" dirty="0" err="1"/>
              <a:t>peserta</a:t>
            </a:r>
            <a:r>
              <a:rPr lang="en-US" sz="1400" b="1" dirty="0"/>
              <a:t> - MYSQL_PASSWORD=password volumes: - ./apps/database/:/</a:t>
            </a:r>
            <a:r>
              <a:rPr lang="en-US" sz="1400" b="1" dirty="0" err="1"/>
              <a:t>docker-entrypoint-initdb.d</a:t>
            </a:r>
            <a:r>
              <a:rPr lang="en-US" sz="1400" b="1" dirty="0"/>
              <a:t> - </a:t>
            </a:r>
            <a:r>
              <a:rPr lang="en-US" sz="1400" b="1" dirty="0" err="1"/>
              <a:t>db</a:t>
            </a:r>
            <a:r>
              <a:rPr lang="en-US" sz="1400" b="1" dirty="0"/>
              <a:t>-data:/</a:t>
            </a:r>
            <a:r>
              <a:rPr lang="en-US" sz="1400" b="1" dirty="0" err="1"/>
              <a:t>var</a:t>
            </a:r>
            <a:r>
              <a:rPr lang="en-US" sz="1400" b="1" dirty="0"/>
              <a:t>/lib/</a:t>
            </a:r>
            <a:r>
              <a:rPr lang="en-US" sz="1400" b="1" dirty="0" err="1"/>
              <a:t>mysql</a:t>
            </a:r>
            <a:r>
              <a:rPr lang="en-US" sz="1400" b="1" dirty="0"/>
              <a:t> #</a:t>
            </a:r>
            <a:r>
              <a:rPr lang="en-US" sz="1400" b="1" dirty="0" err="1"/>
              <a:t>perintah</a:t>
            </a:r>
            <a:r>
              <a:rPr lang="en-US" sz="1400" b="1" dirty="0"/>
              <a:t> </a:t>
            </a:r>
            <a:r>
              <a:rPr lang="en-US" sz="1400" b="1" dirty="0" err="1"/>
              <a:t>ini</a:t>
            </a:r>
            <a:r>
              <a:rPr lang="en-US" sz="1400" b="1" dirty="0"/>
              <a:t> </a:t>
            </a:r>
            <a:r>
              <a:rPr lang="en-US" sz="1400" b="1" dirty="0" err="1"/>
              <a:t>digunakan</a:t>
            </a:r>
            <a:r>
              <a:rPr lang="en-US" sz="1400" b="1" dirty="0"/>
              <a:t> </a:t>
            </a:r>
            <a:r>
              <a:rPr lang="en-US" sz="1400" b="1" dirty="0" err="1"/>
              <a:t>untuk</a:t>
            </a:r>
            <a:r>
              <a:rPr lang="en-US" sz="1400" b="1" dirty="0"/>
              <a:t> </a:t>
            </a:r>
            <a:r>
              <a:rPr lang="en-US" sz="1400" b="1" dirty="0" err="1"/>
              <a:t>membuat</a:t>
            </a:r>
            <a:r>
              <a:rPr lang="en-US" sz="1400" b="1" dirty="0"/>
              <a:t> container </a:t>
            </a:r>
            <a:r>
              <a:rPr lang="en-US" sz="1400" b="1" dirty="0" err="1"/>
              <a:t>phpmyadmin</a:t>
            </a:r>
            <a:r>
              <a:rPr lang="en-US" sz="1400" b="1" dirty="0"/>
              <a:t>, </a:t>
            </a:r>
            <a:r>
              <a:rPr lang="en-US" sz="1400" b="1" dirty="0" err="1"/>
              <a:t>dengan</a:t>
            </a:r>
            <a:r>
              <a:rPr lang="en-US" sz="1400" b="1" dirty="0"/>
              <a:t> </a:t>
            </a:r>
            <a:r>
              <a:rPr lang="en-US" sz="1400" b="1" dirty="0" err="1"/>
              <a:t>ini</a:t>
            </a:r>
            <a:r>
              <a:rPr lang="en-US" sz="1400" b="1" dirty="0"/>
              <a:t> kalian </a:t>
            </a:r>
            <a:r>
              <a:rPr lang="en-US" sz="1400" b="1" dirty="0" err="1"/>
              <a:t>dapat</a:t>
            </a:r>
            <a:r>
              <a:rPr lang="en-US" sz="1400" b="1" dirty="0"/>
              <a:t> </a:t>
            </a:r>
            <a:r>
              <a:rPr lang="en-US" sz="1400" b="1" dirty="0" err="1"/>
              <a:t>mengakses</a:t>
            </a:r>
            <a:r>
              <a:rPr lang="en-US" sz="1400" b="1" dirty="0"/>
              <a:t> </a:t>
            </a:r>
            <a:r>
              <a:rPr lang="en-US" sz="1400" b="1" dirty="0" err="1"/>
              <a:t>phpmyadmin</a:t>
            </a:r>
            <a:r>
              <a:rPr lang="en-US" sz="1400" b="1" dirty="0"/>
              <a:t> </a:t>
            </a:r>
            <a:r>
              <a:rPr lang="en-US" sz="1400" b="1" dirty="0" err="1"/>
              <a:t>untuk</a:t>
            </a:r>
            <a:r>
              <a:rPr lang="en-US" sz="1400" b="1" dirty="0"/>
              <a:t> </a:t>
            </a:r>
            <a:r>
              <a:rPr lang="en-US" sz="1400" b="1" dirty="0" err="1"/>
              <a:t>mengubah</a:t>
            </a:r>
            <a:r>
              <a:rPr lang="en-US" sz="1400" b="1" dirty="0"/>
              <a:t> </a:t>
            </a:r>
            <a:r>
              <a:rPr lang="en-US" sz="1400" b="1" dirty="0" err="1"/>
              <a:t>isi</a:t>
            </a:r>
            <a:r>
              <a:rPr lang="en-US" sz="1400" b="1" dirty="0"/>
              <a:t> database </a:t>
            </a:r>
            <a:r>
              <a:rPr lang="en-US" sz="1400" b="1" dirty="0" err="1"/>
              <a:t>phpmyadmin</a:t>
            </a:r>
            <a:r>
              <a:rPr lang="en-US" sz="1400" b="1" dirty="0"/>
              <a:t>: image: "</a:t>
            </a:r>
            <a:r>
              <a:rPr lang="en-US" sz="1400" b="1" dirty="0" err="1"/>
              <a:t>phpmyadmin</a:t>
            </a:r>
            <a:r>
              <a:rPr lang="en-US" sz="1400" b="1" dirty="0"/>
              <a:t>" restart: always ports: - "8000:80" environment: - PMA_HOST=</a:t>
            </a:r>
            <a:r>
              <a:rPr lang="en-US" sz="1400" b="1" dirty="0" err="1"/>
              <a:t>db</a:t>
            </a:r>
            <a:r>
              <a:rPr lang="en-US" sz="1400" b="1" dirty="0"/>
              <a:t> #</a:t>
            </a:r>
            <a:r>
              <a:rPr lang="en-US" sz="1400" b="1" dirty="0" err="1"/>
              <a:t>konfigurasi</a:t>
            </a:r>
            <a:r>
              <a:rPr lang="en-US" sz="1400" b="1" dirty="0"/>
              <a:t> volume volumes: app-data: </a:t>
            </a:r>
            <a:r>
              <a:rPr lang="en-US" sz="1400" b="1" dirty="0" err="1"/>
              <a:t>db</a:t>
            </a:r>
            <a:r>
              <a:rPr lang="en-US" sz="1400" b="1" dirty="0"/>
              <a:t>-data:</a:t>
            </a:r>
          </a:p>
          <a:p>
            <a:pPr marL="342900" indent="-342900" algn="just" fontAlgn="base">
              <a:buFont typeface="+mj-lt"/>
              <a:buAutoNum type="arabicPeriod" startAt="5"/>
            </a:pPr>
            <a:r>
              <a:rPr lang="en-US" sz="1400" b="1" dirty="0" err="1"/>
              <a:t>Sekarang</a:t>
            </a:r>
            <a:r>
              <a:rPr lang="en-US" sz="1400" b="1" dirty="0"/>
              <a:t> </a:t>
            </a:r>
            <a:r>
              <a:rPr lang="en-US" sz="1400" b="1" dirty="0" err="1"/>
              <a:t>kita</a:t>
            </a:r>
            <a:r>
              <a:rPr lang="en-US" sz="1400" b="1" dirty="0"/>
              <a:t> edit file .</a:t>
            </a:r>
            <a:r>
              <a:rPr lang="en-US" sz="1400" b="1" dirty="0" err="1"/>
              <a:t>env</a:t>
            </a:r>
            <a:r>
              <a:rPr lang="en-US" sz="1400" b="1" dirty="0"/>
              <a:t> </a:t>
            </a:r>
            <a:r>
              <a:rPr lang="en-US" sz="1400" b="1" dirty="0" err="1"/>
              <a:t>untuk</a:t>
            </a:r>
            <a:r>
              <a:rPr lang="en-US" sz="1400" b="1" dirty="0"/>
              <a:t> </a:t>
            </a:r>
            <a:r>
              <a:rPr lang="en-US" sz="1400" b="1" dirty="0" err="1"/>
              <a:t>disesuaikan</a:t>
            </a:r>
            <a:r>
              <a:rPr lang="en-US" sz="1400" b="1" dirty="0"/>
              <a:t> </a:t>
            </a:r>
            <a:r>
              <a:rPr lang="en-US" sz="1400" b="1" dirty="0" err="1"/>
              <a:t>arah</a:t>
            </a:r>
            <a:r>
              <a:rPr lang="en-US" sz="1400" b="1" dirty="0"/>
              <a:t> </a:t>
            </a:r>
            <a:r>
              <a:rPr lang="en-US" sz="1400" b="1" dirty="0" err="1"/>
              <a:t>kedatabase</a:t>
            </a:r>
            <a:r>
              <a:rPr lang="en-US" sz="1400" b="1" dirty="0"/>
              <a:t> container </a:t>
            </a:r>
            <a:r>
              <a:rPr lang="en-US" sz="1400" b="1" dirty="0" err="1"/>
              <a:t>mariadb</a:t>
            </a:r>
            <a:r>
              <a:rPr lang="en-US" sz="1400" b="1" dirty="0"/>
              <a:t>.#vim apps/.</a:t>
            </a:r>
            <a:r>
              <a:rPr lang="en-US" sz="1400" b="1" dirty="0" err="1"/>
              <a:t>env</a:t>
            </a:r>
            <a:r>
              <a:rPr lang="en-US" sz="1400" b="1" dirty="0"/>
              <a:t> ===edit file=== DB_NAME='training' DB_HOST='</a:t>
            </a:r>
            <a:r>
              <a:rPr lang="en-US" sz="1400" b="1" dirty="0" err="1"/>
              <a:t>db</a:t>
            </a:r>
            <a:r>
              <a:rPr lang="en-US" sz="1400" b="1" dirty="0"/>
              <a:t>' DB_USER='</a:t>
            </a:r>
            <a:r>
              <a:rPr lang="en-US" sz="1400" b="1" dirty="0" err="1"/>
              <a:t>peserta</a:t>
            </a:r>
            <a:r>
              <a:rPr lang="en-US" sz="1400" b="1" dirty="0"/>
              <a:t>' DB_PASS='password' APP_PORT='3000' //</a:t>
            </a:r>
            <a:r>
              <a:rPr lang="en-US" sz="1400" b="1" dirty="0" err="1"/>
              <a:t>dengan</a:t>
            </a:r>
            <a:r>
              <a:rPr lang="en-US" sz="1400" b="1" dirty="0"/>
              <a:t> </a:t>
            </a:r>
            <a:r>
              <a:rPr lang="en-US" sz="1400" b="1" dirty="0" err="1"/>
              <a:t>menggunakan</a:t>
            </a:r>
            <a:r>
              <a:rPr lang="en-US" sz="1400" b="1" dirty="0"/>
              <a:t> value </a:t>
            </a:r>
            <a:r>
              <a:rPr lang="en-US" sz="1400" b="1" dirty="0" err="1"/>
              <a:t>db</a:t>
            </a:r>
            <a:r>
              <a:rPr lang="en-US" sz="1400" b="1" dirty="0"/>
              <a:t>, </a:t>
            </a:r>
            <a:r>
              <a:rPr lang="en-US" sz="1400" b="1" dirty="0" err="1"/>
              <a:t>kita</a:t>
            </a:r>
            <a:r>
              <a:rPr lang="en-US" sz="1400" b="1" dirty="0"/>
              <a:t> </a:t>
            </a:r>
            <a:r>
              <a:rPr lang="en-US" sz="1400" b="1" dirty="0" err="1"/>
              <a:t>akan</a:t>
            </a:r>
            <a:r>
              <a:rPr lang="en-US" sz="1400" b="1" dirty="0"/>
              <a:t> </a:t>
            </a:r>
            <a:r>
              <a:rPr lang="en-US" sz="1400" b="1" dirty="0" err="1"/>
              <a:t>mengarahkan</a:t>
            </a:r>
            <a:r>
              <a:rPr lang="en-US" sz="1400" b="1" dirty="0"/>
              <a:t> database </a:t>
            </a:r>
            <a:r>
              <a:rPr lang="en-US" sz="1400" b="1" dirty="0" err="1"/>
              <a:t>ke</a:t>
            </a:r>
            <a:r>
              <a:rPr lang="en-US" sz="1400" b="1" dirty="0"/>
              <a:t> container </a:t>
            </a:r>
            <a:r>
              <a:rPr lang="en-US" sz="1400" b="1" dirty="0" err="1"/>
              <a:t>mariadb</a:t>
            </a:r>
            <a:r>
              <a:rPr lang="en-US" sz="1400" b="1" dirty="0"/>
              <a:t> ===END===</a:t>
            </a:r>
          </a:p>
          <a:p>
            <a:pPr marL="342900" indent="-342900" algn="just" fontAlgn="base">
              <a:buFont typeface="+mj-lt"/>
              <a:buAutoNum type="arabicPeriod" startAt="5"/>
            </a:pPr>
            <a:r>
              <a:rPr lang="en-US" sz="1400" b="1" dirty="0"/>
              <a:t>p</a:t>
            </a:r>
          </a:p>
        </p:txBody>
      </p:sp>
    </p:spTree>
    <p:extLst>
      <p:ext uri="{BB962C8B-B14F-4D97-AF65-F5344CB8AC3E}">
        <p14:creationId xmlns:p14="http://schemas.microsoft.com/office/powerpoint/2010/main" val="181780511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9" name="Rectangle 8"/>
          <p:cNvSpPr/>
          <p:nvPr/>
        </p:nvSpPr>
        <p:spPr>
          <a:xfrm>
            <a:off x="132095" y="1534845"/>
            <a:ext cx="5838497" cy="4247317"/>
          </a:xfrm>
          <a:prstGeom prst="rect">
            <a:avLst/>
          </a:prstGeom>
        </p:spPr>
        <p:txBody>
          <a:bodyPr wrap="square">
            <a:spAutoFit/>
          </a:bodyPr>
          <a:lstStyle/>
          <a:p>
            <a:pPr fontAlgn="base"/>
            <a:r>
              <a:rPr lang="en-US" b="1" dirty="0" err="1" smtClean="0">
                <a:solidFill>
                  <a:srgbClr val="002060"/>
                </a:solidFill>
              </a:rPr>
              <a:t>Pengujian</a:t>
            </a:r>
            <a:endParaRPr lang="en-US" b="1" dirty="0" smtClean="0">
              <a:solidFill>
                <a:srgbClr val="002060"/>
              </a:solidFill>
            </a:endParaRPr>
          </a:p>
          <a:p>
            <a:pPr marL="342900" indent="-342900" fontAlgn="base">
              <a:buFont typeface="+mj-lt"/>
              <a:buAutoNum type="arabicPeriod"/>
            </a:pPr>
            <a:endParaRPr lang="en-US" sz="1400" dirty="0">
              <a:solidFill>
                <a:srgbClr val="002060"/>
              </a:solidFill>
            </a:endParaRPr>
          </a:p>
          <a:p>
            <a:pPr marL="342900" indent="-342900" algn="just">
              <a:buFont typeface="+mj-lt"/>
              <a:buAutoNum type="arabicPeriod"/>
            </a:pPr>
            <a:r>
              <a:rPr lang="en-US" sz="1400" dirty="0" err="1"/>
              <a:t>Setelah</a:t>
            </a:r>
            <a:r>
              <a:rPr lang="en-US" sz="1400" dirty="0"/>
              <a:t> </a:t>
            </a:r>
            <a:r>
              <a:rPr lang="en-US" sz="1400" dirty="0" err="1"/>
              <a:t>semua</a:t>
            </a:r>
            <a:r>
              <a:rPr lang="en-US" sz="1400" dirty="0"/>
              <a:t> </a:t>
            </a:r>
            <a:r>
              <a:rPr lang="en-US" sz="1400" dirty="0" err="1"/>
              <a:t>konfigurasi</a:t>
            </a:r>
            <a:r>
              <a:rPr lang="en-US" sz="1400" dirty="0"/>
              <a:t> </a:t>
            </a:r>
            <a:r>
              <a:rPr lang="en-US" sz="1400" dirty="0" err="1"/>
              <a:t>dilakukan</a:t>
            </a:r>
            <a:r>
              <a:rPr lang="en-US" sz="1400" dirty="0"/>
              <a:t>, </a:t>
            </a:r>
            <a:r>
              <a:rPr lang="en-US" sz="1400" dirty="0" err="1"/>
              <a:t>sekarang</a:t>
            </a:r>
            <a:r>
              <a:rPr lang="en-US" sz="1400" dirty="0"/>
              <a:t> </a:t>
            </a:r>
            <a:r>
              <a:rPr lang="en-US" sz="1400" dirty="0" err="1"/>
              <a:t>kita</a:t>
            </a:r>
            <a:r>
              <a:rPr lang="en-US" sz="1400" dirty="0"/>
              <a:t> </a:t>
            </a:r>
            <a:r>
              <a:rPr lang="en-US" sz="1400" dirty="0" err="1"/>
              <a:t>akan</a:t>
            </a:r>
            <a:r>
              <a:rPr lang="en-US" sz="1400" dirty="0"/>
              <a:t> </a:t>
            </a:r>
            <a:r>
              <a:rPr lang="en-US" sz="1400" dirty="0" err="1"/>
              <a:t>jalankan</a:t>
            </a:r>
            <a:r>
              <a:rPr lang="en-US" sz="1400" dirty="0"/>
              <a:t> </a:t>
            </a:r>
            <a:r>
              <a:rPr lang="en-US" sz="1400" dirty="0" err="1"/>
              <a:t>docker</a:t>
            </a:r>
            <a:r>
              <a:rPr lang="en-US" sz="1400" dirty="0"/>
              <a:t> </a:t>
            </a:r>
            <a:r>
              <a:rPr lang="en-US" sz="1400" dirty="0" err="1"/>
              <a:t>composenya</a:t>
            </a:r>
            <a:r>
              <a:rPr lang="en-US" sz="1400" dirty="0"/>
              <a:t>. </a:t>
            </a:r>
            <a:r>
              <a:rPr lang="en-US" sz="1400" dirty="0" err="1"/>
              <a:t>Gunakan</a:t>
            </a:r>
            <a:r>
              <a:rPr lang="en-US" sz="1400" dirty="0"/>
              <a:t> </a:t>
            </a:r>
            <a:r>
              <a:rPr lang="en-US" sz="1400" dirty="0" err="1"/>
              <a:t>perintah</a:t>
            </a:r>
            <a:r>
              <a:rPr lang="en-US" sz="1400" dirty="0"/>
              <a:t> </a:t>
            </a:r>
            <a:r>
              <a:rPr lang="en-US" sz="1400" dirty="0" err="1"/>
              <a:t>dibawah</a:t>
            </a:r>
            <a:r>
              <a:rPr lang="en-US" sz="1400" dirty="0"/>
              <a:t> </a:t>
            </a:r>
            <a:r>
              <a:rPr lang="en-US" sz="1400" dirty="0" err="1"/>
              <a:t>untuk</a:t>
            </a:r>
            <a:r>
              <a:rPr lang="en-US" sz="1400" dirty="0"/>
              <a:t> </a:t>
            </a:r>
            <a:r>
              <a:rPr lang="en-US" sz="1400" dirty="0" err="1"/>
              <a:t>menjalankan</a:t>
            </a:r>
            <a:r>
              <a:rPr lang="en-US" sz="1400" dirty="0"/>
              <a:t> </a:t>
            </a:r>
            <a:r>
              <a:rPr lang="en-US" sz="1400" dirty="0" err="1"/>
              <a:t>docker</a:t>
            </a:r>
            <a:r>
              <a:rPr lang="en-US" sz="1400" dirty="0"/>
              <a:t> compose.#</a:t>
            </a:r>
            <a:r>
              <a:rPr lang="en-US" sz="1400" dirty="0" err="1"/>
              <a:t>docker</a:t>
            </a:r>
            <a:r>
              <a:rPr lang="en-US" sz="1400" dirty="0"/>
              <a:t>-compose build #</a:t>
            </a:r>
            <a:r>
              <a:rPr lang="en-US" sz="1400" dirty="0" err="1"/>
              <a:t>docker</a:t>
            </a:r>
            <a:r>
              <a:rPr lang="en-US" sz="1400" dirty="0"/>
              <a:t>-compose up -d</a:t>
            </a:r>
          </a:p>
          <a:p>
            <a:pPr marL="342900" indent="-342900" algn="just">
              <a:buFont typeface="+mj-lt"/>
              <a:buAutoNum type="arabicPeriod"/>
            </a:pPr>
            <a:r>
              <a:rPr lang="en-US" sz="1400" dirty="0" err="1"/>
              <a:t>Sekarang</a:t>
            </a:r>
            <a:r>
              <a:rPr lang="en-US" sz="1400" dirty="0"/>
              <a:t> </a:t>
            </a:r>
            <a:r>
              <a:rPr lang="en-US" sz="1400" dirty="0" err="1"/>
              <a:t>kita</a:t>
            </a:r>
            <a:r>
              <a:rPr lang="en-US" sz="1400" dirty="0"/>
              <a:t> </a:t>
            </a:r>
            <a:r>
              <a:rPr lang="en-US" sz="1400" dirty="0" err="1"/>
              <a:t>lihat</a:t>
            </a:r>
            <a:r>
              <a:rPr lang="en-US" sz="1400" dirty="0"/>
              <a:t> </a:t>
            </a:r>
            <a:r>
              <a:rPr lang="en-US" sz="1400" dirty="0" err="1"/>
              <a:t>apakah</a:t>
            </a:r>
            <a:r>
              <a:rPr lang="en-US" sz="1400" dirty="0"/>
              <a:t> </a:t>
            </a:r>
            <a:r>
              <a:rPr lang="en-US" sz="1400" dirty="0" err="1"/>
              <a:t>containernya</a:t>
            </a:r>
            <a:r>
              <a:rPr lang="en-US" sz="1400" dirty="0"/>
              <a:t> </a:t>
            </a:r>
            <a:r>
              <a:rPr lang="en-US" sz="1400" dirty="0" err="1"/>
              <a:t>sudah</a:t>
            </a:r>
            <a:r>
              <a:rPr lang="en-US" sz="1400" dirty="0"/>
              <a:t> </a:t>
            </a:r>
            <a:r>
              <a:rPr lang="en-US" sz="1400" dirty="0" err="1"/>
              <a:t>jalan</a:t>
            </a:r>
            <a:r>
              <a:rPr lang="en-US" sz="1400" dirty="0"/>
              <a:t> </a:t>
            </a:r>
            <a:r>
              <a:rPr lang="en-US" sz="1400" dirty="0" err="1"/>
              <a:t>atau</a:t>
            </a:r>
            <a:r>
              <a:rPr lang="en-US" sz="1400" dirty="0"/>
              <a:t> </a:t>
            </a:r>
            <a:r>
              <a:rPr lang="en-US" sz="1400" dirty="0" err="1"/>
              <a:t>belum</a:t>
            </a:r>
            <a:r>
              <a:rPr lang="en-US" sz="1400" dirty="0"/>
              <a:t>.#</a:t>
            </a:r>
            <a:r>
              <a:rPr lang="en-US" sz="1400" dirty="0" err="1"/>
              <a:t>docker</a:t>
            </a:r>
            <a:r>
              <a:rPr lang="en-US" sz="1400" dirty="0"/>
              <a:t> </a:t>
            </a:r>
            <a:r>
              <a:rPr lang="en-US" sz="1400" dirty="0" err="1"/>
              <a:t>ps</a:t>
            </a:r>
            <a:r>
              <a:rPr lang="en-US" sz="1400" dirty="0"/>
              <a:t> </a:t>
            </a:r>
            <a:r>
              <a:rPr lang="en-US" sz="1400" dirty="0" err="1"/>
              <a:t>atau</a:t>
            </a:r>
            <a:r>
              <a:rPr lang="en-US" sz="1400" dirty="0"/>
              <a:t> #</a:t>
            </a:r>
            <a:r>
              <a:rPr lang="en-US" sz="1400" dirty="0" err="1"/>
              <a:t>docker</a:t>
            </a:r>
            <a:r>
              <a:rPr lang="en-US" sz="1400" dirty="0"/>
              <a:t>-compose </a:t>
            </a:r>
            <a:r>
              <a:rPr lang="en-US" sz="1400" dirty="0" err="1" smtClean="0"/>
              <a:t>ps</a:t>
            </a:r>
            <a:endParaRPr lang="en-US" sz="1400" dirty="0" smtClean="0"/>
          </a:p>
          <a:p>
            <a:pPr marL="342900" indent="-342900" algn="just">
              <a:buFont typeface="+mj-lt"/>
              <a:buAutoNum type="arabicPeriod"/>
            </a:pPr>
            <a:endParaRPr lang="en-US" sz="1400" dirty="0"/>
          </a:p>
          <a:p>
            <a:pPr marL="342900" indent="-342900" algn="just">
              <a:buFont typeface="+mj-lt"/>
              <a:buAutoNum type="arabicPeriod"/>
            </a:pPr>
            <a:endParaRPr lang="en-US" sz="1400" dirty="0" smtClean="0"/>
          </a:p>
          <a:p>
            <a:pPr marL="342900" indent="-342900" algn="just">
              <a:buFont typeface="+mj-lt"/>
              <a:buAutoNum type="arabicPeriod"/>
            </a:pPr>
            <a:endParaRPr lang="en-US" sz="1400" dirty="0"/>
          </a:p>
          <a:p>
            <a:pPr marL="342900" indent="-342900" algn="just">
              <a:buFont typeface="+mj-lt"/>
              <a:buAutoNum type="arabicPeriod"/>
            </a:pPr>
            <a:endParaRPr lang="en-US" sz="1400" dirty="0" smtClean="0"/>
          </a:p>
          <a:p>
            <a:pPr marL="342900" indent="-342900" algn="just">
              <a:buFont typeface="+mj-lt"/>
              <a:buAutoNum type="arabicPeriod"/>
            </a:pPr>
            <a:endParaRPr lang="en-US" sz="1400" dirty="0"/>
          </a:p>
          <a:p>
            <a:pPr marL="342900" indent="-342900" algn="just">
              <a:buFont typeface="+mj-lt"/>
              <a:buAutoNum type="arabicPeriod"/>
            </a:pPr>
            <a:endParaRPr lang="en-US" sz="1400" dirty="0" smtClean="0"/>
          </a:p>
          <a:p>
            <a:pPr marL="342900" indent="-342900" algn="just">
              <a:buFont typeface="+mj-lt"/>
              <a:buAutoNum type="arabicPeriod"/>
            </a:pPr>
            <a:endParaRPr lang="en-US" sz="1400" dirty="0" smtClean="0"/>
          </a:p>
          <a:p>
            <a:pPr marL="342900" indent="-342900" algn="just">
              <a:buFont typeface="+mj-lt"/>
              <a:buAutoNum type="arabicPeriod"/>
            </a:pPr>
            <a:endParaRPr lang="en-US" sz="1400" dirty="0"/>
          </a:p>
          <a:p>
            <a:pPr marL="342900" indent="-342900" algn="just">
              <a:buFont typeface="+mj-lt"/>
              <a:buAutoNum type="arabicPeriod"/>
            </a:pPr>
            <a:r>
              <a:rPr lang="en-US" sz="1400" dirty="0" err="1"/>
              <a:t>Sekarang</a:t>
            </a:r>
            <a:r>
              <a:rPr lang="en-US" sz="1400" dirty="0"/>
              <a:t> </a:t>
            </a:r>
            <a:r>
              <a:rPr lang="en-US" sz="1400" dirty="0" err="1"/>
              <a:t>kita</a:t>
            </a:r>
            <a:r>
              <a:rPr lang="en-US" sz="1400" dirty="0"/>
              <a:t> </a:t>
            </a:r>
            <a:r>
              <a:rPr lang="en-US" sz="1400" dirty="0" err="1"/>
              <a:t>buka</a:t>
            </a:r>
            <a:r>
              <a:rPr lang="en-US" sz="1400" dirty="0"/>
              <a:t> web browser </a:t>
            </a:r>
            <a:r>
              <a:rPr lang="en-US" sz="1400" dirty="0" err="1"/>
              <a:t>dan</a:t>
            </a:r>
            <a:r>
              <a:rPr lang="en-US" sz="1400" dirty="0"/>
              <a:t> </a:t>
            </a:r>
            <a:r>
              <a:rPr lang="en-US" sz="1400" dirty="0" err="1"/>
              <a:t>lihat</a:t>
            </a:r>
            <a:r>
              <a:rPr lang="en-US" sz="1400" dirty="0"/>
              <a:t> </a:t>
            </a:r>
            <a:r>
              <a:rPr lang="en-US" sz="1400" dirty="0" err="1"/>
              <a:t>apakah</a:t>
            </a:r>
            <a:r>
              <a:rPr lang="en-US" sz="1400" dirty="0"/>
              <a:t> simple </a:t>
            </a:r>
            <a:r>
              <a:rPr lang="en-US" sz="1400" dirty="0" err="1"/>
              <a:t>appsnya</a:t>
            </a:r>
            <a:r>
              <a:rPr lang="en-US" sz="1400" dirty="0"/>
              <a:t> </a:t>
            </a:r>
            <a:r>
              <a:rPr lang="en-US" sz="1400" dirty="0" err="1"/>
              <a:t>sudah</a:t>
            </a:r>
            <a:r>
              <a:rPr lang="en-US" sz="1400" dirty="0"/>
              <a:t> </a:t>
            </a:r>
            <a:r>
              <a:rPr lang="en-US" sz="1400" dirty="0" err="1"/>
              <a:t>jalan</a:t>
            </a:r>
            <a:r>
              <a:rPr lang="en-US" sz="1400" dirty="0"/>
              <a:t> </a:t>
            </a:r>
            <a:r>
              <a:rPr lang="en-US" sz="1400" dirty="0" err="1"/>
              <a:t>atau</a:t>
            </a:r>
            <a:r>
              <a:rPr lang="en-US" sz="1400" dirty="0"/>
              <a:t> </a:t>
            </a:r>
            <a:r>
              <a:rPr lang="en-US" sz="1400" dirty="0" err="1"/>
              <a:t>belum</a:t>
            </a:r>
            <a:r>
              <a:rPr lang="en-US" sz="1400" b="1" dirty="0"/>
              <a:t>.</a:t>
            </a:r>
          </a:p>
          <a:p>
            <a:pPr marL="342900" indent="-342900" algn="just">
              <a:buFont typeface="+mj-lt"/>
              <a:buAutoNum type="arabicPeriod" startAt="3"/>
            </a:pPr>
            <a:endParaRPr lang="en-US" sz="1400" b="1" dirty="0" smtClean="0"/>
          </a:p>
          <a:p>
            <a:pPr algn="just"/>
            <a:endParaRPr lang="en-US" sz="1400" b="1" dirty="0"/>
          </a:p>
        </p:txBody>
      </p:sp>
      <p:sp>
        <p:nvSpPr>
          <p:cNvPr id="10" name="Rectangle 9"/>
          <p:cNvSpPr/>
          <p:nvPr/>
        </p:nvSpPr>
        <p:spPr>
          <a:xfrm>
            <a:off x="552669" y="3156642"/>
            <a:ext cx="5622129" cy="1600438"/>
          </a:xfrm>
          <a:prstGeom prst="rect">
            <a:avLst/>
          </a:prstGeom>
          <a:solidFill>
            <a:schemeClr val="tx1"/>
          </a:solidFill>
        </p:spPr>
        <p:txBody>
          <a:bodyPr wrap="square">
            <a:spAutoFit/>
          </a:bodyPr>
          <a:lstStyle/>
          <a:p>
            <a:pPr algn="just"/>
            <a:r>
              <a:rPr lang="en-US" sz="1400" dirty="0" err="1" smtClean="0">
                <a:solidFill>
                  <a:schemeClr val="bg1">
                    <a:lumMod val="95000"/>
                  </a:schemeClr>
                </a:solidFill>
              </a:rPr>
              <a:t>root@panda</a:t>
            </a:r>
            <a:r>
              <a:rPr lang="en-US" sz="1400" dirty="0" smtClean="0">
                <a:solidFill>
                  <a:schemeClr val="bg1">
                    <a:lumMod val="95000"/>
                  </a:schemeClr>
                </a:solidFill>
              </a:rPr>
              <a:t>: /deploy/simple-apps# </a:t>
            </a:r>
            <a:r>
              <a:rPr lang="en-US" sz="1400" dirty="0" err="1" smtClean="0">
                <a:solidFill>
                  <a:schemeClr val="bg1">
                    <a:lumMod val="95000"/>
                  </a:schemeClr>
                </a:solidFill>
              </a:rPr>
              <a:t>docker</a:t>
            </a:r>
            <a:r>
              <a:rPr lang="en-US" sz="1400" dirty="0" smtClean="0">
                <a:solidFill>
                  <a:schemeClr val="bg1">
                    <a:lumMod val="95000"/>
                  </a:schemeClr>
                </a:solidFill>
              </a:rPr>
              <a:t> </a:t>
            </a:r>
            <a:r>
              <a:rPr lang="en-US" sz="1400" dirty="0" err="1" smtClean="0">
                <a:solidFill>
                  <a:schemeClr val="bg1">
                    <a:lumMod val="95000"/>
                  </a:schemeClr>
                </a:solidFill>
              </a:rPr>
              <a:t>ps</a:t>
            </a:r>
            <a:endParaRPr lang="en-US" sz="1400" dirty="0" smtClean="0">
              <a:solidFill>
                <a:schemeClr val="bg1">
                  <a:lumMod val="95000"/>
                </a:schemeClr>
              </a:solidFill>
            </a:endParaRPr>
          </a:p>
          <a:p>
            <a:pPr algn="just"/>
            <a:endParaRPr lang="en-US" sz="1400" dirty="0">
              <a:solidFill>
                <a:schemeClr val="bg1">
                  <a:lumMod val="95000"/>
                </a:schemeClr>
              </a:solidFill>
            </a:endParaRPr>
          </a:p>
          <a:p>
            <a:pPr algn="just"/>
            <a:endParaRPr lang="en-US" sz="1400" dirty="0" smtClean="0">
              <a:solidFill>
                <a:schemeClr val="bg1">
                  <a:lumMod val="95000"/>
                </a:schemeClr>
              </a:solidFill>
            </a:endParaRPr>
          </a:p>
          <a:p>
            <a:pPr algn="just"/>
            <a:endParaRPr lang="en-US" sz="1400" dirty="0">
              <a:solidFill>
                <a:schemeClr val="bg1">
                  <a:lumMod val="95000"/>
                </a:schemeClr>
              </a:solidFill>
            </a:endParaRPr>
          </a:p>
          <a:p>
            <a:pPr algn="just"/>
            <a:endParaRPr lang="en-US" sz="1400" dirty="0" smtClean="0">
              <a:solidFill>
                <a:schemeClr val="bg1">
                  <a:lumMod val="95000"/>
                </a:schemeClr>
              </a:solidFill>
            </a:endParaRPr>
          </a:p>
          <a:p>
            <a:pPr algn="just"/>
            <a:endParaRPr lang="en-US" sz="1400" dirty="0">
              <a:solidFill>
                <a:schemeClr val="bg1">
                  <a:lumMod val="95000"/>
                </a:schemeClr>
              </a:solidFill>
            </a:endParaRPr>
          </a:p>
          <a:p>
            <a:pPr algn="just"/>
            <a:r>
              <a:rPr lang="en-US" sz="1400" dirty="0" err="1">
                <a:solidFill>
                  <a:schemeClr val="bg1">
                    <a:lumMod val="95000"/>
                  </a:schemeClr>
                </a:solidFill>
              </a:rPr>
              <a:t>root@panda</a:t>
            </a:r>
            <a:r>
              <a:rPr lang="en-US" sz="1400" dirty="0">
                <a:solidFill>
                  <a:schemeClr val="bg1">
                    <a:lumMod val="95000"/>
                  </a:schemeClr>
                </a:solidFill>
              </a:rPr>
              <a:t>: /deploy/simple-apps</a:t>
            </a:r>
            <a:r>
              <a:rPr lang="en-US" sz="1400" dirty="0" smtClean="0">
                <a:solidFill>
                  <a:schemeClr val="bg1">
                    <a:lumMod val="95000"/>
                  </a:schemeClr>
                </a:solidFill>
              </a:rPr>
              <a:t>#</a:t>
            </a:r>
          </a:p>
        </p:txBody>
      </p:sp>
      <p:pic>
        <p:nvPicPr>
          <p:cNvPr id="3" name="Picture 2"/>
          <p:cNvPicPr>
            <a:picLocks noChangeAspect="1"/>
          </p:cNvPicPr>
          <p:nvPr/>
        </p:nvPicPr>
        <p:blipFill>
          <a:blip r:embed="rId3"/>
          <a:stretch>
            <a:fillRect/>
          </a:stretch>
        </p:blipFill>
        <p:spPr>
          <a:xfrm>
            <a:off x="552669" y="3532998"/>
            <a:ext cx="5622129" cy="847725"/>
          </a:xfrm>
          <a:prstGeom prst="rect">
            <a:avLst/>
          </a:prstGeom>
        </p:spPr>
      </p:pic>
      <p:pic>
        <p:nvPicPr>
          <p:cNvPr id="5" name="Picture 4"/>
          <p:cNvPicPr>
            <a:picLocks noChangeAspect="1"/>
          </p:cNvPicPr>
          <p:nvPr/>
        </p:nvPicPr>
        <p:blipFill>
          <a:blip r:embed="rId4"/>
          <a:stretch>
            <a:fillRect/>
          </a:stretch>
        </p:blipFill>
        <p:spPr>
          <a:xfrm>
            <a:off x="583623" y="5454175"/>
            <a:ext cx="5591175" cy="1009650"/>
          </a:xfrm>
          <a:prstGeom prst="rect">
            <a:avLst/>
          </a:prstGeom>
        </p:spPr>
      </p:pic>
      <p:sp>
        <p:nvSpPr>
          <p:cNvPr id="13" name="Rectangle 12"/>
          <p:cNvSpPr/>
          <p:nvPr/>
        </p:nvSpPr>
        <p:spPr>
          <a:xfrm>
            <a:off x="6174798" y="519182"/>
            <a:ext cx="5838497" cy="738664"/>
          </a:xfrm>
          <a:prstGeom prst="rect">
            <a:avLst/>
          </a:prstGeom>
        </p:spPr>
        <p:txBody>
          <a:bodyPr wrap="square">
            <a:spAutoFit/>
          </a:bodyPr>
          <a:lstStyle/>
          <a:p>
            <a:pPr marL="342900" indent="-342900" algn="just" fontAlgn="base">
              <a:buFont typeface="+mj-lt"/>
              <a:buAutoNum type="arabicPeriod" startAt="4"/>
            </a:pPr>
            <a:r>
              <a:rPr lang="en-US" sz="1400" dirty="0" err="1"/>
              <a:t>Kemudian</a:t>
            </a:r>
            <a:r>
              <a:rPr lang="en-US" sz="1400" dirty="0"/>
              <a:t> </a:t>
            </a:r>
            <a:r>
              <a:rPr lang="en-US" sz="1400" dirty="0" err="1"/>
              <a:t>kita</a:t>
            </a:r>
            <a:r>
              <a:rPr lang="en-US" sz="1400" dirty="0"/>
              <a:t> </a:t>
            </a:r>
            <a:r>
              <a:rPr lang="en-US" sz="1400" dirty="0" err="1"/>
              <a:t>coba</a:t>
            </a:r>
            <a:r>
              <a:rPr lang="en-US" sz="1400" dirty="0"/>
              <a:t> </a:t>
            </a:r>
            <a:r>
              <a:rPr lang="en-US" sz="1400" dirty="0" err="1"/>
              <a:t>ubah</a:t>
            </a:r>
            <a:r>
              <a:rPr lang="en-US" sz="1400" dirty="0"/>
              <a:t> </a:t>
            </a:r>
            <a:r>
              <a:rPr lang="en-US" sz="1400" dirty="0" err="1"/>
              <a:t>pathnya</a:t>
            </a:r>
            <a:r>
              <a:rPr lang="en-US" sz="1400" dirty="0"/>
              <a:t> </a:t>
            </a:r>
            <a:r>
              <a:rPr lang="en-US" sz="1400" dirty="0" err="1"/>
              <a:t>ke</a:t>
            </a:r>
            <a:r>
              <a:rPr lang="en-US" sz="1400" dirty="0"/>
              <a:t> /users. </a:t>
            </a:r>
            <a:r>
              <a:rPr lang="en-US" sz="1400" dirty="0" err="1"/>
              <a:t>Jika</a:t>
            </a:r>
            <a:r>
              <a:rPr lang="en-US" sz="1400" dirty="0"/>
              <a:t> </a:t>
            </a:r>
            <a:r>
              <a:rPr lang="en-US" sz="1400" dirty="0" err="1"/>
              <a:t>berhasil</a:t>
            </a:r>
            <a:r>
              <a:rPr lang="en-US" sz="1400" dirty="0"/>
              <a:t> </a:t>
            </a:r>
            <a:r>
              <a:rPr lang="en-US" sz="1400" dirty="0" err="1"/>
              <a:t>akan</a:t>
            </a:r>
            <a:r>
              <a:rPr lang="en-US" sz="1400" dirty="0"/>
              <a:t> </a:t>
            </a:r>
            <a:r>
              <a:rPr lang="en-US" sz="1400" dirty="0" err="1"/>
              <a:t>menampilkan</a:t>
            </a:r>
            <a:r>
              <a:rPr lang="en-US" sz="1400" dirty="0"/>
              <a:t> </a:t>
            </a:r>
            <a:r>
              <a:rPr lang="en-US" sz="1400" dirty="0" err="1"/>
              <a:t>json</a:t>
            </a:r>
            <a:r>
              <a:rPr lang="en-US" sz="1400" dirty="0"/>
              <a:t> </a:t>
            </a:r>
            <a:r>
              <a:rPr lang="en-US" sz="1400" dirty="0" err="1"/>
              <a:t>dalam</a:t>
            </a:r>
            <a:r>
              <a:rPr lang="en-US" sz="1400" dirty="0"/>
              <a:t> </a:t>
            </a:r>
            <a:r>
              <a:rPr lang="en-US" sz="1400" dirty="0" err="1"/>
              <a:t>bentuk</a:t>
            </a:r>
            <a:r>
              <a:rPr lang="en-US" sz="1400" dirty="0"/>
              <a:t> raw. </a:t>
            </a:r>
            <a:r>
              <a:rPr lang="en-US" sz="1400" dirty="0" err="1"/>
              <a:t>Disini</a:t>
            </a:r>
            <a:r>
              <a:rPr lang="en-US" sz="1400" dirty="0"/>
              <a:t> </a:t>
            </a:r>
            <a:r>
              <a:rPr lang="en-US" sz="1400" dirty="0" err="1"/>
              <a:t>karena</a:t>
            </a:r>
            <a:r>
              <a:rPr lang="en-US" sz="1400" dirty="0"/>
              <a:t> </a:t>
            </a:r>
            <a:r>
              <a:rPr lang="en-US" sz="1400" dirty="0" err="1"/>
              <a:t>saya</a:t>
            </a:r>
            <a:r>
              <a:rPr lang="en-US" sz="1400" dirty="0"/>
              <a:t> </a:t>
            </a:r>
            <a:r>
              <a:rPr lang="en-US" sz="1400" dirty="0" err="1"/>
              <a:t>menggunakan</a:t>
            </a:r>
            <a:r>
              <a:rPr lang="en-US" sz="1400" dirty="0"/>
              <a:t> browser </a:t>
            </a:r>
            <a:r>
              <a:rPr lang="en-US" sz="1400" dirty="0" err="1"/>
              <a:t>firefox</a:t>
            </a:r>
            <a:r>
              <a:rPr lang="en-US" sz="1400" dirty="0"/>
              <a:t> </a:t>
            </a:r>
            <a:r>
              <a:rPr lang="en-US" sz="1400" dirty="0" err="1"/>
              <a:t>jadi</a:t>
            </a:r>
            <a:r>
              <a:rPr lang="en-US" sz="1400" dirty="0"/>
              <a:t> </a:t>
            </a:r>
            <a:r>
              <a:rPr lang="en-US" sz="1400" dirty="0" err="1"/>
              <a:t>bisa</a:t>
            </a:r>
            <a:r>
              <a:rPr lang="en-US" sz="1400" dirty="0"/>
              <a:t> </a:t>
            </a:r>
            <a:r>
              <a:rPr lang="en-US" sz="1400" dirty="0" err="1"/>
              <a:t>ditampilkan</a:t>
            </a:r>
            <a:r>
              <a:rPr lang="en-US" sz="1400" dirty="0"/>
              <a:t> </a:t>
            </a:r>
            <a:r>
              <a:rPr lang="en-US" sz="1400" dirty="0" err="1"/>
              <a:t>dalam</a:t>
            </a:r>
            <a:r>
              <a:rPr lang="en-US" sz="1400" dirty="0"/>
              <a:t> </a:t>
            </a:r>
            <a:r>
              <a:rPr lang="en-US" sz="1400" dirty="0" err="1"/>
              <a:t>bentu</a:t>
            </a:r>
            <a:r>
              <a:rPr lang="en-US" sz="1400" dirty="0"/>
              <a:t> raw </a:t>
            </a:r>
            <a:r>
              <a:rPr lang="en-US" sz="1400" dirty="0" err="1"/>
              <a:t>dan</a:t>
            </a:r>
            <a:r>
              <a:rPr lang="en-US" sz="1400" dirty="0"/>
              <a:t> </a:t>
            </a:r>
            <a:r>
              <a:rPr lang="en-US" sz="1400" dirty="0" err="1"/>
              <a:t>json</a:t>
            </a:r>
            <a:r>
              <a:rPr lang="en-US" sz="1400" dirty="0"/>
              <a:t>.</a:t>
            </a:r>
            <a:endParaRPr lang="en-US" sz="1400" b="1" dirty="0"/>
          </a:p>
        </p:txBody>
      </p:sp>
      <p:pic>
        <p:nvPicPr>
          <p:cNvPr id="6" name="Picture 5"/>
          <p:cNvPicPr>
            <a:picLocks noChangeAspect="1"/>
          </p:cNvPicPr>
          <p:nvPr/>
        </p:nvPicPr>
        <p:blipFill>
          <a:blip r:embed="rId5"/>
          <a:stretch>
            <a:fillRect/>
          </a:stretch>
        </p:blipFill>
        <p:spPr>
          <a:xfrm>
            <a:off x="6638236" y="1421219"/>
            <a:ext cx="5375060" cy="1289861"/>
          </a:xfrm>
          <a:prstGeom prst="rect">
            <a:avLst/>
          </a:prstGeom>
        </p:spPr>
      </p:pic>
    </p:spTree>
    <p:extLst>
      <p:ext uri="{BB962C8B-B14F-4D97-AF65-F5344CB8AC3E}">
        <p14:creationId xmlns:p14="http://schemas.microsoft.com/office/powerpoint/2010/main" val="384818089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667" y="2786591"/>
            <a:ext cx="10515600" cy="1325563"/>
          </a:xfrm>
        </p:spPr>
        <p:txBody>
          <a:bodyPr/>
          <a:lstStyle/>
          <a:p>
            <a:pPr algn="ctr"/>
            <a:r>
              <a:rPr lang="en-US" b="1" dirty="0" smtClean="0">
                <a:solidFill>
                  <a:srgbClr val="002060"/>
                </a:solidFill>
              </a:rPr>
              <a:t>Docker </a:t>
            </a:r>
            <a:r>
              <a:rPr lang="en-US" u="sng" dirty="0" smtClean="0">
                <a:solidFill>
                  <a:srgbClr val="0070C0"/>
                </a:solidFill>
              </a:rPr>
              <a:t>Containers </a:t>
            </a:r>
            <a:r>
              <a:rPr lang="en-US" u="sng" dirty="0">
                <a:solidFill>
                  <a:srgbClr val="0070C0"/>
                </a:solidFill>
              </a:rPr>
              <a:t>For Deep Learning</a:t>
            </a:r>
          </a:p>
        </p:txBody>
      </p:sp>
    </p:spTree>
    <p:extLst>
      <p:ext uri="{BB962C8B-B14F-4D97-AF65-F5344CB8AC3E}">
        <p14:creationId xmlns:p14="http://schemas.microsoft.com/office/powerpoint/2010/main" val="330019615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sp>
        <p:nvSpPr>
          <p:cNvPr id="4" name="Rectangle 3"/>
          <p:cNvSpPr/>
          <p:nvPr/>
        </p:nvSpPr>
        <p:spPr>
          <a:xfrm>
            <a:off x="178676" y="1499237"/>
            <a:ext cx="5228896" cy="1692771"/>
          </a:xfrm>
          <a:prstGeom prst="rect">
            <a:avLst/>
          </a:prstGeom>
        </p:spPr>
        <p:txBody>
          <a:bodyPr wrap="square">
            <a:spAutoFit/>
          </a:bodyPr>
          <a:lstStyle/>
          <a:p>
            <a:pPr algn="just"/>
            <a:r>
              <a:rPr lang="en-US" sz="2400" b="1" dirty="0" smtClean="0">
                <a:solidFill>
                  <a:srgbClr val="002060"/>
                </a:solidFill>
              </a:rPr>
              <a:t>OpenMAP-T1</a:t>
            </a:r>
          </a:p>
          <a:p>
            <a:pPr algn="just"/>
            <a:endParaRPr lang="en-US" sz="2400" b="1" dirty="0">
              <a:solidFill>
                <a:srgbClr val="002060"/>
              </a:solidFill>
            </a:endParaRPr>
          </a:p>
          <a:p>
            <a:pPr algn="just"/>
            <a:r>
              <a:rPr lang="en-US" sz="1400" b="1" dirty="0"/>
              <a:t>OpenMAP-T1: A Rapid Deep-Learning Approach to </a:t>
            </a:r>
            <a:r>
              <a:rPr lang="en-US" sz="1400" b="1" dirty="0" err="1"/>
              <a:t>Parcellate</a:t>
            </a:r>
            <a:r>
              <a:rPr lang="en-US" sz="1400" b="1" dirty="0"/>
              <a:t> 280 Anatomical Regions to Cover the Whole Brain</a:t>
            </a:r>
          </a:p>
          <a:p>
            <a:pPr algn="just"/>
            <a:r>
              <a:rPr lang="en-US" sz="1400" b="1" dirty="0"/>
              <a:t>Author: Kei </a:t>
            </a:r>
            <a:r>
              <a:rPr lang="en-US" sz="1400" b="1" dirty="0" err="1"/>
              <a:t>Nishimaki</a:t>
            </a:r>
            <a:r>
              <a:rPr lang="en-US" sz="1400" b="1" dirty="0"/>
              <a:t>, </a:t>
            </a:r>
            <a:r>
              <a:rPr lang="en-US" sz="1400" b="1" dirty="0" err="1"/>
              <a:t>Kengo</a:t>
            </a:r>
            <a:r>
              <a:rPr lang="en-US" sz="1400" b="1" dirty="0"/>
              <a:t> </a:t>
            </a:r>
            <a:r>
              <a:rPr lang="en-US" sz="1400" b="1" dirty="0" err="1"/>
              <a:t>Onda</a:t>
            </a:r>
            <a:r>
              <a:rPr lang="en-US" sz="1400" b="1" dirty="0"/>
              <a:t>, </a:t>
            </a:r>
            <a:r>
              <a:rPr lang="en-US" sz="1400" b="1" dirty="0" err="1"/>
              <a:t>Kumpei</a:t>
            </a:r>
            <a:r>
              <a:rPr lang="en-US" sz="1400" b="1" dirty="0"/>
              <a:t> Ikuta, Jill </a:t>
            </a:r>
            <a:r>
              <a:rPr lang="en-US" sz="1400" b="1" dirty="0" err="1"/>
              <a:t>Chotiyanonta</a:t>
            </a:r>
            <a:r>
              <a:rPr lang="en-US" sz="1400" b="1" dirty="0"/>
              <a:t>, </a:t>
            </a:r>
            <a:r>
              <a:rPr lang="en-US" sz="1400" b="1" dirty="0" err="1"/>
              <a:t>Yuto</a:t>
            </a:r>
            <a:r>
              <a:rPr lang="en-US" sz="1400" b="1" dirty="0"/>
              <a:t> Uchida, Susumu Mori, Hitoshi </a:t>
            </a:r>
            <a:r>
              <a:rPr lang="en-US" sz="1400" b="1" dirty="0" err="1"/>
              <a:t>Iyatomi</a:t>
            </a:r>
            <a:r>
              <a:rPr lang="en-US" sz="1400" b="1" dirty="0"/>
              <a:t>, Kenichi </a:t>
            </a:r>
            <a:r>
              <a:rPr lang="en-US" sz="1400" b="1" dirty="0" err="1"/>
              <a:t>Oishi</a:t>
            </a:r>
            <a:endParaRPr lang="en-US" sz="1400" b="1" dirty="0" smtClean="0"/>
          </a:p>
        </p:txBody>
      </p:sp>
      <p:sp>
        <p:nvSpPr>
          <p:cNvPr id="10" name="Rectangle 9"/>
          <p:cNvSpPr/>
          <p:nvPr/>
        </p:nvSpPr>
        <p:spPr>
          <a:xfrm>
            <a:off x="5649310" y="395650"/>
            <a:ext cx="6237890" cy="2862322"/>
          </a:xfrm>
          <a:prstGeom prst="rect">
            <a:avLst/>
          </a:prstGeom>
        </p:spPr>
        <p:txBody>
          <a:bodyPr wrap="square">
            <a:spAutoFit/>
          </a:bodyPr>
          <a:lstStyle/>
          <a:p>
            <a:pPr algn="just"/>
            <a:r>
              <a:rPr lang="en-US" sz="2400" b="1" dirty="0" err="1" smtClean="0">
                <a:solidFill>
                  <a:srgbClr val="002060"/>
                </a:solidFill>
              </a:rPr>
              <a:t>Instalasi</a:t>
            </a:r>
            <a:endParaRPr lang="en-US" sz="2400" b="1" dirty="0" smtClean="0">
              <a:solidFill>
                <a:srgbClr val="002060"/>
              </a:solidFill>
            </a:endParaRPr>
          </a:p>
          <a:p>
            <a:pPr algn="just"/>
            <a:endParaRPr lang="en-US" sz="2400" b="1" dirty="0" smtClean="0">
              <a:solidFill>
                <a:srgbClr val="002060"/>
              </a:solidFill>
            </a:endParaRPr>
          </a:p>
          <a:p>
            <a:pPr marL="342900" indent="-342900" algn="just">
              <a:buFont typeface="+mj-lt"/>
              <a:buAutoNum type="arabicPeriod"/>
            </a:pPr>
            <a:r>
              <a:rPr lang="en-US" dirty="0" err="1"/>
              <a:t>Lakukan</a:t>
            </a:r>
            <a:r>
              <a:rPr lang="en-US" dirty="0"/>
              <a:t> update </a:t>
            </a:r>
            <a:r>
              <a:rPr lang="en-US" dirty="0" err="1"/>
              <a:t>pada</a:t>
            </a:r>
            <a:r>
              <a:rPr lang="en-US" dirty="0"/>
              <a:t> server </a:t>
            </a:r>
            <a:r>
              <a:rPr lang="en-US" dirty="0" err="1"/>
              <a:t>dan</a:t>
            </a:r>
            <a:r>
              <a:rPr lang="en-US" dirty="0"/>
              <a:t> </a:t>
            </a:r>
            <a:r>
              <a:rPr lang="en-US" dirty="0" err="1"/>
              <a:t>instal</a:t>
            </a:r>
            <a:r>
              <a:rPr lang="en-US" dirty="0"/>
              <a:t> package docker.</a:t>
            </a:r>
            <a:r>
              <a:rPr lang="en-US" dirty="0" err="1"/>
              <a:t>io</a:t>
            </a:r>
            <a:r>
              <a:rPr lang="en-US" dirty="0"/>
              <a:t>.$</a:t>
            </a:r>
            <a:r>
              <a:rPr lang="en-US" dirty="0" err="1"/>
              <a:t>sudo</a:t>
            </a:r>
            <a:r>
              <a:rPr lang="en-US" dirty="0"/>
              <a:t> apt update -y &amp;&amp; </a:t>
            </a:r>
            <a:r>
              <a:rPr lang="en-US" dirty="0" err="1"/>
              <a:t>sudo</a:t>
            </a:r>
            <a:r>
              <a:rPr lang="en-US" dirty="0"/>
              <a:t> apt install docker.io</a:t>
            </a:r>
          </a:p>
          <a:p>
            <a:pPr marL="342900" indent="-342900" algn="just">
              <a:buFont typeface="+mj-lt"/>
              <a:buAutoNum type="arabicPeriod"/>
            </a:pPr>
            <a:r>
              <a:rPr lang="en-US" dirty="0" err="1"/>
              <a:t>Instal</a:t>
            </a:r>
            <a:r>
              <a:rPr lang="en-US" dirty="0"/>
              <a:t> </a:t>
            </a:r>
            <a:r>
              <a:rPr lang="en-US" dirty="0" err="1"/>
              <a:t>juga</a:t>
            </a:r>
            <a:r>
              <a:rPr lang="en-US" dirty="0"/>
              <a:t> package virtual environment python3 </a:t>
            </a:r>
            <a:r>
              <a:rPr lang="en-US" dirty="0" err="1"/>
              <a:t>untuk</a:t>
            </a:r>
            <a:r>
              <a:rPr lang="en-US" dirty="0"/>
              <a:t> </a:t>
            </a:r>
            <a:r>
              <a:rPr lang="en-US" dirty="0" err="1"/>
              <a:t>uji</a:t>
            </a:r>
            <a:r>
              <a:rPr lang="en-US" dirty="0"/>
              <a:t> </a:t>
            </a:r>
            <a:r>
              <a:rPr lang="en-US" dirty="0" err="1"/>
              <a:t>coba</a:t>
            </a:r>
            <a:r>
              <a:rPr lang="en-US" dirty="0"/>
              <a:t> </a:t>
            </a:r>
            <a:r>
              <a:rPr lang="en-US" dirty="0" err="1"/>
              <a:t>menjalankan</a:t>
            </a:r>
            <a:r>
              <a:rPr lang="en-US" dirty="0"/>
              <a:t> </a:t>
            </a:r>
            <a:r>
              <a:rPr lang="en-US" dirty="0" err="1"/>
              <a:t>aplikasi</a:t>
            </a:r>
            <a:r>
              <a:rPr lang="en-US" dirty="0"/>
              <a:t> </a:t>
            </a:r>
            <a:r>
              <a:rPr lang="en-US" dirty="0" err="1"/>
              <a:t>webnya</a:t>
            </a:r>
            <a:r>
              <a:rPr lang="en-US" dirty="0"/>
              <a:t>.$</a:t>
            </a:r>
            <a:r>
              <a:rPr lang="en-US" dirty="0" err="1"/>
              <a:t>sudo</a:t>
            </a:r>
            <a:r>
              <a:rPr lang="en-US" dirty="0"/>
              <a:t> apt install python3.8-venv -y</a:t>
            </a:r>
          </a:p>
          <a:p>
            <a:pPr marL="342900" indent="-342900" algn="just">
              <a:buFont typeface="+mj-lt"/>
              <a:buAutoNum type="arabicPeriod"/>
            </a:pPr>
            <a:r>
              <a:rPr lang="en-US" dirty="0"/>
              <a:t>p</a:t>
            </a:r>
          </a:p>
          <a:p>
            <a:pPr algn="just"/>
            <a:endParaRPr lang="en-US" sz="2400" b="1" dirty="0" smtClean="0">
              <a:solidFill>
                <a:srgbClr val="002060"/>
              </a:solidFill>
            </a:endParaRPr>
          </a:p>
        </p:txBody>
      </p:sp>
      <p:pic>
        <p:nvPicPr>
          <p:cNvPr id="3" name="Picture 2"/>
          <p:cNvPicPr>
            <a:picLocks noChangeAspect="1"/>
          </p:cNvPicPr>
          <p:nvPr/>
        </p:nvPicPr>
        <p:blipFill>
          <a:blip r:embed="rId3"/>
          <a:stretch>
            <a:fillRect/>
          </a:stretch>
        </p:blipFill>
        <p:spPr>
          <a:xfrm>
            <a:off x="275095" y="3613886"/>
            <a:ext cx="5374215" cy="2835618"/>
          </a:xfrm>
          <a:prstGeom prst="rect">
            <a:avLst/>
          </a:prstGeom>
        </p:spPr>
      </p:pic>
    </p:spTree>
    <p:extLst>
      <p:ext uri="{BB962C8B-B14F-4D97-AF65-F5344CB8AC3E}">
        <p14:creationId xmlns:p14="http://schemas.microsoft.com/office/powerpoint/2010/main" val="260735945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63276" y="519182"/>
            <a:ext cx="1888068" cy="1116355"/>
          </a:xfrm>
        </p:spPr>
        <p:txBody>
          <a:bodyPr>
            <a:normAutofit/>
          </a:bodyPr>
          <a:lstStyle/>
          <a:p>
            <a:pPr algn="just"/>
            <a:r>
              <a:rPr lang="en-US" b="1" dirty="0" smtClean="0">
                <a:solidFill>
                  <a:srgbClr val="002060"/>
                </a:solidFill>
              </a:rPr>
              <a:t>Image</a:t>
            </a:r>
            <a:endParaRPr lang="en-US" sz="2000" b="1" dirty="0">
              <a:solidFill>
                <a:srgbClr val="002060"/>
              </a:solidFill>
            </a:endParaRPr>
          </a:p>
        </p:txBody>
      </p:sp>
      <p:sp>
        <p:nvSpPr>
          <p:cNvPr id="7" name="Rectangle 6"/>
          <p:cNvSpPr/>
          <p:nvPr/>
        </p:nvSpPr>
        <p:spPr>
          <a:xfrm>
            <a:off x="0" y="61696"/>
            <a:ext cx="2363980" cy="1015663"/>
          </a:xfrm>
          <a:prstGeom prst="rect">
            <a:avLst/>
          </a:prstGeom>
        </p:spPr>
        <p:txBody>
          <a:bodyPr wrap="none">
            <a:spAutoFit/>
          </a:bodyPr>
          <a:lstStyle/>
          <a:p>
            <a:r>
              <a:rPr lang="en-US" sz="6000" dirty="0">
                <a:solidFill>
                  <a:srgbClr val="FFC000"/>
                </a:solidFill>
              </a:rPr>
              <a:t>Docker</a:t>
            </a:r>
          </a:p>
        </p:txBody>
      </p:sp>
      <p:pic>
        <p:nvPicPr>
          <p:cNvPr id="3" name="Picture 2"/>
          <p:cNvPicPr>
            <a:picLocks noChangeAspect="1"/>
          </p:cNvPicPr>
          <p:nvPr/>
        </p:nvPicPr>
        <p:blipFill>
          <a:blip r:embed="rId3"/>
          <a:stretch>
            <a:fillRect/>
          </a:stretch>
        </p:blipFill>
        <p:spPr>
          <a:xfrm>
            <a:off x="279400" y="1534845"/>
            <a:ext cx="4795308" cy="3968096"/>
          </a:xfrm>
          <a:prstGeom prst="rect">
            <a:avLst/>
          </a:prstGeom>
        </p:spPr>
      </p:pic>
      <p:sp>
        <p:nvSpPr>
          <p:cNvPr id="4" name="Rectangle 3"/>
          <p:cNvSpPr/>
          <p:nvPr/>
        </p:nvSpPr>
        <p:spPr>
          <a:xfrm>
            <a:off x="279400" y="5591095"/>
            <a:ext cx="4644220" cy="369332"/>
          </a:xfrm>
          <a:prstGeom prst="rect">
            <a:avLst/>
          </a:prstGeom>
        </p:spPr>
        <p:txBody>
          <a:bodyPr wrap="none">
            <a:spAutoFit/>
          </a:bodyPr>
          <a:lstStyle/>
          <a:p>
            <a:r>
              <a:rPr lang="en-US" dirty="0"/>
              <a:t>https://hub.docker.com/r/cschranz/gpu-jupyter</a:t>
            </a:r>
          </a:p>
        </p:txBody>
      </p:sp>
      <p:sp>
        <p:nvSpPr>
          <p:cNvPr id="9" name="Rectangle 8"/>
          <p:cNvSpPr/>
          <p:nvPr/>
        </p:nvSpPr>
        <p:spPr>
          <a:xfrm>
            <a:off x="279400" y="1142491"/>
            <a:ext cx="2933175" cy="523220"/>
          </a:xfrm>
          <a:prstGeom prst="rect">
            <a:avLst/>
          </a:prstGeom>
        </p:spPr>
        <p:txBody>
          <a:bodyPr wrap="none">
            <a:spAutoFit/>
          </a:bodyPr>
          <a:lstStyle/>
          <a:p>
            <a:r>
              <a:rPr lang="en-US" sz="2800" dirty="0" err="1" smtClean="0">
                <a:solidFill>
                  <a:srgbClr val="0070C0"/>
                </a:solidFill>
              </a:rPr>
              <a:t>MultiGPUs-Jupyter</a:t>
            </a:r>
            <a:endParaRPr lang="en-US" sz="2800" dirty="0">
              <a:solidFill>
                <a:srgbClr val="0070C0"/>
              </a:solidFill>
            </a:endParaRPr>
          </a:p>
        </p:txBody>
      </p:sp>
      <p:pic>
        <p:nvPicPr>
          <p:cNvPr id="5" name="Picture 4"/>
          <p:cNvPicPr>
            <a:picLocks noChangeAspect="1"/>
          </p:cNvPicPr>
          <p:nvPr/>
        </p:nvPicPr>
        <p:blipFill>
          <a:blip r:embed="rId4"/>
          <a:stretch>
            <a:fillRect/>
          </a:stretch>
        </p:blipFill>
        <p:spPr>
          <a:xfrm>
            <a:off x="5636528" y="825697"/>
            <a:ext cx="5033315" cy="3559765"/>
          </a:xfrm>
          <a:prstGeom prst="rect">
            <a:avLst/>
          </a:prstGeom>
        </p:spPr>
      </p:pic>
      <p:sp>
        <p:nvSpPr>
          <p:cNvPr id="6" name="Rectangle 5"/>
          <p:cNvSpPr/>
          <p:nvPr/>
        </p:nvSpPr>
        <p:spPr>
          <a:xfrm>
            <a:off x="5636528" y="4155156"/>
            <a:ext cx="6096000" cy="738664"/>
          </a:xfrm>
          <a:prstGeom prst="rect">
            <a:avLst/>
          </a:prstGeom>
        </p:spPr>
        <p:txBody>
          <a:bodyPr>
            <a:spAutoFit/>
          </a:bodyPr>
          <a:lstStyle/>
          <a:p>
            <a:r>
              <a:rPr lang="en-US" sz="1200" dirty="0">
                <a:solidFill>
                  <a:schemeClr val="bg1">
                    <a:lumMod val="85000"/>
                  </a:schemeClr>
                </a:solidFill>
              </a:rPr>
              <a:t>@Kin-Zhang </a:t>
            </a:r>
            <a:r>
              <a:rPr lang="en-US" sz="1200" dirty="0" err="1">
                <a:solidFill>
                  <a:schemeClr val="bg1">
                    <a:lumMod val="85000"/>
                  </a:schemeClr>
                </a:solidFill>
              </a:rPr>
              <a:t>Kin-Zhang</a:t>
            </a:r>
            <a:r>
              <a:rPr lang="en-US" sz="1200" dirty="0">
                <a:solidFill>
                  <a:schemeClr val="bg1">
                    <a:lumMod val="85000"/>
                  </a:schemeClr>
                </a:solidFill>
              </a:rPr>
              <a:t> mentioned this pull request on Apr </a:t>
            </a:r>
            <a:r>
              <a:rPr lang="en-US" sz="1200" dirty="0" smtClean="0">
                <a:solidFill>
                  <a:schemeClr val="bg1">
                    <a:lumMod val="85000"/>
                  </a:schemeClr>
                </a:solidFill>
              </a:rPr>
              <a:t>20</a:t>
            </a:r>
          </a:p>
          <a:p>
            <a:r>
              <a:rPr lang="en-US" sz="1200" dirty="0">
                <a:solidFill>
                  <a:schemeClr val="bg1">
                    <a:lumMod val="50000"/>
                  </a:schemeClr>
                </a:solidFill>
              </a:rPr>
              <a:t>https://github.com/lllyasviel/FramePack/pull/106</a:t>
            </a:r>
          </a:p>
          <a:p>
            <a:r>
              <a:rPr lang="en-US" dirty="0"/>
              <a:t>Multi GPUs in </a:t>
            </a:r>
            <a:r>
              <a:rPr lang="en-US" dirty="0" err="1"/>
              <a:t>docker</a:t>
            </a:r>
            <a:r>
              <a:rPr lang="en-US" dirty="0"/>
              <a:t> </a:t>
            </a:r>
            <a:r>
              <a:rPr lang="en-US" dirty="0" err="1"/>
              <a:t>nvidia</a:t>
            </a:r>
            <a:r>
              <a:rPr lang="en-US" dirty="0"/>
              <a:t> container #135</a:t>
            </a:r>
          </a:p>
        </p:txBody>
      </p:sp>
      <p:sp>
        <p:nvSpPr>
          <p:cNvPr id="15" name="Rectangle 14"/>
          <p:cNvSpPr/>
          <p:nvPr/>
        </p:nvSpPr>
        <p:spPr>
          <a:xfrm>
            <a:off x="5636528" y="4893820"/>
            <a:ext cx="5196423" cy="369332"/>
          </a:xfrm>
          <a:prstGeom prst="rect">
            <a:avLst/>
          </a:prstGeom>
        </p:spPr>
        <p:txBody>
          <a:bodyPr wrap="none">
            <a:spAutoFit/>
          </a:bodyPr>
          <a:lstStyle/>
          <a:p>
            <a:r>
              <a:rPr lang="en-US" dirty="0"/>
              <a:t>https://github.com/mmartial/ComfyUI-Nvidia-Docker</a:t>
            </a:r>
          </a:p>
        </p:txBody>
      </p:sp>
    </p:spTree>
    <p:extLst>
      <p:ext uri="{BB962C8B-B14F-4D97-AF65-F5344CB8AC3E}">
        <p14:creationId xmlns:p14="http://schemas.microsoft.com/office/powerpoint/2010/main" val="3558517141"/>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THX</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385593745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4015</TotalTime>
  <Words>3768</Words>
  <Application>Microsoft Office PowerPoint</Application>
  <PresentationFormat>Widescreen</PresentationFormat>
  <Paragraphs>565</Paragraphs>
  <Slides>31</Slides>
  <Notes>21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Malgun Gothic</vt:lpstr>
      <vt:lpstr>Arial</vt:lpstr>
      <vt:lpstr>Calibri</vt:lpstr>
      <vt:lpstr>Calibri Light</vt:lpstr>
      <vt:lpstr>Fira Code</vt:lpstr>
      <vt:lpstr>Noto Sans</vt:lpstr>
      <vt:lpstr>Wingdings</vt:lpstr>
      <vt:lpstr>Office Theme</vt:lpstr>
      <vt:lpstr>Create a Docker on Ubuntu 20.04 Docker Simple-apps</vt:lpstr>
      <vt:lpstr>Docker and Kubernetes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Docker Simple-apps</vt:lpstr>
      <vt:lpstr>Docker</vt:lpstr>
      <vt:lpstr>Image</vt:lpstr>
      <vt:lpstr>Image</vt:lpstr>
      <vt:lpstr>Image</vt:lpstr>
      <vt:lpstr>Image</vt:lpstr>
      <vt:lpstr>Image</vt:lpstr>
      <vt:lpstr>Image</vt:lpstr>
      <vt:lpstr>Image</vt:lpstr>
      <vt:lpstr>Image</vt:lpstr>
      <vt:lpstr>Image</vt:lpstr>
      <vt:lpstr>Image</vt:lpstr>
      <vt:lpstr>Image</vt:lpstr>
      <vt:lpstr>Image</vt:lpstr>
      <vt:lpstr>Docker Containers For Deep Learning</vt:lpstr>
      <vt:lpstr>Image</vt:lpstr>
      <vt:lpstr>Image</vt:lpstr>
      <vt:lpstr>THX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Create a Docker on Ubuntu 20.04</dc:title>
  <dc:creator>pds</dc:creator>
  <cp:lastModifiedBy>Gde</cp:lastModifiedBy>
  <cp:revision>127</cp:revision>
  <dcterms:created xsi:type="dcterms:W3CDTF">2024-09-24T03:49:55Z</dcterms:created>
  <dcterms:modified xsi:type="dcterms:W3CDTF">2025-09-15T03:32:52Z</dcterms:modified>
</cp:coreProperties>
</file>